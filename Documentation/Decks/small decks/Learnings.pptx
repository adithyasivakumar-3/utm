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31" r:id="rId5"/>
    <p:sldId id="329" r:id="rId6"/>
    <p:sldId id="268" r:id="rId7"/>
    <p:sldId id="347" r:id="rId8"/>
    <p:sldId id="332" r:id="rId9"/>
    <p:sldId id="330" r:id="rId10"/>
    <p:sldId id="328" r:id="rId11"/>
    <p:sldId id="333" r:id="rId12"/>
    <p:sldId id="326" r:id="rId13"/>
    <p:sldId id="327" r:id="rId14"/>
    <p:sldId id="334" r:id="rId15"/>
    <p:sldId id="342" r:id="rId16"/>
    <p:sldId id="343" r:id="rId17"/>
    <p:sldId id="344" r:id="rId18"/>
    <p:sldId id="346" r:id="rId19"/>
    <p:sldId id="364" r:id="rId20"/>
    <p:sldId id="345" r:id="rId21"/>
    <p:sldId id="34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209D2B0-3F74-48E5-9F85-BF04BD61008A}">
          <p14:sldIdLst>
            <p14:sldId id="331"/>
          </p14:sldIdLst>
        </p14:section>
        <p14:section name="Prestudy" id="{5F09417D-ACE3-47AB-B31B-6ABD2AFC5A0D}">
          <p14:sldIdLst>
            <p14:sldId id="329"/>
            <p14:sldId id="268"/>
          </p14:sldIdLst>
        </p14:section>
        <p14:section name="Literature" id="{3F00F44E-3363-4D6E-8FE1-B9E37DEFA987}">
          <p14:sldIdLst>
            <p14:sldId id="347"/>
          </p14:sldIdLst>
        </p14:section>
        <p14:section name="Visual code" id="{1FAC44CE-FEC7-43B7-A463-FC8F6626F32D}">
          <p14:sldIdLst>
            <p14:sldId id="332"/>
            <p14:sldId id="330"/>
          </p14:sldIdLst>
        </p14:section>
        <p14:section name="DIC good practices" id="{FD8DC6F5-D686-4037-949B-E2FEE1BEFD7F}">
          <p14:sldIdLst>
            <p14:sldId id="328"/>
            <p14:sldId id="333"/>
          </p14:sldIdLst>
        </p14:section>
        <p14:section name="Basler camera" id="{93BD75BC-4B83-4CF9-9366-810C7918B5CE}">
          <p14:sldIdLst>
            <p14:sldId id="326"/>
            <p14:sldId id="327"/>
            <p14:sldId id="334"/>
            <p14:sldId id="342"/>
            <p14:sldId id="343"/>
            <p14:sldId id="344"/>
          </p14:sldIdLst>
        </p14:section>
        <p14:section name="UTM" id="{56F1D8B6-5DA3-4A23-8FD3-4BDBCCBA1C80}">
          <p14:sldIdLst>
            <p14:sldId id="346"/>
            <p14:sldId id="364"/>
            <p14:sldId id="345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0" autoAdjust="0"/>
  </p:normalViewPr>
  <p:slideViewPr>
    <p:cSldViewPr snapToGrid="0">
      <p:cViewPr varScale="1">
        <p:scale>
          <a:sx n="90" d="100"/>
          <a:sy n="90" d="100"/>
        </p:scale>
        <p:origin x="355" y="6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8765-9FA8-182D-2ED6-E26B284F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51CB8-A43F-D3D5-EFCF-DA432F76A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FF078-9FEB-2DA4-7DAE-522BA586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061121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9D20-55BE-E418-39A2-EE6B8F5F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64DF1-6220-98BF-6DC6-F99FAD783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1BF3F-5AC8-3BDF-8E42-0DC74F57F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98985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3D9C-DABF-B54B-EA8D-23588474E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3DF60-8A22-D006-3699-2F7510638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D5193-DFFD-233A-7EC3-BE1045E1F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986767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BD26-A8A9-E3B1-41EC-A6F1702A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D0093-EF37-2B33-1EC1-FB2377673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4A63B-5D59-DC08-C410-3248DE74F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3768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Jönköping University, Sweden | Study.eu">
            <a:extLst>
              <a:ext uri="{FF2B5EF4-FFF2-40B4-BE49-F238E27FC236}">
                <a16:creationId xmlns:a16="http://schemas.microsoft.com/office/drawing/2014/main" id="{36EC1D06-1934-1360-15A9-BF1865EC4A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048" y="99267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Jönköping University, Sweden | Study.eu">
            <a:extLst>
              <a:ext uri="{FF2B5EF4-FFF2-40B4-BE49-F238E27FC236}">
                <a16:creationId xmlns:a16="http://schemas.microsoft.com/office/drawing/2014/main" id="{CE943739-B06A-875F-1219-3D15D78733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Jönköping University, Sweden | Study.eu">
            <a:extLst>
              <a:ext uri="{FF2B5EF4-FFF2-40B4-BE49-F238E27FC236}">
                <a16:creationId xmlns:a16="http://schemas.microsoft.com/office/drawing/2014/main" id="{D07CA165-D88D-A56A-5CB1-E882F6D1C7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Jönköping University, Sweden | Study.eu">
            <a:extLst>
              <a:ext uri="{FF2B5EF4-FFF2-40B4-BE49-F238E27FC236}">
                <a16:creationId xmlns:a16="http://schemas.microsoft.com/office/drawing/2014/main" id="{7D8AD9CF-96DF-84C1-4549-554C6C4ED7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8677D063-CC31-BEB4-507F-FBDAF923E0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5BA97D0D-50F5-9EDA-7743-37600CF58D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F8166D03-E74D-26A7-245A-71733B9D2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3266596F-25C2-236D-CD1F-8BC1B0275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E4319636-B8F8-B2F2-425C-CCD83C771D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B68C4568-88A7-5DB0-4525-85A6919001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18FCAB78-8A09-0B14-3EC3-EB538DA0F7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F957B803-F481-FE57-481C-BCE2AD5293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4" descr="Jönköping University, Sweden | Study.eu">
            <a:extLst>
              <a:ext uri="{FF2B5EF4-FFF2-40B4-BE49-F238E27FC236}">
                <a16:creationId xmlns:a16="http://schemas.microsoft.com/office/drawing/2014/main" id="{472DB2F4-B6FC-E212-A650-4E01905C6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baslerweb.com/aca2440-35um?_gl=1*6nk3dd*_gcl_au*MTc4NjA3OTA5LjE3NzE5NDUxMDg.*_ga*MTM0NjEwMTgwMi4xNzcxOTQ1MTA1*_ga_5KSFYEQ7CY*czE3NzMxNzMwOTUkbzIkZzEkdDE3NzMxNzMyNDIkajYwJGwwJGgw" TargetMode="External"/><Relationship Id="rId2" Type="http://schemas.openxmlformats.org/officeDocument/2006/relationships/hyperlink" Target="https://idics.org/guide/" TargetMode="Externa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introvideos/basics" TargetMode="Externa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dics.org/guide/" TargetMode="Externa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dics.org/guide/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baslerweb.com/aca2440-35um?_gl=1*6nk3dd*_gcl_au*MTc4NjA3OTA5LjE3NzE5NDUxMDg.*_ga*MTM0NjEwMTgwMi4xNzcxOTQ1MTA1*_ga_5KSFYEQ7CY*czE3NzMxNzMwOTUkbzIkZzEkdDE3NzMxNzMyNDIkajYwJGwwJGgw" TargetMode="Externa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baslerweb.com/aca2440-35um?_gl=1*6nk3dd*_gcl_au*MTc4NjA3OTA5LjE3NzE5NDUxMDg.*_ga*MTM0NjEwMTgwMi4xNzcxOTQ1MTA1*_ga_5KSFYEQ7CY*czE3NzMxNzMwOTUkbzIkZzEkdDE3NzMxNzMyNDIkajYwJGwwJGgw" TargetMode="Externa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gelengineering.dk/25mm-f1-4-for-2-3-5-megapixel-sensor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rmaelectronics.com/content/Azure-Lenses-PDF/2017/AZURE-2514MML.pdf?srsltid=AfmBOor2Vlu9kNG4vWT-_4XynbPQwF04U6uZ6XHdRXnMlyVZvHwtW3n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baslerweb.com/aca2440-35um?_gl=1*6nk3dd*_gcl_au*MTc4NjA3OTA5LjE3NzE5NDUxMDg.*_ga*MTM0NjEwMTgwMi4xNzcxOTQ1MTA1*_ga_5KSFYEQ7CY*czE3NzMxNzMwOTUkbzIkZzEkdDE3NzMxNzMyNDIkajYwJGwwJGgw" TargetMode="Externa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lamp24.se/p/delta-profil-for-your-led-stripsystem-1-m-7600702.html?lw_om_view=recotop&amp;utm_medium=organic&amp;utm_source=google&amp;utm_campaign=feed-google-shopping&amp;utm_content=bild&amp;utm_term=7600702" TargetMode="Externa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211" y="779205"/>
            <a:ext cx="8371578" cy="4060723"/>
          </a:xfrm>
        </p:spPr>
        <p:txBody>
          <a:bodyPr/>
          <a:lstStyle/>
          <a:p>
            <a:r>
              <a:rPr lang="en-US" dirty="0"/>
              <a:t>Research Assistant in Computational Engineering</a:t>
            </a:r>
            <a:br>
              <a:rPr lang="en-US" dirty="0"/>
            </a:br>
            <a:r>
              <a:rPr lang="en-US" dirty="0"/>
              <a:t> </a:t>
            </a:r>
            <a:br>
              <a:rPr lang="en-IN" dirty="0"/>
            </a:br>
            <a:r>
              <a:rPr lang="en-IN" sz="4000" b="1" dirty="0"/>
              <a:t>Jönköping University</a:t>
            </a:r>
            <a:endParaRPr lang="en-US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Adithya Sivakumar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03B7C-5B7B-4131-1FAD-346273BF56F2}"/>
              </a:ext>
            </a:extLst>
          </p:cNvPr>
          <p:cNvSpPr txBox="1"/>
          <p:nvPr/>
        </p:nvSpPr>
        <p:spPr>
          <a:xfrm>
            <a:off x="4527755" y="4839928"/>
            <a:ext cx="3136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cap="all" spc="300" dirty="0">
                <a:latin typeface="+mj-lt"/>
                <a:ea typeface="+mj-ea"/>
                <a:cs typeface="Posterama" panose="020B0504020200020000" pitchFamily="34" charset="0"/>
              </a:rPr>
              <a:t>LEARNINGS</a:t>
            </a:r>
          </a:p>
        </p:txBody>
      </p:sp>
    </p:spTree>
    <p:extLst>
      <p:ext uri="{BB962C8B-B14F-4D97-AF65-F5344CB8AC3E}">
        <p14:creationId xmlns:p14="http://schemas.microsoft.com/office/powerpoint/2010/main" val="59843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C848-D20E-06E4-D0F9-10A40DF5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183B-9920-2E09-0DD4-5905E51B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Meeting SUMMARY – 24/02/26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C958D6-1290-E402-289D-332956733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011680"/>
            <a:ext cx="9004383" cy="379476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Digital Image Correlation fully in python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script in MATLAB is available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Strain measurement based on position of markers on the beam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strain monitoring in UTM is the goal 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outcome: comparative result from real time DIC rig and tensile machine 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possibility: Extract stress-strain data and create material model for FDM materials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Mechatronics course: workshop help with integration of remote-controlled car (wiring, CAD, 3-D printing, programming, etc.)</a:t>
            </a:r>
          </a:p>
          <a:p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focus is on systematic approach to problem-solving</a:t>
            </a:r>
          </a:p>
          <a:p>
            <a:pPr marL="0" indent="0">
              <a:buNone/>
            </a:pP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F970A-EB3E-139D-3696-E169985B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PRE-Study 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011680"/>
            <a:ext cx="7450885" cy="379476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Image Correlation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 about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Good Practices Guide for DIC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for DIC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out libraries ( OpenCV)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Refresh python skills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 about the camera and specs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35 micrometer, 25mm lens (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specifications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38301-769E-4BE9-075B-E85055B1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E3D71-3ECA-DBA3-7171-1836DB51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2816-D9C9-B135-7559-4861A9B32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 dirty="0"/>
              <a:t>Literature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18C46E-FC00-06D6-B4F9-718FADDE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Strain: Definition, Importance, Calculation, Types, and Examples | Xometry">
            <a:extLst>
              <a:ext uri="{FF2B5EF4-FFF2-40B4-BE49-F238E27FC236}">
                <a16:creationId xmlns:a16="http://schemas.microsoft.com/office/drawing/2014/main" id="{F5824791-46F4-E84E-FB65-8A0A31DE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1691892"/>
            <a:ext cx="4739890" cy="473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089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3ADA-E1F3-0CF4-2193-DE7BEC2B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E3AF-B826-092E-8CCF-F1D5DF41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200641" cy="507345"/>
          </a:xfrm>
          <a:noFill/>
        </p:spPr>
        <p:txBody>
          <a:bodyPr anchor="t" anchorCtr="0"/>
          <a:lstStyle/>
          <a:p>
            <a:r>
              <a:rPr lang="en-IN" dirty="0"/>
              <a:t>Visual studio Code – Things to know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4A6B0-1BE4-BE15-9090-36E327BD1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21815B6-F408-D03D-EAC0-9C24C99A5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7" y="2248291"/>
            <a:ext cx="7450885" cy="379476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EE409-092D-531B-EBC5-53C434D88A9C}"/>
              </a:ext>
            </a:extLst>
          </p:cNvPr>
          <p:cNvSpPr txBox="1"/>
          <p:nvPr/>
        </p:nvSpPr>
        <p:spPr>
          <a:xfrm>
            <a:off x="8255001" y="6444734"/>
            <a:ext cx="4431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i="0" dirty="0">
                <a:solidFill>
                  <a:srgbClr val="242424"/>
                </a:solidFill>
                <a:effectLst/>
                <a:latin typeface="system-ui"/>
                <a:hlinkClick r:id="rId2"/>
              </a:rPr>
              <a:t>Tutorial - Getting started with Visual Studio Code</a:t>
            </a:r>
            <a:endParaRPr lang="en-SE" sz="1400" dirty="0"/>
          </a:p>
        </p:txBody>
      </p:sp>
    </p:spTree>
    <p:extLst>
      <p:ext uri="{BB962C8B-B14F-4D97-AF65-F5344CB8AC3E}">
        <p14:creationId xmlns:p14="http://schemas.microsoft.com/office/powerpoint/2010/main" val="149823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514C-DCFD-135D-BC09-BB6E874BD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ABB7-5C43-5459-FDFD-6EDB5002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7696693" cy="507345"/>
          </a:xfrm>
          <a:noFill/>
        </p:spPr>
        <p:txBody>
          <a:bodyPr anchor="t" anchorCtr="0"/>
          <a:lstStyle/>
          <a:p>
            <a:r>
              <a:rPr lang="en-IN" dirty="0"/>
              <a:t>OpenCV-Python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0412B9-D50E-3757-D5FD-C86477CAB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05F8BD5-94A7-AEDD-F32F-FE6F81E7A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7" y="1858297"/>
            <a:ext cx="8709417" cy="418475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OpenCV-Python library is used 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solving: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computer vision, image processing, and machine learning tasks</a:t>
            </a:r>
          </a:p>
        </p:txBody>
      </p:sp>
    </p:spTree>
    <p:extLst>
      <p:ext uri="{BB962C8B-B14F-4D97-AF65-F5344CB8AC3E}">
        <p14:creationId xmlns:p14="http://schemas.microsoft.com/office/powerpoint/2010/main" val="202101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1E3B-4253-30B4-475D-1712603C0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176C8-3C20-7507-E2F2-CF6F8946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7696693" cy="507345"/>
          </a:xfrm>
          <a:noFill/>
        </p:spPr>
        <p:txBody>
          <a:bodyPr anchor="t" anchorCtr="0"/>
          <a:lstStyle/>
          <a:p>
            <a:r>
              <a:rPr lang="en-IN" dirty="0"/>
              <a:t>Design of DIC Measurements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BE1F9-A5DA-AC9C-E50A-1A32C221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A3FAF-F55E-D6EC-5895-4F5A061AE4AB}"/>
              </a:ext>
            </a:extLst>
          </p:cNvPr>
          <p:cNvSpPr txBox="1">
            <a:spLocks/>
          </p:cNvSpPr>
          <p:nvPr/>
        </p:nvSpPr>
        <p:spPr>
          <a:xfrm>
            <a:off x="1280157" y="1604625"/>
            <a:ext cx="10351403" cy="23499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IN" sz="1600" dirty="0"/>
              <a:t>SUMMARY DERIVED FROM: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Good Practices Guide for DIC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DIC Study GUIDE </a:t>
            </a:r>
          </a:p>
          <a:p>
            <a:r>
              <a:rPr lang="en-IN" dirty="0"/>
              <a:t> </a:t>
            </a:r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023C367-936A-6BE6-D6E2-DA93A861A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7" y="1966288"/>
            <a:ext cx="10115976" cy="4609710"/>
          </a:xfrm>
          <a:noFill/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1 – Document Summary The 166-page </a:t>
            </a:r>
            <a:r>
              <a:rPr lang="en-GB" sz="2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iDICs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guide covers everything from principles to reporting. It is a good-practices reference (not a rigid standard), but crucial guidelines must be followed for trustworthy results.</a:t>
            </a:r>
          </a:p>
          <a:p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2 – What is DIC? DIC tracks a random speckle pattern between images to compute full-field displacements and strains. Key terminology (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QOI, ROI, FOV, SOD, subset, VSG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etc.) is defined in a reference table. The key 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1D vs 2D-DIC comparison 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shows when to use each.</a:t>
            </a:r>
          </a:p>
          <a:p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3 – 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Rig Setup 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Covers camera selection (global shutter, monochromatic, disable all auto functions), 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lens selection 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(fixed focal length preferred, lockable rings), 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mounting requirements 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(rigid, decoupled from load frame), and 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lighting setup </a:t>
            </a:r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(diffuse LEDs, symmetric, locked before the test).</a:t>
            </a:r>
          </a:p>
          <a:p>
            <a:r>
              <a:rPr lang="en-GB" sz="2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4 – Key Factors and How Each Affects Results This is the core technical section: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Speckle pattern: 3–5 </a:t>
            </a:r>
            <a:r>
              <a:rPr lang="en-GB" sz="2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px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feature size is the critical rule. Random, matte, ~50% coverage, well-bonded.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Aperture: controls DOF — set once and lock.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Exposure time: motion blur must be &lt; 0.5 </a:t>
            </a:r>
            <a:r>
              <a:rPr lang="en-GB" sz="2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px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aim for 50–80% </a:t>
            </a:r>
            <a:r>
              <a:rPr lang="en-GB" sz="2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level.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 rate: governed by test speed and Nyquist theorem.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Subset size: typically, 31–41 </a:t>
            </a:r>
            <a:r>
              <a:rPr lang="en-GB" sz="29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px</a:t>
            </a:r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starting point; must contain 3–5 speckles.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size: typically, 1/3 to 1/5 of subset size.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VSG (Virtual Strain Gauge): the physical gauge length for strain — always do a VSG study.</a:t>
            </a:r>
          </a:p>
          <a:p>
            <a:pPr marL="1143000" lvl="4"/>
            <a:r>
              <a:rPr lang="en-GB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Noise-floor: evaluate and report before and after the test.</a:t>
            </a:r>
          </a:p>
          <a:p>
            <a:pPr marL="0" indent="0">
              <a:buNone/>
            </a:pP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673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9F8C-6E1C-3709-B257-FC7D2748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509E-9CF1-D6B0-39FD-98B9D9370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7696693" cy="507345"/>
          </a:xfrm>
          <a:noFill/>
        </p:spPr>
        <p:txBody>
          <a:bodyPr anchor="t" anchorCtr="0"/>
          <a:lstStyle/>
          <a:p>
            <a:r>
              <a:rPr lang="en-IN" dirty="0"/>
              <a:t>Design of DIC Measurements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7317E-5E31-E7B1-7E13-70964228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BF05A6-4273-5A4F-DA12-824AE28D1718}"/>
              </a:ext>
            </a:extLst>
          </p:cNvPr>
          <p:cNvSpPr txBox="1">
            <a:spLocks/>
          </p:cNvSpPr>
          <p:nvPr/>
        </p:nvSpPr>
        <p:spPr>
          <a:xfrm>
            <a:off x="1280157" y="1731461"/>
            <a:ext cx="10351403" cy="23499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IN" sz="1600" dirty="0"/>
              <a:t>Chapter 2: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Good Practices Guide for DIC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/>
              <a:t>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F51A3-8ECB-96A2-1A59-522AE52E1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377440"/>
            <a:ext cx="9523307" cy="4074160"/>
          </a:xfrm>
        </p:spPr>
        <p:txBody>
          <a:bodyPr>
            <a:normAutofit/>
          </a:bodyPr>
          <a:lstStyle/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5 –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 Pre-calibration checklist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(warm-up, focus, aperture lock), 2D-DIC calibration, and full stereo-DIC calibration with recommended target orientations.</a:t>
            </a:r>
          </a:p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6 – Performing the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Pre-test checklist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image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strategy, in-test discipline.</a:t>
            </a:r>
          </a:p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7 –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DIC Analysis Software parameters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(matching criterion, interpolant, strain tensor), VSG study procedure step-by-step.</a:t>
            </a:r>
          </a:p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8 –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Starting with 1D DIC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entry point: a flat tensile specimen, single camera, virtual extensometer — then progressively moving to full 2D-DIC.</a:t>
            </a:r>
          </a:p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9 –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Requirements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parameter you must document, in line with the </a:t>
            </a:r>
            <a:r>
              <a:rPr lang="en-GB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iDICs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guide's minimum reporting requirements.</a:t>
            </a:r>
          </a:p>
          <a:p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 10 –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Reference Numbers </a:t>
            </a:r>
            <a:r>
              <a:rPr lang="en-GB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complete table of all key numbers in one place, plus the false strain vs. SOD table for 2D-DIC.</a:t>
            </a:r>
          </a:p>
          <a:p>
            <a:pPr marL="0" indent="0">
              <a:buNone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4211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B3E1-CF2B-85C1-F729-5AEE2DCE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C429-E19B-19DA-1E4D-908AD3AA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507345"/>
          </a:xfrm>
          <a:noFill/>
        </p:spPr>
        <p:txBody>
          <a:bodyPr anchor="t" anchorCtr="0"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Specs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F4F474-C82A-BDC9-2AEA-4124AF4D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CEF612-6365-79B8-E4A8-AD85884F2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559508"/>
              </p:ext>
            </p:extLst>
          </p:nvPr>
        </p:nvGraphicFramePr>
        <p:xfrm>
          <a:off x="1280160" y="2418735"/>
          <a:ext cx="8955220" cy="378521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82155">
                  <a:extLst>
                    <a:ext uri="{9D8B030D-6E8A-4147-A177-3AD203B41FA5}">
                      <a16:colId xmlns:a16="http://schemas.microsoft.com/office/drawing/2014/main" val="2868709765"/>
                    </a:ext>
                  </a:extLst>
                </a:gridCol>
                <a:gridCol w="3476591">
                  <a:extLst>
                    <a:ext uri="{9D8B030D-6E8A-4147-A177-3AD203B41FA5}">
                      <a16:colId xmlns:a16="http://schemas.microsoft.com/office/drawing/2014/main" val="4027197710"/>
                    </a:ext>
                  </a:extLst>
                </a:gridCol>
                <a:gridCol w="3596474">
                  <a:extLst>
                    <a:ext uri="{9D8B030D-6E8A-4147-A177-3AD203B41FA5}">
                      <a16:colId xmlns:a16="http://schemas.microsoft.com/office/drawing/2014/main" val="215385083"/>
                    </a:ext>
                  </a:extLst>
                </a:gridCol>
              </a:tblGrid>
              <a:tr h="385135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</a:p>
                  </a:txBody>
                  <a:tcPr marL="37033" marR="37033" marT="37033" marB="37033" anchor="b"/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Specification / Feature</a:t>
                      </a:r>
                    </a:p>
                  </a:txBody>
                  <a:tcPr marL="37033" marR="37033" marT="37033" marB="37033" anchor="b"/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it matters for DIC</a:t>
                      </a:r>
                    </a:p>
                  </a:txBody>
                  <a:tcPr marL="37033" marR="37033" marT="37033" marB="37033" anchor="b"/>
                </a:tc>
                <a:extLst>
                  <a:ext uri="{0D108BD9-81ED-4DB2-BD59-A6C34878D82A}">
                    <a16:rowId xmlns:a16="http://schemas.microsoft.com/office/drawing/2014/main" val="964145782"/>
                  </a:ext>
                </a:extLst>
              </a:tr>
              <a:tr h="66792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Sensor type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Sony IMX264, CMOS, global shutter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Global shutter avoids motion distortion during loading.</a:t>
                      </a:r>
                    </a:p>
                  </a:txBody>
                  <a:tcPr marL="37033" marR="37033" marT="27774" marB="27774" anchor="ctr"/>
                </a:tc>
                <a:extLst>
                  <a:ext uri="{0D108BD9-81ED-4DB2-BD59-A6C34878D82A}">
                    <a16:rowId xmlns:a16="http://schemas.microsoft.com/office/drawing/2014/main" val="3380859939"/>
                  </a:ext>
                </a:extLst>
              </a:tr>
              <a:tr h="69815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Resolution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2464 × 2056 (~5 MP)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spatial resolution and detail in displacement/strain fields.</a:t>
                      </a:r>
                    </a:p>
                  </a:txBody>
                  <a:tcPr marL="37033" marR="37033" marT="27774" marB="27774" anchor="ctr"/>
                </a:tc>
                <a:extLst>
                  <a:ext uri="{0D108BD9-81ED-4DB2-BD59-A6C34878D82A}">
                    <a16:rowId xmlns:a16="http://schemas.microsoft.com/office/drawing/2014/main" val="2276187542"/>
                  </a:ext>
                </a:extLst>
              </a:tr>
              <a:tr h="66792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Pixel size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3.45 × 3.45 µm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Sets physical size per pixel with a given lens, affects strain resolution.</a:t>
                      </a:r>
                    </a:p>
                  </a:txBody>
                  <a:tcPr marL="37033" marR="37033" marT="27774" marB="27774" anchor="ctr"/>
                </a:tc>
                <a:extLst>
                  <a:ext uri="{0D108BD9-81ED-4DB2-BD59-A6C34878D82A}">
                    <a16:rowId xmlns:a16="http://schemas.microsoft.com/office/drawing/2014/main" val="3909334573"/>
                  </a:ext>
                </a:extLst>
              </a:tr>
              <a:tr h="66792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Sensor format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2/3", 11.1 mm diagonal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Needed to select lenses and determine field of view.</a:t>
                      </a:r>
                    </a:p>
                  </a:txBody>
                  <a:tcPr marL="37033" marR="37033" marT="27774" marB="27774" anchor="ctr"/>
                </a:tc>
                <a:extLst>
                  <a:ext uri="{0D108BD9-81ED-4DB2-BD59-A6C34878D82A}">
                    <a16:rowId xmlns:a16="http://schemas.microsoft.com/office/drawing/2014/main" val="3041554714"/>
                  </a:ext>
                </a:extLst>
              </a:tr>
              <a:tr h="69815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Frame rate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 fps (at full resolution)</a:t>
                      </a:r>
                    </a:p>
                  </a:txBody>
                  <a:tcPr marL="37033" marR="37033" marT="27774" marB="27774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Limits how fast you can capture dynamic events. </a:t>
                      </a:r>
                    </a:p>
                  </a:txBody>
                  <a:tcPr marL="37033" marR="37033" marT="27774" marB="27774" anchor="ctr"/>
                </a:tc>
                <a:extLst>
                  <a:ext uri="{0D108BD9-81ED-4DB2-BD59-A6C34878D82A}">
                    <a16:rowId xmlns:a16="http://schemas.microsoft.com/office/drawing/2014/main" val="481476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C5F7BBE-9F6A-8A79-CCC5-9F32E5BAC2B8}"/>
              </a:ext>
            </a:extLst>
          </p:cNvPr>
          <p:cNvSpPr txBox="1"/>
          <p:nvPr/>
        </p:nvSpPr>
        <p:spPr>
          <a:xfrm>
            <a:off x="1191670" y="18368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pplxSerif"/>
              </a:rPr>
              <a:t>DIC‑relevant specs for the Basler ACA2440‑35um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2188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DD52-95B8-022D-926B-4067F5F8C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ED58-6F54-B09E-A75C-2E077A4C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507345"/>
          </a:xfrm>
          <a:noFill/>
        </p:spPr>
        <p:txBody>
          <a:bodyPr anchor="t" anchorCtr="0"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Specs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63AF0C-99FD-995B-8DFD-433D5FAB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9575C4-61BC-A581-3D4D-70325F2D0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38103"/>
              </p:ext>
            </p:extLst>
          </p:nvPr>
        </p:nvGraphicFramePr>
        <p:xfrm>
          <a:off x="1280159" y="2418736"/>
          <a:ext cx="9663143" cy="364348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564254">
                  <a:extLst>
                    <a:ext uri="{9D8B030D-6E8A-4147-A177-3AD203B41FA5}">
                      <a16:colId xmlns:a16="http://schemas.microsoft.com/office/drawing/2014/main" val="2868709765"/>
                    </a:ext>
                  </a:extLst>
                </a:gridCol>
                <a:gridCol w="3028335">
                  <a:extLst>
                    <a:ext uri="{9D8B030D-6E8A-4147-A177-3AD203B41FA5}">
                      <a16:colId xmlns:a16="http://schemas.microsoft.com/office/drawing/2014/main" val="4027197710"/>
                    </a:ext>
                  </a:extLst>
                </a:gridCol>
                <a:gridCol w="4070554">
                  <a:extLst>
                    <a:ext uri="{9D8B030D-6E8A-4147-A177-3AD203B41FA5}">
                      <a16:colId xmlns:a16="http://schemas.microsoft.com/office/drawing/2014/main" val="215385083"/>
                    </a:ext>
                  </a:extLst>
                </a:gridCol>
              </a:tblGrid>
              <a:tr h="289537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Aspect</a:t>
                      </a:r>
                    </a:p>
                  </a:txBody>
                  <a:tcPr marL="37033" marR="37033" marT="37033" marB="37033" anchor="b"/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Specification / Feature</a:t>
                      </a:r>
                    </a:p>
                  </a:txBody>
                  <a:tcPr marL="37033" marR="37033" marT="37033" marB="37033" anchor="b"/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Why it matters for DIC</a:t>
                      </a:r>
                    </a:p>
                  </a:txBody>
                  <a:tcPr marL="37033" marR="37033" marT="37033" marB="37033" anchor="b"/>
                </a:tc>
                <a:extLst>
                  <a:ext uri="{0D108BD9-81ED-4DB2-BD59-A6C34878D82A}">
                    <a16:rowId xmlns:a16="http://schemas.microsoft.com/office/drawing/2014/main" val="964145782"/>
                  </a:ext>
                </a:extLst>
              </a:tr>
              <a:tr h="50213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Shutter/exposure control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Programmable exposure, global shutter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Trade off motion blur vs. noise and sync with lighting.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380859939"/>
                  </a:ext>
                </a:extLst>
              </a:tr>
              <a:tr h="68742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Triggering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Hardware and software trigger, free‑run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Hardware trigger enables frame‑accurate multi‑camera synchronization. 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276187542"/>
                  </a:ext>
                </a:extLst>
              </a:tr>
              <a:tr h="68742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Color</a:t>
                      </a:r>
                      <a:r>
                        <a:rPr lang="en-I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/mono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Monochrome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Better contrast and SNR; avoids Bayer interpolation, ideal for speckle patterns. 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909334573"/>
                  </a:ext>
                </a:extLst>
              </a:tr>
              <a:tr h="50213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interface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USB 3.0 (up to 5 Gbit/s)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Supports streaming full‑res images at required frame rate with low drop risk.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041554714"/>
                  </a:ext>
                </a:extLst>
              </a:tr>
              <a:tr h="52486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Lens mount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C‑mount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Wide lens availability to set FOV and speckle size on sensor.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81476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275404-3DA2-E224-F643-7F103BD2734A}"/>
              </a:ext>
            </a:extLst>
          </p:cNvPr>
          <p:cNvSpPr txBox="1"/>
          <p:nvPr/>
        </p:nvSpPr>
        <p:spPr>
          <a:xfrm>
            <a:off x="1191670" y="18368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pplxSerif"/>
              </a:rPr>
              <a:t>DIC‑relevant specs for the Basler ACA2440‑35um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9640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8C378-E0DA-B96C-6AEF-DA3E7F87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A9BC-FFD4-D537-8743-351AD55D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200641" cy="507345"/>
          </a:xfrm>
          <a:noFill/>
        </p:spPr>
        <p:txBody>
          <a:bodyPr anchor="t" anchorCtr="0"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35 micrometer, 25mm lens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F7664-0E51-AA6D-69E8-B5C0FFC3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E4ED5-802A-DE12-F7F3-F1AA8CB66E03}"/>
              </a:ext>
            </a:extLst>
          </p:cNvPr>
          <p:cNvSpPr txBox="1"/>
          <p:nvPr/>
        </p:nvSpPr>
        <p:spPr>
          <a:xfrm>
            <a:off x="8255001" y="6444734"/>
            <a:ext cx="4431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specifications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SE" sz="1400" dirty="0"/>
          </a:p>
        </p:txBody>
      </p:sp>
      <p:pic>
        <p:nvPicPr>
          <p:cNvPr id="5" name="Picture 2" descr="acA2440-75um | Basler Product Documentation">
            <a:extLst>
              <a:ext uri="{FF2B5EF4-FFF2-40B4-BE49-F238E27FC236}">
                <a16:creationId xmlns:a16="http://schemas.microsoft.com/office/drawing/2014/main" id="{57803A50-2B88-8A4A-D892-47F83B0F663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33" y="2208826"/>
            <a:ext cx="4836840" cy="202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632AC9-E729-605E-F8E5-815FC3E6F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709" y="2276560"/>
            <a:ext cx="2301918" cy="206914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9959B04-8841-A909-40E7-D204C6F2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978" y="4748031"/>
            <a:ext cx="1033204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E" altLang="en-SE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 of USB 3.0 Cables</a:t>
            </a:r>
            <a:endParaRPr kumimoji="0" lang="en-GB" altLang="en-SE" sz="1600" b="1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E" altLang="en-SE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Capability:</a:t>
            </a:r>
            <a:r>
              <a:rPr kumimoji="0" lang="en-SE" altLang="en-SE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USB 3.0 ports provide up to </a:t>
            </a:r>
            <a:r>
              <a:rPr kumimoji="0" lang="en-SE" altLang="en-SE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900 mA</a:t>
            </a:r>
            <a:r>
              <a:rPr kumimoji="0" lang="en-SE" altLang="en-SE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(4.5 W) of power, almost double the 500 mA (2.5 W) provided by USB 2.0. This makes it ideal for powering peripheral devices like external hard drives or charging phones faster.</a:t>
            </a:r>
            <a:endParaRPr kumimoji="0" lang="en-GB" altLang="en-SE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SE" altLang="en-SE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SE" altLang="en-SE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Transmission:</a:t>
            </a:r>
            <a:r>
              <a:rPr kumimoji="0" lang="en-SE" altLang="en-SE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USB 3.0 is known as "SuperSpeed" and supports data transfer rates up to </a:t>
            </a:r>
            <a:r>
              <a:rPr kumimoji="0" lang="en-SE" altLang="en-SE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Gbps</a:t>
            </a:r>
            <a:r>
              <a:rPr kumimoji="0" lang="en-SE" altLang="en-SE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10 times faster than USB 2.0.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altLang="en-S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89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7412D-935D-0D97-7139-DC499E50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259D-B65B-9BF5-049D-BC31FB67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200641" cy="507345"/>
          </a:xfrm>
          <a:noFill/>
        </p:spPr>
        <p:txBody>
          <a:bodyPr anchor="t" anchorCtr="0"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35 micrometer, 25mm lens</a:t>
            </a:r>
            <a:b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2FBCCE-2D30-BEE5-3737-7D1B9ADB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4592-F0F2-87DB-02BF-65496E012EC3}"/>
              </a:ext>
            </a:extLst>
          </p:cNvPr>
          <p:cNvSpPr txBox="1"/>
          <p:nvPr/>
        </p:nvSpPr>
        <p:spPr>
          <a:xfrm>
            <a:off x="10016068" y="6290845"/>
            <a:ext cx="1464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specifications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SE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0B53B0-5B15-E514-1D41-BF2F5337E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59" y="1677156"/>
            <a:ext cx="5113814" cy="49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1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B943-6F0C-0E22-FA63-621AB0FB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78FE-3784-3779-EA03-C8568AB8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de-DE" sz="2700" dirty="0"/>
              <a:t>Azure-2514MML 25mm f/1.4 </a:t>
            </a:r>
            <a:r>
              <a:rPr lang="de-DE" sz="2700" dirty="0" err="1"/>
              <a:t>lens</a:t>
            </a:r>
            <a:br>
              <a:rPr lang="en-US" sz="2700" kern="1200" cap="all" spc="300" baseline="0" dirty="0">
                <a:latin typeface="+mj-lt"/>
                <a:ea typeface="+mj-ea"/>
                <a:cs typeface="Posterama" panose="020B0504020200020000" pitchFamily="34" charset="0"/>
              </a:rPr>
            </a:br>
            <a:endParaRPr lang="en-US" sz="2700" kern="1200" cap="all" spc="300" baseline="0" dirty="0">
              <a:latin typeface="+mj-lt"/>
              <a:ea typeface="+mj-ea"/>
              <a:cs typeface="Posterama" panose="020B050402020002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E7445-A4C4-DC8F-A560-E002F75BCA32}"/>
              </a:ext>
            </a:extLst>
          </p:cNvPr>
          <p:cNvSpPr txBox="1"/>
          <p:nvPr/>
        </p:nvSpPr>
        <p:spPr>
          <a:xfrm>
            <a:off x="1280159" y="2011680"/>
            <a:ext cx="7897708" cy="3566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>
            <a:normAutofit/>
          </a:bodyPr>
          <a:lstStyle/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Two Rings</a:t>
            </a: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Ring 1 — Focus ring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(usually the front 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 sharpness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Rotate until the image is sharp in Pylon Viewer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your working distance (roughly 0.5-2m from specimen) you'll need to adjust this by eye. </a:t>
            </a:r>
          </a:p>
          <a:p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Ring 2 — Aperture ring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(usually the rear ring closer to camera body)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 how much light enters — this is your f-stop (f/1.4 to f/16)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f/1.4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fully open = maximum light = bright image but shallow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f/8 or f/11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more closed = less light but much sharper across the whole specimen</a:t>
            </a:r>
          </a:p>
        </p:txBody>
      </p:sp>
      <p:pic>
        <p:nvPicPr>
          <p:cNvPr id="1026" name="Picture 2" descr="AZURE Photonics FI-2514M5M 25mm F1.4 for 2/3&quot; 5 Megapixel sensor">
            <a:extLst>
              <a:ext uri="{FF2B5EF4-FFF2-40B4-BE49-F238E27FC236}">
                <a16:creationId xmlns:a16="http://schemas.microsoft.com/office/drawing/2014/main" id="{ACD53C0B-ACBC-C8E1-12EB-97BAC1A4C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83049" y="2011680"/>
            <a:ext cx="2580062" cy="356616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FF890-FCD2-A968-766F-038CC659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0624" y="6019801"/>
            <a:ext cx="457200" cy="18415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CB581-EDFC-D866-4C56-ACFEDE17EA4B}"/>
              </a:ext>
            </a:extLst>
          </p:cNvPr>
          <p:cNvSpPr txBox="1"/>
          <p:nvPr/>
        </p:nvSpPr>
        <p:spPr>
          <a:xfrm>
            <a:off x="9948334" y="6111876"/>
            <a:ext cx="1951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>
                <a:hlinkClick r:id="rId3"/>
              </a:rPr>
              <a:t>IMAGE SOURCE 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48114-E804-4911-F0D8-06A7832049E6}"/>
              </a:ext>
            </a:extLst>
          </p:cNvPr>
          <p:cNvSpPr txBox="1"/>
          <p:nvPr/>
        </p:nvSpPr>
        <p:spPr>
          <a:xfrm>
            <a:off x="1202267" y="61229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 err="1">
                <a:hlinkClick r:id="rId4"/>
              </a:rPr>
              <a:t>Specification</a:t>
            </a:r>
            <a:r>
              <a:rPr lang="sv-SE" dirty="0">
                <a:hlinkClick r:id="rId4"/>
              </a:rPr>
              <a:t> </a:t>
            </a:r>
            <a:r>
              <a:rPr lang="sv-SE" dirty="0" err="1">
                <a:hlinkClick r:id="rId4"/>
              </a:rPr>
              <a:t>sheet</a:t>
            </a:r>
            <a:r>
              <a:rPr lang="sv-SE" dirty="0">
                <a:hlinkClick r:id="rId4"/>
              </a:rPr>
              <a:t> - AZURE-2514MML.pdf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21319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DAA6-5DCD-AB3B-75FD-A6B82497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CCD8-B373-AF6E-FEFD-64C3DD0C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97280"/>
            <a:ext cx="10200641" cy="507345"/>
          </a:xfrm>
          <a:noFill/>
        </p:spPr>
        <p:txBody>
          <a:bodyPr anchor="t" anchorCtr="0"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Basler ACA2440 35 micrometer, 25mm lens</a:t>
            </a:r>
            <a:b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1973A-AF80-7BDB-A274-CE55EC9E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BC208-E486-730B-9D6F-5D6A4A45941E}"/>
              </a:ext>
            </a:extLst>
          </p:cNvPr>
          <p:cNvSpPr txBox="1"/>
          <p:nvPr/>
        </p:nvSpPr>
        <p:spPr>
          <a:xfrm>
            <a:off x="10016068" y="6290845"/>
            <a:ext cx="1464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specifications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SE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320878-95E2-9A3A-58D8-D574AE625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59" y="1677156"/>
            <a:ext cx="5113814" cy="492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64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1C5D-A3CA-2753-8662-F7D2D6F6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76A3-A52C-1355-6A82-0E1CBB4F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36787"/>
          </a:xfrm>
        </p:spPr>
        <p:txBody>
          <a:bodyPr anchor="t" anchorCtr="0">
            <a:normAutofit/>
          </a:bodyPr>
          <a:lstStyle/>
          <a:p>
            <a:r>
              <a:rPr lang="en-GB" dirty="0"/>
              <a:t>UTM – Random points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523788-54F9-455B-2C8C-23A2C06A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0624" y="6019801"/>
            <a:ext cx="457200" cy="1841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B9B53-3FCE-75A6-E08F-FB386D6456D1}"/>
              </a:ext>
            </a:extLst>
          </p:cNvPr>
          <p:cNvSpPr txBox="1"/>
          <p:nvPr/>
        </p:nvSpPr>
        <p:spPr>
          <a:xfrm>
            <a:off x="1212425" y="1769533"/>
            <a:ext cx="6653108" cy="4434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Balancing the resolution and frame rate of the camera is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 model can be added to create database </a:t>
            </a:r>
          </a:p>
        </p:txBody>
      </p:sp>
    </p:spTree>
    <p:extLst>
      <p:ext uri="{BB962C8B-B14F-4D97-AF65-F5344CB8AC3E}">
        <p14:creationId xmlns:p14="http://schemas.microsoft.com/office/powerpoint/2010/main" val="1901563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82F3-DC22-54CA-AF45-3917F021B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FC811-D491-907A-0CFB-32643E2F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0624" y="6019801"/>
            <a:ext cx="457200" cy="1841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88F58A-F4D1-4A3C-C6FD-C6C76D4558A9}"/>
              </a:ext>
            </a:extLst>
          </p:cNvPr>
          <p:cNvSpPr txBox="1">
            <a:spLocks/>
          </p:cNvSpPr>
          <p:nvPr/>
        </p:nvSpPr>
        <p:spPr>
          <a:xfrm>
            <a:off x="1280160" y="1097280"/>
            <a:ext cx="10759440" cy="400110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r>
              <a:rPr lang="en-GB" dirty="0"/>
              <a:t>CAD: UTM assembly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C0549-7C1B-0E9B-C2A7-73C6338EBA91}"/>
              </a:ext>
            </a:extLst>
          </p:cNvPr>
          <p:cNvSpPr txBox="1"/>
          <p:nvPr/>
        </p:nvSpPr>
        <p:spPr>
          <a:xfrm>
            <a:off x="1218613" y="1497390"/>
            <a:ext cx="4473527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S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90" name="Picture 18">
            <a:extLst>
              <a:ext uri="{FF2B5EF4-FFF2-40B4-BE49-F238E27FC236}">
                <a16:creationId xmlns:a16="http://schemas.microsoft.com/office/drawing/2014/main" id="{80A410EB-B4D6-01E5-D923-E2934011D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8540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46ADFC-A0BB-9E14-89FE-AA8F448CC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3" t="7616" r="8214"/>
          <a:stretch>
            <a:fillRect/>
          </a:stretch>
        </p:blipFill>
        <p:spPr>
          <a:xfrm>
            <a:off x="5604933" y="1600201"/>
            <a:ext cx="6028950" cy="4857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6620A4-020D-8C36-1B83-5A7486692015}"/>
              </a:ext>
            </a:extLst>
          </p:cNvPr>
          <p:cNvSpPr txBox="1"/>
          <p:nvPr/>
        </p:nvSpPr>
        <p:spPr>
          <a:xfrm>
            <a:off x="1280159" y="2097100"/>
            <a:ext cx="43247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sv-SE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checking</a:t>
            </a:r>
            <a:r>
              <a:rPr lang="sv-S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X, Y and Z dimensions: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→ </a:t>
            </a: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lang="sv-S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sv-S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</a:t>
            </a:r>
            <a:endParaRPr lang="sv-S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Projecting Curves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setting that unlocks this: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 Escape to exit Convert Entities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→ Options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"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References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tab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"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multiple contexts for parts when editing in assembly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✅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OK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Convert Entities again</a:t>
            </a:r>
          </a:p>
          <a:p>
            <a:endParaRPr lang="en-S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52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1976-43F4-16CE-E152-4160A9FC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3C91-B73B-E417-884E-C64A246A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>
            <a:normAutofit/>
          </a:bodyPr>
          <a:lstStyle/>
          <a:p>
            <a:r>
              <a:rPr lang="en-GB" dirty="0"/>
              <a:t>UTM – Test setup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6A1509-2A41-A5C1-4C03-C196E9C9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0624" y="6019801"/>
            <a:ext cx="457200" cy="1841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0C42B2-2FCC-BB8F-D162-A9F1F214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27" b="6827"/>
          <a:stretch/>
        </p:blipFill>
        <p:spPr>
          <a:xfrm>
            <a:off x="7387336" y="1364615"/>
            <a:ext cx="4988954" cy="52442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2E1DFF-F492-B4FE-7E1C-A207C1F8ED7C}"/>
              </a:ext>
            </a:extLst>
          </p:cNvPr>
          <p:cNvSpPr txBox="1"/>
          <p:nvPr/>
        </p:nvSpPr>
        <p:spPr>
          <a:xfrm>
            <a:off x="1212425" y="1769533"/>
            <a:ext cx="6289041" cy="4434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1 -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Stepper motor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they rotate the lead </a:t>
            </a:r>
            <a:r>
              <a:rPr lang="en-GB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scews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move the crossheads up or 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–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 Screws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Converts rotational motion of motor into linear vertical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–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Houses the motor drivers and microcontroller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4 -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Crosshead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moving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beam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- </a:t>
            </a:r>
            <a:r>
              <a:rPr lang="sv-S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Horizontal</a:t>
            </a:r>
            <a:r>
              <a:rPr lang="sv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beam</a:t>
            </a:r>
            <a:r>
              <a:rPr lang="sv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sv-S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moves up during a tensile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5 -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Upper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grip: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Clamps the top end of the specimen.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–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grip: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Clamps the bottom end of the specimen and does not move.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7 -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cell: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the force applied to the specimen in real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–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Emergency stop: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cuts power to the motors if something goes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9 - 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Aluminium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extrusion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v-SE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</a:t>
            </a:r>
            <a:r>
              <a:rPr lang="sv-S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T-slot aluminium profiles bolted together. </a:t>
            </a:r>
          </a:p>
        </p:txBody>
      </p:sp>
    </p:spTree>
    <p:extLst>
      <p:ext uri="{BB962C8B-B14F-4D97-AF65-F5344CB8AC3E}">
        <p14:creationId xmlns:p14="http://schemas.microsoft.com/office/powerpoint/2010/main" val="2883880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7DC92-F5DA-919D-329C-FC96CBBE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A965-207B-7EA7-747F-5EDE03B38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>
            <a:normAutofit/>
          </a:bodyPr>
          <a:lstStyle/>
          <a:p>
            <a:r>
              <a:rPr lang="en-GB" dirty="0"/>
              <a:t>LED LIGHT DIFFUSOR - INSPIRATION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B383FE-E5FA-BC7E-3A5F-0A03B264A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0624" y="6019801"/>
            <a:ext cx="457200" cy="1841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2050" name="Picture 2" descr="Delta-profil för Your LED-stripsystem, 1 m">
            <a:extLst>
              <a:ext uri="{FF2B5EF4-FFF2-40B4-BE49-F238E27FC236}">
                <a16:creationId xmlns:a16="http://schemas.microsoft.com/office/drawing/2014/main" id="{A47EBE27-79E5-FD41-442D-5D1956C2011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4" y="2226268"/>
            <a:ext cx="3683000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lta-profil för Your LED-stripsystem, 1 m">
            <a:extLst>
              <a:ext uri="{FF2B5EF4-FFF2-40B4-BE49-F238E27FC236}">
                <a16:creationId xmlns:a16="http://schemas.microsoft.com/office/drawing/2014/main" id="{ACE148CB-8FD2-FC57-0B04-0B5B24C3A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616" y="2011680"/>
            <a:ext cx="5990224" cy="389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BCDB3-A2C2-54C0-9AB7-49DDE88678AF}"/>
              </a:ext>
            </a:extLst>
          </p:cNvPr>
          <p:cNvSpPr txBox="1"/>
          <p:nvPr/>
        </p:nvSpPr>
        <p:spPr>
          <a:xfrm>
            <a:off x="1108297" y="611187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>
                <a:hlinkClick r:id="rId5"/>
              </a:rPr>
              <a:t>Delta-profil för </a:t>
            </a:r>
            <a:r>
              <a:rPr lang="sv-SE" dirty="0" err="1">
                <a:hlinkClick r:id="rId5"/>
              </a:rPr>
              <a:t>Your</a:t>
            </a:r>
            <a:r>
              <a:rPr lang="sv-SE" dirty="0">
                <a:hlinkClick r:id="rId5"/>
              </a:rPr>
              <a:t> LED-</a:t>
            </a:r>
            <a:r>
              <a:rPr lang="sv-SE" dirty="0" err="1">
                <a:hlinkClick r:id="rId5"/>
              </a:rPr>
              <a:t>stripsystem</a:t>
            </a:r>
            <a:r>
              <a:rPr lang="sv-SE" dirty="0">
                <a:hlinkClick r:id="rId5"/>
              </a:rPr>
              <a:t>, 1 m | Lamp24.se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7181872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{CA83C71E-B39B-4031-946D-3858B6143BF3}TF51de1e5f-e0e8-4dd0-99f3-5b7584f7abdc7d30e886_win32-78d4aef5ad8e</Template>
  <TotalTime>5870</TotalTime>
  <Words>1382</Words>
  <Application>Microsoft Office PowerPoint</Application>
  <PresentationFormat>Widescreen</PresentationFormat>
  <Paragraphs>159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Daytona Condensed Light</vt:lpstr>
      <vt:lpstr>Posterama</vt:lpstr>
      <vt:lpstr>pplxSerif</vt:lpstr>
      <vt:lpstr>system-ui</vt:lpstr>
      <vt:lpstr>Custom</vt:lpstr>
      <vt:lpstr>Research Assistant in Computational Engineering   Jönköping University</vt:lpstr>
      <vt:lpstr>Meeting SUMMARY – 24/02/26</vt:lpstr>
      <vt:lpstr>PRE-Study agenda</vt:lpstr>
      <vt:lpstr>Literature</vt:lpstr>
      <vt:lpstr>Visual studio Code – Things to know</vt:lpstr>
      <vt:lpstr>OpenCV-Python </vt:lpstr>
      <vt:lpstr>Design of DIC Measurements</vt:lpstr>
      <vt:lpstr>Design of DIC Measurements</vt:lpstr>
      <vt:lpstr>Basler ACA2440 Specs</vt:lpstr>
      <vt:lpstr>Basler ACA2440 Specs</vt:lpstr>
      <vt:lpstr>Basler ACA2440 35 micrometer, 25mm lens </vt:lpstr>
      <vt:lpstr>Basler ACA2440 35 micrometer, 25mm lens </vt:lpstr>
      <vt:lpstr>Azure-2514MML 25mm f/1.4 lens </vt:lpstr>
      <vt:lpstr>Basler ACA2440 35 micrometer, 25mm lens </vt:lpstr>
      <vt:lpstr>UTM – Random points</vt:lpstr>
      <vt:lpstr>PowerPoint Presentation</vt:lpstr>
      <vt:lpstr>UTM – Test setup</vt:lpstr>
      <vt:lpstr>LED LIGHT DIFFUSOR - INSPIRATION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adithyasvk1@outlook.com</dc:creator>
  <cp:lastModifiedBy>Adithya Sivakumar</cp:lastModifiedBy>
  <cp:revision>51</cp:revision>
  <dcterms:created xsi:type="dcterms:W3CDTF">2026-03-10T19:13:14Z</dcterms:created>
  <dcterms:modified xsi:type="dcterms:W3CDTF">2026-05-07T07:40:13Z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