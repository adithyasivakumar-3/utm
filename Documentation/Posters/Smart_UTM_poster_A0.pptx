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28355544" cy="105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5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55266"/>
            <a:ext cx="283555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658770"/>
            <a:ext cx="28355544" cy="5080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96514"/>
            <a:ext cx="28355544" cy="1113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8300" b="1" i="0">
                <a:solidFill>
                  <a:srgbClr val="1A1A1A"/>
                </a:solidFill>
                <a:latin typeface="Calibri"/>
              </a:rPr>
              <a:t>The camera measures what a certified extensometer measures.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5008" y="4101083"/>
            <a:ext cx="2438576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5A636B"/>
                </a:solidFill>
                <a:latin typeface="Calibri"/>
              </a:rPr>
              <a:t>20 smart features and 6 closed-loop protocols on a desktop rig. On the same frames, the rig's DIC agrees with a Zwick/Roell XT-205 video extensometer to 0.07 % in scale and 0.19 % in fracture strain — and PLA, PETG and TPU land inside their published bands.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rig-validated (+2 offline)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0427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0427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0.99928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0427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scale vs XT-205 on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same frames, R² 0.9999964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0736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±1 %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0736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yield and fracture strain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vs the laboratory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211043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11043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12 µε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11043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DIC noise floor, 10 s 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reference instrument 45 µε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61352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61352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1.78× / 1.78×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61352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noise vs pixel span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predicted / measured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711660" y="5411724"/>
            <a:ext cx="4604003" cy="17564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11660" y="5521452"/>
            <a:ext cx="4604003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5800" b="1" i="0">
                <a:solidFill>
                  <a:srgbClr val="00538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11660" y="6420104"/>
            <a:ext cx="4604003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polymers inside their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36B"/>
                </a:solidFill>
                <a:latin typeface="Calibri"/>
              </a:rPr>
              <a:t>published bands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015412"/>
            <a:ext cx="28355544" cy="1778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161716"/>
            <a:ext cx="28355544" cy="681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1">
                <a:solidFill>
                  <a:srgbClr val="5A636B"/>
                </a:solidFill>
                <a:latin typeface="Calibri"/>
              </a:rPr>
              <a:t>Code, raw CSVs, the 393-slide progress diary and the project report: Software/UTM_PyQt6/ and documentation/  ·  Every figure and number here is regenerated from the rig CSVs and the laboratory records by the documentation/scripts analysis suite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7552182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8232495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8415375"/>
            <a:ext cx="9073896" cy="71762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8616543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7" y="9483394"/>
            <a:ext cx="2739806" cy="4206239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704" y="9483394"/>
            <a:ext cx="2791413" cy="42062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1288" y="13835938"/>
            <a:ext cx="8671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15865906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WHY AUTOMATE A TENSILE RIG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16546220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16729100"/>
            <a:ext cx="9073896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 conventional pull gives ONE modulus, ONE yield, ONE strength — and a human presses every button. Crosshead travel is not specimen strain, so the machine reports its own compliance as material behaviour. A destructive test is one irreversible shot. And nothing watches the run, so a stall, a lost marker or a fracture are all noticed late, by a person.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18527420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19207734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19390614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19814895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0967039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1391321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22238665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Simulated before hardware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22662946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Every policy is replayed against a spring plant and recorded CSVs — 9/9 checks pass before a specimen is risked.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23510290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Four safety layers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23934572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Load-collapse detector · stall guard (&lt; 0.05 mm / 6 s under load) · 4.5 kN and 30 mm backstops · dead-DIC guard (freeze at 0.2 s, halt at 1.0 s). Guards are phase-aware, so the stall guard stays silent through an intentional dwell.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944" y="7552182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WHAT THE TESTS SHOWED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00944" y="8232495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00944" y="8415375"/>
            <a:ext cx="9073896" cy="6342345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02112" y="8616543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Validated against a certified video extensometer — on its own frames</a:t>
            </a:r>
          </a:p>
        </p:txBody>
      </p:sp>
      <p:pic>
        <p:nvPicPr>
          <p:cNvPr id="52" name="Picture 51" descr="mot2pp_a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112" y="9483394"/>
            <a:ext cx="8671560" cy="31163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02112" y="12727752"/>
            <a:ext cx="8671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The laboratory's XT-205 video was re-measured by the rig's post-processor: 3153 frames, scale 0.99928, R² 0.9999964, fracture strain 5.21 vs 5.22 %, and a constant offset of -55 µε — 0.069 px on a 1255 px reference — that vanishes from every slope. On separate specimens the two machines agree within 1 % on yield and fracture strain; the -7.7 % UTS gap is pull rate (2.21× the laboratory's), grip seating and batch, not the strain channel.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00944" y="15068616"/>
            <a:ext cx="9073896" cy="5529505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1778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02112" y="15269784"/>
            <a:ext cx="8671560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0538A"/>
                </a:solidFill>
                <a:latin typeface="Calibri"/>
              </a:rPr>
              <a:t>Three polymers, three characters — each inside its published band</a:t>
            </a:r>
          </a:p>
        </p:txBody>
      </p:sp>
      <p:pic>
        <p:nvPicPr>
          <p:cNvPr id="56" name="Picture 55" descr="trio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112" y="16136635"/>
            <a:ext cx="8671560" cy="291310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02112" y="19177754"/>
            <a:ext cx="867156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PLA S25: UTS 46.2 MPa, E 3.17 GPa, ε_f 4.1 %. PETG S30: 41.8 MPa, 1.81 GPa, 7.8 %. TPU S37: 2.60 MPa at 18.9 % strain, E 0.024 GPa, unbroken at the travel limit. Two decades of modulus with the same two markers and the same code, in the expected order — the rig measures the material, not itself.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241768" y="7552182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WHAT IT MEANS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241768" y="8232495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41768" y="8415375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Same frames, same answer → the software is a measurement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41768" y="8839657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Given the XT-205's own frames, the rig's algorithm reproduces the certified record to 0.07 % in scale. Whatever still differs between the two machines is the machine or the specimen, not the strain channel.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241768" y="9991801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noise is centroid noise → design with pixels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41768" y="10416082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Floor 11.9 µε over 10 s, 26 µε over 900 s, below the reference instrument's 45 µε. It scales as 1/Px₀: 1675 vs 939 px across the gauge predicted 1.78× and measured 1.78×. More pixels across the gauge is the only lever, and it needs no code.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241768" y="11568226"/>
            <a:ext cx="9073896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crosshead is not the specimen → an extensometer is not optional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241768" y="12371070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Only 19–29 % of early crosshead motion reaches the gauge; a crosshead-based curve overstates strain, and understates modulus, by three to five times.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241768" y="13218414"/>
            <a:ext cx="9073896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 fixed threshold beats Otsu → material presets, not auto-thresholds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41768" y="14021257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Otsu is set by the specimen body, not the markers (painting them out moves it ≤ 3 grey levels). On translucent PETG it found both markers on 48.5 % of frames; the fixed cut on 99.5 %.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41768" y="15575737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Material, not machine → the rig can rank materials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241768" y="16000018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A matched 50 % pair repeats to 0.2 % in strength (19.87 / 19.91 MPa); the 50 % infill knockdown is 2.4 in both strength and modulus, against the 2.0 that volume fraction alone would give; fractures do not cluster at the markers.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241768" y="17152162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Batch is a variable → control the spool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241768" y="17576444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same PLA spool two months later printed parts with 1.7–2.5× the fracture strain; the literature gives −8.5 % strength after 24 h of ambient exposure. Specimens printed weeks apart are not the same material.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241768" y="18728588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cost is the thinking, not the pulling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241768" y="19152870"/>
            <a:ext cx="9073896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whole project: 3.2 kg CO₂e, 83 g per recorded test; the rig itself is 13 g per test and the desk computer outweighs it 239×.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241768" y="20301966"/>
            <a:ext cx="9073896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LIMITATIONS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241768" y="20982279"/>
            <a:ext cx="9073896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241768" y="21165159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Poisson's ratio is not measurable today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241768" y="21589441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The gauge is too narrow: the elastic width change is sub-pixel at 20.9 px/mm. Every stress here is ENGINEERING (F/A₀); true stress is an estimate. Future work FW1: a second camera or a lens change.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241768" y="22741585"/>
            <a:ext cx="9073896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UTS gap to the laboratory is explained, not yet separated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241768" y="23165866"/>
            <a:ext cx="90738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36B"/>
                </a:solidFill>
                <a:latin typeface="Calibri"/>
              </a:rPr>
              <a:t>-7.7 % on one specimen each side. Pull rate (2.21×), grip seating and batch are the candidates; one pull at the laboratory's 2 mm/min and the laboratory's load channel would split them.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" y="25799947"/>
            <a:ext cx="28355544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4200" b="1" i="0">
                <a:solidFill>
                  <a:srgbClr val="00538A"/>
                </a:solidFill>
                <a:latin typeface="Calibri"/>
              </a:rPr>
              <a:t>THE SMART FEATURES, SF1 TO SF20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0120" y="26480261"/>
            <a:ext cx="28355544" cy="30480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60120" y="26740357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68984" y="26717192"/>
            <a:ext cx="13849604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built &amp; rig-validated (18)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137892" y="26740357"/>
            <a:ext cx="223926" cy="223926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446756" y="26717192"/>
            <a:ext cx="13849604" cy="38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A636B"/>
                </a:solidFill>
                <a:latin typeface="Calibri"/>
              </a:rPr>
              <a:t>built, verified offline (2)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120" y="27250389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0120" y="27250389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604918" y="27405837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04918" y="27462987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88720" y="27405837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Live DIC health HUD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8720" y="2789412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93438" y="2789412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93438" y="2793984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2 / 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8302" y="2847934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markers, live at ~2 Hz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44614" y="27250389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44614" y="27250389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389412" y="27405837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389412" y="27462987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3214" y="27405837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Prepare specimen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73214" y="2789412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One button tares position, force and DIC and clears the plots. It tares DIC only at a green 2/2 lock, so a bad mount cannot be zeroed in.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977932" y="2789412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77932" y="2793984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4 → 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32796" y="2847934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operator actions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529108" y="27250389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2529108" y="27250389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6173907" y="27405837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173907" y="27462987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757708" y="27405837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Recipes / settings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757708" y="2789412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5762427" y="2789412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762427" y="2793984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817291" y="2847934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restores the whole setup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8313603" y="27250389"/>
            <a:ext cx="5217566" cy="21049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313603" y="27250389"/>
            <a:ext cx="100584" cy="21049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1958401" y="27405837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958401" y="27462987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542203" y="27405837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One-click report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542203" y="27894126"/>
            <a:ext cx="2894990" cy="1305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546921" y="2789412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546921" y="2793984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601785" y="2847934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→ PDF + every graph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4098097" y="27250389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4098097" y="27250389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7742896" y="27405837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742896" y="27462987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326697" y="27405837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Auto-stop at fracture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4326697" y="2789412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breaks. Caught S16 at 3375 N, silent through the ductile draw before it.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331416" y="2789412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331416" y="2793984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1.2 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386280" y="2847934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collapse → motor halt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60120" y="30163667"/>
            <a:ext cx="5217566" cy="31363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60120" y="30163667"/>
            <a:ext cx="100584" cy="31363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604918" y="3031911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604918" y="3037626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30319115"/>
            <a:ext cx="3361334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Constant-strain-rate testing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3118596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193438" y="3118596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193438" y="3123168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0.05 %/s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48302" y="3177118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held: 0.051 vs a 0.050 %/s target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744614" y="30163667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744614" y="30163667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389412" y="3031911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389412" y="3037626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73214" y="3031911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Stall guard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73214" y="30807405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Halts a motor that has stopped moving under load. It proved the T7 failure was a 2.6 kN stall, not a fracture — the specimen came off intact.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977932" y="3080740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977932" y="3085312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0.05 mm / 6 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32796" y="3139262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trip, armed above 200 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529108" y="30163667"/>
            <a:ext cx="5217566" cy="27578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529108" y="30163667"/>
            <a:ext cx="100584" cy="275783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6173907" y="3031911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173907" y="3037626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757708" y="3031911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Release load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757708" y="30807405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specimen. This drives past that, down to the true zero.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5762427" y="3080740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762427" y="3085312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≤ 5 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817291" y="3139262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residual, at 0.20 mm/s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8313603" y="30163667"/>
            <a:ext cx="5217566" cy="31363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8313603" y="30163667"/>
            <a:ext cx="100584" cy="31363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21958401" y="3031911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1958401" y="3037626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8542203" y="30319115"/>
            <a:ext cx="3361334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Six closed-loop protocols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8542203" y="3118596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progressive-cyclic→FRACTURE. One engine, one safety net.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1546921" y="3118596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1546921" y="3123168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6 / 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601785" y="3177118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rig-validated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4098097" y="30163667"/>
            <a:ext cx="5217566" cy="24313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4098097" y="30163667"/>
            <a:ext cx="100584" cy="243138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27742896" y="3031911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7742896" y="3037626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326697" y="3031911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Auto-preload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4326697" y="30807405"/>
            <a:ext cx="2894990" cy="1632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7331416" y="3080740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7331416" y="3085312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1.03 ×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386280" y="3139262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target, pre-paying relaxation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60120" y="33455507"/>
            <a:ext cx="5217566" cy="3084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60120" y="33455507"/>
            <a:ext cx="100584" cy="308427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4604918" y="3361095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604918" y="3366810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88720" y="3361095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Auto-metadata link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88720" y="34099245"/>
            <a:ext cx="2894990" cy="2285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Every save links the CSV, the captured video and the registry row by name and proposes the per-specimen folder — nothing a run produces can be orphaned.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193438" y="3409924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193438" y="3414496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3 links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48302" y="3468446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CSV · capture · registry, on save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744614" y="33455507"/>
            <a:ext cx="5217566" cy="3084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744614" y="33455507"/>
            <a:ext cx="100584" cy="308427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0389412" y="3361095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389412" y="3366810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73214" y="3361095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DIC auto-calibrate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973214" y="34099245"/>
            <a:ext cx="2894990" cy="2285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Exposure and threshold are swept on the live camera and scored on marker count, contrast and centroid jitter; the winner is applied with the score shown.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977932" y="3409924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977932" y="3414496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1 click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032796" y="3468446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exposure + threshold, scored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2529108" y="33455507"/>
            <a:ext cx="5217566" cy="3084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2529108" y="33455507"/>
            <a:ext cx="100584" cy="308427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16173907" y="3361095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6173907" y="3366810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SF13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2757708" y="3361095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Guided wizard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2757708" y="34099245"/>
            <a:ext cx="2894990" cy="2285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Connect → camera → data → mode → auto-calibrate → preload → Px₀ → prepare → run → save. Each step refuses to advance until its check passes.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5762427" y="3409924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5762427" y="3414496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9 / 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5817291" y="3468446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steps, on a real run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8313603" y="33455507"/>
            <a:ext cx="5217566" cy="3084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8313603" y="33455507"/>
            <a:ext cx="100584" cy="308427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21958401" y="3361095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1958401" y="3366810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8542203" y="3361095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Test registry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8542203" y="34099245"/>
            <a:ext cx="2894990" cy="2285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1546921" y="3409924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546921" y="3414496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36 runs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1601785" y="3468446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auto-indexed, 30 specimens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24098097" y="33455507"/>
            <a:ext cx="5217566" cy="31363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24098097" y="33455507"/>
            <a:ext cx="100584" cy="31363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27742896" y="3361095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7742896" y="3366810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4326697" y="33610955"/>
            <a:ext cx="3361334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Dead-DIC guard + hard backstops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326697" y="34477806"/>
            <a:ext cx="2894990" cy="1958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A controller ramping blind on a stale camera reading spikes the force. Speed freezes at 0.2 s of frozen strain, halt at 1.0 s; 4.5 kN and 30 mm caps.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27331416" y="34477806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7331416" y="3452352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3.0×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7386280" y="35063022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less overshoot on marker loss (518 → 175 N)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960120" y="36747347"/>
            <a:ext cx="5217566" cy="34107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60120" y="36747347"/>
            <a:ext cx="100584" cy="341071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4604918" y="3690279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04918" y="3695994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188720" y="3690279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Live Px₀ overlay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88720" y="37391085"/>
            <a:ext cx="2894990" cy="2611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The frozen reference pair and the live pair are drawn on the feed with a caption whose Δ agrees with the strain readout — the operator sees the measurement, not only a number.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4193438" y="3739108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193438" y="3743680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Δ = ε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248302" y="3797630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overlay agrees with readout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744614" y="36747347"/>
            <a:ext cx="5217566" cy="34107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744614" y="36747347"/>
            <a:ext cx="100584" cy="341071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10389412" y="3690279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389412" y="3695994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73214" y="3690279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Video + image capture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973214" y="37391085"/>
            <a:ext cx="2894990" cy="2611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PNG stills plus three AVI views (raw, contrast-boosted, adaptive speckle) recorded with the run, at a measured cost that never touches the detection budget.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977932" y="3739108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977932" y="3743680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≈47 µs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032796" y="3797630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per frame, all sinks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2529108" y="36747347"/>
            <a:ext cx="5217566" cy="3084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2529108" y="36747347"/>
            <a:ext cx="100584" cy="308427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16173907" y="3690279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6173907" y="3695994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Calibri"/>
              </a:rPr>
              <a:t>SF18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757708" y="3690279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DIC post-processing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2757708" y="37391085"/>
            <a:ext cx="2894990" cy="2285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Measures strain from ANY recorded video with the rig's own pixel-to-strain rule. On the laboratory's XT-205 footage it reproduced the certified record over 3153 frames.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5762427" y="3739108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5762427" y="3743680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1E8449"/>
                </a:solidFill>
                <a:latin typeface="Calibri"/>
              </a:rPr>
              <a:t>0.99928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5817291" y="3797630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scale vs XT-205, same frames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8313603" y="36747347"/>
            <a:ext cx="5217566" cy="34107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8313603" y="36747347"/>
            <a:ext cx="100584" cy="3410711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21958401" y="3690279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1958401" y="3695994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SF19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8542203" y="3690279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Noise capture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8542203" y="37391085"/>
            <a:ext cx="2894990" cy="2611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Records the instrument at rest and separates offset and drift (correctable) from the residual sd — the uncertainty, which does not subtract. Verified offline; awaits a rig run.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21546921" y="3739108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1546921" y="3743680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26 µε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1601785" y="3797630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900 s floor, drift separated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24098097" y="36747347"/>
            <a:ext cx="5217566" cy="341071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4098097" y="36747347"/>
            <a:ext cx="100584" cy="3410711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27742896" y="36902795"/>
            <a:ext cx="1417320" cy="381000"/>
          </a:xfrm>
          <a:prstGeom prst="roundRect">
            <a:avLst>
              <a:gd name="adj" fmla="val 2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7742896" y="36959945"/>
            <a:ext cx="141732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00538A"/>
                </a:solidFill>
                <a:latin typeface="Calibri"/>
              </a:rPr>
              <a:t>SF20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4326697" y="36902795"/>
            <a:ext cx="3361334" cy="378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Manual blob selection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326697" y="37391085"/>
            <a:ext cx="2894990" cy="2611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0">
                <a:solidFill>
                  <a:srgbClr val="5A636B"/>
                </a:solidFill>
                <a:latin typeface="Calibri"/>
              </a:rPr>
              <a:t>The operator clicks the two markers on a frozen frame and tracking follows the picks with the shape gates off — keeps measuring where automatic detection is deliberately killed.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27331416" y="37391085"/>
            <a:ext cx="1828800" cy="1028700"/>
          </a:xfrm>
          <a:prstGeom prst="roundRect">
            <a:avLst>
              <a:gd name="adj" fmla="val 7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331416" y="37436805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3600" b="1" i="0">
                <a:solidFill>
                  <a:srgbClr val="00538A"/>
                </a:solidFill>
                <a:latin typeface="Calibri"/>
              </a:rPr>
              <a:t>9 / 9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7386280" y="37976301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5A636B"/>
                </a:solidFill>
                <a:latin typeface="Calibri"/>
              </a:rPr>
              <a:t>offline tests, S13 frames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