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310896"/>
            <a:ext cx="6940296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00538A"/>
                </a:solidFill>
                <a:latin typeface="Calibri"/>
              </a:rPr>
              <a:t>SMART UTM — a tensile rig that runs, watches and stops its own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572406"/>
            <a:ext cx="6940296" cy="11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A636B"/>
                </a:solidFill>
                <a:latin typeface="Calibri"/>
              </a:rPr>
              <a:t>Jönköping University · School of Engineering — Materials &amp;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737261"/>
            <a:ext cx="6940296" cy="1268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796643"/>
            <a:ext cx="6940296" cy="268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The camera measures what a certified extensometer measures.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716" y="1087706"/>
            <a:ext cx="5968654" cy="4343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6B"/>
                </a:solidFill>
                <a:latin typeface="Calibri"/>
              </a:rPr>
              <a:t>20 smart features and 6 closed-loop protocols on a desktop rig. On the same frames, the rig's DIC agrees with a Zwick/Roell XT-205 video extensometer to 0.07 % in scale and 0.19 % in fracture strain — and PLA, PETG and TPU land inside their published bands.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590564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617971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18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858128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smart features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rig-validated (+2 offline)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3702" y="1590564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3702" y="1617971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0.99928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3702" y="1858128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scale vs XT-205 on 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same frames, R² 0.9999964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6508" y="1590564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6508" y="1617971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±1 %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08" y="1858128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yield and fracture strain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vs the laboratory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9315" y="1590564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9315" y="1617971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12 µε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9315" y="1858128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DIC noise floor, 10 s 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reference instrument 45 µε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2121" y="1590564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2121" y="1617971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1.78× / 1.78×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2121" y="1858128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noise vs pixel span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predicted / measured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4928" y="1590564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4928" y="1617971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4928" y="1858128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polymers inside their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published bands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10125229"/>
            <a:ext cx="6940296" cy="444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10161772"/>
            <a:ext cx="6940296" cy="216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" b="0" i="1">
                <a:solidFill>
                  <a:srgbClr val="5A636B"/>
                </a:solidFill>
                <a:latin typeface="Calibri"/>
              </a:rPr>
              <a:t>Code, raw CSVs, the 393-slide progress diary and the project report: Software/UTM_PyQt6/ and documentation/  ·  Every figure and number here is regenerated from the rig CSVs and the laboratory records by the documentation/scripts analysis suite — none of it is transcribed by hand.  ·  Layout follows the #evenbetterposter / Generation-2 billboard format: a plain-language headline, with methods and limitations kept as full panels rather than sidebars.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2185982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THE MACHINE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" y="2370060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896" y="2415739"/>
            <a:ext cx="3378708" cy="14530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06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42" y="2465985"/>
            <a:ext cx="3278215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2" name="Picture 31" descr="rig_cu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938" y="2613971"/>
            <a:ext cx="416549" cy="639500"/>
          </a:xfrm>
          <a:prstGeom prst="rect">
            <a:avLst/>
          </a:prstGeom>
        </p:spPr>
      </p:pic>
      <p:pic>
        <p:nvPicPr>
          <p:cNvPr id="33" name="Picture 32" descr="rig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166" y="2613971"/>
            <a:ext cx="424395" cy="6394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1142" y="3290014"/>
            <a:ext cx="3278215" cy="528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" y="3937302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HOW IT WORKS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" y="4121380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4167059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One control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" y="4299057"/>
            <a:ext cx="33787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All six protocols are one function called on every load sample (~11 Hz) with load, position and time-matched DIC strain in hand. A protocol only returns a speed — it cannot bypass the shared safety net.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" y="4669335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Strain from the specimen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" y="4801334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A camera tracks two markers; engineering strain is (L−L₀)/L₀ at 20.8 px/mm. The centroid resolves 0.1 px steps at ±0.02 px.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72484" y="2185982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WHAT THE TESTS SHOWED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72484" y="2370060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72484" y="2415739"/>
            <a:ext cx="3378708" cy="1976722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444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22730" y="2465985"/>
            <a:ext cx="3278215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00538A"/>
                </a:solidFill>
                <a:latin typeface="Calibri"/>
              </a:rPr>
              <a:t>Validated against a certified video extensometer — on its own frames</a:t>
            </a:r>
          </a:p>
        </p:txBody>
      </p:sp>
      <p:pic>
        <p:nvPicPr>
          <p:cNvPr id="45" name="Picture 44" descr="mot2pp_a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30" y="2613971"/>
            <a:ext cx="3278215" cy="11781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922730" y="3824055"/>
            <a:ext cx="3278215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1A1A1A"/>
                </a:solidFill>
                <a:latin typeface="Calibri"/>
              </a:rPr>
              <a:t>The laboratory's XT-205 video was re-measured by the rig's post-processor: 3153 frames, scale 0.99928, R² 0.9999964, fracture strain 5.21 vs 5.22 %, and a constant offset of -55 µε — 0.069 px on a 1255 px reference — that vanishes from every slope. On separate specimens the two machines agree within 1 % on yield and fracture strain; the -7.7 % UTS gap is pull rate (2.21× the laboratory's), grip seating and batch, not the strain channel.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72484" y="4470115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WHAT IT MEANS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72484" y="4654193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2484" y="4699872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Same frames, same answer → the software is a measurement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72484" y="4831870"/>
            <a:ext cx="33787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Given the XT-205's own frames, the rig's algorithm reproduces the certified record to 0.07 % in scale. Whatever still differs between the two machines is the machine or the specimen, not the strain channel.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72484" y="5179309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The noise is centroid noise → design with pixels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72484" y="5311308"/>
            <a:ext cx="33787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Floor 11.9 µε over 10 s, 26 µε over 900 s, below the reference instrument's 45 µε. It scales as 1/Px₀: 1675 vs 939 px across the gauge predicted 1.78× and measured 1.78×. More pixels across the gauge is the only lever, and it needs no code.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72484" y="5658747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The crosshead is not the specimen → an extensometer is not optional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72484" y="5790745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Only 19–29 % of early crosshead motion reaches the gauge; a crosshead-based curve overstates strain, and understates modulus, by three to five times.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" y="6187574"/>
            <a:ext cx="6940296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THE SMART FEATURES, SF1 TO SF20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" y="6371653"/>
            <a:ext cx="6940296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10896" y="6445322"/>
            <a:ext cx="81173" cy="81173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859" y="6436925"/>
            <a:ext cx="3351187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built &amp; rig-validated (18)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81044" y="6445322"/>
            <a:ext cx="81173" cy="81173"/>
          </a:xfrm>
          <a:prstGeom prst="roundRect">
            <a:avLst>
              <a:gd name="adj" fmla="val 25000"/>
            </a:avLst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93007" y="6436925"/>
            <a:ext cx="3351187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built, verified offline (2)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0896" y="6607532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0896" y="6607532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31451" y="6618951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1451" y="6642980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2683" y="6618951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Live DIC health HUD — 2 /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2683" y="6744098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green/amber/red badge shows marker lock, tracking % and jitter live — so a dropout is seen during the test, not found later in the CSV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85288" y="6607532"/>
            <a:ext cx="2191512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85288" y="6607532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2705843" y="6618951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05843" y="6642980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57075" y="6618951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Prepare specimen — 4 →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57075" y="6744098"/>
            <a:ext cx="1906020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One button tares position, force and DIC and clears the plots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59680" y="6607532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59680" y="6607532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080235" y="6618951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80235" y="6642980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31467" y="6618951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Recipes / settings — 1 click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31467" y="6744098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Saves and restores an entire setup, including all six protocols' parameters — so repeats are identical by construction, not by memory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10896" y="7054953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0896" y="7054953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31451" y="706637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51" y="709040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2683" y="7066372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One-click report — 1 click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2683" y="7191519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one-page PDF and every plot, recomputed from the CSV by the same library the app runs live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685288" y="7054953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685288" y="7054953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2705843" y="706637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05843" y="709040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57075" y="7066372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Auto-stop at fracture — 1.2 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57075" y="7191519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load-collapse detector halts the motor the moment the specimen breaks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059680" y="7054953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059680" y="7054953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080235" y="706637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80235" y="709040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31467" y="7066372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Constant-strain-rate testing — 0.05 %/s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31467" y="7191519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Closed loop on the specimen's own dε/dt: the crosshead adapted itself 0.10 → 0.05 mm/s, fast in the elastic region, slow through necking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10896" y="7502374"/>
            <a:ext cx="2191512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10896" y="7502374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331451" y="751379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1451" y="753782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2683" y="7513793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Stall guard — 0.05 mm / 6 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82683" y="7638940"/>
            <a:ext cx="1906020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Halts a motor that has stopped moving under load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685288" y="7502374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85288" y="7502374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705843" y="751379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05843" y="753782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57075" y="7513793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Release load — ≤ 5 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57075" y="7638940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Taring at preload makes the readout say 0 N while 300 N is still on the specimen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059680" y="7502374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059680" y="7502374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080235" y="751379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80235" y="753782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331467" y="7513793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Six closed-loop protocols — 6 / 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31467" y="7638940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cyclic · staircase · relaxation · creep · staircase→FRACTURE · progressive-cyclic→FRACTURE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10896" y="7861403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10896" y="7861403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331451" y="787282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31451" y="789685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2683" y="7872822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Auto-preload — 1.03 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2683" y="7997969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Approaches on a 0.2 → 0.1 → 0.02 mm/s schedule and stops 3 % high, because PLA relaxes about 2 % while held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685288" y="7861403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685288" y="7861403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705843" y="787282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05843" y="789685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57075" y="7872822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Auto-metadata link — 3 links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57075" y="7997969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Every save links the CSV, the captured video and the registry row by name and proposes the per-specimen folder — nothing a run produces can be orphaned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059680" y="7861403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059680" y="7861403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080235" y="787282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80235" y="789685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331467" y="7872822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DIC auto-calibrate — 1 click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331467" y="7997969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Exposure and threshold are swept on the live camera and scored on marker count, contrast and centroid jitter; the winner is applied with the score shown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10896" y="8308824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10896" y="8308824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331451" y="832024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31451" y="834427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2683" y="8320243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Guided wizard — 9 / 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82683" y="8445390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Connect → camera → data → mode → auto-calibrate → preload → Px₀ → prepare → run → save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685288" y="8308824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685288" y="8308824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2705843" y="832024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705843" y="834427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57075" y="8320243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Test registry — 36 runs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957075" y="8445390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Each run indexed with whatever its loading path supports — UTS, ε_f, E, σ_y, toughness — plus the force anchor that turns a tared reading into a true load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059680" y="8308824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059680" y="8308824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080235" y="832024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080235" y="834427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31467" y="8320243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Dead-DIC guard + hard backstops — 3.0×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331467" y="8445390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controller ramping blind on a stale camera reading spikes the force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10896" y="8756245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10896" y="8756245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331451" y="8767664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31451" y="8791693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82683" y="8767664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Live Px₀ overlay — Δ = ε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82683" y="8892811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The frozen reference pair and the live pair are drawn on the feed with a caption whose Δ agrees with the strain readout — the operator sees the measurement, not only a number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685288" y="8756245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685288" y="8756245"/>
            <a:ext cx="41148" cy="41772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2705843" y="8767664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705843" y="8791693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957075" y="8767664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Video + image capture — ≈47 µs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957075" y="8892811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PNG stills plus three AVI views (raw, contrast-boosted, adaptive speckle) recorded with the run, at a measured cost that never touches the detection budget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059680" y="8756245"/>
            <a:ext cx="2191512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059680" y="8756245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5080235" y="8767664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080235" y="8791693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331467" y="8767664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DIC post-processing — 0.99928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331467" y="8892811"/>
            <a:ext cx="1906020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Measures strain from ANY recorded video with the rig's own pixel-to-strain rule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10896" y="9203665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10896" y="9203665"/>
            <a:ext cx="41148" cy="417729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331451" y="9215085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31451" y="9239114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SF19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82683" y="9215085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Noise capture — 26 µε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82683" y="9340232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Records the instrument at rest and separates offset and drift (correctable) from the residual sd — the uncertainty, which does not subtract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685288" y="9203665"/>
            <a:ext cx="2191512" cy="4177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685288" y="9203665"/>
            <a:ext cx="41148" cy="417729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2705843" y="9215085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705843" y="9239114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SF20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957075" y="9215085"/>
            <a:ext cx="1906020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Manual blob selection — 9 / 9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957075" y="9340232"/>
            <a:ext cx="19060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The operator clicks the two markers on a frozen frame and tracking follows the picks with the shape gates off — keeps measuring where automatic detection is deliberately killed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