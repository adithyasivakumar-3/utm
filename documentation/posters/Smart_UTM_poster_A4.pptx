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" y="310896"/>
            <a:ext cx="6940296" cy="252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800" b="1" i="0">
                <a:solidFill>
                  <a:srgbClr val="00538A"/>
                </a:solidFill>
                <a:latin typeface="Calibri"/>
              </a:rPr>
              <a:t>SMART UTM — a tensile rig that runs, watches and stops its own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" y="572406"/>
            <a:ext cx="6940296" cy="119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5A636B"/>
                </a:solidFill>
                <a:latin typeface="Calibri"/>
              </a:rPr>
              <a:t>Jönköping University · School of Engineering — Materials &amp; Manufacturing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737261"/>
            <a:ext cx="6940296" cy="12688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10896" y="796643"/>
            <a:ext cx="6940296" cy="3621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8000"/>
              </a:lnSpc>
              <a:spcAft>
                <a:spcPts val="0"/>
              </a:spcAft>
            </a:pPr>
            <a:r>
              <a:rPr sz="2700" b="1" i="0">
                <a:solidFill>
                  <a:srgbClr val="1A1A1A"/>
                </a:solidFill>
                <a:latin typeface="Calibri"/>
              </a:rPr>
              <a:t>One specimen now yields a CURVE, not a point.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6716" y="1181585"/>
            <a:ext cx="5968654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5A636B"/>
                </a:solidFill>
                <a:latin typeface="Calibri"/>
              </a:rPr>
              <a:t>12 automation features and 6 closed-loop test protocols, every one validated on the rig. Camera-based strain sits INSIDE the control loop, so the machine measures the specimen instead of measuring itself.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12 /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smart features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built &amp; validated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73702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73702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73702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closed-loop test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protocols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36508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6508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34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36508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runs auto-indexed,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29 specimens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9315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9315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± 1.3 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9315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force hold over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877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62121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2121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26 µε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2121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DIC noise floor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(900 s window)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4928" y="1539663"/>
            <a:ext cx="1126263" cy="4994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489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4928" y="1567070"/>
            <a:ext cx="1126263" cy="2460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1550" b="1" i="0">
                <a:solidFill>
                  <a:srgbClr val="00538A"/>
                </a:solidFill>
                <a:latin typeface="Calibri"/>
              </a:rPr>
              <a:t>0.9 %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4928" y="1807227"/>
            <a:ext cx="1126263" cy="184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agreement between two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560" b="0" i="0">
                <a:solidFill>
                  <a:srgbClr val="5A636B"/>
                </a:solidFill>
                <a:latin typeface="Calibri"/>
              </a:rPr>
              <a:t>fracture protocols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" y="10125229"/>
            <a:ext cx="6940296" cy="4440"/>
          </a:xfrm>
          <a:prstGeom prst="rect">
            <a:avLst/>
          </a:prstGeom>
          <a:solidFill>
            <a:srgbClr val="C8C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0896" y="10161772"/>
            <a:ext cx="6940296" cy="2166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20" b="0" i="1">
                <a:solidFill>
                  <a:srgbClr val="5A636B"/>
                </a:solidFill>
                <a:latin typeface="Calibri"/>
              </a:rPr>
              <a:t>Code, raw CSVs and the full 76-slide technical deck: Software/UTM_PyQt6/ and documentation/  ·  Every figure and number here is regenerated from the rig CSVs by documentation/scripts/sf9_data.py — none of it is transcribed by hand.  ·  Layout follows the #evenbetterposter / Generation-2 billboard format: a plain-language headline, with methods and limitations kept as full panels rather than sidebars.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" y="21350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MACHINE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0896" y="231915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10896" y="2364837"/>
            <a:ext cx="3378708" cy="1612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3806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1142" y="2415084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rig — built in-house, every control loop closed in software</a:t>
            </a:r>
          </a:p>
        </p:txBody>
      </p:sp>
      <p:pic>
        <p:nvPicPr>
          <p:cNvPr id="32" name="Picture 31" descr="rig_cut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820" y="2563070"/>
            <a:ext cx="520686" cy="799374"/>
          </a:xfrm>
          <a:prstGeom prst="rect">
            <a:avLst/>
          </a:prstGeom>
        </p:spPr>
      </p:pic>
      <p:pic>
        <p:nvPicPr>
          <p:cNvPr id="33" name="Picture 32" descr="rig_schemat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185" y="2563070"/>
            <a:ext cx="530494" cy="7993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61142" y="3398987"/>
            <a:ext cx="3278215" cy="5285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Two steppers (1.85 Nm, 20:1) drive 5 mm lead screws against a fixed base. An ANYLOAD 3 t cell measures force; a Basler camera measures strain optically at 20.8 px/mm from two markers on the 80 mm gauge. The ESP32 runs STEP/DIR/ENABLE only and knows nothing of test protocols — every protocol, guard and measurement here lives in the PyQt6 app, closing the loop at ~11 Hz.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0896" y="4046275"/>
            <a:ext cx="3378708" cy="353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conventional pull gives ONE modulus, ONE yield, ONE strength — and a human presses every button. Crosshead travel is not specimen strain, so the machine reports its own compliance as material behaviour. A destructive test is one irreversible shot. And nothing watches the run, so a stall, a lost marker or a fracture are all noticed late, by a person.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4468361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HOW IT 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" y="465243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10896" y="4698118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 control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896" y="4830116"/>
            <a:ext cx="337870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All six protocols are one function called on every load sample (~11 Hz) with load, position and time-matched DIC strain in hand. A protocol only returns a speed — it cannot bypass the shared safety net.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" y="5200395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Strain from the specimen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0896" y="5332393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A camera tracks two markers; engineering strain is (L−L₀)/L₀ at 20.8 px/mm. The centroid resolves 0.1 px steps at ±0.02 px.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" y="5599039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Simulated before hardware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" y="5731038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Every policy is replayed against a spring plant and recorded CSVs — 9/9 checks pass before a specimen is risked.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72484" y="21350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WHAT IT BUYS YOU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872484" y="2319159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872484" y="2364837"/>
            <a:ext cx="3378708" cy="1991988"/>
          </a:xfrm>
          <a:prstGeom prst="roundRect">
            <a:avLst>
              <a:gd name="adj" fmla="val 2000"/>
            </a:avLst>
          </a:prstGeom>
          <a:solidFill>
            <a:srgbClr val="E7EFF6"/>
          </a:solidFill>
          <a:ln w="4440">
            <a:solidFill>
              <a:srgbClr val="0053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22730" y="2415084"/>
            <a:ext cx="3278215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00538A"/>
                </a:solidFill>
                <a:latin typeface="Calibri"/>
              </a:rPr>
              <a:t>The machine reads STIFFER while the specimen SOFTENS</a:t>
            </a:r>
          </a:p>
        </p:txBody>
      </p:sp>
      <p:pic>
        <p:nvPicPr>
          <p:cNvPr id="48" name="Picture 47" descr="sf9_teach_stiffn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2730" y="2563070"/>
            <a:ext cx="3278215" cy="129700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922730" y="3892052"/>
            <a:ext cx="3278215" cy="4145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1A1A1A"/>
                </a:solidFill>
                <a:latin typeface="Calibri"/>
              </a:rPr>
              <a:t>Progressive cyclic to fracture. Crosshead stiffness ROSE 744 → 777 N/mm as rig slack squeezed out, while the DIC-measured specimen modulus FELL 2.32 → 1.73 GPa, a 26 % loss. Read from the crosshead alone this test says the material is getting stiffer — the strongest argument for putting the camera in the loop.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72484" y="4434480"/>
            <a:ext cx="3378708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LIMITATIONS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72484" y="4618558"/>
            <a:ext cx="3378708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72484" y="4664237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Poisson's ratio is not measurable today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72484" y="4796235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The gauge is too narrow: the elastic width change is sub-pixel at 20.8 px/mm. Every stress here is ENGINEERING (F/A₀), never 'true'.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72484" y="5044610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No fatigue damage curve yet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72484" y="5176608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One run lost the camera mid-way and its repeat started on an already-damaged specimen, and the modulus RECOVERED between them — so no valid E₀ exists.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72484" y="5424983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Creep and fatigue are each n = 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72484" y="5556982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Both measurements are proven; the material constants are not. Creep needs 3–4 stress levels and fatigue needs repeats.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72484" y="5805356"/>
            <a:ext cx="3378708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The motor's torque ceiling is variable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72484" y="5937355"/>
            <a:ext cx="3378708" cy="207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80" b="0" i="0">
                <a:solidFill>
                  <a:srgbClr val="5A636B"/>
                </a:solidFill>
                <a:latin typeface="Calibri"/>
              </a:rPr>
              <a:t>Normally 3.2–3.4 kN, but ~2.6 kN on one session. The drivetrain is rated far above that, so the cause is electrical — not the software.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" y="6363875"/>
            <a:ext cx="6940296" cy="1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50" b="1" i="0">
                <a:solidFill>
                  <a:srgbClr val="00538A"/>
                </a:solidFill>
                <a:latin typeface="Calibri"/>
              </a:rPr>
              <a:t>THE SMART FEATURES, SF1 TO SF15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0896" y="6547954"/>
            <a:ext cx="6940296" cy="7613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310896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2859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built &amp; rig-validated (12)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24327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36291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planned (3)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59" y="6621623"/>
            <a:ext cx="81173" cy="81173"/>
          </a:xfrm>
          <a:prstGeom prst="roundRect">
            <a:avLst>
              <a:gd name="adj" fmla="val 25000"/>
            </a:avLst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49723" y="6613226"/>
            <a:ext cx="2194471" cy="139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hardware-blocked (1)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10896" y="6783833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10896" y="678383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31451" y="679525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1451" y="681928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82683" y="6795252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Live DIC health HUD — 2 / 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2683" y="6920399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green/amber/red badge shows marker lock, tracking % and jitter live — so a dropout is seen during the test, not found later in the CSV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72484" y="6783833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872484" y="6783833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893039" y="6795252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893039" y="681928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44271" y="6795252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Prepare specimen — 4 → 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144271" y="6920399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One button tares position, force and DIC and clears the plots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10896" y="7142862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0896" y="7142862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331451" y="715428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31451" y="717831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2683" y="7154281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Recipes / settings — 1 click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82683" y="7279428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Saves and restores an entire setup, including all six protocols' parameters — so repeats are identical by construction, not by memory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3872484" y="7142862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872484" y="7142862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3893039" y="7154281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893039" y="7178310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144271" y="7154281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One-click report — 1 click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144271" y="7279428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one-page PDF and every plot, recomputed from the CSV by the same library the app runs live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10896" y="7501891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0896" y="7501891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331451" y="7513310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31451" y="7537339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SF5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82683" y="7513310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Auto-stop at fracture — 1.2 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82683" y="7638457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load-collapse detector halts the motor the moment the specimen breaks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3872484" y="7501891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872484" y="7501891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3893039" y="7513310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893039" y="7537339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144271" y="7513310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Constant-strain-rate testing — 0.00051 /s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144271" y="7638457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Closed loop on the specimen's own dε/dt: the crosshead adapted itself 0.10 → 0.05 mm/s, fast in the elastic region, slow through necking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310896" y="7860920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0896" y="7860920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331451" y="7872339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31451" y="7896368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82683" y="7872339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Stall guard — 0.05 mm / 6 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82683" y="7997486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Halts a motor that has stopped moving under load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3872484" y="7860920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872484" y="7860920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3893039" y="7872339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893039" y="7896368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144271" y="7872339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Release load — ≤ 5 N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144271" y="7997486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Taring at preload makes the readout say 0 N while 300 N is still on the specimen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10896" y="8131557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10896" y="8131557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31451" y="8142976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31451" y="8167005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82683" y="8142976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Six closed-loop protocols — 6 / 6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2683" y="8268123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cyclic · staircase · relaxation · creep · staircase→FRACTURE · progressive-cyclic→FRACTURE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3872484" y="8131557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72484" y="8131557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3893039" y="8142976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893039" y="8167005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144271" y="8142976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Auto-preload — 1.03 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144271" y="8268123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Approaches on a 0.2 → 0.1 → 0.02 mm/s schedule and stops 3 % high, because PLA relaxes about 2 % while held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10896" y="8490585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310896" y="8490585"/>
            <a:ext cx="41148" cy="240945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331451" y="850200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31451" y="852603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82683" y="8502005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Auto-metadata + foldering — planned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582683" y="8627152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Per-specimen folders and file IDs filled from the recipe, plus a one-click per-specimen slide deck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3872484" y="8490585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872484" y="8490585"/>
            <a:ext cx="41148" cy="329337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3893039" y="8502005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893039" y="8526034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144271" y="8502005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DIC auto-calibrate — planned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144271" y="8627152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Exposure and threshold swept on camera start, and an ROI that follows the markers through a ductile draw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10896" y="8849614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310896" y="8849614"/>
            <a:ext cx="41148" cy="329337"/>
          </a:xfrm>
          <a:prstGeom prst="rect">
            <a:avLst/>
          </a:prstGeom>
          <a:solidFill>
            <a:srgbClr val="0053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331451" y="886103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7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31451" y="888506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00538A"/>
                </a:solidFill>
                <a:latin typeface="Calibri"/>
              </a:rPr>
              <a:t>SF13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82683" y="8861034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Guided workflow + live overlay — planned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82683" y="8986181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Connect→Calibrate→Mount→Prepare→Run→Save wizard, with live modulus and a fracture flag as the test runs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3872484" y="8849614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3872484" y="8849614"/>
            <a:ext cx="41148" cy="240945"/>
          </a:xfrm>
          <a:prstGeom prst="rect">
            <a:avLst/>
          </a:prstGeom>
          <a:solidFill>
            <a:srgbClr val="B96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3893039" y="8861034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FD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893039" y="8885062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B96B00"/>
                </a:solidFill>
                <a:latin typeface="Calibri"/>
              </a:rPr>
              <a:t>SF14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144271" y="8861034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Poisson's ratio / true stress — blocked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144271" y="8986181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The four-marker maths is written and self-tested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310896" y="9208643"/>
            <a:ext cx="3378708" cy="32933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10896" y="9208643"/>
            <a:ext cx="41148" cy="329337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ounded Rectangle 153"/>
          <p:cNvSpPr/>
          <p:nvPr/>
        </p:nvSpPr>
        <p:spPr>
          <a:xfrm>
            <a:off x="331451" y="922006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31451" y="924409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82683" y="9220063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Test registry — 34 runs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582683" y="9345210"/>
            <a:ext cx="3093216" cy="176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Each run indexed with whatever its loading path supports — UTS, ε_f, E, σ_y, toughness — plus the force anchor that turns a tared reading into a true load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3872484" y="9208643"/>
            <a:ext cx="3378708" cy="24094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C8CF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3872484" y="9208643"/>
            <a:ext cx="41148" cy="240945"/>
          </a:xfrm>
          <a:prstGeom prst="rect">
            <a:avLst/>
          </a:prstGeom>
          <a:solidFill>
            <a:srgbClr val="1E84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ounded Rectangle 159"/>
          <p:cNvSpPr/>
          <p:nvPr/>
        </p:nvSpPr>
        <p:spPr>
          <a:xfrm>
            <a:off x="3893039" y="9220063"/>
            <a:ext cx="239812" cy="185674"/>
          </a:xfrm>
          <a:prstGeom prst="roundRect">
            <a:avLst>
              <a:gd name="adj" fmla="val 30000"/>
            </a:avLst>
          </a:prstGeom>
          <a:solidFill>
            <a:srgbClr val="E8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3893039" y="9244091"/>
            <a:ext cx="239812" cy="1419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  <a:spcAft>
                <a:spcPts val="0"/>
              </a:spcAft>
            </a:pPr>
            <a:r>
              <a:rPr sz="705" b="1" i="0">
                <a:solidFill>
                  <a:srgbClr val="1E8449"/>
                </a:solidFill>
                <a:latin typeface="Calibri"/>
              </a:rPr>
              <a:t>SF16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144271" y="9220063"/>
            <a:ext cx="3093216" cy="1205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 b="1" i="0">
                <a:solidFill>
                  <a:srgbClr val="1A1A1A"/>
                </a:solidFill>
                <a:latin typeface="Calibri"/>
              </a:rPr>
              <a:t>Dead-DIC guard + hard backstops — 518 → 175 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44271" y="9345210"/>
            <a:ext cx="3093216" cy="88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" b="0" i="0">
                <a:solidFill>
                  <a:srgbClr val="5A636B"/>
                </a:solidFill>
                <a:latin typeface="Calibri"/>
              </a:rPr>
              <a:t>A controller ramping blind on a stale camera reading spikes the force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