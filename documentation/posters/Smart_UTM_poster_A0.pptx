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5784" cy="4280306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275784" cy="42803064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960120"/>
            <a:ext cx="28355544" cy="10585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7550" b="1" i="0">
                <a:solidFill>
                  <a:srgbClr val="00538A"/>
                </a:solidFill>
                <a:latin typeface="Calibri"/>
              </a:rPr>
              <a:t>SMART UTM — a tensile rig that runs, watches and stops its own tests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055266"/>
            <a:ext cx="28355544" cy="420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3000" b="0" i="0">
                <a:solidFill>
                  <a:srgbClr val="5A636B"/>
                </a:solidFill>
                <a:latin typeface="Calibri"/>
              </a:rPr>
              <a:t>Jönköping University · School of Engineering — Materials &amp; Manufacturing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2658770"/>
            <a:ext cx="28355544" cy="50800"/>
          </a:xfrm>
          <a:prstGeom prst="rect">
            <a:avLst/>
          </a:prstGeom>
          <a:solidFill>
            <a:srgbClr val="005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896514"/>
            <a:ext cx="28355544" cy="139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88000"/>
              </a:lnSpc>
              <a:spcAft>
                <a:spcPts val="0"/>
              </a:spcAft>
            </a:pPr>
            <a:r>
              <a:rPr sz="10400" b="1" i="0">
                <a:solidFill>
                  <a:srgbClr val="1A1A1A"/>
                </a:solidFill>
                <a:latin typeface="Calibri"/>
              </a:rPr>
              <a:t>One specimen now yields a CURVE, not a point.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45008" y="4382719"/>
            <a:ext cx="24385767" cy="1036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400" b="0" i="0">
                <a:solidFill>
                  <a:srgbClr val="5A636B"/>
                </a:solidFill>
                <a:latin typeface="Calibri"/>
              </a:rPr>
              <a:t>12 automation features and 6 closed-loop test protocols, every one validated on the rig. Camera-based strain sits INSIDE the control loop, so the machine measures the specimen instead of measuring itself.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5693359"/>
            <a:ext cx="4604003" cy="175641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5803087"/>
            <a:ext cx="4604003" cy="920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5800" b="1" i="0">
                <a:solidFill>
                  <a:srgbClr val="00538A"/>
                </a:solidFill>
                <a:latin typeface="Calibri"/>
              </a:rPr>
              <a:t>12 /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6701739"/>
            <a:ext cx="4604003" cy="561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A636B"/>
                </a:solidFill>
                <a:latin typeface="Calibri"/>
              </a:rPr>
              <a:t>smart features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A636B"/>
                </a:solidFill>
                <a:latin typeface="Calibri"/>
              </a:rPr>
              <a:t>built &amp; validated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10427" y="5693359"/>
            <a:ext cx="4604003" cy="175641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10427" y="5803087"/>
            <a:ext cx="4604003" cy="920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5800" b="1" i="0">
                <a:solidFill>
                  <a:srgbClr val="00538A"/>
                </a:solidFill>
                <a:latin typeface="Calibri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0427" y="6701739"/>
            <a:ext cx="4604003" cy="561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A636B"/>
                </a:solidFill>
                <a:latin typeface="Calibri"/>
              </a:rPr>
              <a:t>closed-loop test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A636B"/>
                </a:solidFill>
                <a:latin typeface="Calibri"/>
              </a:rPr>
              <a:t>protocols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460736" y="5693359"/>
            <a:ext cx="4604003" cy="175641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60736" y="5803087"/>
            <a:ext cx="4604003" cy="920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5800" b="1" i="0">
                <a:solidFill>
                  <a:srgbClr val="00538A"/>
                </a:solidFill>
                <a:latin typeface="Calibri"/>
              </a:rPr>
              <a:t>34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0736" y="6701739"/>
            <a:ext cx="4604003" cy="561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A636B"/>
                </a:solidFill>
                <a:latin typeface="Calibri"/>
              </a:rPr>
              <a:t>runs auto-indexed,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A636B"/>
                </a:solidFill>
                <a:latin typeface="Calibri"/>
              </a:rPr>
              <a:t>29 specimens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5211043" y="5693359"/>
            <a:ext cx="4604003" cy="175641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211043" y="5803087"/>
            <a:ext cx="4604003" cy="920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5800" b="1" i="0">
                <a:solidFill>
                  <a:srgbClr val="00538A"/>
                </a:solidFill>
                <a:latin typeface="Calibri"/>
              </a:rPr>
              <a:t>± 1.3 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211043" y="6701739"/>
            <a:ext cx="4604003" cy="561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A636B"/>
                </a:solidFill>
                <a:latin typeface="Calibri"/>
              </a:rPr>
              <a:t>force hold over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A636B"/>
                </a:solidFill>
                <a:latin typeface="Calibri"/>
              </a:rPr>
              <a:t>877 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961352" y="5693359"/>
            <a:ext cx="4604003" cy="175641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961352" y="5803087"/>
            <a:ext cx="4604003" cy="920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5800" b="1" i="0">
                <a:solidFill>
                  <a:srgbClr val="00538A"/>
                </a:solidFill>
                <a:latin typeface="Calibri"/>
              </a:rPr>
              <a:t>26 µε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961352" y="6701739"/>
            <a:ext cx="4604003" cy="561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A636B"/>
                </a:solidFill>
                <a:latin typeface="Calibri"/>
              </a:rPr>
              <a:t>DIC noise floor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A636B"/>
                </a:solidFill>
                <a:latin typeface="Calibri"/>
              </a:rPr>
              <a:t>(900 s window)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711660" y="5693359"/>
            <a:ext cx="4604003" cy="175641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711660" y="5803087"/>
            <a:ext cx="4604003" cy="920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5800" b="1" i="0">
                <a:solidFill>
                  <a:srgbClr val="00538A"/>
                </a:solidFill>
                <a:latin typeface="Calibri"/>
              </a:rPr>
              <a:t>0.9 %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711660" y="6701739"/>
            <a:ext cx="4604003" cy="561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A636B"/>
                </a:solidFill>
                <a:latin typeface="Calibri"/>
              </a:rPr>
              <a:t>agreement between two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A636B"/>
                </a:solidFill>
                <a:latin typeface="Calibri"/>
              </a:rPr>
              <a:t>fracture protocols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0120" y="41015412"/>
            <a:ext cx="28355544" cy="17780"/>
          </a:xfrm>
          <a:prstGeom prst="rect">
            <a:avLst/>
          </a:prstGeom>
          <a:solidFill>
            <a:srgbClr val="C8C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41161716"/>
            <a:ext cx="28355544" cy="6812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1">
                <a:solidFill>
                  <a:srgbClr val="5A636B"/>
                </a:solidFill>
                <a:latin typeface="Calibri"/>
              </a:rPr>
              <a:t>Code, raw CSVs and the full 76-slide technical deck: Software/UTM_PyQt6/ and documentation/  ·  Every figure and number here is regenerated from the rig CSVs by documentation/scripts/sf9_data.py — none of it is transcribed by hand.  ·  Layout follows the #evenbetterposter / Generation-2 billboard format: a plain-language headline, with methods and limitations kept as full panels rather than sidebars.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7833817"/>
            <a:ext cx="9073896" cy="588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4200" b="1" i="0">
                <a:solidFill>
                  <a:srgbClr val="00538A"/>
                </a:solidFill>
                <a:latin typeface="Calibri"/>
              </a:rPr>
              <a:t>THE MACHINE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0120" y="8514130"/>
            <a:ext cx="9073896" cy="30480"/>
          </a:xfrm>
          <a:prstGeom prst="rect">
            <a:avLst/>
          </a:prstGeom>
          <a:solidFill>
            <a:srgbClr val="005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60120" y="8697010"/>
            <a:ext cx="9073896" cy="9005011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240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61288" y="8898178"/>
            <a:ext cx="8671560" cy="7571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The rig — built in-house, every control loop closed in software</a:t>
            </a:r>
          </a:p>
        </p:txBody>
      </p:sp>
      <p:pic>
        <p:nvPicPr>
          <p:cNvPr id="32" name="Picture 31" descr="rig_cut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7578" y="9765030"/>
            <a:ext cx="3931027" cy="6035040"/>
          </a:xfrm>
          <a:prstGeom prst="rect">
            <a:avLst/>
          </a:prstGeom>
        </p:spPr>
      </p:pic>
      <p:pic>
        <p:nvPicPr>
          <p:cNvPr id="33" name="Picture 32" descr="rig_schemat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1485" y="9765030"/>
            <a:ext cx="4005072" cy="603504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161288" y="15946374"/>
            <a:ext cx="86715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000" b="0" i="0">
                <a:solidFill>
                  <a:srgbClr val="5A636B"/>
                </a:solidFill>
                <a:latin typeface="Calibri"/>
              </a:rPr>
              <a:t>Two steppers (1.85 Nm, 20:1) drive 5 mm lead screws against a fixed base. An ANYLOAD 3 t cell measures force; a Basler camera measures strain optically at 20.8 px/mm from two markers on the 80 mm gauge. The ESP32 runs STEP/DIR/ENABLE only and knows nothing of test protocols — every protocol, guard and measurement here lives in the PyQt6 app, closing the loop at ~11 Hz.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17976341"/>
            <a:ext cx="9073896" cy="588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4200" b="1" i="0">
                <a:solidFill>
                  <a:srgbClr val="00538A"/>
                </a:solidFill>
                <a:latin typeface="Calibri"/>
              </a:rPr>
              <a:t>WHY AUTOMATE A TENSILE RIG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0120" y="18656655"/>
            <a:ext cx="9073896" cy="30480"/>
          </a:xfrm>
          <a:prstGeom prst="rect">
            <a:avLst/>
          </a:prstGeom>
          <a:solidFill>
            <a:srgbClr val="005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0120" y="18839535"/>
            <a:ext cx="9073896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A conventional pull gives ONE modulus, ONE yield, ONE strength — and a human presses every button. Crosshead travel is not specimen strain, so the machine reports its own compliance as material behaviour. A destructive test is one irreversible shot. And nothing watches the run, so a stall, a lost marker or a fracture are all noticed late, by a person.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944" y="7833817"/>
            <a:ext cx="9073896" cy="588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4200" b="1" i="0">
                <a:solidFill>
                  <a:srgbClr val="00538A"/>
                </a:solidFill>
                <a:latin typeface="Calibri"/>
              </a:rPr>
              <a:t>HOW IT WORKS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600944" y="8514130"/>
            <a:ext cx="9073896" cy="30480"/>
          </a:xfrm>
          <a:prstGeom prst="rect">
            <a:avLst/>
          </a:prstGeom>
          <a:solidFill>
            <a:srgbClr val="005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00944" y="8697010"/>
            <a:ext cx="9073896" cy="3785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One control engine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00944" y="9121292"/>
            <a:ext cx="907389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5A636B"/>
                </a:solidFill>
                <a:latin typeface="Calibri"/>
              </a:rPr>
              <a:t>All six protocols are one function called on every load sample (~11 Hz) with load, position and time-matched DIC strain in hand. A protocol only returns a speed — it cannot bypass the shared safety net.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00944" y="10273436"/>
            <a:ext cx="9073896" cy="3785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Strain from the specimen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00944" y="10697718"/>
            <a:ext cx="9073896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5A636B"/>
                </a:solidFill>
                <a:latin typeface="Calibri"/>
              </a:rPr>
              <a:t>A camera tracks two markers; engineering strain is (L−L₀)/L₀ at 20.8 px/mm. The centroid resolves 0.1 px steps at ±0.02 px.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00944" y="11545062"/>
            <a:ext cx="9073896" cy="3785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Simulated before hardware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00944" y="11969343"/>
            <a:ext cx="9073896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5A636B"/>
                </a:solidFill>
                <a:latin typeface="Calibri"/>
              </a:rPr>
              <a:t>Every policy is replayed against a spring plant and recorded CSVs — 9/9 checks pass before a specimen is risked.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00944" y="12816687"/>
            <a:ext cx="9073896" cy="3785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Four safety layers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00944" y="13240969"/>
            <a:ext cx="907389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5A636B"/>
                </a:solidFill>
                <a:latin typeface="Calibri"/>
              </a:rPr>
              <a:t>Load-collapse detector · stall guard (&lt; 0.05 mm / 6 s under load) · 10 kN and 30 mm backstops · dead-DIC guard (freeze at 0.2 s, halt at 1.0 s). Guards are phase-aware, so the stall guard stays silent through an intentional dwell.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0944" y="14393113"/>
            <a:ext cx="9073896" cy="3785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One analysis library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600944" y="14817394"/>
            <a:ext cx="9073896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5A636B"/>
                </a:solidFill>
                <a:latin typeface="Calibri"/>
              </a:rPr>
              <a:t>The app, the reports and every figure compute E, σ_y, UTS, ε_f and the force anchor from the same code — a live readout and a published number cannot disagree.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00944" y="16167658"/>
            <a:ext cx="9073896" cy="588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4200" b="1" i="0">
                <a:solidFill>
                  <a:srgbClr val="00538A"/>
                </a:solidFill>
                <a:latin typeface="Calibri"/>
              </a:rPr>
              <a:t>WHAT THE AUTOMATION BUYS YOU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600944" y="16847972"/>
            <a:ext cx="9073896" cy="30480"/>
          </a:xfrm>
          <a:prstGeom prst="rect">
            <a:avLst/>
          </a:prstGeom>
          <a:solidFill>
            <a:srgbClr val="005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0600944" y="17030852"/>
            <a:ext cx="9073896" cy="6537562"/>
          </a:xfrm>
          <a:prstGeom prst="roundRect">
            <a:avLst>
              <a:gd name="adj" fmla="val 2000"/>
            </a:avLst>
          </a:prstGeom>
          <a:solidFill>
            <a:srgbClr val="E7EFF6"/>
          </a:solidFill>
          <a:ln w="17780">
            <a:solidFill>
              <a:srgbClr val="0053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802112" y="17232020"/>
            <a:ext cx="8671560" cy="3785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700" b="1" i="0">
                <a:solidFill>
                  <a:srgbClr val="00538A"/>
                </a:solidFill>
                <a:latin typeface="Calibri"/>
              </a:rPr>
              <a:t>Six closed-loop protocols — every trace is real rig data</a:t>
            </a:r>
          </a:p>
        </p:txBody>
      </p:sp>
      <p:pic>
        <p:nvPicPr>
          <p:cNvPr id="54" name="Picture 53" descr="sf9_overvi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2112" y="17720309"/>
            <a:ext cx="8671560" cy="3690121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0802112" y="21538446"/>
            <a:ext cx="86715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All six are one function behind one safety net; a protocol only chooses a speed. Two of them drive the specimen to destruction while interrogating it on the way — which is how one specimen yields a curve instead of a point. Two protocols taken independently to fracture landed 0.9 % apart on ultimate strength (21.19 vs 21.38 MPa) — on different specimens, n = 1 each, so that bounds protocol and specimen scatter together.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0241768" y="7833817"/>
            <a:ext cx="9073896" cy="5668694"/>
          </a:xfrm>
          <a:prstGeom prst="roundRect">
            <a:avLst>
              <a:gd name="adj" fmla="val 2000"/>
            </a:avLst>
          </a:prstGeom>
          <a:solidFill>
            <a:srgbClr val="E7EFF6"/>
          </a:solidFill>
          <a:ln w="17780">
            <a:solidFill>
              <a:srgbClr val="0053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0442936" y="8034985"/>
            <a:ext cx="8671560" cy="3785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700" b="1" i="0">
                <a:solidFill>
                  <a:srgbClr val="00538A"/>
                </a:solidFill>
                <a:latin typeface="Calibri"/>
              </a:rPr>
              <a:t>The machine reads STIFFER while the specimen SOFTENS</a:t>
            </a:r>
          </a:p>
        </p:txBody>
      </p:sp>
      <p:pic>
        <p:nvPicPr>
          <p:cNvPr id="58" name="Picture 57" descr="sf9_teach_stiffne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442936" y="8523274"/>
            <a:ext cx="8671560" cy="3430853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20442936" y="12082143"/>
            <a:ext cx="8671560" cy="121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Progressive cyclic to fracture. Crosshead stiffness ROSE 744 → 777 N/mm as rig slack squeezed out, while the DIC-measured specimen modulus FELL 2.32 → 1.73 GPa, a 26 % loss. Read from the crosshead alone this test says the material is getting stiffer — the strongest argument for putting the camera in the loop.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0241768" y="13813407"/>
            <a:ext cx="9073896" cy="5970054"/>
          </a:xfrm>
          <a:prstGeom prst="roundRect">
            <a:avLst>
              <a:gd name="adj" fmla="val 2000"/>
            </a:avLst>
          </a:prstGeom>
          <a:solidFill>
            <a:srgbClr val="E7EFF6"/>
          </a:solidFill>
          <a:ln w="17780">
            <a:solidFill>
              <a:srgbClr val="0053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0442936" y="14014575"/>
            <a:ext cx="8671560" cy="7571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700" b="1" i="0">
                <a:solidFill>
                  <a:srgbClr val="00538A"/>
                </a:solidFill>
                <a:latin typeface="Calibri"/>
              </a:rPr>
              <a:t>Creep, resolved — and separated from the instrument's own drift</a:t>
            </a:r>
          </a:p>
        </p:txBody>
      </p:sp>
      <p:pic>
        <p:nvPicPr>
          <p:cNvPr id="62" name="Picture 61" descr="sf9_creep_t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442936" y="14881427"/>
            <a:ext cx="8671560" cy="2744051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20442936" y="17753494"/>
            <a:ext cx="86715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Two holds, in order. A 928 s ZERO-LOAD baseline measured the rig's own drift at +0.2893 µε/s; the real hold then pinned 597 ± 1.3 N for 877 s at 11.3 MPa. Raw strain minus that slope leaves +1080 µε of creep — 41× the 26 µε noise floor — and it decelerates (n = 0.48), the criterion fixed BEFORE the run for telling creep from drift. Holding it took +172 µm of crosshead but only +107 µm of gauge: 62 % specimen.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241768" y="20094358"/>
            <a:ext cx="9073896" cy="588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4200" b="1" i="0">
                <a:solidFill>
                  <a:srgbClr val="00538A"/>
                </a:solidFill>
                <a:latin typeface="Calibri"/>
              </a:rPr>
              <a:t>LIMITATIONS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0241768" y="20774671"/>
            <a:ext cx="9073896" cy="30480"/>
          </a:xfrm>
          <a:prstGeom prst="rect">
            <a:avLst/>
          </a:prstGeom>
          <a:solidFill>
            <a:srgbClr val="005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0241768" y="20957551"/>
            <a:ext cx="9073896" cy="3785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Poisson's ratio is not measurable today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0241768" y="21381833"/>
            <a:ext cx="9073896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5A636B"/>
                </a:solidFill>
                <a:latin typeface="Calibri"/>
              </a:rPr>
              <a:t>The gauge is too narrow: the elastic width change is sub-pixel at 20.8 px/mm. Every stress here is ENGINEERING (F/A₀), never 'true'.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0241768" y="22229177"/>
            <a:ext cx="9073896" cy="3785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No fatigue damage curve yet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0241768" y="22653458"/>
            <a:ext cx="9073896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5A636B"/>
                </a:solidFill>
                <a:latin typeface="Calibri"/>
              </a:rPr>
              <a:t>One run lost the camera mid-way and its repeat started on an already-damaged specimen, and the modulus RECOVERED between them — so no valid E₀ exists.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241768" y="23500802"/>
            <a:ext cx="9073896" cy="3785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Creep and fatigue are each n = 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0241768" y="23925084"/>
            <a:ext cx="9073896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5A636B"/>
                </a:solidFill>
                <a:latin typeface="Calibri"/>
              </a:rPr>
              <a:t>Both measurements are proven; the material constants are not. Creep needs 3–4 stress levels and fatigue needs repeats.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0241768" y="24772428"/>
            <a:ext cx="9073896" cy="3785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The motor's torque ceiling is variable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0241768" y="25196710"/>
            <a:ext cx="9073896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5A636B"/>
                </a:solidFill>
                <a:latin typeface="Calibri"/>
              </a:rPr>
              <a:t>Normally 3.2–3.4 kN, but ~2.6 kN on one session. The drivetrain is rated far above that, so the cause is electrical — not the software.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60120" y="26757285"/>
            <a:ext cx="28355544" cy="588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4200" b="1" i="0">
                <a:solidFill>
                  <a:srgbClr val="00538A"/>
                </a:solidFill>
                <a:latin typeface="Calibri"/>
              </a:rPr>
              <a:t>THE SMART FEATURES, SF1 TO SF15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60120" y="27437598"/>
            <a:ext cx="28355544" cy="30480"/>
          </a:xfrm>
          <a:prstGeom prst="rect">
            <a:avLst/>
          </a:prstGeom>
          <a:solidFill>
            <a:srgbClr val="005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960120" y="27697694"/>
            <a:ext cx="223926" cy="223926"/>
          </a:xfrm>
          <a:prstGeom prst="roundRect">
            <a:avLst>
              <a:gd name="adj" fmla="val 25000"/>
            </a:avLst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268984" y="27674530"/>
            <a:ext cx="9123680" cy="38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1600" b="0" i="0">
                <a:solidFill>
                  <a:srgbClr val="5A636B"/>
                </a:solidFill>
                <a:latin typeface="Calibri"/>
              </a:rPr>
              <a:t>built &amp; rig-validated (12)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411968" y="27697694"/>
            <a:ext cx="223926" cy="223926"/>
          </a:xfrm>
          <a:prstGeom prst="roundRect">
            <a:avLst>
              <a:gd name="adj" fmla="val 25000"/>
            </a:avLst>
          </a:prstGeom>
          <a:solidFill>
            <a:srgbClr val="005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720832" y="27674530"/>
            <a:ext cx="9123680" cy="38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1600" b="0" i="0">
                <a:solidFill>
                  <a:srgbClr val="5A636B"/>
                </a:solidFill>
                <a:latin typeface="Calibri"/>
              </a:rPr>
              <a:t>planned (3)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19863816" y="27697694"/>
            <a:ext cx="223926" cy="223926"/>
          </a:xfrm>
          <a:prstGeom prst="roundRect">
            <a:avLst>
              <a:gd name="adj" fmla="val 25000"/>
            </a:avLst>
          </a:prstGeom>
          <a:solidFill>
            <a:srgbClr val="B9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0172680" y="27674530"/>
            <a:ext cx="9123680" cy="38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1600" b="0" i="0">
                <a:solidFill>
                  <a:srgbClr val="5A636B"/>
                </a:solidFill>
                <a:latin typeface="Calibri"/>
              </a:rPr>
              <a:t>hardware-blocked (1)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960120" y="28207726"/>
            <a:ext cx="9073896" cy="1827885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3970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960120" y="28207726"/>
            <a:ext cx="100584" cy="1827885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8461248" y="28363174"/>
            <a:ext cx="1417320" cy="381000"/>
          </a:xfrm>
          <a:prstGeom prst="roundRect">
            <a:avLst>
              <a:gd name="adj" fmla="val 28000"/>
            </a:avLst>
          </a:prstGeom>
          <a:solidFill>
            <a:srgbClr val="E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461248" y="28420324"/>
            <a:ext cx="141732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1500" b="1" i="0">
                <a:solidFill>
                  <a:srgbClr val="1E8449"/>
                </a:solidFill>
                <a:latin typeface="Calibri"/>
              </a:rPr>
              <a:t>SF1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88720" y="28363174"/>
            <a:ext cx="7217664" cy="3785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Live DIC health HUD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88720" y="28851464"/>
            <a:ext cx="5600700" cy="1028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100" b="0" i="0">
                <a:solidFill>
                  <a:srgbClr val="5A636B"/>
                </a:solidFill>
                <a:latin typeface="Calibri"/>
              </a:rPr>
              <a:t>A green/amber/red badge shows marker lock, tracking % and jitter live — so a dropout is seen during the test, not found later in the CSV.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899148" y="28851464"/>
            <a:ext cx="2979420" cy="1028700"/>
          </a:xfrm>
          <a:prstGeom prst="roundRect">
            <a:avLst>
              <a:gd name="adj" fmla="val 7000"/>
            </a:avLst>
          </a:prstGeom>
          <a:solidFill>
            <a:srgbClr val="E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899148" y="28897184"/>
            <a:ext cx="29794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3600" b="1" i="0">
                <a:solidFill>
                  <a:srgbClr val="1E8449"/>
                </a:solidFill>
                <a:latin typeface="Calibri"/>
              </a:rPr>
              <a:t>2 / 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954012" y="29436680"/>
            <a:ext cx="28696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2000"/>
              </a:lnSpc>
              <a:spcAft>
                <a:spcPts val="0"/>
              </a:spcAft>
            </a:pPr>
            <a:r>
              <a:rPr sz="1500" b="0" i="0">
                <a:solidFill>
                  <a:srgbClr val="5A636B"/>
                </a:solidFill>
                <a:latin typeface="Calibri"/>
              </a:rPr>
              <a:t>markers, live at ~2 Hz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0600944" y="28207726"/>
            <a:ext cx="9073896" cy="1827885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3970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600944" y="28207726"/>
            <a:ext cx="100584" cy="1827885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18102071" y="28363174"/>
            <a:ext cx="1417320" cy="381000"/>
          </a:xfrm>
          <a:prstGeom prst="roundRect">
            <a:avLst>
              <a:gd name="adj" fmla="val 28000"/>
            </a:avLst>
          </a:prstGeom>
          <a:solidFill>
            <a:srgbClr val="E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8102071" y="28420324"/>
            <a:ext cx="141732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1500" b="1" i="0">
                <a:solidFill>
                  <a:srgbClr val="1E8449"/>
                </a:solidFill>
                <a:latin typeface="Calibri"/>
              </a:rPr>
              <a:t>SF2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829544" y="28363174"/>
            <a:ext cx="7217664" cy="3785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Prepare specimen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29544" y="28851464"/>
            <a:ext cx="5600700" cy="1028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100" b="0" i="0">
                <a:solidFill>
                  <a:srgbClr val="5A636B"/>
                </a:solidFill>
                <a:latin typeface="Calibri"/>
              </a:rPr>
              <a:t>One button tares position, force and DIC and clears the plots. It tares DIC only at a green 2/2 lock, so a bad mount cannot be zeroed in.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16539971" y="28851464"/>
            <a:ext cx="2979420" cy="1028700"/>
          </a:xfrm>
          <a:prstGeom prst="roundRect">
            <a:avLst>
              <a:gd name="adj" fmla="val 7000"/>
            </a:avLst>
          </a:prstGeom>
          <a:solidFill>
            <a:srgbClr val="E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6539971" y="28897184"/>
            <a:ext cx="29794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3600" b="1" i="0">
                <a:solidFill>
                  <a:srgbClr val="1E8449"/>
                </a:solidFill>
                <a:latin typeface="Calibri"/>
              </a:rPr>
              <a:t>4 → 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6594835" y="29436680"/>
            <a:ext cx="28696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2000"/>
              </a:lnSpc>
              <a:spcAft>
                <a:spcPts val="0"/>
              </a:spcAft>
            </a:pPr>
            <a:r>
              <a:rPr sz="1500" b="0" i="0">
                <a:solidFill>
                  <a:srgbClr val="5A636B"/>
                </a:solidFill>
                <a:latin typeface="Calibri"/>
              </a:rPr>
              <a:t>operator actions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20241768" y="28207726"/>
            <a:ext cx="9073896" cy="1827885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3970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20241768" y="28207726"/>
            <a:ext cx="100584" cy="1827885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27742896" y="28363174"/>
            <a:ext cx="1417320" cy="381000"/>
          </a:xfrm>
          <a:prstGeom prst="roundRect">
            <a:avLst>
              <a:gd name="adj" fmla="val 28000"/>
            </a:avLst>
          </a:prstGeom>
          <a:solidFill>
            <a:srgbClr val="E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7742896" y="28420324"/>
            <a:ext cx="141732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1500" b="1" i="0">
                <a:solidFill>
                  <a:srgbClr val="1E8449"/>
                </a:solidFill>
                <a:latin typeface="Calibri"/>
              </a:rPr>
              <a:t>SF3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0470368" y="28363174"/>
            <a:ext cx="7217664" cy="3785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Recipes / settings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0470368" y="28851464"/>
            <a:ext cx="5600700" cy="1028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100" b="0" i="0">
                <a:solidFill>
                  <a:srgbClr val="5A636B"/>
                </a:solidFill>
                <a:latin typeface="Calibri"/>
              </a:rPr>
              <a:t>Saves and restores an entire setup, including all six protocols' parameters — so repeats are identical by construction, not by memory.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26180796" y="28851464"/>
            <a:ext cx="2979420" cy="1028700"/>
          </a:xfrm>
          <a:prstGeom prst="roundRect">
            <a:avLst>
              <a:gd name="adj" fmla="val 7000"/>
            </a:avLst>
          </a:prstGeom>
          <a:solidFill>
            <a:srgbClr val="E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6180796" y="28897184"/>
            <a:ext cx="29794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3600" b="1" i="0">
                <a:solidFill>
                  <a:srgbClr val="1E8449"/>
                </a:solidFill>
                <a:latin typeface="Calibri"/>
              </a:rPr>
              <a:t>1 click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6235660" y="29436680"/>
            <a:ext cx="28696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2000"/>
              </a:lnSpc>
              <a:spcAft>
                <a:spcPts val="0"/>
              </a:spcAft>
            </a:pPr>
            <a:r>
              <a:rPr sz="1500" b="0" i="0">
                <a:solidFill>
                  <a:srgbClr val="5A636B"/>
                </a:solidFill>
                <a:latin typeface="Calibri"/>
              </a:rPr>
              <a:t>restores the whole setup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960120" y="30191060"/>
            <a:ext cx="9073896" cy="1827885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3970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60120" y="30191060"/>
            <a:ext cx="100584" cy="1827885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8461248" y="30346508"/>
            <a:ext cx="1417320" cy="381000"/>
          </a:xfrm>
          <a:prstGeom prst="roundRect">
            <a:avLst>
              <a:gd name="adj" fmla="val 28000"/>
            </a:avLst>
          </a:prstGeom>
          <a:solidFill>
            <a:srgbClr val="E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461248" y="30403658"/>
            <a:ext cx="141732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1500" b="1" i="0">
                <a:solidFill>
                  <a:srgbClr val="1E8449"/>
                </a:solidFill>
                <a:latin typeface="Calibri"/>
              </a:rPr>
              <a:t>SF4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188720" y="30346508"/>
            <a:ext cx="7217664" cy="3785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One-click report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88720" y="30834798"/>
            <a:ext cx="5600700" cy="1028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100" b="0" i="0">
                <a:solidFill>
                  <a:srgbClr val="5A636B"/>
                </a:solidFill>
                <a:latin typeface="Calibri"/>
              </a:rPr>
              <a:t>A one-page PDF and every plot, recomputed from the CSV by the same library the app runs live.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6899148" y="30834798"/>
            <a:ext cx="2979420" cy="1028700"/>
          </a:xfrm>
          <a:prstGeom prst="roundRect">
            <a:avLst>
              <a:gd name="adj" fmla="val 7000"/>
            </a:avLst>
          </a:prstGeom>
          <a:solidFill>
            <a:srgbClr val="E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899148" y="30880518"/>
            <a:ext cx="29794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3600" b="1" i="0">
                <a:solidFill>
                  <a:srgbClr val="1E8449"/>
                </a:solidFill>
                <a:latin typeface="Calibri"/>
              </a:rPr>
              <a:t>1 click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54012" y="31420014"/>
            <a:ext cx="28696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2000"/>
              </a:lnSpc>
              <a:spcAft>
                <a:spcPts val="0"/>
              </a:spcAft>
            </a:pPr>
            <a:r>
              <a:rPr sz="1500" b="0" i="0">
                <a:solidFill>
                  <a:srgbClr val="5A636B"/>
                </a:solidFill>
                <a:latin typeface="Calibri"/>
              </a:rPr>
              <a:t>→ PDF + every graph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10600944" y="30191060"/>
            <a:ext cx="9073896" cy="1827885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3970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600944" y="30191060"/>
            <a:ext cx="100584" cy="1827885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ounded Rectangle 119"/>
          <p:cNvSpPr/>
          <p:nvPr/>
        </p:nvSpPr>
        <p:spPr>
          <a:xfrm>
            <a:off x="18102071" y="30346508"/>
            <a:ext cx="1417320" cy="381000"/>
          </a:xfrm>
          <a:prstGeom prst="roundRect">
            <a:avLst>
              <a:gd name="adj" fmla="val 28000"/>
            </a:avLst>
          </a:prstGeom>
          <a:solidFill>
            <a:srgbClr val="E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8102071" y="30403658"/>
            <a:ext cx="141732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1500" b="1" i="0">
                <a:solidFill>
                  <a:srgbClr val="1E8449"/>
                </a:solidFill>
                <a:latin typeface="Calibri"/>
              </a:rPr>
              <a:t>SF5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829544" y="30346508"/>
            <a:ext cx="7217664" cy="3785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Auto-stop at fracture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829544" y="30834798"/>
            <a:ext cx="5600700" cy="1028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100" b="0" i="0">
                <a:solidFill>
                  <a:srgbClr val="5A636B"/>
                </a:solidFill>
                <a:latin typeface="Calibri"/>
              </a:rPr>
              <a:t>A load-collapse detector halts the motor the moment the specimen breaks. Caught S16 at 3375 N, silent through the ductile draw before it.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16539971" y="30834798"/>
            <a:ext cx="2979420" cy="1028700"/>
          </a:xfrm>
          <a:prstGeom prst="roundRect">
            <a:avLst>
              <a:gd name="adj" fmla="val 7000"/>
            </a:avLst>
          </a:prstGeom>
          <a:solidFill>
            <a:srgbClr val="E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6539971" y="30880518"/>
            <a:ext cx="29794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3600" b="1" i="0">
                <a:solidFill>
                  <a:srgbClr val="1E8449"/>
                </a:solidFill>
                <a:latin typeface="Calibri"/>
              </a:rPr>
              <a:t>1.2 s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6594835" y="31420014"/>
            <a:ext cx="28696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2000"/>
              </a:lnSpc>
              <a:spcAft>
                <a:spcPts val="0"/>
              </a:spcAft>
            </a:pPr>
            <a:r>
              <a:rPr sz="1500" b="0" i="0">
                <a:solidFill>
                  <a:srgbClr val="5A636B"/>
                </a:solidFill>
                <a:latin typeface="Calibri"/>
              </a:rPr>
              <a:t>collapse → motor halt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20241768" y="30191060"/>
            <a:ext cx="9073896" cy="1827885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3970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20241768" y="30191060"/>
            <a:ext cx="100584" cy="1827885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27742896" y="30346508"/>
            <a:ext cx="1417320" cy="381000"/>
          </a:xfrm>
          <a:prstGeom prst="roundRect">
            <a:avLst>
              <a:gd name="adj" fmla="val 28000"/>
            </a:avLst>
          </a:prstGeom>
          <a:solidFill>
            <a:srgbClr val="E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27742896" y="30403658"/>
            <a:ext cx="141732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1500" b="1" i="0">
                <a:solidFill>
                  <a:srgbClr val="1E8449"/>
                </a:solidFill>
                <a:latin typeface="Calibri"/>
              </a:rPr>
              <a:t>SF6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0470368" y="30346508"/>
            <a:ext cx="7217664" cy="3785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Constant-strain-rate testing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0470368" y="30834798"/>
            <a:ext cx="5600700" cy="1028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100" b="0" i="0">
                <a:solidFill>
                  <a:srgbClr val="5A636B"/>
                </a:solidFill>
                <a:latin typeface="Calibri"/>
              </a:rPr>
              <a:t>Closed loop on the specimen's own dε/dt: the crosshead adapted itself 0.10 → 0.05 mm/s, fast in the elastic region, slow through necking.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26180796" y="30834798"/>
            <a:ext cx="2979420" cy="1028700"/>
          </a:xfrm>
          <a:prstGeom prst="roundRect">
            <a:avLst>
              <a:gd name="adj" fmla="val 7000"/>
            </a:avLst>
          </a:prstGeom>
          <a:solidFill>
            <a:srgbClr val="E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26180796" y="30880518"/>
            <a:ext cx="29794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3600" b="1" i="0">
                <a:solidFill>
                  <a:srgbClr val="1E8449"/>
                </a:solidFill>
                <a:latin typeface="Calibri"/>
              </a:rPr>
              <a:t>0.00051 /s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6235660" y="31420014"/>
            <a:ext cx="28696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2000"/>
              </a:lnSpc>
              <a:spcAft>
                <a:spcPts val="0"/>
              </a:spcAft>
            </a:pPr>
            <a:r>
              <a:rPr sz="1500" b="0" i="0">
                <a:solidFill>
                  <a:srgbClr val="5A636B"/>
                </a:solidFill>
                <a:latin typeface="Calibri"/>
              </a:rPr>
              <a:t>held, vs a 0.0005 target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960120" y="32174394"/>
            <a:ext cx="9073896" cy="1827885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3970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960120" y="32174394"/>
            <a:ext cx="100584" cy="1827885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ounded Rectangle 137"/>
          <p:cNvSpPr/>
          <p:nvPr/>
        </p:nvSpPr>
        <p:spPr>
          <a:xfrm>
            <a:off x="8461248" y="32329842"/>
            <a:ext cx="1417320" cy="381000"/>
          </a:xfrm>
          <a:prstGeom prst="roundRect">
            <a:avLst>
              <a:gd name="adj" fmla="val 28000"/>
            </a:avLst>
          </a:prstGeom>
          <a:solidFill>
            <a:srgbClr val="E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461248" y="32386992"/>
            <a:ext cx="141732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1500" b="1" i="0">
                <a:solidFill>
                  <a:srgbClr val="1E8449"/>
                </a:solidFill>
                <a:latin typeface="Calibri"/>
              </a:rPr>
              <a:t>SF7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188720" y="32329842"/>
            <a:ext cx="7217664" cy="3785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Stall guard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188720" y="32818131"/>
            <a:ext cx="5600700" cy="1028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100" b="0" i="0">
                <a:solidFill>
                  <a:srgbClr val="5A636B"/>
                </a:solidFill>
                <a:latin typeface="Calibri"/>
              </a:rPr>
              <a:t>Halts a motor that has stopped moving under load. It proved the T7 failure was a 2.6 kN stall, not a fracture — the specimen came off intact.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6899148" y="32818131"/>
            <a:ext cx="2979420" cy="1028700"/>
          </a:xfrm>
          <a:prstGeom prst="roundRect">
            <a:avLst>
              <a:gd name="adj" fmla="val 7000"/>
            </a:avLst>
          </a:prstGeom>
          <a:solidFill>
            <a:srgbClr val="E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6899148" y="32863851"/>
            <a:ext cx="29794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3600" b="1" i="0">
                <a:solidFill>
                  <a:srgbClr val="1E8449"/>
                </a:solidFill>
                <a:latin typeface="Calibri"/>
              </a:rPr>
              <a:t>0.05 mm / 6 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954012" y="33403347"/>
            <a:ext cx="28696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2000"/>
              </a:lnSpc>
              <a:spcAft>
                <a:spcPts val="0"/>
              </a:spcAft>
            </a:pPr>
            <a:r>
              <a:rPr sz="1500" b="0" i="0">
                <a:solidFill>
                  <a:srgbClr val="5A636B"/>
                </a:solidFill>
                <a:latin typeface="Calibri"/>
              </a:rPr>
              <a:t>trip, armed above 200 N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10600944" y="32174394"/>
            <a:ext cx="9073896" cy="1827885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3970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10600944" y="32174394"/>
            <a:ext cx="100584" cy="1827885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18102071" y="32329842"/>
            <a:ext cx="1417320" cy="381000"/>
          </a:xfrm>
          <a:prstGeom prst="roundRect">
            <a:avLst>
              <a:gd name="adj" fmla="val 28000"/>
            </a:avLst>
          </a:prstGeom>
          <a:solidFill>
            <a:srgbClr val="E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8102071" y="32386992"/>
            <a:ext cx="141732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1500" b="1" i="0">
                <a:solidFill>
                  <a:srgbClr val="1E8449"/>
                </a:solidFill>
                <a:latin typeface="Calibri"/>
              </a:rPr>
              <a:t>SF8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829544" y="32329842"/>
            <a:ext cx="7217664" cy="3785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Release load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829544" y="32818131"/>
            <a:ext cx="5600700" cy="1028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100" b="0" i="0">
                <a:solidFill>
                  <a:srgbClr val="5A636B"/>
                </a:solidFill>
                <a:latin typeface="Calibri"/>
              </a:rPr>
              <a:t>Taring at preload makes the readout say 0 N while 300 N is still on the specimen. This drives past that, down to the true zero.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16539971" y="32818131"/>
            <a:ext cx="2979420" cy="1028700"/>
          </a:xfrm>
          <a:prstGeom prst="roundRect">
            <a:avLst>
              <a:gd name="adj" fmla="val 7000"/>
            </a:avLst>
          </a:prstGeom>
          <a:solidFill>
            <a:srgbClr val="E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6539971" y="32863851"/>
            <a:ext cx="29794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3600" b="1" i="0">
                <a:solidFill>
                  <a:srgbClr val="1E8449"/>
                </a:solidFill>
                <a:latin typeface="Calibri"/>
              </a:rPr>
              <a:t>≤ 5 N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6594835" y="33403347"/>
            <a:ext cx="28696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2000"/>
              </a:lnSpc>
              <a:spcAft>
                <a:spcPts val="0"/>
              </a:spcAft>
            </a:pPr>
            <a:r>
              <a:rPr sz="1500" b="0" i="0">
                <a:solidFill>
                  <a:srgbClr val="5A636B"/>
                </a:solidFill>
                <a:latin typeface="Calibri"/>
              </a:rPr>
              <a:t>residual, at 0.20 mm/s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20241768" y="32174394"/>
            <a:ext cx="9073896" cy="210494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3970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20241768" y="32174394"/>
            <a:ext cx="100584" cy="2104948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27742896" y="32329842"/>
            <a:ext cx="1417320" cy="381000"/>
          </a:xfrm>
          <a:prstGeom prst="roundRect">
            <a:avLst>
              <a:gd name="adj" fmla="val 28000"/>
            </a:avLst>
          </a:prstGeom>
          <a:solidFill>
            <a:srgbClr val="E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27742896" y="32386992"/>
            <a:ext cx="141732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1500" b="1" i="0">
                <a:solidFill>
                  <a:srgbClr val="1E8449"/>
                </a:solidFill>
                <a:latin typeface="Calibri"/>
              </a:rPr>
              <a:t>SF9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0470368" y="32329842"/>
            <a:ext cx="7217664" cy="3785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Six closed-loop protocols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0470368" y="32818131"/>
            <a:ext cx="5600700" cy="13057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100" b="0" i="0">
                <a:solidFill>
                  <a:srgbClr val="5A636B"/>
                </a:solidFill>
                <a:latin typeface="Calibri"/>
              </a:rPr>
              <a:t>cyclic · staircase · relaxation · creep · staircase→FRACTURE · progressive-cyclic→FRACTURE. One engine, one safety net.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26180796" y="32818131"/>
            <a:ext cx="2979420" cy="1028700"/>
          </a:xfrm>
          <a:prstGeom prst="roundRect">
            <a:avLst>
              <a:gd name="adj" fmla="val 7000"/>
            </a:avLst>
          </a:prstGeom>
          <a:solidFill>
            <a:srgbClr val="E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26180796" y="32863851"/>
            <a:ext cx="29794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3600" b="1" i="0">
                <a:solidFill>
                  <a:srgbClr val="1E8449"/>
                </a:solidFill>
                <a:latin typeface="Calibri"/>
              </a:rPr>
              <a:t>6 / 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26235660" y="33403347"/>
            <a:ext cx="28696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2000"/>
              </a:lnSpc>
              <a:spcAft>
                <a:spcPts val="0"/>
              </a:spcAft>
            </a:pPr>
            <a:r>
              <a:rPr sz="1500" b="0" i="0">
                <a:solidFill>
                  <a:srgbClr val="5A636B"/>
                </a:solidFill>
                <a:latin typeface="Calibri"/>
              </a:rPr>
              <a:t>rig-validated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960120" y="34434790"/>
            <a:ext cx="9073896" cy="1827885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3970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960120" y="34434790"/>
            <a:ext cx="100584" cy="1827885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ounded Rectangle 164"/>
          <p:cNvSpPr/>
          <p:nvPr/>
        </p:nvSpPr>
        <p:spPr>
          <a:xfrm>
            <a:off x="8461248" y="34590238"/>
            <a:ext cx="1417320" cy="381000"/>
          </a:xfrm>
          <a:prstGeom prst="roundRect">
            <a:avLst>
              <a:gd name="adj" fmla="val 28000"/>
            </a:avLst>
          </a:prstGeom>
          <a:solidFill>
            <a:srgbClr val="E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8461248" y="34647388"/>
            <a:ext cx="141732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1500" b="1" i="0">
                <a:solidFill>
                  <a:srgbClr val="1E8449"/>
                </a:solidFill>
                <a:latin typeface="Calibri"/>
              </a:rPr>
              <a:t>SF10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188720" y="34590238"/>
            <a:ext cx="7217664" cy="3785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Auto-preload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188720" y="35078528"/>
            <a:ext cx="5600700" cy="1028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100" b="0" i="0">
                <a:solidFill>
                  <a:srgbClr val="5A636B"/>
                </a:solidFill>
                <a:latin typeface="Calibri"/>
              </a:rPr>
              <a:t>Approaches on a 0.2 → 0.1 → 0.02 mm/s schedule and stops 3 % high, because PLA relaxes about 2 % while held.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6899148" y="35078528"/>
            <a:ext cx="2979420" cy="1028700"/>
          </a:xfrm>
          <a:prstGeom prst="roundRect">
            <a:avLst>
              <a:gd name="adj" fmla="val 7000"/>
            </a:avLst>
          </a:prstGeom>
          <a:solidFill>
            <a:srgbClr val="E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899148" y="35124248"/>
            <a:ext cx="29794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3600" b="1" i="0">
                <a:solidFill>
                  <a:srgbClr val="1E8449"/>
                </a:solidFill>
                <a:latin typeface="Calibri"/>
              </a:rPr>
              <a:t>1.03 ×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6954012" y="35663744"/>
            <a:ext cx="28696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2000"/>
              </a:lnSpc>
              <a:spcAft>
                <a:spcPts val="0"/>
              </a:spcAft>
            </a:pPr>
            <a:r>
              <a:rPr sz="1500" b="0" i="0">
                <a:solidFill>
                  <a:srgbClr val="5A636B"/>
                </a:solidFill>
                <a:latin typeface="Calibri"/>
              </a:rPr>
              <a:t>target, pre-paying relaxation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10600944" y="34434790"/>
            <a:ext cx="9073896" cy="1827885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3970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10600944" y="34434790"/>
            <a:ext cx="100584" cy="1827885"/>
          </a:xfrm>
          <a:prstGeom prst="rect">
            <a:avLst/>
          </a:prstGeom>
          <a:solidFill>
            <a:srgbClr val="005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ounded Rectangle 173"/>
          <p:cNvSpPr/>
          <p:nvPr/>
        </p:nvSpPr>
        <p:spPr>
          <a:xfrm>
            <a:off x="18102071" y="34590238"/>
            <a:ext cx="1417320" cy="381000"/>
          </a:xfrm>
          <a:prstGeom prst="roundRect">
            <a:avLst>
              <a:gd name="adj" fmla="val 28000"/>
            </a:avLst>
          </a:prstGeom>
          <a:solidFill>
            <a:srgbClr val="E7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18102071" y="34647388"/>
            <a:ext cx="141732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1500" b="1" i="0">
                <a:solidFill>
                  <a:srgbClr val="00538A"/>
                </a:solidFill>
                <a:latin typeface="Calibri"/>
              </a:rPr>
              <a:t>SF11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829544" y="34590238"/>
            <a:ext cx="7217664" cy="3785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Auto-metadata + foldering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0829544" y="35078528"/>
            <a:ext cx="5600700" cy="1028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100" b="0" i="0">
                <a:solidFill>
                  <a:srgbClr val="5A636B"/>
                </a:solidFill>
                <a:latin typeface="Calibri"/>
              </a:rPr>
              <a:t>Per-specimen folders and file IDs filled from the recipe, plus a one-click per-specimen slide deck.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16539971" y="35078528"/>
            <a:ext cx="2979420" cy="1028700"/>
          </a:xfrm>
          <a:prstGeom prst="roundRect">
            <a:avLst>
              <a:gd name="adj" fmla="val 7000"/>
            </a:avLst>
          </a:prstGeom>
          <a:solidFill>
            <a:srgbClr val="E7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16539971" y="35124248"/>
            <a:ext cx="29794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3600" b="1" i="0">
                <a:solidFill>
                  <a:srgbClr val="00538A"/>
                </a:solidFill>
                <a:latin typeface="Calibri"/>
              </a:rPr>
              <a:t>planned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6594835" y="35663744"/>
            <a:ext cx="28696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2000"/>
              </a:lnSpc>
              <a:spcAft>
                <a:spcPts val="0"/>
              </a:spcAft>
            </a:pPr>
            <a:r>
              <a:rPr sz="1500" b="0" i="0">
                <a:solidFill>
                  <a:srgbClr val="5A636B"/>
                </a:solidFill>
                <a:latin typeface="Calibri"/>
              </a:rPr>
              <a:t>next feature up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20241768" y="34434790"/>
            <a:ext cx="9073896" cy="1827885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3970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20241768" y="34434790"/>
            <a:ext cx="100584" cy="1827885"/>
          </a:xfrm>
          <a:prstGeom prst="rect">
            <a:avLst/>
          </a:prstGeom>
          <a:solidFill>
            <a:srgbClr val="005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ounded Rectangle 182"/>
          <p:cNvSpPr/>
          <p:nvPr/>
        </p:nvSpPr>
        <p:spPr>
          <a:xfrm>
            <a:off x="27742896" y="34590238"/>
            <a:ext cx="1417320" cy="381000"/>
          </a:xfrm>
          <a:prstGeom prst="roundRect">
            <a:avLst>
              <a:gd name="adj" fmla="val 28000"/>
            </a:avLst>
          </a:prstGeom>
          <a:solidFill>
            <a:srgbClr val="E7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27742896" y="34647388"/>
            <a:ext cx="141732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1500" b="1" i="0">
                <a:solidFill>
                  <a:srgbClr val="00538A"/>
                </a:solidFill>
                <a:latin typeface="Calibri"/>
              </a:rPr>
              <a:t>SF12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20470368" y="34590238"/>
            <a:ext cx="7217664" cy="3785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DIC auto-calibrate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20470368" y="35078528"/>
            <a:ext cx="5600700" cy="1028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100" b="0" i="0">
                <a:solidFill>
                  <a:srgbClr val="5A636B"/>
                </a:solidFill>
                <a:latin typeface="Calibri"/>
              </a:rPr>
              <a:t>Exposure and threshold swept on camera start, and an ROI that follows the markers through a ductile draw.</a:t>
            </a:r>
          </a:p>
        </p:txBody>
      </p:sp>
      <p:sp>
        <p:nvSpPr>
          <p:cNvPr id="187" name="Rounded Rectangle 186"/>
          <p:cNvSpPr/>
          <p:nvPr/>
        </p:nvSpPr>
        <p:spPr>
          <a:xfrm>
            <a:off x="26180796" y="35078528"/>
            <a:ext cx="2979420" cy="1028700"/>
          </a:xfrm>
          <a:prstGeom prst="roundRect">
            <a:avLst>
              <a:gd name="adj" fmla="val 7000"/>
            </a:avLst>
          </a:prstGeom>
          <a:solidFill>
            <a:srgbClr val="E7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26180796" y="35124248"/>
            <a:ext cx="29794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3600" b="1" i="0">
                <a:solidFill>
                  <a:srgbClr val="00538A"/>
                </a:solidFill>
                <a:latin typeface="Calibri"/>
              </a:rPr>
              <a:t>planned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26235660" y="35663744"/>
            <a:ext cx="28696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2000"/>
              </a:lnSpc>
              <a:spcAft>
                <a:spcPts val="0"/>
              </a:spcAft>
            </a:pPr>
            <a:r>
              <a:rPr sz="1500" b="0" i="0">
                <a:solidFill>
                  <a:srgbClr val="5A636B"/>
                </a:solidFill>
                <a:latin typeface="Calibri"/>
              </a:rPr>
              <a:t>camera robustness</a:t>
            </a:r>
          </a:p>
        </p:txBody>
      </p:sp>
      <p:sp>
        <p:nvSpPr>
          <p:cNvPr id="190" name="Rounded Rectangle 189"/>
          <p:cNvSpPr/>
          <p:nvPr/>
        </p:nvSpPr>
        <p:spPr>
          <a:xfrm>
            <a:off x="960120" y="36418124"/>
            <a:ext cx="9073896" cy="210494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3970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960120" y="36418124"/>
            <a:ext cx="100584" cy="2104948"/>
          </a:xfrm>
          <a:prstGeom prst="rect">
            <a:avLst/>
          </a:prstGeom>
          <a:solidFill>
            <a:srgbClr val="005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ounded Rectangle 191"/>
          <p:cNvSpPr/>
          <p:nvPr/>
        </p:nvSpPr>
        <p:spPr>
          <a:xfrm>
            <a:off x="8461248" y="36573572"/>
            <a:ext cx="1417320" cy="381000"/>
          </a:xfrm>
          <a:prstGeom prst="roundRect">
            <a:avLst>
              <a:gd name="adj" fmla="val 28000"/>
            </a:avLst>
          </a:prstGeom>
          <a:solidFill>
            <a:srgbClr val="E7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8461248" y="36630722"/>
            <a:ext cx="141732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1500" b="1" i="0">
                <a:solidFill>
                  <a:srgbClr val="00538A"/>
                </a:solidFill>
                <a:latin typeface="Calibri"/>
              </a:rPr>
              <a:t>SF13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188720" y="36573572"/>
            <a:ext cx="7217664" cy="3785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Guided workflow + live overlay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88720" y="37061862"/>
            <a:ext cx="5600700" cy="13057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100" b="0" i="0">
                <a:solidFill>
                  <a:srgbClr val="5A636B"/>
                </a:solidFill>
                <a:latin typeface="Calibri"/>
              </a:rPr>
              <a:t>A Connect→Calibrate→Mount→Prepare→Run→Save wizard, with live modulus and a fracture flag as the test runs.</a:t>
            </a:r>
          </a:p>
        </p:txBody>
      </p:sp>
      <p:sp>
        <p:nvSpPr>
          <p:cNvPr id="196" name="Rounded Rectangle 195"/>
          <p:cNvSpPr/>
          <p:nvPr/>
        </p:nvSpPr>
        <p:spPr>
          <a:xfrm>
            <a:off x="6899148" y="37061862"/>
            <a:ext cx="2979420" cy="1028700"/>
          </a:xfrm>
          <a:prstGeom prst="roundRect">
            <a:avLst>
              <a:gd name="adj" fmla="val 7000"/>
            </a:avLst>
          </a:prstGeom>
          <a:solidFill>
            <a:srgbClr val="E7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6899148" y="37107582"/>
            <a:ext cx="29794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3600" b="1" i="0">
                <a:solidFill>
                  <a:srgbClr val="00538A"/>
                </a:solidFill>
                <a:latin typeface="Calibri"/>
              </a:rPr>
              <a:t>planned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6954012" y="37647078"/>
            <a:ext cx="28696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2000"/>
              </a:lnSpc>
              <a:spcAft>
                <a:spcPts val="0"/>
              </a:spcAft>
            </a:pPr>
            <a:r>
              <a:rPr sz="1500" b="0" i="0">
                <a:solidFill>
                  <a:srgbClr val="5A636B"/>
                </a:solidFill>
                <a:latin typeface="Calibri"/>
              </a:rPr>
              <a:t>usability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10600944" y="36418124"/>
            <a:ext cx="9073896" cy="1827885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3970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10600944" y="36418124"/>
            <a:ext cx="100584" cy="1827885"/>
          </a:xfrm>
          <a:prstGeom prst="rect">
            <a:avLst/>
          </a:prstGeom>
          <a:solidFill>
            <a:srgbClr val="B9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ounded Rectangle 200"/>
          <p:cNvSpPr/>
          <p:nvPr/>
        </p:nvSpPr>
        <p:spPr>
          <a:xfrm>
            <a:off x="18102071" y="36573572"/>
            <a:ext cx="1417320" cy="381000"/>
          </a:xfrm>
          <a:prstGeom prst="roundRect">
            <a:avLst>
              <a:gd name="adj" fmla="val 28000"/>
            </a:avLst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18102071" y="36630722"/>
            <a:ext cx="141732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1500" b="1" i="0">
                <a:solidFill>
                  <a:srgbClr val="B96B00"/>
                </a:solidFill>
                <a:latin typeface="Calibri"/>
              </a:rPr>
              <a:t>SF14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0829544" y="36573572"/>
            <a:ext cx="7217664" cy="3785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Poisson's ratio / true stress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10829544" y="37061862"/>
            <a:ext cx="5600700" cy="1028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100" b="0" i="0">
                <a:solidFill>
                  <a:srgbClr val="5A636B"/>
                </a:solidFill>
                <a:latin typeface="Calibri"/>
              </a:rPr>
              <a:t>The four-marker maths is written and self-tested. The gauge is too narrow for a transverse pair at 20.8 px/mm.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16539971" y="37061862"/>
            <a:ext cx="2979420" cy="1028700"/>
          </a:xfrm>
          <a:prstGeom prst="roundRect">
            <a:avLst>
              <a:gd name="adj" fmla="val 7000"/>
            </a:avLst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16539971" y="37107582"/>
            <a:ext cx="29794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3600" b="1" i="0">
                <a:solidFill>
                  <a:srgbClr val="B96B00"/>
                </a:solidFill>
                <a:latin typeface="Calibri"/>
              </a:rPr>
              <a:t>blocked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6594835" y="37647078"/>
            <a:ext cx="28696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2000"/>
              </a:lnSpc>
              <a:spcAft>
                <a:spcPts val="0"/>
              </a:spcAft>
            </a:pPr>
            <a:r>
              <a:rPr sz="1500" b="0" i="0">
                <a:solidFill>
                  <a:srgbClr val="5A636B"/>
                </a:solidFill>
                <a:latin typeface="Calibri"/>
              </a:rPr>
              <a:t>optics, not code</a:t>
            </a:r>
          </a:p>
        </p:txBody>
      </p:sp>
      <p:sp>
        <p:nvSpPr>
          <p:cNvPr id="208" name="Rounded Rectangle 207"/>
          <p:cNvSpPr/>
          <p:nvPr/>
        </p:nvSpPr>
        <p:spPr>
          <a:xfrm>
            <a:off x="20241768" y="36418124"/>
            <a:ext cx="9073896" cy="210494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3970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20241768" y="36418124"/>
            <a:ext cx="100584" cy="2104948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ounded Rectangle 209"/>
          <p:cNvSpPr/>
          <p:nvPr/>
        </p:nvSpPr>
        <p:spPr>
          <a:xfrm>
            <a:off x="27742896" y="36573572"/>
            <a:ext cx="1417320" cy="381000"/>
          </a:xfrm>
          <a:prstGeom prst="roundRect">
            <a:avLst>
              <a:gd name="adj" fmla="val 28000"/>
            </a:avLst>
          </a:prstGeom>
          <a:solidFill>
            <a:srgbClr val="E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27742896" y="36630722"/>
            <a:ext cx="141732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1500" b="1" i="0">
                <a:solidFill>
                  <a:srgbClr val="1E8449"/>
                </a:solidFill>
                <a:latin typeface="Calibri"/>
              </a:rPr>
              <a:t>SF15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20470368" y="36573572"/>
            <a:ext cx="7217664" cy="3785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Test registry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20470368" y="37061862"/>
            <a:ext cx="5600700" cy="13057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100" b="0" i="0">
                <a:solidFill>
                  <a:srgbClr val="5A636B"/>
                </a:solidFill>
                <a:latin typeface="Calibri"/>
              </a:rPr>
              <a:t>Each run indexed with whatever its loading path supports — UTS, ε_f, E, σ_y, toughness — plus the force anchor that turns a tared reading into a true load.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26180796" y="37061862"/>
            <a:ext cx="2979420" cy="1028700"/>
          </a:xfrm>
          <a:prstGeom prst="roundRect">
            <a:avLst>
              <a:gd name="adj" fmla="val 7000"/>
            </a:avLst>
          </a:prstGeom>
          <a:solidFill>
            <a:srgbClr val="E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26180796" y="37107582"/>
            <a:ext cx="29794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3600" b="1" i="0">
                <a:solidFill>
                  <a:srgbClr val="1E8449"/>
                </a:solidFill>
                <a:latin typeface="Calibri"/>
              </a:rPr>
              <a:t>34 runs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26235660" y="37647078"/>
            <a:ext cx="28696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2000"/>
              </a:lnSpc>
              <a:spcAft>
                <a:spcPts val="0"/>
              </a:spcAft>
            </a:pPr>
            <a:r>
              <a:rPr sz="1500" b="0" i="0">
                <a:solidFill>
                  <a:srgbClr val="5A636B"/>
                </a:solidFill>
                <a:latin typeface="Calibri"/>
              </a:rPr>
              <a:t>auto-indexed, 29 specimens</a:t>
            </a:r>
          </a:p>
        </p:txBody>
      </p:sp>
      <p:sp>
        <p:nvSpPr>
          <p:cNvPr id="217" name="Rounded Rectangle 216"/>
          <p:cNvSpPr/>
          <p:nvPr/>
        </p:nvSpPr>
        <p:spPr>
          <a:xfrm>
            <a:off x="960120" y="38678521"/>
            <a:ext cx="9073896" cy="1827885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3970">
            <a:solidFill>
              <a:srgbClr val="C8C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960120" y="38678521"/>
            <a:ext cx="100584" cy="1827885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ounded Rectangle 218"/>
          <p:cNvSpPr/>
          <p:nvPr/>
        </p:nvSpPr>
        <p:spPr>
          <a:xfrm>
            <a:off x="8461248" y="38833969"/>
            <a:ext cx="1417320" cy="381000"/>
          </a:xfrm>
          <a:prstGeom prst="roundRect">
            <a:avLst>
              <a:gd name="adj" fmla="val 28000"/>
            </a:avLst>
          </a:prstGeom>
          <a:solidFill>
            <a:srgbClr val="E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8461248" y="38891119"/>
            <a:ext cx="141732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1500" b="1" i="0">
                <a:solidFill>
                  <a:srgbClr val="1E8449"/>
                </a:solidFill>
                <a:latin typeface="Calibri"/>
              </a:rPr>
              <a:t>SF16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188720" y="38833969"/>
            <a:ext cx="7217664" cy="3785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Dead-DIC guard + hard backstops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88720" y="39322258"/>
            <a:ext cx="5600700" cy="1028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100" b="0" i="0">
                <a:solidFill>
                  <a:srgbClr val="5A636B"/>
                </a:solidFill>
                <a:latin typeface="Calibri"/>
              </a:rPr>
              <a:t>A controller ramping blind on a stale camera reading spikes the force. Speed freezes at 0.2 s of frozen strain, halt at 1.0 s.</a:t>
            </a:r>
          </a:p>
        </p:txBody>
      </p:sp>
      <p:sp>
        <p:nvSpPr>
          <p:cNvPr id="223" name="Rounded Rectangle 222"/>
          <p:cNvSpPr/>
          <p:nvPr/>
        </p:nvSpPr>
        <p:spPr>
          <a:xfrm>
            <a:off x="6899148" y="39322258"/>
            <a:ext cx="2979420" cy="1028700"/>
          </a:xfrm>
          <a:prstGeom prst="roundRect">
            <a:avLst>
              <a:gd name="adj" fmla="val 7000"/>
            </a:avLst>
          </a:prstGeom>
          <a:solidFill>
            <a:srgbClr val="E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899148" y="39367978"/>
            <a:ext cx="29794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3600" b="1" i="0">
                <a:solidFill>
                  <a:srgbClr val="1E8449"/>
                </a:solidFill>
                <a:latin typeface="Calibri"/>
              </a:rPr>
              <a:t>518 → 175 N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6954012" y="39907474"/>
            <a:ext cx="28696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2000"/>
              </a:lnSpc>
              <a:spcAft>
                <a:spcPts val="0"/>
              </a:spcAft>
            </a:pPr>
            <a:r>
              <a:rPr sz="1500" b="0" i="0">
                <a:solidFill>
                  <a:srgbClr val="5A636B"/>
                </a:solidFill>
                <a:latin typeface="Calibri"/>
              </a:rPr>
              <a:t>overshoot on marker loss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