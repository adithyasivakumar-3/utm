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28355544" cy="105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5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55266"/>
            <a:ext cx="283555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658770"/>
            <a:ext cx="28355544" cy="5080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96514"/>
            <a:ext cx="28355544" cy="139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0400" b="1" i="0">
                <a:solidFill>
                  <a:srgbClr val="1A1A1A"/>
                </a:solidFill>
                <a:latin typeface="Calibri"/>
              </a:rPr>
              <a:t>One specimen now yields a CURVE, not a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5008" y="4382719"/>
            <a:ext cx="2438576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5A636B"/>
                </a:solidFill>
                <a:latin typeface="Calibri"/>
              </a:rPr>
              <a:t>12 automation features and 6 closed-loop test protocols, every one validated on the rig. Camera-based strain sits INSIDE the control loop, so the machine measures the specimen instead of measuring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built &amp;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0427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0427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0427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closed-loop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0736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0736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runs auto-indexed,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29 specimens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211043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11043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± 1.3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11043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force hold over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877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61352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61352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26 µε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61352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DIC noise floor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(900 s window)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711660" y="5693359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11660" y="5803087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0.9 %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11660" y="6701739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agreement between two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fracture protocols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015412"/>
            <a:ext cx="28355544" cy="1778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161716"/>
            <a:ext cx="28355544" cy="681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1">
                <a:solidFill>
                  <a:srgbClr val="5A636B"/>
                </a:solidFill>
                <a:latin typeface="Calibri"/>
              </a:rPr>
              <a:t>Code, raw CSVs and the full 76-slide technical deck: Software/UTM_PyQt6/ and documentation/  ·  Every figure and number here is regenerated from the rig CSVs by documentation/scripts/sf9_data.py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7833817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8514130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8697010"/>
            <a:ext cx="9073896" cy="90050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8898178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78" y="9765030"/>
            <a:ext cx="3931027" cy="6035040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485" y="9765030"/>
            <a:ext cx="4005072" cy="6035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1288" y="15946374"/>
            <a:ext cx="8671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17976341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WHY AUTOMATE A TENSILE RIG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18656655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18839535"/>
            <a:ext cx="9073896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 conventional pull gives ONE modulus, ONE yield, ONE strength — and a human presses every button. Crosshead travel is not specimen strain, so the machine reports its own compliance as material behaviour. A destructive test is one irreversible shot. And nothing watches the run, so a stall, a lost marker or a fracture are all noticed late, by a person.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944" y="7833817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0944" y="8514130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0944" y="8697010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0944" y="9121292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0944" y="10273436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0944" y="10697718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0944" y="11545062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Simulated before hardware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0944" y="11969343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Every policy is replayed against a spring plant and recorded CSVs — 9/9 checks pass before a specimen is risked.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0944" y="12816687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Four safety 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944" y="13240969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Load-collapse detector · stall guard (&lt; 0.05 mm / 6 s under load) · 4.5 kN and 30 mm backstops · dead-DIC guard (freeze at 0.2 s, halt at 1.0 s). Guards are phase-aware, so the stall guard stays silent through an intentional dwell.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944" y="14393113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analysis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0944" y="14817394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app, the reports and every figure compute E, σ_y, UTS, ε_f and the force anchor from the same code — a live readout and a published number cannot disagree.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0944" y="16167658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WHAT THE AUTOMATION BUYS YOU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0944" y="16847972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600944" y="17030852"/>
            <a:ext cx="9073896" cy="6537562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02112" y="17232020"/>
            <a:ext cx="8671560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Six closed-loop protocols — every trace is real rig data</a:t>
            </a:r>
          </a:p>
        </p:txBody>
      </p:sp>
      <p:pic>
        <p:nvPicPr>
          <p:cNvPr id="54" name="Picture 53" descr="sf9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112" y="17720309"/>
            <a:ext cx="8671560" cy="369012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2112" y="21538446"/>
            <a:ext cx="8671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All six are one function behind one safety net; a protocol only chooses a speed. Two of them drive the specimen to destruction while interrogating it on the way — which is how one specimen yields a curve instead of a point. Two protocols taken independently to fracture landed 0.9 % apart on ultimate strength (21.19 vs 21.38 MPa) — on different specimens, n = 1 each, so that bounds protocol and specimen scatter together.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241768" y="7833817"/>
            <a:ext cx="9073896" cy="5668694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442936" y="8034985"/>
            <a:ext cx="8671560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58" name="Picture 57" descr="sf9_teach_stiff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2936" y="8523274"/>
            <a:ext cx="8671560" cy="343085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442936" y="12082143"/>
            <a:ext cx="867156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241768" y="13813407"/>
            <a:ext cx="9073896" cy="5970054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442936" y="14014575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Creep, resolved — and separated from the instrument's own drift</a:t>
            </a:r>
          </a:p>
        </p:txBody>
      </p:sp>
      <p:pic>
        <p:nvPicPr>
          <p:cNvPr id="62" name="Picture 61" descr="sf9_creep_t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2936" y="14881427"/>
            <a:ext cx="8671560" cy="274405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0442936" y="17753494"/>
            <a:ext cx="8671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Two holds, in order. A 928 s ZERO-LOAD baseline measured the rig's own drift at +0.2893 µε/s; the real hold then pinned 597 ± 1.3 N for 877 s at 11.3 MPa. Raw strain minus that slope leaves +1080 µε of creep — 41× the 26 µε noise floor — and it decelerates (n = 0.48), the criterion fixed BEFORE the run for telling creep from drift. Holding it took +172 µm of crosshead but only +107 µm of gauge: 62 % specimen.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241768" y="20094358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LIMITATIONS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241768" y="20774671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41768" y="20957551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Poisson's ratio is not measurable today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41768" y="21381833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gauge is too narrow: the elastic width change is sub-pixel at 20.8 px/mm. Every stress here is ENGINEERING (F/A₀), never 'true'.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41768" y="22229177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No fatigue damage curve yet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241768" y="22653458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One run lost the camera mid-way and its repeat started on an already-damaged specimen, and the modulus RECOVERED between them — so no valid E₀ exists.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241768" y="23500802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Creep and fatigue are each n =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241768" y="23925084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Both measurements are proven; the material constants are not. Creep needs 3–4 stress levels and fatigue needs repeats.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241768" y="24772428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motor's torque ceiling is variable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241768" y="25196710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Normally 3.2–3.4 kN, but ~2.6 kN on one session. The drivetrain is rated far above that, so the cause is electrical — not the software.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" y="26757285"/>
            <a:ext cx="28355544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SMART FEATURES, SF1 TO SF15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" y="27437598"/>
            <a:ext cx="28355544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60120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68984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built &amp; rig-validated (12)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411968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0832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planned (3)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863816" y="27697694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172680" y="27674530"/>
            <a:ext cx="9123680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hardware-blocked (1)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0120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0120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461248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61248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Live DIC health HUD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99148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99148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2 /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54012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markers, live at ~2 Hz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600944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600944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8102071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102071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29544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Prepare specimen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29544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One button tares position, force and DIC and clears the plots. It tares DIC only at a green 2/2 lock, so a bad mount cannot be zeroed in.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6539971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539971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4 → 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94835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operator actions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0241768" y="28207726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0241768" y="28207726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7742896" y="28363174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742896" y="28420324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470368" y="28363174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Recipes / settings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470368" y="28851464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180796" y="28851464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180796" y="28897184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235660" y="29436680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restores the whole setup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0120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461248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61248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88720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One-click report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8720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899148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99148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54012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→ PDF + every graph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600944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00944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8102071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102071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29544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Auto-stop at fracture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29544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breaks. Caught S16 at 3375 N, silent through the ductile draw before it.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6539971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539971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1.2 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594835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collapse → motor halt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0241768" y="3019106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0241768" y="3019106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7742896" y="3034650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742896" y="3040365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470368" y="3034650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Constant-strain-rate testing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0470368" y="3083479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6180796" y="3083479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180796" y="3088051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0.00051 /s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35660" y="3142001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held, vs a 0.0005 target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60120" y="3217439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60120" y="32174394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8461248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461248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Stall guard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88720" y="32818131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Halts a motor that has stopped moving under load. It proved the T7 failure was a 2.6 kN stall, not a fracture — the specimen came off intact.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899148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99148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0.05 mm / 6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54012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trip, armed above 200 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600944" y="3217439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600944" y="32174394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8102071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8102071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829544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Release load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829544" y="32818131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specimen. This drives past that, down to the true zero.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39971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39971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≤ 5 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94835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residual, at 0.20 mm/s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0241768" y="3217439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0241768" y="32174394"/>
            <a:ext cx="100584" cy="21049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27742896" y="3232984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7742896" y="3238699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470368" y="3232984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Six closed-loop protocols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470368" y="32818131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progressive-cyclic→FRACTURE. One engine, one safety net.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6180796" y="32818131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180796" y="32863851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6 / 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235660" y="33403347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rig-validated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60120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60120" y="34434790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8461248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61248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88720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Auto-preload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88720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899148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99148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1.03 ×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54012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target, pre-paying relaxation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600944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600944" y="34434790"/>
            <a:ext cx="100584" cy="182788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8102071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8102071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29544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Auto-metadata + foldering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829544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Per-specimen folders and file IDs filled from the recipe, plus a one-click per-specimen slide deck.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6539971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6539971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6594835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next feature up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0241768" y="34434790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0241768" y="34434790"/>
            <a:ext cx="100584" cy="182788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27742896" y="34590238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7742896" y="34647388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0470368" y="34590238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DIC auto-calibrate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470368" y="3507852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Exposure and threshold swept on camera start, and an ROI that follows the markers through a ductile draw.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6180796" y="3507852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6180796" y="3512424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6235660" y="3566374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camera robustness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60120" y="3641812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60120" y="36418124"/>
            <a:ext cx="100584" cy="210494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8461248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461248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88720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Guided workflow + live overlay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88720" y="37061862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Connect→Calibrate→Mount→Prepare→Run→Save wizard, with live modulus and a fracture flag as the test runs.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899148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99148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planned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54012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usability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600944" y="36418124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600944" y="36418124"/>
            <a:ext cx="100584" cy="182788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8102071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8102071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B96B00"/>
                </a:solidFill>
                <a:latin typeface="Calibri"/>
              </a:rPr>
              <a:t>SF14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829544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Poisson's ratio / true stress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829544" y="37061862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The four-marker maths is written and self-tested. The gauge is too narrow for a transverse pair at 20.8 px/mm.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6539971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6539971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B96B00"/>
                </a:solidFill>
                <a:latin typeface="Calibri"/>
              </a:rPr>
              <a:t>blocked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6594835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optics, not code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20241768" y="36418124"/>
            <a:ext cx="907389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0241768" y="36418124"/>
            <a:ext cx="100584" cy="21049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7742896" y="36573572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742896" y="36630722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0470368" y="36573572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Test registry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0470368" y="37061862"/>
            <a:ext cx="560070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6180796" y="37061862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6180796" y="37107582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34 runs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6235660" y="37647078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auto-indexed, 29 specimens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60120" y="38678521"/>
            <a:ext cx="9073896" cy="18278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60120" y="38678521"/>
            <a:ext cx="100584" cy="182788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8461248" y="38833969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461248" y="38891119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188720" y="38833969"/>
            <a:ext cx="721766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Dead-DIC guard + hard backstops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88720" y="39322258"/>
            <a:ext cx="5600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controller ramping blind on a stale camera reading spikes the force. Speed freezes at 0.2 s of frozen strain, halt at 1.0 s.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899148" y="39322258"/>
            <a:ext cx="297942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899148" y="39367978"/>
            <a:ext cx="29794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518 → 175 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54012" y="39907474"/>
            <a:ext cx="28696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overshoot on marker loss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