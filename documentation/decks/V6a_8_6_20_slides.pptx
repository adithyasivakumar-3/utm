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 id="433" r:id="rId184"/>
    <p:sldId id="434" r:id="rId185"/>
    <p:sldId id="435" r:id="rId186"/>
    <p:sldId id="436" r:id="rId187"/>
    <p:sldId id="437" r:id="rId188"/>
    <p:sldId id="438" r:id="rId189"/>
    <p:sldId id="439" r:id="rId190"/>
    <p:sldId id="440" r:id="rId191"/>
    <p:sldId id="441" r:id="rId192"/>
    <p:sldId id="442" r:id="rId193"/>
    <p:sldId id="443" r:id="rId194"/>
    <p:sldId id="444" r:id="rId195"/>
    <p:sldId id="445" r:id="rId196"/>
    <p:sldId id="446" r:id="rId197"/>
    <p:sldId id="447" r:id="rId198"/>
    <p:sldId id="448" r:id="rId199"/>
    <p:sldId id="449" r:id="rId200"/>
    <p:sldId id="450" r:id="rId201"/>
    <p:sldId id="451" r:id="rId202"/>
    <p:sldId id="452" r:id="rId203"/>
    <p:sldId id="453" r:id="rId204"/>
    <p:sldId id="454" r:id="rId205"/>
    <p:sldId id="455" r:id="rId206"/>
    <p:sldId id="456" r:id="rId2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 Id="rId184" Type="http://schemas.openxmlformats.org/officeDocument/2006/relationships/slide" Target="slides/slide178.xml"/><Relationship Id="rId185" Type="http://schemas.openxmlformats.org/officeDocument/2006/relationships/slide" Target="slides/slide179.xml"/><Relationship Id="rId186" Type="http://schemas.openxmlformats.org/officeDocument/2006/relationships/slide" Target="slides/slide180.xml"/><Relationship Id="rId187" Type="http://schemas.openxmlformats.org/officeDocument/2006/relationships/slide" Target="slides/slide181.xml"/><Relationship Id="rId188" Type="http://schemas.openxmlformats.org/officeDocument/2006/relationships/slide" Target="slides/slide182.xml"/><Relationship Id="rId189" Type="http://schemas.openxmlformats.org/officeDocument/2006/relationships/slide" Target="slides/slide183.xml"/><Relationship Id="rId190" Type="http://schemas.openxmlformats.org/officeDocument/2006/relationships/slide" Target="slides/slide184.xml"/><Relationship Id="rId191" Type="http://schemas.openxmlformats.org/officeDocument/2006/relationships/slide" Target="slides/slide185.xml"/><Relationship Id="rId192" Type="http://schemas.openxmlformats.org/officeDocument/2006/relationships/slide" Target="slides/slide186.xml"/><Relationship Id="rId193" Type="http://schemas.openxmlformats.org/officeDocument/2006/relationships/slide" Target="slides/slide187.xml"/><Relationship Id="rId194" Type="http://schemas.openxmlformats.org/officeDocument/2006/relationships/slide" Target="slides/slide188.xml"/><Relationship Id="rId195" Type="http://schemas.openxmlformats.org/officeDocument/2006/relationships/slide" Target="slides/slide189.xml"/><Relationship Id="rId196" Type="http://schemas.openxmlformats.org/officeDocument/2006/relationships/slide" Target="slides/slide190.xml"/><Relationship Id="rId197" Type="http://schemas.openxmlformats.org/officeDocument/2006/relationships/slide" Target="slides/slide191.xml"/><Relationship Id="rId198" Type="http://schemas.openxmlformats.org/officeDocument/2006/relationships/slide" Target="slides/slide192.xml"/><Relationship Id="rId199" Type="http://schemas.openxmlformats.org/officeDocument/2006/relationships/slide" Target="slides/slide193.xml"/><Relationship Id="rId200" Type="http://schemas.openxmlformats.org/officeDocument/2006/relationships/slide" Target="slides/slide194.xml"/><Relationship Id="rId201" Type="http://schemas.openxmlformats.org/officeDocument/2006/relationships/slide" Target="slides/slide195.xml"/><Relationship Id="rId202" Type="http://schemas.openxmlformats.org/officeDocument/2006/relationships/slide" Target="slides/slide196.xml"/><Relationship Id="rId203" Type="http://schemas.openxmlformats.org/officeDocument/2006/relationships/slide" Target="slides/slide197.xml"/><Relationship Id="rId204" Type="http://schemas.openxmlformats.org/officeDocument/2006/relationships/slide" Target="slides/slide198.xml"/><Relationship Id="rId205" Type="http://schemas.openxmlformats.org/officeDocument/2006/relationships/slide" Target="slides/slide199.xml"/><Relationship Id="rId206" Type="http://schemas.openxmlformats.org/officeDocument/2006/relationships/slide" Target="slides/slide200.xml"/><Relationship Id="rId207" Type="http://schemas.openxmlformats.org/officeDocument/2006/relationships/slide" Target="slides/slide20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storage.googleapis.com/addnorth-com.appspot.com/imgix/assets/production/epla_tds_rev21_XTkw2P.pdf" TargetMode="External"/><Relationship Id="rId4" Type="http://schemas.openxmlformats.org/officeDocument/2006/relationships/hyperlink" Target="https://addnorth.com/product/PLA%20Economy/PLA%20Economy%20-%201.75mm%20-%201000g%20-%20Light%20Grey"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hyperlink" Target="https://storage.googleapis.com/addnorth-com.appspot.com/imgix/assets/production/epla_tds_rev21_XTkw2P.pdf"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 Id="rId7" Type="http://schemas.openxmlformats.org/officeDocument/2006/relationships/image" Target="../media/image21.jpg"/><Relationship Id="rId8" Type="http://schemas.openxmlformats.org/officeDocument/2006/relationships/image" Target="../media/image22.jpg"/><Relationship Id="rId9" Type="http://schemas.openxmlformats.org/officeDocument/2006/relationships/image" Target="../media/image23.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8.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9.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0.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4.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png"/><Relationship Id="rId3" Type="http://schemas.openxmlformats.org/officeDocument/2006/relationships/hyperlink" Target="https://storage.googleapis.com/addnorth-com.appspot.com/imgix/assets/production/epla_tds_rev21_XTkw2P.pdf" TargetMode="Externa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7.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8.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9.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0.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2.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3.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4.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5.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6.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7.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0.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2.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4.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6.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7.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8.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9.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hyperlink" Target="https://ieeexplore.ieee.org/document/4310076" TargetMode="Externa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3.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5.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7.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8.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9.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0.png"/><Relationship Id="rId3" Type="http://schemas.openxmlformats.org/officeDocument/2006/relationships/image" Target="../media/image9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2.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5.png"/></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6.png"/></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7.png"/></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8.png"/></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9.png"/></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0.pn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1.png"/></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2.png"/></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3.png"/></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4.png"/></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5.png"/></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6.png"/></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7.png"/></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8.png"/></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9.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0.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1.png"/></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2.png"/></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3.png"/></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4.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5.png"/><Relationship Id="rId3" Type="http://schemas.openxmlformats.org/officeDocument/2006/relationships/image" Target="../media/image116.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7.png"/><Relationship Id="rId3" Type="http://schemas.openxmlformats.org/officeDocument/2006/relationships/image" Target="../media/image118.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9.png"/></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0.png"/></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1.png"/></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3.png"/></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4.png"/></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5.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6.png"/></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7.png"/></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8.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9.png"/></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0.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2.png"/></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3.png"/></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4.png"/></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5.png"/></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6.png"/></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7.png"/><Relationship Id="rId3" Type="http://schemas.openxmlformats.org/officeDocument/2006/relationships/image" Target="../media/image138.png"/></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9.png"/></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0.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1.png"/><Relationship Id="rId3" Type="http://schemas.openxmlformats.org/officeDocument/2006/relationships/image" Target="../media/image142.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2.png"/></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3.png"/></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4.png"/></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TENSILE TO FAILURE — 100 % INFILL (PILOT)</a:t>
            </a:r>
          </a:p>
        </p:txBody>
      </p:sp>
      <p:sp>
        <p:nvSpPr>
          <p:cNvPr id="5" name="TextBox 4"/>
          <p:cNvSpPr txBox="1"/>
          <p:nvPr/>
        </p:nvSpPr>
        <p:spPr>
          <a:xfrm>
            <a:off x="457200" y="1280160"/>
            <a:ext cx="512064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setup</a:t>
            </a:r>
          </a:p>
        </p:txBody>
      </p:sp>
      <p:graphicFrame>
        <p:nvGraphicFramePr>
          <p:cNvPr id="6" name="Table 5"/>
          <p:cNvGraphicFramePr>
            <a:graphicFrameLocks noGrp="1"/>
          </p:cNvGraphicFramePr>
          <p:nvPr/>
        </p:nvGraphicFramePr>
        <p:xfrm>
          <a:off x="457200" y="1645920"/>
          <a:ext cx="5120639" cy="2468880"/>
        </p:xfrm>
        <a:graphic>
          <a:graphicData uri="http://schemas.openxmlformats.org/drawingml/2006/table">
            <a:tbl>
              <a:tblPr firstRow="1" bandRow="1">
                <a:tableStyleId>{5C22544A-7EE6-4342-B048-85BDC9FD1C3A}</a:tableStyleId>
              </a:tblPr>
              <a:tblGrid>
                <a:gridCol w="1383956"/>
                <a:gridCol w="3736683"/>
              </a:tblGrid>
              <a:tr h="308610">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308610">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S7 — fresh PLA, 100 % infill, LED on</a:t>
                      </a:r>
                    </a:p>
                  </a:txBody>
                  <a:tcPr/>
                </a:tc>
              </a:tr>
              <a:tr h="308610">
                <a:tc>
                  <a:txBody>
                    <a:bodyPr lIns="54864" rIns="54864" tIns="18288" bIns="18288" wrap="square" anchor="ctr"/>
                    <a:lstStyle/>
                    <a:p>
                      <a:pPr algn="l"/>
                      <a:r>
                        <a:rPr sz="1000" b="0">
                          <a:solidFill>
                            <a:srgbClr val="000000"/>
                          </a:solidFill>
                          <a:latin typeface="Calibri"/>
                        </a:rPr>
                        <a:t>Geometry</a:t>
                      </a:r>
                    </a:p>
                  </a:txBody>
                  <a:tcPr/>
                </a:tc>
                <a:tc>
                  <a:txBody>
                    <a:bodyPr lIns="54864" rIns="54864" tIns="18288" bIns="18288" wrap="square" anchor="ctr"/>
                    <a:lstStyle/>
                    <a:p>
                      <a:pPr algn="l"/>
                      <a:r>
                        <a:rPr sz="1000" b="0">
                          <a:solidFill>
                            <a:srgbClr val="000000"/>
                          </a:solidFill>
                          <a:latin typeface="Calibri"/>
                        </a:rPr>
                        <a:t>10 × 8 mm gauge (80 mm², CAD-verified)</a:t>
                      </a:r>
                    </a:p>
                  </a:txBody>
                  <a:tcPr/>
                </a:tc>
              </a:tr>
              <a:tr h="308610">
                <a:tc>
                  <a:txBody>
                    <a:bodyPr lIns="54864" rIns="54864" tIns="18288" bIns="18288" wrap="square" anchor="ctr"/>
                    <a:lstStyle/>
                    <a:p>
                      <a:pPr algn="l"/>
                      <a:r>
                        <a:rPr sz="1000" b="0">
                          <a:solidFill>
                            <a:srgbClr val="000000"/>
                          </a:solidFill>
                          <a:latin typeface="Calibri"/>
                        </a:rPr>
                        <a:t>Markers</a:t>
                      </a:r>
                    </a:p>
                  </a:txBody>
                  <a:tcPr/>
                </a:tc>
                <a:tc>
                  <a:txBody>
                    <a:bodyPr lIns="54864" rIns="54864" tIns="18288" bIns="18288" wrap="square" anchor="ctr"/>
                    <a:lstStyle/>
                    <a:p>
                      <a:pPr algn="l"/>
                      <a:r>
                        <a:rPr sz="1000" b="0">
                          <a:solidFill>
                            <a:srgbClr val="000000"/>
                          </a:solidFill>
                          <a:latin typeface="Calibri"/>
                        </a:rPr>
                        <a:t>Spray paint — DIC 99.9 % to fracture</a:t>
                      </a:r>
                    </a:p>
                  </a:txBody>
                  <a:tcPr/>
                </a:tc>
              </a:tr>
              <a:tr h="308610">
                <a:tc>
                  <a:txBody>
                    <a:bodyPr lIns="54864" rIns="54864" tIns="18288" bIns="18288" wrap="square" anchor="ctr"/>
                    <a:lstStyle/>
                    <a:p>
                      <a:pPr algn="l"/>
                      <a:r>
                        <a:rPr sz="1000" b="0">
                          <a:solidFill>
                            <a:srgbClr val="000000"/>
                          </a:solidFill>
                          <a:latin typeface="Calibri"/>
                        </a:rPr>
                        <a:t>Preload</a:t>
                      </a:r>
                    </a:p>
                  </a:txBody>
                  <a:tcPr/>
                </a:tc>
                <a:tc>
                  <a:txBody>
                    <a:bodyPr lIns="54864" rIns="54864" tIns="18288" bIns="18288" wrap="square" anchor="ctr"/>
                    <a:lstStyle/>
                    <a:p>
                      <a:pPr algn="l"/>
                      <a:r>
                        <a:rPr sz="1000" b="0">
                          <a:solidFill>
                            <a:srgbClr val="000000"/>
                          </a:solidFill>
                          <a:latin typeface="Calibri"/>
                        </a:rPr>
                        <a:t>+470 N (anchor 475 N post-fracture)</a:t>
                      </a:r>
                    </a:p>
                  </a:txBody>
                  <a:tcPr/>
                </a:tc>
              </a:tr>
              <a:tr h="308610">
                <a:tc>
                  <a:txBody>
                    <a:bodyPr lIns="54864" rIns="54864" tIns="18288" bIns="18288" wrap="square" anchor="ctr"/>
                    <a:lstStyle/>
                    <a:p>
                      <a:pPr algn="l"/>
                      <a:r>
                        <a:rPr sz="1000" b="0">
                          <a:solidFill>
                            <a:srgbClr val="000000"/>
                          </a:solidFill>
                          <a:latin typeface="Calibri"/>
                        </a:rPr>
                        <a:t>Rate</a:t>
                      </a:r>
                    </a:p>
                  </a:txBody>
                  <a:tcPr/>
                </a:tc>
                <a:tc>
                  <a:txBody>
                    <a:bodyPr lIns="54864" rIns="54864" tIns="18288" bIns="18288" wrap="square" anchor="ctr"/>
                    <a:lstStyle/>
                    <a:p>
                      <a:pPr algn="l"/>
                      <a:r>
                        <a:rPr sz="1000" b="0">
                          <a:solidFill>
                            <a:srgbClr val="000000"/>
                          </a:solidFill>
                          <a:latin typeface="Calibri"/>
                        </a:rPr>
                        <a:t>0.1 mm/s (rate-matched to V5)</a:t>
                      </a:r>
                    </a:p>
                  </a:txBody>
                  <a:tcPr/>
                </a:tc>
              </a:tr>
              <a:tr h="308610">
                <a:tc>
                  <a:txBody>
                    <a:bodyPr lIns="54864" rIns="54864" tIns="18288" bIns="18288" wrap="square" anchor="ctr"/>
                    <a:lstStyle/>
                    <a:p>
                      <a:pPr algn="l"/>
                      <a:r>
                        <a:rPr sz="1000" b="0">
                          <a:solidFill>
                            <a:srgbClr val="000000"/>
                          </a:solidFill>
                          <a:latin typeface="Calibri"/>
                        </a:rPr>
                        <a:t>Load cell</a:t>
                      </a:r>
                    </a:p>
                  </a:txBody>
                  <a:tcPr/>
                </a:tc>
                <a:tc>
                  <a:txBody>
                    <a:bodyPr lIns="54864" rIns="54864" tIns="18288" bIns="18288" wrap="square" anchor="ctr"/>
                    <a:lstStyle/>
                    <a:p>
                      <a:pPr algn="l"/>
                      <a:r>
                        <a:rPr sz="1000" b="0">
                          <a:solidFill>
                            <a:srgbClr val="000000"/>
                          </a:solidFill>
                          <a:latin typeface="Calibri"/>
                        </a:rPr>
                        <a:t>ANYLOAD 3 t — peak used 13 %</a:t>
                      </a:r>
                    </a:p>
                  </a:txBody>
                  <a:tcPr/>
                </a:tc>
              </a:tr>
              <a:tr h="308610">
                <a:tc>
                  <a:txBody>
                    <a:bodyPr lIns="54864" rIns="54864" tIns="18288" bIns="18288" wrap="square" anchor="ctr"/>
                    <a:lstStyle/>
                    <a:p>
                      <a:pPr algn="l"/>
                      <a:r>
                        <a:rPr sz="1000" b="0">
                          <a:solidFill>
                            <a:srgbClr val="000000"/>
                          </a:solidFill>
                          <a:latin typeface="Calibri"/>
                        </a:rPr>
                        <a:t>Reference</a:t>
                      </a:r>
                    </a:p>
                  </a:txBody>
                  <a:tcPr/>
                </a:tc>
                <a:tc>
                  <a:txBody>
                    <a:bodyPr lIns="54864" rIns="54864" tIns="18288" bIns="18288" wrap="square" anchor="ctr"/>
                    <a:lstStyle/>
                    <a:p>
                      <a:pPr algn="l"/>
                      <a:r>
                        <a:rPr sz="1000" b="0">
                          <a:solidFill>
                            <a:srgbClr val="000000"/>
                          </a:solidFill>
                          <a:latin typeface="Calibri"/>
                        </a:rPr>
                        <a:t>Chacón et al. (2017), Materials &amp; Design</a:t>
                      </a:r>
                    </a:p>
                  </a:txBody>
                  <a:tcPr/>
                </a:tc>
              </a:tr>
            </a:tbl>
          </a:graphicData>
        </a:graphic>
      </p:graphicFrame>
      <p:sp>
        <p:nvSpPr>
          <p:cNvPr id="7" name="Rounded Rectangle 6"/>
          <p:cNvSpPr/>
          <p:nvPr/>
        </p:nvSpPr>
        <p:spPr>
          <a:xfrm>
            <a:off x="457200" y="429768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47.8 MPa</a:t>
            </a:r>
          </a:p>
          <a:p>
            <a:pPr algn="ctr"/>
            <a:r>
              <a:rPr sz="950">
                <a:solidFill>
                  <a:srgbClr val="000000"/>
                </a:solidFill>
                <a:latin typeface="Calibri"/>
              </a:rPr>
              <a:t>UTS (nominal)</a:t>
            </a:r>
          </a:p>
        </p:txBody>
      </p:sp>
      <p:sp>
        <p:nvSpPr>
          <p:cNvPr id="8" name="Rounded Rectangle 7"/>
          <p:cNvSpPr/>
          <p:nvPr/>
        </p:nvSpPr>
        <p:spPr>
          <a:xfrm>
            <a:off x="2203704" y="429768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3 826 N</a:t>
            </a:r>
          </a:p>
          <a:p>
            <a:pPr algn="ctr"/>
            <a:r>
              <a:rPr sz="950">
                <a:solidFill>
                  <a:srgbClr val="000000"/>
                </a:solidFill>
                <a:latin typeface="Calibri"/>
              </a:rPr>
              <a:t>peak force</a:t>
            </a:r>
          </a:p>
        </p:txBody>
      </p:sp>
      <p:sp>
        <p:nvSpPr>
          <p:cNvPr id="9" name="Rounded Rectangle 8"/>
          <p:cNvSpPr/>
          <p:nvPr/>
        </p:nvSpPr>
        <p:spPr>
          <a:xfrm>
            <a:off x="3950208" y="429768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2.41 GPa</a:t>
            </a:r>
          </a:p>
          <a:p>
            <a:pPr algn="ctr"/>
            <a:r>
              <a:rPr sz="950">
                <a:solidFill>
                  <a:srgbClr val="000000"/>
                </a:solidFill>
                <a:latin typeface="Calibri"/>
              </a:rPr>
              <a:t>E (nominal)</a:t>
            </a:r>
          </a:p>
        </p:txBody>
      </p:sp>
      <p:sp>
        <p:nvSpPr>
          <p:cNvPr id="10" name="Rounded Rectangle 9"/>
          <p:cNvSpPr/>
          <p:nvPr/>
        </p:nvSpPr>
        <p:spPr>
          <a:xfrm>
            <a:off x="457200" y="534924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47.8 MPa</a:t>
            </a:r>
          </a:p>
          <a:p>
            <a:pPr algn="ctr"/>
            <a:r>
              <a:rPr sz="950">
                <a:solidFill>
                  <a:srgbClr val="000000"/>
                </a:solidFill>
                <a:latin typeface="Calibri"/>
              </a:rPr>
              <a:t>σ_y (0.2 %)</a:t>
            </a:r>
          </a:p>
        </p:txBody>
      </p:sp>
      <p:sp>
        <p:nvSpPr>
          <p:cNvPr id="11" name="Rounded Rectangle 10"/>
          <p:cNvSpPr/>
          <p:nvPr/>
        </p:nvSpPr>
        <p:spPr>
          <a:xfrm>
            <a:off x="2203704" y="5349240"/>
            <a:ext cx="1627632"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2.98 %</a:t>
            </a:r>
          </a:p>
          <a:p>
            <a:pPr algn="ctr"/>
            <a:r>
              <a:rPr sz="950">
                <a:solidFill>
                  <a:srgbClr val="000000"/>
                </a:solidFill>
                <a:latin typeface="Calibri"/>
              </a:rPr>
              <a:t>failure strain</a:t>
            </a:r>
          </a:p>
        </p:txBody>
      </p:sp>
      <p:sp>
        <p:nvSpPr>
          <p:cNvPr id="12" name="Rounded Rectangle 11"/>
          <p:cNvSpPr/>
          <p:nvPr/>
        </p:nvSpPr>
        <p:spPr>
          <a:xfrm>
            <a:off x="3950208" y="5349240"/>
            <a:ext cx="1627632"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 1</a:t>
            </a:r>
          </a:p>
          <a:p>
            <a:pPr algn="ctr"/>
            <a:r>
              <a:rPr sz="950">
                <a:solidFill>
                  <a:srgbClr val="000000"/>
                </a:solidFill>
                <a:latin typeface="Calibri"/>
              </a:rPr>
              <a:t>offset k</a:t>
            </a:r>
          </a:p>
        </p:txBody>
      </p:sp>
      <p:sp>
        <p:nvSpPr>
          <p:cNvPr id="13" name="TextBox 12"/>
          <p:cNvSpPr txBox="1"/>
          <p:nvPr/>
        </p:nvSpPr>
        <p:spPr>
          <a:xfrm>
            <a:off x="6126480" y="1280160"/>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timeline</a:t>
            </a:r>
          </a:p>
        </p:txBody>
      </p:sp>
      <p:sp>
        <p:nvSpPr>
          <p:cNvPr id="14" name="Rounded Rectangle 13"/>
          <p:cNvSpPr/>
          <p:nvPr/>
        </p:nvSpPr>
        <p:spPr>
          <a:xfrm>
            <a:off x="6309360" y="1691640"/>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Mount S7 + spray markers; LED on</a:t>
            </a:r>
          </a:p>
        </p:txBody>
      </p:sp>
      <p:cxnSp>
        <p:nvCxnSpPr>
          <p:cNvPr id="15" name="Connector 14"/>
          <p:cNvCxnSpPr/>
          <p:nvPr/>
        </p:nvCxnSpPr>
        <p:spPr>
          <a:xfrm>
            <a:off x="9006840" y="2258568"/>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6309360" y="2459736"/>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Preload +470 N → Tare δ / load / DIC</a:t>
            </a:r>
          </a:p>
        </p:txBody>
      </p:sp>
      <p:cxnSp>
        <p:nvCxnSpPr>
          <p:cNvPr id="17" name="Connector 16"/>
          <p:cNvCxnSpPr/>
          <p:nvPr/>
        </p:nvCxnSpPr>
        <p:spPr>
          <a:xfrm>
            <a:off x="9006840" y="3026664"/>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309360" y="3227832"/>
            <a:ext cx="5394960" cy="566928"/>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LED pre-flight: ε_c≈0, 2 blobs tracked</a:t>
            </a:r>
          </a:p>
        </p:txBody>
      </p:sp>
      <p:cxnSp>
        <p:nvCxnSpPr>
          <p:cNvPr id="19" name="Connector 18"/>
          <p:cNvCxnSpPr/>
          <p:nvPr/>
        </p:nvCxnSpPr>
        <p:spPr>
          <a:xfrm>
            <a:off x="9006840" y="3794760"/>
            <a:ext cx="0" cy="201168"/>
          </a:xfrm>
          <a:prstGeom prst="line">
            <a:avLst/>
          </a:prstGeom>
          <a:ln w="19050">
            <a:solidFill>
              <a:srgbClr val="1F77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309360" y="3995928"/>
            <a:ext cx="5394960" cy="566928"/>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Pull 0.1 mm/s → UTS 3826 N @ 0.020</a:t>
            </a:r>
          </a:p>
        </p:txBody>
      </p:sp>
      <p:cxnSp>
        <p:nvCxnSpPr>
          <p:cNvPr id="21" name="Connector 20"/>
          <p:cNvCxnSpPr/>
          <p:nvPr/>
        </p:nvCxnSpPr>
        <p:spPr>
          <a:xfrm>
            <a:off x="9006840" y="4562856"/>
            <a:ext cx="0" cy="201168"/>
          </a:xfrm>
          <a:prstGeom prst="line">
            <a:avLst/>
          </a:prstGeom>
          <a:ln w="19050">
            <a:solidFill>
              <a:srgbClr val="1F77B4"/>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6309360" y="4764024"/>
            <a:ext cx="5394960" cy="566928"/>
          </a:xfrm>
          <a:prstGeom prst="roundRect">
            <a:avLst/>
          </a:prstGeom>
          <a:solidFill>
            <a:srgbClr val="FFFFFF"/>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000000"/>
                </a:solidFill>
                <a:latin typeface="Calibri"/>
              </a:rPr>
              <a:t>Plastic plateau → 7 % softening</a:t>
            </a:r>
          </a:p>
        </p:txBody>
      </p:sp>
      <p:cxnSp>
        <p:nvCxnSpPr>
          <p:cNvPr id="23" name="Connector 22"/>
          <p:cNvCxnSpPr/>
          <p:nvPr/>
        </p:nvCxnSpPr>
        <p:spPr>
          <a:xfrm>
            <a:off x="9006840" y="5330952"/>
            <a:ext cx="0" cy="201168"/>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6309360" y="5532120"/>
            <a:ext cx="5394960" cy="566928"/>
          </a:xfrm>
          <a:prstGeom prst="roundRect">
            <a:avLst/>
          </a:prstGeom>
          <a:solidFill>
            <a:srgbClr val="FFFFFF"/>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Fracture ε_f = 0.030 @ 7.33 mm travel</a:t>
            </a:r>
          </a:p>
        </p:txBody>
      </p:sp>
      <p:sp>
        <p:nvSpPr>
          <p:cNvPr id="25" name="TextBox 2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V6a (S7) = the PILOT (first) 100 % specimen, shown here in detail. It is the batch's strength / modulus EDGE point — representative n = 5 result on pp. 157–160; the V5 comparison uses V6d (≈ mean).</a:t>
            </a:r>
          </a:p>
        </p:txBody>
      </p:sp>
      <p:sp>
        <p:nvSpPr>
          <p:cNvPr id="26" name="TextBox 2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PREDICTED RESULTS (pre-test)</a:t>
            </a:r>
          </a:p>
        </p:txBody>
      </p:sp>
      <p:sp>
        <p:nvSpPr>
          <p:cNvPr id="5" name="TextBox 4"/>
          <p:cNvSpPr txBox="1"/>
          <p:nvPr/>
        </p:nvSpPr>
        <p:spPr>
          <a:xfrm>
            <a:off x="457200" y="1280160"/>
            <a:ext cx="10972800" cy="365760"/>
          </a:xfrm>
          <a:prstGeom prst="rect">
            <a:avLst/>
          </a:prstGeom>
          <a:noFill/>
        </p:spPr>
        <p:txBody>
          <a:bodyPr wrap="square" lIns="45720" rIns="45720" tIns="18288" bIns="18288" anchor="t">
            <a:spAutoFit/>
          </a:bodyPr>
          <a:lstStyle/>
          <a:p>
            <a:pPr algn="l"/>
            <a:r>
              <a:rPr sz="1600" b="0" i="0">
                <a:solidFill>
                  <a:srgbClr val="707070"/>
                </a:solidFill>
                <a:latin typeface="Calibri"/>
              </a:rPr>
              <a:t>Hypotheses before pulling the 100 % specimen</a:t>
            </a:r>
          </a:p>
        </p:txBody>
      </p:sp>
      <p:graphicFrame>
        <p:nvGraphicFramePr>
          <p:cNvPr id="6" name="Table 5"/>
          <p:cNvGraphicFramePr>
            <a:graphicFrameLocks noGrp="1"/>
          </p:cNvGraphicFramePr>
          <p:nvPr/>
        </p:nvGraphicFramePr>
        <p:xfrm>
          <a:off x="457200" y="1691640"/>
          <a:ext cx="11247117" cy="2743200"/>
        </p:xfrm>
        <a:graphic>
          <a:graphicData uri="http://schemas.openxmlformats.org/drawingml/2006/table">
            <a:tbl>
              <a:tblPr firstRow="1" bandRow="1">
                <a:tableStyleId>{5C22544A-7EE6-4342-B048-85BDC9FD1C3A}</a:tableStyleId>
              </a:tblPr>
              <a:tblGrid>
                <a:gridCol w="2722986"/>
                <a:gridCol w="3788503"/>
                <a:gridCol w="2841377"/>
                <a:gridCol w="1894251"/>
              </a:tblGrid>
              <a:tr h="391885">
                <a:tc>
                  <a:txBody>
                    <a:bodyPr lIns="54864" rIns="54864" tIns="18288" bIns="18288" wrap="square" anchor="ctr"/>
                    <a:lstStyle/>
                    <a:p>
                      <a:pPr algn="l"/>
                      <a:r>
                        <a:rPr sz="1200" b="1">
                          <a:solidFill>
                            <a:srgbClr val="FFFFFF"/>
                          </a:solidFill>
                          <a:latin typeface="Calibri"/>
                        </a:rPr>
                        <a:t>Quantity</a:t>
                      </a:r>
                    </a:p>
                  </a:txBody>
                  <a:tcPr>
                    <a:solidFill>
                      <a:srgbClr val="143D2F"/>
                    </a:solidFill>
                  </a:tcPr>
                </a:tc>
                <a:tc>
                  <a:txBody>
                    <a:bodyPr lIns="54864" rIns="54864" tIns="18288" bIns="18288" wrap="square" anchor="ctr"/>
                    <a:lstStyle/>
                    <a:p>
                      <a:pPr algn="l"/>
                      <a:r>
                        <a:rPr sz="1200" b="1">
                          <a:solidFill>
                            <a:srgbClr val="FFFFFF"/>
                          </a:solidFill>
                          <a:latin typeface="Calibri"/>
                        </a:rPr>
                        <a:t>Predicted</a:t>
                      </a:r>
                    </a:p>
                  </a:txBody>
                  <a:tcPr>
                    <a:solidFill>
                      <a:srgbClr val="143D2F"/>
                    </a:solidFill>
                  </a:tcPr>
                </a:tc>
                <a:tc>
                  <a:txBody>
                    <a:bodyPr lIns="54864" rIns="54864" tIns="18288" bIns="18288" wrap="square" anchor="ctr"/>
                    <a:lstStyle/>
                    <a:p>
                      <a:pPr algn="l"/>
                      <a:r>
                        <a:rPr sz="1200" b="1">
                          <a:solidFill>
                            <a:srgbClr val="FFFFFF"/>
                          </a:solidFill>
                          <a:latin typeface="Calibri"/>
                        </a:rPr>
                        <a:t>Actual</a:t>
                      </a:r>
                    </a:p>
                  </a:txBody>
                  <a:tcPr>
                    <a:solidFill>
                      <a:srgbClr val="143D2F"/>
                    </a:solidFill>
                  </a:tcPr>
                </a:tc>
                <a:tc>
                  <a:txBody>
                    <a:bodyPr lIns="54864" rIns="54864" tIns="18288" bIns="18288" wrap="square" anchor="ctr"/>
                    <a:lstStyle/>
                    <a:p>
                      <a:pPr algn="l"/>
                      <a:r>
                        <a:rPr sz="1200" b="1">
                          <a:solidFill>
                            <a:srgbClr val="FFFFFF"/>
                          </a:solidFill>
                          <a:latin typeface="Calibri"/>
                        </a:rPr>
                        <a:t>Verdict</a:t>
                      </a:r>
                    </a:p>
                  </a:txBody>
                  <a:tcPr>
                    <a:solidFill>
                      <a:srgbClr val="143D2F"/>
                    </a:solidFill>
                  </a:tcPr>
                </a:tc>
              </a:tr>
              <a:tr h="391885">
                <a:tc>
                  <a:txBody>
                    <a:bodyPr lIns="54864" rIns="54864" tIns="18288" bIns="18288" wrap="square" anchor="ctr"/>
                    <a:lstStyle/>
                    <a:p>
                      <a:pPr algn="l"/>
                      <a:r>
                        <a:rPr sz="1200" b="0">
                          <a:solidFill>
                            <a:srgbClr val="000000"/>
                          </a:solidFill>
                          <a:latin typeface="Calibri"/>
                        </a:rPr>
                        <a:t>Peak force</a:t>
                      </a:r>
                    </a:p>
                  </a:txBody>
                  <a:tcPr/>
                </a:tc>
                <a:tc>
                  <a:txBody>
                    <a:bodyPr lIns="54864" rIns="54864" tIns="18288" bIns="18288" wrap="square" anchor="ctr"/>
                    <a:lstStyle/>
                    <a:p>
                      <a:pPr algn="l"/>
                      <a:r>
                        <a:rPr sz="1200" b="0">
                          <a:solidFill>
                            <a:srgbClr val="000000"/>
                          </a:solidFill>
                          <a:latin typeface="Calibri"/>
                        </a:rPr>
                        <a:t>≤ ~4.8 kN (≈2× V5)</a:t>
                      </a:r>
                    </a:p>
                  </a:txBody>
                  <a:tcPr/>
                </a:tc>
                <a:tc>
                  <a:txBody>
                    <a:bodyPr lIns="54864" rIns="54864" tIns="18288" bIns="18288" wrap="square" anchor="ctr"/>
                    <a:lstStyle/>
                    <a:p>
                      <a:pPr algn="l"/>
                      <a:r>
                        <a:rPr sz="1200" b="0">
                          <a:solidFill>
                            <a:srgbClr val="000000"/>
                          </a:solidFill>
                          <a:latin typeface="Calibri"/>
                        </a:rPr>
                        <a:t>3.83 kN</a:t>
                      </a:r>
                    </a:p>
                  </a:txBody>
                  <a:tcPr/>
                </a:tc>
                <a:tc>
                  <a:txBody>
                    <a:bodyPr lIns="54864" rIns="54864" tIns="18288" bIns="18288" wrap="square" anchor="ctr"/>
                    <a:lstStyle/>
                    <a:p>
                      <a:pPr algn="l"/>
                      <a:r>
                        <a:rPr sz="1200" b="1">
                          <a:solidFill>
                            <a:srgbClr val="000000"/>
                          </a:solidFill>
                          <a:latin typeface="Calibri"/>
                        </a:rPr>
                        <a:t>✓ in range</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UTS (nominal 80 mm²)</a:t>
                      </a:r>
                    </a:p>
                  </a:txBody>
                  <a:tcPr/>
                </a:tc>
                <a:tc>
                  <a:txBody>
                    <a:bodyPr lIns="54864" rIns="54864" tIns="18288" bIns="18288" wrap="square" anchor="ctr"/>
                    <a:lstStyle/>
                    <a:p>
                      <a:pPr algn="l"/>
                      <a:r>
                        <a:rPr sz="1200" b="0">
                          <a:solidFill>
                            <a:srgbClr val="000000"/>
                          </a:solidFill>
                          <a:latin typeface="Calibri"/>
                        </a:rPr>
                        <a:t>lands in Chacón 32–50 MPa</a:t>
                      </a:r>
                    </a:p>
                  </a:txBody>
                  <a:tcPr/>
                </a:tc>
                <a:tc>
                  <a:txBody>
                    <a:bodyPr lIns="54864" rIns="54864" tIns="18288" bIns="18288" wrap="square" anchor="ctr"/>
                    <a:lstStyle/>
                    <a:p>
                      <a:pPr algn="l"/>
                      <a:r>
                        <a:rPr sz="1200" b="0">
                          <a:solidFill>
                            <a:srgbClr val="000000"/>
                          </a:solidFill>
                          <a:latin typeface="Calibri"/>
                        </a:rPr>
                        <a:t>47.8 MPa</a:t>
                      </a:r>
                    </a:p>
                  </a:txBody>
                  <a:tcPr/>
                </a:tc>
                <a:tc>
                  <a:txBody>
                    <a:bodyPr lIns="54864" rIns="54864" tIns="18288" bIns="18288" wrap="square" anchor="ctr"/>
                    <a:lstStyle/>
                    <a:p>
                      <a:pPr algn="l"/>
                      <a:r>
                        <a:rPr sz="1200" b="1">
                          <a:solidFill>
                            <a:srgbClr val="000000"/>
                          </a:solidFill>
                          <a:latin typeface="Calibri"/>
                        </a:rPr>
                        <a:t>✓ in range</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Offset factor k</a:t>
                      </a:r>
                    </a:p>
                  </a:txBody>
                  <a:tcPr/>
                </a:tc>
                <a:tc>
                  <a:txBody>
                    <a:bodyPr lIns="54864" rIns="54864" tIns="18288" bIns="18288" wrap="square" anchor="ctr"/>
                    <a:lstStyle/>
                    <a:p>
                      <a:pPr algn="l"/>
                      <a:r>
                        <a:rPr sz="1200" b="0">
                          <a:solidFill>
                            <a:srgbClr val="000000"/>
                          </a:solidFill>
                          <a:latin typeface="Calibri"/>
                        </a:rPr>
                        <a:t>≈ 1 (no knock-down)</a:t>
                      </a:r>
                    </a:p>
                  </a:txBody>
                  <a:tcPr/>
                </a:tc>
                <a:tc>
                  <a:txBody>
                    <a:bodyPr lIns="54864" rIns="54864" tIns="18288" bIns="18288" wrap="square" anchor="ctr"/>
                    <a:lstStyle/>
                    <a:p>
                      <a:pPr algn="l"/>
                      <a:r>
                        <a:rPr sz="1200" b="0">
                          <a:solidFill>
                            <a:srgbClr val="000000"/>
                          </a:solidFill>
                          <a:latin typeface="Calibri"/>
                        </a:rPr>
                        <a:t>0.67–1.25</a:t>
                      </a:r>
                    </a:p>
                  </a:txBody>
                  <a:tcPr/>
                </a:tc>
                <a:tc>
                  <a:txBody>
                    <a:bodyPr lIns="54864" rIns="54864" tIns="18288" bIns="18288" wrap="square" anchor="ctr"/>
                    <a:lstStyle/>
                    <a:p>
                      <a:pPr algn="l"/>
                      <a:r>
                        <a:rPr sz="1200" b="1">
                          <a:solidFill>
                            <a:srgbClr val="000000"/>
                          </a:solidFill>
                          <a:latin typeface="Calibri"/>
                        </a:rPr>
                        <a:t>✓ ≈ 1</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σ_y</a:t>
                      </a:r>
                    </a:p>
                  </a:txBody>
                  <a:tcPr/>
                </a:tc>
                <a:tc>
                  <a:txBody>
                    <a:bodyPr lIns="54864" rIns="54864" tIns="18288" bIns="18288" wrap="square" anchor="ctr"/>
                    <a:lstStyle/>
                    <a:p>
                      <a:pPr algn="l"/>
                      <a:r>
                        <a:rPr sz="1200" b="0">
                          <a:solidFill>
                            <a:srgbClr val="000000"/>
                          </a:solidFill>
                          <a:latin typeface="Calibri"/>
                        </a:rPr>
                        <a:t>≈ 2× V5 (rate-matched)</a:t>
                      </a:r>
                    </a:p>
                  </a:txBody>
                  <a:tcPr/>
                </a:tc>
                <a:tc>
                  <a:txBody>
                    <a:bodyPr lIns="54864" rIns="54864" tIns="18288" bIns="18288" wrap="square" anchor="ctr"/>
                    <a:lstStyle/>
                    <a:p>
                      <a:pPr algn="l"/>
                      <a:r>
                        <a:rPr sz="1200" b="0">
                          <a:solidFill>
                            <a:srgbClr val="000000"/>
                          </a:solidFill>
                          <a:latin typeface="Calibri"/>
                        </a:rPr>
                        <a:t>47.8 MPa (2.5×)</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r h="391885">
                <a:tc>
                  <a:txBody>
                    <a:bodyPr lIns="54864" rIns="54864" tIns="18288" bIns="18288" wrap="square" anchor="ctr"/>
                    <a:lstStyle/>
                    <a:p>
                      <a:pPr algn="l"/>
                      <a:r>
                        <a:rPr sz="1200" b="0">
                          <a:solidFill>
                            <a:srgbClr val="000000"/>
                          </a:solidFill>
                          <a:latin typeface="Calibri"/>
                        </a:rPr>
                        <a:t>Failure mode</a:t>
                      </a:r>
                    </a:p>
                  </a:txBody>
                  <a:tcPr/>
                </a:tc>
                <a:tc>
                  <a:txBody>
                    <a:bodyPr lIns="54864" rIns="54864" tIns="18288" bIns="18288" wrap="square" anchor="ctr"/>
                    <a:lstStyle/>
                    <a:p>
                      <a:pPr algn="l"/>
                      <a:r>
                        <a:rPr sz="1200" b="0">
                          <a:solidFill>
                            <a:srgbClr val="000000"/>
                          </a:solidFill>
                          <a:latin typeface="Calibri"/>
                        </a:rPr>
                        <a:t>stiffer, higher force, slight soften</a:t>
                      </a:r>
                    </a:p>
                  </a:txBody>
                  <a:tcPr/>
                </a:tc>
                <a:tc>
                  <a:txBody>
                    <a:bodyPr lIns="54864" rIns="54864" tIns="18288" bIns="18288" wrap="square" anchor="ctr"/>
                    <a:lstStyle/>
                    <a:p>
                      <a:pPr algn="l"/>
                      <a:r>
                        <a:rPr sz="1200" b="0">
                          <a:solidFill>
                            <a:srgbClr val="000000"/>
                          </a:solidFill>
                          <a:latin typeface="Calibri"/>
                        </a:rPr>
                        <a:t>7 % soften, ε_f 0.030</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r h="391890">
                <a:tc>
                  <a:txBody>
                    <a:bodyPr lIns="54864" rIns="54864" tIns="18288" bIns="18288" wrap="square" anchor="ctr"/>
                    <a:lstStyle/>
                    <a:p>
                      <a:pPr algn="l"/>
                      <a:r>
                        <a:rPr sz="1200" b="0">
                          <a:solidFill>
                            <a:srgbClr val="000000"/>
                          </a:solidFill>
                          <a:latin typeface="Calibri"/>
                        </a:rPr>
                        <a:t>DIC under LED</a:t>
                      </a:r>
                    </a:p>
                  </a:txBody>
                  <a:tcPr/>
                </a:tc>
                <a:tc>
                  <a:txBody>
                    <a:bodyPr lIns="54864" rIns="54864" tIns="18288" bIns="18288" wrap="square" anchor="ctr"/>
                    <a:lstStyle/>
                    <a:p>
                      <a:pPr algn="l"/>
                      <a:r>
                        <a:rPr sz="1200" b="0">
                          <a:solidFill>
                            <a:srgbClr val="000000"/>
                          </a:solidFill>
                          <a:latin typeface="Calibri"/>
                        </a:rPr>
                        <a:t>≥ 95 % tracking, clean floor</a:t>
                      </a:r>
                    </a:p>
                  </a:txBody>
                  <a:tcPr/>
                </a:tc>
                <a:tc>
                  <a:txBody>
                    <a:bodyPr lIns="54864" rIns="54864" tIns="18288" bIns="18288" wrap="square" anchor="ctr"/>
                    <a:lstStyle/>
                    <a:p>
                      <a:pPr algn="l"/>
                      <a:r>
                        <a:rPr sz="1200" b="0">
                          <a:solidFill>
                            <a:srgbClr val="000000"/>
                          </a:solidFill>
                          <a:latin typeface="Calibri"/>
                        </a:rPr>
                        <a:t>99.9 %</a:t>
                      </a:r>
                    </a:p>
                  </a:txBody>
                  <a:tcPr/>
                </a:tc>
                <a:tc>
                  <a:txBody>
                    <a:bodyPr lIns="54864" rIns="54864" tIns="18288" bIns="18288" wrap="square" anchor="ctr"/>
                    <a:lstStyle/>
                    <a:p>
                      <a:pPr algn="l"/>
                      <a:r>
                        <a:rPr sz="1200" b="1">
                          <a:solidFill>
                            <a:srgbClr val="000000"/>
                          </a:solidFill>
                          <a:latin typeface="Calibri"/>
                        </a:rPr>
                        <a:t>✓</a:t>
                      </a:r>
                    </a:p>
                  </a:txBody>
                  <a:tcPr>
                    <a:solidFill>
                      <a:srgbClr val="C8E6C9"/>
                    </a:solidFill>
                  </a:tcPr>
                </a:tc>
              </a:tr>
            </a:tbl>
          </a:graphicData>
        </a:graphic>
      </p:graphicFrame>
      <p:sp>
        <p:nvSpPr>
          <p:cNvPr id="7" name="Rectangle 6"/>
          <p:cNvSpPr/>
          <p:nvPr/>
        </p:nvSpPr>
        <p:spPr>
          <a:xfrm>
            <a:off x="457200" y="4754880"/>
            <a:ext cx="11247120" cy="12801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Core hypothesis (G2/G3): if the 50 % offset (k≈1.45) is purely an infill knock-down, then 100 % infill at the same nominal area should reach literature directly with k ≈ 1. Confirmed below.</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Predictions set from the 50 % V5 baseline + Chacón (2017) ranges and the infill-knock-down argument.</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LOAD vs TIME</a:t>
            </a:r>
          </a:p>
        </p:txBody>
      </p:sp>
      <p:pic>
        <p:nvPicPr>
          <p:cNvPr id="5" name="Picture 4" descr="V6a_load_time.png"/>
          <p:cNvPicPr>
            <a:picLocks noChangeAspect="1"/>
          </p:cNvPicPr>
          <p:nvPr/>
        </p:nvPicPr>
        <p:blipFill>
          <a:blip r:embed="rId2"/>
          <a:stretch>
            <a:fillRect/>
          </a:stretch>
        </p:blipFill>
        <p:spPr>
          <a:xfrm>
            <a:off x="365760" y="1371600"/>
            <a:ext cx="8138160" cy="3965423"/>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Long ductile pull (73 s) at 0.1 mm/s: rises to UTS 3826 N then softens ~7 % over a wide plastic plateau before fracture. Net pull Δ ≈ 3351 N above the 475 N preload.</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STRESS vs STRAIN</a:t>
            </a:r>
          </a:p>
        </p:txBody>
      </p:sp>
      <p:pic>
        <p:nvPicPr>
          <p:cNvPr id="5" name="Picture 4" descr="V6a_stress_strain.png"/>
          <p:cNvPicPr>
            <a:picLocks noChangeAspect="1"/>
          </p:cNvPicPr>
          <p:nvPr/>
        </p:nvPicPr>
        <p:blipFill>
          <a:blip r:embed="rId2"/>
          <a:stretch>
            <a:fillRect/>
          </a:stretch>
        </p:blipFill>
        <p:spPr>
          <a:xfrm>
            <a:off x="365760" y="1371600"/>
            <a:ext cx="8138160" cy="4604422"/>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E = 2.41 GPa; σ_y(0.2 %) 47.8 MPa ≈ UTS 47.8 MPa (near-linear to peak), then region IV softening to ε_f = 0.030. Strength is the robust DIC-independent result (load cell + fixed area).</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CAUCHY vs TRUE STRAIN</a:t>
            </a:r>
          </a:p>
        </p:txBody>
      </p:sp>
      <p:pic>
        <p:nvPicPr>
          <p:cNvPr id="5" name="Picture 4" descr="V6a_cauchy_true.png"/>
          <p:cNvPicPr>
            <a:picLocks noChangeAspect="1"/>
          </p:cNvPicPr>
          <p:nvPr/>
        </p:nvPicPr>
        <p:blipFill>
          <a:blip r:embed="rId2"/>
          <a:stretch>
            <a:fillRect/>
          </a:stretch>
        </p:blipFill>
        <p:spPr>
          <a:xfrm>
            <a:off x="365760" y="1371600"/>
            <a:ext cx="8138160" cy="4460384"/>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Cauchy and True strain agree to &lt;0.5 % (strains are small): ε_c = 0.0298 vs ε_t = 0.0294 at fracture.</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STRESS vs CROSSHEAD POSITION</a:t>
            </a:r>
          </a:p>
        </p:txBody>
      </p:sp>
      <p:pic>
        <p:nvPicPr>
          <p:cNvPr id="5" name="Picture 4" descr="V6a_stress_position.png"/>
          <p:cNvPicPr>
            <a:picLocks noChangeAspect="1"/>
          </p:cNvPicPr>
          <p:nvPr/>
        </p:nvPicPr>
        <p:blipFill>
          <a:blip r:embed="rId2"/>
          <a:stretch>
            <a:fillRect/>
          </a:stretch>
        </p:blipFill>
        <p:spPr>
          <a:xfrm>
            <a:off x="365760" y="1371600"/>
            <a:ext cx="8138160" cy="4460384"/>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Of 7.33 mm crosshead travel, only 2.39 mm (33 %) stretched the gauge; rig/grip took up 4.94 mm. Higher force (3.8 kN) ⇒ ~2.7× the rig deflection of V5 → strain MUST come from DIC.</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GAUGE STRAIN vs DISPLACEMENT</a:t>
            </a:r>
          </a:p>
        </p:txBody>
      </p:sp>
      <p:pic>
        <p:nvPicPr>
          <p:cNvPr id="5" name="Picture 4" descr="V6a_strain_position.png"/>
          <p:cNvPicPr>
            <a:picLocks noChangeAspect="1"/>
          </p:cNvPicPr>
          <p:nvPr/>
        </p:nvPicPr>
        <p:blipFill>
          <a:blip r:embed="rId2"/>
          <a:stretch>
            <a:fillRect/>
          </a:stretch>
        </p:blipFill>
        <p:spPr>
          <a:xfrm>
            <a:off x="1527048" y="1417320"/>
            <a:ext cx="9144000" cy="4534173"/>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Gauge strain rises ~linearly with travel but well below the ‘all-travel-to-gauge’ line — confirming ~two-thirds of the crosshead motion is machine compliance at this force level.</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(n = 5): VALIDATION — JOURNAL REFERENCE</a:t>
            </a:r>
          </a:p>
        </p:txBody>
      </p:sp>
      <p:sp>
        <p:nvSpPr>
          <p:cNvPr id="5" name="TextBox 4"/>
          <p:cNvSpPr txBox="1"/>
          <p:nvPr/>
        </p:nvSpPr>
        <p:spPr>
          <a:xfrm>
            <a:off x="457200" y="1234440"/>
            <a:ext cx="7040880" cy="365760"/>
          </a:xfrm>
          <a:prstGeom prst="rect">
            <a:avLst/>
          </a:prstGeom>
          <a:noFill/>
        </p:spPr>
        <p:txBody>
          <a:bodyPr wrap="square" lIns="45720" rIns="45720" tIns="18288" bIns="18288" anchor="t">
            <a:spAutoFit/>
          </a:bodyPr>
          <a:lstStyle/>
          <a:p>
            <a:pPr algn="l"/>
            <a:r>
              <a:rPr sz="1600" b="0" i="0">
                <a:solidFill>
                  <a:srgbClr val="707070"/>
                </a:solidFill>
                <a:latin typeface="Calibri"/>
              </a:rPr>
              <a:t>Chacón (2017) journal — n = 5 mean vs range, offset k = Chacón_min / measured</a:t>
            </a:r>
          </a:p>
        </p:txBody>
      </p:sp>
      <p:graphicFrame>
        <p:nvGraphicFramePr>
          <p:cNvPr id="6" name="Table 5"/>
          <p:cNvGraphicFramePr>
            <a:graphicFrameLocks noGrp="1"/>
          </p:cNvGraphicFramePr>
          <p:nvPr/>
        </p:nvGraphicFramePr>
        <p:xfrm>
          <a:off x="457200" y="1627632"/>
          <a:ext cx="7040880" cy="1417320"/>
        </p:xfrm>
        <a:graphic>
          <a:graphicData uri="http://schemas.openxmlformats.org/drawingml/2006/table">
            <a:tbl>
              <a:tblPr firstRow="1" bandRow="1">
                <a:tableStyleId>{5C22544A-7EE6-4342-B048-85BDC9FD1C3A}</a:tableStyleId>
              </a:tblPr>
              <a:tblGrid>
                <a:gridCol w="1139952"/>
                <a:gridCol w="1072896"/>
                <a:gridCol w="1072896"/>
                <a:gridCol w="1743456"/>
                <a:gridCol w="2011680"/>
              </a:tblGrid>
              <a:tr h="354330">
                <a:tc>
                  <a:txBody>
                    <a:bodyPr lIns="54864" rIns="54864" tIns="18288" bIns="18288" wrap="square" anchor="ctr"/>
                    <a:lstStyle/>
                    <a:p>
                      <a:pPr algn="l"/>
                      <a:r>
                        <a:rPr sz="1050" b="1">
                          <a:solidFill>
                            <a:srgbClr val="FFFFFF"/>
                          </a:solidFill>
                          <a:latin typeface="Calibri"/>
                        </a:rPr>
                        <a:t>Property</a:t>
                      </a:r>
                    </a:p>
                  </a:txBody>
                  <a:tcPr>
                    <a:solidFill>
                      <a:srgbClr val="143D2F"/>
                    </a:solidFill>
                  </a:tcPr>
                </a:tc>
                <a:tc>
                  <a:txBody>
                    <a:bodyPr lIns="54864" rIns="54864" tIns="18288" bIns="18288" wrap="square" anchor="ctr"/>
                    <a:lstStyle/>
                    <a:p>
                      <a:pPr algn="l"/>
                      <a:r>
                        <a:rPr sz="1050" b="1">
                          <a:solidFill>
                            <a:srgbClr val="FFFFFF"/>
                          </a:solidFill>
                          <a:latin typeface="Calibri"/>
                        </a:rPr>
                        <a:t>V5 k</a:t>
                      </a:r>
                    </a:p>
                  </a:txBody>
                  <a:tcPr>
                    <a:solidFill>
                      <a:srgbClr val="143D2F"/>
                    </a:solidFill>
                  </a:tcPr>
                </a:tc>
                <a:tc>
                  <a:txBody>
                    <a:bodyPr lIns="54864" rIns="54864" tIns="18288" bIns="18288" wrap="square" anchor="ctr"/>
                    <a:lstStyle/>
                    <a:p>
                      <a:pPr algn="l"/>
                      <a:r>
                        <a:rPr sz="1050" b="1">
                          <a:solidFill>
                            <a:srgbClr val="FFFFFF"/>
                          </a:solidFill>
                          <a:latin typeface="Calibri"/>
                        </a:rPr>
                        <a:t>V6 k</a:t>
                      </a:r>
                    </a:p>
                  </a:txBody>
                  <a:tcPr>
                    <a:solidFill>
                      <a:srgbClr val="143D2F"/>
                    </a:solidFill>
                  </a:tcPr>
                </a:tc>
                <a:tc>
                  <a:txBody>
                    <a:bodyPr lIns="54864" rIns="54864" tIns="18288" bIns="18288" wrap="square" anchor="ctr"/>
                    <a:lstStyle/>
                    <a:p>
                      <a:pPr algn="l"/>
                      <a:r>
                        <a:rPr sz="1050" b="1">
                          <a:solidFill>
                            <a:srgbClr val="FFFFFF"/>
                          </a:solidFill>
                          <a:latin typeface="Calibri"/>
                        </a:rPr>
                        <a:t>V6 mean (n=5)</a:t>
                      </a:r>
                    </a:p>
                  </a:txBody>
                  <a:tcPr>
                    <a:solidFill>
                      <a:srgbClr val="143D2F"/>
                    </a:solidFill>
                  </a:tcPr>
                </a:tc>
                <a:tc>
                  <a:txBody>
                    <a:bodyPr lIns="54864" rIns="54864" tIns="18288" bIns="18288" wrap="square" anchor="ctr"/>
                    <a:lstStyle/>
                    <a:p>
                      <a:pPr algn="l"/>
                      <a:r>
                        <a:rPr sz="1050" b="1">
                          <a:solidFill>
                            <a:srgbClr val="FFFFFF"/>
                          </a:solidFill>
                          <a:latin typeface="Calibri"/>
                        </a:rPr>
                        <a:t>Chacón range</a:t>
                      </a:r>
                    </a:p>
                  </a:txBody>
                  <a:tcPr>
                    <a:solidFill>
                      <a:srgbClr val="143D2F"/>
                    </a:solidFill>
                  </a:tcPr>
                </a:tc>
              </a:tr>
              <a:tr h="354330">
                <a:tc>
                  <a:txBody>
                    <a:bodyPr lIns="54864" rIns="54864" tIns="18288" bIns="18288" wrap="square" anchor="ctr"/>
                    <a:lstStyle/>
                    <a:p>
                      <a:pPr algn="l"/>
                      <a:r>
                        <a:rPr sz="1150" b="0">
                          <a:solidFill>
                            <a:srgbClr val="000000"/>
                          </a:solidFill>
                          <a:latin typeface="Calibri"/>
                        </a:rPr>
                        <a:t>E</a:t>
                      </a:r>
                    </a:p>
                  </a:txBody>
                  <a:tcPr/>
                </a:tc>
                <a:tc>
                  <a:txBody>
                    <a:bodyPr lIns="54864" rIns="54864" tIns="18288" bIns="18288" wrap="square" anchor="ctr"/>
                    <a:lstStyle/>
                    <a:p>
                      <a:pPr algn="l"/>
                      <a:r>
                        <a:rPr sz="1150" b="0">
                          <a:solidFill>
                            <a:srgbClr val="000000"/>
                          </a:solidFill>
                          <a:latin typeface="Calibri"/>
                        </a:rPr>
                        <a:t>×1.95</a:t>
                      </a:r>
                    </a:p>
                  </a:txBody>
                  <a:tcPr/>
                </a:tc>
                <a:tc>
                  <a:txBody>
                    <a:bodyPr lIns="54864" rIns="54864" tIns="18288" bIns="18288" wrap="square" anchor="ctr"/>
                    <a:lstStyle/>
                    <a:p>
                      <a:pPr algn="l"/>
                      <a:r>
                        <a:rPr sz="1150" b="1">
                          <a:solidFill>
                            <a:srgbClr val="000000"/>
                          </a:solidFill>
                          <a:latin typeface="Calibri"/>
                        </a:rPr>
                        <a:t>×1.15</a:t>
                      </a:r>
                    </a:p>
                  </a:txBody>
                  <a:tcPr/>
                </a:tc>
                <a:tc>
                  <a:txBody>
                    <a:bodyPr lIns="54864" rIns="54864" tIns="18288" bIns="18288" wrap="square" anchor="ctr"/>
                    <a:lstStyle/>
                    <a:p>
                      <a:pPr algn="l"/>
                      <a:r>
                        <a:rPr sz="1150" b="1">
                          <a:solidFill>
                            <a:srgbClr val="000000"/>
                          </a:solidFill>
                          <a:latin typeface="Calibri"/>
                        </a:rPr>
                        <a:t>2.60 GPa</a:t>
                      </a:r>
                    </a:p>
                  </a:txBody>
                  <a:tcPr>
                    <a:solidFill>
                      <a:srgbClr val="FFF3CD"/>
                    </a:solidFill>
                  </a:tcPr>
                </a:tc>
                <a:tc>
                  <a:txBody>
                    <a:bodyPr lIns="54864" rIns="54864" tIns="18288" bIns="18288" wrap="square" anchor="ctr"/>
                    <a:lstStyle/>
                    <a:p>
                      <a:pPr algn="l"/>
                      <a:r>
                        <a:rPr sz="1150" b="0">
                          <a:solidFill>
                            <a:srgbClr val="000000"/>
                          </a:solidFill>
                          <a:latin typeface="Calibri"/>
                        </a:rPr>
                        <a:t>3.0–5.5 GPa</a:t>
                      </a:r>
                    </a:p>
                  </a:txBody>
                  <a:tcPr/>
                </a:tc>
              </a:tr>
              <a:tr h="354330">
                <a:tc>
                  <a:txBody>
                    <a:bodyPr lIns="54864" rIns="54864" tIns="18288" bIns="18288" wrap="square" anchor="ctr"/>
                    <a:lstStyle/>
                    <a:p>
                      <a:pPr algn="l"/>
                      <a:r>
                        <a:rPr sz="1150" b="0">
                          <a:solidFill>
                            <a:srgbClr val="000000"/>
                          </a:solidFill>
                          <a:latin typeface="Calibri"/>
                        </a:rPr>
                        <a:t>σ_y</a:t>
                      </a:r>
                    </a:p>
                  </a:txBody>
                  <a:tcPr/>
                </a:tc>
                <a:tc>
                  <a:txBody>
                    <a:bodyPr lIns="54864" rIns="54864" tIns="18288" bIns="18288" wrap="square" anchor="ctr"/>
                    <a:lstStyle/>
                    <a:p>
                      <a:pPr algn="l"/>
                      <a:r>
                        <a:rPr sz="1150" b="0">
                          <a:solidFill>
                            <a:srgbClr val="000000"/>
                          </a:solidFill>
                          <a:latin typeface="Calibri"/>
                        </a:rPr>
                        <a:t>×1.58</a:t>
                      </a:r>
                    </a:p>
                  </a:txBody>
                  <a:tcPr/>
                </a:tc>
                <a:tc>
                  <a:txBody>
                    <a:bodyPr lIns="54864" rIns="54864" tIns="18288" bIns="18288" wrap="square" anchor="ctr"/>
                    <a:lstStyle/>
                    <a:p>
                      <a:pPr algn="l"/>
                      <a:r>
                        <a:rPr sz="1150" b="1">
                          <a:solidFill>
                            <a:srgbClr val="000000"/>
                          </a:solidFill>
                          <a:latin typeface="Calibri"/>
                        </a:rPr>
                        <a:t>×0.67</a:t>
                      </a:r>
                    </a:p>
                  </a:txBody>
                  <a:tcPr/>
                </a:tc>
                <a:tc>
                  <a:txBody>
                    <a:bodyPr lIns="54864" rIns="54864" tIns="18288" bIns="18288" wrap="square" anchor="ctr"/>
                    <a:lstStyle/>
                    <a:p>
                      <a:pPr algn="l"/>
                      <a:r>
                        <a:rPr sz="1150" b="1">
                          <a:solidFill>
                            <a:srgbClr val="000000"/>
                          </a:solidFill>
                          <a:latin typeface="Calibri"/>
                        </a:rPr>
                        <a:t>45.0 MPa</a:t>
                      </a:r>
                    </a:p>
                  </a:txBody>
                  <a:tcPr>
                    <a:solidFill>
                      <a:srgbClr val="C8E6C9"/>
                    </a:solidFill>
                  </a:tcPr>
                </a:tc>
                <a:tc>
                  <a:txBody>
                    <a:bodyPr lIns="54864" rIns="54864" tIns="18288" bIns="18288" wrap="square" anchor="ctr"/>
                    <a:lstStyle/>
                    <a:p>
                      <a:pPr algn="l"/>
                      <a:r>
                        <a:rPr sz="1150" b="0">
                          <a:solidFill>
                            <a:srgbClr val="000000"/>
                          </a:solidFill>
                          <a:latin typeface="Calibri"/>
                        </a:rPr>
                        <a:t>30–50 MPa</a:t>
                      </a:r>
                    </a:p>
                  </a:txBody>
                  <a:tcPr/>
                </a:tc>
              </a:tr>
              <a:tr h="354330">
                <a:tc>
                  <a:txBody>
                    <a:bodyPr lIns="54864" rIns="54864" tIns="18288" bIns="18288" wrap="square" anchor="ctr"/>
                    <a:lstStyle/>
                    <a:p>
                      <a:pPr algn="l"/>
                      <a:r>
                        <a:rPr sz="1150" b="0">
                          <a:solidFill>
                            <a:srgbClr val="000000"/>
                          </a:solidFill>
                          <a:latin typeface="Calibri"/>
                        </a:rPr>
                        <a:t>UTS</a:t>
                      </a:r>
                    </a:p>
                  </a:txBody>
                  <a:tcPr/>
                </a:tc>
                <a:tc>
                  <a:txBody>
                    <a:bodyPr lIns="54864" rIns="54864" tIns="18288" bIns="18288" wrap="square" anchor="ctr"/>
                    <a:lstStyle/>
                    <a:p>
                      <a:pPr algn="l"/>
                      <a:r>
                        <a:rPr sz="1150" b="0">
                          <a:solidFill>
                            <a:srgbClr val="000000"/>
                          </a:solidFill>
                          <a:latin typeface="Calibri"/>
                        </a:rPr>
                        <a:t>×1.45</a:t>
                      </a:r>
                    </a:p>
                  </a:txBody>
                  <a:tcPr/>
                </a:tc>
                <a:tc>
                  <a:txBody>
                    <a:bodyPr lIns="54864" rIns="54864" tIns="18288" bIns="18288" wrap="square" anchor="ctr"/>
                    <a:lstStyle/>
                    <a:p>
                      <a:pPr algn="l"/>
                      <a:r>
                        <a:rPr sz="1150" b="1">
                          <a:solidFill>
                            <a:srgbClr val="000000"/>
                          </a:solidFill>
                          <a:latin typeface="Calibri"/>
                        </a:rPr>
                        <a:t>×0.69</a:t>
                      </a:r>
                    </a:p>
                  </a:txBody>
                  <a:tcPr/>
                </a:tc>
                <a:tc>
                  <a:txBody>
                    <a:bodyPr lIns="54864" rIns="54864" tIns="18288" bIns="18288" wrap="square" anchor="ctr"/>
                    <a:lstStyle/>
                    <a:p>
                      <a:pPr algn="l"/>
                      <a:r>
                        <a:rPr sz="1150" b="1">
                          <a:solidFill>
                            <a:srgbClr val="000000"/>
                          </a:solidFill>
                          <a:latin typeface="Calibri"/>
                        </a:rPr>
                        <a:t>46.2 MPa</a:t>
                      </a:r>
                    </a:p>
                  </a:txBody>
                  <a:tcPr>
                    <a:solidFill>
                      <a:srgbClr val="C8E6C9"/>
                    </a:solidFill>
                  </a:tcPr>
                </a:tc>
                <a:tc>
                  <a:txBody>
                    <a:bodyPr lIns="54864" rIns="54864" tIns="18288" bIns="18288" wrap="square" anchor="ctr"/>
                    <a:lstStyle/>
                    <a:p>
                      <a:pPr algn="l"/>
                      <a:r>
                        <a:rPr sz="1150" b="0">
                          <a:solidFill>
                            <a:srgbClr val="000000"/>
                          </a:solidFill>
                          <a:latin typeface="Calibri"/>
                        </a:rPr>
                        <a:t>32–60 MPa</a:t>
                      </a:r>
                    </a:p>
                  </a:txBody>
                  <a:tcPr/>
                </a:tc>
              </a:tr>
            </a:tbl>
          </a:graphicData>
        </a:graphic>
      </p:graphicFrame>
      <p:sp>
        <p:nvSpPr>
          <p:cNvPr id="7" name="TextBox 6"/>
          <p:cNvSpPr txBox="1"/>
          <p:nvPr/>
        </p:nvSpPr>
        <p:spPr>
          <a:xfrm>
            <a:off x="457200" y="3154680"/>
            <a:ext cx="7040880" cy="1554480"/>
          </a:xfrm>
          <a:prstGeom prst="rect">
            <a:avLst/>
          </a:prstGeom>
          <a:noFill/>
        </p:spPr>
        <p:txBody>
          <a:bodyPr wrap="square" lIns="45720" rIns="45720" tIns="18288" bIns="18288" anchor="t">
            <a:spAutoFit/>
          </a:bodyPr>
          <a:lstStyle/>
          <a:p>
            <a:pPr algn="l"/>
            <a:r>
              <a:rPr sz="1200" b="0" i="0">
                <a:solidFill>
                  <a:srgbClr val="000000"/>
                </a:solidFill>
                <a:latin typeface="Calibri"/>
              </a:rPr>
              <a:t>Green = measured value lands INSIDE the Chacón range; yellow = just below.
At 100 % infill the strength values land in literature directly: UTS 46.2 MPa and σ_y 45.0 MPa sit mid-range (k = 0.67–0.69 &lt; 1 ⇒ no knock-down needed). E (2.60 GPa, ×1.15) is ~13 % below the 3.0 GPa floor — held down by the rig-compliance-limited apparent modulus. Strength common-factor window ≈ [0.69, 1.11] → k ≈ 1 (p. 155).</a:t>
            </a:r>
          </a:p>
        </p:txBody>
      </p:sp>
      <p:sp>
        <p:nvSpPr>
          <p:cNvPr id="8" name="Rounded Rectangle 7"/>
          <p:cNvSpPr/>
          <p:nvPr/>
        </p:nvSpPr>
        <p:spPr>
          <a:xfrm>
            <a:off x="7589520" y="1554480"/>
            <a:ext cx="2103120" cy="100584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2.09×</a:t>
            </a:r>
          </a:p>
          <a:p>
            <a:pPr algn="ctr"/>
            <a:r>
              <a:rPr sz="950">
                <a:solidFill>
                  <a:srgbClr val="000000"/>
                </a:solidFill>
                <a:latin typeface="Calibri"/>
              </a:rPr>
              <a:t>UTS vs 50 %</a:t>
            </a:r>
          </a:p>
        </p:txBody>
      </p:sp>
      <p:sp>
        <p:nvSpPr>
          <p:cNvPr id="9" name="Rounded Rectangle 8"/>
          <p:cNvSpPr/>
          <p:nvPr/>
        </p:nvSpPr>
        <p:spPr>
          <a:xfrm>
            <a:off x="9829800" y="1554480"/>
            <a:ext cx="1920240" cy="100584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5.0×</a:t>
            </a:r>
          </a:p>
          <a:p>
            <a:pPr algn="ctr"/>
            <a:r>
              <a:rPr sz="950">
                <a:solidFill>
                  <a:srgbClr val="000000"/>
                </a:solidFill>
                <a:latin typeface="Calibri"/>
              </a:rPr>
              <a:t>toughness vs 50 %</a:t>
            </a:r>
          </a:p>
        </p:txBody>
      </p:sp>
      <p:sp>
        <p:nvSpPr>
          <p:cNvPr id="10" name="Rounded Rectangle 9"/>
          <p:cNvSpPr/>
          <p:nvPr/>
        </p:nvSpPr>
        <p:spPr>
          <a:xfrm>
            <a:off x="7589520" y="2743200"/>
            <a:ext cx="2103120" cy="100584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≥99 %</a:t>
            </a:r>
          </a:p>
          <a:p>
            <a:pPr algn="ctr"/>
            <a:r>
              <a:rPr sz="950">
                <a:solidFill>
                  <a:srgbClr val="000000"/>
                </a:solidFill>
                <a:latin typeface="Calibri"/>
              </a:rPr>
              <a:t>DIC tracking (LED)</a:t>
            </a:r>
          </a:p>
        </p:txBody>
      </p:sp>
      <p:sp>
        <p:nvSpPr>
          <p:cNvPr id="11" name="Rounded Rectangle 10"/>
          <p:cNvSpPr/>
          <p:nvPr/>
        </p:nvSpPr>
        <p:spPr>
          <a:xfrm>
            <a:off x="9829800" y="2743200"/>
            <a:ext cx="1920240" cy="100584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2200" b="1">
                <a:solidFill>
                  <a:srgbClr val="1F3F2F"/>
                </a:solidFill>
                <a:latin typeface="Calibri"/>
              </a:rPr>
              <a:t>13 %</a:t>
            </a:r>
          </a:p>
          <a:p>
            <a:pPr algn="ctr"/>
            <a:r>
              <a:rPr sz="950">
                <a:solidFill>
                  <a:srgbClr val="000000"/>
                </a:solidFill>
                <a:latin typeface="Calibri"/>
              </a:rPr>
              <a:t>peak / load-cell</a:t>
            </a:r>
          </a:p>
        </p:txBody>
      </p:sp>
      <p:sp>
        <p:nvSpPr>
          <p:cNvPr id="12" name="Rectangle 11"/>
          <p:cNvSpPr/>
          <p:nvPr/>
        </p:nvSpPr>
        <p:spPr>
          <a:xfrm>
            <a:off x="457200" y="4846320"/>
            <a:ext cx="11338560" cy="5943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G2 ✓ 100 % infill reaches literature (k≈1).  G3 ✓ the 50 % offset (×1.45) was purely the infill knock-down.</a:t>
            </a:r>
          </a:p>
        </p:txBody>
      </p:sp>
      <p:sp>
        <p:nvSpPr>
          <p:cNvPr id="13" name="Rectangle 12"/>
          <p:cNvSpPr/>
          <p:nvPr/>
        </p:nvSpPr>
        <p:spPr>
          <a:xfrm>
            <a:off x="457200" y="5577840"/>
            <a:ext cx="11338560" cy="5943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DIC validated under LED lighting (clean ≥99 % tracking across all 5, stable baseline) — lighting is precision-only, as predicted.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 = 5 mean vs Chacón (2017); per-specimen repeatability on p. 157, add:north datasheet on p. 156. Strength inside range (k ≈ 1); E ~13 % below the journal floor.</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V6a: RECOMMENDATIONS / NEXT</a:t>
            </a:r>
          </a:p>
        </p:txBody>
      </p:sp>
      <p:sp>
        <p:nvSpPr>
          <p:cNvPr id="5" name="Rounded Rectangle 4"/>
          <p:cNvSpPr/>
          <p:nvPr/>
        </p:nvSpPr>
        <p:spPr>
          <a:xfrm>
            <a:off x="548640" y="1554480"/>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1</a:t>
            </a:r>
          </a:p>
        </p:txBody>
      </p:sp>
      <p:sp>
        <p:nvSpPr>
          <p:cNvPr id="6" name="TextBox 5"/>
          <p:cNvSpPr txBox="1"/>
          <p:nvPr/>
        </p:nvSpPr>
        <p:spPr>
          <a:xfrm>
            <a:off x="1234440" y="1527048"/>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Run V6b, V6c (100 % repeats, LED on) to confirm offset-≈1 repeatability — as the 50 % set established for k≈1.45.</a:t>
            </a:r>
          </a:p>
        </p:txBody>
      </p:sp>
      <p:sp>
        <p:nvSpPr>
          <p:cNvPr id="7" name="Rounded Rectangle 6"/>
          <p:cNvSpPr/>
          <p:nvPr/>
        </p:nvSpPr>
        <p:spPr>
          <a:xfrm>
            <a:off x="548640" y="2487168"/>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2</a:t>
            </a:r>
          </a:p>
        </p:txBody>
      </p:sp>
      <p:sp>
        <p:nvSpPr>
          <p:cNvPr id="8" name="TextBox 7"/>
          <p:cNvSpPr txBox="1"/>
          <p:nvPr/>
        </p:nvSpPr>
        <p:spPr>
          <a:xfrm>
            <a:off x="1234440" y="2459736"/>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For material claims at 100 % infill, report nominal values directly (no infill correction); apply the ×1.45 knock-down only for 50 % infill parts.</a:t>
            </a:r>
          </a:p>
        </p:txBody>
      </p:sp>
      <p:sp>
        <p:nvSpPr>
          <p:cNvPr id="9" name="Rounded Rectangle 8"/>
          <p:cNvSpPr/>
          <p:nvPr/>
        </p:nvSpPr>
        <p:spPr>
          <a:xfrm>
            <a:off x="548640" y="3419856"/>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3</a:t>
            </a:r>
          </a:p>
        </p:txBody>
      </p:sp>
      <p:sp>
        <p:nvSpPr>
          <p:cNvPr id="10" name="TextBox 9"/>
          <p:cNvSpPr txBox="1"/>
          <p:nvPr/>
        </p:nvSpPr>
        <p:spPr>
          <a:xfrm>
            <a:off x="1234440" y="3392424"/>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LED neutrality: V6a tracked 99.9 % under LED, so lighting works for DIC. The formal 50 % LED on/off gate (V5d/e) was skipped — backfill it only if a 50 % LED-on dataset is needed.</a:t>
            </a:r>
          </a:p>
        </p:txBody>
      </p:sp>
      <p:sp>
        <p:nvSpPr>
          <p:cNvPr id="11" name="Rounded Rectangle 10"/>
          <p:cNvSpPr/>
          <p:nvPr/>
        </p:nvSpPr>
        <p:spPr>
          <a:xfrm>
            <a:off x="548640" y="4352544"/>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4</a:t>
            </a:r>
          </a:p>
        </p:txBody>
      </p:sp>
      <p:sp>
        <p:nvSpPr>
          <p:cNvPr id="12" name="TextBox 11"/>
          <p:cNvSpPr txBox="1"/>
          <p:nvPr/>
        </p:nvSpPr>
        <p:spPr>
          <a:xfrm>
            <a:off x="1234440" y="4325112"/>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Keep the rate at 0.1 mm/s for all remaining runs (the V5c2 0.2 mm/s rate-confound lesson).</a:t>
            </a:r>
          </a:p>
        </p:txBody>
      </p:sp>
      <p:sp>
        <p:nvSpPr>
          <p:cNvPr id="13" name="Rounded Rectangle 12"/>
          <p:cNvSpPr/>
          <p:nvPr/>
        </p:nvSpPr>
        <p:spPr>
          <a:xfrm>
            <a:off x="548640" y="5285231"/>
            <a:ext cx="502920" cy="50292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500" b="1">
                <a:solidFill>
                  <a:srgbClr val="1F3F2F"/>
                </a:solidFill>
                <a:latin typeface="Calibri"/>
              </a:rPr>
              <a:t>5</a:t>
            </a:r>
          </a:p>
        </p:txBody>
      </p:sp>
      <p:sp>
        <p:nvSpPr>
          <p:cNvPr id="14" name="TextBox 13"/>
          <p:cNvSpPr txBox="1"/>
          <p:nvPr/>
        </p:nvSpPr>
        <p:spPr>
          <a:xfrm>
            <a:off x="1234440" y="5257799"/>
            <a:ext cx="10424160" cy="868680"/>
          </a:xfrm>
          <a:prstGeom prst="rect">
            <a:avLst/>
          </a:prstGeom>
          <a:noFill/>
        </p:spPr>
        <p:txBody>
          <a:bodyPr wrap="square" lIns="45720" rIns="45720" tIns="18288" bIns="18288" anchor="t">
            <a:spAutoFit/>
          </a:bodyPr>
          <a:lstStyle/>
          <a:p>
            <a:pPr algn="l"/>
            <a:r>
              <a:rPr sz="1350" b="0" i="0">
                <a:solidFill>
                  <a:srgbClr val="000000"/>
                </a:solidFill>
                <a:latin typeface="Calibri"/>
              </a:rPr>
              <a:t>Post-fracture DIC fully drops out at 100 % (energetic fracture) — the load-collapse anchor handles it; the strength result is unaffected.</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Next bench step: V6b/V6c (100 % repeats). Campaign goals G1 (50 % repeatable), G2/G3 (100 %≈literature) met.</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149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LOAD vs TIME</a:t>
            </a:r>
          </a:p>
        </p:txBody>
      </p:sp>
      <p:pic>
        <p:nvPicPr>
          <p:cNvPr id="5" name="Picture 4" descr="V6a_v5_load_time.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at 0.1 mm/s (rate-matched). 100 % infill carries ≈2.1× the peak force (batch mean 3697 vs 1767 N) and sustains a longer pull. Uses representative specimen V6d (≈ n = 5 mean), not the pilot V6a.</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STRESS vs STRAIN</a:t>
            </a:r>
          </a:p>
        </p:txBody>
      </p:sp>
      <p:pic>
        <p:nvPicPr>
          <p:cNvPr id="5" name="Picture 4" descr="V6a_v5_stress_strain.png"/>
          <p:cNvPicPr>
            <a:picLocks noChangeAspect="1"/>
          </p:cNvPicPr>
          <p:nvPr/>
        </p:nvPicPr>
        <p:blipFill>
          <a:blip r:embed="rId2"/>
          <a:stretch>
            <a:fillRect/>
          </a:stretch>
        </p:blipFill>
        <p:spPr>
          <a:xfrm>
            <a:off x="1527048" y="1417320"/>
            <a:ext cx="9144000" cy="4876800"/>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Same nominal 80 mm². 100 % infill is ~2× stronger (UTS 46.1 vs 22.1 MPa) and ~1.7× stiffer; the 100 % batch is also more extensible (ε_f 3–7 % vs ~2.5 %) — the difference is the infill load-bearing knock-down.</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STRESS vs DISPLACEMENT</a:t>
            </a:r>
          </a:p>
        </p:txBody>
      </p:sp>
      <p:pic>
        <p:nvPicPr>
          <p:cNvPr id="5" name="Picture 4" descr="V6a_v5_stress_disp.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100 % infill needs ~2× the travel (7.3 vs 3.8 mm) to fracture — higher force and ~2× the gauge stretch — but reaches a SIMILAR gauge share (55 % vs 52 %). (The pilot V6a's low 33 % was its own outlier.)</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(100 % INFILL) vs V5 (50 % INFILL): GAUGE STRAIN vs DISPLACEMENT</a:t>
            </a:r>
          </a:p>
        </p:txBody>
      </p:sp>
      <p:pic>
        <p:nvPicPr>
          <p:cNvPr id="5" name="Picture 4" descr="V6a_v5_strain_disp.png"/>
          <p:cNvPicPr>
            <a:picLocks noChangeAspect="1"/>
          </p:cNvPicPr>
          <p:nvPr/>
        </p:nvPicPr>
        <p:blipFill>
          <a:blip r:embed="rId2"/>
          <a:stretch>
            <a:fillRect/>
          </a:stretch>
        </p:blipFill>
        <p:spPr>
          <a:xfrm>
            <a:off x="1527048" y="1417320"/>
            <a:ext cx="9144000" cy="4721817"/>
          </a:xfrm>
          <a:prstGeom prst="rect">
            <a:avLst/>
          </a:prstGeom>
        </p:spPr>
      </p:pic>
      <p:sp>
        <p:nvSpPr>
          <p:cNvPr id="6" name="TextBox 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curves sit below the ideal ‘all-travel-to-gauge’ line (rig compliance) with SIMILAR slopes — about half the travel reaches the gauge in both; 100 % just travels further (stronger and more extensible).</a:t>
            </a:r>
          </a:p>
        </p:txBody>
      </p:sp>
      <p:sp>
        <p:nvSpPr>
          <p:cNvPr id="7" name="TextBox 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INFILL — FULL COMPARISON</a:t>
            </a:r>
          </a:p>
        </p:txBody>
      </p:sp>
      <p:sp>
        <p:nvSpPr>
          <p:cNvPr id="5" name="TextBox 4"/>
          <p:cNvSpPr txBox="1"/>
          <p:nvPr/>
        </p:nvSpPr>
        <p:spPr>
          <a:xfrm>
            <a:off x="365760" y="1207008"/>
            <a:ext cx="7772400" cy="365760"/>
          </a:xfrm>
          <a:prstGeom prst="rect">
            <a:avLst/>
          </a:prstGeom>
          <a:noFill/>
        </p:spPr>
        <p:txBody>
          <a:bodyPr wrap="square" lIns="45720" rIns="45720" tIns="18288" bIns="18288" anchor="t">
            <a:spAutoFit/>
          </a:bodyPr>
          <a:lstStyle/>
          <a:p>
            <a:pPr algn="l"/>
            <a:r>
              <a:rPr sz="1600" b="0" i="0">
                <a:solidFill>
                  <a:srgbClr val="707070"/>
                </a:solidFill>
                <a:latin typeface="Calibri"/>
              </a:rPr>
              <a:t>All measured values — V6 = representative V6d (≈ n=5 mean); ratio (100 %/50 %), % change</a:t>
            </a:r>
          </a:p>
        </p:txBody>
      </p:sp>
      <p:graphicFrame>
        <p:nvGraphicFramePr>
          <p:cNvPr id="6" name="Table 5"/>
          <p:cNvGraphicFramePr>
            <a:graphicFrameLocks noGrp="1"/>
          </p:cNvGraphicFramePr>
          <p:nvPr/>
        </p:nvGraphicFramePr>
        <p:xfrm>
          <a:off x="365760" y="1554480"/>
          <a:ext cx="7772397" cy="4754880"/>
        </p:xfrm>
        <a:graphic>
          <a:graphicData uri="http://schemas.openxmlformats.org/drawingml/2006/table">
            <a:tbl>
              <a:tblPr firstRow="1" bandRow="1">
                <a:tableStyleId>{5C22544A-7EE6-4342-B048-85BDC9FD1C3A}</a:tableStyleId>
              </a:tblPr>
              <a:tblGrid>
                <a:gridCol w="3228535"/>
                <a:gridCol w="1195753"/>
                <a:gridCol w="1255541"/>
                <a:gridCol w="1016390"/>
                <a:gridCol w="1076178"/>
              </a:tblGrid>
              <a:tr h="297180">
                <a:tc>
                  <a:txBody>
                    <a:bodyPr lIns="54864" rIns="54864" tIns="18288" bIns="18288" wrap="square" anchor="ctr"/>
                    <a:lstStyle/>
                    <a:p>
                      <a:pPr algn="l"/>
                      <a:r>
                        <a:rPr sz="1050" b="1">
                          <a:solidFill>
                            <a:srgbClr val="FFFFFF"/>
                          </a:solidFill>
                          <a:latin typeface="Calibri"/>
                        </a:rPr>
                        <a:t>Parameter</a:t>
                      </a:r>
                    </a:p>
                  </a:txBody>
                  <a:tcPr>
                    <a:solidFill>
                      <a:srgbClr val="143D2F"/>
                    </a:solidFill>
                  </a:tcPr>
                </a:tc>
                <a:tc>
                  <a:txBody>
                    <a:bodyPr lIns="54864" rIns="54864" tIns="18288" bIns="18288" wrap="square" anchor="ctr"/>
                    <a:lstStyle/>
                    <a:p>
                      <a:pPr algn="l"/>
                      <a:r>
                        <a:rPr sz="1050" b="1">
                          <a:solidFill>
                            <a:srgbClr val="FFFFFF"/>
                          </a:solidFill>
                          <a:latin typeface="Calibri"/>
                        </a:rPr>
                        <a:t>V5 50 % infill</a:t>
                      </a:r>
                    </a:p>
                  </a:txBody>
                  <a:tcPr>
                    <a:solidFill>
                      <a:srgbClr val="143D2F"/>
                    </a:solidFill>
                  </a:tcPr>
                </a:tc>
                <a:tc>
                  <a:txBody>
                    <a:bodyPr lIns="54864" rIns="54864" tIns="18288" bIns="18288" wrap="square" anchor="ctr"/>
                    <a:lstStyle/>
                    <a:p>
                      <a:pPr algn="l"/>
                      <a:r>
                        <a:rPr sz="1050" b="1">
                          <a:solidFill>
                            <a:srgbClr val="FFFFFF"/>
                          </a:solidFill>
                          <a:latin typeface="Calibri"/>
                        </a:rPr>
                        <a:t>V6 100 % infill</a:t>
                      </a:r>
                    </a:p>
                  </a:txBody>
                  <a:tcPr>
                    <a:solidFill>
                      <a:srgbClr val="143D2F"/>
                    </a:solidFill>
                  </a:tcPr>
                </a:tc>
                <a:tc>
                  <a:txBody>
                    <a:bodyPr lIns="54864" rIns="54864" tIns="18288" bIns="18288" wrap="square" anchor="ctr"/>
                    <a:lstStyle/>
                    <a:p>
                      <a:pPr algn="l"/>
                      <a:r>
                        <a:rPr sz="1050" b="1">
                          <a:solidFill>
                            <a:srgbClr val="FFFFFF"/>
                          </a:solidFill>
                          <a:latin typeface="Calibri"/>
                        </a:rPr>
                        <a:t>ratio</a:t>
                      </a:r>
                    </a:p>
                  </a:txBody>
                  <a:tcPr>
                    <a:solidFill>
                      <a:srgbClr val="143D2F"/>
                    </a:solidFill>
                  </a:tcPr>
                </a:tc>
                <a:tc>
                  <a:txBody>
                    <a:bodyPr lIns="54864" rIns="54864" tIns="18288" bIns="18288" wrap="square" anchor="ctr"/>
                    <a:lstStyle/>
                    <a:p>
                      <a:pPr algn="l"/>
                      <a:r>
                        <a:rPr sz="1050" b="1">
                          <a:solidFill>
                            <a:srgbClr val="FFFFFF"/>
                          </a:solidFill>
                          <a:latin typeface="Calibri"/>
                        </a:rPr>
                        <a:t>Δ %</a:t>
                      </a:r>
                    </a:p>
                  </a:txBody>
                  <a:tcPr>
                    <a:solidFill>
                      <a:srgbClr val="143D2F"/>
                    </a:solidFill>
                  </a:tcPr>
                </a:tc>
              </a:tr>
              <a:tr h="297180">
                <a:tc>
                  <a:txBody>
                    <a:bodyPr lIns="54864" rIns="54864" tIns="18288" bIns="18288" wrap="square" anchor="ctr"/>
                    <a:lstStyle/>
                    <a:p>
                      <a:pPr algn="l"/>
                      <a:r>
                        <a:rPr sz="1000" b="1">
                          <a:solidFill>
                            <a:srgbClr val="000000"/>
                          </a:solidFill>
                          <a:latin typeface="Calibri"/>
                        </a:rPr>
                        <a:t>Peak force (N)</a:t>
                      </a:r>
                    </a:p>
                  </a:txBody>
                  <a:tcPr>
                    <a:solidFill>
                      <a:srgbClr val="C8E6C9"/>
                    </a:solidFill>
                  </a:tcPr>
                </a:tc>
                <a:tc>
                  <a:txBody>
                    <a:bodyPr lIns="54864" rIns="54864" tIns="18288" bIns="18288" wrap="square" anchor="ctr"/>
                    <a:lstStyle/>
                    <a:p>
                      <a:pPr algn="l"/>
                      <a:r>
                        <a:rPr sz="1000" b="0">
                          <a:solidFill>
                            <a:srgbClr val="000000"/>
                          </a:solidFill>
                          <a:latin typeface="Calibri"/>
                        </a:rPr>
                        <a:t>1767</a:t>
                      </a:r>
                    </a:p>
                  </a:txBody>
                  <a:tcPr>
                    <a:solidFill>
                      <a:srgbClr val="C8E6C9"/>
                    </a:solidFill>
                  </a:tcPr>
                </a:tc>
                <a:tc>
                  <a:txBody>
                    <a:bodyPr lIns="54864" rIns="54864" tIns="18288" bIns="18288" wrap="square" anchor="ctr"/>
                    <a:lstStyle/>
                    <a:p>
                      <a:pPr algn="l"/>
                      <a:r>
                        <a:rPr sz="1000" b="0">
                          <a:solidFill>
                            <a:srgbClr val="000000"/>
                          </a:solidFill>
                          <a:latin typeface="Calibri"/>
                        </a:rPr>
                        <a:t>3688</a:t>
                      </a:r>
                    </a:p>
                  </a:txBody>
                  <a:tcPr>
                    <a:solidFill>
                      <a:srgbClr val="C8E6C9"/>
                    </a:solidFill>
                  </a:tcPr>
                </a:tc>
                <a:tc>
                  <a:txBody>
                    <a:bodyPr lIns="54864" rIns="54864" tIns="18288" bIns="18288" wrap="square" anchor="ctr"/>
                    <a:lstStyle/>
                    <a:p>
                      <a:pPr algn="l"/>
                      <a:r>
                        <a:rPr sz="1000" b="1">
                          <a:solidFill>
                            <a:srgbClr val="000000"/>
                          </a:solidFill>
                          <a:latin typeface="Calibri"/>
                        </a:rPr>
                        <a:t>2.09×</a:t>
                      </a:r>
                    </a:p>
                  </a:txBody>
                  <a:tcPr>
                    <a:solidFill>
                      <a:srgbClr val="C8E6C9"/>
                    </a:solidFill>
                  </a:tcPr>
                </a:tc>
                <a:tc>
                  <a:txBody>
                    <a:bodyPr lIns="54864" rIns="54864" tIns="18288" bIns="18288" wrap="square" anchor="ctr"/>
                    <a:lstStyle/>
                    <a:p>
                      <a:pPr algn="l"/>
                      <a:r>
                        <a:rPr sz="1000" b="0">
                          <a:solidFill>
                            <a:srgbClr val="000000"/>
                          </a:solidFill>
                          <a:latin typeface="Calibri"/>
                        </a:rPr>
                        <a:t>+109</a:t>
                      </a:r>
                    </a:p>
                  </a:txBody>
                  <a:tcPr>
                    <a:solidFill>
                      <a:srgbClr val="C8E6C9"/>
                    </a:solidFill>
                  </a:tcPr>
                </a:tc>
              </a:tr>
              <a:tr h="297180">
                <a:tc>
                  <a:txBody>
                    <a:bodyPr lIns="54864" rIns="54864" tIns="18288" bIns="18288" wrap="square" anchor="ctr"/>
                    <a:lstStyle/>
                    <a:p>
                      <a:pPr algn="l"/>
                      <a:r>
                        <a:rPr sz="1000" b="1">
                          <a:solidFill>
                            <a:srgbClr val="000000"/>
                          </a:solidFill>
                          <a:latin typeface="Calibri"/>
                        </a:rPr>
                        <a:t>UTS (MPa)</a:t>
                      </a:r>
                    </a:p>
                  </a:txBody>
                  <a:tcPr>
                    <a:solidFill>
                      <a:srgbClr val="C8E6C9"/>
                    </a:solidFill>
                  </a:tcPr>
                </a:tc>
                <a:tc>
                  <a:txBody>
                    <a:bodyPr lIns="54864" rIns="54864" tIns="18288" bIns="18288" wrap="square" anchor="ctr"/>
                    <a:lstStyle/>
                    <a:p>
                      <a:pPr algn="l"/>
                      <a:r>
                        <a:rPr sz="1000" b="0">
                          <a:solidFill>
                            <a:srgbClr val="000000"/>
                          </a:solidFill>
                          <a:latin typeface="Calibri"/>
                        </a:rPr>
                        <a:t>22.09</a:t>
                      </a:r>
                    </a:p>
                  </a:txBody>
                  <a:tcPr>
                    <a:solidFill>
                      <a:srgbClr val="C8E6C9"/>
                    </a:solidFill>
                  </a:tcPr>
                </a:tc>
                <a:tc>
                  <a:txBody>
                    <a:bodyPr lIns="54864" rIns="54864" tIns="18288" bIns="18288" wrap="square" anchor="ctr"/>
                    <a:lstStyle/>
                    <a:p>
                      <a:pPr algn="l"/>
                      <a:r>
                        <a:rPr sz="1000" b="0">
                          <a:solidFill>
                            <a:srgbClr val="000000"/>
                          </a:solidFill>
                          <a:latin typeface="Calibri"/>
                        </a:rPr>
                        <a:t>46.10</a:t>
                      </a:r>
                    </a:p>
                  </a:txBody>
                  <a:tcPr>
                    <a:solidFill>
                      <a:srgbClr val="C8E6C9"/>
                    </a:solidFill>
                  </a:tcPr>
                </a:tc>
                <a:tc>
                  <a:txBody>
                    <a:bodyPr lIns="54864" rIns="54864" tIns="18288" bIns="18288" wrap="square" anchor="ctr"/>
                    <a:lstStyle/>
                    <a:p>
                      <a:pPr algn="l"/>
                      <a:r>
                        <a:rPr sz="1000" b="1">
                          <a:solidFill>
                            <a:srgbClr val="000000"/>
                          </a:solidFill>
                          <a:latin typeface="Calibri"/>
                        </a:rPr>
                        <a:t>2.09×</a:t>
                      </a:r>
                    </a:p>
                  </a:txBody>
                  <a:tcPr>
                    <a:solidFill>
                      <a:srgbClr val="C8E6C9"/>
                    </a:solidFill>
                  </a:tcPr>
                </a:tc>
                <a:tc>
                  <a:txBody>
                    <a:bodyPr lIns="54864" rIns="54864" tIns="18288" bIns="18288" wrap="square" anchor="ctr"/>
                    <a:lstStyle/>
                    <a:p>
                      <a:pPr algn="l"/>
                      <a:r>
                        <a:rPr sz="1000" b="0">
                          <a:solidFill>
                            <a:srgbClr val="000000"/>
                          </a:solidFill>
                          <a:latin typeface="Calibri"/>
                        </a:rPr>
                        <a:t>+109</a:t>
                      </a:r>
                    </a:p>
                  </a:txBody>
                  <a:tcPr>
                    <a:solidFill>
                      <a:srgbClr val="C8E6C9"/>
                    </a:solidFill>
                  </a:tcPr>
                </a:tc>
              </a:tr>
              <a:tr h="297180">
                <a:tc>
                  <a:txBody>
                    <a:bodyPr lIns="54864" rIns="54864" tIns="18288" bIns="18288" wrap="square" anchor="ctr"/>
                    <a:lstStyle/>
                    <a:p>
                      <a:pPr algn="l"/>
                      <a:r>
                        <a:rPr sz="1000" b="0">
                          <a:solidFill>
                            <a:srgbClr val="000000"/>
                          </a:solidFill>
                          <a:latin typeface="Calibri"/>
                        </a:rPr>
                        <a:t>Yield σ_y 0.2 % (MPa)</a:t>
                      </a:r>
                    </a:p>
                  </a:txBody>
                  <a:tcPr/>
                </a:tc>
                <a:tc>
                  <a:txBody>
                    <a:bodyPr lIns="54864" rIns="54864" tIns="18288" bIns="18288" wrap="square" anchor="ctr"/>
                    <a:lstStyle/>
                    <a:p>
                      <a:pPr algn="l"/>
                      <a:r>
                        <a:rPr sz="1000" b="0">
                          <a:solidFill>
                            <a:srgbClr val="000000"/>
                          </a:solidFill>
                          <a:latin typeface="Calibri"/>
                        </a:rPr>
                        <a:t>19.04</a:t>
                      </a:r>
                    </a:p>
                  </a:txBody>
                  <a:tcPr/>
                </a:tc>
                <a:tc>
                  <a:txBody>
                    <a:bodyPr lIns="54864" rIns="54864" tIns="18288" bIns="18288" wrap="square" anchor="ctr"/>
                    <a:lstStyle/>
                    <a:p>
                      <a:pPr algn="l"/>
                      <a:r>
                        <a:rPr sz="1000" b="0">
                          <a:solidFill>
                            <a:srgbClr val="000000"/>
                          </a:solidFill>
                          <a:latin typeface="Calibri"/>
                        </a:rPr>
                        <a:t>44.73</a:t>
                      </a:r>
                    </a:p>
                  </a:txBody>
                  <a:tcPr/>
                </a:tc>
                <a:tc>
                  <a:txBody>
                    <a:bodyPr lIns="54864" rIns="54864" tIns="18288" bIns="18288" wrap="square" anchor="ctr"/>
                    <a:lstStyle/>
                    <a:p>
                      <a:pPr algn="l"/>
                      <a:r>
                        <a:rPr sz="1000" b="0">
                          <a:solidFill>
                            <a:srgbClr val="000000"/>
                          </a:solidFill>
                          <a:latin typeface="Calibri"/>
                        </a:rPr>
                        <a:t>2.35×</a:t>
                      </a:r>
                    </a:p>
                  </a:txBody>
                  <a:tcPr/>
                </a:tc>
                <a:tc>
                  <a:txBody>
                    <a:bodyPr lIns="54864" rIns="54864" tIns="18288" bIns="18288" wrap="square" anchor="ctr"/>
                    <a:lstStyle/>
                    <a:p>
                      <a:pPr algn="l"/>
                      <a:r>
                        <a:rPr sz="1000" b="0">
                          <a:solidFill>
                            <a:srgbClr val="000000"/>
                          </a:solidFill>
                          <a:latin typeface="Calibri"/>
                        </a:rPr>
                        <a:t>+135</a:t>
                      </a:r>
                    </a:p>
                  </a:txBody>
                  <a:tcPr/>
                </a:tc>
              </a:tr>
              <a:tr h="297180">
                <a:tc>
                  <a:txBody>
                    <a:bodyPr lIns="54864" rIns="54864" tIns="18288" bIns="18288" wrap="square" anchor="ctr"/>
                    <a:lstStyle/>
                    <a:p>
                      <a:pPr algn="l"/>
                      <a:r>
                        <a:rPr sz="1000" b="0">
                          <a:solidFill>
                            <a:srgbClr val="000000"/>
                          </a:solidFill>
                          <a:latin typeface="Calibri"/>
                        </a:rPr>
                        <a:t>Elastic modulus E (GPa)</a:t>
                      </a:r>
                    </a:p>
                  </a:txBody>
                  <a:tcPr/>
                </a:tc>
                <a:tc>
                  <a:txBody>
                    <a:bodyPr lIns="54864" rIns="54864" tIns="18288" bIns="18288" wrap="square" anchor="ctr"/>
                    <a:lstStyle/>
                    <a:p>
                      <a:pPr algn="l"/>
                      <a:r>
                        <a:rPr sz="1000" b="0">
                          <a:solidFill>
                            <a:srgbClr val="000000"/>
                          </a:solidFill>
                          <a:latin typeface="Calibri"/>
                        </a:rPr>
                        <a:t>1.54</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1.71×</a:t>
                      </a:r>
                    </a:p>
                  </a:txBody>
                  <a:tcPr/>
                </a:tc>
                <a:tc>
                  <a:txBody>
                    <a:bodyPr lIns="54864" rIns="54864" tIns="18288" bIns="18288" wrap="square" anchor="ctr"/>
                    <a:lstStyle/>
                    <a:p>
                      <a:pPr algn="l"/>
                      <a:r>
                        <a:rPr sz="1000" b="0">
                          <a:solidFill>
                            <a:srgbClr val="000000"/>
                          </a:solidFill>
                          <a:latin typeface="Calibri"/>
                        </a:rPr>
                        <a:t>+71</a:t>
                      </a:r>
                    </a:p>
                  </a:txBody>
                  <a:tcPr/>
                </a:tc>
              </a:tr>
              <a:tr h="297180">
                <a:tc>
                  <a:txBody>
                    <a:bodyPr lIns="54864" rIns="54864" tIns="18288" bIns="18288" wrap="square" anchor="ctr"/>
                    <a:lstStyle/>
                    <a:p>
                      <a:pPr algn="l"/>
                      <a:r>
                        <a:rPr sz="1000" b="0">
                          <a:solidFill>
                            <a:srgbClr val="000000"/>
                          </a:solidFill>
                          <a:latin typeface="Calibri"/>
                        </a:rPr>
                        <a:t>Fracture stress (MPa)</a:t>
                      </a:r>
                    </a:p>
                  </a:txBody>
                  <a:tcPr/>
                </a:tc>
                <a:tc>
                  <a:txBody>
                    <a:bodyPr lIns="54864" rIns="54864" tIns="18288" bIns="18288" wrap="square" anchor="ctr"/>
                    <a:lstStyle/>
                    <a:p>
                      <a:pPr algn="l"/>
                      <a:r>
                        <a:rPr sz="1000" b="0">
                          <a:solidFill>
                            <a:srgbClr val="000000"/>
                          </a:solidFill>
                          <a:latin typeface="Calibri"/>
                        </a:rPr>
                        <a:t>21.75</a:t>
                      </a:r>
                    </a:p>
                  </a:txBody>
                  <a:tcPr/>
                </a:tc>
                <a:tc>
                  <a:txBody>
                    <a:bodyPr lIns="54864" rIns="54864" tIns="18288" bIns="18288" wrap="square" anchor="ctr"/>
                    <a:lstStyle/>
                    <a:p>
                      <a:pPr algn="l"/>
                      <a:r>
                        <a:rPr sz="1000" b="0">
                          <a:solidFill>
                            <a:srgbClr val="000000"/>
                          </a:solidFill>
                          <a:latin typeface="Calibri"/>
                        </a:rPr>
                        <a:t>42.55</a:t>
                      </a:r>
                    </a:p>
                  </a:txBody>
                  <a:tcPr/>
                </a:tc>
                <a:tc>
                  <a:txBody>
                    <a:bodyPr lIns="54864" rIns="54864" tIns="18288" bIns="18288" wrap="square" anchor="ctr"/>
                    <a:lstStyle/>
                    <a:p>
                      <a:pPr algn="l"/>
                      <a:r>
                        <a:rPr sz="1000" b="0">
                          <a:solidFill>
                            <a:srgbClr val="000000"/>
                          </a:solidFill>
                          <a:latin typeface="Calibri"/>
                        </a:rPr>
                        <a:t>1.96×</a:t>
                      </a:r>
                    </a:p>
                  </a:txBody>
                  <a:tcPr/>
                </a:tc>
                <a:tc>
                  <a:txBody>
                    <a:bodyPr lIns="54864" rIns="54864" tIns="18288" bIns="18288" wrap="square" anchor="ctr"/>
                    <a:lstStyle/>
                    <a:p>
                      <a:pPr algn="l"/>
                      <a:r>
                        <a:rPr sz="1000" b="0">
                          <a:solidFill>
                            <a:srgbClr val="000000"/>
                          </a:solidFill>
                          <a:latin typeface="Calibri"/>
                        </a:rPr>
                        <a:t>+96</a:t>
                      </a:r>
                    </a:p>
                  </a:txBody>
                  <a:tcPr/>
                </a:tc>
              </a:tr>
              <a:tr h="297180">
                <a:tc>
                  <a:txBody>
                    <a:bodyPr lIns="54864" rIns="54864" tIns="18288" bIns="18288" wrap="square" anchor="ctr"/>
                    <a:lstStyle/>
                    <a:p>
                      <a:pPr algn="l"/>
                      <a:r>
                        <a:rPr sz="1000" b="0">
                          <a:solidFill>
                            <a:srgbClr val="000000"/>
                          </a:solidFill>
                          <a:latin typeface="Calibri"/>
                        </a:rPr>
                        <a:t>Failure strain ε_f</a:t>
                      </a:r>
                    </a:p>
                  </a:txBody>
                  <a:tcPr/>
                </a:tc>
                <a:tc>
                  <a:txBody>
                    <a:bodyPr lIns="54864" rIns="54864" tIns="18288" bIns="18288" wrap="square" anchor="ctr"/>
                    <a:lstStyle/>
                    <a:p>
                      <a:pPr algn="l"/>
                      <a:r>
                        <a:rPr sz="1000" b="0">
                          <a:solidFill>
                            <a:srgbClr val="000000"/>
                          </a:solidFill>
                          <a:latin typeface="Calibri"/>
                        </a:rPr>
                        <a:t>0.0247</a:t>
                      </a:r>
                    </a:p>
                  </a:txBody>
                  <a:tcPr/>
                </a:tc>
                <a:tc>
                  <a:txBody>
                    <a:bodyPr lIns="54864" rIns="54864" tIns="18288" bIns="18288" wrap="square" anchor="ctr"/>
                    <a:lstStyle/>
                    <a:p>
                      <a:pPr algn="l"/>
                      <a:r>
                        <a:rPr sz="1000" b="0">
                          <a:solidFill>
                            <a:srgbClr val="000000"/>
                          </a:solidFill>
                          <a:latin typeface="Calibri"/>
                        </a:rPr>
                        <a:t>0.0500</a:t>
                      </a:r>
                    </a:p>
                  </a:txBody>
                  <a:tcPr/>
                </a:tc>
                <a:tc>
                  <a:txBody>
                    <a:bodyPr lIns="54864" rIns="54864" tIns="18288" bIns="18288" wrap="square" anchor="ctr"/>
                    <a:lstStyle/>
                    <a:p>
                      <a:pPr algn="l"/>
                      <a:r>
                        <a:rPr sz="1000" b="0">
                          <a:solidFill>
                            <a:srgbClr val="000000"/>
                          </a:solidFill>
                          <a:latin typeface="Calibri"/>
                        </a:rPr>
                        <a:t>2.02×</a:t>
                      </a:r>
                    </a:p>
                  </a:txBody>
                  <a:tcPr/>
                </a:tc>
                <a:tc>
                  <a:txBody>
                    <a:bodyPr lIns="54864" rIns="54864" tIns="18288" bIns="18288" wrap="square" anchor="ctr"/>
                    <a:lstStyle/>
                    <a:p>
                      <a:pPr algn="l"/>
                      <a:r>
                        <a:rPr sz="1000" b="0">
                          <a:solidFill>
                            <a:srgbClr val="000000"/>
                          </a:solidFill>
                          <a:latin typeface="Calibri"/>
                        </a:rPr>
                        <a:t>+102</a:t>
                      </a:r>
                    </a:p>
                  </a:txBody>
                  <a:tcPr/>
                </a:tc>
              </a:tr>
              <a:tr h="297180">
                <a:tc>
                  <a:txBody>
                    <a:bodyPr lIns="54864" rIns="54864" tIns="18288" bIns="18288" wrap="square" anchor="ctr"/>
                    <a:lstStyle/>
                    <a:p>
                      <a:pPr algn="l"/>
                      <a:r>
                        <a:rPr sz="1000" b="0">
                          <a:solidFill>
                            <a:srgbClr val="000000"/>
                          </a:solidFill>
                          <a:latin typeface="Calibri"/>
                        </a:rPr>
                        <a:t>Toughness (kJ/m³)</a:t>
                      </a:r>
                    </a:p>
                  </a:txBody>
                  <a:tcPr/>
                </a:tc>
                <a:tc>
                  <a:txBody>
                    <a:bodyPr lIns="54864" rIns="54864" tIns="18288" bIns="18288" wrap="square" anchor="ctr"/>
                    <a:lstStyle/>
                    <a:p>
                      <a:pPr algn="l"/>
                      <a:r>
                        <a:rPr sz="1000" b="0">
                          <a:solidFill>
                            <a:srgbClr val="000000"/>
                          </a:solidFill>
                          <a:latin typeface="Calibri"/>
                        </a:rPr>
                        <a:t>462</a:t>
                      </a:r>
                    </a:p>
                  </a:txBody>
                  <a:tcPr/>
                </a:tc>
                <a:tc>
                  <a:txBody>
                    <a:bodyPr lIns="54864" rIns="54864" tIns="18288" bIns="18288" wrap="square" anchor="ctr"/>
                    <a:lstStyle/>
                    <a:p>
                      <a:pPr algn="l"/>
                      <a:r>
                        <a:rPr sz="1000" b="0">
                          <a:solidFill>
                            <a:srgbClr val="000000"/>
                          </a:solidFill>
                          <a:latin typeface="Calibri"/>
                        </a:rPr>
                        <a:t>2131</a:t>
                      </a:r>
                    </a:p>
                  </a:txBody>
                  <a:tcPr/>
                </a:tc>
                <a:tc>
                  <a:txBody>
                    <a:bodyPr lIns="54864" rIns="54864" tIns="18288" bIns="18288" wrap="square" anchor="ctr"/>
                    <a:lstStyle/>
                    <a:p>
                      <a:pPr algn="l"/>
                      <a:r>
                        <a:rPr sz="1000" b="0">
                          <a:solidFill>
                            <a:srgbClr val="000000"/>
                          </a:solidFill>
                          <a:latin typeface="Calibri"/>
                        </a:rPr>
                        <a:t>4.61×</a:t>
                      </a:r>
                    </a:p>
                  </a:txBody>
                  <a:tcPr/>
                </a:tc>
                <a:tc>
                  <a:txBody>
                    <a:bodyPr lIns="54864" rIns="54864" tIns="18288" bIns="18288" wrap="square" anchor="ctr"/>
                    <a:lstStyle/>
                    <a:p>
                      <a:pPr algn="l"/>
                      <a:r>
                        <a:rPr sz="1000" b="0">
                          <a:solidFill>
                            <a:srgbClr val="000000"/>
                          </a:solidFill>
                          <a:latin typeface="Calibri"/>
                        </a:rPr>
                        <a:t>+361</a:t>
                      </a:r>
                    </a:p>
                  </a:txBody>
                  <a:tcPr/>
                </a:tc>
              </a:tr>
              <a:tr h="297180">
                <a:tc>
                  <a:txBody>
                    <a:bodyPr lIns="54864" rIns="54864" tIns="18288" bIns="18288" wrap="square" anchor="ctr"/>
                    <a:lstStyle/>
                    <a:p>
                      <a:pPr algn="l"/>
                      <a:r>
                        <a:rPr sz="1000" b="0">
                          <a:solidFill>
                            <a:srgbClr val="000000"/>
                          </a:solidFill>
                          <a:latin typeface="Calibri"/>
                        </a:rPr>
                        <a:t>Post-UTS softening (%)</a:t>
                      </a:r>
                    </a:p>
                  </a:txBody>
                  <a:tcPr/>
                </a:tc>
                <a:tc>
                  <a:txBody>
                    <a:bodyPr lIns="54864" rIns="54864" tIns="18288" bIns="18288" wrap="square" anchor="ctr"/>
                    <a:lstStyle/>
                    <a:p>
                      <a:pPr algn="l"/>
                      <a:r>
                        <a:rPr sz="1000" b="0">
                          <a:solidFill>
                            <a:srgbClr val="000000"/>
                          </a:solidFill>
                          <a:latin typeface="Calibri"/>
                        </a:rPr>
                        <a:t>1.5</a:t>
                      </a:r>
                    </a:p>
                  </a:txBody>
                  <a:tcPr/>
                </a:tc>
                <a:tc>
                  <a:txBody>
                    <a:bodyPr lIns="54864" rIns="54864" tIns="18288" bIns="18288" wrap="square" anchor="ctr"/>
                    <a:lstStyle/>
                    <a:p>
                      <a:pPr algn="l"/>
                      <a:r>
                        <a:rPr sz="1000" b="0">
                          <a:solidFill>
                            <a:srgbClr val="000000"/>
                          </a:solidFill>
                          <a:latin typeface="Calibri"/>
                        </a:rPr>
                        <a:t>7.7</a:t>
                      </a:r>
                    </a:p>
                  </a:txBody>
                  <a:tcPr/>
                </a:tc>
                <a:tc>
                  <a:txBody>
                    <a:bodyPr lIns="54864" rIns="54864" tIns="18288" bIns="18288" wrap="square" anchor="ctr"/>
                    <a:lstStyle/>
                    <a:p>
                      <a:pPr algn="l"/>
                      <a:r>
                        <a:rPr sz="1000" b="0">
                          <a:solidFill>
                            <a:srgbClr val="000000"/>
                          </a:solidFill>
                          <a:latin typeface="Calibri"/>
                        </a:rPr>
                        <a:t>5.1×</a:t>
                      </a:r>
                    </a:p>
                  </a:txBody>
                  <a:tcPr/>
                </a:tc>
                <a:tc>
                  <a:txBody>
                    <a:bodyPr lIns="54864" rIns="54864" tIns="18288" bIns="18288" wrap="square" anchor="ctr"/>
                    <a:lstStyle/>
                    <a:p>
                      <a:pPr algn="l"/>
                      <a:r>
                        <a:rPr sz="1000" b="0">
                          <a:solidFill>
                            <a:srgbClr val="000000"/>
                          </a:solidFill>
                          <a:latin typeface="Calibri"/>
                        </a:rPr>
                        <a:t>+413</a:t>
                      </a:r>
                    </a:p>
                  </a:txBody>
                  <a:tcPr/>
                </a:tc>
              </a:tr>
              <a:tr h="297180">
                <a:tc>
                  <a:txBody>
                    <a:bodyPr lIns="54864" rIns="54864" tIns="18288" bIns="18288" wrap="square" anchor="ctr"/>
                    <a:lstStyle/>
                    <a:p>
                      <a:pPr algn="l"/>
                      <a:r>
                        <a:rPr sz="1000" b="0">
                          <a:solidFill>
                            <a:srgbClr val="000000"/>
                          </a:solidFill>
                          <a:latin typeface="Calibri"/>
                        </a:rPr>
                        <a:t>Crosshead travel (mm)</a:t>
                      </a:r>
                    </a:p>
                  </a:txBody>
                  <a:tcPr/>
                </a:tc>
                <a:tc>
                  <a:txBody>
                    <a:bodyPr lIns="54864" rIns="54864" tIns="18288" bIns="18288" wrap="square" anchor="ctr"/>
                    <a:lstStyle/>
                    <a:p>
                      <a:pPr algn="l"/>
                      <a:r>
                        <a:rPr sz="1000" b="0">
                          <a:solidFill>
                            <a:srgbClr val="000000"/>
                          </a:solidFill>
                          <a:latin typeface="Calibri"/>
                        </a:rPr>
                        <a:t>3.81</a:t>
                      </a:r>
                    </a:p>
                  </a:txBody>
                  <a:tcPr/>
                </a:tc>
                <a:tc>
                  <a:txBody>
                    <a:bodyPr lIns="54864" rIns="54864" tIns="18288" bIns="18288" wrap="square" anchor="ctr"/>
                    <a:lstStyle/>
                    <a:p>
                      <a:pPr algn="l"/>
                      <a:r>
                        <a:rPr sz="1000" b="0">
                          <a:solidFill>
                            <a:srgbClr val="000000"/>
                          </a:solidFill>
                          <a:latin typeface="Calibri"/>
                        </a:rPr>
                        <a:t>7.32</a:t>
                      </a:r>
                    </a:p>
                  </a:txBody>
                  <a:tcPr/>
                </a:tc>
                <a:tc>
                  <a:txBody>
                    <a:bodyPr lIns="54864" rIns="54864" tIns="18288" bIns="18288" wrap="square" anchor="ctr"/>
                    <a:lstStyle/>
                    <a:p>
                      <a:pPr algn="l"/>
                      <a:r>
                        <a:rPr sz="1000" b="0">
                          <a:solidFill>
                            <a:srgbClr val="000000"/>
                          </a:solidFill>
                          <a:latin typeface="Calibri"/>
                        </a:rPr>
                        <a:t>1.92×</a:t>
                      </a:r>
                    </a:p>
                  </a:txBody>
                  <a:tcPr/>
                </a:tc>
                <a:tc>
                  <a:txBody>
                    <a:bodyPr lIns="54864" rIns="54864" tIns="18288" bIns="18288" wrap="square" anchor="ctr"/>
                    <a:lstStyle/>
                    <a:p>
                      <a:pPr algn="l"/>
                      <a:r>
                        <a:rPr sz="1000" b="0">
                          <a:solidFill>
                            <a:srgbClr val="000000"/>
                          </a:solidFill>
                          <a:latin typeface="Calibri"/>
                        </a:rPr>
                        <a:t>+92</a:t>
                      </a:r>
                    </a:p>
                  </a:txBody>
                  <a:tcPr/>
                </a:tc>
              </a:tr>
              <a:tr h="297180">
                <a:tc>
                  <a:txBody>
                    <a:bodyPr lIns="54864" rIns="54864" tIns="18288" bIns="18288" wrap="square" anchor="ctr"/>
                    <a:lstStyle/>
                    <a:p>
                      <a:pPr algn="l"/>
                      <a:r>
                        <a:rPr sz="1000" b="0">
                          <a:solidFill>
                            <a:srgbClr val="000000"/>
                          </a:solidFill>
                          <a:latin typeface="Calibri"/>
                        </a:rPr>
                        <a:t>Gauge stretch DIC (mm)</a:t>
                      </a:r>
                    </a:p>
                  </a:txBody>
                  <a:tcPr/>
                </a:tc>
                <a:tc>
                  <a:txBody>
                    <a:bodyPr lIns="54864" rIns="54864" tIns="18288" bIns="18288" wrap="square" anchor="ctr"/>
                    <a:lstStyle/>
                    <a:p>
                      <a:pPr algn="l"/>
                      <a:r>
                        <a:rPr sz="1000" b="0">
                          <a:solidFill>
                            <a:srgbClr val="000000"/>
                          </a:solidFill>
                          <a:latin typeface="Calibri"/>
                        </a:rPr>
                        <a:t>1.97</a:t>
                      </a:r>
                    </a:p>
                  </a:txBody>
                  <a:tcPr/>
                </a:tc>
                <a:tc>
                  <a:txBody>
                    <a:bodyPr lIns="54864" rIns="54864" tIns="18288" bIns="18288" wrap="square" anchor="ctr"/>
                    <a:lstStyle/>
                    <a:p>
                      <a:pPr algn="l"/>
                      <a:r>
                        <a:rPr sz="1000" b="0">
                          <a:solidFill>
                            <a:srgbClr val="000000"/>
                          </a:solidFill>
                          <a:latin typeface="Calibri"/>
                        </a:rPr>
                        <a:t>4.00</a:t>
                      </a:r>
                    </a:p>
                  </a:txBody>
                  <a:tcPr/>
                </a:tc>
                <a:tc>
                  <a:txBody>
                    <a:bodyPr lIns="54864" rIns="54864" tIns="18288" bIns="18288" wrap="square" anchor="ctr"/>
                    <a:lstStyle/>
                    <a:p>
                      <a:pPr algn="l"/>
                      <a:r>
                        <a:rPr sz="1000" b="0">
                          <a:solidFill>
                            <a:srgbClr val="000000"/>
                          </a:solidFill>
                          <a:latin typeface="Calibri"/>
                        </a:rPr>
                        <a:t>2.03×</a:t>
                      </a:r>
                    </a:p>
                  </a:txBody>
                  <a:tcPr/>
                </a:tc>
                <a:tc>
                  <a:txBody>
                    <a:bodyPr lIns="54864" rIns="54864" tIns="18288" bIns="18288" wrap="square" anchor="ctr"/>
                    <a:lstStyle/>
                    <a:p>
                      <a:pPr algn="l"/>
                      <a:r>
                        <a:rPr sz="1000" b="0">
                          <a:solidFill>
                            <a:srgbClr val="000000"/>
                          </a:solidFill>
                          <a:latin typeface="Calibri"/>
                        </a:rPr>
                        <a:t>+103</a:t>
                      </a:r>
                    </a:p>
                  </a:txBody>
                  <a:tcPr/>
                </a:tc>
              </a:tr>
              <a:tr h="297180">
                <a:tc>
                  <a:txBody>
                    <a:bodyPr lIns="54864" rIns="54864" tIns="18288" bIns="18288" wrap="square" anchor="ctr"/>
                    <a:lstStyle/>
                    <a:p>
                      <a:pPr algn="l"/>
                      <a:r>
                        <a:rPr sz="1000" b="0">
                          <a:solidFill>
                            <a:srgbClr val="000000"/>
                          </a:solidFill>
                          <a:latin typeface="Calibri"/>
                        </a:rPr>
                        <a:t>Rig take-up (mm)</a:t>
                      </a:r>
                    </a:p>
                  </a:txBody>
                  <a:tcPr/>
                </a:tc>
                <a:tc>
                  <a:txBody>
                    <a:bodyPr lIns="54864" rIns="54864" tIns="18288" bIns="18288" wrap="square" anchor="ctr"/>
                    <a:lstStyle/>
                    <a:p>
                      <a:pPr algn="l"/>
                      <a:r>
                        <a:rPr sz="1000" b="0">
                          <a:solidFill>
                            <a:srgbClr val="000000"/>
                          </a:solidFill>
                          <a:latin typeface="Calibri"/>
                        </a:rPr>
                        <a:t>1.84</a:t>
                      </a:r>
                    </a:p>
                  </a:txBody>
                  <a:tcPr/>
                </a:tc>
                <a:tc>
                  <a:txBody>
                    <a:bodyPr lIns="54864" rIns="54864" tIns="18288" bIns="18288" wrap="square" anchor="ctr"/>
                    <a:lstStyle/>
                    <a:p>
                      <a:pPr algn="l"/>
                      <a:r>
                        <a:rPr sz="1000" b="0">
                          <a:solidFill>
                            <a:srgbClr val="000000"/>
                          </a:solidFill>
                          <a:latin typeface="Calibri"/>
                        </a:rPr>
                        <a:t>3.32</a:t>
                      </a:r>
                    </a:p>
                  </a:txBody>
                  <a:tcPr/>
                </a:tc>
                <a:tc>
                  <a:txBody>
                    <a:bodyPr lIns="54864" rIns="54864" tIns="18288" bIns="18288" wrap="square" anchor="ctr"/>
                    <a:lstStyle/>
                    <a:p>
                      <a:pPr algn="l"/>
                      <a:r>
                        <a:rPr sz="1000" b="0">
                          <a:solidFill>
                            <a:srgbClr val="000000"/>
                          </a:solidFill>
                          <a:latin typeface="Calibri"/>
                        </a:rPr>
                        <a:t>1.80×</a:t>
                      </a:r>
                    </a:p>
                  </a:txBody>
                  <a:tcPr/>
                </a:tc>
                <a:tc>
                  <a:txBody>
                    <a:bodyPr lIns="54864" rIns="54864" tIns="18288" bIns="18288" wrap="square" anchor="ctr"/>
                    <a:lstStyle/>
                    <a:p>
                      <a:pPr algn="l"/>
                      <a:r>
                        <a:rPr sz="1000" b="0">
                          <a:solidFill>
                            <a:srgbClr val="000000"/>
                          </a:solidFill>
                          <a:latin typeface="Calibri"/>
                        </a:rPr>
                        <a:t>+80</a:t>
                      </a:r>
                    </a:p>
                  </a:txBody>
                  <a:tcPr/>
                </a:tc>
              </a:tr>
              <a:tr h="297180">
                <a:tc>
                  <a:txBody>
                    <a:bodyPr lIns="54864" rIns="54864" tIns="18288" bIns="18288" wrap="square" anchor="ctr"/>
                    <a:lstStyle/>
                    <a:p>
                      <a:pPr algn="l"/>
                      <a:r>
                        <a:rPr sz="1000" b="0">
                          <a:solidFill>
                            <a:srgbClr val="000000"/>
                          </a:solidFill>
                          <a:latin typeface="Calibri"/>
                        </a:rPr>
                        <a:t>Gauge share of travel (%)</a:t>
                      </a:r>
                    </a:p>
                  </a:txBody>
                  <a:tcPr/>
                </a:tc>
                <a:tc>
                  <a:txBody>
                    <a:bodyPr lIns="54864" rIns="54864" tIns="18288" bIns="18288" wrap="square" anchor="ctr"/>
                    <a:lstStyle/>
                    <a:p>
                      <a:pPr algn="l"/>
                      <a:r>
                        <a:rPr sz="1000" b="0">
                          <a:solidFill>
                            <a:srgbClr val="000000"/>
                          </a:solidFill>
                          <a:latin typeface="Calibri"/>
                        </a:rPr>
                        <a:t>51.8</a:t>
                      </a:r>
                    </a:p>
                  </a:txBody>
                  <a:tcPr/>
                </a:tc>
                <a:tc>
                  <a:txBody>
                    <a:bodyPr lIns="54864" rIns="54864" tIns="18288" bIns="18288" wrap="square" anchor="ctr"/>
                    <a:lstStyle/>
                    <a:p>
                      <a:pPr algn="l"/>
                      <a:r>
                        <a:rPr sz="1000" b="0">
                          <a:solidFill>
                            <a:srgbClr val="000000"/>
                          </a:solidFill>
                          <a:latin typeface="Calibri"/>
                        </a:rPr>
                        <a:t>54.7</a:t>
                      </a:r>
                    </a:p>
                  </a:txBody>
                  <a:tcPr/>
                </a:tc>
                <a:tc>
                  <a:txBody>
                    <a:bodyPr lIns="54864" rIns="54864" tIns="18288" bIns="18288" wrap="square" anchor="ctr"/>
                    <a:lstStyle/>
                    <a:p>
                      <a:pPr algn="l"/>
                      <a:r>
                        <a:rPr sz="1000" b="0">
                          <a:solidFill>
                            <a:srgbClr val="000000"/>
                          </a:solidFill>
                          <a:latin typeface="Calibri"/>
                        </a:rPr>
                        <a:t>1.06×</a:t>
                      </a:r>
                    </a:p>
                  </a:txBody>
                  <a:tcPr/>
                </a:tc>
                <a:tc>
                  <a:txBody>
                    <a:bodyPr lIns="54864" rIns="54864" tIns="18288" bIns="18288" wrap="square" anchor="ctr"/>
                    <a:lstStyle/>
                    <a:p>
                      <a:pPr algn="l"/>
                      <a:r>
                        <a:rPr sz="1000" b="0">
                          <a:solidFill>
                            <a:srgbClr val="000000"/>
                          </a:solidFill>
                          <a:latin typeface="Calibri"/>
                        </a:rPr>
                        <a:t>+6</a:t>
                      </a:r>
                    </a:p>
                  </a:txBody>
                  <a:tcPr/>
                </a:tc>
              </a:tr>
              <a:tr h="297180">
                <a:tc>
                  <a:txBody>
                    <a:bodyPr lIns="54864" rIns="54864" tIns="18288" bIns="18288" wrap="square" anchor="ctr"/>
                    <a:lstStyle/>
                    <a:p>
                      <a:pPr algn="l"/>
                      <a:r>
                        <a:rPr sz="1000" b="0">
                          <a:solidFill>
                            <a:srgbClr val="000000"/>
                          </a:solidFill>
                          <a:latin typeface="Calibri"/>
                        </a:rPr>
                        <a:t>Rig stiffness (N/mm)</a:t>
                      </a:r>
                    </a:p>
                  </a:txBody>
                  <a:tcPr/>
                </a:tc>
                <a:tc>
                  <a:txBody>
                    <a:bodyPr lIns="54864" rIns="54864" tIns="18288" bIns="18288" wrap="square" anchor="ctr"/>
                    <a:lstStyle/>
                    <a:p>
                      <a:pPr algn="l"/>
                      <a:r>
                        <a:rPr sz="1000" b="0">
                          <a:solidFill>
                            <a:srgbClr val="000000"/>
                          </a:solidFill>
                          <a:latin typeface="Calibri"/>
                        </a:rPr>
                        <a:t>961</a:t>
                      </a:r>
                    </a:p>
                  </a:txBody>
                  <a:tcPr/>
                </a:tc>
                <a:tc>
                  <a:txBody>
                    <a:bodyPr lIns="54864" rIns="54864" tIns="18288" bIns="18288" wrap="square" anchor="ctr"/>
                    <a:lstStyle/>
                    <a:p>
                      <a:pPr algn="l"/>
                      <a:r>
                        <a:rPr sz="1000" b="0">
                          <a:solidFill>
                            <a:srgbClr val="000000"/>
                          </a:solidFill>
                          <a:latin typeface="Calibri"/>
                        </a:rPr>
                        <a:t>1111</a:t>
                      </a:r>
                    </a:p>
                  </a:txBody>
                  <a:tcPr/>
                </a:tc>
                <a:tc>
                  <a:txBody>
                    <a:bodyPr lIns="54864" rIns="54864" tIns="18288" bIns="18288" wrap="square" anchor="ctr"/>
                    <a:lstStyle/>
                    <a:p>
                      <a:pPr algn="l"/>
                      <a:r>
                        <a:rPr sz="1000" b="0">
                          <a:solidFill>
                            <a:srgbClr val="000000"/>
                          </a:solidFill>
                          <a:latin typeface="Calibri"/>
                        </a:rPr>
                        <a:t>1.16×</a:t>
                      </a:r>
                    </a:p>
                  </a:txBody>
                  <a:tcPr/>
                </a:tc>
                <a:tc>
                  <a:txBody>
                    <a:bodyPr lIns="54864" rIns="54864" tIns="18288" bIns="18288" wrap="square" anchor="ctr"/>
                    <a:lstStyle/>
                    <a:p>
                      <a:pPr algn="l"/>
                      <a:r>
                        <a:rPr sz="1000" b="0">
                          <a:solidFill>
                            <a:srgbClr val="000000"/>
                          </a:solidFill>
                          <a:latin typeface="Calibri"/>
                        </a:rPr>
                        <a:t>+16</a:t>
                      </a:r>
                    </a:p>
                  </a:txBody>
                  <a:tcPr/>
                </a:tc>
              </a:tr>
              <a:tr h="297180">
                <a:tc>
                  <a:txBody>
                    <a:bodyPr lIns="54864" rIns="54864" tIns="18288" bIns="18288" wrap="square" anchor="ctr"/>
                    <a:lstStyle/>
                    <a:p>
                      <a:pPr algn="l"/>
                      <a:r>
                        <a:rPr sz="1000" b="0">
                          <a:solidFill>
                            <a:srgbClr val="000000"/>
                          </a:solidFill>
                          <a:latin typeface="Calibri"/>
                        </a:rPr>
                        <a:t>Pull duration (s)</a:t>
                      </a:r>
                    </a:p>
                  </a:txBody>
                  <a:tcPr/>
                </a:tc>
                <a:tc>
                  <a:txBody>
                    <a:bodyPr lIns="54864" rIns="54864" tIns="18288" bIns="18288" wrap="square" anchor="ctr"/>
                    <a:lstStyle/>
                    <a:p>
                      <a:pPr algn="l"/>
                      <a:r>
                        <a:rPr sz="1000" b="0">
                          <a:solidFill>
                            <a:srgbClr val="000000"/>
                          </a:solidFill>
                          <a:latin typeface="Calibri"/>
                        </a:rPr>
                        <a:t>38.4</a:t>
                      </a:r>
                    </a:p>
                  </a:txBody>
                  <a:tcPr/>
                </a:tc>
                <a:tc>
                  <a:txBody>
                    <a:bodyPr lIns="54864" rIns="54864" tIns="18288" bIns="18288" wrap="square" anchor="ctr"/>
                    <a:lstStyle/>
                    <a:p>
                      <a:pPr algn="l"/>
                      <a:r>
                        <a:rPr sz="1000" b="0">
                          <a:solidFill>
                            <a:srgbClr val="000000"/>
                          </a:solidFill>
                          <a:latin typeface="Calibri"/>
                        </a:rPr>
                        <a:t>73.3</a:t>
                      </a:r>
                    </a:p>
                  </a:txBody>
                  <a:tcPr/>
                </a:tc>
                <a:tc>
                  <a:txBody>
                    <a:bodyPr lIns="54864" rIns="54864" tIns="18288" bIns="18288" wrap="square" anchor="ctr"/>
                    <a:lstStyle/>
                    <a:p>
                      <a:pPr algn="l"/>
                      <a:r>
                        <a:rPr sz="1000" b="0">
                          <a:solidFill>
                            <a:srgbClr val="000000"/>
                          </a:solidFill>
                          <a:latin typeface="Calibri"/>
                        </a:rPr>
                        <a:t>1.91×</a:t>
                      </a:r>
                    </a:p>
                  </a:txBody>
                  <a:tcPr/>
                </a:tc>
                <a:tc>
                  <a:txBody>
                    <a:bodyPr lIns="54864" rIns="54864" tIns="18288" bIns="18288" wrap="square" anchor="ctr"/>
                    <a:lstStyle/>
                    <a:p>
                      <a:pPr algn="l"/>
                      <a:r>
                        <a:rPr sz="1000" b="0">
                          <a:solidFill>
                            <a:srgbClr val="000000"/>
                          </a:solidFill>
                          <a:latin typeface="Calibri"/>
                        </a:rPr>
                        <a:t>+91</a:t>
                      </a:r>
                    </a:p>
                  </a:txBody>
                  <a:tcPr/>
                </a:tc>
              </a:tr>
              <a:tr h="297180">
                <a:tc>
                  <a:txBody>
                    <a:bodyPr lIns="54864" rIns="54864" tIns="18288" bIns="18288" wrap="square" anchor="ctr"/>
                    <a:lstStyle/>
                    <a:p>
                      <a:pPr algn="l"/>
                      <a:r>
                        <a:rPr sz="1000" b="0">
                          <a:solidFill>
                            <a:srgbClr val="000000"/>
                          </a:solidFill>
                          <a:latin typeface="Calibri"/>
                        </a:rPr>
                        <a:t>DIC tracking (%)</a:t>
                      </a:r>
                    </a:p>
                  </a:txBody>
                  <a:tcPr/>
                </a:tc>
                <a:tc>
                  <a:txBody>
                    <a:bodyPr lIns="54864" rIns="54864" tIns="18288" bIns="18288" wrap="square" anchor="ctr"/>
                    <a:lstStyle/>
                    <a:p>
                      <a:pPr algn="l"/>
                      <a:r>
                        <a:rPr sz="1000" b="0">
                          <a:solidFill>
                            <a:srgbClr val="000000"/>
                          </a:solidFill>
                          <a:latin typeface="Calibri"/>
                        </a:rPr>
                        <a:t>99.8</a:t>
                      </a:r>
                    </a:p>
                  </a:txBody>
                  <a:tcPr/>
                </a:tc>
                <a:tc>
                  <a:txBody>
                    <a:bodyPr lIns="54864" rIns="54864" tIns="18288" bIns="18288" wrap="square" anchor="ctr"/>
                    <a:lstStyle/>
                    <a:p>
                      <a:pPr algn="l"/>
                      <a:r>
                        <a:rPr sz="1000" b="0">
                          <a:solidFill>
                            <a:srgbClr val="000000"/>
                          </a:solidFill>
                          <a:latin typeface="Calibri"/>
                        </a:rPr>
                        <a:t>99</a:t>
                      </a:r>
                    </a:p>
                  </a:txBody>
                  <a:tcPr/>
                </a:tc>
                <a:tc>
                  <a:txBody>
                    <a:bodyPr lIns="54864" rIns="54864" tIns="18288" bIns="18288" wrap="square" anchor="ctr"/>
                    <a:lstStyle/>
                    <a:p>
                      <a:pPr algn="l"/>
                      <a:r>
                        <a:rPr sz="1000" b="0">
                          <a:solidFill>
                            <a:srgbClr val="000000"/>
                          </a:solidFill>
                          <a:latin typeface="Calibri"/>
                        </a:rPr>
                        <a:t>0.99×</a:t>
                      </a:r>
                    </a:p>
                  </a:txBody>
                  <a:tcPr/>
                </a:tc>
                <a:tc>
                  <a:txBody>
                    <a:bodyPr lIns="54864" rIns="54864" tIns="18288" bIns="18288" wrap="square" anchor="ctr"/>
                    <a:lstStyle/>
                    <a:p>
                      <a:pPr algn="l"/>
                      <a:r>
                        <a:rPr sz="1000" b="0">
                          <a:solidFill>
                            <a:srgbClr val="000000"/>
                          </a:solidFill>
                          <a:latin typeface="Calibri"/>
                        </a:rPr>
                        <a:t>≈0</a:t>
                      </a:r>
                    </a:p>
                  </a:txBody>
                  <a:tcPr/>
                </a:tc>
              </a:tr>
            </a:tbl>
          </a:graphicData>
        </a:graphic>
      </p:graphicFrame>
      <p:sp>
        <p:nvSpPr>
          <p:cNvPr id="7" name="TextBox 6"/>
          <p:cNvSpPr txBox="1"/>
          <p:nvPr/>
        </p:nvSpPr>
        <p:spPr>
          <a:xfrm>
            <a:off x="8321040" y="1207008"/>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means</a:t>
            </a:r>
          </a:p>
        </p:txBody>
      </p:sp>
      <p:sp>
        <p:nvSpPr>
          <p:cNvPr id="8" name="TextBox 7"/>
          <p:cNvSpPr txBox="1"/>
          <p:nvPr/>
        </p:nvSpPr>
        <p:spPr>
          <a:xfrm>
            <a:off x="8321040" y="1600200"/>
            <a:ext cx="3611880" cy="4114800"/>
          </a:xfrm>
          <a:prstGeom prst="rect">
            <a:avLst/>
          </a:prstGeom>
          <a:noFill/>
        </p:spPr>
        <p:txBody>
          <a:bodyPr wrap="square" lIns="45720" rIns="45720" tIns="18288" bIns="18288" anchor="t">
            <a:spAutoFit/>
          </a:bodyPr>
          <a:lstStyle/>
          <a:p>
            <a:pPr algn="l"/>
            <a:r>
              <a:rPr sz="1150" b="0" i="0">
                <a:solidFill>
                  <a:srgbClr val="000000"/>
                </a:solidFill>
                <a:latin typeface="Calibri"/>
              </a:rPr>
              <a:t>Strength scales ~2.1× — MORE than 2× for a 2× infill jump. The 50 % knock-down is NONLINEAR: 50 % infill bears &lt; 50 % of the solid load path.
• σ_y rises the most (2.35×) — 100 % yields near its UTS.
• 100 % is also ~2× MORE extensible (ε_f 0.050 vs 0.025) — tougher (4.6×), not only stronger.
• Gauge share ≈ the same (55 % vs 52 %) — 100 % just travels ~2× further (more force + more stretch).
• Rate, area, markers, preload all matched — the only variable is infill.</a:t>
            </a:r>
          </a:p>
        </p:txBody>
      </p:sp>
      <p:sp>
        <p:nvSpPr>
          <p:cNvPr id="9" name="Rectangle 8"/>
          <p:cNvSpPr/>
          <p:nvPr/>
        </p:nvSpPr>
        <p:spPr>
          <a:xfrm>
            <a:off x="8321040" y="5532120"/>
            <a:ext cx="361188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 2.1× strength, k: 1.45 → 1.0
(V6 = representative V6d)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V6 (n = 5): A SINGLE COMMON OFFSET FACTOR?</a:t>
            </a:r>
          </a:p>
        </p:txBody>
      </p:sp>
      <p:pic>
        <p:nvPicPr>
          <p:cNvPr id="5" name="Picture 4" descr="V6a_offset_window.png"/>
          <p:cNvPicPr>
            <a:picLocks noChangeAspect="1"/>
          </p:cNvPicPr>
          <p:nvPr/>
        </p:nvPicPr>
        <p:blipFill>
          <a:blip r:embed="rId2"/>
          <a:stretch>
            <a:fillRect/>
          </a:stretch>
        </p:blipFill>
        <p:spPr>
          <a:xfrm>
            <a:off x="320040" y="1508760"/>
            <a:ext cx="6858000" cy="3086291"/>
          </a:xfrm>
          <a:prstGeom prst="rect">
            <a:avLst/>
          </a:prstGeom>
        </p:spPr>
      </p:pic>
      <p:sp>
        <p:nvSpPr>
          <p:cNvPr id="6" name="TextBox 5"/>
          <p:cNvSpPr txBox="1"/>
          <p:nvPr/>
        </p:nvSpPr>
        <p:spPr>
          <a:xfrm>
            <a:off x="7315200" y="1261872"/>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Same interval method as V5 · from n = 5 mean</a:t>
            </a:r>
          </a:p>
        </p:txBody>
      </p:sp>
      <p:graphicFrame>
        <p:nvGraphicFramePr>
          <p:cNvPr id="7" name="Table 6"/>
          <p:cNvGraphicFramePr>
            <a:graphicFrameLocks noGrp="1"/>
          </p:cNvGraphicFramePr>
          <p:nvPr/>
        </p:nvGraphicFramePr>
        <p:xfrm>
          <a:off x="7315200" y="1645920"/>
          <a:ext cx="4572000" cy="2057400"/>
        </p:xfrm>
        <a:graphic>
          <a:graphicData uri="http://schemas.openxmlformats.org/drawingml/2006/table">
            <a:tbl>
              <a:tblPr firstRow="1" bandRow="1">
                <a:tableStyleId>{5C22544A-7EE6-4342-B048-85BDC9FD1C3A}</a:tableStyleId>
              </a:tblPr>
              <a:tblGrid>
                <a:gridCol w="2428875"/>
                <a:gridCol w="2143125"/>
              </a:tblGrid>
              <a:tr h="342900">
                <a:tc>
                  <a:txBody>
                    <a:bodyPr lIns="54864" rIns="54864" tIns="18288" bIns="18288" wrap="square" anchor="ctr"/>
                    <a:lstStyle/>
                    <a:p>
                      <a:pPr algn="l"/>
                      <a:r>
                        <a:rPr sz="1100" b="1">
                          <a:solidFill>
                            <a:srgbClr val="FFFFFF"/>
                          </a:solidFill>
                          <a:latin typeface="Calibri"/>
                        </a:rPr>
                        <a:t>Property</a:t>
                      </a:r>
                    </a:p>
                  </a:txBody>
                  <a:tcPr>
                    <a:solidFill>
                      <a:srgbClr val="143D2F"/>
                    </a:solidFill>
                  </a:tcPr>
                </a:tc>
                <a:tc>
                  <a:txBody>
                    <a:bodyPr lIns="54864" rIns="54864" tIns="18288" bIns="18288" wrap="square" anchor="ctr"/>
                    <a:lstStyle/>
                    <a:p>
                      <a:pPr algn="l"/>
                      <a:r>
                        <a:rPr sz="1100" b="1">
                          <a:solidFill>
                            <a:srgbClr val="FFFFFF"/>
                          </a:solidFill>
                          <a:latin typeface="Calibri"/>
                        </a:rPr>
                        <a:t>feasible k window</a:t>
                      </a:r>
                    </a:p>
                  </a:txBody>
                  <a:tcPr>
                    <a:solidFill>
                      <a:srgbClr val="143D2F"/>
                    </a:solidFill>
                  </a:tcPr>
                </a:tc>
              </a:tr>
              <a:tr h="342900">
                <a:tc>
                  <a:txBody>
                    <a:bodyPr lIns="54864" rIns="54864" tIns="18288" bIns="18288" wrap="square" anchor="ctr"/>
                    <a:lstStyle/>
                    <a:p>
                      <a:pPr algn="l"/>
                      <a:r>
                        <a:rPr sz="1150" b="0">
                          <a:solidFill>
                            <a:srgbClr val="000000"/>
                          </a:solidFill>
                          <a:latin typeface="Calibri"/>
                        </a:rPr>
                        <a:t>E</a:t>
                      </a:r>
                    </a:p>
                  </a:txBody>
                  <a:tcPr/>
                </a:tc>
                <a:tc>
                  <a:txBody>
                    <a:bodyPr lIns="54864" rIns="54864" tIns="18288" bIns="18288" wrap="square" anchor="ctr"/>
                    <a:lstStyle/>
                    <a:p>
                      <a:pPr algn="l"/>
                      <a:r>
                        <a:rPr sz="1150" b="0">
                          <a:solidFill>
                            <a:srgbClr val="000000"/>
                          </a:solidFill>
                          <a:latin typeface="Calibri"/>
                        </a:rPr>
                        <a:t>[1.15, 2.12]</a:t>
                      </a:r>
                    </a:p>
                  </a:txBody>
                  <a:tcPr/>
                </a:tc>
              </a:tr>
              <a:tr h="342900">
                <a:tc>
                  <a:txBody>
                    <a:bodyPr lIns="54864" rIns="54864" tIns="18288" bIns="18288" wrap="square" anchor="ctr"/>
                    <a:lstStyle/>
                    <a:p>
                      <a:pPr algn="l"/>
                      <a:r>
                        <a:rPr sz="1150" b="0">
                          <a:solidFill>
                            <a:srgbClr val="000000"/>
                          </a:solidFill>
                          <a:latin typeface="Calibri"/>
                        </a:rPr>
                        <a:t>σ_y</a:t>
                      </a:r>
                    </a:p>
                  </a:txBody>
                  <a:tcPr/>
                </a:tc>
                <a:tc>
                  <a:txBody>
                    <a:bodyPr lIns="54864" rIns="54864" tIns="18288" bIns="18288" wrap="square" anchor="ctr"/>
                    <a:lstStyle/>
                    <a:p>
                      <a:pPr algn="l"/>
                      <a:r>
                        <a:rPr sz="1150" b="0">
                          <a:solidFill>
                            <a:srgbClr val="000000"/>
                          </a:solidFill>
                          <a:latin typeface="Calibri"/>
                        </a:rPr>
                        <a:t>[0.67, 1.11]</a:t>
                      </a:r>
                    </a:p>
                  </a:txBody>
                  <a:tcPr/>
                </a:tc>
              </a:tr>
              <a:tr h="342900">
                <a:tc>
                  <a:txBody>
                    <a:bodyPr lIns="54864" rIns="54864" tIns="18288" bIns="18288" wrap="square" anchor="ctr"/>
                    <a:lstStyle/>
                    <a:p>
                      <a:pPr algn="l"/>
                      <a:r>
                        <a:rPr sz="1150" b="0">
                          <a:solidFill>
                            <a:srgbClr val="000000"/>
                          </a:solidFill>
                          <a:latin typeface="Calibri"/>
                        </a:rPr>
                        <a:t>UTS</a:t>
                      </a:r>
                    </a:p>
                  </a:txBody>
                  <a:tcPr/>
                </a:tc>
                <a:tc>
                  <a:txBody>
                    <a:bodyPr lIns="54864" rIns="54864" tIns="18288" bIns="18288" wrap="square" anchor="ctr"/>
                    <a:lstStyle/>
                    <a:p>
                      <a:pPr algn="l"/>
                      <a:r>
                        <a:rPr sz="1150" b="0">
                          <a:solidFill>
                            <a:srgbClr val="000000"/>
                          </a:solidFill>
                          <a:latin typeface="Calibri"/>
                        </a:rPr>
                        <a:t>[0.69, 1.30]</a:t>
                      </a:r>
                    </a:p>
                  </a:txBody>
                  <a:tcPr/>
                </a:tc>
              </a:tr>
              <a:tr h="342900">
                <a:tc>
                  <a:txBody>
                    <a:bodyPr lIns="54864" rIns="54864" tIns="18288" bIns="18288" wrap="square" anchor="ctr"/>
                    <a:lstStyle/>
                    <a:p>
                      <a:pPr algn="l"/>
                      <a:r>
                        <a:rPr sz="1150" b="1">
                          <a:solidFill>
                            <a:srgbClr val="000000"/>
                          </a:solidFill>
                          <a:latin typeface="Calibri"/>
                        </a:rPr>
                        <a:t>ALL three</a:t>
                      </a:r>
                    </a:p>
                  </a:txBody>
                  <a:tcPr>
                    <a:solidFill>
                      <a:srgbClr val="FFCDD2"/>
                    </a:solidFill>
                  </a:tcPr>
                </a:tc>
                <a:tc>
                  <a:txBody>
                    <a:bodyPr lIns="54864" rIns="54864" tIns="18288" bIns="18288" wrap="square" anchor="ctr"/>
                    <a:lstStyle/>
                    <a:p>
                      <a:pPr algn="l"/>
                      <a:r>
                        <a:rPr sz="1150" b="1">
                          <a:solidFill>
                            <a:srgbClr val="000000"/>
                          </a:solidFill>
                          <a:latin typeface="Calibri"/>
                        </a:rPr>
                        <a:t>∅  empty</a:t>
                      </a:r>
                    </a:p>
                  </a:txBody>
                  <a:tcPr>
                    <a:solidFill>
                      <a:srgbClr val="FFCDD2"/>
                    </a:solidFill>
                  </a:tcPr>
                </a:tc>
              </a:tr>
              <a:tr h="342900">
                <a:tc>
                  <a:txBody>
                    <a:bodyPr lIns="54864" rIns="54864" tIns="18288" bIns="18288" wrap="square" anchor="ctr"/>
                    <a:lstStyle/>
                    <a:p>
                      <a:pPr algn="l"/>
                      <a:r>
                        <a:rPr sz="1150" b="1">
                          <a:solidFill>
                            <a:srgbClr val="000000"/>
                          </a:solidFill>
                          <a:latin typeface="Calibri"/>
                        </a:rPr>
                        <a:t>Strength σ_y + UTS</a:t>
                      </a:r>
                    </a:p>
                  </a:txBody>
                  <a:tcPr>
                    <a:solidFill>
                      <a:srgbClr val="C8E6C9"/>
                    </a:solidFill>
                  </a:tcPr>
                </a:tc>
                <a:tc>
                  <a:txBody>
                    <a:bodyPr lIns="54864" rIns="54864" tIns="18288" bIns="18288" wrap="square" anchor="ctr"/>
                    <a:lstStyle/>
                    <a:p>
                      <a:pPr algn="l"/>
                      <a:r>
                        <a:rPr sz="1150" b="1">
                          <a:solidFill>
                            <a:srgbClr val="000000"/>
                          </a:solidFill>
                          <a:latin typeface="Calibri"/>
                        </a:rPr>
                        <a:t>[0.69, 1.11]</a:t>
                      </a:r>
                    </a:p>
                  </a:txBody>
                  <a:tcPr>
                    <a:solidFill>
                      <a:srgbClr val="C8E6C9"/>
                    </a:solidFill>
                  </a:tcPr>
                </a:tc>
              </a:tr>
            </a:tbl>
          </a:graphicData>
        </a:graphic>
      </p:graphicFrame>
      <p:sp>
        <p:nvSpPr>
          <p:cNvPr id="8" name="TextBox 7"/>
          <p:cNvSpPr txBox="1"/>
          <p:nvPr/>
        </p:nvSpPr>
        <p:spPr>
          <a:xfrm>
            <a:off x="7315200" y="3886200"/>
            <a:ext cx="4572000" cy="1005840"/>
          </a:xfrm>
          <a:prstGeom prst="rect">
            <a:avLst/>
          </a:prstGeom>
          <a:noFill/>
        </p:spPr>
        <p:txBody>
          <a:bodyPr wrap="square" lIns="45720" rIns="45720" tIns="18288" bIns="18288" anchor="t">
            <a:spAutoFit/>
          </a:bodyPr>
          <a:lstStyle/>
          <a:p>
            <a:pPr algn="l"/>
            <a:r>
              <a:rPr sz="1150" b="0" i="1">
                <a:solidFill>
                  <a:srgbClr val="707070"/>
                </a:solidFill>
                <a:latin typeface="Calibri"/>
              </a:rPr>
              <a:t>k window per property = [Chacón_lo / measured, Chacón_hi / measured]; a single uniform k must lie in the intersection of all three.</a:t>
            </a:r>
          </a:p>
        </p:txBody>
      </p:sp>
      <p:sp>
        <p:nvSpPr>
          <p:cNvPr id="9" name="Rectangle 8"/>
          <p:cNvSpPr/>
          <p:nvPr/>
        </p:nvSpPr>
        <p:spPr>
          <a:xfrm>
            <a:off x="457200" y="5074920"/>
            <a:ext cx="1133856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STRENGTH: a single uniform factor works — k ∈ [0.69, 1.11] and k = 1 sits inside it ⇒ apply k = 1.0 (no knock-down) to σ_y and UTS at 100 % infill.</a:t>
            </a:r>
          </a:p>
        </p:txBody>
      </p:sp>
      <p:sp>
        <p:nvSpPr>
          <p:cNvPr id="10" name="Rectangle 9"/>
          <p:cNvSpPr/>
          <p:nvPr/>
        </p:nvSpPr>
        <p:spPr>
          <a:xfrm>
            <a:off x="457200" y="5760720"/>
            <a:ext cx="11338560" cy="56692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No single ALL-property k: E reads ~13 % low (needs k ≥ 1.15) while in-range σ_y caps k ≤ 1.11 → they pull opposite ways, but only by 0.04. Treat E separately.   (Contrast V5: a common k ≈ 2.4 existed.)</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(n = 5): VALIDATION — add:north PLA REFERENCE</a:t>
            </a:r>
          </a:p>
        </p:txBody>
      </p:sp>
      <p:sp>
        <p:nvSpPr>
          <p:cNvPr id="5" name="TextBox 4"/>
          <p:cNvSpPr txBox="1"/>
          <p:nvPr/>
        </p:nvSpPr>
        <p:spPr>
          <a:xfrm>
            <a:off x="365760" y="1188720"/>
            <a:ext cx="6949440" cy="365760"/>
          </a:xfrm>
          <a:prstGeom prst="rect">
            <a:avLst/>
          </a:prstGeom>
          <a:noFill/>
        </p:spPr>
        <p:txBody>
          <a:bodyPr wrap="square" lIns="45720" rIns="45720" tIns="18288" bIns="18288" anchor="t">
            <a:spAutoFit/>
          </a:bodyPr>
          <a:lstStyle/>
          <a:p>
            <a:pPr algn="l"/>
            <a:r>
              <a:rPr sz="1600" b="0" i="0">
                <a:solidFill>
                  <a:srgbClr val="707070"/>
                </a:solidFill>
                <a:latin typeface="Calibri"/>
              </a:rPr>
              <a:t>add:north E-PLA datasheet (ISO 527 / 178) vs measured n = 5 mean — k = spec / measured</a:t>
            </a:r>
          </a:p>
        </p:txBody>
      </p:sp>
      <p:graphicFrame>
        <p:nvGraphicFramePr>
          <p:cNvPr id="6" name="Table 5"/>
          <p:cNvGraphicFramePr>
            <a:graphicFrameLocks noGrp="1"/>
          </p:cNvGraphicFramePr>
          <p:nvPr/>
        </p:nvGraphicFramePr>
        <p:xfrm>
          <a:off x="365760" y="1572768"/>
          <a:ext cx="6949436" cy="2240280"/>
        </p:xfrm>
        <a:graphic>
          <a:graphicData uri="http://schemas.openxmlformats.org/drawingml/2006/table">
            <a:tbl>
              <a:tblPr firstRow="1" bandRow="1">
                <a:tableStyleId>{5C22544A-7EE6-4342-B048-85BDC9FD1C3A}</a:tableStyleId>
              </a:tblPr>
              <a:tblGrid>
                <a:gridCol w="2203480"/>
                <a:gridCol w="621494"/>
                <a:gridCol w="1412487"/>
                <a:gridCol w="1355988"/>
                <a:gridCol w="621494"/>
                <a:gridCol w="734493"/>
              </a:tblGrid>
              <a:tr h="320040">
                <a:tc>
                  <a:txBody>
                    <a:bodyPr lIns="54864" rIns="54864" tIns="18288" bIns="18288" wrap="square" anchor="ctr"/>
                    <a:lstStyle/>
                    <a:p>
                      <a:pPr algn="l"/>
                      <a:r>
                        <a:rPr sz="1000" b="1">
                          <a:solidFill>
                            <a:srgbClr val="FFFFFF"/>
                          </a:solidFill>
                          <a:latin typeface="Calibri"/>
                        </a:rPr>
                        <a:t>Property</a:t>
                      </a:r>
                    </a:p>
                  </a:txBody>
                  <a:tcPr>
                    <a:solidFill>
                      <a:srgbClr val="143D2F"/>
                    </a:solidFill>
                  </a:tcPr>
                </a:tc>
                <a:tc>
                  <a:txBody>
                    <a:bodyPr lIns="54864" rIns="54864" tIns="18288" bIns="18288" wrap="square" anchor="ctr"/>
                    <a:lstStyle/>
                    <a:p>
                      <a:pPr algn="l"/>
                      <a:r>
                        <a:rPr sz="1000" b="1">
                          <a:solidFill>
                            <a:srgbClr val="FFFFFF"/>
                          </a:solidFill>
                          <a:latin typeface="Calibri"/>
                        </a:rPr>
                        <a:t>ISO</a:t>
                      </a:r>
                    </a:p>
                  </a:txBody>
                  <a:tcPr>
                    <a:solidFill>
                      <a:srgbClr val="143D2F"/>
                    </a:solidFill>
                  </a:tcPr>
                </a:tc>
                <a:tc>
                  <a:txBody>
                    <a:bodyPr lIns="54864" rIns="54864" tIns="18288" bIns="18288" wrap="square" anchor="ctr"/>
                    <a:lstStyle/>
                    <a:p>
                      <a:pPr algn="l"/>
                      <a:r>
                        <a:rPr sz="1000" b="1">
                          <a:solidFill>
                            <a:srgbClr val="FFFFFF"/>
                          </a:solidFill>
                          <a:latin typeface="Calibri"/>
                        </a:rPr>
                        <a:t>E-PLA spec</a:t>
                      </a:r>
                    </a:p>
                  </a:txBody>
                  <a:tcPr>
                    <a:solidFill>
                      <a:srgbClr val="143D2F"/>
                    </a:solidFill>
                  </a:tcPr>
                </a:tc>
                <a:tc>
                  <a:txBody>
                    <a:bodyPr lIns="54864" rIns="54864" tIns="18288" bIns="18288" wrap="square" anchor="ctr"/>
                    <a:lstStyle/>
                    <a:p>
                      <a:pPr algn="l"/>
                      <a:r>
                        <a:rPr sz="1000" b="1">
                          <a:solidFill>
                            <a:srgbClr val="FFFFFF"/>
                          </a:solidFill>
                          <a:latin typeface="Calibri"/>
                        </a:rPr>
                        <a:t>V6 (n=5)</a:t>
                      </a:r>
                    </a:p>
                  </a:txBody>
                  <a:tcPr>
                    <a:solidFill>
                      <a:srgbClr val="143D2F"/>
                    </a:solidFill>
                  </a:tcPr>
                </a:tc>
                <a:tc>
                  <a:txBody>
                    <a:bodyPr lIns="54864" rIns="54864" tIns="18288" bIns="18288" wrap="square" anchor="ctr"/>
                    <a:lstStyle/>
                    <a:p>
                      <a:pPr algn="l"/>
                      <a:r>
                        <a:rPr sz="1000" b="1">
                          <a:solidFill>
                            <a:srgbClr val="FFFFFF"/>
                          </a:solidFill>
                          <a:latin typeface="Calibri"/>
                        </a:rPr>
                        <a:t>k</a:t>
                      </a:r>
                    </a:p>
                  </a:txBody>
                  <a:tcPr>
                    <a:solidFill>
                      <a:srgbClr val="143D2F"/>
                    </a:solidFill>
                  </a:tcPr>
                </a:tc>
                <a:tc>
                  <a:txBody>
                    <a:bodyPr lIns="54864" rIns="54864" tIns="18288" bIns="18288" wrap="square" anchor="ctr"/>
                    <a:lstStyle/>
                    <a:p>
                      <a:pPr algn="l"/>
                      <a:r>
                        <a:rPr sz="1000" b="1">
                          <a:solidFill>
                            <a:srgbClr val="FFFFFF"/>
                          </a:solidFill>
                          <a:latin typeface="Calibri"/>
                        </a:rPr>
                        <a:t>retain</a:t>
                      </a:r>
                    </a:p>
                  </a:txBody>
                  <a:tcPr>
                    <a:solidFill>
                      <a:srgbClr val="143D2F"/>
                    </a:solidFill>
                  </a:tcPr>
                </a:tc>
              </a:tr>
              <a:tr h="320040">
                <a:tc>
                  <a:txBody>
                    <a:bodyPr lIns="54864" rIns="54864" tIns="18288" bIns="18288" wrap="square" anchor="ctr"/>
                    <a:lstStyle/>
                    <a:p>
                      <a:pPr algn="l"/>
                      <a:r>
                        <a:rPr sz="1000" b="1">
                          <a:solidFill>
                            <a:srgbClr val="000000"/>
                          </a:solidFill>
                          <a:latin typeface="Calibri"/>
                        </a:rPr>
                        <a:t>Yield strength σ_y</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58 MPa †</a:t>
                      </a:r>
                    </a:p>
                  </a:txBody>
                  <a:tcPr>
                    <a:solidFill>
                      <a:srgbClr val="C8E6C9"/>
                    </a:solidFill>
                  </a:tcPr>
                </a:tc>
                <a:tc>
                  <a:txBody>
                    <a:bodyPr lIns="54864" rIns="54864" tIns="18288" bIns="18288" wrap="square" anchor="ctr"/>
                    <a:lstStyle/>
                    <a:p>
                      <a:pPr algn="l"/>
                      <a:r>
                        <a:rPr sz="1000" b="0">
                          <a:solidFill>
                            <a:srgbClr val="000000"/>
                          </a:solidFill>
                          <a:latin typeface="Calibri"/>
                        </a:rPr>
                        <a:t>45.0 MPa</a:t>
                      </a:r>
                    </a:p>
                  </a:txBody>
                  <a:tcPr>
                    <a:solidFill>
                      <a:srgbClr val="C8E6C9"/>
                    </a:solidFill>
                  </a:tcPr>
                </a:tc>
                <a:tc>
                  <a:txBody>
                    <a:bodyPr lIns="54864" rIns="54864" tIns="18288" bIns="18288" wrap="square" anchor="ctr"/>
                    <a:lstStyle/>
                    <a:p>
                      <a:pPr algn="l"/>
                      <a:r>
                        <a:rPr sz="1000" b="1">
                          <a:solidFill>
                            <a:srgbClr val="000000"/>
                          </a:solidFill>
                          <a:latin typeface="Calibri"/>
                        </a:rPr>
                        <a:t>1.29</a:t>
                      </a:r>
                    </a:p>
                  </a:txBody>
                  <a:tcPr>
                    <a:solidFill>
                      <a:srgbClr val="C8E6C9"/>
                    </a:solidFill>
                  </a:tcPr>
                </a:tc>
                <a:tc>
                  <a:txBody>
                    <a:bodyPr lIns="54864" rIns="54864" tIns="18288" bIns="18288" wrap="square" anchor="ctr"/>
                    <a:lstStyle/>
                    <a:p>
                      <a:pPr algn="l"/>
                      <a:r>
                        <a:rPr sz="1000" b="0">
                          <a:solidFill>
                            <a:srgbClr val="000000"/>
                          </a:solidFill>
                          <a:latin typeface="Calibri"/>
                        </a:rPr>
                        <a:t>78 %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Tensile strength (UTS)</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58 MPa</a:t>
                      </a:r>
                    </a:p>
                  </a:txBody>
                  <a:tcPr>
                    <a:solidFill>
                      <a:srgbClr val="C8E6C9"/>
                    </a:solidFill>
                  </a:tcPr>
                </a:tc>
                <a:tc>
                  <a:txBody>
                    <a:bodyPr lIns="54864" rIns="54864" tIns="18288" bIns="18288" wrap="square" anchor="ctr"/>
                    <a:lstStyle/>
                    <a:p>
                      <a:pPr algn="l"/>
                      <a:r>
                        <a:rPr sz="1000" b="0">
                          <a:solidFill>
                            <a:srgbClr val="000000"/>
                          </a:solidFill>
                          <a:latin typeface="Calibri"/>
                        </a:rPr>
                        <a:t>46.2 MPa</a:t>
                      </a:r>
                    </a:p>
                  </a:txBody>
                  <a:tcPr>
                    <a:solidFill>
                      <a:srgbClr val="C8E6C9"/>
                    </a:solidFill>
                  </a:tcPr>
                </a:tc>
                <a:tc>
                  <a:txBody>
                    <a:bodyPr lIns="54864" rIns="54864" tIns="18288" bIns="18288" wrap="square" anchor="ctr"/>
                    <a:lstStyle/>
                    <a:p>
                      <a:pPr algn="l"/>
                      <a:r>
                        <a:rPr sz="1000" b="1">
                          <a:solidFill>
                            <a:srgbClr val="000000"/>
                          </a:solidFill>
                          <a:latin typeface="Calibri"/>
                        </a:rPr>
                        <a:t>1.26</a:t>
                      </a:r>
                    </a:p>
                  </a:txBody>
                  <a:tcPr>
                    <a:solidFill>
                      <a:srgbClr val="C8E6C9"/>
                    </a:solidFill>
                  </a:tcPr>
                </a:tc>
                <a:tc>
                  <a:txBody>
                    <a:bodyPr lIns="54864" rIns="54864" tIns="18288" bIns="18288" wrap="square" anchor="ctr"/>
                    <a:lstStyle/>
                    <a:p>
                      <a:pPr algn="l"/>
                      <a:r>
                        <a:rPr sz="1000" b="0">
                          <a:solidFill>
                            <a:srgbClr val="000000"/>
                          </a:solidFill>
                          <a:latin typeface="Calibri"/>
                        </a:rPr>
                        <a:t>80 %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Tensile modulus E</a:t>
                      </a:r>
                    </a:p>
                  </a:txBody>
                  <a:tcPr>
                    <a:solidFill>
                      <a:srgbClr val="C8E6C9"/>
                    </a:solidFill>
                  </a:tcPr>
                </a:tc>
                <a:tc>
                  <a:txBody>
                    <a:bodyPr lIns="54864" rIns="54864" tIns="18288" bIns="18288" wrap="square" anchor="ctr"/>
                    <a:lstStyle/>
                    <a:p>
                      <a:pPr algn="l"/>
                      <a:r>
                        <a:rPr sz="1000" b="0">
                          <a:solidFill>
                            <a:srgbClr val="000000"/>
                          </a:solidFill>
                          <a:latin typeface="Calibri"/>
                        </a:rPr>
                        <a:t>527</a:t>
                      </a:r>
                    </a:p>
                  </a:txBody>
                  <a:tcPr>
                    <a:solidFill>
                      <a:srgbClr val="C8E6C9"/>
                    </a:solidFill>
                  </a:tcPr>
                </a:tc>
                <a:tc>
                  <a:txBody>
                    <a:bodyPr lIns="54864" rIns="54864" tIns="18288" bIns="18288" wrap="square" anchor="ctr"/>
                    <a:lstStyle/>
                    <a:p>
                      <a:pPr algn="l"/>
                      <a:r>
                        <a:rPr sz="1000" b="0">
                          <a:solidFill>
                            <a:srgbClr val="000000"/>
                          </a:solidFill>
                          <a:latin typeface="Calibri"/>
                        </a:rPr>
                        <a:t>2.87 GPa</a:t>
                      </a:r>
                    </a:p>
                  </a:txBody>
                  <a:tcPr>
                    <a:solidFill>
                      <a:srgbClr val="C8E6C9"/>
                    </a:solidFill>
                  </a:tcPr>
                </a:tc>
                <a:tc>
                  <a:txBody>
                    <a:bodyPr lIns="54864" rIns="54864" tIns="18288" bIns="18288" wrap="square" anchor="ctr"/>
                    <a:lstStyle/>
                    <a:p>
                      <a:pPr algn="l"/>
                      <a:r>
                        <a:rPr sz="1000" b="0">
                          <a:solidFill>
                            <a:srgbClr val="000000"/>
                          </a:solidFill>
                          <a:latin typeface="Calibri"/>
                        </a:rPr>
                        <a:t>2.60 GPa</a:t>
                      </a:r>
                    </a:p>
                  </a:txBody>
                  <a:tcPr>
                    <a:solidFill>
                      <a:srgbClr val="C8E6C9"/>
                    </a:solidFill>
                  </a:tcPr>
                </a:tc>
                <a:tc>
                  <a:txBody>
                    <a:bodyPr lIns="54864" rIns="54864" tIns="18288" bIns="18288" wrap="square" anchor="ctr"/>
                    <a:lstStyle/>
                    <a:p>
                      <a:pPr algn="l"/>
                      <a:r>
                        <a:rPr sz="1000" b="1">
                          <a:solidFill>
                            <a:srgbClr val="000000"/>
                          </a:solidFill>
                          <a:latin typeface="Calibri"/>
                        </a:rPr>
                        <a:t>1.10</a:t>
                      </a:r>
                    </a:p>
                  </a:txBody>
                  <a:tcPr>
                    <a:solidFill>
                      <a:srgbClr val="C8E6C9"/>
                    </a:solidFill>
                  </a:tcPr>
                </a:tc>
                <a:tc>
                  <a:txBody>
                    <a:bodyPr lIns="54864" rIns="54864" tIns="18288" bIns="18288" wrap="square" anchor="ctr"/>
                    <a:lstStyle/>
                    <a:p>
                      <a:pPr algn="l"/>
                      <a:r>
                        <a:rPr sz="1000" b="0">
                          <a:solidFill>
                            <a:srgbClr val="000000"/>
                          </a:solidFill>
                          <a:latin typeface="Calibri"/>
                        </a:rPr>
                        <a:t>91 %</a:t>
                      </a:r>
                    </a:p>
                  </a:txBody>
                  <a:tcPr>
                    <a:solidFill>
                      <a:srgbClr val="C8E6C9"/>
                    </a:solidFill>
                  </a:tcPr>
                </a:tc>
              </a:tr>
              <a:tr h="320040">
                <a:tc>
                  <a:txBody>
                    <a:bodyPr lIns="54864" rIns="54864" tIns="18288" bIns="18288" wrap="square" anchor="ctr"/>
                    <a:lstStyle/>
                    <a:p>
                      <a:pPr algn="l"/>
                      <a:r>
                        <a:rPr sz="1000" b="1">
                          <a:solidFill>
                            <a:srgbClr val="000000"/>
                          </a:solidFill>
                          <a:latin typeface="Calibri"/>
                        </a:rPr>
                        <a:t>Elongation @ break</a:t>
                      </a:r>
                    </a:p>
                  </a:txBody>
                  <a:tcPr>
                    <a:solidFill>
                      <a:srgbClr val="FFF3CD"/>
                    </a:solidFill>
                  </a:tcPr>
                </a:tc>
                <a:tc>
                  <a:txBody>
                    <a:bodyPr lIns="54864" rIns="54864" tIns="18288" bIns="18288" wrap="square" anchor="ctr"/>
                    <a:lstStyle/>
                    <a:p>
                      <a:pPr algn="l"/>
                      <a:r>
                        <a:rPr sz="1000" b="0">
                          <a:solidFill>
                            <a:srgbClr val="000000"/>
                          </a:solidFill>
                          <a:latin typeface="Calibri"/>
                        </a:rPr>
                        <a:t>527</a:t>
                      </a:r>
                    </a:p>
                  </a:txBody>
                  <a:tcPr>
                    <a:solidFill>
                      <a:srgbClr val="FFF3CD"/>
                    </a:solidFill>
                  </a:tcPr>
                </a:tc>
                <a:tc>
                  <a:txBody>
                    <a:bodyPr lIns="54864" rIns="54864" tIns="18288" bIns="18288" wrap="square" anchor="ctr"/>
                    <a:lstStyle/>
                    <a:p>
                      <a:pPr algn="l"/>
                      <a:r>
                        <a:rPr sz="1000" b="0">
                          <a:solidFill>
                            <a:srgbClr val="000000"/>
                          </a:solidFill>
                          <a:latin typeface="Calibri"/>
                        </a:rPr>
                        <a:t>8 %</a:t>
                      </a:r>
                    </a:p>
                  </a:txBody>
                  <a:tcPr>
                    <a:solidFill>
                      <a:srgbClr val="FFF3CD"/>
                    </a:solidFill>
                  </a:tcPr>
                </a:tc>
                <a:tc>
                  <a:txBody>
                    <a:bodyPr lIns="54864" rIns="54864" tIns="18288" bIns="18288" wrap="square" anchor="ctr"/>
                    <a:lstStyle/>
                    <a:p>
                      <a:pPr algn="l"/>
                      <a:r>
                        <a:rPr sz="1000" b="0">
                          <a:solidFill>
                            <a:srgbClr val="000000"/>
                          </a:solidFill>
                          <a:latin typeface="Calibri"/>
                        </a:rPr>
                        <a:t>3–7 %</a:t>
                      </a:r>
                    </a:p>
                  </a:txBody>
                  <a:tcPr>
                    <a:solidFill>
                      <a:srgbClr val="FFF3CD"/>
                    </a:solidFill>
                  </a:tcPr>
                </a:tc>
                <a:tc>
                  <a:txBody>
                    <a:bodyPr lIns="54864" rIns="54864" tIns="18288" bIns="18288" wrap="square" anchor="ctr"/>
                    <a:lstStyle/>
                    <a:p>
                      <a:pPr algn="l"/>
                      <a:r>
                        <a:rPr sz="1000" b="1">
                          <a:solidFill>
                            <a:srgbClr val="000000"/>
                          </a:solidFill>
                          <a:latin typeface="Calibri"/>
                        </a:rPr>
                        <a:t>1.1–2.7</a:t>
                      </a:r>
                    </a:p>
                  </a:txBody>
                  <a:tcPr>
                    <a:solidFill>
                      <a:srgbClr val="FFF3CD"/>
                    </a:solidFill>
                  </a:tcPr>
                </a:tc>
                <a:tc>
                  <a:txBody>
                    <a:bodyPr lIns="54864" rIns="54864" tIns="18288" bIns="18288" wrap="square" anchor="ctr"/>
                    <a:lstStyle/>
                    <a:p>
                      <a:pPr algn="l"/>
                      <a:r>
                        <a:rPr sz="1000" b="0">
                          <a:solidFill>
                            <a:srgbClr val="000000"/>
                          </a:solidFill>
                          <a:latin typeface="Calibri"/>
                        </a:rPr>
                        <a:t>37–93 %</a:t>
                      </a:r>
                    </a:p>
                  </a:txBody>
                  <a:tcPr>
                    <a:solidFill>
                      <a:srgbClr val="FFF3CD"/>
                    </a:solidFill>
                  </a:tcPr>
                </a:tc>
              </a:tr>
              <a:tr h="320040">
                <a:tc>
                  <a:txBody>
                    <a:bodyPr lIns="54864" rIns="54864" tIns="18288" bIns="18288" wrap="square" anchor="ctr"/>
                    <a:lstStyle/>
                    <a:p>
                      <a:pPr algn="l"/>
                      <a:r>
                        <a:rPr sz="1000" b="0">
                          <a:solidFill>
                            <a:srgbClr val="000000"/>
                          </a:solidFill>
                          <a:latin typeface="Calibri"/>
                        </a:rPr>
                        <a:t>Flexural strength</a:t>
                      </a:r>
                    </a:p>
                  </a:txBody>
                  <a:tcPr/>
                </a:tc>
                <a:tc>
                  <a:txBody>
                    <a:bodyPr lIns="54864" rIns="54864" tIns="18288" bIns="18288" wrap="square" anchor="ctr"/>
                    <a:lstStyle/>
                    <a:p>
                      <a:pPr algn="l"/>
                      <a:r>
                        <a:rPr sz="1000" b="0">
                          <a:solidFill>
                            <a:srgbClr val="000000"/>
                          </a:solidFill>
                          <a:latin typeface="Calibri"/>
                        </a:rPr>
                        <a:t>178</a:t>
                      </a:r>
                    </a:p>
                  </a:txBody>
                  <a:tcPr/>
                </a:tc>
                <a:tc>
                  <a:txBody>
                    <a:bodyPr lIns="54864" rIns="54864" tIns="18288" bIns="18288" wrap="square" anchor="ctr"/>
                    <a:lstStyle/>
                    <a:p>
                      <a:pPr algn="l"/>
                      <a:r>
                        <a:rPr sz="1000" b="0">
                          <a:solidFill>
                            <a:srgbClr val="000000"/>
                          </a:solidFill>
                          <a:latin typeface="Calibri"/>
                        </a:rPr>
                        <a:t>120 MPa</a:t>
                      </a:r>
                    </a:p>
                  </a:txBody>
                  <a:tcPr/>
                </a:tc>
                <a:tc>
                  <a:txBody>
                    <a:bodyPr lIns="54864" rIns="54864" tIns="18288" bIns="18288" wrap="square" anchor="ctr"/>
                    <a:lstStyle/>
                    <a:p>
                      <a:pPr algn="l"/>
                      <a:r>
                        <a:rPr sz="1000" b="0">
                          <a:solidFill>
                            <a:srgbClr val="000000"/>
                          </a:solidFill>
                          <a:latin typeface="Calibri"/>
                        </a:rPr>
                        <a:t>not tested</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r>
              <a:tr h="320040">
                <a:tc>
                  <a:txBody>
                    <a:bodyPr lIns="54864" rIns="54864" tIns="18288" bIns="18288" wrap="square" anchor="ctr"/>
                    <a:lstStyle/>
                    <a:p>
                      <a:pPr algn="l"/>
                      <a:r>
                        <a:rPr sz="1000" b="0">
                          <a:solidFill>
                            <a:srgbClr val="000000"/>
                          </a:solidFill>
                          <a:latin typeface="Calibri"/>
                        </a:rPr>
                        <a:t>Density / HDT</a:t>
                      </a:r>
                    </a:p>
                  </a:txBody>
                  <a:tcPr/>
                </a:tc>
                <a:tc>
                  <a:txBody>
                    <a:bodyPr lIns="54864" rIns="54864" tIns="18288" bIns="18288" wrap="square" anchor="ctr"/>
                    <a:lstStyle/>
                    <a:p>
                      <a:pPr algn="l"/>
                      <a:r>
                        <a:rPr sz="1000" b="0">
                          <a:solidFill>
                            <a:srgbClr val="000000"/>
                          </a:solidFill>
                          <a:latin typeface="Calibri"/>
                        </a:rPr>
                        <a:t>527/75</a:t>
                      </a:r>
                    </a:p>
                  </a:txBody>
                  <a:tcPr/>
                </a:tc>
                <a:tc>
                  <a:txBody>
                    <a:bodyPr lIns="54864" rIns="54864" tIns="18288" bIns="18288" wrap="square" anchor="ctr"/>
                    <a:lstStyle/>
                    <a:p>
                      <a:pPr algn="l"/>
                      <a:r>
                        <a:rPr sz="1000" b="0">
                          <a:solidFill>
                            <a:srgbClr val="000000"/>
                          </a:solidFill>
                          <a:latin typeface="Calibri"/>
                        </a:rPr>
                        <a:t>1.24 / 55 °C</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c>
                  <a:txBody>
                    <a:bodyPr lIns="54864" rIns="54864" tIns="18288" bIns="18288" wrap="square" anchor="ctr"/>
                    <a:lstStyle/>
                    <a:p>
                      <a:pPr algn="l"/>
                      <a:r>
                        <a:rPr sz="1000" b="0">
                          <a:solidFill>
                            <a:srgbClr val="000000"/>
                          </a:solidFill>
                          <a:latin typeface="Calibri"/>
                        </a:rPr>
                        <a:t>—</a:t>
                      </a:r>
                    </a:p>
                  </a:txBody>
                  <a:tcPr/>
                </a:tc>
              </a:tr>
            </a:tbl>
          </a:graphicData>
        </a:graphic>
      </p:graphicFrame>
      <p:pic>
        <p:nvPicPr>
          <p:cNvPr id="7" name="Picture 6" descr="V6a_epla_offset.png"/>
          <p:cNvPicPr>
            <a:picLocks noChangeAspect="1"/>
          </p:cNvPicPr>
          <p:nvPr/>
        </p:nvPicPr>
        <p:blipFill>
          <a:blip r:embed="rId2"/>
          <a:stretch>
            <a:fillRect/>
          </a:stretch>
        </p:blipFill>
        <p:spPr>
          <a:xfrm>
            <a:off x="7360920" y="1280160"/>
            <a:ext cx="4617720" cy="3171803"/>
          </a:xfrm>
          <a:prstGeom prst="rect">
            <a:avLst/>
          </a:prstGeom>
        </p:spPr>
      </p:pic>
      <p:sp>
        <p:nvSpPr>
          <p:cNvPr id="8" name="TextBox 7"/>
          <p:cNvSpPr txBox="1"/>
          <p:nvPr/>
        </p:nvSpPr>
        <p:spPr>
          <a:xfrm>
            <a:off x="7360920" y="4572000"/>
            <a:ext cx="4617720" cy="274320"/>
          </a:xfrm>
          <a:prstGeom prst="rect">
            <a:avLst/>
          </a:prstGeom>
          <a:noFill/>
        </p:spPr>
        <p:txBody>
          <a:bodyPr wrap="square">
            <a:spAutoFit/>
          </a:bodyPr>
          <a:lstStyle/>
          <a:p>
            <a:r>
              <a:rPr sz="1100" u="sng">
                <a:solidFill>
                  <a:srgbClr val="1A5FB4"/>
                </a:solidFill>
                <a:latin typeface="Calibri"/>
                <a:hlinkClick r:id="rId3"/>
              </a:rPr>
              <a:t>Spec sheet — add:north E-PLA TDS (PDF, ISO 527 / 178)</a:t>
            </a:r>
          </a:p>
        </p:txBody>
      </p:sp>
      <p:sp>
        <p:nvSpPr>
          <p:cNvPr id="9" name="TextBox 8"/>
          <p:cNvSpPr txBox="1"/>
          <p:nvPr/>
        </p:nvSpPr>
        <p:spPr>
          <a:xfrm>
            <a:off x="7360920" y="4864608"/>
            <a:ext cx="4617720" cy="274320"/>
          </a:xfrm>
          <a:prstGeom prst="rect">
            <a:avLst/>
          </a:prstGeom>
          <a:noFill/>
        </p:spPr>
        <p:txBody>
          <a:bodyPr wrap="square">
            <a:spAutoFit/>
          </a:bodyPr>
          <a:lstStyle/>
          <a:p>
            <a:r>
              <a:rPr sz="1100" u="sng">
                <a:solidFill>
                  <a:srgbClr val="1A5FB4"/>
                </a:solidFill>
                <a:latin typeface="Calibri"/>
                <a:hlinkClick r:id="rId4"/>
              </a:rPr>
              <a:t>add:north PLA Economy — product page</a:t>
            </a:r>
          </a:p>
        </p:txBody>
      </p:sp>
      <p:sp>
        <p:nvSpPr>
          <p:cNvPr id="10" name="TextBox 9"/>
          <p:cNvSpPr txBox="1"/>
          <p:nvPr/>
        </p:nvSpPr>
        <p:spPr>
          <a:xfrm>
            <a:off x="365760" y="3931920"/>
            <a:ext cx="6949440" cy="1417320"/>
          </a:xfrm>
          <a:prstGeom prst="rect">
            <a:avLst/>
          </a:prstGeom>
          <a:noFill/>
        </p:spPr>
        <p:txBody>
          <a:bodyPr wrap="square" lIns="45720" rIns="45720" tIns="18288" bIns="18288" anchor="t">
            <a:spAutoFit/>
          </a:bodyPr>
          <a:lstStyle/>
          <a:p>
            <a:pPr algn="l"/>
            <a:r>
              <a:rPr sz="1150" b="0" i="0">
                <a:solidFill>
                  <a:srgbClr val="000000"/>
                </a:solidFill>
                <a:latin typeface="Calibri"/>
              </a:rPr>
              <a:t>Validated against TWO references:
• Journal (Chacón 2017): σ_y &amp; UTS land INSIDE the range (pass); modulus just below floor.
• add:north E-PLA datasheet: strength ≈ 80 % of rated (k ≈ 1.26); stiffness ≈ 91 % (k ≈ 1.10, near spec) — E is CLOSER to spec than strength, so NOT one common factor. Repeatable at CV 2.5 % (n = 5).</a:t>
            </a:r>
          </a:p>
        </p:txBody>
      </p:sp>
      <p:sp>
        <p:nvSpPr>
          <p:cNvPr id="11" name="Rectangle 10"/>
          <p:cNvSpPr/>
          <p:nvPr/>
        </p:nvSpPr>
        <p:spPr>
          <a:xfrm>
            <a:off x="365760" y="5486400"/>
            <a:ext cx="11612880" cy="5486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Closest match = add:north E-PLA datasheet: strength k ≈ 1.26 (80 % of rated), stiffness k ≈ 1.10 (91 %, near spec). Predict printed strength ≈ spec ÷ 1.25.</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E-PLA reports one tensile strength (at break), PLA σ_y ≈ UTS → both vs 58 MPa. E-PLA = closest add:north PLA (no PLA Economy TDS); ISO 527 moulded vs printed 80 mm² bar; values = n = 5 mean.</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REPEATABILITY STUDY (n = 5, 100 % INFILL)</a:t>
            </a:r>
          </a:p>
        </p:txBody>
      </p:sp>
      <p:pic>
        <p:nvPicPr>
          <p:cNvPr id="5" name="Picture 4" descr="V6_quintet_curves.png"/>
          <p:cNvPicPr>
            <a:picLocks noChangeAspect="1"/>
          </p:cNvPicPr>
          <p:nvPr/>
        </p:nvPicPr>
        <p:blipFill>
          <a:blip r:embed="rId2"/>
          <a:stretch>
            <a:fillRect/>
          </a:stretch>
        </p:blipFill>
        <p:spPr>
          <a:xfrm>
            <a:off x="292608" y="1463040"/>
            <a:ext cx="5943600" cy="4342380"/>
          </a:xfrm>
          <a:prstGeom prst="rect">
            <a:avLst/>
          </a:prstGeom>
        </p:spPr>
      </p:pic>
      <p:sp>
        <p:nvSpPr>
          <p:cNvPr id="6" name="TextBox 5"/>
          <p:cNvSpPr txBox="1"/>
          <p:nvPr/>
        </p:nvSpPr>
        <p:spPr>
          <a:xfrm>
            <a:off x="6400800" y="120700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Per-specimen values  (UTS/σ_y MPa · E GPa · ε_f –)</a:t>
            </a:r>
          </a:p>
        </p:txBody>
      </p:sp>
      <p:graphicFrame>
        <p:nvGraphicFramePr>
          <p:cNvPr id="7" name="Table 6"/>
          <p:cNvGraphicFramePr>
            <a:graphicFrameLocks noGrp="1"/>
          </p:cNvGraphicFramePr>
          <p:nvPr/>
        </p:nvGraphicFramePr>
        <p:xfrm>
          <a:off x="6400800" y="1572768"/>
          <a:ext cx="5486398" cy="2331720"/>
        </p:xfrm>
        <a:graphic>
          <a:graphicData uri="http://schemas.openxmlformats.org/drawingml/2006/table">
            <a:tbl>
              <a:tblPr firstRow="1" bandRow="1">
                <a:tableStyleId>{5C22544A-7EE6-4342-B048-85BDC9FD1C3A}</a:tableStyleId>
              </a:tblPr>
              <a:tblGrid>
                <a:gridCol w="1443789"/>
                <a:gridCol w="1039528"/>
                <a:gridCol w="1039528"/>
                <a:gridCol w="924025"/>
                <a:gridCol w="1039528"/>
              </a:tblGrid>
              <a:tr h="291465">
                <a:tc>
                  <a:txBody>
                    <a:bodyPr lIns="54864" rIns="54864" tIns="18288" bIns="18288" wrap="square" anchor="ctr"/>
                    <a:lstStyle/>
                    <a:p>
                      <a:pPr algn="l"/>
                      <a:r>
                        <a:rPr sz="1050" b="1">
                          <a:solidFill>
                            <a:srgbClr val="FFFFFF"/>
                          </a:solidFill>
                          <a:latin typeface="Calibri"/>
                        </a:rPr>
                        <a:t>Specimen</a:t>
                      </a:r>
                    </a:p>
                  </a:txBody>
                  <a:tcPr>
                    <a:solidFill>
                      <a:srgbClr val="143D2F"/>
                    </a:solidFill>
                  </a:tcPr>
                </a:tc>
                <a:tc>
                  <a:txBody>
                    <a:bodyPr lIns="54864" rIns="54864" tIns="18288" bIns="18288" wrap="square" anchor="ctr"/>
                    <a:lstStyle/>
                    <a:p>
                      <a:pPr algn="l"/>
                      <a:r>
                        <a:rPr sz="1050" b="1">
                          <a:solidFill>
                            <a:srgbClr val="FFFFFF"/>
                          </a:solidFill>
                          <a:latin typeface="Calibri"/>
                        </a:rPr>
                        <a:t>UTS</a:t>
                      </a:r>
                    </a:p>
                  </a:txBody>
                  <a:tcPr>
                    <a:solidFill>
                      <a:srgbClr val="143D2F"/>
                    </a:solidFill>
                  </a:tcPr>
                </a:tc>
                <a:tc>
                  <a:txBody>
                    <a:bodyPr lIns="54864" rIns="54864" tIns="18288" bIns="18288" wrap="square" anchor="ctr"/>
                    <a:lstStyle/>
                    <a:p>
                      <a:pPr algn="l"/>
                      <a:r>
                        <a:rPr sz="1050" b="1">
                          <a:solidFill>
                            <a:srgbClr val="FFFFFF"/>
                          </a:solidFill>
                          <a:latin typeface="Calibri"/>
                        </a:rPr>
                        <a:t>σ_y</a:t>
                      </a:r>
                    </a:p>
                  </a:txBody>
                  <a:tcPr>
                    <a:solidFill>
                      <a:srgbClr val="143D2F"/>
                    </a:solidFill>
                  </a:tcPr>
                </a:tc>
                <a:tc>
                  <a:txBody>
                    <a:bodyPr lIns="54864" rIns="54864" tIns="18288" bIns="18288" wrap="square" anchor="ctr"/>
                    <a:lstStyle/>
                    <a:p>
                      <a:pPr algn="l"/>
                      <a:r>
                        <a:rPr sz="1050" b="1">
                          <a:solidFill>
                            <a:srgbClr val="FFFFFF"/>
                          </a:solidFill>
                          <a:latin typeface="Calibri"/>
                        </a:rPr>
                        <a:t>E</a:t>
                      </a:r>
                    </a:p>
                  </a:txBody>
                  <a:tcPr>
                    <a:solidFill>
                      <a:srgbClr val="143D2F"/>
                    </a:solidFill>
                  </a:tcPr>
                </a:tc>
                <a:tc>
                  <a:txBody>
                    <a:bodyPr lIns="54864" rIns="54864" tIns="18288" bIns="18288" wrap="square" anchor="ctr"/>
                    <a:lstStyle/>
                    <a:p>
                      <a:pPr algn="l"/>
                      <a:r>
                        <a:rPr sz="1050" b="1">
                          <a:solidFill>
                            <a:srgbClr val="FFFFFF"/>
                          </a:solidFill>
                          <a:latin typeface="Calibri"/>
                        </a:rPr>
                        <a:t>ε_f</a:t>
                      </a:r>
                    </a:p>
                  </a:txBody>
                  <a:tcPr>
                    <a:solidFill>
                      <a:srgbClr val="143D2F"/>
                    </a:solidFill>
                  </a:tcPr>
                </a:tc>
              </a:tr>
              <a:tr h="291465">
                <a:tc>
                  <a:txBody>
                    <a:bodyPr lIns="54864" rIns="54864" tIns="18288" bIns="18288" wrap="square" anchor="ctr"/>
                    <a:lstStyle/>
                    <a:p>
                      <a:pPr algn="l"/>
                      <a:r>
                        <a:rPr sz="1000" b="0">
                          <a:solidFill>
                            <a:srgbClr val="000000"/>
                          </a:solidFill>
                          <a:latin typeface="Calibri"/>
                        </a:rPr>
                        <a:t>V6a · S7</a:t>
                      </a:r>
                    </a:p>
                  </a:txBody>
                  <a:tcPr/>
                </a:tc>
                <a:tc>
                  <a:txBody>
                    <a:bodyPr lIns="54864" rIns="54864" tIns="18288" bIns="18288" wrap="square" anchor="ctr"/>
                    <a:lstStyle/>
                    <a:p>
                      <a:pPr algn="l"/>
                      <a:r>
                        <a:rPr sz="1000" b="0">
                          <a:solidFill>
                            <a:srgbClr val="000000"/>
                          </a:solidFill>
                          <a:latin typeface="Calibri"/>
                        </a:rPr>
                        <a:t>47.82</a:t>
                      </a:r>
                    </a:p>
                  </a:txBody>
                  <a:tcPr/>
                </a:tc>
                <a:tc>
                  <a:txBody>
                    <a:bodyPr lIns="54864" rIns="54864" tIns="18288" bIns="18288" wrap="square" anchor="ctr"/>
                    <a:lstStyle/>
                    <a:p>
                      <a:pPr algn="l"/>
                      <a:r>
                        <a:rPr sz="1000" b="0">
                          <a:solidFill>
                            <a:srgbClr val="000000"/>
                          </a:solidFill>
                          <a:latin typeface="Calibri"/>
                        </a:rPr>
                        <a:t>47.80</a:t>
                      </a:r>
                    </a:p>
                  </a:txBody>
                  <a:tcPr/>
                </a:tc>
                <a:tc>
                  <a:txBody>
                    <a:bodyPr lIns="54864" rIns="54864" tIns="18288" bIns="18288" wrap="square" anchor="ctr"/>
                    <a:lstStyle/>
                    <a:p>
                      <a:pPr algn="l"/>
                      <a:r>
                        <a:rPr sz="1000" b="0">
                          <a:solidFill>
                            <a:srgbClr val="000000"/>
                          </a:solidFill>
                          <a:latin typeface="Calibri"/>
                        </a:rPr>
                        <a:t>2.41</a:t>
                      </a:r>
                    </a:p>
                  </a:txBody>
                  <a:tcPr/>
                </a:tc>
                <a:tc>
                  <a:txBody>
                    <a:bodyPr lIns="54864" rIns="54864" tIns="18288" bIns="18288" wrap="square" anchor="ctr"/>
                    <a:lstStyle/>
                    <a:p>
                      <a:pPr algn="l"/>
                      <a:r>
                        <a:rPr sz="1000" b="0">
                          <a:solidFill>
                            <a:srgbClr val="000000"/>
                          </a:solidFill>
                          <a:latin typeface="Calibri"/>
                        </a:rPr>
                        <a:t>0.030</a:t>
                      </a:r>
                    </a:p>
                  </a:txBody>
                  <a:tcPr/>
                </a:tc>
              </a:tr>
              <a:tr h="291465">
                <a:tc>
                  <a:txBody>
                    <a:bodyPr lIns="54864" rIns="54864" tIns="18288" bIns="18288" wrap="square" anchor="ctr"/>
                    <a:lstStyle/>
                    <a:p>
                      <a:pPr algn="l"/>
                      <a:r>
                        <a:rPr sz="1000" b="0">
                          <a:solidFill>
                            <a:srgbClr val="000000"/>
                          </a:solidFill>
                          <a:latin typeface="Calibri"/>
                        </a:rPr>
                        <a:t>V6b · S8</a:t>
                      </a:r>
                    </a:p>
                  </a:txBody>
                  <a:tcPr/>
                </a:tc>
                <a:tc>
                  <a:txBody>
                    <a:bodyPr lIns="54864" rIns="54864" tIns="18288" bIns="18288" wrap="square" anchor="ctr"/>
                    <a:lstStyle/>
                    <a:p>
                      <a:pPr algn="l"/>
                      <a:r>
                        <a:rPr sz="1000" b="0">
                          <a:solidFill>
                            <a:srgbClr val="000000"/>
                          </a:solidFill>
                          <a:latin typeface="Calibri"/>
                        </a:rPr>
                        <a:t>44.83</a:t>
                      </a:r>
                    </a:p>
                  </a:txBody>
                  <a:tcPr/>
                </a:tc>
                <a:tc>
                  <a:txBody>
                    <a:bodyPr lIns="54864" rIns="54864" tIns="18288" bIns="18288" wrap="square" anchor="ctr"/>
                    <a:lstStyle/>
                    <a:p>
                      <a:pPr algn="l"/>
                      <a:r>
                        <a:rPr sz="1000" b="0">
                          <a:solidFill>
                            <a:srgbClr val="000000"/>
                          </a:solidFill>
                          <a:latin typeface="Calibri"/>
                        </a:rPr>
                        <a:t>43.24</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0.052</a:t>
                      </a:r>
                    </a:p>
                  </a:txBody>
                  <a:tcPr/>
                </a:tc>
              </a:tr>
              <a:tr h="291465">
                <a:tc>
                  <a:txBody>
                    <a:bodyPr lIns="54864" rIns="54864" tIns="18288" bIns="18288" wrap="square" anchor="ctr"/>
                    <a:lstStyle/>
                    <a:p>
                      <a:pPr algn="l"/>
                      <a:r>
                        <a:rPr sz="1000" b="0">
                          <a:solidFill>
                            <a:srgbClr val="000000"/>
                          </a:solidFill>
                          <a:latin typeface="Calibri"/>
                        </a:rPr>
                        <a:t>V6c · S10</a:t>
                      </a:r>
                    </a:p>
                  </a:txBody>
                  <a:tcPr/>
                </a:tc>
                <a:tc>
                  <a:txBody>
                    <a:bodyPr lIns="54864" rIns="54864" tIns="18288" bIns="18288" wrap="square" anchor="ctr"/>
                    <a:lstStyle/>
                    <a:p>
                      <a:pPr algn="l"/>
                      <a:r>
                        <a:rPr sz="1000" b="0">
                          <a:solidFill>
                            <a:srgbClr val="000000"/>
                          </a:solidFill>
                          <a:latin typeface="Calibri"/>
                        </a:rPr>
                        <a:t>46.82</a:t>
                      </a:r>
                    </a:p>
                  </a:txBody>
                  <a:tcPr/>
                </a:tc>
                <a:tc>
                  <a:txBody>
                    <a:bodyPr lIns="54864" rIns="54864" tIns="18288" bIns="18288" wrap="square" anchor="ctr"/>
                    <a:lstStyle/>
                    <a:p>
                      <a:pPr algn="l"/>
                      <a:r>
                        <a:rPr sz="1000" b="0">
                          <a:solidFill>
                            <a:srgbClr val="000000"/>
                          </a:solidFill>
                          <a:latin typeface="Calibri"/>
                        </a:rPr>
                        <a:t>45.09</a:t>
                      </a:r>
                    </a:p>
                  </a:txBody>
                  <a:tcPr/>
                </a:tc>
                <a:tc>
                  <a:txBody>
                    <a:bodyPr lIns="54864" rIns="54864" tIns="18288" bIns="18288" wrap="square" anchor="ctr"/>
                    <a:lstStyle/>
                    <a:p>
                      <a:pPr algn="l"/>
                      <a:r>
                        <a:rPr sz="1000" b="0">
                          <a:solidFill>
                            <a:srgbClr val="000000"/>
                          </a:solidFill>
                          <a:latin typeface="Calibri"/>
                        </a:rPr>
                        <a:t>2.72</a:t>
                      </a:r>
                    </a:p>
                  </a:txBody>
                  <a:tcPr/>
                </a:tc>
                <a:tc>
                  <a:txBody>
                    <a:bodyPr lIns="54864" rIns="54864" tIns="18288" bIns="18288" wrap="square" anchor="ctr"/>
                    <a:lstStyle/>
                    <a:p>
                      <a:pPr algn="l"/>
                      <a:r>
                        <a:rPr sz="1000" b="0">
                          <a:solidFill>
                            <a:srgbClr val="000000"/>
                          </a:solidFill>
                          <a:latin typeface="Calibri"/>
                        </a:rPr>
                        <a:t>0.073</a:t>
                      </a:r>
                    </a:p>
                  </a:txBody>
                  <a:tcPr/>
                </a:tc>
              </a:tr>
              <a:tr h="291465">
                <a:tc>
                  <a:txBody>
                    <a:bodyPr lIns="54864" rIns="54864" tIns="18288" bIns="18288" wrap="square" anchor="ctr"/>
                    <a:lstStyle/>
                    <a:p>
                      <a:pPr algn="l"/>
                      <a:r>
                        <a:rPr sz="1000" b="0">
                          <a:solidFill>
                            <a:srgbClr val="000000"/>
                          </a:solidFill>
                          <a:latin typeface="Calibri"/>
                        </a:rPr>
                        <a:t>V6d · S11</a:t>
                      </a:r>
                    </a:p>
                  </a:txBody>
                  <a:tcPr/>
                </a:tc>
                <a:tc>
                  <a:txBody>
                    <a:bodyPr lIns="54864" rIns="54864" tIns="18288" bIns="18288" wrap="square" anchor="ctr"/>
                    <a:lstStyle/>
                    <a:p>
                      <a:pPr algn="l"/>
                      <a:r>
                        <a:rPr sz="1000" b="0">
                          <a:solidFill>
                            <a:srgbClr val="000000"/>
                          </a:solidFill>
                          <a:latin typeface="Calibri"/>
                        </a:rPr>
                        <a:t>46.10</a:t>
                      </a:r>
                    </a:p>
                  </a:txBody>
                  <a:tcPr/>
                </a:tc>
                <a:tc>
                  <a:txBody>
                    <a:bodyPr lIns="54864" rIns="54864" tIns="18288" bIns="18288" wrap="square" anchor="ctr"/>
                    <a:lstStyle/>
                    <a:p>
                      <a:pPr algn="l"/>
                      <a:r>
                        <a:rPr sz="1000" b="0">
                          <a:solidFill>
                            <a:srgbClr val="000000"/>
                          </a:solidFill>
                          <a:latin typeface="Calibri"/>
                        </a:rPr>
                        <a:t>44.73</a:t>
                      </a:r>
                    </a:p>
                  </a:txBody>
                  <a:tcPr/>
                </a:tc>
                <a:tc>
                  <a:txBody>
                    <a:bodyPr lIns="54864" rIns="54864" tIns="18288" bIns="18288" wrap="square" anchor="ctr"/>
                    <a:lstStyle/>
                    <a:p>
                      <a:pPr algn="l"/>
                      <a:r>
                        <a:rPr sz="1000" b="0">
                          <a:solidFill>
                            <a:srgbClr val="000000"/>
                          </a:solidFill>
                          <a:latin typeface="Calibri"/>
                        </a:rPr>
                        <a:t>2.63</a:t>
                      </a:r>
                    </a:p>
                  </a:txBody>
                  <a:tcPr/>
                </a:tc>
                <a:tc>
                  <a:txBody>
                    <a:bodyPr lIns="54864" rIns="54864" tIns="18288" bIns="18288" wrap="square" anchor="ctr"/>
                    <a:lstStyle/>
                    <a:p>
                      <a:pPr algn="l"/>
                      <a:r>
                        <a:rPr sz="1000" b="0">
                          <a:solidFill>
                            <a:srgbClr val="000000"/>
                          </a:solidFill>
                          <a:latin typeface="Calibri"/>
                        </a:rPr>
                        <a:t>0.050</a:t>
                      </a:r>
                    </a:p>
                  </a:txBody>
                  <a:tcPr/>
                </a:tc>
              </a:tr>
              <a:tr h="291465">
                <a:tc>
                  <a:txBody>
                    <a:bodyPr lIns="54864" rIns="54864" tIns="18288" bIns="18288" wrap="square" anchor="ctr"/>
                    <a:lstStyle/>
                    <a:p>
                      <a:pPr algn="l"/>
                      <a:r>
                        <a:rPr sz="1000" b="0">
                          <a:solidFill>
                            <a:srgbClr val="000000"/>
                          </a:solidFill>
                          <a:latin typeface="Calibri"/>
                        </a:rPr>
                        <a:t>V6e · S9</a:t>
                      </a:r>
                    </a:p>
                  </a:txBody>
                  <a:tcPr/>
                </a:tc>
                <a:tc>
                  <a:txBody>
                    <a:bodyPr lIns="54864" rIns="54864" tIns="18288" bIns="18288" wrap="square" anchor="ctr"/>
                    <a:lstStyle/>
                    <a:p>
                      <a:pPr algn="l"/>
                      <a:r>
                        <a:rPr sz="1000" b="0">
                          <a:solidFill>
                            <a:srgbClr val="000000"/>
                          </a:solidFill>
                          <a:latin typeface="Calibri"/>
                        </a:rPr>
                        <a:t>45.47</a:t>
                      </a:r>
                    </a:p>
                  </a:txBody>
                  <a:tcPr/>
                </a:tc>
                <a:tc>
                  <a:txBody>
                    <a:bodyPr lIns="54864" rIns="54864" tIns="18288" bIns="18288" wrap="square" anchor="ctr"/>
                    <a:lstStyle/>
                    <a:p>
                      <a:pPr algn="l"/>
                      <a:r>
                        <a:rPr sz="1000" b="0">
                          <a:solidFill>
                            <a:srgbClr val="000000"/>
                          </a:solidFill>
                          <a:latin typeface="Calibri"/>
                        </a:rPr>
                        <a:t>44.03</a:t>
                      </a:r>
                    </a:p>
                  </a:txBody>
                  <a:tcPr/>
                </a:tc>
                <a:tc>
                  <a:txBody>
                    <a:bodyPr lIns="54864" rIns="54864" tIns="18288" bIns="18288" wrap="square" anchor="ctr"/>
                    <a:lstStyle/>
                    <a:p>
                      <a:pPr algn="l"/>
                      <a:r>
                        <a:rPr sz="1000" b="0">
                          <a:solidFill>
                            <a:srgbClr val="000000"/>
                          </a:solidFill>
                          <a:latin typeface="Calibri"/>
                        </a:rPr>
                        <a:t>2.59</a:t>
                      </a:r>
                    </a:p>
                  </a:txBody>
                  <a:tcPr/>
                </a:tc>
                <a:tc>
                  <a:txBody>
                    <a:bodyPr lIns="54864" rIns="54864" tIns="18288" bIns="18288" wrap="square" anchor="ctr"/>
                    <a:lstStyle/>
                    <a:p>
                      <a:pPr algn="l"/>
                      <a:r>
                        <a:rPr sz="1000" b="0">
                          <a:solidFill>
                            <a:srgbClr val="000000"/>
                          </a:solidFill>
                          <a:latin typeface="Calibri"/>
                        </a:rPr>
                        <a:t>0.074</a:t>
                      </a:r>
                    </a:p>
                  </a:txBody>
                  <a:tcPr/>
                </a:tc>
              </a:tr>
              <a:tr h="291465">
                <a:tc>
                  <a:txBody>
                    <a:bodyPr lIns="54864" rIns="54864" tIns="18288" bIns="18288" wrap="square" anchor="ctr"/>
                    <a:lstStyle/>
                    <a:p>
                      <a:pPr algn="l"/>
                      <a:r>
                        <a:rPr sz="1000" b="1">
                          <a:solidFill>
                            <a:srgbClr val="000000"/>
                          </a:solidFill>
                          <a:latin typeface="Calibri"/>
                        </a:rPr>
                        <a:t>mean</a:t>
                      </a:r>
                    </a:p>
                  </a:txBody>
                  <a:tcPr>
                    <a:solidFill>
                      <a:srgbClr val="E7F1F8"/>
                    </a:solidFill>
                  </a:tcPr>
                </a:tc>
                <a:tc>
                  <a:txBody>
                    <a:bodyPr lIns="54864" rIns="54864" tIns="18288" bIns="18288" wrap="square" anchor="ctr"/>
                    <a:lstStyle/>
                    <a:p>
                      <a:pPr algn="l"/>
                      <a:r>
                        <a:rPr sz="1000" b="1">
                          <a:solidFill>
                            <a:srgbClr val="000000"/>
                          </a:solidFill>
                          <a:latin typeface="Calibri"/>
                        </a:rPr>
                        <a:t>46.2</a:t>
                      </a:r>
                    </a:p>
                  </a:txBody>
                  <a:tcPr>
                    <a:solidFill>
                      <a:srgbClr val="E7F1F8"/>
                    </a:solidFill>
                  </a:tcPr>
                </a:tc>
                <a:tc>
                  <a:txBody>
                    <a:bodyPr lIns="54864" rIns="54864" tIns="18288" bIns="18288" wrap="square" anchor="ctr"/>
                    <a:lstStyle/>
                    <a:p>
                      <a:pPr algn="l"/>
                      <a:r>
                        <a:rPr sz="1000" b="1">
                          <a:solidFill>
                            <a:srgbClr val="000000"/>
                          </a:solidFill>
                          <a:latin typeface="Calibri"/>
                        </a:rPr>
                        <a:t>45.0</a:t>
                      </a:r>
                    </a:p>
                  </a:txBody>
                  <a:tcPr>
                    <a:solidFill>
                      <a:srgbClr val="E7F1F8"/>
                    </a:solidFill>
                  </a:tcPr>
                </a:tc>
                <a:tc>
                  <a:txBody>
                    <a:bodyPr lIns="54864" rIns="54864" tIns="18288" bIns="18288" wrap="square" anchor="ctr"/>
                    <a:lstStyle/>
                    <a:p>
                      <a:pPr algn="l"/>
                      <a:r>
                        <a:rPr sz="1000" b="1">
                          <a:solidFill>
                            <a:srgbClr val="000000"/>
                          </a:solidFill>
                          <a:latin typeface="Calibri"/>
                        </a:rPr>
                        <a:t>2.60</a:t>
                      </a:r>
                    </a:p>
                  </a:txBody>
                  <a:tcPr>
                    <a:solidFill>
                      <a:srgbClr val="E7F1F8"/>
                    </a:solidFill>
                  </a:tcPr>
                </a:tc>
                <a:tc>
                  <a:txBody>
                    <a:bodyPr lIns="54864" rIns="54864" tIns="18288" bIns="18288" wrap="square" anchor="ctr"/>
                    <a:lstStyle/>
                    <a:p>
                      <a:pPr algn="l"/>
                      <a:r>
                        <a:rPr sz="1000" b="1">
                          <a:solidFill>
                            <a:srgbClr val="000000"/>
                          </a:solidFill>
                          <a:latin typeface="Calibri"/>
                        </a:rPr>
                        <a:t>0.056</a:t>
                      </a:r>
                    </a:p>
                  </a:txBody>
                  <a:tcPr>
                    <a:solidFill>
                      <a:srgbClr val="E7F1F8"/>
                    </a:solidFill>
                  </a:tcPr>
                </a:tc>
              </a:tr>
              <a:tr h="291465">
                <a:tc>
                  <a:txBody>
                    <a:bodyPr lIns="54864" rIns="54864" tIns="18288" bIns="18288" wrap="square" anchor="ctr"/>
                    <a:lstStyle/>
                    <a:p>
                      <a:pPr algn="l"/>
                      <a:r>
                        <a:rPr sz="1000" b="1">
                          <a:solidFill>
                            <a:srgbClr val="000000"/>
                          </a:solidFill>
                          <a:latin typeface="Calibri"/>
                        </a:rPr>
                        <a:t>CV %</a:t>
                      </a:r>
                    </a:p>
                  </a:txBody>
                  <a:tcPr>
                    <a:solidFill>
                      <a:srgbClr val="E7F1F8"/>
                    </a:solidFill>
                  </a:tcPr>
                </a:tc>
                <a:tc>
                  <a:txBody>
                    <a:bodyPr lIns="54864" rIns="54864" tIns="18288" bIns="18288" wrap="square" anchor="ctr"/>
                    <a:lstStyle/>
                    <a:p>
                      <a:pPr algn="l"/>
                      <a:r>
                        <a:rPr sz="1000" b="1">
                          <a:solidFill>
                            <a:srgbClr val="000000"/>
                          </a:solidFill>
                          <a:latin typeface="Calibri"/>
                        </a:rPr>
                        <a:t>2.5</a:t>
                      </a:r>
                    </a:p>
                  </a:txBody>
                  <a:tcPr>
                    <a:solidFill>
                      <a:srgbClr val="E7F1F8"/>
                    </a:solidFill>
                  </a:tcPr>
                </a:tc>
                <a:tc>
                  <a:txBody>
                    <a:bodyPr lIns="54864" rIns="54864" tIns="18288" bIns="18288" wrap="square" anchor="ctr"/>
                    <a:lstStyle/>
                    <a:p>
                      <a:pPr algn="l"/>
                      <a:r>
                        <a:rPr sz="1000" b="1">
                          <a:solidFill>
                            <a:srgbClr val="000000"/>
                          </a:solidFill>
                          <a:latin typeface="Calibri"/>
                        </a:rPr>
                        <a:t>3.8</a:t>
                      </a:r>
                    </a:p>
                  </a:txBody>
                  <a:tcPr>
                    <a:solidFill>
                      <a:srgbClr val="E7F1F8"/>
                    </a:solidFill>
                  </a:tcPr>
                </a:tc>
                <a:tc>
                  <a:txBody>
                    <a:bodyPr lIns="54864" rIns="54864" tIns="18288" bIns="18288" wrap="square" anchor="ctr"/>
                    <a:lstStyle/>
                    <a:p>
                      <a:pPr algn="l"/>
                      <a:r>
                        <a:rPr sz="1000" b="1">
                          <a:solidFill>
                            <a:srgbClr val="000000"/>
                          </a:solidFill>
                          <a:latin typeface="Calibri"/>
                        </a:rPr>
                        <a:t>4.4</a:t>
                      </a:r>
                    </a:p>
                  </a:txBody>
                  <a:tcPr>
                    <a:solidFill>
                      <a:srgbClr val="E7F1F8"/>
                    </a:solidFill>
                  </a:tcPr>
                </a:tc>
                <a:tc>
                  <a:txBody>
                    <a:bodyPr lIns="54864" rIns="54864" tIns="18288" bIns="18288" wrap="square" anchor="ctr"/>
                    <a:lstStyle/>
                    <a:p>
                      <a:pPr algn="l"/>
                      <a:r>
                        <a:rPr sz="1000" b="1">
                          <a:solidFill>
                            <a:srgbClr val="000000"/>
                          </a:solidFill>
                          <a:latin typeface="Calibri"/>
                        </a:rPr>
                        <a:t>33</a:t>
                      </a:r>
                    </a:p>
                  </a:txBody>
                  <a:tcPr>
                    <a:solidFill>
                      <a:srgbClr val="E7F1F8"/>
                    </a:solidFill>
                  </a:tcPr>
                </a:tc>
              </a:tr>
            </a:tbl>
          </a:graphicData>
        </a:graphic>
      </p:graphicFrame>
      <p:sp>
        <p:nvSpPr>
          <p:cNvPr id="8" name="Rounded Rectangle 7"/>
          <p:cNvSpPr/>
          <p:nvPr/>
        </p:nvSpPr>
        <p:spPr>
          <a:xfrm>
            <a:off x="6400800"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2.5 %</a:t>
            </a:r>
          </a:p>
          <a:p>
            <a:pPr algn="ctr"/>
            <a:r>
              <a:rPr sz="950">
                <a:solidFill>
                  <a:srgbClr val="000000"/>
                </a:solidFill>
                <a:latin typeface="Calibri"/>
              </a:rPr>
              <a:t>UTS CV</a:t>
            </a:r>
          </a:p>
        </p:txBody>
      </p:sp>
      <p:sp>
        <p:nvSpPr>
          <p:cNvPr id="9" name="Rounded Rectangle 8"/>
          <p:cNvSpPr/>
          <p:nvPr/>
        </p:nvSpPr>
        <p:spPr>
          <a:xfrm>
            <a:off x="7790688"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3.8 %</a:t>
            </a:r>
          </a:p>
          <a:p>
            <a:pPr algn="ctr"/>
            <a:r>
              <a:rPr sz="950">
                <a:solidFill>
                  <a:srgbClr val="000000"/>
                </a:solidFill>
                <a:latin typeface="Calibri"/>
              </a:rPr>
              <a:t>σ_y CV</a:t>
            </a:r>
          </a:p>
        </p:txBody>
      </p:sp>
      <p:sp>
        <p:nvSpPr>
          <p:cNvPr id="10" name="Rounded Rectangle 9"/>
          <p:cNvSpPr/>
          <p:nvPr/>
        </p:nvSpPr>
        <p:spPr>
          <a:xfrm>
            <a:off x="9180576" y="4023360"/>
            <a:ext cx="129844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4.4 %</a:t>
            </a:r>
          </a:p>
          <a:p>
            <a:pPr algn="ctr"/>
            <a:r>
              <a:rPr sz="950">
                <a:solidFill>
                  <a:srgbClr val="000000"/>
                </a:solidFill>
                <a:latin typeface="Calibri"/>
              </a:rPr>
              <a:t>E CV</a:t>
            </a:r>
          </a:p>
        </p:txBody>
      </p:sp>
      <p:sp>
        <p:nvSpPr>
          <p:cNvPr id="11" name="Rounded Rectangle 10"/>
          <p:cNvSpPr/>
          <p:nvPr/>
        </p:nvSpPr>
        <p:spPr>
          <a:xfrm>
            <a:off x="10570464" y="4023360"/>
            <a:ext cx="129844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33 %</a:t>
            </a:r>
          </a:p>
          <a:p>
            <a:pPr algn="ctr"/>
            <a:r>
              <a:rPr sz="950">
                <a:solidFill>
                  <a:srgbClr val="000000"/>
                </a:solidFill>
                <a:latin typeface="Calibri"/>
              </a:rPr>
              <a:t>ε_f CV</a:t>
            </a:r>
          </a:p>
        </p:txBody>
      </p:sp>
      <p:sp>
        <p:nvSpPr>
          <p:cNvPr id="12" name="Rounded Rectangle 11"/>
          <p:cNvSpPr/>
          <p:nvPr/>
        </p:nvSpPr>
        <p:spPr>
          <a:xfrm>
            <a:off x="6400800" y="4846320"/>
            <a:ext cx="5486400" cy="960120"/>
          </a:xfrm>
          <a:prstGeom prst="roundRect">
            <a:avLst/>
          </a:prstGeom>
          <a:solidFill>
            <a:srgbClr val="FFF3CD"/>
          </a:solidFill>
          <a:ln w="15240">
            <a:solidFill>
              <a:srgbClr val="E0A81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950" b="0">
                <a:solidFill>
                  <a:srgbClr val="000000"/>
                </a:solidFill>
                <a:latin typeface="Calibri"/>
              </a:rPr>
              <a:t>⚠ V6a (S7) = pilot, run 8 days before the b–e batch → the strength/modulus EDGE point (σ_y +4.3σ, E −4.2σ, most brittle). Matched b–e batch alone: UTS 1.9 % · σ_y 1.8 % · E 2.1 % CV. Kept in n = 5 (conservative) — verdict unchanged.</a:t>
            </a:r>
          </a:p>
        </p:txBody>
      </p:sp>
      <p:sp>
        <p:nvSpPr>
          <p:cNvPr id="13" name="Rectangle 12"/>
          <p:cNvSpPr/>
          <p:nvPr/>
        </p:nvSpPr>
        <p:spPr>
          <a:xfrm>
            <a:off x="292608" y="5943600"/>
            <a:ext cx="11612880" cy="4114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1F3F2F"/>
                </a:solidFill>
                <a:latin typeface="Calibri"/>
              </a:rPr>
              <a:t>Strength REPEATABLE — UTS/σ_y/E all CV ≤ 4.4 % (n = 5; matched b–e batch &lt; 2.1 %). Ductility ε_f scatters 33 % → report as a range.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STRENGTH — REPEATABLE &amp; IN LITERATURE</a:t>
            </a:r>
          </a:p>
        </p:txBody>
      </p:sp>
      <p:pic>
        <p:nvPicPr>
          <p:cNvPr id="5" name="Picture 4" descr="V6_strength_repeat.png"/>
          <p:cNvPicPr>
            <a:picLocks noChangeAspect="1"/>
          </p:cNvPicPr>
          <p:nvPr/>
        </p:nvPicPr>
        <p:blipFill>
          <a:blip r:embed="rId2"/>
          <a:stretch>
            <a:fillRect/>
          </a:stretch>
        </p:blipFill>
        <p:spPr>
          <a:xfrm>
            <a:off x="292608" y="1463040"/>
            <a:ext cx="6126480" cy="4217273"/>
          </a:xfrm>
          <a:prstGeom prst="rect">
            <a:avLst/>
          </a:prstGeom>
        </p:spPr>
      </p:pic>
      <p:sp>
        <p:nvSpPr>
          <p:cNvPr id="6" name="TextBox 5"/>
          <p:cNvSpPr txBox="1"/>
          <p:nvPr/>
        </p:nvSpPr>
        <p:spPr>
          <a:xfrm>
            <a:off x="6583680" y="120700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Strength vs both references</a:t>
            </a:r>
          </a:p>
        </p:txBody>
      </p:sp>
      <p:graphicFrame>
        <p:nvGraphicFramePr>
          <p:cNvPr id="7" name="Table 6"/>
          <p:cNvGraphicFramePr>
            <a:graphicFrameLocks noGrp="1"/>
          </p:cNvGraphicFramePr>
          <p:nvPr/>
        </p:nvGraphicFramePr>
        <p:xfrm>
          <a:off x="6583680" y="1627632"/>
          <a:ext cx="5394960" cy="1554480"/>
        </p:xfrm>
        <a:graphic>
          <a:graphicData uri="http://schemas.openxmlformats.org/drawingml/2006/table">
            <a:tbl>
              <a:tblPr firstRow="1" bandRow="1">
                <a:tableStyleId>{5C22544A-7EE6-4342-B048-85BDC9FD1C3A}</a:tableStyleId>
              </a:tblPr>
              <a:tblGrid>
                <a:gridCol w="1168908"/>
                <a:gridCol w="1438656"/>
                <a:gridCol w="1528572"/>
                <a:gridCol w="1258824"/>
              </a:tblGrid>
              <a:tr h="388620">
                <a:tc>
                  <a:txBody>
                    <a:bodyPr lIns="54864" rIns="54864" tIns="18288" bIns="18288" wrap="square" anchor="ctr"/>
                    <a:lstStyle/>
                    <a:p>
                      <a:pPr algn="l"/>
                      <a:r>
                        <a:rPr sz="1100" b="1">
                          <a:solidFill>
                            <a:srgbClr val="FFFFFF"/>
                          </a:solidFill>
                          <a:latin typeface="Calibri"/>
                        </a:rPr>
                        <a:t>Quantity</a:t>
                      </a:r>
                    </a:p>
                  </a:txBody>
                  <a:tcPr>
                    <a:solidFill>
                      <a:srgbClr val="143D2F"/>
                    </a:solidFill>
                  </a:tcPr>
                </a:tc>
                <a:tc>
                  <a:txBody>
                    <a:bodyPr lIns="54864" rIns="54864" tIns="18288" bIns="18288" wrap="square" anchor="ctr"/>
                    <a:lstStyle/>
                    <a:p>
                      <a:pPr algn="l"/>
                      <a:r>
                        <a:rPr sz="1100" b="1">
                          <a:solidFill>
                            <a:srgbClr val="FFFFFF"/>
                          </a:solidFill>
                          <a:latin typeface="Calibri"/>
                        </a:rPr>
                        <a:t>V6 (n=5)</a:t>
                      </a:r>
                    </a:p>
                  </a:txBody>
                  <a:tcPr>
                    <a:solidFill>
                      <a:srgbClr val="143D2F"/>
                    </a:solidFill>
                  </a:tcPr>
                </a:tc>
                <a:tc>
                  <a:txBody>
                    <a:bodyPr lIns="54864" rIns="54864" tIns="18288" bIns="18288" wrap="square" anchor="ctr"/>
                    <a:lstStyle/>
                    <a:p>
                      <a:pPr algn="l"/>
                      <a:r>
                        <a:rPr sz="1100" b="1">
                          <a:solidFill>
                            <a:srgbClr val="FFFFFF"/>
                          </a:solidFill>
                          <a:latin typeface="Calibri"/>
                        </a:rPr>
                        <a:t>vs Chacón</a:t>
                      </a:r>
                    </a:p>
                  </a:txBody>
                  <a:tcPr>
                    <a:solidFill>
                      <a:srgbClr val="143D2F"/>
                    </a:solidFill>
                  </a:tcPr>
                </a:tc>
                <a:tc>
                  <a:txBody>
                    <a:bodyPr lIns="54864" rIns="54864" tIns="18288" bIns="18288" wrap="square" anchor="ctr"/>
                    <a:lstStyle/>
                    <a:p>
                      <a:pPr algn="l"/>
                      <a:r>
                        <a:rPr sz="1100" b="1">
                          <a:solidFill>
                            <a:srgbClr val="FFFFFF"/>
                          </a:solidFill>
                          <a:latin typeface="Calibri"/>
                        </a:rPr>
                        <a:t>vs E-PLA</a:t>
                      </a:r>
                    </a:p>
                  </a:txBody>
                  <a:tcPr>
                    <a:solidFill>
                      <a:srgbClr val="143D2F"/>
                    </a:solidFill>
                  </a:tcPr>
                </a:tc>
              </a:tr>
              <a:tr h="388620">
                <a:tc>
                  <a:txBody>
                    <a:bodyPr lIns="54864" rIns="54864" tIns="18288" bIns="18288" wrap="square" anchor="ctr"/>
                    <a:lstStyle/>
                    <a:p>
                      <a:pPr algn="l"/>
                      <a:r>
                        <a:rPr sz="1100" b="0">
                          <a:solidFill>
                            <a:srgbClr val="000000"/>
                          </a:solidFill>
                          <a:latin typeface="Calibri"/>
                        </a:rPr>
                        <a:t>UTS</a:t>
                      </a:r>
                    </a:p>
                  </a:txBody>
                  <a:tcPr/>
                </a:tc>
                <a:tc>
                  <a:txBody>
                    <a:bodyPr lIns="54864" rIns="54864" tIns="18288" bIns="18288" wrap="square" anchor="ctr"/>
                    <a:lstStyle/>
                    <a:p>
                      <a:pPr algn="l"/>
                      <a:r>
                        <a:rPr sz="1100" b="0">
                          <a:solidFill>
                            <a:srgbClr val="000000"/>
                          </a:solidFill>
                          <a:latin typeface="Calibri"/>
                        </a:rPr>
                        <a:t>46.2 ± 1.2 MPa</a:t>
                      </a:r>
                    </a:p>
                  </a:txBody>
                  <a:tcPr/>
                </a:tc>
                <a:tc>
                  <a:txBody>
                    <a:bodyPr lIns="54864" rIns="54864" tIns="18288" bIns="18288" wrap="square" anchor="ctr"/>
                    <a:lstStyle/>
                    <a:p>
                      <a:pPr algn="l"/>
                      <a:r>
                        <a:rPr sz="1100" b="1">
                          <a:solidFill>
                            <a:srgbClr val="000000"/>
                          </a:solidFill>
                          <a:latin typeface="Calibri"/>
                        </a:rPr>
                        <a:t>inside 32–60 ✓</a:t>
                      </a:r>
                    </a:p>
                  </a:txBody>
                  <a:tcPr>
                    <a:solidFill>
                      <a:srgbClr val="C8E6C9"/>
                    </a:solidFill>
                  </a:tcPr>
                </a:tc>
                <a:tc>
                  <a:txBody>
                    <a:bodyPr lIns="54864" rIns="54864" tIns="18288" bIns="18288" wrap="square" anchor="ctr"/>
                    <a:lstStyle/>
                    <a:p>
                      <a:pPr algn="l"/>
                      <a:r>
                        <a:rPr sz="1100" b="0">
                          <a:solidFill>
                            <a:srgbClr val="000000"/>
                          </a:solidFill>
                          <a:latin typeface="Calibri"/>
                        </a:rPr>
                        <a:t>80 % (k 1.26)</a:t>
                      </a:r>
                    </a:p>
                  </a:txBody>
                  <a:tcPr>
                    <a:solidFill>
                      <a:srgbClr val="C8E6C9"/>
                    </a:solidFill>
                  </a:tcPr>
                </a:tc>
              </a:tr>
              <a:tr h="388620">
                <a:tc>
                  <a:txBody>
                    <a:bodyPr lIns="54864" rIns="54864" tIns="18288" bIns="18288" wrap="square" anchor="ctr"/>
                    <a:lstStyle/>
                    <a:p>
                      <a:pPr algn="l"/>
                      <a:r>
                        <a:rPr sz="1100" b="0">
                          <a:solidFill>
                            <a:srgbClr val="000000"/>
                          </a:solidFill>
                          <a:latin typeface="Calibri"/>
                        </a:rPr>
                        <a:t>σ_y (0.2 %)</a:t>
                      </a:r>
                    </a:p>
                  </a:txBody>
                  <a:tcPr/>
                </a:tc>
                <a:tc>
                  <a:txBody>
                    <a:bodyPr lIns="54864" rIns="54864" tIns="18288" bIns="18288" wrap="square" anchor="ctr"/>
                    <a:lstStyle/>
                    <a:p>
                      <a:pPr algn="l"/>
                      <a:r>
                        <a:rPr sz="1100" b="0">
                          <a:solidFill>
                            <a:srgbClr val="000000"/>
                          </a:solidFill>
                          <a:latin typeface="Calibri"/>
                        </a:rPr>
                        <a:t>45.0 MPa</a:t>
                      </a:r>
                    </a:p>
                  </a:txBody>
                  <a:tcPr/>
                </a:tc>
                <a:tc>
                  <a:txBody>
                    <a:bodyPr lIns="54864" rIns="54864" tIns="18288" bIns="18288" wrap="square" anchor="ctr"/>
                    <a:lstStyle/>
                    <a:p>
                      <a:pPr algn="l"/>
                      <a:r>
                        <a:rPr sz="1100" b="1">
                          <a:solidFill>
                            <a:srgbClr val="000000"/>
                          </a:solidFill>
                          <a:latin typeface="Calibri"/>
                        </a:rPr>
                        <a:t>inside 30–50 ✓</a:t>
                      </a:r>
                    </a:p>
                  </a:txBody>
                  <a:tcPr>
                    <a:solidFill>
                      <a:srgbClr val="C8E6C9"/>
                    </a:solidFill>
                  </a:tcPr>
                </a:tc>
                <a:tc>
                  <a:txBody>
                    <a:bodyPr lIns="54864" rIns="54864" tIns="18288" bIns="18288" wrap="square" anchor="ctr"/>
                    <a:lstStyle/>
                    <a:p>
                      <a:pPr algn="l"/>
                      <a:r>
                        <a:rPr sz="1100" b="0">
                          <a:solidFill>
                            <a:srgbClr val="000000"/>
                          </a:solidFill>
                          <a:latin typeface="Calibri"/>
                        </a:rPr>
                        <a:t>78 %</a:t>
                      </a:r>
                    </a:p>
                  </a:txBody>
                  <a:tcPr/>
                </a:tc>
              </a:tr>
              <a:tr h="388620">
                <a:tc>
                  <a:txBody>
                    <a:bodyPr lIns="54864" rIns="54864" tIns="18288" bIns="18288" wrap="square" anchor="ctr"/>
                    <a:lstStyle/>
                    <a:p>
                      <a:pPr algn="l"/>
                      <a:r>
                        <a:rPr sz="1100" b="0">
                          <a:solidFill>
                            <a:srgbClr val="000000"/>
                          </a:solidFill>
                          <a:latin typeface="Calibri"/>
                        </a:rPr>
                        <a:t>E</a:t>
                      </a:r>
                    </a:p>
                  </a:txBody>
                  <a:tcPr/>
                </a:tc>
                <a:tc>
                  <a:txBody>
                    <a:bodyPr lIns="54864" rIns="54864" tIns="18288" bIns="18288" wrap="square" anchor="ctr"/>
                    <a:lstStyle/>
                    <a:p>
                      <a:pPr algn="l"/>
                      <a:r>
                        <a:rPr sz="1100" b="0">
                          <a:solidFill>
                            <a:srgbClr val="000000"/>
                          </a:solidFill>
                          <a:latin typeface="Calibri"/>
                        </a:rPr>
                        <a:t>2.60 GPa</a:t>
                      </a:r>
                    </a:p>
                  </a:txBody>
                  <a:tcPr/>
                </a:tc>
                <a:tc>
                  <a:txBody>
                    <a:bodyPr lIns="54864" rIns="54864" tIns="18288" bIns="18288" wrap="square" anchor="ctr"/>
                    <a:lstStyle/>
                    <a:p>
                      <a:pPr algn="l"/>
                      <a:r>
                        <a:rPr sz="1100" b="1">
                          <a:solidFill>
                            <a:srgbClr val="000000"/>
                          </a:solidFill>
                          <a:latin typeface="Calibri"/>
                        </a:rPr>
                        <a:t>13 % below 3.0 ⚠</a:t>
                      </a:r>
                    </a:p>
                  </a:txBody>
                  <a:tcPr>
                    <a:solidFill>
                      <a:srgbClr val="FFF3CD"/>
                    </a:solidFill>
                  </a:tcPr>
                </a:tc>
                <a:tc>
                  <a:txBody>
                    <a:bodyPr lIns="54864" rIns="54864" tIns="18288" bIns="18288" wrap="square" anchor="ctr"/>
                    <a:lstStyle/>
                    <a:p>
                      <a:pPr algn="l"/>
                      <a:r>
                        <a:rPr sz="1100" b="0">
                          <a:solidFill>
                            <a:srgbClr val="000000"/>
                          </a:solidFill>
                          <a:latin typeface="Calibri"/>
                        </a:rPr>
                        <a:t>91 % (k 1.11)</a:t>
                      </a:r>
                    </a:p>
                  </a:txBody>
                  <a:tcPr>
                    <a:solidFill>
                      <a:srgbClr val="C8E6C9"/>
                    </a:solidFill>
                  </a:tcPr>
                </a:tc>
              </a:tr>
            </a:tbl>
          </a:graphicData>
        </a:graphic>
      </p:graphicFrame>
      <p:sp>
        <p:nvSpPr>
          <p:cNvPr id="8" name="TextBox 7"/>
          <p:cNvSpPr txBox="1"/>
          <p:nvPr/>
        </p:nvSpPr>
        <p:spPr>
          <a:xfrm>
            <a:off x="6583680" y="3337560"/>
            <a:ext cx="5394960" cy="1554480"/>
          </a:xfrm>
          <a:prstGeom prst="rect">
            <a:avLst/>
          </a:prstGeom>
          <a:noFill/>
        </p:spPr>
        <p:txBody>
          <a:bodyPr wrap="square" lIns="45720" rIns="45720" tIns="18288" bIns="18288" anchor="t">
            <a:spAutoFit/>
          </a:bodyPr>
          <a:lstStyle/>
          <a:p>
            <a:pPr algn="l"/>
            <a:r>
              <a:rPr sz="1200" b="0" i="0">
                <a:solidFill>
                  <a:srgbClr val="000000"/>
                </a:solidFill>
                <a:latin typeface="Calibri"/>
              </a:rPr>
              <a:t>• UTS = 46.2 ± 1.2 MPa (CV 2.5 %, 95 % CI ±1.4) — converged as n grew.
• All 5 land INSIDE the Chacón range → k ≈ 1 (no knock-down), confirming the 50 % offset (k≈2.4) was purely the infill effect.
• vs add:north E-PLA datasheet: 80 % of rated strength, 91 % of stiffness — coherent FFF knock-down.</a:t>
            </a:r>
          </a:p>
        </p:txBody>
      </p:sp>
      <p:sp>
        <p:nvSpPr>
          <p:cNvPr id="9" name="Rectangle 8"/>
          <p:cNvSpPr/>
          <p:nvPr/>
        </p:nvSpPr>
        <p:spPr>
          <a:xfrm>
            <a:off x="6583680" y="5074920"/>
            <a:ext cx="539496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STRENGTH PASS — repeatable (CV 2.5 %), inside the journal range, and a sensible ~80–90 % of the manufacturer's rated solid material.</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DUCTILITY — REPORT AS A RANGE</a:t>
            </a:r>
          </a:p>
        </p:txBody>
      </p:sp>
      <p:pic>
        <p:nvPicPr>
          <p:cNvPr id="5" name="Picture 4" descr="V6_ductility.png"/>
          <p:cNvPicPr>
            <a:picLocks noChangeAspect="1"/>
          </p:cNvPicPr>
          <p:nvPr/>
        </p:nvPicPr>
        <p:blipFill>
          <a:blip r:embed="rId2"/>
          <a:stretch>
            <a:fillRect/>
          </a:stretch>
        </p:blipFill>
        <p:spPr>
          <a:xfrm>
            <a:off x="292608" y="1463040"/>
            <a:ext cx="6126480" cy="4217273"/>
          </a:xfrm>
          <a:prstGeom prst="rect">
            <a:avLst/>
          </a:prstGeom>
        </p:spPr>
      </p:pic>
      <p:sp>
        <p:nvSpPr>
          <p:cNvPr id="6" name="TextBox 5"/>
          <p:cNvSpPr txBox="1"/>
          <p:nvPr/>
        </p:nvSpPr>
        <p:spPr>
          <a:xfrm>
            <a:off x="6583680" y="120700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Failure strain &amp; toughness</a:t>
            </a:r>
          </a:p>
        </p:txBody>
      </p:sp>
      <p:sp>
        <p:nvSpPr>
          <p:cNvPr id="7" name="Rounded Rectangle 6"/>
          <p:cNvSpPr/>
          <p:nvPr/>
        </p:nvSpPr>
        <p:spPr>
          <a:xfrm>
            <a:off x="6583680" y="1627632"/>
            <a:ext cx="173736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3.0–7.4 %</a:t>
            </a:r>
          </a:p>
          <a:p>
            <a:pPr algn="ctr"/>
            <a:r>
              <a:rPr sz="950">
                <a:solidFill>
                  <a:srgbClr val="000000"/>
                </a:solidFill>
                <a:latin typeface="Calibri"/>
              </a:rPr>
              <a:t>ε_f range</a:t>
            </a:r>
          </a:p>
        </p:txBody>
      </p:sp>
      <p:sp>
        <p:nvSpPr>
          <p:cNvPr id="8" name="Rounded Rectangle 7"/>
          <p:cNvSpPr/>
          <p:nvPr/>
        </p:nvSpPr>
        <p:spPr>
          <a:xfrm>
            <a:off x="8458200" y="1627632"/>
            <a:ext cx="1737360" cy="91440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33 %</a:t>
            </a:r>
          </a:p>
          <a:p>
            <a:pPr algn="ctr"/>
            <a:r>
              <a:rPr sz="950">
                <a:solidFill>
                  <a:srgbClr val="000000"/>
                </a:solidFill>
                <a:latin typeface="Calibri"/>
              </a:rPr>
              <a:t>ε_f CV</a:t>
            </a:r>
          </a:p>
        </p:txBody>
      </p:sp>
      <p:sp>
        <p:nvSpPr>
          <p:cNvPr id="9" name="Rounded Rectangle 8"/>
          <p:cNvSpPr/>
          <p:nvPr/>
        </p:nvSpPr>
        <p:spPr>
          <a:xfrm>
            <a:off x="10332720" y="1627632"/>
            <a:ext cx="1645920" cy="91440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400" b="1">
                <a:solidFill>
                  <a:srgbClr val="1F3F2F"/>
                </a:solidFill>
                <a:latin typeface="Calibri"/>
              </a:rPr>
              <a:t>2315 kJ/m³</a:t>
            </a:r>
          </a:p>
          <a:p>
            <a:pPr algn="ctr"/>
            <a:r>
              <a:rPr sz="950">
                <a:solidFill>
                  <a:srgbClr val="000000"/>
                </a:solidFill>
                <a:latin typeface="Calibri"/>
              </a:rPr>
              <a:t>toughness</a:t>
            </a:r>
          </a:p>
        </p:txBody>
      </p:sp>
      <p:sp>
        <p:nvSpPr>
          <p:cNvPr id="10" name="TextBox 9"/>
          <p:cNvSpPr txBox="1"/>
          <p:nvPr/>
        </p:nvSpPr>
        <p:spPr>
          <a:xfrm>
            <a:off x="6583680" y="2743200"/>
            <a:ext cx="5394960" cy="2103120"/>
          </a:xfrm>
          <a:prstGeom prst="rect">
            <a:avLst/>
          </a:prstGeom>
          <a:noFill/>
        </p:spPr>
        <p:txBody>
          <a:bodyPr wrap="square" lIns="45720" rIns="45720" tIns="18288" bIns="18288" anchor="t">
            <a:spAutoFit/>
          </a:bodyPr>
          <a:lstStyle/>
          <a:p>
            <a:pPr algn="l"/>
            <a:r>
              <a:rPr sz="1200" b="0" i="0">
                <a:solidFill>
                  <a:srgbClr val="000000"/>
                </a:solidFill>
                <a:latin typeface="Calibri"/>
              </a:rPr>
              <a:t>Failure strain is NOT reproducible (CV 33 %) and looks bimodal:
• tough-skin cluster A/B/D ≈ 3.0–5.2 %
• ductile cluster C/E ≈ 7.3–7.4 % (nearly the 8 % datasheet value)
FDM crack-initiation lottery — a void / weak layer decides where the crack starts, so elongation varies far more than strength. Toughness follows ε_f (1310–3053 kJ/m³).</a:t>
            </a:r>
          </a:p>
        </p:txBody>
      </p:sp>
      <p:sp>
        <p:nvSpPr>
          <p:cNvPr id="11" name="Rectangle 10"/>
          <p:cNvSpPr/>
          <p:nvPr/>
        </p:nvSpPr>
        <p:spPr>
          <a:xfrm>
            <a:off x="6583680" y="5029200"/>
            <a:ext cx="5394960" cy="9601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000000"/>
                </a:solidFill>
                <a:latin typeface="Calibri"/>
              </a:rPr>
              <a:t>Quote ductility as a RANGE (ε_f = 3–7 %), never a single number. Strength is the reproducible engineering value; ductility is specimen-dependent.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159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V6: VALIDATION SUMMARY — JOURNAL &amp; MANUFACTURER</a:t>
            </a:r>
          </a:p>
        </p:txBody>
      </p:sp>
      <p:sp>
        <p:nvSpPr>
          <p:cNvPr id="5" name="TextBox 4"/>
          <p:cNvSpPr txBox="1"/>
          <p:nvPr/>
        </p:nvSpPr>
        <p:spPr>
          <a:xfrm>
            <a:off x="365760" y="1188720"/>
            <a:ext cx="7315200" cy="365760"/>
          </a:xfrm>
          <a:prstGeom prst="rect">
            <a:avLst/>
          </a:prstGeom>
          <a:noFill/>
        </p:spPr>
        <p:txBody>
          <a:bodyPr wrap="square" lIns="45720" rIns="45720" tIns="18288" bIns="18288" anchor="t">
            <a:spAutoFit/>
          </a:bodyPr>
          <a:lstStyle/>
          <a:p>
            <a:pPr algn="l"/>
            <a:r>
              <a:rPr sz="1600" b="0" i="0">
                <a:solidFill>
                  <a:srgbClr val="707070"/>
                </a:solidFill>
                <a:latin typeface="Calibri"/>
              </a:rPr>
              <a:t>Pass / fail vs both references  (n = 5, 100 % infill)</a:t>
            </a:r>
          </a:p>
        </p:txBody>
      </p:sp>
      <p:graphicFrame>
        <p:nvGraphicFramePr>
          <p:cNvPr id="6" name="Table 5"/>
          <p:cNvGraphicFramePr>
            <a:graphicFrameLocks noGrp="1"/>
          </p:cNvGraphicFramePr>
          <p:nvPr/>
        </p:nvGraphicFramePr>
        <p:xfrm>
          <a:off x="365760" y="1600200"/>
          <a:ext cx="7315198" cy="2148840"/>
        </p:xfrm>
        <a:graphic>
          <a:graphicData uri="http://schemas.openxmlformats.org/drawingml/2006/table">
            <a:tbl>
              <a:tblPr firstRow="1" bandRow="1">
                <a:tableStyleId>{5C22544A-7EE6-4342-B048-85BDC9FD1C3A}</a:tableStyleId>
              </a:tblPr>
              <a:tblGrid>
                <a:gridCol w="848139"/>
                <a:gridCol w="1166191"/>
                <a:gridCol w="1378226"/>
                <a:gridCol w="1272208"/>
                <a:gridCol w="1166191"/>
                <a:gridCol w="1484243"/>
              </a:tblGrid>
              <a:tr h="429768">
                <a:tc>
                  <a:txBody>
                    <a:bodyPr lIns="54864" rIns="54864" tIns="18288" bIns="18288" wrap="square" anchor="ctr"/>
                    <a:lstStyle/>
                    <a:p>
                      <a:pPr algn="l"/>
                      <a:r>
                        <a:rPr sz="1050" b="1">
                          <a:solidFill>
                            <a:srgbClr val="FFFFFF"/>
                          </a:solidFill>
                          <a:latin typeface="Calibri"/>
                        </a:rPr>
                        <a:t>Property</a:t>
                      </a:r>
                    </a:p>
                  </a:txBody>
                  <a:tcPr>
                    <a:solidFill>
                      <a:srgbClr val="143D2F"/>
                    </a:solidFill>
                  </a:tcPr>
                </a:tc>
                <a:tc>
                  <a:txBody>
                    <a:bodyPr lIns="54864" rIns="54864" tIns="18288" bIns="18288" wrap="square" anchor="ctr"/>
                    <a:lstStyle/>
                    <a:p>
                      <a:pPr algn="l"/>
                      <a:r>
                        <a:rPr sz="1050" b="1">
                          <a:solidFill>
                            <a:srgbClr val="FFFFFF"/>
                          </a:solidFill>
                          <a:latin typeface="Calibri"/>
                        </a:rPr>
                        <a:t>V6 mean</a:t>
                      </a:r>
                    </a:p>
                  </a:txBody>
                  <a:tcPr>
                    <a:solidFill>
                      <a:srgbClr val="143D2F"/>
                    </a:solidFill>
                  </a:tcPr>
                </a:tc>
                <a:tc>
                  <a:txBody>
                    <a:bodyPr lIns="54864" rIns="54864" tIns="18288" bIns="18288" wrap="square" anchor="ctr"/>
                    <a:lstStyle/>
                    <a:p>
                      <a:pPr algn="l"/>
                      <a:r>
                        <a:rPr sz="1050" b="1">
                          <a:solidFill>
                            <a:srgbClr val="FFFFFF"/>
                          </a:solidFill>
                          <a:latin typeface="Calibri"/>
                        </a:rPr>
                        <a:t>Chacón range</a:t>
                      </a:r>
                    </a:p>
                  </a:txBody>
                  <a:tcPr>
                    <a:solidFill>
                      <a:srgbClr val="143D2F"/>
                    </a:solidFill>
                  </a:tcPr>
                </a:tc>
                <a:tc>
                  <a:txBody>
                    <a:bodyPr lIns="54864" rIns="54864" tIns="18288" bIns="18288" wrap="square" anchor="ctr"/>
                    <a:lstStyle/>
                    <a:p>
                      <a:pPr algn="l"/>
                      <a:r>
                        <a:rPr sz="1050" b="1">
                          <a:solidFill>
                            <a:srgbClr val="FFFFFF"/>
                          </a:solidFill>
                          <a:latin typeface="Calibri"/>
                        </a:rPr>
                        <a:t>vs journal</a:t>
                      </a:r>
                    </a:p>
                  </a:txBody>
                  <a:tcPr>
                    <a:solidFill>
                      <a:srgbClr val="143D2F"/>
                    </a:solidFill>
                  </a:tcPr>
                </a:tc>
                <a:tc>
                  <a:txBody>
                    <a:bodyPr lIns="54864" rIns="54864" tIns="18288" bIns="18288" wrap="square" anchor="ctr"/>
                    <a:lstStyle/>
                    <a:p>
                      <a:pPr algn="l"/>
                      <a:r>
                        <a:rPr sz="1050" b="1">
                          <a:solidFill>
                            <a:srgbClr val="FFFFFF"/>
                          </a:solidFill>
                          <a:latin typeface="Calibri"/>
                        </a:rPr>
                        <a:t>E-PLA spec</a:t>
                      </a:r>
                    </a:p>
                  </a:txBody>
                  <a:tcPr>
                    <a:solidFill>
                      <a:srgbClr val="143D2F"/>
                    </a:solidFill>
                  </a:tcPr>
                </a:tc>
                <a:tc>
                  <a:txBody>
                    <a:bodyPr lIns="54864" rIns="54864" tIns="18288" bIns="18288" wrap="square" anchor="ctr"/>
                    <a:lstStyle/>
                    <a:p>
                      <a:pPr algn="l"/>
                      <a:r>
                        <a:rPr sz="1050" b="1">
                          <a:solidFill>
                            <a:srgbClr val="FFFFFF"/>
                          </a:solidFill>
                          <a:latin typeface="Calibri"/>
                        </a:rPr>
                        <a:t>vs datasheet</a:t>
                      </a:r>
                    </a:p>
                  </a:txBody>
                  <a:tcPr>
                    <a:solidFill>
                      <a:srgbClr val="143D2F"/>
                    </a:solidFill>
                  </a:tcPr>
                </a:tc>
              </a:tr>
              <a:tr h="429768">
                <a:tc>
                  <a:txBody>
                    <a:bodyPr lIns="54864" rIns="54864" tIns="18288" bIns="18288" wrap="square" anchor="ctr"/>
                    <a:lstStyle/>
                    <a:p>
                      <a:pPr algn="l"/>
                      <a:r>
                        <a:rPr sz="1100" b="1">
                          <a:solidFill>
                            <a:srgbClr val="000000"/>
                          </a:solidFill>
                          <a:latin typeface="Calibri"/>
                        </a:rPr>
                        <a:t>UTS</a:t>
                      </a:r>
                    </a:p>
                  </a:txBody>
                  <a:tcPr>
                    <a:solidFill>
                      <a:srgbClr val="C8E6C9"/>
                    </a:solidFill>
                  </a:tcPr>
                </a:tc>
                <a:tc>
                  <a:txBody>
                    <a:bodyPr lIns="54864" rIns="54864" tIns="18288" bIns="18288" wrap="square" anchor="ctr"/>
                    <a:lstStyle/>
                    <a:p>
                      <a:pPr algn="l"/>
                      <a:r>
                        <a:rPr sz="1100" b="0">
                          <a:solidFill>
                            <a:srgbClr val="000000"/>
                          </a:solidFill>
                          <a:latin typeface="Calibri"/>
                        </a:rPr>
                        <a:t>46.2 MPa</a:t>
                      </a:r>
                    </a:p>
                  </a:txBody>
                  <a:tcPr>
                    <a:solidFill>
                      <a:srgbClr val="C8E6C9"/>
                    </a:solidFill>
                  </a:tcPr>
                </a:tc>
                <a:tc>
                  <a:txBody>
                    <a:bodyPr lIns="54864" rIns="54864" tIns="18288" bIns="18288" wrap="square" anchor="ctr"/>
                    <a:lstStyle/>
                    <a:p>
                      <a:pPr algn="l"/>
                      <a:r>
                        <a:rPr sz="1100" b="0">
                          <a:solidFill>
                            <a:srgbClr val="000000"/>
                          </a:solidFill>
                          <a:latin typeface="Calibri"/>
                        </a:rPr>
                        <a:t>32–60 MPa</a:t>
                      </a:r>
                    </a:p>
                  </a:txBody>
                  <a:tcPr>
                    <a:solidFill>
                      <a:srgbClr val="C8E6C9"/>
                    </a:solidFill>
                  </a:tcPr>
                </a:tc>
                <a:tc>
                  <a:txBody>
                    <a:bodyPr lIns="54864" rIns="54864" tIns="18288" bIns="18288" wrap="square" anchor="ctr"/>
                    <a:lstStyle/>
                    <a:p>
                      <a:pPr algn="l"/>
                      <a:r>
                        <a:rPr sz="1100" b="1">
                          <a:solidFill>
                            <a:srgbClr val="000000"/>
                          </a:solidFill>
                          <a:latin typeface="Calibri"/>
                        </a:rPr>
                        <a:t>✓ PASS</a:t>
                      </a:r>
                    </a:p>
                  </a:txBody>
                  <a:tcPr>
                    <a:solidFill>
                      <a:srgbClr val="C8E6C9"/>
                    </a:solidFill>
                  </a:tcPr>
                </a:tc>
                <a:tc>
                  <a:txBody>
                    <a:bodyPr lIns="54864" rIns="54864" tIns="18288" bIns="18288" wrap="square" anchor="ctr"/>
                    <a:lstStyle/>
                    <a:p>
                      <a:pPr algn="l"/>
                      <a:r>
                        <a:rPr sz="1100" b="0">
                          <a:solidFill>
                            <a:srgbClr val="000000"/>
                          </a:solidFill>
                          <a:latin typeface="Calibri"/>
                        </a:rPr>
                        <a:t>58 MPa</a:t>
                      </a:r>
                    </a:p>
                  </a:txBody>
                  <a:tcPr>
                    <a:solidFill>
                      <a:srgbClr val="C8E6C9"/>
                    </a:solidFill>
                  </a:tcPr>
                </a:tc>
                <a:tc>
                  <a:txBody>
                    <a:bodyPr lIns="54864" rIns="54864" tIns="18288" bIns="18288" wrap="square" anchor="ctr"/>
                    <a:lstStyle/>
                    <a:p>
                      <a:pPr algn="l"/>
                      <a:r>
                        <a:rPr sz="1100" b="0">
                          <a:solidFill>
                            <a:srgbClr val="000000"/>
                          </a:solidFill>
                          <a:latin typeface="Calibri"/>
                        </a:rPr>
                        <a:t>80 % (k1.26)</a:t>
                      </a:r>
                    </a:p>
                  </a:txBody>
                  <a:tcPr>
                    <a:solidFill>
                      <a:srgbClr val="C8E6C9"/>
                    </a:solidFill>
                  </a:tcPr>
                </a:tc>
              </a:tr>
              <a:tr h="429768">
                <a:tc>
                  <a:txBody>
                    <a:bodyPr lIns="54864" rIns="54864" tIns="18288" bIns="18288" wrap="square" anchor="ctr"/>
                    <a:lstStyle/>
                    <a:p>
                      <a:pPr algn="l"/>
                      <a:r>
                        <a:rPr sz="1100" b="1">
                          <a:solidFill>
                            <a:srgbClr val="000000"/>
                          </a:solidFill>
                          <a:latin typeface="Calibri"/>
                        </a:rPr>
                        <a:t>σ_y</a:t>
                      </a:r>
                    </a:p>
                  </a:txBody>
                  <a:tcPr>
                    <a:solidFill>
                      <a:srgbClr val="C8E6C9"/>
                    </a:solidFill>
                  </a:tcPr>
                </a:tc>
                <a:tc>
                  <a:txBody>
                    <a:bodyPr lIns="54864" rIns="54864" tIns="18288" bIns="18288" wrap="square" anchor="ctr"/>
                    <a:lstStyle/>
                    <a:p>
                      <a:pPr algn="l"/>
                      <a:r>
                        <a:rPr sz="1100" b="0">
                          <a:solidFill>
                            <a:srgbClr val="000000"/>
                          </a:solidFill>
                          <a:latin typeface="Calibri"/>
                        </a:rPr>
                        <a:t>45.0 MPa</a:t>
                      </a:r>
                    </a:p>
                  </a:txBody>
                  <a:tcPr>
                    <a:solidFill>
                      <a:srgbClr val="C8E6C9"/>
                    </a:solidFill>
                  </a:tcPr>
                </a:tc>
                <a:tc>
                  <a:txBody>
                    <a:bodyPr lIns="54864" rIns="54864" tIns="18288" bIns="18288" wrap="square" anchor="ctr"/>
                    <a:lstStyle/>
                    <a:p>
                      <a:pPr algn="l"/>
                      <a:r>
                        <a:rPr sz="1100" b="0">
                          <a:solidFill>
                            <a:srgbClr val="000000"/>
                          </a:solidFill>
                          <a:latin typeface="Calibri"/>
                        </a:rPr>
                        <a:t>30–50 MPa</a:t>
                      </a:r>
                    </a:p>
                  </a:txBody>
                  <a:tcPr>
                    <a:solidFill>
                      <a:srgbClr val="C8E6C9"/>
                    </a:solidFill>
                  </a:tcPr>
                </a:tc>
                <a:tc>
                  <a:txBody>
                    <a:bodyPr lIns="54864" rIns="54864" tIns="18288" bIns="18288" wrap="square" anchor="ctr"/>
                    <a:lstStyle/>
                    <a:p>
                      <a:pPr algn="l"/>
                      <a:r>
                        <a:rPr sz="1100" b="1">
                          <a:solidFill>
                            <a:srgbClr val="000000"/>
                          </a:solidFill>
                          <a:latin typeface="Calibri"/>
                        </a:rPr>
                        <a:t>✓ PASS</a:t>
                      </a:r>
                    </a:p>
                  </a:txBody>
                  <a:tcPr>
                    <a:solidFill>
                      <a:srgbClr val="C8E6C9"/>
                    </a:solidFill>
                  </a:tcPr>
                </a:tc>
                <a:tc>
                  <a:txBody>
                    <a:bodyPr lIns="54864" rIns="54864" tIns="18288" bIns="18288" wrap="square" anchor="ctr"/>
                    <a:lstStyle/>
                    <a:p>
                      <a:pPr algn="l"/>
                      <a:r>
                        <a:rPr sz="1100" b="0">
                          <a:solidFill>
                            <a:srgbClr val="000000"/>
                          </a:solidFill>
                          <a:latin typeface="Calibri"/>
                        </a:rPr>
                        <a:t>58 MPa †</a:t>
                      </a:r>
                    </a:p>
                  </a:txBody>
                  <a:tcPr>
                    <a:solidFill>
                      <a:srgbClr val="C8E6C9"/>
                    </a:solidFill>
                  </a:tcPr>
                </a:tc>
                <a:tc>
                  <a:txBody>
                    <a:bodyPr lIns="54864" rIns="54864" tIns="18288" bIns="18288" wrap="square" anchor="ctr"/>
                    <a:lstStyle/>
                    <a:p>
                      <a:pPr algn="l"/>
                      <a:r>
                        <a:rPr sz="1100" b="0">
                          <a:solidFill>
                            <a:srgbClr val="000000"/>
                          </a:solidFill>
                          <a:latin typeface="Calibri"/>
                        </a:rPr>
                        <a:t>78 %</a:t>
                      </a:r>
                    </a:p>
                  </a:txBody>
                  <a:tcPr>
                    <a:solidFill>
                      <a:srgbClr val="C8E6C9"/>
                    </a:solidFill>
                  </a:tcPr>
                </a:tc>
              </a:tr>
              <a:tr h="429768">
                <a:tc>
                  <a:txBody>
                    <a:bodyPr lIns="54864" rIns="54864" tIns="18288" bIns="18288" wrap="square" anchor="ctr"/>
                    <a:lstStyle/>
                    <a:p>
                      <a:pPr algn="l"/>
                      <a:r>
                        <a:rPr sz="1100" b="1">
                          <a:solidFill>
                            <a:srgbClr val="000000"/>
                          </a:solidFill>
                          <a:latin typeface="Calibri"/>
                        </a:rPr>
                        <a:t>E</a:t>
                      </a:r>
                    </a:p>
                  </a:txBody>
                  <a:tcPr>
                    <a:solidFill>
                      <a:srgbClr val="FFF3CD"/>
                    </a:solidFill>
                  </a:tcPr>
                </a:tc>
                <a:tc>
                  <a:txBody>
                    <a:bodyPr lIns="54864" rIns="54864" tIns="18288" bIns="18288" wrap="square" anchor="ctr"/>
                    <a:lstStyle/>
                    <a:p>
                      <a:pPr algn="l"/>
                      <a:r>
                        <a:rPr sz="1100" b="0">
                          <a:solidFill>
                            <a:srgbClr val="000000"/>
                          </a:solidFill>
                          <a:latin typeface="Calibri"/>
                        </a:rPr>
                        <a:t>2.60 GPa</a:t>
                      </a:r>
                    </a:p>
                  </a:txBody>
                  <a:tcPr>
                    <a:solidFill>
                      <a:srgbClr val="FFF3CD"/>
                    </a:solidFill>
                  </a:tcPr>
                </a:tc>
                <a:tc>
                  <a:txBody>
                    <a:bodyPr lIns="54864" rIns="54864" tIns="18288" bIns="18288" wrap="square" anchor="ctr"/>
                    <a:lstStyle/>
                    <a:p>
                      <a:pPr algn="l"/>
                      <a:r>
                        <a:rPr sz="1100" b="0">
                          <a:solidFill>
                            <a:srgbClr val="000000"/>
                          </a:solidFill>
                          <a:latin typeface="Calibri"/>
                        </a:rPr>
                        <a:t>3.0–5.5 GPa</a:t>
                      </a:r>
                    </a:p>
                  </a:txBody>
                  <a:tcPr>
                    <a:solidFill>
                      <a:srgbClr val="FFF3CD"/>
                    </a:solidFill>
                  </a:tcPr>
                </a:tc>
                <a:tc>
                  <a:txBody>
                    <a:bodyPr lIns="54864" rIns="54864" tIns="18288" bIns="18288" wrap="square" anchor="ctr"/>
                    <a:lstStyle/>
                    <a:p>
                      <a:pPr algn="l"/>
                      <a:r>
                        <a:rPr sz="1100" b="1">
                          <a:solidFill>
                            <a:srgbClr val="000000"/>
                          </a:solidFill>
                          <a:latin typeface="Calibri"/>
                        </a:rPr>
                        <a:t>⚠ 13 % low</a:t>
                      </a:r>
                    </a:p>
                  </a:txBody>
                  <a:tcPr>
                    <a:solidFill>
                      <a:srgbClr val="FFF3CD"/>
                    </a:solidFill>
                  </a:tcPr>
                </a:tc>
                <a:tc>
                  <a:txBody>
                    <a:bodyPr lIns="54864" rIns="54864" tIns="18288" bIns="18288" wrap="square" anchor="ctr"/>
                    <a:lstStyle/>
                    <a:p>
                      <a:pPr algn="l"/>
                      <a:r>
                        <a:rPr sz="1100" b="0">
                          <a:solidFill>
                            <a:srgbClr val="000000"/>
                          </a:solidFill>
                          <a:latin typeface="Calibri"/>
                        </a:rPr>
                        <a:t>2.87 GPa</a:t>
                      </a:r>
                    </a:p>
                  </a:txBody>
                  <a:tcPr>
                    <a:solidFill>
                      <a:srgbClr val="FFF3CD"/>
                    </a:solidFill>
                  </a:tcPr>
                </a:tc>
                <a:tc>
                  <a:txBody>
                    <a:bodyPr lIns="54864" rIns="54864" tIns="18288" bIns="18288" wrap="square" anchor="ctr"/>
                    <a:lstStyle/>
                    <a:p>
                      <a:pPr algn="l"/>
                      <a:r>
                        <a:rPr sz="1100" b="0">
                          <a:solidFill>
                            <a:srgbClr val="000000"/>
                          </a:solidFill>
                          <a:latin typeface="Calibri"/>
                        </a:rPr>
                        <a:t>91 % (k1.11)</a:t>
                      </a:r>
                    </a:p>
                  </a:txBody>
                  <a:tcPr>
                    <a:solidFill>
                      <a:srgbClr val="FFF3CD"/>
                    </a:solidFill>
                  </a:tcPr>
                </a:tc>
              </a:tr>
              <a:tr h="429768">
                <a:tc>
                  <a:txBody>
                    <a:bodyPr lIns="54864" rIns="54864" tIns="18288" bIns="18288" wrap="square" anchor="ctr"/>
                    <a:lstStyle/>
                    <a:p>
                      <a:pPr algn="l"/>
                      <a:r>
                        <a:rPr sz="1100" b="0">
                          <a:solidFill>
                            <a:srgbClr val="000000"/>
                          </a:solidFill>
                          <a:latin typeface="Calibri"/>
                        </a:rPr>
                        <a:t>ε_f</a:t>
                      </a:r>
                    </a:p>
                  </a:txBody>
                  <a:tcPr/>
                </a:tc>
                <a:tc>
                  <a:txBody>
                    <a:bodyPr lIns="54864" rIns="54864" tIns="18288" bIns="18288" wrap="square" anchor="ctr"/>
                    <a:lstStyle/>
                    <a:p>
                      <a:pPr algn="l"/>
                      <a:r>
                        <a:rPr sz="1100" b="0">
                          <a:solidFill>
                            <a:srgbClr val="000000"/>
                          </a:solidFill>
                          <a:latin typeface="Calibri"/>
                        </a:rPr>
                        <a:t>3.0–7.4 %</a:t>
                      </a:r>
                    </a:p>
                  </a:txBody>
                  <a:tcPr/>
                </a:tc>
                <a:tc>
                  <a:txBody>
                    <a:bodyPr lIns="54864" rIns="54864" tIns="18288" bIns="18288" wrap="square" anchor="ctr"/>
                    <a:lstStyle/>
                    <a:p>
                      <a:pPr algn="l"/>
                      <a:r>
                        <a:rPr sz="1100" b="0">
                          <a:solidFill>
                            <a:srgbClr val="000000"/>
                          </a:solidFill>
                          <a:latin typeface="Calibri"/>
                        </a:rPr>
                        <a:t>—</a:t>
                      </a:r>
                    </a:p>
                  </a:txBody>
                  <a:tcPr/>
                </a:tc>
                <a:tc>
                  <a:txBody>
                    <a:bodyPr lIns="54864" rIns="54864" tIns="18288" bIns="18288" wrap="square" anchor="ctr"/>
                    <a:lstStyle/>
                    <a:p>
                      <a:pPr algn="l"/>
                      <a:r>
                        <a:rPr sz="1100" b="0">
                          <a:solidFill>
                            <a:srgbClr val="000000"/>
                          </a:solidFill>
                          <a:latin typeface="Calibri"/>
                        </a:rPr>
                        <a:t>—</a:t>
                      </a:r>
                    </a:p>
                  </a:txBody>
                  <a:tcPr/>
                </a:tc>
                <a:tc>
                  <a:txBody>
                    <a:bodyPr lIns="54864" rIns="54864" tIns="18288" bIns="18288" wrap="square" anchor="ctr"/>
                    <a:lstStyle/>
                    <a:p>
                      <a:pPr algn="l"/>
                      <a:r>
                        <a:rPr sz="1100" b="0">
                          <a:solidFill>
                            <a:srgbClr val="000000"/>
                          </a:solidFill>
                          <a:latin typeface="Calibri"/>
                        </a:rPr>
                        <a:t>8 %</a:t>
                      </a:r>
                    </a:p>
                  </a:txBody>
                  <a:tcPr/>
                </a:tc>
                <a:tc>
                  <a:txBody>
                    <a:bodyPr lIns="54864" rIns="54864" tIns="18288" bIns="18288" wrap="square" anchor="ctr"/>
                    <a:lstStyle/>
                    <a:p>
                      <a:pPr algn="l"/>
                      <a:r>
                        <a:rPr sz="1100" b="0">
                          <a:solidFill>
                            <a:srgbClr val="000000"/>
                          </a:solidFill>
                          <a:latin typeface="Calibri"/>
                        </a:rPr>
                        <a:t>37–93 % range</a:t>
                      </a:r>
                    </a:p>
                  </a:txBody>
                  <a:tcPr/>
                </a:tc>
              </a:tr>
            </a:tbl>
          </a:graphicData>
        </a:graphic>
      </p:graphicFrame>
      <p:pic>
        <p:nvPicPr>
          <p:cNvPr id="7" name="Picture 6" descr="V6_offset_k.png"/>
          <p:cNvPicPr>
            <a:picLocks noChangeAspect="1"/>
          </p:cNvPicPr>
          <p:nvPr/>
        </p:nvPicPr>
        <p:blipFill>
          <a:blip r:embed="rId2"/>
          <a:stretch>
            <a:fillRect/>
          </a:stretch>
        </p:blipFill>
        <p:spPr>
          <a:xfrm>
            <a:off x="7863840" y="1371600"/>
            <a:ext cx="4023360" cy="3367701"/>
          </a:xfrm>
          <a:prstGeom prst="rect">
            <a:avLst/>
          </a:prstGeom>
        </p:spPr>
      </p:pic>
      <p:sp>
        <p:nvSpPr>
          <p:cNvPr id="8" name="Rectangle 7"/>
          <p:cNvSpPr/>
          <p:nvPr/>
        </p:nvSpPr>
        <p:spPr>
          <a:xfrm>
            <a:off x="365760" y="4023360"/>
            <a:ext cx="731520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PASS — strength lands inside the journal (k ≈ 1) AND sits at a coherent k ≈ 1.2 vs the add:north E-PLA datasheet (80 % strength / 91 % stiffness), repeatable at CV 2.5 % across 5 specimens.</a:t>
            </a:r>
          </a:p>
        </p:txBody>
      </p:sp>
      <p:sp>
        <p:nvSpPr>
          <p:cNvPr id="9" name="Rectangle 8"/>
          <p:cNvSpPr/>
          <p:nvPr/>
        </p:nvSpPr>
        <p:spPr>
          <a:xfrm>
            <a:off x="365760" y="5074920"/>
            <a:ext cx="7315200" cy="7772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Caveat: elastic modulus is ~13 % below the journal floor (but meets the datasheet at 91 %); ε_f is reported as a 3–7 % range, not a single value.</a:t>
            </a:r>
          </a:p>
        </p:txBody>
      </p:sp>
      <p:sp>
        <p:nvSpPr>
          <p:cNvPr id="10" name="TextBox 9"/>
          <p:cNvSpPr txBox="1"/>
          <p:nvPr/>
        </p:nvSpPr>
        <p:spPr>
          <a:xfrm>
            <a:off x="7863840" y="5577840"/>
            <a:ext cx="4023360" cy="274320"/>
          </a:xfrm>
          <a:prstGeom prst="rect">
            <a:avLst/>
          </a:prstGeom>
          <a:noFill/>
        </p:spPr>
        <p:txBody>
          <a:bodyPr wrap="square">
            <a:spAutoFit/>
          </a:bodyPr>
          <a:lstStyle/>
          <a:p>
            <a:r>
              <a:rPr sz="1100" u="sng">
                <a:solidFill>
                  <a:srgbClr val="1A5FB4"/>
                </a:solidFill>
                <a:latin typeface="Calibri"/>
                <a:hlinkClick r:id="rId3"/>
              </a:rPr>
              <a:t>add:north E-PLA TDS (ISO 527 / 178)</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Writeup: 100 % PLA validated vs literature for strength (k≈1 vs Chacón); characterised at k≈1.2 vs add:north E-PLA datasheet; modulus meets datasheet, marginally below journal; ε_f = 3–7 % range.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PHASE 8.6.20: FRACTURE PATTERNS — 50 % vs 100 % INFILL (V5 &amp; V6)</a:t>
            </a:r>
          </a:p>
        </p:txBody>
      </p:sp>
      <p:sp>
        <p:nvSpPr>
          <p:cNvPr id="5" name="TextBox 4"/>
          <p:cNvSpPr txBox="1"/>
          <p:nvPr/>
        </p:nvSpPr>
        <p:spPr>
          <a:xfrm>
            <a:off x="411480" y="1444752"/>
            <a:ext cx="2651760" cy="292608"/>
          </a:xfrm>
          <a:prstGeom prst="rect">
            <a:avLst/>
          </a:prstGeom>
          <a:noFill/>
        </p:spPr>
        <p:txBody>
          <a:bodyPr wrap="square" lIns="45720" rIns="45720" tIns="18288" bIns="18288" anchor="t">
            <a:spAutoFit/>
          </a:bodyPr>
          <a:lstStyle/>
          <a:p>
            <a:pPr algn="l"/>
            <a:r>
              <a:rPr sz="1200" b="1" i="0">
                <a:solidFill>
                  <a:srgbClr val="1F3F2F"/>
                </a:solidFill>
                <a:latin typeface="Calibri"/>
              </a:rPr>
              <a:t>FRACTURE — KEY FINDING</a:t>
            </a:r>
          </a:p>
        </p:txBody>
      </p:sp>
      <p:sp>
        <p:nvSpPr>
          <p:cNvPr id="6" name="TextBox 5"/>
          <p:cNvSpPr txBox="1"/>
          <p:nvPr/>
        </p:nvSpPr>
        <p:spPr>
          <a:xfrm>
            <a:off x="411480" y="1810512"/>
            <a:ext cx="2651760" cy="1554480"/>
          </a:xfrm>
          <a:prstGeom prst="rect">
            <a:avLst/>
          </a:prstGeom>
          <a:noFill/>
        </p:spPr>
        <p:txBody>
          <a:bodyPr wrap="square" lIns="45720" rIns="45720" tIns="18288" bIns="18288" anchor="t">
            <a:spAutoFit/>
          </a:bodyPr>
          <a:lstStyle/>
          <a:p>
            <a:pPr algn="l"/>
            <a:r>
              <a:rPr sz="1100" b="0" i="0">
                <a:solidFill>
                  <a:srgbClr val="000000"/>
                </a:solidFill>
                <a:latin typeface="Calibri"/>
              </a:rPr>
              <a:t>All 8 specimens failed the SAME way — a flat, transverse break at the lower gauge–fillet (a stress concentration), with no necking = brittle FDM failure.
Infill sets STRENGTH &amp; stiffness, NOT the failure mode.</a:t>
            </a:r>
          </a:p>
        </p:txBody>
      </p:sp>
      <p:sp>
        <p:nvSpPr>
          <p:cNvPr id="7" name="TextBox 6"/>
          <p:cNvSpPr txBox="1"/>
          <p:nvPr/>
        </p:nvSpPr>
        <p:spPr>
          <a:xfrm>
            <a:off x="9098280" y="1444752"/>
            <a:ext cx="2743200" cy="292608"/>
          </a:xfrm>
          <a:prstGeom prst="rect">
            <a:avLst/>
          </a:prstGeom>
          <a:noFill/>
        </p:spPr>
        <p:txBody>
          <a:bodyPr wrap="square" lIns="45720" rIns="45720" tIns="18288" bIns="18288" anchor="t">
            <a:spAutoFit/>
          </a:bodyPr>
          <a:lstStyle/>
          <a:p>
            <a:pPr algn="l"/>
            <a:r>
              <a:rPr sz="1200" b="1" i="0">
                <a:solidFill>
                  <a:srgbClr val="1F3F2F"/>
                </a:solidFill>
                <a:latin typeface="Calibri"/>
              </a:rPr>
              <a:t>HOW TO READ</a:t>
            </a:r>
          </a:p>
        </p:txBody>
      </p:sp>
      <p:sp>
        <p:nvSpPr>
          <p:cNvPr id="8" name="TextBox 7"/>
          <p:cNvSpPr txBox="1"/>
          <p:nvPr/>
        </p:nvSpPr>
        <p:spPr>
          <a:xfrm>
            <a:off x="9098280" y="1810512"/>
            <a:ext cx="2743200" cy="1554480"/>
          </a:xfrm>
          <a:prstGeom prst="rect">
            <a:avLst/>
          </a:prstGeom>
          <a:noFill/>
        </p:spPr>
        <p:txBody>
          <a:bodyPr wrap="square" lIns="45720" rIns="45720" tIns="18288" bIns="18288" anchor="t">
            <a:spAutoFit/>
          </a:bodyPr>
          <a:lstStyle/>
          <a:p>
            <a:pPr algn="l"/>
            <a:r>
              <a:rPr sz="1100" b="0" i="0">
                <a:solidFill>
                  <a:srgbClr val="000000"/>
                </a:solidFill>
                <a:latin typeface="Calibri"/>
              </a:rPr>
              <a:t>• 50 % faces expose the sparse infill ribs; 100 % faces are fully dense.
• V6a = pilot (batch edge). V6c / V6e = ductile cluster (ε_f ≈ 7 %); the others ≈ 3–5 %.</a:t>
            </a:r>
          </a:p>
        </p:txBody>
      </p:sp>
      <p:sp>
        <p:nvSpPr>
          <p:cNvPr id="9" name="TextBox 8"/>
          <p:cNvSpPr txBox="1"/>
          <p:nvPr/>
        </p:nvSpPr>
        <p:spPr>
          <a:xfrm>
            <a:off x="3242462" y="1417320"/>
            <a:ext cx="5486400" cy="274320"/>
          </a:xfrm>
          <a:prstGeom prst="rect">
            <a:avLst/>
          </a:prstGeom>
          <a:noFill/>
        </p:spPr>
        <p:txBody>
          <a:bodyPr wrap="square" lIns="45720" rIns="45720" tIns="18288" bIns="18288" anchor="t">
            <a:spAutoFit/>
          </a:bodyPr>
          <a:lstStyle/>
          <a:p>
            <a:pPr algn="l"/>
            <a:r>
              <a:rPr sz="1400" b="1" i="0">
                <a:solidFill>
                  <a:srgbClr val="1F5FA0"/>
                </a:solidFill>
                <a:latin typeface="Calibri"/>
              </a:rPr>
              <a:t>50 % INFILL — V5 group (LED off)</a:t>
            </a:r>
          </a:p>
        </p:txBody>
      </p:sp>
      <p:pic>
        <p:nvPicPr>
          <p:cNvPr id="10" name="Picture 9" descr="S4.jpg"/>
          <p:cNvPicPr>
            <a:picLocks noChangeAspect="1"/>
          </p:cNvPicPr>
          <p:nvPr/>
        </p:nvPicPr>
        <p:blipFill>
          <a:blip r:embed="rId2"/>
          <a:srcRect t="38925" b="2000"/>
          <a:stretch>
            <a:fillRect/>
          </a:stretch>
        </p:blipFill>
        <p:spPr>
          <a:xfrm>
            <a:off x="3242462" y="1691640"/>
            <a:ext cx="1645920" cy="1728216"/>
          </a:xfrm>
          <a:prstGeom prst="rect">
            <a:avLst/>
          </a:prstGeom>
          <a:ln w="15875">
            <a:solidFill>
              <a:srgbClr val="1F5FA0"/>
            </a:solidFill>
          </a:ln>
        </p:spPr>
      </p:pic>
      <p:sp>
        <p:nvSpPr>
          <p:cNvPr id="11" name="TextBox 10"/>
          <p:cNvSpPr txBox="1"/>
          <p:nvPr/>
        </p:nvSpPr>
        <p:spPr>
          <a:xfrm>
            <a:off x="2968142"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 · S4</a:t>
            </a:r>
          </a:p>
        </p:txBody>
      </p:sp>
      <p:sp>
        <p:nvSpPr>
          <p:cNvPr id="12" name="TextBox 11"/>
          <p:cNvSpPr txBox="1"/>
          <p:nvPr/>
        </p:nvSpPr>
        <p:spPr>
          <a:xfrm>
            <a:off x="2968142"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22.1 MPa · ε_f 2.5 %</a:t>
            </a:r>
          </a:p>
        </p:txBody>
      </p:sp>
      <p:pic>
        <p:nvPicPr>
          <p:cNvPr id="13" name="Picture 12" descr="S3(1).jpg"/>
          <p:cNvPicPr>
            <a:picLocks noChangeAspect="1"/>
          </p:cNvPicPr>
          <p:nvPr/>
        </p:nvPicPr>
        <p:blipFill>
          <a:blip r:embed="rId3"/>
          <a:srcRect t="38937" b="2000"/>
          <a:stretch>
            <a:fillRect/>
          </a:stretch>
        </p:blipFill>
        <p:spPr>
          <a:xfrm>
            <a:off x="5272430" y="1691640"/>
            <a:ext cx="1645920" cy="1728216"/>
          </a:xfrm>
          <a:prstGeom prst="rect">
            <a:avLst/>
          </a:prstGeom>
          <a:ln w="15875">
            <a:solidFill>
              <a:srgbClr val="1F5FA0"/>
            </a:solidFill>
          </a:ln>
        </p:spPr>
      </p:pic>
      <p:sp>
        <p:nvSpPr>
          <p:cNvPr id="14" name="TextBox 13"/>
          <p:cNvSpPr txBox="1"/>
          <p:nvPr/>
        </p:nvSpPr>
        <p:spPr>
          <a:xfrm>
            <a:off x="4998110"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V5b · S3</a:t>
            </a:r>
          </a:p>
        </p:txBody>
      </p:sp>
      <p:sp>
        <p:nvSpPr>
          <p:cNvPr id="15" name="TextBox 14"/>
          <p:cNvSpPr txBox="1"/>
          <p:nvPr/>
        </p:nvSpPr>
        <p:spPr>
          <a:xfrm>
            <a:off x="4998110"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22.0 MPa · ε_f 2.6 %</a:t>
            </a:r>
          </a:p>
        </p:txBody>
      </p:sp>
      <p:pic>
        <p:nvPicPr>
          <p:cNvPr id="16" name="Picture 15" descr="S2_2 (1).jpg"/>
          <p:cNvPicPr>
            <a:picLocks noChangeAspect="1"/>
          </p:cNvPicPr>
          <p:nvPr/>
        </p:nvPicPr>
        <p:blipFill>
          <a:blip r:embed="rId4"/>
          <a:srcRect t="38937" b="2000"/>
          <a:stretch>
            <a:fillRect/>
          </a:stretch>
        </p:blipFill>
        <p:spPr>
          <a:xfrm>
            <a:off x="7302398" y="1691640"/>
            <a:ext cx="1645920" cy="1728216"/>
          </a:xfrm>
          <a:prstGeom prst="rect">
            <a:avLst/>
          </a:prstGeom>
          <a:ln w="15875">
            <a:solidFill>
              <a:srgbClr val="1F5FA0"/>
            </a:solidFill>
          </a:ln>
        </p:spPr>
      </p:pic>
      <p:sp>
        <p:nvSpPr>
          <p:cNvPr id="17" name="TextBox 16"/>
          <p:cNvSpPr txBox="1"/>
          <p:nvPr/>
        </p:nvSpPr>
        <p:spPr>
          <a:xfrm>
            <a:off x="7028078" y="3429000"/>
            <a:ext cx="2194560" cy="182880"/>
          </a:xfrm>
          <a:prstGeom prst="rect">
            <a:avLst/>
          </a:prstGeom>
          <a:noFill/>
        </p:spPr>
        <p:txBody>
          <a:bodyPr wrap="square" lIns="45720" rIns="45720" tIns="18288" bIns="18288" anchor="t">
            <a:spAutoFit/>
          </a:bodyPr>
          <a:lstStyle/>
          <a:p>
            <a:pPr algn="ctr"/>
            <a:r>
              <a:rPr sz="1050" b="1" i="0">
                <a:solidFill>
                  <a:srgbClr val="1F5FA0"/>
                </a:solidFill>
                <a:latin typeface="Calibri"/>
              </a:rPr>
              <a:t>V5c · S2</a:t>
            </a:r>
          </a:p>
        </p:txBody>
      </p:sp>
      <p:sp>
        <p:nvSpPr>
          <p:cNvPr id="18" name="TextBox 17"/>
          <p:cNvSpPr txBox="1"/>
          <p:nvPr/>
        </p:nvSpPr>
        <p:spPr>
          <a:xfrm>
            <a:off x="7028078" y="3611880"/>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22.0 MPa · ε_f 3.1 %</a:t>
            </a:r>
          </a:p>
        </p:txBody>
      </p:sp>
      <p:sp>
        <p:nvSpPr>
          <p:cNvPr id="19" name="TextBox 18"/>
          <p:cNvSpPr txBox="1"/>
          <p:nvPr/>
        </p:nvSpPr>
        <p:spPr>
          <a:xfrm>
            <a:off x="914400" y="3840480"/>
            <a:ext cx="7315200" cy="274320"/>
          </a:xfrm>
          <a:prstGeom prst="rect">
            <a:avLst/>
          </a:prstGeom>
          <a:noFill/>
        </p:spPr>
        <p:txBody>
          <a:bodyPr wrap="square" lIns="45720" rIns="45720" tIns="18288" bIns="18288" anchor="t">
            <a:spAutoFit/>
          </a:bodyPr>
          <a:lstStyle/>
          <a:p>
            <a:pPr algn="l"/>
            <a:r>
              <a:rPr sz="1400" b="1" i="0">
                <a:solidFill>
                  <a:srgbClr val="C00000"/>
                </a:solidFill>
                <a:latin typeface="Calibri"/>
              </a:rPr>
              <a:t>100 % INFILL — V6 quintet (LED on)</a:t>
            </a:r>
          </a:p>
        </p:txBody>
      </p:sp>
      <p:pic>
        <p:nvPicPr>
          <p:cNvPr id="20" name="Picture 19" descr="S7(1).jpg"/>
          <p:cNvPicPr>
            <a:picLocks noChangeAspect="1"/>
          </p:cNvPicPr>
          <p:nvPr/>
        </p:nvPicPr>
        <p:blipFill>
          <a:blip r:embed="rId5"/>
          <a:srcRect t="38925" b="2000"/>
          <a:stretch>
            <a:fillRect/>
          </a:stretch>
        </p:blipFill>
        <p:spPr>
          <a:xfrm>
            <a:off x="1212494" y="4133087"/>
            <a:ext cx="1645920" cy="1728216"/>
          </a:xfrm>
          <a:prstGeom prst="rect">
            <a:avLst/>
          </a:prstGeom>
          <a:ln w="15875">
            <a:solidFill>
              <a:srgbClr val="C00000"/>
            </a:solidFill>
          </a:ln>
        </p:spPr>
      </p:pic>
      <p:sp>
        <p:nvSpPr>
          <p:cNvPr id="21" name="TextBox 20"/>
          <p:cNvSpPr txBox="1"/>
          <p:nvPr/>
        </p:nvSpPr>
        <p:spPr>
          <a:xfrm>
            <a:off x="938174"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V6a · S7  (pilot)</a:t>
            </a:r>
          </a:p>
        </p:txBody>
      </p:sp>
      <p:sp>
        <p:nvSpPr>
          <p:cNvPr id="22" name="TextBox 21"/>
          <p:cNvSpPr txBox="1"/>
          <p:nvPr/>
        </p:nvSpPr>
        <p:spPr>
          <a:xfrm>
            <a:off x="938174"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47.8 MPa · ε_f 3.0 %</a:t>
            </a:r>
          </a:p>
        </p:txBody>
      </p:sp>
      <p:pic>
        <p:nvPicPr>
          <p:cNvPr id="23" name="Picture 22" descr="S8 (1).jpg"/>
          <p:cNvPicPr>
            <a:picLocks noChangeAspect="1"/>
          </p:cNvPicPr>
          <p:nvPr/>
        </p:nvPicPr>
        <p:blipFill>
          <a:blip r:embed="rId6"/>
          <a:srcRect t="39780" b="2000"/>
          <a:stretch>
            <a:fillRect/>
          </a:stretch>
        </p:blipFill>
        <p:spPr>
          <a:xfrm>
            <a:off x="3242462" y="4133087"/>
            <a:ext cx="1645920" cy="1728216"/>
          </a:xfrm>
          <a:prstGeom prst="rect">
            <a:avLst/>
          </a:prstGeom>
          <a:ln w="15875">
            <a:solidFill>
              <a:srgbClr val="C00000"/>
            </a:solidFill>
          </a:ln>
        </p:spPr>
      </p:pic>
      <p:sp>
        <p:nvSpPr>
          <p:cNvPr id="24" name="TextBox 23"/>
          <p:cNvSpPr txBox="1"/>
          <p:nvPr/>
        </p:nvSpPr>
        <p:spPr>
          <a:xfrm>
            <a:off x="2968142"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V6b · S8</a:t>
            </a:r>
          </a:p>
        </p:txBody>
      </p:sp>
      <p:sp>
        <p:nvSpPr>
          <p:cNvPr id="25" name="TextBox 24"/>
          <p:cNvSpPr txBox="1"/>
          <p:nvPr/>
        </p:nvSpPr>
        <p:spPr>
          <a:xfrm>
            <a:off x="2968142"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44.8 MPa · ε_f 5.2 %</a:t>
            </a:r>
          </a:p>
        </p:txBody>
      </p:sp>
      <p:pic>
        <p:nvPicPr>
          <p:cNvPr id="26" name="Picture 25" descr="S10 (1).jpg"/>
          <p:cNvPicPr>
            <a:picLocks noChangeAspect="1"/>
          </p:cNvPicPr>
          <p:nvPr/>
        </p:nvPicPr>
        <p:blipFill>
          <a:blip r:embed="rId7"/>
          <a:srcRect t="35346" b="2000"/>
          <a:stretch>
            <a:fillRect/>
          </a:stretch>
        </p:blipFill>
        <p:spPr>
          <a:xfrm>
            <a:off x="5272430" y="4133087"/>
            <a:ext cx="1645920" cy="1728216"/>
          </a:xfrm>
          <a:prstGeom prst="rect">
            <a:avLst/>
          </a:prstGeom>
          <a:ln w="15875">
            <a:solidFill>
              <a:srgbClr val="C00000"/>
            </a:solidFill>
          </a:ln>
        </p:spPr>
      </p:pic>
      <p:sp>
        <p:nvSpPr>
          <p:cNvPr id="27" name="TextBox 26"/>
          <p:cNvSpPr txBox="1"/>
          <p:nvPr/>
        </p:nvSpPr>
        <p:spPr>
          <a:xfrm>
            <a:off x="4998110"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V6c · S10  (ductile)</a:t>
            </a:r>
          </a:p>
        </p:txBody>
      </p:sp>
      <p:sp>
        <p:nvSpPr>
          <p:cNvPr id="28" name="TextBox 27"/>
          <p:cNvSpPr txBox="1"/>
          <p:nvPr/>
        </p:nvSpPr>
        <p:spPr>
          <a:xfrm>
            <a:off x="4998110"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46.8 MPa · ε_f 7.3 %</a:t>
            </a:r>
          </a:p>
        </p:txBody>
      </p:sp>
      <p:pic>
        <p:nvPicPr>
          <p:cNvPr id="29" name="Picture 28" descr="S11 (1).jpg"/>
          <p:cNvPicPr>
            <a:picLocks noChangeAspect="1"/>
          </p:cNvPicPr>
          <p:nvPr/>
        </p:nvPicPr>
        <p:blipFill>
          <a:blip r:embed="rId8"/>
          <a:srcRect t="31023" b="2000"/>
          <a:stretch>
            <a:fillRect/>
          </a:stretch>
        </p:blipFill>
        <p:spPr>
          <a:xfrm>
            <a:off x="7302398" y="4133087"/>
            <a:ext cx="1645920" cy="1728216"/>
          </a:xfrm>
          <a:prstGeom prst="rect">
            <a:avLst/>
          </a:prstGeom>
          <a:ln w="15875">
            <a:solidFill>
              <a:srgbClr val="C00000"/>
            </a:solidFill>
          </a:ln>
        </p:spPr>
      </p:pic>
      <p:sp>
        <p:nvSpPr>
          <p:cNvPr id="30" name="TextBox 29"/>
          <p:cNvSpPr txBox="1"/>
          <p:nvPr/>
        </p:nvSpPr>
        <p:spPr>
          <a:xfrm>
            <a:off x="7028078"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V6d · S11</a:t>
            </a:r>
          </a:p>
        </p:txBody>
      </p:sp>
      <p:sp>
        <p:nvSpPr>
          <p:cNvPr id="31" name="TextBox 30"/>
          <p:cNvSpPr txBox="1"/>
          <p:nvPr/>
        </p:nvSpPr>
        <p:spPr>
          <a:xfrm>
            <a:off x="7028078"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46.1 MPa · ε_f 5.0 %</a:t>
            </a:r>
          </a:p>
        </p:txBody>
      </p:sp>
      <p:pic>
        <p:nvPicPr>
          <p:cNvPr id="32" name="Picture 31" descr="S9 (1).jpg"/>
          <p:cNvPicPr>
            <a:picLocks noChangeAspect="1"/>
          </p:cNvPicPr>
          <p:nvPr/>
        </p:nvPicPr>
        <p:blipFill>
          <a:blip r:embed="rId9"/>
          <a:srcRect t="31084" b="2000"/>
          <a:stretch>
            <a:fillRect/>
          </a:stretch>
        </p:blipFill>
        <p:spPr>
          <a:xfrm>
            <a:off x="9332366" y="4133087"/>
            <a:ext cx="1645920" cy="1728216"/>
          </a:xfrm>
          <a:prstGeom prst="rect">
            <a:avLst/>
          </a:prstGeom>
          <a:ln w="15875">
            <a:solidFill>
              <a:srgbClr val="C00000"/>
            </a:solidFill>
          </a:ln>
        </p:spPr>
      </p:pic>
      <p:sp>
        <p:nvSpPr>
          <p:cNvPr id="33" name="TextBox 32"/>
          <p:cNvSpPr txBox="1"/>
          <p:nvPr/>
        </p:nvSpPr>
        <p:spPr>
          <a:xfrm>
            <a:off x="9058046" y="5870448"/>
            <a:ext cx="2194560" cy="182880"/>
          </a:xfrm>
          <a:prstGeom prst="rect">
            <a:avLst/>
          </a:prstGeom>
          <a:noFill/>
        </p:spPr>
        <p:txBody>
          <a:bodyPr wrap="square" lIns="45720" rIns="45720" tIns="18288" bIns="18288" anchor="t">
            <a:spAutoFit/>
          </a:bodyPr>
          <a:lstStyle/>
          <a:p>
            <a:pPr algn="ctr"/>
            <a:r>
              <a:rPr sz="1050" b="1" i="0">
                <a:solidFill>
                  <a:srgbClr val="C00000"/>
                </a:solidFill>
                <a:latin typeface="Calibri"/>
              </a:rPr>
              <a:t>V6e · S9  (ductile)</a:t>
            </a:r>
          </a:p>
        </p:txBody>
      </p:sp>
      <p:sp>
        <p:nvSpPr>
          <p:cNvPr id="34" name="TextBox 33"/>
          <p:cNvSpPr txBox="1"/>
          <p:nvPr/>
        </p:nvSpPr>
        <p:spPr>
          <a:xfrm>
            <a:off x="9058046" y="6053328"/>
            <a:ext cx="2194560" cy="182880"/>
          </a:xfrm>
          <a:prstGeom prst="rect">
            <a:avLst/>
          </a:prstGeom>
          <a:noFill/>
        </p:spPr>
        <p:txBody>
          <a:bodyPr wrap="square" lIns="45720" rIns="45720" tIns="18288" bIns="18288" anchor="t">
            <a:spAutoFit/>
          </a:bodyPr>
          <a:lstStyle/>
          <a:p>
            <a:pPr algn="ctr"/>
            <a:r>
              <a:rPr sz="950" b="0" i="0">
                <a:solidFill>
                  <a:srgbClr val="000000"/>
                </a:solidFill>
                <a:latin typeface="Calibri"/>
              </a:rPr>
              <a:t>45.5 MPa · ε_f 7.4 %</a:t>
            </a:r>
          </a:p>
        </p:txBody>
      </p:sp>
      <p:sp>
        <p:nvSpPr>
          <p:cNvPr id="35" name="TextBox 3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Each specimen photo is an individually placed, croppable picture (…/8.6.20 - Tensile test to Failure/Specimen_S*/). Labels = measured UTS · ε_f. Reset crop in PowerPoint to see the full specimen.</a:t>
            </a:r>
          </a:p>
        </p:txBody>
      </p:sp>
      <p:sp>
        <p:nvSpPr>
          <p:cNvPr id="36" name="TextBox 3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UTM SOFTWARE: AUTOMATIC PRELOAD (‘PRELOAD TENSION’)</a:t>
            </a:r>
          </a:p>
        </p:txBody>
      </p:sp>
      <p:sp>
        <p:nvSpPr>
          <p:cNvPr id="5" name="TextBox 4"/>
          <p:cNvSpPr txBox="1"/>
          <p:nvPr/>
        </p:nvSpPr>
        <p:spPr>
          <a:xfrm>
            <a:off x="457200" y="1490472"/>
            <a:ext cx="1097280" cy="320040"/>
          </a:xfrm>
          <a:prstGeom prst="rect">
            <a:avLst/>
          </a:prstGeom>
          <a:noFill/>
        </p:spPr>
        <p:txBody>
          <a:bodyPr wrap="square" lIns="45720" rIns="45720" tIns="18288" bIns="18288" anchor="t">
            <a:spAutoFit/>
          </a:bodyPr>
          <a:lstStyle/>
          <a:p>
            <a:pPr algn="l"/>
            <a:r>
              <a:rPr sz="1400" b="0" i="0">
                <a:solidFill>
                  <a:srgbClr val="000000"/>
                </a:solidFill>
                <a:latin typeface="Calibri"/>
              </a:rPr>
              <a:t>Preload to:</a:t>
            </a:r>
          </a:p>
        </p:txBody>
      </p:sp>
      <p:sp>
        <p:nvSpPr>
          <p:cNvPr id="6" name="Rounded Rectangle 5"/>
          <p:cNvSpPr/>
          <p:nvPr/>
        </p:nvSpPr>
        <p:spPr>
          <a:xfrm>
            <a:off x="1572768" y="1444752"/>
            <a:ext cx="960120" cy="384048"/>
          </a:xfrm>
          <a:prstGeom prst="roundRect">
            <a:avLst/>
          </a:prstGeom>
          <a:solidFill>
            <a:srgbClr val="FFFFFF"/>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300" b="0">
                <a:solidFill>
                  <a:srgbClr val="000000"/>
                </a:solidFill>
                <a:latin typeface="Calibri"/>
              </a:rPr>
              <a:t>470 N</a:t>
            </a:r>
          </a:p>
        </p:txBody>
      </p:sp>
      <p:sp>
        <p:nvSpPr>
          <p:cNvPr id="7" name="Rounded Rectangle 6"/>
          <p:cNvSpPr/>
          <p:nvPr/>
        </p:nvSpPr>
        <p:spPr>
          <a:xfrm>
            <a:off x="2551176" y="1444752"/>
            <a:ext cx="292608" cy="384048"/>
          </a:xfrm>
          <a:prstGeom prst="roundRect">
            <a:avLst/>
          </a:prstGeom>
          <a:solidFill>
            <a:srgbClr val="F2F2F2"/>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800" b="0">
                <a:solidFill>
                  <a:srgbClr val="707070"/>
                </a:solidFill>
                <a:latin typeface="Calibri"/>
              </a:rPr>
              <a:t>▴
▾</a:t>
            </a:r>
          </a:p>
        </p:txBody>
      </p:sp>
      <p:sp>
        <p:nvSpPr>
          <p:cNvPr id="8" name="Rounded Rectangle 7"/>
          <p:cNvSpPr/>
          <p:nvPr/>
        </p:nvSpPr>
        <p:spPr>
          <a:xfrm>
            <a:off x="2990088" y="1444752"/>
            <a:ext cx="1600200" cy="384048"/>
          </a:xfrm>
          <a:prstGeom prst="roundRect">
            <a:avLst/>
          </a:prstGeom>
          <a:solidFill>
            <a:srgbClr val="ECECEC"/>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0">
                <a:solidFill>
                  <a:srgbClr val="555555"/>
                </a:solidFill>
                <a:latin typeface="Calibri"/>
              </a:rPr>
              <a:t>Preload tension</a:t>
            </a:r>
          </a:p>
        </p:txBody>
      </p:sp>
      <p:sp>
        <p:nvSpPr>
          <p:cNvPr id="9" name="TextBox 8"/>
          <p:cNvSpPr txBox="1"/>
          <p:nvPr/>
        </p:nvSpPr>
        <p:spPr>
          <a:xfrm>
            <a:off x="457200" y="1938528"/>
            <a:ext cx="4572000" cy="457200"/>
          </a:xfrm>
          <a:prstGeom prst="rect">
            <a:avLst/>
          </a:prstGeom>
          <a:noFill/>
        </p:spPr>
        <p:txBody>
          <a:bodyPr wrap="square" lIns="45720" rIns="45720" tIns="18288" bIns="18288" anchor="t">
            <a:spAutoFit/>
          </a:bodyPr>
          <a:lstStyle/>
          <a:p>
            <a:pPr algn="l"/>
            <a:r>
              <a:rPr sz="1050" b="0" i="1">
                <a:solidFill>
                  <a:srgbClr val="707070"/>
                </a:solidFill>
                <a:latin typeface="Calibri"/>
              </a:rPr>
              <a:t>The operator control (screen recreation): type a target load, click once — the crosshead auto-tensions to it, hands-off.</a:t>
            </a:r>
          </a:p>
        </p:txBody>
      </p:sp>
      <p:sp>
        <p:nvSpPr>
          <p:cNvPr id="10" name="TextBox 9"/>
          <p:cNvSpPr txBox="1"/>
          <p:nvPr/>
        </p:nvSpPr>
        <p:spPr>
          <a:xfrm>
            <a:off x="457200" y="25146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it works — one click, hands-off</a:t>
            </a:r>
          </a:p>
        </p:txBody>
      </p:sp>
      <p:sp>
        <p:nvSpPr>
          <p:cNvPr id="11" name="TextBox 10"/>
          <p:cNvSpPr txBox="1"/>
          <p:nvPr/>
        </p:nvSpPr>
        <p:spPr>
          <a:xfrm>
            <a:off x="457200" y="2880360"/>
            <a:ext cx="5577840" cy="2743200"/>
          </a:xfrm>
          <a:prstGeom prst="rect">
            <a:avLst/>
          </a:prstGeom>
          <a:noFill/>
        </p:spPr>
        <p:txBody>
          <a:bodyPr wrap="square" lIns="45720" rIns="45720" tIns="18288" bIns="18288" anchor="t">
            <a:spAutoFit/>
          </a:bodyPr>
          <a:lstStyle/>
          <a:p>
            <a:pPr algn="l"/>
            <a:r>
              <a:rPr sz="1200" b="0" i="0">
                <a:solidFill>
                  <a:srgbClr val="000000"/>
                </a:solidFill>
                <a:latin typeface="Calibri"/>
              </a:rPr>
              <a:t>1.  Enter the target preload (e.g. 470 N) and press Preload tension.
2.  The crosshead tensions at a LOAD-scheduled speed: 0.20 mm/s up to ~15 % of target, 0.10 mm/s to 50 %, then ramps to a gentle 0.02 mm/s as it nears the target.
3.  It stops at 1.03× the target — a deliberate ~3 % overshoot.
4.  PLA stress-relaxes ~2 % while held → the load settles AT / just above the target.</a:t>
            </a:r>
          </a:p>
        </p:txBody>
      </p:sp>
      <p:pic>
        <p:nvPicPr>
          <p:cNvPr id="12" name="Picture 11" descr="preload_schedule.png"/>
          <p:cNvPicPr>
            <a:picLocks noChangeAspect="1"/>
          </p:cNvPicPr>
          <p:nvPr/>
        </p:nvPicPr>
        <p:blipFill>
          <a:blip r:embed="rId2"/>
          <a:stretch>
            <a:fillRect/>
          </a:stretch>
        </p:blipFill>
        <p:spPr>
          <a:xfrm>
            <a:off x="6172200" y="1508760"/>
            <a:ext cx="5669280" cy="3556891"/>
          </a:xfrm>
          <a:prstGeom prst="rect">
            <a:avLst/>
          </a:prstGeom>
        </p:spPr>
      </p:pic>
      <p:sp>
        <p:nvSpPr>
          <p:cNvPr id="13" name="Rectangle 12"/>
          <p:cNvSpPr/>
          <p:nvPr/>
        </p:nvSpPr>
        <p:spPr>
          <a:xfrm>
            <a:off x="365760" y="5715000"/>
            <a:ext cx="1143000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Why: manual jogging is slow and overshoots, and PLA relaxes after you stop (you would undershoot). Auto-preload lands consistently at target (+3 % set − ~2 % relaxation ≈ target). Safety: hard cap 1.25× target, 180 s timeout, live speed-only control (no Stop→restart re-latch).</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 PRELOAD_SPEED_KNOTS · TARGET_FACTOR 1.03 · OVERSHOOT_CAP 1.25 · TIMEOUT 180 s. Used to set the ~470 N preload before every V5 / V6 pull.</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SOFTWARE ROADMAP — ADVANCED FEATURES &amp; EASE OF USE: STATUS</a:t>
            </a:r>
          </a:p>
        </p:txBody>
      </p:sp>
      <p:sp>
        <p:nvSpPr>
          <p:cNvPr id="5" name="TextBox 4"/>
          <p:cNvSpPr txBox="1"/>
          <p:nvPr/>
        </p:nvSpPr>
        <p:spPr>
          <a:xfrm>
            <a:off x="365760" y="1170432"/>
            <a:ext cx="11475720" cy="566928"/>
          </a:xfrm>
          <a:prstGeom prst="rect">
            <a:avLst/>
          </a:prstGeom>
          <a:noFill/>
        </p:spPr>
        <p:txBody>
          <a:bodyPr wrap="square" lIns="45720" rIns="45720" tIns="18288" bIns="18288" anchor="t">
            <a:spAutoFit/>
          </a:bodyPr>
          <a:lstStyle/>
          <a:p>
            <a:pPr algn="l"/>
            <a:r>
              <a:rPr sz="1200" b="0" i="0">
                <a:solidFill>
                  <a:srgbClr val="000000"/>
                </a:solidFill>
                <a:latin typeface="Calibri"/>
              </a:rPr>
              <a:t>The rig automated only ONE thing (auto-preload). A phased roadmap adds automated test modes, smart DIC and one-click analysis — each piece shippable on its own. After the full rig-test campaign:</a:t>
            </a:r>
          </a:p>
        </p:txBody>
      </p:sp>
      <p:graphicFrame>
        <p:nvGraphicFramePr>
          <p:cNvPr id="6" name="Table 5"/>
          <p:cNvGraphicFramePr>
            <a:graphicFrameLocks noGrp="1"/>
          </p:cNvGraphicFramePr>
          <p:nvPr/>
        </p:nvGraphicFramePr>
        <p:xfrm>
          <a:off x="365760" y="1847088"/>
          <a:ext cx="11475720" cy="2514600"/>
        </p:xfrm>
        <a:graphic>
          <a:graphicData uri="http://schemas.openxmlformats.org/drawingml/2006/table">
            <a:tbl>
              <a:tblPr firstRow="1" bandRow="1">
                <a:tableStyleId>{5C22544A-7EE6-4342-B048-85BDC9FD1C3A}</a:tableStyleId>
              </a:tblPr>
              <a:tblGrid>
                <a:gridCol w="2377440"/>
                <a:gridCol w="6172200"/>
                <a:gridCol w="2926080"/>
              </a:tblGrid>
              <a:tr h="419100">
                <a:tc>
                  <a:txBody>
                    <a:bodyPr lIns="54864" rIns="54864" tIns="18288" bIns="18288" wrap="square" anchor="ctr"/>
                    <a:lstStyle/>
                    <a:p>
                      <a:pPr algn="l"/>
                      <a:r>
                        <a:rPr sz="1100" b="1">
                          <a:solidFill>
                            <a:srgbClr val="FFFFFF"/>
                          </a:solidFill>
                          <a:latin typeface="Calibri"/>
                        </a:rPr>
                        <a:t>Phase</a:t>
                      </a:r>
                    </a:p>
                  </a:txBody>
                  <a:tcPr>
                    <a:solidFill>
                      <a:srgbClr val="143D2F"/>
                    </a:solidFill>
                  </a:tcPr>
                </a:tc>
                <a:tc>
                  <a:txBody>
                    <a:bodyPr lIns="54864" rIns="54864" tIns="18288" bIns="18288" wrap="square" anchor="ctr"/>
                    <a:lstStyle/>
                    <a:p>
                      <a:pPr algn="l"/>
                      <a:r>
                        <a:rPr sz="1100" b="1">
                          <a:solidFill>
                            <a:srgbClr val="FFFFFF"/>
                          </a:solidFill>
                          <a:latin typeface="Calibri"/>
                        </a:rPr>
                        <a:t>Focus</a:t>
                      </a:r>
                    </a:p>
                  </a:txBody>
                  <a:tcPr>
                    <a:solidFill>
                      <a:srgbClr val="143D2F"/>
                    </a:solidFill>
                  </a:tcPr>
                </a:tc>
                <a:tc>
                  <a:txBody>
                    <a:bodyPr lIns="54864" rIns="54864" tIns="18288" bIns="18288" wrap="square" anchor="ctr"/>
                    <a:lstStyle/>
                    <a:p>
                      <a:pPr algn="l"/>
                      <a:r>
                        <a:rPr sz="1100" b="1">
                          <a:solidFill>
                            <a:srgbClr val="FFFFFF"/>
                          </a:solidFill>
                          <a:latin typeface="Calibri"/>
                        </a:rPr>
                        <a:t>Status</a:t>
                      </a:r>
                    </a:p>
                  </a:txBody>
                  <a:tcPr>
                    <a:solidFill>
                      <a:srgbClr val="143D2F"/>
                    </a:solidFill>
                  </a:tcPr>
                </a:tc>
              </a:tr>
              <a:tr h="419100">
                <a:tc>
                  <a:txBody>
                    <a:bodyPr lIns="54864" rIns="54864" tIns="18288" bIns="18288" wrap="square" anchor="ctr"/>
                    <a:lstStyle/>
                    <a:p>
                      <a:pPr algn="l"/>
                      <a:r>
                        <a:rPr sz="1050" b="0">
                          <a:solidFill>
                            <a:srgbClr val="000000"/>
                          </a:solidFill>
                          <a:latin typeface="Calibri"/>
                        </a:rPr>
                        <a:t>0 · Foundations</a:t>
                      </a:r>
                    </a:p>
                  </a:txBody>
                  <a:tcPr/>
                </a:tc>
                <a:tc>
                  <a:txBody>
                    <a:bodyPr lIns="54864" rIns="54864" tIns="18288" bIns="18288" wrap="square" anchor="ctr"/>
                    <a:lstStyle/>
                    <a:p>
                      <a:pPr algn="l"/>
                      <a:r>
                        <a:rPr sz="1050" b="0">
                          <a:solidFill>
                            <a:srgbClr val="000000"/>
                          </a:solidFill>
                          <a:latin typeface="Calibri"/>
                        </a:rPr>
                        <a:t>shared analysis library · control engine · recipes</a:t>
                      </a:r>
                    </a:p>
                  </a:txBody>
                  <a:tcPr/>
                </a:tc>
                <a:tc>
                  <a:txBody>
                    <a:bodyPr lIns="54864" rIns="54864" tIns="18288" bIns="18288" wrap="square" anchor="ctr"/>
                    <a:lstStyle/>
                    <a:p>
                      <a:pPr algn="l"/>
                      <a:r>
                        <a:rPr sz="1050" b="1">
                          <a:solidFill>
                            <a:srgbClr val="000000"/>
                          </a:solidFill>
                          <a:latin typeface="Calibri"/>
                        </a:rPr>
                        <a:t>DONE</a:t>
                      </a:r>
                    </a:p>
                  </a:txBody>
                  <a:tcPr>
                    <a:solidFill>
                      <a:srgbClr val="C8E6C9"/>
                    </a:solidFill>
                  </a:tcPr>
                </a:tc>
              </a:tr>
              <a:tr h="419100">
                <a:tc>
                  <a:txBody>
                    <a:bodyPr lIns="54864" rIns="54864" tIns="18288" bIns="18288" wrap="square" anchor="ctr"/>
                    <a:lstStyle/>
                    <a:p>
                      <a:pPr algn="l"/>
                      <a:r>
                        <a:rPr sz="1050" b="0">
                          <a:solidFill>
                            <a:srgbClr val="000000"/>
                          </a:solidFill>
                          <a:latin typeface="Calibri"/>
                        </a:rPr>
                        <a:t>A · One-click workflow</a:t>
                      </a:r>
                    </a:p>
                  </a:txBody>
                  <a:tcPr/>
                </a:tc>
                <a:tc>
                  <a:txBody>
                    <a:bodyPr lIns="54864" rIns="54864" tIns="18288" bIns="18288" wrap="square" anchor="ctr"/>
                    <a:lstStyle/>
                    <a:p>
                      <a:pPr algn="l"/>
                      <a:r>
                        <a:rPr sz="1050" b="0">
                          <a:solidFill>
                            <a:srgbClr val="000000"/>
                          </a:solidFill>
                          <a:latin typeface="Calibri"/>
                        </a:rPr>
                        <a:t>per-test report · test registry · prepare-specimen · auto-stop</a:t>
                      </a:r>
                    </a:p>
                  </a:txBody>
                  <a:tcPr/>
                </a:tc>
                <a:tc>
                  <a:txBody>
                    <a:bodyPr lIns="54864" rIns="54864" tIns="18288" bIns="18288" wrap="square" anchor="ctr"/>
                    <a:lstStyle/>
                    <a:p>
                      <a:pPr algn="l"/>
                      <a:r>
                        <a:rPr sz="1050" b="1">
                          <a:solidFill>
                            <a:srgbClr val="000000"/>
                          </a:solidFill>
                          <a:latin typeface="Calibri"/>
                        </a:rPr>
                        <a:t>DONE — VALIDATED</a:t>
                      </a:r>
                    </a:p>
                  </a:txBody>
                  <a:tcPr>
                    <a:solidFill>
                      <a:srgbClr val="C8E6C9"/>
                    </a:solidFill>
                  </a:tcPr>
                </a:tc>
              </a:tr>
              <a:tr h="419100">
                <a:tc>
                  <a:txBody>
                    <a:bodyPr lIns="54864" rIns="54864" tIns="18288" bIns="18288" wrap="square" anchor="ctr"/>
                    <a:lstStyle/>
                    <a:p>
                      <a:pPr algn="l"/>
                      <a:r>
                        <a:rPr sz="1050" b="0">
                          <a:solidFill>
                            <a:srgbClr val="000000"/>
                          </a:solidFill>
                          <a:latin typeface="Calibri"/>
                        </a:rPr>
                        <a:t>B · Closed-loop modes</a:t>
                      </a:r>
                    </a:p>
                  </a:txBody>
                  <a:tcPr/>
                </a:tc>
                <a:tc>
                  <a:txBody>
                    <a:bodyPr lIns="54864" rIns="54864" tIns="18288" bIns="18288" wrap="square" anchor="ctr"/>
                    <a:lstStyle/>
                    <a:p>
                      <a:pPr algn="l"/>
                      <a:r>
                        <a:rPr sz="1050" b="0">
                          <a:solidFill>
                            <a:srgbClr val="000000"/>
                          </a:solidFill>
                          <a:latin typeface="Calibri"/>
                        </a:rPr>
                        <a:t>strain-rate + cyclic / staircase / relaxation / creep</a:t>
                      </a:r>
                    </a:p>
                  </a:txBody>
                  <a:tcPr/>
                </a:tc>
                <a:tc>
                  <a:txBody>
                    <a:bodyPr lIns="54864" rIns="54864" tIns="18288" bIns="18288" wrap="square" anchor="ctr"/>
                    <a:lstStyle/>
                    <a:p>
                      <a:pPr algn="l"/>
                      <a:r>
                        <a:rPr sz="1050" b="1">
                          <a:solidFill>
                            <a:srgbClr val="000000"/>
                          </a:solidFill>
                          <a:latin typeface="Calibri"/>
                        </a:rPr>
                        <a:t>strain-rate DONE · 4 to wire</a:t>
                      </a:r>
                    </a:p>
                  </a:txBody>
                  <a:tcPr>
                    <a:solidFill>
                      <a:srgbClr val="FFF3CD"/>
                    </a:solidFill>
                  </a:tcPr>
                </a:tc>
              </a:tr>
              <a:tr h="419100">
                <a:tc>
                  <a:txBody>
                    <a:bodyPr lIns="54864" rIns="54864" tIns="18288" bIns="18288" wrap="square" anchor="ctr"/>
                    <a:lstStyle/>
                    <a:p>
                      <a:pPr algn="l"/>
                      <a:r>
                        <a:rPr sz="1050" b="0">
                          <a:solidFill>
                            <a:srgbClr val="000000"/>
                          </a:solidFill>
                          <a:latin typeface="Calibri"/>
                        </a:rPr>
                        <a:t>C · Smart DIC</a:t>
                      </a:r>
                    </a:p>
                  </a:txBody>
                  <a:tcPr/>
                </a:tc>
                <a:tc>
                  <a:txBody>
                    <a:bodyPr lIns="54864" rIns="54864" tIns="18288" bIns="18288" wrap="square" anchor="ctr"/>
                    <a:lstStyle/>
                    <a:p>
                      <a:pPr algn="l"/>
                      <a:r>
                        <a:rPr sz="1050" b="0">
                          <a:solidFill>
                            <a:srgbClr val="000000"/>
                          </a:solidFill>
                          <a:latin typeface="Calibri"/>
                        </a:rPr>
                        <a:t>live health HUD + measured Poisson / true Cauchy</a:t>
                      </a:r>
                    </a:p>
                  </a:txBody>
                  <a:tcPr/>
                </a:tc>
                <a:tc>
                  <a:txBody>
                    <a:bodyPr lIns="54864" rIns="54864" tIns="18288" bIns="18288" wrap="square" anchor="ctr"/>
                    <a:lstStyle/>
                    <a:p>
                      <a:pPr algn="l"/>
                      <a:r>
                        <a:rPr sz="1050" b="1">
                          <a:solidFill>
                            <a:srgbClr val="000000"/>
                          </a:solidFill>
                          <a:latin typeface="Calibri"/>
                        </a:rPr>
                        <a:t>HUD DONE · Poisson next</a:t>
                      </a:r>
                    </a:p>
                  </a:txBody>
                  <a:tcPr>
                    <a:solidFill>
                      <a:srgbClr val="FFF3CD"/>
                    </a:solidFill>
                  </a:tcPr>
                </a:tc>
              </a:tr>
              <a:tr h="419100">
                <a:tc>
                  <a:txBody>
                    <a:bodyPr lIns="54864" rIns="54864" tIns="18288" bIns="18288" wrap="square" anchor="ctr"/>
                    <a:lstStyle/>
                    <a:p>
                      <a:pPr algn="l"/>
                      <a:r>
                        <a:rPr sz="1050" b="0">
                          <a:solidFill>
                            <a:srgbClr val="000000"/>
                          </a:solidFill>
                          <a:latin typeface="Calibri"/>
                        </a:rPr>
                        <a:t>D · UX layer</a:t>
                      </a:r>
                    </a:p>
                  </a:txBody>
                  <a:tcPr/>
                </a:tc>
                <a:tc>
                  <a:txBody>
                    <a:bodyPr lIns="54864" rIns="54864" tIns="18288" bIns="18288" wrap="square" anchor="ctr"/>
                    <a:lstStyle/>
                    <a:p>
                      <a:pPr algn="l"/>
                      <a:r>
                        <a:rPr sz="1050" b="0">
                          <a:solidFill>
                            <a:srgbClr val="000000"/>
                          </a:solidFill>
                          <a:latin typeface="Calibri"/>
                        </a:rPr>
                        <a:t>guided wizard · live overlay · dashboard</a:t>
                      </a:r>
                    </a:p>
                  </a:txBody>
                  <a:tcPr/>
                </a:tc>
                <a:tc>
                  <a:txBody>
                    <a:bodyPr lIns="54864" rIns="54864" tIns="18288" bIns="18288" wrap="square" anchor="ctr"/>
                    <a:lstStyle/>
                    <a:p>
                      <a:pPr algn="l"/>
                      <a:r>
                        <a:rPr sz="1050" b="1">
                          <a:solidFill>
                            <a:srgbClr val="000000"/>
                          </a:solidFill>
                          <a:latin typeface="Calibri"/>
                        </a:rPr>
                        <a:t>PLANNED</a:t>
                      </a:r>
                    </a:p>
                  </a:txBody>
                  <a:tcPr>
                    <a:solidFill>
                      <a:srgbClr val="E8E8E8"/>
                    </a:solidFill>
                  </a:tcPr>
                </a:tc>
              </a:tr>
            </a:tbl>
          </a:graphicData>
        </a:graphic>
      </p:graphicFrame>
      <p:sp>
        <p:nvSpPr>
          <p:cNvPr id="7" name="Rounded Rectangle 6"/>
          <p:cNvSpPr/>
          <p:nvPr/>
        </p:nvSpPr>
        <p:spPr>
          <a:xfrm>
            <a:off x="365760"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7</a:t>
            </a:r>
          </a:p>
          <a:p>
            <a:pPr algn="ctr"/>
            <a:r>
              <a:rPr sz="950">
                <a:solidFill>
                  <a:srgbClr val="000000"/>
                </a:solidFill>
                <a:latin typeface="Calibri"/>
              </a:rPr>
              <a:t>MODULES (in git)</a:t>
            </a:r>
          </a:p>
        </p:txBody>
      </p:sp>
      <p:sp>
        <p:nvSpPr>
          <p:cNvPr id="8" name="Rounded Rectangle 7"/>
          <p:cNvSpPr/>
          <p:nvPr/>
        </p:nvSpPr>
        <p:spPr>
          <a:xfrm>
            <a:off x="3310128"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a:t>
            </a:r>
          </a:p>
          <a:p>
            <a:pPr algn="ctr"/>
            <a:r>
              <a:rPr sz="950">
                <a:solidFill>
                  <a:srgbClr val="000000"/>
                </a:solidFill>
                <a:latin typeface="Calibri"/>
              </a:rPr>
              <a:t>APP FEATURES</a:t>
            </a:r>
          </a:p>
        </p:txBody>
      </p:sp>
      <p:sp>
        <p:nvSpPr>
          <p:cNvPr id="9" name="Rounded Rectangle 8"/>
          <p:cNvSpPr/>
          <p:nvPr/>
        </p:nvSpPr>
        <p:spPr>
          <a:xfrm>
            <a:off x="6254496" y="4590288"/>
            <a:ext cx="269748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 / 9</a:t>
            </a:r>
          </a:p>
          <a:p>
            <a:pPr algn="ctr"/>
            <a:r>
              <a:rPr sz="950">
                <a:solidFill>
                  <a:srgbClr val="000000"/>
                </a:solidFill>
                <a:latin typeface="Calibri"/>
              </a:rPr>
              <a:t>SIM CHECKS PASSED</a:t>
            </a:r>
          </a:p>
        </p:txBody>
      </p:sp>
      <p:sp>
        <p:nvSpPr>
          <p:cNvPr id="10" name="Rounded Rectangle 9"/>
          <p:cNvSpPr/>
          <p:nvPr/>
        </p:nvSpPr>
        <p:spPr>
          <a:xfrm>
            <a:off x="9198864" y="4590288"/>
            <a:ext cx="2642616"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6 / 6</a:t>
            </a:r>
          </a:p>
          <a:p>
            <a:pPr algn="ctr"/>
            <a:r>
              <a:rPr sz="950">
                <a:solidFill>
                  <a:srgbClr val="000000"/>
                </a:solidFill>
                <a:latin typeface="Calibri"/>
              </a:rPr>
              <a:t>RIG TESTS PASSED</a:t>
            </a:r>
          </a:p>
        </p:txBody>
      </p:sp>
      <p:sp>
        <p:nvSpPr>
          <p:cNvPr id="11" name="Rectangle 10"/>
          <p:cNvSpPr/>
          <p:nvPr/>
        </p:nvSpPr>
        <p:spPr>
          <a:xfrm>
            <a:off x="365760" y="5650992"/>
            <a:ext cx="11475720" cy="84124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LEGEND — DONE + rig-validated (green) · partial, more to wire (amber) · PLANNED (grey).  Foundations, the one-click workflow and the strain-rate fracture test are validated on the rig; the remaining modes, measured Poisson and the UX layer are next.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analysis logic is unit-tested / sim-validated offline; the app feature set is now snapshot-committed (main.py a3b187f) after the full rig-test campaign — see ROADMAP.md / TESTING_TODO.md.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DONE — BUILT, VERIFIED &amp; COMMITTED</a:t>
            </a:r>
          </a:p>
        </p:txBody>
      </p:sp>
      <p:sp>
        <p:nvSpPr>
          <p:cNvPr id="5" name="TextBox 4"/>
          <p:cNvSpPr txBox="1"/>
          <p:nvPr/>
        </p:nvSpPr>
        <p:spPr>
          <a:xfrm>
            <a:off x="365760" y="117043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Analysis &amp; workflow tooling (offline-verified, in git)</a:t>
            </a:r>
          </a:p>
        </p:txBody>
      </p:sp>
      <p:graphicFrame>
        <p:nvGraphicFramePr>
          <p:cNvPr id="6" name="Table 5"/>
          <p:cNvGraphicFramePr>
            <a:graphicFrameLocks noGrp="1"/>
          </p:cNvGraphicFramePr>
          <p:nvPr/>
        </p:nvGraphicFramePr>
        <p:xfrm>
          <a:off x="365760" y="1554480"/>
          <a:ext cx="5623559" cy="2834640"/>
        </p:xfrm>
        <a:graphic>
          <a:graphicData uri="http://schemas.openxmlformats.org/drawingml/2006/table">
            <a:tbl>
              <a:tblPr firstRow="1" bandRow="1">
                <a:tableStyleId>{5C22544A-7EE6-4342-B048-85BDC9FD1C3A}</a:tableStyleId>
              </a:tblPr>
              <a:tblGrid>
                <a:gridCol w="2057400"/>
                <a:gridCol w="3566159"/>
              </a:tblGrid>
              <a:tr h="404948">
                <a:tc>
                  <a:txBody>
                    <a:bodyPr lIns="54864" rIns="54864" tIns="18288" bIns="18288" wrap="square" anchor="ctr"/>
                    <a:lstStyle/>
                    <a:p>
                      <a:pPr algn="l"/>
                      <a:r>
                        <a:rPr sz="1000" b="1">
                          <a:solidFill>
                            <a:srgbClr val="FFFFFF"/>
                          </a:solidFill>
                          <a:latin typeface="Calibri"/>
                        </a:rPr>
                        <a:t>Module</a:t>
                      </a:r>
                    </a:p>
                  </a:txBody>
                  <a:tcPr>
                    <a:solidFill>
                      <a:srgbClr val="143D2F"/>
                    </a:solidFill>
                  </a:tcPr>
                </a:tc>
                <a:tc>
                  <a:txBody>
                    <a:bodyPr lIns="54864" rIns="54864" tIns="18288" bIns="18288" wrap="square" anchor="ctr"/>
                    <a:lstStyle/>
                    <a:p>
                      <a:pPr algn="l"/>
                      <a:r>
                        <a:rPr sz="1000" b="1">
                          <a:solidFill>
                            <a:srgbClr val="FFFFFF"/>
                          </a:solidFill>
                          <a:latin typeface="Calibri"/>
                        </a:rPr>
                        <a:t>What it gives you</a:t>
                      </a:r>
                    </a:p>
                  </a:txBody>
                  <a:tcPr>
                    <a:solidFill>
                      <a:srgbClr val="143D2F"/>
                    </a:solidFill>
                  </a:tcPr>
                </a:tc>
              </a:tr>
              <a:tr h="404948">
                <a:tc>
                  <a:txBody>
                    <a:bodyPr lIns="54864" rIns="54864" tIns="18288" bIns="18288" wrap="square" anchor="ctr"/>
                    <a:lstStyle/>
                    <a:p>
                      <a:pPr algn="l"/>
                      <a:r>
                        <a:rPr sz="950" b="0">
                          <a:solidFill>
                            <a:srgbClr val="000000"/>
                          </a:solidFill>
                          <a:latin typeface="Calibri"/>
                        </a:rPr>
                        <a:t>utm_analysis.py</a:t>
                      </a:r>
                    </a:p>
                  </a:txBody>
                  <a:tcPr/>
                </a:tc>
                <a:tc>
                  <a:txBody>
                    <a:bodyPr lIns="54864" rIns="54864" tIns="18288" bIns="18288" wrap="square" anchor="ctr"/>
                    <a:lstStyle/>
                    <a:p>
                      <a:pPr algn="l"/>
                      <a:r>
                        <a:rPr sz="950" b="0">
                          <a:solidFill>
                            <a:srgbClr val="000000"/>
                          </a:solidFill>
                          <a:latin typeface="Calibri"/>
                        </a:rPr>
                        <a:t>ONE fracture detector + E / σy / UTS / εf / anchor</a:t>
                      </a:r>
                    </a:p>
                  </a:txBody>
                  <a:tcPr/>
                </a:tc>
              </a:tr>
              <a:tr h="404948">
                <a:tc>
                  <a:txBody>
                    <a:bodyPr lIns="54864" rIns="54864" tIns="18288" bIns="18288" wrap="square" anchor="ctr"/>
                    <a:lstStyle/>
                    <a:p>
                      <a:pPr algn="l"/>
                      <a:r>
                        <a:rPr sz="950" b="0">
                          <a:solidFill>
                            <a:srgbClr val="000000"/>
                          </a:solidFill>
                          <a:latin typeface="Calibri"/>
                        </a:rPr>
                        <a:t>utm_report.py</a:t>
                      </a:r>
                    </a:p>
                  </a:txBody>
                  <a:tcPr/>
                </a:tc>
                <a:tc>
                  <a:txBody>
                    <a:bodyPr lIns="54864" rIns="54864" tIns="18288" bIns="18288" wrap="square" anchor="ctr"/>
                    <a:lstStyle/>
                    <a:p>
                      <a:pPr algn="l"/>
                      <a:r>
                        <a:rPr sz="950" b="0">
                          <a:solidFill>
                            <a:srgbClr val="000000"/>
                          </a:solidFill>
                          <a:latin typeface="Calibri"/>
                        </a:rPr>
                        <a:t>one-click per-test PDF + PNG report</a:t>
                      </a:r>
                    </a:p>
                  </a:txBody>
                  <a:tcPr/>
                </a:tc>
              </a:tr>
              <a:tr h="404948">
                <a:tc>
                  <a:txBody>
                    <a:bodyPr lIns="54864" rIns="54864" tIns="18288" bIns="18288" wrap="square" anchor="ctr"/>
                    <a:lstStyle/>
                    <a:p>
                      <a:pPr algn="l"/>
                      <a:r>
                        <a:rPr sz="950" b="0">
                          <a:solidFill>
                            <a:srgbClr val="000000"/>
                          </a:solidFill>
                          <a:latin typeface="Calibri"/>
                        </a:rPr>
                        <a:t>utm_registry.py</a:t>
                      </a:r>
                    </a:p>
                  </a:txBody>
                  <a:tcPr/>
                </a:tc>
                <a:tc>
                  <a:txBody>
                    <a:bodyPr lIns="54864" rIns="54864" tIns="18288" bIns="18288" wrap="square" anchor="ctr"/>
                    <a:lstStyle/>
                    <a:p>
                      <a:pPr algn="l"/>
                      <a:r>
                        <a:rPr sz="950" b="0">
                          <a:solidFill>
                            <a:srgbClr val="000000"/>
                          </a:solidFill>
                          <a:latin typeface="Calibri"/>
                        </a:rPr>
                        <a:t>one table of EVERY test (props + anchor)</a:t>
                      </a:r>
                    </a:p>
                  </a:txBody>
                  <a:tcPr/>
                </a:tc>
              </a:tr>
              <a:tr h="404948">
                <a:tc>
                  <a:txBody>
                    <a:bodyPr lIns="54864" rIns="54864" tIns="18288" bIns="18288" wrap="square" anchor="ctr"/>
                    <a:lstStyle/>
                    <a:p>
                      <a:pPr algn="l"/>
                      <a:r>
                        <a:rPr sz="950" b="0">
                          <a:solidFill>
                            <a:srgbClr val="000000"/>
                          </a:solidFill>
                          <a:latin typeface="Calibri"/>
                        </a:rPr>
                        <a:t>utm_recipes.py</a:t>
                      </a:r>
                    </a:p>
                  </a:txBody>
                  <a:tcPr/>
                </a:tc>
                <a:tc>
                  <a:txBody>
                    <a:bodyPr lIns="54864" rIns="54864" tIns="18288" bIns="18288" wrap="square" anchor="ctr"/>
                    <a:lstStyle/>
                    <a:p>
                      <a:pPr algn="l"/>
                      <a:r>
                        <a:rPr sz="950" b="0">
                          <a:solidFill>
                            <a:srgbClr val="000000"/>
                          </a:solidFill>
                          <a:latin typeface="Calibri"/>
                        </a:rPr>
                        <a:t>save / load a full test setup</a:t>
                      </a:r>
                    </a:p>
                  </a:txBody>
                  <a:tcPr/>
                </a:tc>
              </a:tr>
              <a:tr h="404948">
                <a:tc>
                  <a:txBody>
                    <a:bodyPr lIns="54864" rIns="54864" tIns="18288" bIns="18288" wrap="square" anchor="ctr"/>
                    <a:lstStyle/>
                    <a:p>
                      <a:pPr algn="l"/>
                      <a:r>
                        <a:rPr sz="950" b="0">
                          <a:solidFill>
                            <a:srgbClr val="000000"/>
                          </a:solidFill>
                          <a:latin typeface="Calibri"/>
                        </a:rPr>
                        <a:t>control_policies + _sim</a:t>
                      </a:r>
                    </a:p>
                  </a:txBody>
                  <a:tcPr/>
                </a:tc>
                <a:tc>
                  <a:txBody>
                    <a:bodyPr lIns="54864" rIns="54864" tIns="18288" bIns="18288" wrap="square" anchor="ctr"/>
                    <a:lstStyle/>
                    <a:p>
                      <a:pPr algn="l"/>
                      <a:r>
                        <a:rPr sz="950" b="0">
                          <a:solidFill>
                            <a:srgbClr val="000000"/>
                          </a:solidFill>
                          <a:latin typeface="Calibri"/>
                        </a:rPr>
                        <a:t>closed-loop test-mode engine — 9/9 sim</a:t>
                      </a:r>
                    </a:p>
                  </a:txBody>
                  <a:tcPr/>
                </a:tc>
              </a:tr>
              <a:tr h="404952">
                <a:tc>
                  <a:txBody>
                    <a:bodyPr lIns="54864" rIns="54864" tIns="18288" bIns="18288" wrap="square" anchor="ctr"/>
                    <a:lstStyle/>
                    <a:p>
                      <a:pPr algn="l"/>
                      <a:r>
                        <a:rPr sz="950" b="0">
                          <a:solidFill>
                            <a:srgbClr val="000000"/>
                          </a:solidFill>
                          <a:latin typeface="Calibri"/>
                        </a:rPr>
                        <a:t>utm_dic.py</a:t>
                      </a:r>
                    </a:p>
                  </a:txBody>
                  <a:tcPr/>
                </a:tc>
                <a:tc>
                  <a:txBody>
                    <a:bodyPr lIns="54864" rIns="54864" tIns="18288" bIns="18288" wrap="square" anchor="ctr"/>
                    <a:lstStyle/>
                    <a:p>
                      <a:pPr algn="l"/>
                      <a:r>
                        <a:rPr sz="950" b="0">
                          <a:solidFill>
                            <a:srgbClr val="000000"/>
                          </a:solidFill>
                          <a:latin typeface="Calibri"/>
                        </a:rPr>
                        <a:t>live DIC health + Poisson / Cauchy maths</a:t>
                      </a:r>
                    </a:p>
                  </a:txBody>
                  <a:tcPr/>
                </a:tc>
              </a:tr>
            </a:tbl>
          </a:graphicData>
        </a:graphic>
      </p:graphicFrame>
      <p:sp>
        <p:nvSpPr>
          <p:cNvPr id="7" name="TextBox 6"/>
          <p:cNvSpPr txBox="1"/>
          <p:nvPr/>
        </p:nvSpPr>
        <p:spPr>
          <a:xfrm>
            <a:off x="365760" y="4526280"/>
            <a:ext cx="5623560" cy="1280160"/>
          </a:xfrm>
          <a:prstGeom prst="rect">
            <a:avLst/>
          </a:prstGeom>
          <a:noFill/>
        </p:spPr>
        <p:txBody>
          <a:bodyPr wrap="square" lIns="45720" rIns="45720" tIns="18288" bIns="18288" anchor="t">
            <a:spAutoFit/>
          </a:bodyPr>
          <a:lstStyle/>
          <a:p>
            <a:pPr algn="l"/>
            <a:r>
              <a:rPr sz="1050" b="0" i="1">
                <a:solidFill>
                  <a:srgbClr val="707070"/>
                </a:solidFill>
                <a:latin typeface="Calibri"/>
              </a:rPr>
              <a:t>Kills the copy-paste-per-specimen analysis burden (the cause of the V6c / V5-S4 detector bugs): one tested analyser, reused everywhere. Reproduces the known V5 / V6 numbers exactly.</a:t>
            </a:r>
          </a:p>
        </p:txBody>
      </p:sp>
      <p:sp>
        <p:nvSpPr>
          <p:cNvPr id="8" name="TextBox 7"/>
          <p:cNvSpPr txBox="1"/>
          <p:nvPr/>
        </p:nvSpPr>
        <p:spPr>
          <a:xfrm>
            <a:off x="617220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In the UI (main.py — RIG-VALIDATED · snapshot a3b187f)</a:t>
            </a:r>
          </a:p>
        </p:txBody>
      </p:sp>
      <p:sp>
        <p:nvSpPr>
          <p:cNvPr id="9" name="TextBox 8"/>
          <p:cNvSpPr txBox="1"/>
          <p:nvPr/>
        </p:nvSpPr>
        <p:spPr>
          <a:xfrm>
            <a:off x="6172200" y="1572768"/>
            <a:ext cx="5669280" cy="3566160"/>
          </a:xfrm>
          <a:prstGeom prst="rect">
            <a:avLst/>
          </a:prstGeom>
          <a:noFill/>
        </p:spPr>
        <p:txBody>
          <a:bodyPr wrap="square" lIns="45720" rIns="45720" tIns="18288" bIns="18288" anchor="t">
            <a:spAutoFit/>
          </a:bodyPr>
          <a:lstStyle/>
          <a:p>
            <a:pPr algn="l"/>
            <a:r>
              <a:rPr sz="1200" b="0" i="0">
                <a:solidFill>
                  <a:srgbClr val="000000"/>
                </a:solidFill>
                <a:latin typeface="Calibri"/>
              </a:rPr>
              <a:t>•  Generate report  — one button → PDF + images
•  Settings  — Load / Save a setup (+ Default)
•  Prepare specimen  — 1-click tare (position + force + DIC)
•  Fracture test / Auto-stop  — halts on load collapse
•  Strain-rate fracture test  — closed-loop dε/dt
•  DIC health HUD  — live OK / WARN / BAD badge
•  Safety net  — 4.5 kN / 30 mm / stall guard / dead-DIC</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Modules committed &amp; regression-checked against the deck numbers; the UI feature set is now snapshot-committed (main.py a3b187f) after full rig validation.</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VALIDATED ON THE PPD-UTM Mk I  (2026-07-28 / 29)</a:t>
            </a:r>
          </a:p>
        </p:txBody>
      </p:sp>
      <p:sp>
        <p:nvSpPr>
          <p:cNvPr id="5" name="TextBox 4"/>
          <p:cNvSpPr txBox="1"/>
          <p:nvPr/>
        </p:nvSpPr>
        <p:spPr>
          <a:xfrm>
            <a:off x="365760" y="1170432"/>
            <a:ext cx="6720840" cy="365760"/>
          </a:xfrm>
          <a:prstGeom prst="rect">
            <a:avLst/>
          </a:prstGeom>
          <a:noFill/>
        </p:spPr>
        <p:txBody>
          <a:bodyPr wrap="square" lIns="45720" rIns="45720" tIns="18288" bIns="18288" anchor="t">
            <a:spAutoFit/>
          </a:bodyPr>
          <a:lstStyle/>
          <a:p>
            <a:pPr algn="l"/>
            <a:r>
              <a:rPr sz="1600" b="0" i="0">
                <a:solidFill>
                  <a:srgbClr val="707070"/>
                </a:solidFill>
                <a:latin typeface="Calibri"/>
              </a:rPr>
              <a:t>Feature checks — ALL PASSED</a:t>
            </a:r>
          </a:p>
        </p:txBody>
      </p:sp>
      <p:graphicFrame>
        <p:nvGraphicFramePr>
          <p:cNvPr id="6" name="Table 5"/>
          <p:cNvGraphicFramePr>
            <a:graphicFrameLocks noGrp="1"/>
          </p:cNvGraphicFramePr>
          <p:nvPr/>
        </p:nvGraphicFramePr>
        <p:xfrm>
          <a:off x="365760" y="1554480"/>
          <a:ext cx="6720840" cy="2788920"/>
        </p:xfrm>
        <a:graphic>
          <a:graphicData uri="http://schemas.openxmlformats.org/drawingml/2006/table">
            <a:tbl>
              <a:tblPr firstRow="1" bandRow="1">
                <a:tableStyleId>{5C22544A-7EE6-4342-B048-85BDC9FD1C3A}</a:tableStyleId>
              </a:tblPr>
              <a:tblGrid>
                <a:gridCol w="2148840"/>
                <a:gridCol w="4572000"/>
              </a:tblGrid>
              <a:tr h="398417">
                <a:tc>
                  <a:txBody>
                    <a:bodyPr lIns="54864" rIns="54864" tIns="18288" bIns="18288" wrap="square" anchor="ctr"/>
                    <a:lstStyle/>
                    <a:p>
                      <a:pPr algn="l"/>
                      <a:r>
                        <a:rPr sz="1000" b="1">
                          <a:solidFill>
                            <a:srgbClr val="FFFFFF"/>
                          </a:solidFill>
                          <a:latin typeface="Calibri"/>
                        </a:rPr>
                        <a:t>Feature</a:t>
                      </a:r>
                    </a:p>
                  </a:txBody>
                  <a:tcPr>
                    <a:solidFill>
                      <a:srgbClr val="143D2F"/>
                    </a:solidFill>
                  </a:tcPr>
                </a:tc>
                <a:tc>
                  <a:txBody>
                    <a:bodyPr lIns="54864" rIns="54864" tIns="18288" bIns="18288" wrap="square" anchor="ctr"/>
                    <a:lstStyle/>
                    <a:p>
                      <a:pPr algn="l"/>
                      <a:r>
                        <a:rPr sz="1000" b="1">
                          <a:solidFill>
                            <a:srgbClr val="FFFFFF"/>
                          </a:solidFill>
                          <a:latin typeface="Calibri"/>
                        </a:rPr>
                        <a:t>Result</a:t>
                      </a:r>
                    </a:p>
                  </a:txBody>
                  <a:tcPr>
                    <a:solidFill>
                      <a:srgbClr val="143D2F"/>
                    </a:solidFill>
                  </a:tcPr>
                </a:tc>
              </a:tr>
              <a:tr h="398417">
                <a:tc>
                  <a:txBody>
                    <a:bodyPr lIns="54864" rIns="54864" tIns="18288" bIns="18288" wrap="square" anchor="ctr"/>
                    <a:lstStyle/>
                    <a:p>
                      <a:pPr algn="l"/>
                      <a:r>
                        <a:rPr sz="950" b="0">
                          <a:solidFill>
                            <a:srgbClr val="000000"/>
                          </a:solidFill>
                          <a:latin typeface="Calibri"/>
                        </a:rPr>
                        <a:t>DIC health HUD</a:t>
                      </a:r>
                    </a:p>
                  </a:txBody>
                  <a:tcPr/>
                </a:tc>
                <a:tc>
                  <a:txBody>
                    <a:bodyPr lIns="54864" rIns="54864" tIns="18288" bIns="18288" wrap="square" anchor="ctr"/>
                    <a:lstStyle/>
                    <a:p>
                      <a:pPr algn="l"/>
                      <a:r>
                        <a:rPr sz="950" b="0">
                          <a:solidFill>
                            <a:srgbClr val="000000"/>
                          </a:solidFill>
                          <a:latin typeface="Calibri"/>
                        </a:rPr>
                        <a:t>green 2/2 live; red BAD on dot cover  ✓</a:t>
                      </a:r>
                    </a:p>
                  </a:txBody>
                  <a:tcPr/>
                </a:tc>
              </a:tr>
              <a:tr h="398417">
                <a:tc>
                  <a:txBody>
                    <a:bodyPr lIns="54864" rIns="54864" tIns="18288" bIns="18288" wrap="square" anchor="ctr"/>
                    <a:lstStyle/>
                    <a:p>
                      <a:pPr algn="l"/>
                      <a:r>
                        <a:rPr sz="950" b="0">
                          <a:solidFill>
                            <a:srgbClr val="000000"/>
                          </a:solidFill>
                          <a:latin typeface="Calibri"/>
                        </a:rPr>
                        <a:t>Prepare specimen</a:t>
                      </a:r>
                    </a:p>
                  </a:txBody>
                  <a:tcPr/>
                </a:tc>
                <a:tc>
                  <a:txBody>
                    <a:bodyPr lIns="54864" rIns="54864" tIns="18288" bIns="18288" wrap="square" anchor="ctr"/>
                    <a:lstStyle/>
                    <a:p>
                      <a:pPr algn="l"/>
                      <a:r>
                        <a:rPr sz="950" b="0">
                          <a:solidFill>
                            <a:srgbClr val="000000"/>
                          </a:solidFill>
                          <a:latin typeface="Calibri"/>
                        </a:rPr>
                        <a:t>1 click → position + force + DIC tared  ✓</a:t>
                      </a:r>
                    </a:p>
                  </a:txBody>
                  <a:tcPr/>
                </a:tc>
              </a:tr>
              <a:tr h="398417">
                <a:tc>
                  <a:txBody>
                    <a:bodyPr lIns="54864" rIns="54864" tIns="18288" bIns="18288" wrap="square" anchor="ctr"/>
                    <a:lstStyle/>
                    <a:p>
                      <a:pPr algn="l"/>
                      <a:r>
                        <a:rPr sz="950" b="0">
                          <a:solidFill>
                            <a:srgbClr val="000000"/>
                          </a:solidFill>
                          <a:latin typeface="Calibri"/>
                        </a:rPr>
                        <a:t>Auto-stop at fracture</a:t>
                      </a:r>
                    </a:p>
                  </a:txBody>
                  <a:tcPr/>
                </a:tc>
                <a:tc>
                  <a:txBody>
                    <a:bodyPr lIns="54864" rIns="54864" tIns="18288" bIns="18288" wrap="square" anchor="ctr"/>
                    <a:lstStyle/>
                    <a:p>
                      <a:pPr algn="l"/>
                      <a:r>
                        <a:rPr sz="950" b="0">
                          <a:solidFill>
                            <a:srgbClr val="000000"/>
                          </a:solidFill>
                          <a:latin typeface="Calibri"/>
                        </a:rPr>
                        <a:t>caught S16 collapse 2992 → −417 N  ✓</a:t>
                      </a:r>
                    </a:p>
                  </a:txBody>
                  <a:tcPr/>
                </a:tc>
              </a:tr>
              <a:tr h="398417">
                <a:tc>
                  <a:txBody>
                    <a:bodyPr lIns="54864" rIns="54864" tIns="18288" bIns="18288" wrap="square" anchor="ctr"/>
                    <a:lstStyle/>
                    <a:p>
                      <a:pPr algn="l"/>
                      <a:r>
                        <a:rPr sz="950" b="0">
                          <a:solidFill>
                            <a:srgbClr val="000000"/>
                          </a:solidFill>
                          <a:latin typeface="Calibri"/>
                        </a:rPr>
                        <a:t>Settings</a:t>
                      </a:r>
                    </a:p>
                  </a:txBody>
                  <a:tcPr/>
                </a:tc>
                <a:tc>
                  <a:txBody>
                    <a:bodyPr lIns="54864" rIns="54864" tIns="18288" bIns="18288" wrap="square" anchor="ctr"/>
                    <a:lstStyle/>
                    <a:p>
                      <a:pPr algn="l"/>
                      <a:r>
                        <a:rPr sz="950" b="0">
                          <a:solidFill>
                            <a:srgbClr val="000000"/>
                          </a:solidFill>
                          <a:latin typeface="Calibri"/>
                        </a:rPr>
                        <a:t>Default + Load / Save round-trip  ✓</a:t>
                      </a:r>
                    </a:p>
                  </a:txBody>
                  <a:tcPr/>
                </a:tc>
              </a:tr>
              <a:tr h="398417">
                <a:tc>
                  <a:txBody>
                    <a:bodyPr lIns="54864" rIns="54864" tIns="18288" bIns="18288" wrap="square" anchor="ctr"/>
                    <a:lstStyle/>
                    <a:p>
                      <a:pPr algn="l"/>
                      <a:r>
                        <a:rPr sz="950" b="0">
                          <a:solidFill>
                            <a:srgbClr val="000000"/>
                          </a:solidFill>
                          <a:latin typeface="Calibri"/>
                        </a:rPr>
                        <a:t>Generate report</a:t>
                      </a:r>
                    </a:p>
                  </a:txBody>
                  <a:tcPr/>
                </a:tc>
                <a:tc>
                  <a:txBody>
                    <a:bodyPr lIns="54864" rIns="54864" tIns="18288" bIns="18288" wrap="square" anchor="ctr"/>
                    <a:lstStyle/>
                    <a:p>
                      <a:pPr algn="l"/>
                      <a:r>
                        <a:rPr sz="950" b="0">
                          <a:solidFill>
                            <a:srgbClr val="000000"/>
                          </a:solidFill>
                          <a:latin typeface="Calibri"/>
                        </a:rPr>
                        <a:t>S16 report = CSV, every KPI  ✓</a:t>
                      </a:r>
                    </a:p>
                  </a:txBody>
                  <a:tcPr/>
                </a:tc>
              </a:tr>
              <a:tr h="398418">
                <a:tc>
                  <a:txBody>
                    <a:bodyPr lIns="54864" rIns="54864" tIns="18288" bIns="18288" wrap="square" anchor="ctr"/>
                    <a:lstStyle/>
                    <a:p>
                      <a:pPr algn="l"/>
                      <a:r>
                        <a:rPr sz="950" b="0">
                          <a:solidFill>
                            <a:srgbClr val="000000"/>
                          </a:solidFill>
                          <a:latin typeface="Calibri"/>
                        </a:rPr>
                        <a:t>Strain-rate fracture</a:t>
                      </a:r>
                    </a:p>
                  </a:txBody>
                  <a:tcPr/>
                </a:tc>
                <a:tc>
                  <a:txBody>
                    <a:bodyPr lIns="54864" rIns="54864" tIns="18288" bIns="18288" wrap="square" anchor="ctr"/>
                    <a:lstStyle/>
                    <a:p>
                      <a:pPr algn="l"/>
                      <a:r>
                        <a:rPr sz="950" b="0">
                          <a:solidFill>
                            <a:srgbClr val="000000"/>
                          </a:solidFill>
                          <a:latin typeface="Calibri"/>
                        </a:rPr>
                        <a:t>held 0.0005/s → fracture, auto-stop  ✓</a:t>
                      </a:r>
                    </a:p>
                  </a:txBody>
                  <a:tcPr/>
                </a:tc>
              </a:tr>
            </a:tbl>
          </a:graphicData>
        </a:graphic>
      </p:graphicFrame>
      <p:sp>
        <p:nvSpPr>
          <p:cNvPr id="7" name="TextBox 6"/>
          <p:cNvSpPr txBox="1"/>
          <p:nvPr/>
        </p:nvSpPr>
        <p:spPr>
          <a:xfrm>
            <a:off x="7269480" y="1170432"/>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Rig facts — ALL RESOLVED</a:t>
            </a:r>
          </a:p>
        </p:txBody>
      </p:sp>
      <p:sp>
        <p:nvSpPr>
          <p:cNvPr id="8" name="TextBox 7"/>
          <p:cNvSpPr txBox="1"/>
          <p:nvPr/>
        </p:nvSpPr>
        <p:spPr>
          <a:xfrm>
            <a:off x="7269480" y="1572768"/>
            <a:ext cx="4572000" cy="2743200"/>
          </a:xfrm>
          <a:prstGeom prst="rect">
            <a:avLst/>
          </a:prstGeom>
          <a:noFill/>
        </p:spPr>
        <p:txBody>
          <a:bodyPr wrap="square" lIns="45720" rIns="45720" tIns="18288" bIns="18288" anchor="t">
            <a:spAutoFit/>
          </a:bodyPr>
          <a:lstStyle/>
          <a:p>
            <a:pPr algn="l"/>
            <a:r>
              <a:rPr sz="1150" b="0" i="0">
                <a:solidFill>
                  <a:srgbClr val="000000"/>
                </a:solidFill>
                <a:latin typeface="Calibri"/>
              </a:rPr>
              <a:t>These unblock the other 4 test modes:
1.  Stop HOLDS position ✓
     (zero drift over 5 / 10 / 15 s)
2.  Direct reversal auto-decels ~1 s ✓
     (no manual Stop needed)
3.  Travel cap set to 30 mm ✓
→  cyclic / staircase / relaxation / creep
     are now UNBLOCKED to wire.</a:t>
            </a:r>
          </a:p>
        </p:txBody>
      </p:sp>
      <p:sp>
        <p:nvSpPr>
          <p:cNvPr id="9" name="Rectangle 8"/>
          <p:cNvSpPr/>
          <p:nvPr/>
        </p:nvSpPr>
        <p:spPr>
          <a:xfrm>
            <a:off x="365760" y="5029200"/>
            <a:ext cx="11475720" cy="9601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RESULT — every built feature passed on the rig; S16 = first 100% infill fracture (UTS 47.4 MPa, anchor-corrected). Strain-rate 6.2 held the target rate by adapting crosshead speed 0.10 → 0.05 mm/s. ONE hardware limit found — motor torque ceiling ~2.6 kN (next slide).</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PPD-UTM — the Department of Product Development, Production and Design's universal testing machine; Mk I and Mk II are defined on p184.  ·  Full step-by-step results: Software/UTM_PyQt6/docs/TESTING_TODO.md; thresholds confirmed (fracture arm 30% / collapse 50%, travel cap 30 mm, stall guard 0.05 mm / 6 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PLANNED NEXT — MEASURED POISSON (EDGE-WIDTH) + REMAINING AUTOMATION</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Measured Poisson / true Cauchy — edge-width tracking  (next build, reuses THIS camera)</a:t>
            </a:r>
          </a:p>
        </p:txBody>
      </p:sp>
      <p:sp>
        <p:nvSpPr>
          <p:cNvPr id="6" name="Rounded Rectangle 5"/>
          <p:cNvSpPr/>
          <p:nvPr/>
        </p:nvSpPr>
        <p:spPr>
          <a:xfrm>
            <a:off x="365760" y="1600200"/>
            <a:ext cx="2514600" cy="868680"/>
          </a:xfrm>
          <a:prstGeom prst="roundRect">
            <a:avLst/>
          </a:prstGeom>
          <a:solidFill>
            <a:srgbClr val="333333"/>
          </a:solidFill>
          <a:ln w="1524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FFFFFF"/>
                </a:solidFill>
                <a:latin typeface="Calibri"/>
              </a:rPr>
              <a:t>Matte-black MDF
backdrop
(behind gauge)</a:t>
            </a:r>
          </a:p>
        </p:txBody>
      </p:sp>
      <p:sp>
        <p:nvSpPr>
          <p:cNvPr id="7" name="Rounded Rectangle 6"/>
          <p:cNvSpPr/>
          <p:nvPr/>
        </p:nvSpPr>
        <p:spPr>
          <a:xfrm>
            <a:off x="3310128" y="1600200"/>
            <a:ext cx="251460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0">
                <a:solidFill>
                  <a:srgbClr val="000000"/>
                </a:solidFill>
                <a:latin typeface="Calibri"/>
              </a:rPr>
              <a:t>Camera detects
L &amp; R specimen
edges</a:t>
            </a:r>
          </a:p>
        </p:txBody>
      </p:sp>
      <p:sp>
        <p:nvSpPr>
          <p:cNvPr id="8" name="Rounded Rectangle 7"/>
          <p:cNvSpPr/>
          <p:nvPr/>
        </p:nvSpPr>
        <p:spPr>
          <a:xfrm>
            <a:off x="6254496" y="1600200"/>
            <a:ext cx="251460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0">
                <a:solidFill>
                  <a:srgbClr val="000000"/>
                </a:solidFill>
                <a:latin typeface="Calibri"/>
              </a:rPr>
              <a:t>Average width
over the gauge
(100s of rows)</a:t>
            </a:r>
          </a:p>
        </p:txBody>
      </p:sp>
      <p:sp>
        <p:nvSpPr>
          <p:cNvPr id="9" name="Rounded Rectangle 8"/>
          <p:cNvSpPr/>
          <p:nvPr/>
        </p:nvSpPr>
        <p:spPr>
          <a:xfrm>
            <a:off x="9198864" y="1600200"/>
            <a:ext cx="2642616" cy="8686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εw → ν  and
true area →
Cauchy stress</a:t>
            </a:r>
          </a:p>
        </p:txBody>
      </p:sp>
      <p:cxnSp>
        <p:nvCxnSpPr>
          <p:cNvPr id="10" name="Connector 9"/>
          <p:cNvCxnSpPr/>
          <p:nvPr/>
        </p:nvCxnSpPr>
        <p:spPr>
          <a:xfrm>
            <a:off x="2898648"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5843016"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8787384" y="2039112"/>
            <a:ext cx="393192"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365760" y="2606040"/>
            <a:ext cx="11475720" cy="868680"/>
          </a:xfrm>
          <a:prstGeom prst="rect">
            <a:avLst/>
          </a:prstGeom>
          <a:noFill/>
        </p:spPr>
        <p:txBody>
          <a:bodyPr wrap="square" lIns="45720" rIns="45720" tIns="18288" bIns="18288" anchor="t">
            <a:spAutoFit/>
          </a:bodyPr>
          <a:lstStyle/>
          <a:p>
            <a:pPr algn="l"/>
            <a:r>
              <a:rPr sz="1100" b="0" i="0">
                <a:solidFill>
                  <a:srgbClr val="000000"/>
                </a:solidFill>
                <a:latin typeface="Calibri"/>
              </a:rPr>
              <a:t>MEASURED (no assumed ν), reusing the current camera + specimen — matte finish avoids LED glare, a few-cm gap softens shadows. FIRST STEP: mount the board, grab ONE still frame → prototype the edge-detection to confirm contrast BEFORE building the live feature. (Transverse dots stay ruled out — see slide 164.)</a:t>
            </a:r>
          </a:p>
        </p:txBody>
      </p:sp>
      <p:sp>
        <p:nvSpPr>
          <p:cNvPr id="14" name="TextBox 13"/>
          <p:cNvSpPr txBox="1"/>
          <p:nvPr/>
        </p:nvSpPr>
        <p:spPr>
          <a:xfrm>
            <a:off x="365760" y="361188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Remaining automation &amp; ease-of-use</a:t>
            </a:r>
          </a:p>
        </p:txBody>
      </p:sp>
      <p:sp>
        <p:nvSpPr>
          <p:cNvPr id="15" name="TextBox 14"/>
          <p:cNvSpPr txBox="1"/>
          <p:nvPr/>
        </p:nvSpPr>
        <p:spPr>
          <a:xfrm>
            <a:off x="365760" y="4005072"/>
            <a:ext cx="5669280" cy="1828800"/>
          </a:xfrm>
          <a:prstGeom prst="rect">
            <a:avLst/>
          </a:prstGeom>
          <a:noFill/>
        </p:spPr>
        <p:txBody>
          <a:bodyPr wrap="square" lIns="45720" rIns="45720" tIns="18288" bIns="18288" anchor="t">
            <a:spAutoFit/>
          </a:bodyPr>
          <a:lstStyle/>
          <a:p>
            <a:pPr algn="l"/>
            <a:r>
              <a:rPr sz="1150" b="0" i="0">
                <a:solidFill>
                  <a:srgbClr val="000000"/>
                </a:solidFill>
                <a:latin typeface="Calibri"/>
              </a:rPr>
              <a:t>•  Cyclic / staircase / relaxation / creep modes
    (engine ready — rig facts RESOLVED, ready to wire)
•  Measured Poisson — 4-marker / edge-width
    + auto specimen metadata + folder from recipe
•  One-click per-specimen report deck</a:t>
            </a:r>
          </a:p>
        </p:txBody>
      </p:sp>
      <p:sp>
        <p:nvSpPr>
          <p:cNvPr id="16" name="TextBox 15"/>
          <p:cNvSpPr txBox="1"/>
          <p:nvPr/>
        </p:nvSpPr>
        <p:spPr>
          <a:xfrm>
            <a:off x="6172200" y="4005072"/>
            <a:ext cx="5669280" cy="1828800"/>
          </a:xfrm>
          <a:prstGeom prst="rect">
            <a:avLst/>
          </a:prstGeom>
          <a:noFill/>
        </p:spPr>
        <p:txBody>
          <a:bodyPr wrap="square" lIns="45720" rIns="45720" tIns="18288" bIns="18288" anchor="t">
            <a:spAutoFit/>
          </a:bodyPr>
          <a:lstStyle/>
          <a:p>
            <a:pPr algn="l"/>
            <a:r>
              <a:rPr sz="1150" b="0" i="0">
                <a:solidFill>
                  <a:srgbClr val="000000"/>
                </a:solidFill>
                <a:latin typeface="Calibri"/>
              </a:rPr>
              <a:t>•  Guided wizard / checklist
    (Connect → … → Prepare → Run → Save)
•  Live stress-strain + elastic-modulus overlay
•  Glanceable dashboard + fracture beep / banner</a:t>
            </a:r>
          </a:p>
        </p:txBody>
      </p:sp>
      <p:sp>
        <p:nvSpPr>
          <p:cNvPr id="17" name="Rectangle 16"/>
          <p:cNvSpPr/>
          <p:nvPr/>
        </p:nvSpPr>
        <p:spPr>
          <a:xfrm>
            <a:off x="365760" y="5943600"/>
            <a:ext cx="11475720" cy="65836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HARDWARE LIMIT — motor torque ceiling ~2.6 kN (variable; driver Vref / thermal / PSU) blocks 100% full-area fracture; use 50% / smaller specimens until resolved.   ORDER — wire remaining modes → edge-width Poisson → UX layer.</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SMART-UTM FEATURE SET — SF1 to SF19</a:t>
            </a:r>
          </a:p>
        </p:txBody>
      </p:sp>
      <p:sp>
        <p:nvSpPr>
          <p:cNvPr id="5" name="TextBox 4"/>
          <p:cNvSpPr txBox="1"/>
          <p:nvPr/>
        </p:nvSpPr>
        <p:spPr>
          <a:xfrm>
            <a:off x="365760" y="1051560"/>
            <a:ext cx="11475720" cy="365760"/>
          </a:xfrm>
          <a:prstGeom prst="rect">
            <a:avLst/>
          </a:prstGeom>
          <a:noFill/>
        </p:spPr>
        <p:txBody>
          <a:bodyPr wrap="square" lIns="45720" rIns="45720" tIns="18288" bIns="18288" anchor="t">
            <a:spAutoFit/>
          </a:bodyPr>
          <a:lstStyle/>
          <a:p>
            <a:pPr algn="l"/>
            <a:r>
              <a:rPr sz="1150" b="0" i="1">
                <a:solidFill>
                  <a:srgbClr val="707070"/>
                </a:solidFill>
                <a:latin typeface="Calibri"/>
              </a:rPr>
              <a:t>17 built and RIG-VALIDATED (green) · 2 built, offline-verified only (blue). Numeric order, so a card can be found by its SF number.</a:t>
            </a:r>
          </a:p>
        </p:txBody>
      </p:sp>
      <p:sp>
        <p:nvSpPr>
          <p:cNvPr id="6" name="Rounded Rectangle 5"/>
          <p:cNvSpPr/>
          <p:nvPr/>
        </p:nvSpPr>
        <p:spPr>
          <a:xfrm>
            <a:off x="365760"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  DIC health HUD
live 2/2 · jitter</a:t>
            </a:r>
          </a:p>
        </p:txBody>
      </p:sp>
      <p:sp>
        <p:nvSpPr>
          <p:cNvPr id="7" name="Rounded Rectangle 6"/>
          <p:cNvSpPr/>
          <p:nvPr/>
        </p:nvSpPr>
        <p:spPr>
          <a:xfrm>
            <a:off x="3310128"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SF2  Prepare specimen
1-click tare all</a:t>
            </a:r>
          </a:p>
        </p:txBody>
      </p:sp>
      <p:sp>
        <p:nvSpPr>
          <p:cNvPr id="8" name="Rounded Rectangle 7"/>
          <p:cNvSpPr/>
          <p:nvPr/>
        </p:nvSpPr>
        <p:spPr>
          <a:xfrm>
            <a:off x="6254496"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SF3  Settings / recipes
reuse a whole setup</a:t>
            </a:r>
          </a:p>
        </p:txBody>
      </p:sp>
      <p:sp>
        <p:nvSpPr>
          <p:cNvPr id="9" name="Rounded Rectangle 8"/>
          <p:cNvSpPr/>
          <p:nvPr/>
        </p:nvSpPr>
        <p:spPr>
          <a:xfrm>
            <a:off x="9198864" y="1481328"/>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SF4  Generate report
1-click PDF + PNG</a:t>
            </a:r>
          </a:p>
        </p:txBody>
      </p:sp>
      <p:sp>
        <p:nvSpPr>
          <p:cNvPr id="10" name="Rounded Rectangle 9"/>
          <p:cNvSpPr/>
          <p:nvPr/>
        </p:nvSpPr>
        <p:spPr>
          <a:xfrm>
            <a:off x="365760"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SF5  Auto-stop at fracture
halts on collapse</a:t>
            </a:r>
          </a:p>
        </p:txBody>
      </p:sp>
      <p:sp>
        <p:nvSpPr>
          <p:cNvPr id="11" name="Rounded Rectangle 10"/>
          <p:cNvSpPr/>
          <p:nvPr/>
        </p:nvSpPr>
        <p:spPr>
          <a:xfrm>
            <a:off x="3310128"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SF6  Strain-rate fracture
constant dε/dt</a:t>
            </a:r>
          </a:p>
        </p:txBody>
      </p:sp>
      <p:sp>
        <p:nvSpPr>
          <p:cNvPr id="12" name="Rounded Rectangle 11"/>
          <p:cNvSpPr/>
          <p:nvPr/>
        </p:nvSpPr>
        <p:spPr>
          <a:xfrm>
            <a:off x="6254496"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SF7  Stall guard
halts a frozen motor</a:t>
            </a:r>
          </a:p>
        </p:txBody>
      </p:sp>
      <p:sp>
        <p:nvSpPr>
          <p:cNvPr id="13" name="Rounded Rectangle 12"/>
          <p:cNvSpPr/>
          <p:nvPr/>
        </p:nvSpPr>
        <p:spPr>
          <a:xfrm>
            <a:off x="9198864" y="2468880"/>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SF8  Release load
safe return to true 0</a:t>
            </a:r>
          </a:p>
        </p:txBody>
      </p:sp>
      <p:sp>
        <p:nvSpPr>
          <p:cNvPr id="14" name="Rounded Rectangle 13"/>
          <p:cNvSpPr/>
          <p:nvPr/>
        </p:nvSpPr>
        <p:spPr>
          <a:xfrm>
            <a:off x="365760"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SF9  6 closed-loop protocols
cyclic…prog-cyclic→fracture</a:t>
            </a:r>
          </a:p>
        </p:txBody>
      </p:sp>
      <p:sp>
        <p:nvSpPr>
          <p:cNvPr id="15" name="Rounded Rectangle 14"/>
          <p:cNvSpPr/>
          <p:nvPr/>
        </p:nvSpPr>
        <p:spPr>
          <a:xfrm>
            <a:off x="3310128"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SF10  Auto-preload
0.2→0.1→0.02 mm/s</a:t>
            </a:r>
          </a:p>
        </p:txBody>
      </p:sp>
      <p:sp>
        <p:nvSpPr>
          <p:cNvPr id="16" name="Rounded Rectangle 15"/>
          <p:cNvSpPr/>
          <p:nvPr/>
        </p:nvSpPr>
        <p:spPr>
          <a:xfrm>
            <a:off x="6254496" y="3456432"/>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SF11  Auto-metadata link
capture ↔ CSV, by overlap</a:t>
            </a:r>
          </a:p>
        </p:txBody>
      </p:sp>
      <p:sp>
        <p:nvSpPr>
          <p:cNvPr id="17" name="Rounded Rectangle 16"/>
          <p:cNvSpPr/>
          <p:nvPr/>
        </p:nvSpPr>
        <p:spPr>
          <a:xfrm>
            <a:off x="9198864" y="3456432"/>
            <a:ext cx="2743200" cy="914400"/>
          </a:xfrm>
          <a:prstGeom prst="roundRect">
            <a:avLst/>
          </a:prstGeom>
          <a:solidFill>
            <a:srgbClr val="CFE2F3"/>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SF12  DIC auto-calibrate
sweeps exposure × threshold</a:t>
            </a:r>
          </a:p>
        </p:txBody>
      </p:sp>
      <p:sp>
        <p:nvSpPr>
          <p:cNvPr id="18" name="Rounded Rectangle 17"/>
          <p:cNvSpPr/>
          <p:nvPr/>
        </p:nvSpPr>
        <p:spPr>
          <a:xfrm>
            <a:off x="365760"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SF13  Guided wizard
12 steps, optional, off by default</a:t>
            </a:r>
          </a:p>
        </p:txBody>
      </p:sp>
      <p:sp>
        <p:nvSpPr>
          <p:cNvPr id="19" name="Rounded Rectangle 18"/>
          <p:cNvSpPr/>
          <p:nvPr/>
        </p:nvSpPr>
        <p:spPr>
          <a:xfrm>
            <a:off x="3310128"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SF14  Test registry
every run + force anchor</a:t>
            </a:r>
          </a:p>
        </p:txBody>
      </p:sp>
      <p:sp>
        <p:nvSpPr>
          <p:cNvPr id="20" name="Rounded Rectangle 19"/>
          <p:cNvSpPr/>
          <p:nvPr/>
        </p:nvSpPr>
        <p:spPr>
          <a:xfrm>
            <a:off x="6254496"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SF15  Dead-DIC guard + backstops
0.2 s freeze / 1.0 s halt</a:t>
            </a:r>
          </a:p>
        </p:txBody>
      </p:sp>
      <p:sp>
        <p:nvSpPr>
          <p:cNvPr id="21" name="Rounded Rectangle 20"/>
          <p:cNvSpPr/>
          <p:nvPr/>
        </p:nvSpPr>
        <p:spPr>
          <a:xfrm>
            <a:off x="9198864" y="4443984"/>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SF16  Live Px₀ overlay
frozen vs live pair, on the feed</a:t>
            </a:r>
          </a:p>
        </p:txBody>
      </p:sp>
      <p:sp>
        <p:nvSpPr>
          <p:cNvPr id="22" name="Rounded Rectangle 21"/>
          <p:cNvSpPr/>
          <p:nvPr/>
        </p:nvSpPr>
        <p:spPr>
          <a:xfrm>
            <a:off x="365760" y="5431536"/>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SF17  Video + image capture
PNG + 3 AVI styles, 0 dropped</a:t>
            </a:r>
          </a:p>
        </p:txBody>
      </p:sp>
      <p:sp>
        <p:nvSpPr>
          <p:cNvPr id="23" name="Rounded Rectangle 22"/>
          <p:cNvSpPr/>
          <p:nvPr/>
        </p:nvSpPr>
        <p:spPr>
          <a:xfrm>
            <a:off x="3310128" y="5431536"/>
            <a:ext cx="274320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SF18  DIC post-processing
measure any recorded video</a:t>
            </a:r>
          </a:p>
        </p:txBody>
      </p:sp>
      <p:sp>
        <p:nvSpPr>
          <p:cNvPr id="24" name="Rounded Rectangle 23"/>
          <p:cNvSpPr/>
          <p:nvPr/>
        </p:nvSpPr>
        <p:spPr>
          <a:xfrm>
            <a:off x="6254496" y="5431536"/>
            <a:ext cx="2743200" cy="914400"/>
          </a:xfrm>
          <a:prstGeom prst="roundRect">
            <a:avLst/>
          </a:prstGeom>
          <a:solidFill>
            <a:srgbClr val="CFE2F3"/>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00" b="1">
                <a:solidFill>
                  <a:srgbClr val="1F3F2F"/>
                </a:solidFill>
                <a:latin typeface="Calibri"/>
              </a:rPr>
              <a:t>SF19  Noise capture
the instrument at rest</a:t>
            </a:r>
          </a:p>
        </p:txBody>
      </p:sp>
      <p:sp>
        <p:nvSpPr>
          <p:cNvPr id="25" name="TextBox 2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Renumbered 2026-09-02 to a contiguous SF1–SF19 — two entries were dropped, a developer-only sim harness and optics-blocked Poisson (now FW1). Four safety layers on every driven test: load-collapse · stall guard · 4.5 kN / 30 mm · dead-DIC freeze.</a:t>
            </a:r>
          </a:p>
        </p:txBody>
      </p:sp>
      <p:sp>
        <p:nvSpPr>
          <p:cNvPr id="26" name="TextBox 2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 HEALTH HUD — LIVE TRACKING QUALITY</a:t>
            </a:r>
          </a:p>
        </p:txBody>
      </p:sp>
      <p:pic>
        <p:nvPicPr>
          <p:cNvPr id="5" name="Picture 4" descr="DIC HUD UI Screenshot.png"/>
          <p:cNvPicPr>
            <a:picLocks noChangeAspect="1"/>
          </p:cNvPicPr>
          <p:nvPr/>
        </p:nvPicPr>
        <p:blipFill>
          <a:blip r:embed="rId2"/>
          <a:stretch>
            <a:fillRect/>
          </a:stretch>
        </p:blipFill>
        <p:spPr>
          <a:xfrm>
            <a:off x="365760" y="1234440"/>
            <a:ext cx="7498079" cy="823488"/>
          </a:xfrm>
          <a:prstGeom prst="rect">
            <a:avLst/>
          </a:prstGeom>
        </p:spPr>
      </p:pic>
      <p:sp>
        <p:nvSpPr>
          <p:cNvPr id="6" name="TextBox 5"/>
          <p:cNvSpPr txBox="1"/>
          <p:nvPr/>
        </p:nvSpPr>
        <p:spPr>
          <a:xfrm>
            <a:off x="8046720" y="1170432"/>
            <a:ext cx="3794760" cy="868680"/>
          </a:xfrm>
          <a:prstGeom prst="rect">
            <a:avLst/>
          </a:prstGeom>
          <a:noFill/>
        </p:spPr>
        <p:txBody>
          <a:bodyPr wrap="square" lIns="45720" rIns="45720" tIns="18288" bIns="18288" anchor="t">
            <a:spAutoFit/>
          </a:bodyPr>
          <a:lstStyle/>
          <a:p>
            <a:pPr algn="l"/>
            <a:r>
              <a:rPr sz="1100" b="0" i="1">
                <a:solidFill>
                  <a:srgbClr val="707070"/>
                </a:solidFill>
                <a:latin typeface="Calibri"/>
              </a:rPr>
              <a:t>A live badge on both test tabs:
markers found / expected · % frames tracked · pixel jitter.</a:t>
            </a:r>
          </a:p>
        </p:txBody>
      </p:sp>
      <p:sp>
        <p:nvSpPr>
          <p:cNvPr id="7" name="TextBox 6"/>
          <p:cNvSpPr txBox="1"/>
          <p:nvPr/>
        </p:nvSpPr>
        <p:spPr>
          <a:xfrm>
            <a:off x="365760" y="214884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each state means</a:t>
            </a:r>
          </a:p>
        </p:txBody>
      </p:sp>
      <p:graphicFrame>
        <p:nvGraphicFramePr>
          <p:cNvPr id="8" name="Table 7"/>
          <p:cNvGraphicFramePr>
            <a:graphicFrameLocks noGrp="1"/>
          </p:cNvGraphicFramePr>
          <p:nvPr/>
        </p:nvGraphicFramePr>
        <p:xfrm>
          <a:off x="365760" y="2560320"/>
          <a:ext cx="11475719" cy="2423160"/>
        </p:xfrm>
        <a:graphic>
          <a:graphicData uri="http://schemas.openxmlformats.org/drawingml/2006/table">
            <a:tbl>
              <a:tblPr firstRow="1" bandRow="1">
                <a:tableStyleId>{5C22544A-7EE6-4342-B048-85BDC9FD1C3A}</a:tableStyleId>
              </a:tblPr>
              <a:tblGrid>
                <a:gridCol w="1554480"/>
                <a:gridCol w="1280160"/>
                <a:gridCol w="5394959"/>
                <a:gridCol w="3246120"/>
              </a:tblGrid>
              <a:tr h="484632">
                <a:tc>
                  <a:txBody>
                    <a:bodyPr lIns="54864" rIns="54864" tIns="18288" bIns="18288" wrap="square" anchor="ctr"/>
                    <a:lstStyle/>
                    <a:p>
                      <a:pPr algn="l"/>
                      <a:r>
                        <a:rPr sz="1100" b="1">
                          <a:solidFill>
                            <a:srgbClr val="FFFFFF"/>
                          </a:solidFill>
                          <a:latin typeface="Calibri"/>
                        </a:rPr>
                        <a:t>State</a:t>
                      </a:r>
                    </a:p>
                  </a:txBody>
                  <a:tcPr>
                    <a:solidFill>
                      <a:srgbClr val="143D2F"/>
                    </a:solidFill>
                  </a:tcPr>
                </a:tc>
                <a:tc>
                  <a:txBody>
                    <a:bodyPr lIns="54864" rIns="54864" tIns="18288" bIns="18288" wrap="square" anchor="ctr"/>
                    <a:lstStyle/>
                    <a:p>
                      <a:pPr algn="l"/>
                      <a:r>
                        <a:rPr sz="1100" b="1">
                          <a:solidFill>
                            <a:srgbClr val="FFFFFF"/>
                          </a:solidFill>
                          <a:latin typeface="Calibri"/>
                        </a:rPr>
                        <a:t>Colour</a:t>
                      </a:r>
                    </a:p>
                  </a:txBody>
                  <a:tcPr>
                    <a:solidFill>
                      <a:srgbClr val="143D2F"/>
                    </a:solidFill>
                  </a:tcPr>
                </a:tc>
                <a:tc>
                  <a:txBody>
                    <a:bodyPr lIns="54864" rIns="54864" tIns="18288" bIns="18288" wrap="square" anchor="ctr"/>
                    <a:lstStyle/>
                    <a:p>
                      <a:pPr algn="l"/>
                      <a:r>
                        <a:rPr sz="1100" b="1">
                          <a:solidFill>
                            <a:srgbClr val="FFFFFF"/>
                          </a:solidFill>
                          <a:latin typeface="Calibri"/>
                        </a:rPr>
                        <a:t>Condition</a:t>
                      </a:r>
                    </a:p>
                  </a:txBody>
                  <a:tcPr>
                    <a:solidFill>
                      <a:srgbClr val="143D2F"/>
                    </a:solidFill>
                  </a:tcPr>
                </a:tc>
                <a:tc>
                  <a:txBody>
                    <a:bodyPr lIns="54864" rIns="54864" tIns="18288" bIns="18288" wrap="square" anchor="ctr"/>
                    <a:lstStyle/>
                    <a:p>
                      <a:pPr algn="l"/>
                      <a:r>
                        <a:rPr sz="1100" b="1">
                          <a:solidFill>
                            <a:srgbClr val="FFFFFF"/>
                          </a:solidFill>
                          <a:latin typeface="Calibri"/>
                        </a:rPr>
                        <a:t>Meaning</a:t>
                      </a:r>
                    </a:p>
                  </a:txBody>
                  <a:tcPr>
                    <a:solidFill>
                      <a:srgbClr val="143D2F"/>
                    </a:solidFill>
                  </a:tcPr>
                </a:tc>
              </a:tr>
              <a:tr h="484632">
                <a:tc>
                  <a:txBody>
                    <a:bodyPr lIns="54864" rIns="54864" tIns="18288" bIns="18288" wrap="square" anchor="ctr"/>
                    <a:lstStyle/>
                    <a:p>
                      <a:pPr algn="l"/>
                      <a:r>
                        <a:rPr sz="1050" b="0">
                          <a:solidFill>
                            <a:srgbClr val="000000"/>
                          </a:solidFill>
                          <a:latin typeface="Calibri"/>
                        </a:rPr>
                        <a:t>OK</a:t>
                      </a:r>
                    </a:p>
                  </a:txBody>
                  <a:tcPr/>
                </a:tc>
                <a:tc>
                  <a:txBody>
                    <a:bodyPr lIns="54864" rIns="54864" tIns="18288" bIns="18288" wrap="square" anchor="ctr"/>
                    <a:lstStyle/>
                    <a:p>
                      <a:pPr algn="l"/>
                      <a:r>
                        <a:rPr sz="1050" b="1">
                          <a:solidFill>
                            <a:srgbClr val="000000"/>
                          </a:solidFill>
                          <a:latin typeface="Calibri"/>
                        </a:rPr>
                        <a:t>green</a:t>
                      </a:r>
                    </a:p>
                  </a:txBody>
                  <a:tcPr>
                    <a:solidFill>
                      <a:srgbClr val="C8E6C9"/>
                    </a:solidFill>
                  </a:tcPr>
                </a:tc>
                <a:tc>
                  <a:txBody>
                    <a:bodyPr lIns="54864" rIns="54864" tIns="18288" bIns="18288" wrap="square" anchor="ctr"/>
                    <a:lstStyle/>
                    <a:p>
                      <a:pPr algn="l"/>
                      <a:r>
                        <a:rPr sz="1050" b="0">
                          <a:solidFill>
                            <a:srgbClr val="000000"/>
                          </a:solidFill>
                          <a:latin typeface="Calibri"/>
                        </a:rPr>
                        <a:t>all markers · ≥ 95% tracked · jitter ≤ 1.5 px</a:t>
                      </a:r>
                    </a:p>
                  </a:txBody>
                  <a:tcPr/>
                </a:tc>
                <a:tc>
                  <a:txBody>
                    <a:bodyPr lIns="54864" rIns="54864" tIns="18288" bIns="18288" wrap="square" anchor="ctr"/>
                    <a:lstStyle/>
                    <a:p>
                      <a:pPr algn="l"/>
                      <a:r>
                        <a:rPr sz="1050" b="0">
                          <a:solidFill>
                            <a:srgbClr val="000000"/>
                          </a:solidFill>
                          <a:latin typeface="Calibri"/>
                        </a:rPr>
                        <a:t>trust the strain</a:t>
                      </a:r>
                    </a:p>
                  </a:txBody>
                  <a:tcPr/>
                </a:tc>
              </a:tr>
              <a:tr h="484632">
                <a:tc>
                  <a:txBody>
                    <a:bodyPr lIns="54864" rIns="54864" tIns="18288" bIns="18288" wrap="square" anchor="ctr"/>
                    <a:lstStyle/>
                    <a:p>
                      <a:pPr algn="l"/>
                      <a:r>
                        <a:rPr sz="1050" b="0">
                          <a:solidFill>
                            <a:srgbClr val="000000"/>
                          </a:solidFill>
                          <a:latin typeface="Calibri"/>
                        </a:rPr>
                        <a:t>WARN</a:t>
                      </a:r>
                    </a:p>
                  </a:txBody>
                  <a:tcPr/>
                </a:tc>
                <a:tc>
                  <a:txBody>
                    <a:bodyPr lIns="54864" rIns="54864" tIns="18288" bIns="18288" wrap="square" anchor="ctr"/>
                    <a:lstStyle/>
                    <a:p>
                      <a:pPr algn="l"/>
                      <a:r>
                        <a:rPr sz="1050" b="1">
                          <a:solidFill>
                            <a:srgbClr val="000000"/>
                          </a:solidFill>
                          <a:latin typeface="Calibri"/>
                        </a:rPr>
                        <a:t>amber</a:t>
                      </a:r>
                    </a:p>
                  </a:txBody>
                  <a:tcPr>
                    <a:solidFill>
                      <a:srgbClr val="FFF3CD"/>
                    </a:solidFill>
                  </a:tcPr>
                </a:tc>
                <a:tc>
                  <a:txBody>
                    <a:bodyPr lIns="54864" rIns="54864" tIns="18288" bIns="18288" wrap="square" anchor="ctr"/>
                    <a:lstStyle/>
                    <a:p>
                      <a:pPr algn="l"/>
                      <a:r>
                        <a:rPr sz="1050" b="0">
                          <a:solidFill>
                            <a:srgbClr val="000000"/>
                          </a:solidFill>
                          <a:latin typeface="Calibri"/>
                        </a:rPr>
                        <a:t>70–95% tracked  OR  jitter &gt; 1.5 px</a:t>
                      </a:r>
                    </a:p>
                  </a:txBody>
                  <a:tcPr/>
                </a:tc>
                <a:tc>
                  <a:txBody>
                    <a:bodyPr lIns="54864" rIns="54864" tIns="18288" bIns="18288" wrap="square" anchor="ctr"/>
                    <a:lstStyle/>
                    <a:p>
                      <a:pPr algn="l"/>
                      <a:r>
                        <a:rPr sz="1050" b="0">
                          <a:solidFill>
                            <a:srgbClr val="000000"/>
                          </a:solidFill>
                          <a:latin typeface="Calibri"/>
                        </a:rPr>
                        <a:t>degraded — re-light / watch</a:t>
                      </a:r>
                    </a:p>
                  </a:txBody>
                  <a:tcPr/>
                </a:tc>
              </a:tr>
              <a:tr h="484632">
                <a:tc>
                  <a:txBody>
                    <a:bodyPr lIns="54864" rIns="54864" tIns="18288" bIns="18288" wrap="square" anchor="ctr"/>
                    <a:lstStyle/>
                    <a:p>
                      <a:pPr algn="l"/>
                      <a:r>
                        <a:rPr sz="1050" b="0">
                          <a:solidFill>
                            <a:srgbClr val="000000"/>
                          </a:solidFill>
                          <a:latin typeface="Calibri"/>
                        </a:rPr>
                        <a:t>BAD</a:t>
                      </a:r>
                    </a:p>
                  </a:txBody>
                  <a:tcPr/>
                </a:tc>
                <a:tc>
                  <a:txBody>
                    <a:bodyPr lIns="54864" rIns="54864" tIns="18288" bIns="18288" wrap="square" anchor="ctr"/>
                    <a:lstStyle/>
                    <a:p>
                      <a:pPr algn="l"/>
                      <a:r>
                        <a:rPr sz="1050" b="1">
                          <a:solidFill>
                            <a:srgbClr val="000000"/>
                          </a:solidFill>
                          <a:latin typeface="Calibri"/>
                        </a:rPr>
                        <a:t>red</a:t>
                      </a:r>
                    </a:p>
                  </a:txBody>
                  <a:tcPr>
                    <a:solidFill>
                      <a:srgbClr val="FFCDD2"/>
                    </a:solidFill>
                  </a:tcPr>
                </a:tc>
                <a:tc>
                  <a:txBody>
                    <a:bodyPr lIns="54864" rIns="54864" tIns="18288" bIns="18288" wrap="square" anchor="ctr"/>
                    <a:lstStyle/>
                    <a:p>
                      <a:pPr algn="l"/>
                      <a:r>
                        <a:rPr sz="1050" b="0">
                          <a:solidFill>
                            <a:srgbClr val="000000"/>
                          </a:solidFill>
                          <a:latin typeface="Calibri"/>
                        </a:rPr>
                        <a:t>a marker missing  OR  &lt; 70% tracked</a:t>
                      </a:r>
                    </a:p>
                  </a:txBody>
                  <a:tcPr/>
                </a:tc>
                <a:tc>
                  <a:txBody>
                    <a:bodyPr lIns="54864" rIns="54864" tIns="18288" bIns="18288" wrap="square" anchor="ctr"/>
                    <a:lstStyle/>
                    <a:p>
                      <a:pPr algn="l"/>
                      <a:r>
                        <a:rPr sz="1050" b="0">
                          <a:solidFill>
                            <a:srgbClr val="000000"/>
                          </a:solidFill>
                          <a:latin typeface="Calibri"/>
                        </a:rPr>
                        <a:t>unreliable — fix before pulling</a:t>
                      </a:r>
                    </a:p>
                  </a:txBody>
                  <a:tcPr/>
                </a:tc>
              </a:tr>
              <a:tr h="484632">
                <a:tc>
                  <a:txBody>
                    <a:bodyPr lIns="54864" rIns="54864" tIns="18288" bIns="18288" wrap="square" anchor="ctr"/>
                    <a:lstStyle/>
                    <a:p>
                      <a:pPr algn="l"/>
                      <a:r>
                        <a:rPr sz="1050" b="0">
                          <a:solidFill>
                            <a:srgbClr val="000000"/>
                          </a:solidFill>
                          <a:latin typeface="Calibri"/>
                        </a:rPr>
                        <a:t>NO DATA</a:t>
                      </a:r>
                    </a:p>
                  </a:txBody>
                  <a:tcPr/>
                </a:tc>
                <a:tc>
                  <a:txBody>
                    <a:bodyPr lIns="54864" rIns="54864" tIns="18288" bIns="18288" wrap="square" anchor="ctr"/>
                    <a:lstStyle/>
                    <a:p>
                      <a:pPr algn="l"/>
                      <a:r>
                        <a:rPr sz="1050" b="1">
                          <a:solidFill>
                            <a:srgbClr val="000000"/>
                          </a:solidFill>
                          <a:latin typeface="Calibri"/>
                        </a:rPr>
                        <a:t>grey</a:t>
                      </a:r>
                    </a:p>
                  </a:txBody>
                  <a:tcPr>
                    <a:solidFill>
                      <a:srgbClr val="E8E8E8"/>
                    </a:solidFill>
                  </a:tcPr>
                </a:tc>
                <a:tc>
                  <a:txBody>
                    <a:bodyPr lIns="54864" rIns="54864" tIns="18288" bIns="18288" wrap="square" anchor="ctr"/>
                    <a:lstStyle/>
                    <a:p>
                      <a:pPr algn="l"/>
                      <a:r>
                        <a:rPr sz="1050" b="0">
                          <a:solidFill>
                            <a:srgbClr val="000000"/>
                          </a:solidFill>
                          <a:latin typeface="Calibri"/>
                        </a:rPr>
                        <a:t>camera off / no frames</a:t>
                      </a:r>
                    </a:p>
                  </a:txBody>
                  <a:tcPr/>
                </a:tc>
                <a:tc>
                  <a:txBody>
                    <a:bodyPr lIns="54864" rIns="54864" tIns="18288" bIns="18288" wrap="square" anchor="ctr"/>
                    <a:lstStyle/>
                    <a:p>
                      <a:pPr algn="l"/>
                      <a:r>
                        <a:rPr sz="1050" b="0">
                          <a:solidFill>
                            <a:srgbClr val="000000"/>
                          </a:solidFill>
                          <a:latin typeface="Calibri"/>
                        </a:rPr>
                        <a:t>—</a:t>
                      </a:r>
                    </a:p>
                  </a:txBody>
                  <a:tcPr/>
                </a:tc>
              </a:tr>
            </a:tbl>
          </a:graphicData>
        </a:graphic>
      </p:graphicFrame>
      <p:sp>
        <p:nvSpPr>
          <p:cNvPr id="9" name="Rectangle 8"/>
          <p:cNvSpPr/>
          <p:nvPr/>
        </p:nvSpPr>
        <p:spPr>
          <a:xfrm>
            <a:off x="365760" y="5257800"/>
            <a:ext cx="11475720" cy="8229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Recorded per-frame in the CSV (DIC_Blobs column) — so you know DIC was reliable, and can PROVE it after the test.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DIC-DRIVEN SAFETY — HALT IF TRACKING GOES BAD  (proof, S17)</a:t>
            </a:r>
          </a:p>
        </p:txBody>
      </p:sp>
      <p:pic>
        <p:nvPicPr>
          <p:cNvPr id="5" name="Picture 4" descr="feat_dic_halt.png"/>
          <p:cNvPicPr>
            <a:picLocks noChangeAspect="1"/>
          </p:cNvPicPr>
          <p:nvPr/>
        </p:nvPicPr>
        <p:blipFill>
          <a:blip r:embed="rId2"/>
          <a:stretch>
            <a:fillRect/>
          </a:stretch>
        </p:blipFill>
        <p:spPr>
          <a:xfrm>
            <a:off x="320040" y="1417320"/>
            <a:ext cx="6675120" cy="4246623"/>
          </a:xfrm>
          <a:prstGeom prst="rect">
            <a:avLst/>
          </a:prstGeom>
        </p:spPr>
      </p:pic>
      <p:sp>
        <p:nvSpPr>
          <p:cNvPr id="6" name="TextBox 5"/>
          <p:cNvSpPr txBox="1"/>
          <p:nvPr/>
        </p:nvSpPr>
        <p:spPr>
          <a:xfrm>
            <a:off x="7223760" y="1170432"/>
            <a:ext cx="4617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CONDITION</a:t>
            </a:r>
          </a:p>
        </p:txBody>
      </p:sp>
      <p:sp>
        <p:nvSpPr>
          <p:cNvPr id="7" name="Rounded Rectangle 6"/>
          <p:cNvSpPr/>
          <p:nvPr/>
        </p:nvSpPr>
        <p:spPr>
          <a:xfrm>
            <a:off x="7223760" y="1572768"/>
            <a:ext cx="4617720" cy="146304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During a strain-rate test, if DIC strain FREEZES (markers lost):
•  FREEZE speed at 0.2 s
•  HALT at 1.0 s</a:t>
            </a:r>
          </a:p>
        </p:txBody>
      </p:sp>
      <p:sp>
        <p:nvSpPr>
          <p:cNvPr id="8" name="TextBox 7"/>
          <p:cNvSpPr txBox="1"/>
          <p:nvPr/>
        </p:nvSpPr>
        <p:spPr>
          <a:xfrm>
            <a:off x="7223760" y="3246120"/>
            <a:ext cx="4617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a:t>
            </a:r>
          </a:p>
        </p:txBody>
      </p:sp>
      <p:sp>
        <p:nvSpPr>
          <p:cNvPr id="9" name="TextBox 8"/>
          <p:cNvSpPr txBox="1"/>
          <p:nvPr/>
        </p:nvSpPr>
        <p:spPr>
          <a:xfrm>
            <a:off x="7223760" y="3639312"/>
            <a:ext cx="4617720" cy="1737360"/>
          </a:xfrm>
          <a:prstGeom prst="rect">
            <a:avLst/>
          </a:prstGeom>
          <a:noFill/>
        </p:spPr>
        <p:txBody>
          <a:bodyPr wrap="square" lIns="45720" rIns="45720" tIns="18288" bIns="18288" anchor="t">
            <a:spAutoFit/>
          </a:bodyPr>
          <a:lstStyle/>
          <a:p>
            <a:pPr algn="l"/>
            <a:r>
              <a:rPr sz="1150" b="0" i="0">
                <a:solidFill>
                  <a:srgbClr val="000000"/>
                </a:solidFill>
                <a:latin typeface="Calibri"/>
              </a:rPr>
              <a:t>The loop STEERS on DIC strain.
If tracking dies it is blind — so it stops instead of pulling on stale / frozen data.</a:t>
            </a:r>
          </a:p>
        </p:txBody>
      </p:sp>
      <p:sp>
        <p:nvSpPr>
          <p:cNvPr id="10" name="Rectangle 9"/>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S17 — covered a marker mid-test → DIC went BAD → motor auto-halted. No runaway on blind data.</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169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 2 — PREPARE SPECIMEN  (one-click tare)</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One click zeroes everything</a:t>
            </a:r>
          </a:p>
        </p:txBody>
      </p:sp>
      <p:sp>
        <p:nvSpPr>
          <p:cNvPr id="6" name="Rounded Rectangle 5"/>
          <p:cNvSpPr/>
          <p:nvPr/>
        </p:nvSpPr>
        <p:spPr>
          <a:xfrm>
            <a:off x="365760"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position
(δ = 0)</a:t>
            </a:r>
          </a:p>
        </p:txBody>
      </p:sp>
      <p:cxnSp>
        <p:nvCxnSpPr>
          <p:cNvPr id="7" name="Connector 6"/>
          <p:cNvCxnSpPr/>
          <p:nvPr/>
        </p:nvCxnSpPr>
        <p:spPr>
          <a:xfrm>
            <a:off x="3108960"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310128"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force
(N = 0)</a:t>
            </a:r>
          </a:p>
        </p:txBody>
      </p:sp>
      <p:cxnSp>
        <p:nvCxnSpPr>
          <p:cNvPr id="9" name="Connector 8"/>
          <p:cNvCxnSpPr/>
          <p:nvPr/>
        </p:nvCxnSpPr>
        <p:spPr>
          <a:xfrm>
            <a:off x="6053328"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54496" y="1828800"/>
            <a:ext cx="2743200" cy="109728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1F3F2F"/>
                </a:solidFill>
                <a:latin typeface="Calibri"/>
              </a:rPr>
              <a:t>Tare DIC
(set L0)</a:t>
            </a:r>
          </a:p>
        </p:txBody>
      </p:sp>
      <p:cxnSp>
        <p:nvCxnSpPr>
          <p:cNvPr id="11" name="Connector 10"/>
          <p:cNvCxnSpPr/>
          <p:nvPr/>
        </p:nvCxnSpPr>
        <p:spPr>
          <a:xfrm>
            <a:off x="8997696" y="2377440"/>
            <a:ext cx="201168"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198864" y="1828800"/>
            <a:ext cx="2743200" cy="10972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Clear plots
+ consoles</a:t>
            </a:r>
          </a:p>
        </p:txBody>
      </p:sp>
      <p:sp>
        <p:nvSpPr>
          <p:cNvPr id="13" name="TextBox 12"/>
          <p:cNvSpPr txBox="1"/>
          <p:nvPr/>
        </p:nvSpPr>
        <p:spPr>
          <a:xfrm>
            <a:off x="365760" y="3291840"/>
            <a:ext cx="11475720" cy="1463040"/>
          </a:xfrm>
          <a:prstGeom prst="rect">
            <a:avLst/>
          </a:prstGeom>
          <a:noFill/>
        </p:spPr>
        <p:txBody>
          <a:bodyPr wrap="square" lIns="45720" rIns="45720" tIns="18288" bIns="18288" anchor="t">
            <a:spAutoFit/>
          </a:bodyPr>
          <a:lstStyle/>
          <a:p>
            <a:pPr algn="l"/>
            <a:r>
              <a:rPr sz="1200" b="0" i="0">
                <a:solidFill>
                  <a:srgbClr val="000000"/>
                </a:solidFill>
                <a:latin typeface="Calibri"/>
              </a:rPr>
              <a:t>•  Replaces the old 3-click tare with ONE button
•  DIC tares only at green 2/2 — otherwise 'DIC skipped' (honest, no false L0)
•  Leaves a clean, ready-to-pull baseline</a:t>
            </a:r>
          </a:p>
        </p:txBody>
      </p:sp>
      <p:sp>
        <p:nvSpPr>
          <p:cNvPr id="14" name="Rectangle 13"/>
          <p:cNvSpPr/>
          <p:nvPr/>
        </p:nvSpPr>
        <p:spPr>
          <a:xfrm>
            <a:off x="365760" y="5074920"/>
            <a:ext cx="11475720" cy="8229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Rig-validated — position + force + DIC all zeroed, consoles + stress-strain plot cleared, from one press.</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(Prepare specimen button). Validated 2026-07-28.</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IN THE APP — ONE-CLICK REPORT &amp; SAVED SETTINGS</a:t>
            </a:r>
          </a:p>
        </p:txBody>
      </p:sp>
      <p:sp>
        <p:nvSpPr>
          <p:cNvPr id="5" name="TextBox 4"/>
          <p:cNvSpPr txBox="1"/>
          <p:nvPr/>
        </p:nvSpPr>
        <p:spPr>
          <a:xfrm>
            <a:off x="36576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Generate report  →  one-page PDF + PNGs</a:t>
            </a:r>
          </a:p>
        </p:txBody>
      </p:sp>
      <p:pic>
        <p:nvPicPr>
          <p:cNvPr id="6" name="Picture 5" descr="feat_report_s16.png"/>
          <p:cNvPicPr>
            <a:picLocks noChangeAspect="1"/>
          </p:cNvPicPr>
          <p:nvPr/>
        </p:nvPicPr>
        <p:blipFill>
          <a:blip r:embed="rId2"/>
          <a:stretch>
            <a:fillRect/>
          </a:stretch>
        </p:blipFill>
        <p:spPr>
          <a:xfrm>
            <a:off x="365760" y="1627632"/>
            <a:ext cx="5623560" cy="3163252"/>
          </a:xfrm>
          <a:prstGeom prst="rect">
            <a:avLst/>
          </a:prstGeom>
        </p:spPr>
      </p:pic>
      <p:sp>
        <p:nvSpPr>
          <p:cNvPr id="7" name="TextBox 6"/>
          <p:cNvSpPr txBox="1"/>
          <p:nvPr/>
        </p:nvSpPr>
        <p:spPr>
          <a:xfrm>
            <a:off x="6355080" y="117043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  save a setup, reload in 1 click</a:t>
            </a:r>
          </a:p>
        </p:txBody>
      </p:sp>
      <p:pic>
        <p:nvPicPr>
          <p:cNvPr id="8" name="Picture 7" descr="Settings save_UI_Screenshot.png"/>
          <p:cNvPicPr>
            <a:picLocks noChangeAspect="1"/>
          </p:cNvPicPr>
          <p:nvPr/>
        </p:nvPicPr>
        <p:blipFill>
          <a:blip r:embed="rId3"/>
          <a:stretch>
            <a:fillRect/>
          </a:stretch>
        </p:blipFill>
        <p:spPr>
          <a:xfrm>
            <a:off x="6355080" y="1691640"/>
            <a:ext cx="5486400" cy="216487"/>
          </a:xfrm>
          <a:prstGeom prst="rect">
            <a:avLst/>
          </a:prstGeom>
        </p:spPr>
      </p:pic>
      <p:sp>
        <p:nvSpPr>
          <p:cNvPr id="9" name="TextBox 8"/>
          <p:cNvSpPr txBox="1"/>
          <p:nvPr/>
        </p:nvSpPr>
        <p:spPr>
          <a:xfrm>
            <a:off x="6355080" y="2423160"/>
            <a:ext cx="5486400" cy="2834640"/>
          </a:xfrm>
          <a:prstGeom prst="rect">
            <a:avLst/>
          </a:prstGeom>
          <a:noFill/>
        </p:spPr>
        <p:txBody>
          <a:bodyPr wrap="square" lIns="45720" rIns="45720" tIns="18288" bIns="18288" anchor="t">
            <a:spAutoFit/>
          </a:bodyPr>
          <a:lstStyle/>
          <a:p>
            <a:pPr algn="l"/>
            <a:r>
              <a:rPr sz="1150" b="0" i="0">
                <a:solidFill>
                  <a:srgbClr val="000000"/>
                </a:solidFill>
                <a:latin typeface="Calibri"/>
              </a:rPr>
              <a:t>•  Saves area · gauge · preload · speed · mode + params
•  'Default' always present (auto-stop ON)
•  Reload a full test setup with ONE click
•  Infill % = recorded label only (does NOT change data)
•  Report reads the CSV header → KPIs + 4 plots + validation</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Report shown is the REAL S16 one-pager (auto-generated). Settings image = the live Motor-Control controls.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PROOF — AUTO-STOP AT FRACTURE  (S16, 100% infill)</a:t>
            </a:r>
          </a:p>
        </p:txBody>
      </p:sp>
      <p:pic>
        <p:nvPicPr>
          <p:cNvPr id="5" name="Picture 4" descr="feat_autostop_proof.png"/>
          <p:cNvPicPr>
            <a:picLocks noChangeAspect="1"/>
          </p:cNvPicPr>
          <p:nvPr/>
        </p:nvPicPr>
        <p:blipFill>
          <a:blip r:embed="rId2"/>
          <a:stretch>
            <a:fillRect/>
          </a:stretch>
        </p:blipFill>
        <p:spPr>
          <a:xfrm>
            <a:off x="320040" y="1417320"/>
            <a:ext cx="6766560" cy="37592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ACTIVATION CONDITION</a:t>
            </a:r>
          </a:p>
        </p:txBody>
      </p:sp>
      <p:sp>
        <p:nvSpPr>
          <p:cNvPr id="7" name="Rounded Rectangle 6"/>
          <p:cNvSpPr/>
          <p:nvPr/>
        </p:nvSpPr>
        <p:spPr>
          <a:xfrm>
            <a:off x="7315200" y="1572768"/>
            <a:ext cx="4526280" cy="141732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ARM  when load ≥ 30% of peak
FIRE  when load &lt; 50% of peak
(collapse)  →  Stop + E-Stop</a:t>
            </a:r>
          </a:p>
        </p:txBody>
      </p:sp>
      <p:sp>
        <p:nvSpPr>
          <p:cNvPr id="8" name="Rounded Rectangle 7"/>
          <p:cNvSpPr/>
          <p:nvPr/>
        </p:nvSpPr>
        <p:spPr>
          <a:xfrm>
            <a:off x="7315200" y="3200400"/>
            <a:ext cx="2194560" cy="82296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2992 N</a:t>
            </a:r>
          </a:p>
          <a:p>
            <a:pPr algn="ctr"/>
            <a:r>
              <a:rPr sz="950">
                <a:solidFill>
                  <a:srgbClr val="000000"/>
                </a:solidFill>
                <a:latin typeface="Calibri"/>
              </a:rPr>
              <a:t>PEAK</a:t>
            </a:r>
          </a:p>
        </p:txBody>
      </p:sp>
      <p:sp>
        <p:nvSpPr>
          <p:cNvPr id="9" name="Rounded Rectangle 8"/>
          <p:cNvSpPr/>
          <p:nvPr/>
        </p:nvSpPr>
        <p:spPr>
          <a:xfrm>
            <a:off x="9646920" y="3200400"/>
            <a:ext cx="2194560" cy="822960"/>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47.4 MPa</a:t>
            </a:r>
          </a:p>
          <a:p>
            <a:pPr algn="ctr"/>
            <a:r>
              <a:rPr sz="950">
                <a:solidFill>
                  <a:srgbClr val="000000"/>
                </a:solidFill>
                <a:latin typeface="Calibri"/>
              </a:rPr>
              <a:t>UTS (true)</a:t>
            </a:r>
          </a:p>
        </p:txBody>
      </p:sp>
      <p:sp>
        <p:nvSpPr>
          <p:cNvPr id="10" name="TextBox 9"/>
          <p:cNvSpPr txBox="1"/>
          <p:nvPr/>
        </p:nvSpPr>
        <p:spPr>
          <a:xfrm>
            <a:off x="7315200" y="4224528"/>
            <a:ext cx="4526280" cy="914400"/>
          </a:xfrm>
          <a:prstGeom prst="rect">
            <a:avLst/>
          </a:prstGeom>
          <a:noFill/>
        </p:spPr>
        <p:txBody>
          <a:bodyPr wrap="square" lIns="45720" rIns="45720" tIns="18288" bIns="18288" anchor="t">
            <a:spAutoFit/>
          </a:bodyPr>
          <a:lstStyle/>
          <a:p>
            <a:pPr algn="l"/>
            <a:r>
              <a:rPr sz="1150" b="0" i="1">
                <a:solidFill>
                  <a:srgbClr val="707070"/>
                </a:solidFill>
                <a:latin typeface="Calibri"/>
              </a:rPr>
              <a:t>Fires in ONE sample after the load collapses — no hand on the button.</a:t>
            </a:r>
          </a:p>
        </p:txBody>
      </p:sp>
      <p:sp>
        <p:nvSpPr>
          <p:cNvPr id="11" name="Rectangle 10"/>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The rig detects its OWN fracture and halts — arm at 30% of peak, fire at 50% collapse.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STRAIN-RATE FRACTURE TEST — RESULTS &amp; WHY IT WORKS</a:t>
            </a:r>
          </a:p>
        </p:txBody>
      </p:sp>
      <p:pic>
        <p:nvPicPr>
          <p:cNvPr id="5" name="Picture 4" descr="feat_strainrate_proof.png"/>
          <p:cNvPicPr>
            <a:picLocks noChangeAspect="1"/>
          </p:cNvPicPr>
          <p:nvPr/>
        </p:nvPicPr>
        <p:blipFill>
          <a:blip r:embed="rId2"/>
          <a:stretch>
            <a:fillRect/>
          </a:stretch>
        </p:blipFill>
        <p:spPr>
          <a:xfrm>
            <a:off x="320040" y="1417320"/>
            <a:ext cx="6766560" cy="37592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Rate held BY adapting speed</a:t>
            </a:r>
          </a:p>
        </p:txBody>
      </p:sp>
      <p:graphicFrame>
        <p:nvGraphicFramePr>
          <p:cNvPr id="7" name="Table 6"/>
          <p:cNvGraphicFramePr>
            <a:graphicFrameLocks noGrp="1"/>
          </p:cNvGraphicFramePr>
          <p:nvPr/>
        </p:nvGraphicFramePr>
        <p:xfrm>
          <a:off x="7315200" y="1600200"/>
          <a:ext cx="4526280" cy="1783080"/>
        </p:xfrm>
        <a:graphic>
          <a:graphicData uri="http://schemas.openxmlformats.org/drawingml/2006/table">
            <a:tbl>
              <a:tblPr firstRow="1" bandRow="1">
                <a:tableStyleId>{5C22544A-7EE6-4342-B048-85BDC9FD1C3A}</a:tableStyleId>
              </a:tblPr>
              <a:tblGrid>
                <a:gridCol w="1737360"/>
                <a:gridCol w="1371600"/>
                <a:gridCol w="1417320"/>
              </a:tblGrid>
              <a:tr h="356616">
                <a:tc>
                  <a:txBody>
                    <a:bodyPr lIns="54864" rIns="54864" tIns="18288" bIns="18288" wrap="square" anchor="ctr"/>
                    <a:lstStyle/>
                    <a:p>
                      <a:pPr algn="l"/>
                      <a:r>
                        <a:rPr sz="1000" b="1">
                          <a:solidFill>
                            <a:srgbClr val="FFFFFF"/>
                          </a:solidFill>
                          <a:latin typeface="Calibri"/>
                        </a:rPr>
                        <a:t>Regime</a:t>
                      </a:r>
                    </a:p>
                  </a:txBody>
                  <a:tcPr>
                    <a:solidFill>
                      <a:srgbClr val="143D2F"/>
                    </a:solidFill>
                  </a:tcPr>
                </a:tc>
                <a:tc>
                  <a:txBody>
                    <a:bodyPr lIns="54864" rIns="54864" tIns="18288" bIns="18288" wrap="square" anchor="ctr"/>
                    <a:lstStyle/>
                    <a:p>
                      <a:pPr algn="l"/>
                      <a:r>
                        <a:rPr sz="1000" b="1">
                          <a:solidFill>
                            <a:srgbClr val="FFFFFF"/>
                          </a:solidFill>
                          <a:latin typeface="Calibri"/>
                        </a:rPr>
                        <a:t>speed</a:t>
                      </a:r>
                    </a:p>
                  </a:txBody>
                  <a:tcPr>
                    <a:solidFill>
                      <a:srgbClr val="143D2F"/>
                    </a:solidFill>
                  </a:tcPr>
                </a:tc>
                <a:tc>
                  <a:txBody>
                    <a:bodyPr lIns="54864" rIns="54864" tIns="18288" bIns="18288" wrap="square" anchor="ctr"/>
                    <a:lstStyle/>
                    <a:p>
                      <a:pPr algn="l"/>
                      <a:r>
                        <a:rPr sz="1000" b="1">
                          <a:solidFill>
                            <a:srgbClr val="FFFFFF"/>
                          </a:solidFill>
                          <a:latin typeface="Calibri"/>
                        </a:rPr>
                        <a:t>dε/dt</a:t>
                      </a:r>
                    </a:p>
                  </a:txBody>
                  <a:tcPr>
                    <a:solidFill>
                      <a:srgbClr val="143D2F"/>
                    </a:solidFill>
                  </a:tcPr>
                </a:tc>
              </a:tr>
              <a:tr h="356616">
                <a:tc>
                  <a:txBody>
                    <a:bodyPr lIns="54864" rIns="54864" tIns="18288" bIns="18288" wrap="square" anchor="ctr"/>
                    <a:lstStyle/>
                    <a:p>
                      <a:pPr algn="l"/>
                      <a:r>
                        <a:rPr sz="950" b="0">
                          <a:solidFill>
                            <a:srgbClr val="000000"/>
                          </a:solidFill>
                          <a:latin typeface="Calibri"/>
                        </a:rPr>
                        <a:t>elastic</a:t>
                      </a:r>
                    </a:p>
                  </a:txBody>
                  <a:tcPr/>
                </a:tc>
                <a:tc>
                  <a:txBody>
                    <a:bodyPr lIns="54864" rIns="54864" tIns="18288" bIns="18288" wrap="square" anchor="ctr"/>
                    <a:lstStyle/>
                    <a:p>
                      <a:pPr algn="l"/>
                      <a:r>
                        <a:rPr sz="950" b="0">
                          <a:solidFill>
                            <a:srgbClr val="000000"/>
                          </a:solidFill>
                          <a:latin typeface="Calibri"/>
                        </a:rPr>
                        <a:t>0.10</a:t>
                      </a:r>
                    </a:p>
                  </a:txBody>
                  <a:tcPr/>
                </a:tc>
                <a:tc>
                  <a:txBody>
                    <a:bodyPr lIns="54864" rIns="54864" tIns="18288" bIns="18288" wrap="square" anchor="ctr"/>
                    <a:lstStyle/>
                    <a:p>
                      <a:pPr algn="l"/>
                      <a:r>
                        <a:rPr sz="950" b="0">
                          <a:solidFill>
                            <a:srgbClr val="000000"/>
                          </a:solidFill>
                          <a:latin typeface="Calibri"/>
                        </a:rPr>
                        <a:t>0.00049</a:t>
                      </a:r>
                    </a:p>
                  </a:txBody>
                  <a:tcPr/>
                </a:tc>
              </a:tr>
              <a:tr h="356616">
                <a:tc>
                  <a:txBody>
                    <a:bodyPr lIns="54864" rIns="54864" tIns="18288" bIns="18288" wrap="square" anchor="ctr"/>
                    <a:lstStyle/>
                    <a:p>
                      <a:pPr algn="l"/>
                      <a:r>
                        <a:rPr sz="950" b="0">
                          <a:solidFill>
                            <a:srgbClr val="000000"/>
                          </a:solidFill>
                          <a:latin typeface="Calibri"/>
                        </a:rPr>
                        <a:t>yield</a:t>
                      </a:r>
                    </a:p>
                  </a:txBody>
                  <a:tcPr/>
                </a:tc>
                <a:tc>
                  <a:txBody>
                    <a:bodyPr lIns="54864" rIns="54864" tIns="18288" bIns="18288" wrap="square" anchor="ctr"/>
                    <a:lstStyle/>
                    <a:p>
                      <a:pPr algn="l"/>
                      <a:r>
                        <a:rPr sz="950" b="0">
                          <a:solidFill>
                            <a:srgbClr val="000000"/>
                          </a:solidFill>
                          <a:latin typeface="Calibri"/>
                        </a:rPr>
                        <a:t>0.09</a:t>
                      </a:r>
                    </a:p>
                  </a:txBody>
                  <a:tcPr/>
                </a:tc>
                <a:tc>
                  <a:txBody>
                    <a:bodyPr lIns="54864" rIns="54864" tIns="18288" bIns="18288" wrap="square" anchor="ctr"/>
                    <a:lstStyle/>
                    <a:p>
                      <a:pPr algn="l"/>
                      <a:r>
                        <a:rPr sz="950" b="0">
                          <a:solidFill>
                            <a:srgbClr val="000000"/>
                          </a:solidFill>
                          <a:latin typeface="Calibri"/>
                        </a:rPr>
                        <a:t>0.00050</a:t>
                      </a:r>
                    </a:p>
                  </a:txBody>
                  <a:tcPr/>
                </a:tc>
              </a:tr>
              <a:tr h="356616">
                <a:tc>
                  <a:txBody>
                    <a:bodyPr lIns="54864" rIns="54864" tIns="18288" bIns="18288" wrap="square" anchor="ctr"/>
                    <a:lstStyle/>
                    <a:p>
                      <a:pPr algn="l"/>
                      <a:r>
                        <a:rPr sz="950" b="0">
                          <a:solidFill>
                            <a:srgbClr val="000000"/>
                          </a:solidFill>
                          <a:latin typeface="Calibri"/>
                        </a:rPr>
                        <a:t>necking</a:t>
                      </a:r>
                    </a:p>
                  </a:txBody>
                  <a:tcPr/>
                </a:tc>
                <a:tc>
                  <a:txBody>
                    <a:bodyPr lIns="54864" rIns="54864" tIns="18288" bIns="18288" wrap="square" anchor="ctr"/>
                    <a:lstStyle/>
                    <a:p>
                      <a:pPr algn="l"/>
                      <a:r>
                        <a:rPr sz="950" b="0">
                          <a:solidFill>
                            <a:srgbClr val="000000"/>
                          </a:solidFill>
                          <a:latin typeface="Calibri"/>
                        </a:rPr>
                        <a:t>0.06</a:t>
                      </a:r>
                    </a:p>
                  </a:txBody>
                  <a:tcPr/>
                </a:tc>
                <a:tc>
                  <a:txBody>
                    <a:bodyPr lIns="54864" rIns="54864" tIns="18288" bIns="18288" wrap="square" anchor="ctr"/>
                    <a:lstStyle/>
                    <a:p>
                      <a:pPr algn="l"/>
                      <a:r>
                        <a:rPr sz="950" b="0">
                          <a:solidFill>
                            <a:srgbClr val="000000"/>
                          </a:solidFill>
                          <a:latin typeface="Calibri"/>
                        </a:rPr>
                        <a:t>0.00048</a:t>
                      </a:r>
                    </a:p>
                  </a:txBody>
                  <a:tcPr/>
                </a:tc>
              </a:tr>
              <a:tr h="356616">
                <a:tc>
                  <a:txBody>
                    <a:bodyPr lIns="54864" rIns="54864" tIns="18288" bIns="18288" wrap="square" anchor="ctr"/>
                    <a:lstStyle/>
                    <a:p>
                      <a:pPr algn="l"/>
                      <a:r>
                        <a:rPr sz="950" b="0">
                          <a:solidFill>
                            <a:srgbClr val="000000"/>
                          </a:solidFill>
                          <a:latin typeface="Calibri"/>
                        </a:rPr>
                        <a:t>draw</a:t>
                      </a:r>
                    </a:p>
                  </a:txBody>
                  <a:tcPr/>
                </a:tc>
                <a:tc>
                  <a:txBody>
                    <a:bodyPr lIns="54864" rIns="54864" tIns="18288" bIns="18288" wrap="square" anchor="ctr"/>
                    <a:lstStyle/>
                    <a:p>
                      <a:pPr algn="l"/>
                      <a:r>
                        <a:rPr sz="950" b="0">
                          <a:solidFill>
                            <a:srgbClr val="000000"/>
                          </a:solidFill>
                          <a:latin typeface="Calibri"/>
                        </a:rPr>
                        <a:t>0.05</a:t>
                      </a:r>
                    </a:p>
                  </a:txBody>
                  <a:tcPr/>
                </a:tc>
                <a:tc>
                  <a:txBody>
                    <a:bodyPr lIns="54864" rIns="54864" tIns="18288" bIns="18288" wrap="square" anchor="ctr"/>
                    <a:lstStyle/>
                    <a:p>
                      <a:pPr algn="l"/>
                      <a:r>
                        <a:rPr sz="950" b="0">
                          <a:solidFill>
                            <a:srgbClr val="000000"/>
                          </a:solidFill>
                          <a:latin typeface="Calibri"/>
                        </a:rPr>
                        <a:t>0.00054</a:t>
                      </a:r>
                    </a:p>
                  </a:txBody>
                  <a:tcPr/>
                </a:tc>
              </a:tr>
            </a:tbl>
          </a:graphicData>
        </a:graphic>
      </p:graphicFrame>
      <p:sp>
        <p:nvSpPr>
          <p:cNvPr id="8" name="TextBox 7"/>
          <p:cNvSpPr txBox="1"/>
          <p:nvPr/>
        </p:nvSpPr>
        <p:spPr>
          <a:xfrm>
            <a:off x="7315200" y="3611880"/>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matters</a:t>
            </a:r>
          </a:p>
        </p:txBody>
      </p:sp>
      <p:sp>
        <p:nvSpPr>
          <p:cNvPr id="9" name="TextBox 8"/>
          <p:cNvSpPr txBox="1"/>
          <p:nvPr/>
        </p:nvSpPr>
        <p:spPr>
          <a:xfrm>
            <a:off x="7315200" y="4005072"/>
            <a:ext cx="4526280" cy="1737360"/>
          </a:xfrm>
          <a:prstGeom prst="rect">
            <a:avLst/>
          </a:prstGeom>
          <a:noFill/>
        </p:spPr>
        <p:txBody>
          <a:bodyPr wrap="square" lIns="45720" rIns="45720" tIns="18288" bIns="18288" anchor="t">
            <a:spAutoFit/>
          </a:bodyPr>
          <a:lstStyle/>
          <a:p>
            <a:pPr algn="l"/>
            <a:r>
              <a:rPr sz="1100" b="0" i="0">
                <a:solidFill>
                  <a:srgbClr val="000000"/>
                </a:solidFill>
                <a:latin typeface="Calibri"/>
              </a:rPr>
              <a:t>•  Constant MATERIAL strain rate (test standards)
•  Compliance-free — measures the gauge, not the machine
•  Comparable E / σy across specimens &amp; rigs</a:t>
            </a:r>
          </a:p>
        </p:txBody>
      </p:sp>
      <p:sp>
        <p:nvSpPr>
          <p:cNvPr id="10" name="Rectangle 9"/>
          <p:cNvSpPr/>
          <p:nvPr/>
        </p:nvSpPr>
        <p:spPr>
          <a:xfrm>
            <a:off x="365760" y="5806440"/>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Held 0.00051 /s (target 0.0005) while HALVING crosshead speed 0.10 → 0.05 mm/s — a fixed-speed pull cannot.</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STRAIN-RATE FRACTURE — REPORT PLOTS  (S19, 50% infill)</a:t>
            </a:r>
          </a:p>
        </p:txBody>
      </p:sp>
      <p:pic>
        <p:nvPicPr>
          <p:cNvPr id="5" name="Picture 4" descr="feat_sr_plots.png"/>
          <p:cNvPicPr>
            <a:picLocks noChangeAspect="1"/>
          </p:cNvPicPr>
          <p:nvPr/>
        </p:nvPicPr>
        <p:blipFill>
          <a:blip r:embed="rId2"/>
          <a:stretch>
            <a:fillRect/>
          </a:stretch>
        </p:blipFill>
        <p:spPr>
          <a:xfrm>
            <a:off x="457200" y="1371600"/>
            <a:ext cx="11247120" cy="3226633"/>
          </a:xfrm>
          <a:prstGeom prst="rect">
            <a:avLst/>
          </a:prstGeom>
        </p:spPr>
      </p:pic>
      <p:sp>
        <p:nvSpPr>
          <p:cNvPr id="6" name="TextBox 5"/>
          <p:cNvSpPr txBox="1"/>
          <p:nvPr/>
        </p:nvSpPr>
        <p:spPr>
          <a:xfrm>
            <a:off x="365760" y="4590288"/>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Closed-loop speed limits</a:t>
            </a:r>
          </a:p>
        </p:txBody>
      </p:sp>
      <p:sp>
        <p:nvSpPr>
          <p:cNvPr id="7" name="Rounded Rectangle 6"/>
          <p:cNvSpPr/>
          <p:nvPr/>
        </p:nvSpPr>
        <p:spPr>
          <a:xfrm>
            <a:off x="365760" y="4992624"/>
            <a:ext cx="35661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0.0005 /s</a:t>
            </a:r>
          </a:p>
          <a:p>
            <a:pPr algn="ctr"/>
            <a:r>
              <a:rPr sz="950">
                <a:solidFill>
                  <a:srgbClr val="000000"/>
                </a:solidFill>
                <a:latin typeface="Calibri"/>
              </a:rPr>
              <a:t>TARGET RATE</a:t>
            </a:r>
          </a:p>
        </p:txBody>
      </p:sp>
      <p:sp>
        <p:nvSpPr>
          <p:cNvPr id="8" name="Rounded Rectangle 7"/>
          <p:cNvSpPr/>
          <p:nvPr/>
        </p:nvSpPr>
        <p:spPr>
          <a:xfrm>
            <a:off x="4160520" y="4992624"/>
            <a:ext cx="35661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0.005 mm/s</a:t>
            </a:r>
          </a:p>
          <a:p>
            <a:pPr algn="ctr"/>
            <a:r>
              <a:rPr sz="950">
                <a:solidFill>
                  <a:srgbClr val="000000"/>
                </a:solidFill>
                <a:latin typeface="Calibri"/>
              </a:rPr>
              <a:t>MIN SPEED</a:t>
            </a:r>
          </a:p>
        </p:txBody>
      </p:sp>
      <p:sp>
        <p:nvSpPr>
          <p:cNvPr id="9" name="Rounded Rectangle 8"/>
          <p:cNvSpPr/>
          <p:nvPr/>
        </p:nvSpPr>
        <p:spPr>
          <a:xfrm>
            <a:off x="7955279" y="4992624"/>
            <a:ext cx="3886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0.20 mm/s</a:t>
            </a:r>
          </a:p>
          <a:p>
            <a:pPr algn="ctr"/>
            <a:r>
              <a:rPr sz="950">
                <a:solidFill>
                  <a:srgbClr val="000000"/>
                </a:solidFill>
                <a:latin typeface="Calibri"/>
              </a:rPr>
              <a:t>MAX SPEED (cap)</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S19 (50%) fractures ~1.4 kN — under the motor ceiling. The loop varied crosshead speed 0.005–0.20 mm/s to hold 0.0005 /s to fracture.</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SAFETY GUARDS &amp; LIMITS — WHAT STOPS THE TEST</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Guards that halt a driven test</a:t>
            </a:r>
          </a:p>
        </p:txBody>
      </p:sp>
      <p:graphicFrame>
        <p:nvGraphicFramePr>
          <p:cNvPr id="6" name="Table 5"/>
          <p:cNvGraphicFramePr>
            <a:graphicFrameLocks noGrp="1"/>
          </p:cNvGraphicFramePr>
          <p:nvPr/>
        </p:nvGraphicFramePr>
        <p:xfrm>
          <a:off x="365760" y="1572768"/>
          <a:ext cx="11475720" cy="3246120"/>
        </p:xfrm>
        <a:graphic>
          <a:graphicData uri="http://schemas.openxmlformats.org/drawingml/2006/table">
            <a:tbl>
              <a:tblPr firstRow="1" bandRow="1">
                <a:tableStyleId>{5C22544A-7EE6-4342-B048-85BDC9FD1C3A}</a:tableStyleId>
              </a:tblPr>
              <a:tblGrid>
                <a:gridCol w="2651760"/>
                <a:gridCol w="6035040"/>
                <a:gridCol w="2788920"/>
              </a:tblGrid>
              <a:tr h="463731">
                <a:tc>
                  <a:txBody>
                    <a:bodyPr lIns="54864" rIns="54864" tIns="18288" bIns="18288" wrap="square" anchor="ctr"/>
                    <a:lstStyle/>
                    <a:p>
                      <a:pPr algn="l"/>
                      <a:r>
                        <a:rPr sz="1100" b="1">
                          <a:solidFill>
                            <a:srgbClr val="FFFFFF"/>
                          </a:solidFill>
                          <a:latin typeface="Calibri"/>
                        </a:rPr>
                        <a:t>Guard</a:t>
                      </a:r>
                    </a:p>
                  </a:txBody>
                  <a:tcPr>
                    <a:solidFill>
                      <a:srgbClr val="143D2F"/>
                    </a:solidFill>
                  </a:tcPr>
                </a:tc>
                <a:tc>
                  <a:txBody>
                    <a:bodyPr lIns="54864" rIns="54864" tIns="18288" bIns="18288" wrap="square" anchor="ctr"/>
                    <a:lstStyle/>
                    <a:p>
                      <a:pPr algn="l"/>
                      <a:r>
                        <a:rPr sz="1100" b="1">
                          <a:solidFill>
                            <a:srgbClr val="FFFFFF"/>
                          </a:solidFill>
                          <a:latin typeface="Calibri"/>
                        </a:rPr>
                        <a:t>Trips when</a:t>
                      </a:r>
                    </a:p>
                  </a:txBody>
                  <a:tcPr>
                    <a:solidFill>
                      <a:srgbClr val="143D2F"/>
                    </a:solidFill>
                  </a:tcPr>
                </a:tc>
                <a:tc>
                  <a:txBody>
                    <a:bodyPr lIns="54864" rIns="54864" tIns="18288" bIns="18288" wrap="square" anchor="ctr"/>
                    <a:lstStyle/>
                    <a:p>
                      <a:pPr algn="l"/>
                      <a:r>
                        <a:rPr sz="1100" b="1">
                          <a:solidFill>
                            <a:srgbClr val="FFFFFF"/>
                          </a:solidFill>
                          <a:latin typeface="Calibri"/>
                        </a:rPr>
                        <a:t>Action</a:t>
                      </a:r>
                    </a:p>
                  </a:txBody>
                  <a:tcPr>
                    <a:solidFill>
                      <a:srgbClr val="143D2F"/>
                    </a:solidFill>
                  </a:tcPr>
                </a:tc>
              </a:tr>
              <a:tr h="463731">
                <a:tc>
                  <a:txBody>
                    <a:bodyPr lIns="54864" rIns="54864" tIns="18288" bIns="18288" wrap="square" anchor="ctr"/>
                    <a:lstStyle/>
                    <a:p>
                      <a:pPr algn="l"/>
                      <a:r>
                        <a:rPr sz="1000" b="0">
                          <a:solidFill>
                            <a:srgbClr val="000000"/>
                          </a:solidFill>
                          <a:latin typeface="Calibri"/>
                        </a:rPr>
                        <a:t>Fracture auto-stop</a:t>
                      </a:r>
                    </a:p>
                  </a:txBody>
                  <a:tcPr/>
                </a:tc>
                <a:tc>
                  <a:txBody>
                    <a:bodyPr lIns="54864" rIns="54864" tIns="18288" bIns="18288" wrap="square" anchor="ctr"/>
                    <a:lstStyle/>
                    <a:p>
                      <a:pPr algn="l"/>
                      <a:r>
                        <a:rPr sz="1000" b="0">
                          <a:solidFill>
                            <a:srgbClr val="000000"/>
                          </a:solidFill>
                          <a:latin typeface="Calibri"/>
                        </a:rPr>
                        <a:t>load &lt; 50% of peak (armed at 30%)</a:t>
                      </a:r>
                    </a:p>
                  </a:txBody>
                  <a:tcPr/>
                </a:tc>
                <a:tc>
                  <a:txBody>
                    <a:bodyPr lIns="54864" rIns="54864" tIns="18288" bIns="18288" wrap="square" anchor="ctr"/>
                    <a:lstStyle/>
                    <a:p>
                      <a:pPr algn="l"/>
                      <a:r>
                        <a:rPr sz="1000" b="0">
                          <a:solidFill>
                            <a:srgbClr val="000000"/>
                          </a:solidFill>
                          <a:latin typeface="Calibri"/>
                        </a:rPr>
                        <a:t>Stop</a:t>
                      </a:r>
                    </a:p>
                  </a:txBody>
                  <a:tcPr/>
                </a:tc>
              </a:tr>
              <a:tr h="463731">
                <a:tc>
                  <a:txBody>
                    <a:bodyPr lIns="54864" rIns="54864" tIns="18288" bIns="18288" wrap="square" anchor="ctr"/>
                    <a:lstStyle/>
                    <a:p>
                      <a:pPr algn="l"/>
                      <a:r>
                        <a:rPr sz="1000" b="0">
                          <a:solidFill>
                            <a:srgbClr val="000000"/>
                          </a:solidFill>
                          <a:latin typeface="Calibri"/>
                        </a:rPr>
                        <a:t>Stall guard</a:t>
                      </a:r>
                    </a:p>
                  </a:txBody>
                  <a:tcPr/>
                </a:tc>
                <a:tc>
                  <a:txBody>
                    <a:bodyPr lIns="54864" rIns="54864" tIns="18288" bIns="18288" wrap="square" anchor="ctr"/>
                    <a:lstStyle/>
                    <a:p>
                      <a:pPr algn="l"/>
                      <a:r>
                        <a:rPr sz="1000" b="0">
                          <a:solidFill>
                            <a:srgbClr val="000000"/>
                          </a:solidFill>
                          <a:latin typeface="Calibri"/>
                        </a:rPr>
                        <a:t>crosshead &lt; 0.05 mm in 6 s under load &gt; 200 N</a:t>
                      </a:r>
                    </a:p>
                  </a:txBody>
                  <a:tcPr/>
                </a:tc>
                <a:tc>
                  <a:txBody>
                    <a:bodyPr lIns="54864" rIns="54864" tIns="18288" bIns="18288" wrap="square" anchor="ctr"/>
                    <a:lstStyle/>
                    <a:p>
                      <a:pPr algn="l"/>
                      <a:r>
                        <a:rPr sz="1000" b="0">
                          <a:solidFill>
                            <a:srgbClr val="000000"/>
                          </a:solidFill>
                          <a:latin typeface="Calibri"/>
                        </a:rPr>
                        <a:t>Stop + E-Stop</a:t>
                      </a:r>
                    </a:p>
                  </a:txBody>
                  <a:tcPr/>
                </a:tc>
              </a:tr>
              <a:tr h="463731">
                <a:tc>
                  <a:txBody>
                    <a:bodyPr lIns="54864" rIns="54864" tIns="18288" bIns="18288" wrap="square" anchor="ctr"/>
                    <a:lstStyle/>
                    <a:p>
                      <a:pPr algn="l"/>
                      <a:r>
                        <a:rPr sz="1000" b="0">
                          <a:solidFill>
                            <a:srgbClr val="000000"/>
                          </a:solidFill>
                          <a:latin typeface="Calibri"/>
                        </a:rPr>
                        <a:t>Dead-DIC guard</a:t>
                      </a:r>
                    </a:p>
                  </a:txBody>
                  <a:tcPr/>
                </a:tc>
                <a:tc>
                  <a:txBody>
                    <a:bodyPr lIns="54864" rIns="54864" tIns="18288" bIns="18288" wrap="square" anchor="ctr"/>
                    <a:lstStyle/>
                    <a:p>
                      <a:pPr algn="l"/>
                      <a:r>
                        <a:rPr sz="1000" b="0">
                          <a:solidFill>
                            <a:srgbClr val="000000"/>
                          </a:solidFill>
                          <a:latin typeface="Calibri"/>
                        </a:rPr>
                        <a:t>DIC strain frozen (markers lost)</a:t>
                      </a:r>
                    </a:p>
                  </a:txBody>
                  <a:tcPr/>
                </a:tc>
                <a:tc>
                  <a:txBody>
                    <a:bodyPr lIns="54864" rIns="54864" tIns="18288" bIns="18288" wrap="square" anchor="ctr"/>
                    <a:lstStyle/>
                    <a:p>
                      <a:pPr algn="l"/>
                      <a:r>
                        <a:rPr sz="1000" b="0">
                          <a:solidFill>
                            <a:srgbClr val="000000"/>
                          </a:solidFill>
                          <a:latin typeface="Calibri"/>
                        </a:rPr>
                        <a:t>freeze speed 0.2 s → HALT 1.0 s</a:t>
                      </a:r>
                    </a:p>
                  </a:txBody>
                  <a:tcPr/>
                </a:tc>
              </a:tr>
              <a:tr h="463731">
                <a:tc>
                  <a:txBody>
                    <a:bodyPr lIns="54864" rIns="54864" tIns="18288" bIns="18288" wrap="square" anchor="ctr"/>
                    <a:lstStyle/>
                    <a:p>
                      <a:pPr algn="l"/>
                      <a:r>
                        <a:rPr sz="1000" b="0">
                          <a:solidFill>
                            <a:srgbClr val="000000"/>
                          </a:solidFill>
                          <a:latin typeface="Calibri"/>
                        </a:rPr>
                        <a:t>Force backstop</a:t>
                      </a:r>
                    </a:p>
                  </a:txBody>
                  <a:tcPr/>
                </a:tc>
                <a:tc>
                  <a:txBody>
                    <a:bodyPr lIns="54864" rIns="54864" tIns="18288" bIns="18288" wrap="square" anchor="ctr"/>
                    <a:lstStyle/>
                    <a:p>
                      <a:pPr algn="l"/>
                      <a:r>
                        <a:rPr sz="1000" b="0">
                          <a:solidFill>
                            <a:srgbClr val="000000"/>
                          </a:solidFill>
                          <a:latin typeface="Calibri"/>
                        </a:rPr>
                        <a:t>load ≥ 4.5 kN</a:t>
                      </a:r>
                    </a:p>
                  </a:txBody>
                  <a:tcPr/>
                </a:tc>
                <a:tc>
                  <a:txBody>
                    <a:bodyPr lIns="54864" rIns="54864" tIns="18288" bIns="18288" wrap="square" anchor="ctr"/>
                    <a:lstStyle/>
                    <a:p>
                      <a:pPr algn="l"/>
                      <a:r>
                        <a:rPr sz="1000" b="0">
                          <a:solidFill>
                            <a:srgbClr val="000000"/>
                          </a:solidFill>
                          <a:latin typeface="Calibri"/>
                        </a:rPr>
                        <a:t>Stop + E-Stop</a:t>
                      </a:r>
                    </a:p>
                  </a:txBody>
                  <a:tcPr/>
                </a:tc>
              </a:tr>
              <a:tr h="463731">
                <a:tc>
                  <a:txBody>
                    <a:bodyPr lIns="54864" rIns="54864" tIns="18288" bIns="18288" wrap="square" anchor="ctr"/>
                    <a:lstStyle/>
                    <a:p>
                      <a:pPr algn="l"/>
                      <a:r>
                        <a:rPr sz="1000" b="0">
                          <a:solidFill>
                            <a:srgbClr val="000000"/>
                          </a:solidFill>
                          <a:latin typeface="Calibri"/>
                        </a:rPr>
                        <a:t>Travel backstop</a:t>
                      </a:r>
                    </a:p>
                  </a:txBody>
                  <a:tcPr/>
                </a:tc>
                <a:tc>
                  <a:txBody>
                    <a:bodyPr lIns="54864" rIns="54864" tIns="18288" bIns="18288" wrap="square" anchor="ctr"/>
                    <a:lstStyle/>
                    <a:p>
                      <a:pPr algn="l"/>
                      <a:r>
                        <a:rPr sz="1000" b="0">
                          <a:solidFill>
                            <a:srgbClr val="000000"/>
                          </a:solidFill>
                          <a:latin typeface="Calibri"/>
                        </a:rPr>
                        <a:t>crosshead travel ≥ 30 mm</a:t>
                      </a:r>
                    </a:p>
                  </a:txBody>
                  <a:tcPr/>
                </a:tc>
                <a:tc>
                  <a:txBody>
                    <a:bodyPr lIns="54864" rIns="54864" tIns="18288" bIns="18288" wrap="square" anchor="ctr"/>
                    <a:lstStyle/>
                    <a:p>
                      <a:pPr algn="l"/>
                      <a:r>
                        <a:rPr sz="1000" b="0">
                          <a:solidFill>
                            <a:srgbClr val="000000"/>
                          </a:solidFill>
                          <a:latin typeface="Calibri"/>
                        </a:rPr>
                        <a:t>Stop + E-Stop</a:t>
                      </a:r>
                    </a:p>
                  </a:txBody>
                  <a:tcPr/>
                </a:tc>
              </a:tr>
              <a:tr h="463734">
                <a:tc>
                  <a:txBody>
                    <a:bodyPr lIns="54864" rIns="54864" tIns="18288" bIns="18288" wrap="square" anchor="ctr"/>
                    <a:lstStyle/>
                    <a:p>
                      <a:pPr algn="l"/>
                      <a:r>
                        <a:rPr sz="1000" b="0">
                          <a:solidFill>
                            <a:srgbClr val="000000"/>
                          </a:solidFill>
                          <a:latin typeface="Calibri"/>
                        </a:rPr>
                        <a:t>Timeout</a:t>
                      </a:r>
                    </a:p>
                  </a:txBody>
                  <a:tcPr/>
                </a:tc>
                <a:tc>
                  <a:txBody>
                    <a:bodyPr lIns="54864" rIns="54864" tIns="18288" bIns="18288" wrap="square" anchor="ctr"/>
                    <a:lstStyle/>
                    <a:p>
                      <a:pPr algn="l"/>
                      <a:r>
                        <a:rPr sz="1000" b="0">
                          <a:solidFill>
                            <a:srgbClr val="000000"/>
                          </a:solidFill>
                          <a:latin typeface="Calibri"/>
                        </a:rPr>
                        <a:t>runtime ≥ 900 s</a:t>
                      </a:r>
                    </a:p>
                  </a:txBody>
                  <a:tcPr/>
                </a:tc>
                <a:tc>
                  <a:txBody>
                    <a:bodyPr lIns="54864" rIns="54864" tIns="18288" bIns="18288" wrap="square" anchor="ctr"/>
                    <a:lstStyle/>
                    <a:p>
                      <a:pPr algn="l"/>
                      <a:r>
                        <a:rPr sz="1000" b="0">
                          <a:solidFill>
                            <a:srgbClr val="000000"/>
                          </a:solidFill>
                          <a:latin typeface="Calibri"/>
                        </a:rPr>
                        <a:t>Stop</a:t>
                      </a:r>
                    </a:p>
                  </a:txBody>
                  <a:tcPr/>
                </a:tc>
              </a:tr>
            </a:tbl>
          </a:graphicData>
        </a:graphic>
      </p:graphicFrame>
      <p:sp>
        <p:nvSpPr>
          <p:cNvPr id="7" name="Rectangle 6"/>
          <p:cNvSpPr/>
          <p:nvPr/>
        </p:nvSpPr>
        <p:spPr>
          <a:xfrm>
            <a:off x="365760" y="5029200"/>
            <a:ext cx="11475720" cy="9144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HARD LIMITS —  force 4.5 kN  ·  travel 30 mm  ·  stall 0.05 mm in 6 s (&gt;200 N)  ·  dead-DIC halt 1.0 s  ·  timeout 900 s.   Any breach → Stop + E-Stop.</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Layered so a driven test (preload · fracture · strain-rate) can't run away — protects the motor, the printed grips and the 3 t load cell.</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 8 — RELEASE PRELOAD  (safe return to 0)</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Controlled unload after a preload</a:t>
            </a:r>
          </a:p>
        </p:txBody>
      </p:sp>
      <p:sp>
        <p:nvSpPr>
          <p:cNvPr id="6" name="Rounded Rectangle 5"/>
          <p:cNvSpPr/>
          <p:nvPr/>
        </p:nvSpPr>
        <p:spPr>
          <a:xfrm>
            <a:off x="365760" y="1828800"/>
            <a:ext cx="2834640" cy="105156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Preloaded
specimen</a:t>
            </a:r>
          </a:p>
        </p:txBody>
      </p:sp>
      <p:cxnSp>
        <p:nvCxnSpPr>
          <p:cNvPr id="7" name="Connector 6"/>
          <p:cNvCxnSpPr/>
          <p:nvPr/>
        </p:nvCxnSpPr>
        <p:spPr>
          <a:xfrm>
            <a:off x="3200400" y="2350008"/>
            <a:ext cx="777239"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977639" y="1828800"/>
            <a:ext cx="2834640" cy="105156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Reverse at
0.30 mm/s</a:t>
            </a:r>
          </a:p>
        </p:txBody>
      </p:sp>
      <p:cxnSp>
        <p:nvCxnSpPr>
          <p:cNvPr id="9" name="Connector 8"/>
          <p:cNvCxnSpPr/>
          <p:nvPr/>
        </p:nvCxnSpPr>
        <p:spPr>
          <a:xfrm>
            <a:off x="6812279" y="2350008"/>
            <a:ext cx="777241"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7589520" y="1828800"/>
            <a:ext cx="2834640" cy="105156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1F3F2F"/>
                </a:solidFill>
                <a:latin typeface="Calibri"/>
              </a:rPr>
              <a:t>Stop at
~5 N</a:t>
            </a:r>
          </a:p>
        </p:txBody>
      </p:sp>
      <p:sp>
        <p:nvSpPr>
          <p:cNvPr id="11" name="TextBox 10"/>
          <p:cNvSpPr txBox="1"/>
          <p:nvPr/>
        </p:nvSpPr>
        <p:spPr>
          <a:xfrm>
            <a:off x="365760" y="315468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Limits</a:t>
            </a:r>
          </a:p>
        </p:txBody>
      </p:sp>
      <p:sp>
        <p:nvSpPr>
          <p:cNvPr id="12" name="Rounded Rectangle 11"/>
          <p:cNvSpPr/>
          <p:nvPr/>
        </p:nvSpPr>
        <p:spPr>
          <a:xfrm>
            <a:off x="365760"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0.30 mm/s</a:t>
            </a:r>
          </a:p>
          <a:p>
            <a:pPr algn="ctr"/>
            <a:r>
              <a:rPr sz="950">
                <a:solidFill>
                  <a:srgbClr val="000000"/>
                </a:solidFill>
                <a:latin typeface="Calibri"/>
              </a:rPr>
              <a:t>RELEASE SPEED</a:t>
            </a:r>
          </a:p>
        </p:txBody>
      </p:sp>
      <p:sp>
        <p:nvSpPr>
          <p:cNvPr id="13" name="Rounded Rectangle 12"/>
          <p:cNvSpPr/>
          <p:nvPr/>
        </p:nvSpPr>
        <p:spPr>
          <a:xfrm>
            <a:off x="3310128"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 N</a:t>
            </a:r>
          </a:p>
          <a:p>
            <a:pPr algn="ctr"/>
            <a:r>
              <a:rPr sz="950">
                <a:solidFill>
                  <a:srgbClr val="000000"/>
                </a:solidFill>
                <a:latin typeface="Calibri"/>
              </a:rPr>
              <a:t>TARGET</a:t>
            </a:r>
          </a:p>
        </p:txBody>
      </p:sp>
      <p:sp>
        <p:nvSpPr>
          <p:cNvPr id="14" name="Rounded Rectangle 13"/>
          <p:cNvSpPr/>
          <p:nvPr/>
        </p:nvSpPr>
        <p:spPr>
          <a:xfrm>
            <a:off x="6254496" y="3566160"/>
            <a:ext cx="27432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50 N</a:t>
            </a:r>
          </a:p>
          <a:p>
            <a:pPr algn="ctr"/>
            <a:r>
              <a:rPr sz="950">
                <a:solidFill>
                  <a:srgbClr val="000000"/>
                </a:solidFill>
                <a:latin typeface="Calibri"/>
              </a:rPr>
              <a:t>RISE CAP</a:t>
            </a:r>
          </a:p>
        </p:txBody>
      </p:sp>
      <p:sp>
        <p:nvSpPr>
          <p:cNvPr id="15" name="Rounded Rectangle 14"/>
          <p:cNvSpPr/>
          <p:nvPr/>
        </p:nvSpPr>
        <p:spPr>
          <a:xfrm>
            <a:off x="9198864" y="3566160"/>
            <a:ext cx="26517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180 s</a:t>
            </a:r>
          </a:p>
          <a:p>
            <a:pPr algn="ctr"/>
            <a:r>
              <a:rPr sz="950">
                <a:solidFill>
                  <a:srgbClr val="000000"/>
                </a:solidFill>
                <a:latin typeface="Calibri"/>
              </a:rPr>
              <a:t>TIMEOUT</a:t>
            </a:r>
          </a:p>
        </p:txBody>
      </p:sp>
      <p:sp>
        <p:nvSpPr>
          <p:cNvPr id="16" name="Rectangle 15"/>
          <p:cNvSpPr/>
          <p:nvPr/>
        </p:nvSpPr>
        <p:spPr>
          <a:xfrm>
            <a:off x="365760" y="4709160"/>
            <a:ext cx="11475720" cy="86868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Rig-validated — eases tension off the specimen + grips; live-SetSpeed only (no re-latch runaway); stops on target / rise-cap / timeout.</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Feature in Software/UTM_PyQt6/main.py (Release preload button). Validated 2026-07-28.</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TWO WAYS TO FRACTURE — WHEN TO USE WHICH</a:t>
            </a:r>
          </a:p>
        </p:txBody>
      </p:sp>
      <p:graphicFrame>
        <p:nvGraphicFramePr>
          <p:cNvPr id="5" name="Table 4"/>
          <p:cNvGraphicFramePr>
            <a:graphicFrameLocks noGrp="1"/>
          </p:cNvGraphicFramePr>
          <p:nvPr/>
        </p:nvGraphicFramePr>
        <p:xfrm>
          <a:off x="365760" y="1280160"/>
          <a:ext cx="11475720" cy="2971800"/>
        </p:xfrm>
        <a:graphic>
          <a:graphicData uri="http://schemas.openxmlformats.org/drawingml/2006/table">
            <a:tbl>
              <a:tblPr firstRow="1" bandRow="1">
                <a:tableStyleId>{5C22544A-7EE6-4342-B048-85BDC9FD1C3A}</a:tableStyleId>
              </a:tblPr>
              <a:tblGrid>
                <a:gridCol w="1920240"/>
                <a:gridCol w="4754880"/>
                <a:gridCol w="4800600"/>
              </a:tblGrid>
              <a:tr h="495300">
                <a:tc>
                  <a:txBody>
                    <a:bodyPr lIns="54864" rIns="54864" tIns="18288" bIns="18288" wrap="square" anchor="ctr"/>
                    <a:lstStyle/>
                    <a:p>
                      <a:pPr algn="l"/>
                      <a:r>
                        <a:rPr sz="1100" b="1">
                          <a:solidFill>
                            <a:srgbClr val="FFFFFF"/>
                          </a:solidFill>
                          <a:latin typeface="Calibri"/>
                        </a:rPr>
                        <a:t/>
                      </a:r>
                    </a:p>
                  </a:txBody>
                  <a:tcPr>
                    <a:solidFill>
                      <a:srgbClr val="143D2F"/>
                    </a:solidFill>
                  </a:tcPr>
                </a:tc>
                <a:tc>
                  <a:txBody>
                    <a:bodyPr lIns="54864" rIns="54864" tIns="18288" bIns="18288" wrap="square" anchor="ctr"/>
                    <a:lstStyle/>
                    <a:p>
                      <a:pPr algn="l"/>
                      <a:r>
                        <a:rPr sz="1100" b="1">
                          <a:solidFill>
                            <a:srgbClr val="FFFFFF"/>
                          </a:solidFill>
                          <a:latin typeface="Calibri"/>
                        </a:rPr>
                        <a:t>Direct motor speed</a:t>
                      </a:r>
                    </a:p>
                  </a:txBody>
                  <a:tcPr>
                    <a:solidFill>
                      <a:srgbClr val="143D2F"/>
                    </a:solidFill>
                  </a:tcPr>
                </a:tc>
                <a:tc>
                  <a:txBody>
                    <a:bodyPr lIns="54864" rIns="54864" tIns="18288" bIns="18288" wrap="square" anchor="ctr"/>
                    <a:lstStyle/>
                    <a:p>
                      <a:pPr algn="l"/>
                      <a:r>
                        <a:rPr sz="1100" b="1">
                          <a:solidFill>
                            <a:srgbClr val="FFFFFF"/>
                          </a:solidFill>
                          <a:latin typeface="Calibri"/>
                        </a:rPr>
                        <a:t>Strain-rate fracture</a:t>
                      </a:r>
                    </a:p>
                  </a:txBody>
                  <a:tcPr>
                    <a:solidFill>
                      <a:srgbClr val="143D2F"/>
                    </a:solidFill>
                  </a:tcPr>
                </a:tc>
              </a:tr>
              <a:tr h="495300">
                <a:tc>
                  <a:txBody>
                    <a:bodyPr lIns="54864" rIns="54864" tIns="18288" bIns="18288" wrap="square" anchor="ctr"/>
                    <a:lstStyle/>
                    <a:p>
                      <a:pPr algn="l"/>
                      <a:r>
                        <a:rPr sz="1050" b="0">
                          <a:solidFill>
                            <a:srgbClr val="000000"/>
                          </a:solidFill>
                          <a:latin typeface="Calibri"/>
                        </a:rPr>
                        <a:t>How</a:t>
                      </a:r>
                    </a:p>
                  </a:txBody>
                  <a:tcPr/>
                </a:tc>
                <a:tc>
                  <a:txBody>
                    <a:bodyPr lIns="54864" rIns="54864" tIns="18288" bIns="18288" wrap="square" anchor="ctr"/>
                    <a:lstStyle/>
                    <a:p>
                      <a:pPr algn="l"/>
                      <a:r>
                        <a:rPr sz="1050" b="0">
                          <a:solidFill>
                            <a:srgbClr val="000000"/>
                          </a:solidFill>
                          <a:latin typeface="Calibri"/>
                        </a:rPr>
                        <a:t>constant crosshead mm/s</a:t>
                      </a:r>
                    </a:p>
                  </a:txBody>
                  <a:tcPr/>
                </a:tc>
                <a:tc>
                  <a:txBody>
                    <a:bodyPr lIns="54864" rIns="54864" tIns="18288" bIns="18288" wrap="square" anchor="ctr"/>
                    <a:lstStyle/>
                    <a:p>
                      <a:pPr algn="l"/>
                      <a:r>
                        <a:rPr sz="1050" b="0">
                          <a:solidFill>
                            <a:srgbClr val="000000"/>
                          </a:solidFill>
                          <a:latin typeface="Calibri"/>
                        </a:rPr>
                        <a:t>closed-loop on DIC dε/dt</a:t>
                      </a:r>
                    </a:p>
                  </a:txBody>
                  <a:tcPr/>
                </a:tc>
              </a:tr>
              <a:tr h="495300">
                <a:tc>
                  <a:txBody>
                    <a:bodyPr lIns="54864" rIns="54864" tIns="18288" bIns="18288" wrap="square" anchor="ctr"/>
                    <a:lstStyle/>
                    <a:p>
                      <a:pPr algn="l"/>
                      <a:r>
                        <a:rPr sz="1050" b="0">
                          <a:solidFill>
                            <a:srgbClr val="000000"/>
                          </a:solidFill>
                          <a:latin typeface="Calibri"/>
                        </a:rPr>
                        <a:t>Rate</a:t>
                      </a:r>
                    </a:p>
                  </a:txBody>
                  <a:tcPr/>
                </a:tc>
                <a:tc>
                  <a:txBody>
                    <a:bodyPr lIns="54864" rIns="54864" tIns="18288" bIns="18288" wrap="square" anchor="ctr"/>
                    <a:lstStyle/>
                    <a:p>
                      <a:pPr algn="l"/>
                      <a:r>
                        <a:rPr sz="1050" b="0">
                          <a:solidFill>
                            <a:srgbClr val="000000"/>
                          </a:solidFill>
                          <a:latin typeface="Calibri"/>
                        </a:rPr>
                        <a:t>varies (fast neck, slow elastic)</a:t>
                      </a:r>
                    </a:p>
                  </a:txBody>
                  <a:tcPr/>
                </a:tc>
                <a:tc>
                  <a:txBody>
                    <a:bodyPr lIns="54864" rIns="54864" tIns="18288" bIns="18288" wrap="square" anchor="ctr"/>
                    <a:lstStyle/>
                    <a:p>
                      <a:pPr algn="l"/>
                      <a:r>
                        <a:rPr sz="1050" b="0">
                          <a:solidFill>
                            <a:srgbClr val="000000"/>
                          </a:solidFill>
                          <a:latin typeface="Calibri"/>
                        </a:rPr>
                        <a:t>CONSTANT gauge rate</a:t>
                      </a:r>
                    </a:p>
                  </a:txBody>
                  <a:tcPr/>
                </a:tc>
              </a:tr>
              <a:tr h="495300">
                <a:tc>
                  <a:txBody>
                    <a:bodyPr lIns="54864" rIns="54864" tIns="18288" bIns="18288" wrap="square" anchor="ctr"/>
                    <a:lstStyle/>
                    <a:p>
                      <a:pPr algn="l"/>
                      <a:r>
                        <a:rPr sz="1050" b="0">
                          <a:solidFill>
                            <a:srgbClr val="000000"/>
                          </a:solidFill>
                          <a:latin typeface="Calibri"/>
                        </a:rPr>
                        <a:t>Needs DIC?</a:t>
                      </a:r>
                    </a:p>
                  </a:txBody>
                  <a:tcPr/>
                </a:tc>
                <a:tc>
                  <a:txBody>
                    <a:bodyPr lIns="54864" rIns="54864" tIns="18288" bIns="18288" wrap="square" anchor="ctr"/>
                    <a:lstStyle/>
                    <a:p>
                      <a:pPr algn="l"/>
                      <a:r>
                        <a:rPr sz="1050" b="0">
                          <a:solidFill>
                            <a:srgbClr val="000000"/>
                          </a:solidFill>
                          <a:latin typeface="Calibri"/>
                        </a:rPr>
                        <a:t>no</a:t>
                      </a:r>
                    </a:p>
                  </a:txBody>
                  <a:tcPr/>
                </a:tc>
                <a:tc>
                  <a:txBody>
                    <a:bodyPr lIns="54864" rIns="54864" tIns="18288" bIns="18288" wrap="square" anchor="ctr"/>
                    <a:lstStyle/>
                    <a:p>
                      <a:pPr algn="l"/>
                      <a:r>
                        <a:rPr sz="1050" b="0">
                          <a:solidFill>
                            <a:srgbClr val="000000"/>
                          </a:solidFill>
                          <a:latin typeface="Calibri"/>
                        </a:rPr>
                        <a:t>YES (green 2/2)</a:t>
                      </a:r>
                    </a:p>
                  </a:txBody>
                  <a:tcPr/>
                </a:tc>
              </a:tr>
              <a:tr h="495300">
                <a:tc>
                  <a:txBody>
                    <a:bodyPr lIns="54864" rIns="54864" tIns="18288" bIns="18288" wrap="square" anchor="ctr"/>
                    <a:lstStyle/>
                    <a:p>
                      <a:pPr algn="l"/>
                      <a:r>
                        <a:rPr sz="1050" b="0">
                          <a:solidFill>
                            <a:srgbClr val="000000"/>
                          </a:solidFill>
                          <a:latin typeface="Calibri"/>
                        </a:rPr>
                        <a:t>Motor force</a:t>
                      </a:r>
                    </a:p>
                  </a:txBody>
                  <a:tcPr/>
                </a:tc>
                <a:tc>
                  <a:txBody>
                    <a:bodyPr lIns="54864" rIns="54864" tIns="18288" bIns="18288" wrap="square" anchor="ctr"/>
                    <a:lstStyle/>
                    <a:p>
                      <a:pPr algn="l"/>
                      <a:r>
                        <a:rPr sz="1050" b="0">
                          <a:solidFill>
                            <a:srgbClr val="000000"/>
                          </a:solidFill>
                          <a:latin typeface="Calibri"/>
                        </a:rPr>
                        <a:t>full — higher speed OK</a:t>
                      </a:r>
                    </a:p>
                  </a:txBody>
                  <a:tcPr/>
                </a:tc>
                <a:tc>
                  <a:txBody>
                    <a:bodyPr lIns="54864" rIns="54864" tIns="18288" bIns="18288" wrap="square" anchor="ctr"/>
                    <a:lstStyle/>
                    <a:p>
                      <a:pPr algn="l"/>
                      <a:r>
                        <a:rPr sz="1050" b="0">
                          <a:solidFill>
                            <a:srgbClr val="000000"/>
                          </a:solidFill>
                          <a:latin typeface="Calibri"/>
                        </a:rPr>
                        <a:t>capped speed → less force</a:t>
                      </a:r>
                    </a:p>
                  </a:txBody>
                  <a:tcPr/>
                </a:tc>
              </a:tr>
              <a:tr h="495300">
                <a:tc>
                  <a:txBody>
                    <a:bodyPr lIns="54864" rIns="54864" tIns="18288" bIns="18288" wrap="square" anchor="ctr"/>
                    <a:lstStyle/>
                    <a:p>
                      <a:pPr algn="l"/>
                      <a:r>
                        <a:rPr sz="1050" b="0">
                          <a:solidFill>
                            <a:srgbClr val="000000"/>
                          </a:solidFill>
                          <a:latin typeface="Calibri"/>
                        </a:rPr>
                        <a:t>Best for</a:t>
                      </a:r>
                    </a:p>
                  </a:txBody>
                  <a:tcPr/>
                </a:tc>
                <a:tc>
                  <a:txBody>
                    <a:bodyPr lIns="54864" rIns="54864" tIns="18288" bIns="18288" wrap="square" anchor="ctr"/>
                    <a:lstStyle/>
                    <a:p>
                      <a:pPr algn="l"/>
                      <a:r>
                        <a:rPr sz="1050" b="0">
                          <a:solidFill>
                            <a:srgbClr val="000000"/>
                          </a:solidFill>
                          <a:latin typeface="Calibri"/>
                        </a:rPr>
                        <a:t>quick UTS · strong specimens</a:t>
                      </a:r>
                    </a:p>
                  </a:txBody>
                  <a:tcPr/>
                </a:tc>
                <a:tc>
                  <a:txBody>
                    <a:bodyPr lIns="54864" rIns="54864" tIns="18288" bIns="18288" wrap="square" anchor="ctr"/>
                    <a:lstStyle/>
                    <a:p>
                      <a:pPr algn="l"/>
                      <a:r>
                        <a:rPr sz="1050" b="0">
                          <a:solidFill>
                            <a:srgbClr val="000000"/>
                          </a:solidFill>
                          <a:latin typeface="Calibri"/>
                        </a:rPr>
                        <a:t>standards-grade · rate-sensitive</a:t>
                      </a:r>
                    </a:p>
                  </a:txBody>
                  <a:tcPr/>
                </a:tc>
              </a:tr>
            </a:tbl>
          </a:graphicData>
        </a:graphic>
      </p:graphicFrame>
      <p:sp>
        <p:nvSpPr>
          <p:cNvPr id="6" name="TextBox 5"/>
          <p:cNvSpPr txBox="1"/>
          <p:nvPr/>
        </p:nvSpPr>
        <p:spPr>
          <a:xfrm>
            <a:off x="365760" y="448056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Suggestion</a:t>
            </a:r>
          </a:p>
        </p:txBody>
      </p:sp>
      <p:sp>
        <p:nvSpPr>
          <p:cNvPr id="7" name="Rounded Rectangle 6"/>
          <p:cNvSpPr/>
          <p:nvPr/>
        </p:nvSpPr>
        <p:spPr>
          <a:xfrm>
            <a:off x="365760" y="4910328"/>
            <a:ext cx="5669280" cy="91440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000000"/>
                </a:solidFill>
                <a:latin typeface="Calibri"/>
              </a:rPr>
              <a:t>MAX pulling force or a quick UTS?
→  DIRECT motor speed</a:t>
            </a:r>
          </a:p>
        </p:txBody>
      </p:sp>
      <p:sp>
        <p:nvSpPr>
          <p:cNvPr id="8" name="Rounded Rectangle 7"/>
          <p:cNvSpPr/>
          <p:nvPr/>
        </p:nvSpPr>
        <p:spPr>
          <a:xfrm>
            <a:off x="6172200" y="4910328"/>
            <a:ext cx="5669280" cy="9144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50" b="1">
                <a:solidFill>
                  <a:srgbClr val="1F3F2F"/>
                </a:solidFill>
                <a:latin typeface="Calibri"/>
              </a:rPr>
              <a:t>Controlled material strain rate (comparable)?
→  STRAIN-RATE fracture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auto-stop on fracture (same detector) + stall guard. On THIS rig (torque ~2.6 kN today) use 50% / smaller specimens for strain-rate to reach break.</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INNOVATION ROADMAP — AT A GLANCE</a:t>
            </a:r>
          </a:p>
        </p:txBody>
      </p:sp>
      <p:sp>
        <p:nvSpPr>
          <p:cNvPr id="5" name="Rounded Rectangle 4"/>
          <p:cNvSpPr/>
          <p:nvPr/>
        </p:nvSpPr>
        <p:spPr>
          <a:xfrm>
            <a:off x="365760" y="1920240"/>
            <a:ext cx="2148840" cy="13716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0 · Foundations
analysis · engine · recipes</a:t>
            </a:r>
          </a:p>
        </p:txBody>
      </p:sp>
      <p:sp>
        <p:nvSpPr>
          <p:cNvPr id="6" name="TextBox 5"/>
          <p:cNvSpPr txBox="1"/>
          <p:nvPr/>
        </p:nvSpPr>
        <p:spPr>
          <a:xfrm>
            <a:off x="365760" y="3346704"/>
            <a:ext cx="2148840" cy="365760"/>
          </a:xfrm>
          <a:prstGeom prst="rect">
            <a:avLst/>
          </a:prstGeom>
          <a:noFill/>
        </p:spPr>
        <p:txBody>
          <a:bodyPr wrap="square" lIns="45720" rIns="45720" tIns="18288" bIns="18288" anchor="t">
            <a:spAutoFit/>
          </a:bodyPr>
          <a:lstStyle/>
          <a:p>
            <a:pPr algn="l"/>
            <a:r>
              <a:rPr sz="1100" b="1" i="0">
                <a:solidFill>
                  <a:srgbClr val="1F3F2F"/>
                </a:solidFill>
                <a:latin typeface="Calibri"/>
              </a:rPr>
              <a:t>DONE</a:t>
            </a:r>
          </a:p>
        </p:txBody>
      </p:sp>
      <p:cxnSp>
        <p:nvCxnSpPr>
          <p:cNvPr id="7" name="Connector 6"/>
          <p:cNvCxnSpPr/>
          <p:nvPr/>
        </p:nvCxnSpPr>
        <p:spPr>
          <a:xfrm>
            <a:off x="2514600"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724912" y="1920240"/>
            <a:ext cx="2148840" cy="1371600"/>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1F3F2F"/>
                </a:solidFill>
                <a:latin typeface="Calibri"/>
              </a:rPr>
              <a:t>A · One-click
report · prepare · auto-stop</a:t>
            </a:r>
          </a:p>
        </p:txBody>
      </p:sp>
      <p:sp>
        <p:nvSpPr>
          <p:cNvPr id="9" name="TextBox 8"/>
          <p:cNvSpPr txBox="1"/>
          <p:nvPr/>
        </p:nvSpPr>
        <p:spPr>
          <a:xfrm>
            <a:off x="2724912" y="3346704"/>
            <a:ext cx="2148840" cy="365760"/>
          </a:xfrm>
          <a:prstGeom prst="rect">
            <a:avLst/>
          </a:prstGeom>
          <a:noFill/>
        </p:spPr>
        <p:txBody>
          <a:bodyPr wrap="square" lIns="45720" rIns="45720" tIns="18288" bIns="18288" anchor="t">
            <a:spAutoFit/>
          </a:bodyPr>
          <a:lstStyle/>
          <a:p>
            <a:pPr algn="l"/>
            <a:r>
              <a:rPr sz="1100" b="1" i="0">
                <a:solidFill>
                  <a:srgbClr val="1F3F2F"/>
                </a:solidFill>
                <a:latin typeface="Calibri"/>
              </a:rPr>
              <a:t>DONE</a:t>
            </a:r>
          </a:p>
        </p:txBody>
      </p:sp>
      <p:cxnSp>
        <p:nvCxnSpPr>
          <p:cNvPr id="10" name="Connector 9"/>
          <p:cNvCxnSpPr/>
          <p:nvPr/>
        </p:nvCxnSpPr>
        <p:spPr>
          <a:xfrm>
            <a:off x="4873752"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84064" y="1920240"/>
            <a:ext cx="2148840" cy="137160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B · Test modes
strain-rate ✓ · 4 more</a:t>
            </a:r>
          </a:p>
        </p:txBody>
      </p:sp>
      <p:sp>
        <p:nvSpPr>
          <p:cNvPr id="12" name="TextBox 11"/>
          <p:cNvSpPr txBox="1"/>
          <p:nvPr/>
        </p:nvSpPr>
        <p:spPr>
          <a:xfrm>
            <a:off x="5084064"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1 / 5</a:t>
            </a:r>
          </a:p>
        </p:txBody>
      </p:sp>
      <p:cxnSp>
        <p:nvCxnSpPr>
          <p:cNvPr id="13" name="Connector 12"/>
          <p:cNvCxnSpPr/>
          <p:nvPr/>
        </p:nvCxnSpPr>
        <p:spPr>
          <a:xfrm>
            <a:off x="7232904"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443216" y="1920240"/>
            <a:ext cx="2148840" cy="1371600"/>
          </a:xfrm>
          <a:prstGeom prst="roundRect">
            <a:avLst/>
          </a:prstGeom>
          <a:solidFill>
            <a:srgbClr val="FFF3CD"/>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C · Smart DIC
health HUD ✓ · Poisson</a:t>
            </a:r>
          </a:p>
        </p:txBody>
      </p:sp>
      <p:sp>
        <p:nvSpPr>
          <p:cNvPr id="15" name="TextBox 14"/>
          <p:cNvSpPr txBox="1"/>
          <p:nvPr/>
        </p:nvSpPr>
        <p:spPr>
          <a:xfrm>
            <a:off x="7443216"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partial</a:t>
            </a:r>
          </a:p>
        </p:txBody>
      </p:sp>
      <p:cxnSp>
        <p:nvCxnSpPr>
          <p:cNvPr id="16" name="Connector 15"/>
          <p:cNvCxnSpPr/>
          <p:nvPr/>
        </p:nvCxnSpPr>
        <p:spPr>
          <a:xfrm>
            <a:off x="9592056" y="2606040"/>
            <a:ext cx="210312"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802368" y="1920240"/>
            <a:ext cx="2148840" cy="1371600"/>
          </a:xfrm>
          <a:prstGeom prst="roundRect">
            <a:avLst/>
          </a:prstGeom>
          <a:solidFill>
            <a:srgbClr val="E8E8E8"/>
          </a:solidFill>
          <a:ln w="1524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050" b="1">
                <a:solidFill>
                  <a:srgbClr val="555555"/>
                </a:solidFill>
                <a:latin typeface="Calibri"/>
              </a:rPr>
              <a:t>D · UX layer
wizard · overlay · dash</a:t>
            </a:r>
          </a:p>
        </p:txBody>
      </p:sp>
      <p:sp>
        <p:nvSpPr>
          <p:cNvPr id="18" name="TextBox 17"/>
          <p:cNvSpPr txBox="1"/>
          <p:nvPr/>
        </p:nvSpPr>
        <p:spPr>
          <a:xfrm>
            <a:off x="9802368" y="3346704"/>
            <a:ext cx="2148840" cy="365760"/>
          </a:xfrm>
          <a:prstGeom prst="rect">
            <a:avLst/>
          </a:prstGeom>
          <a:noFill/>
        </p:spPr>
        <p:txBody>
          <a:bodyPr wrap="square" lIns="45720" rIns="45720" tIns="18288" bIns="18288" anchor="t">
            <a:spAutoFit/>
          </a:bodyPr>
          <a:lstStyle/>
          <a:p>
            <a:pPr algn="l"/>
            <a:r>
              <a:rPr sz="1100" b="1" i="0">
                <a:solidFill>
                  <a:srgbClr val="555555"/>
                </a:solidFill>
                <a:latin typeface="Calibri"/>
              </a:rPr>
              <a:t>next</a:t>
            </a:r>
          </a:p>
        </p:txBody>
      </p:sp>
      <p:sp>
        <p:nvSpPr>
          <p:cNvPr id="19" name="TextBox 18"/>
          <p:cNvSpPr txBox="1"/>
          <p:nvPr/>
        </p:nvSpPr>
        <p:spPr>
          <a:xfrm>
            <a:off x="365760" y="411480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Next up (in order)</a:t>
            </a:r>
          </a:p>
        </p:txBody>
      </p:sp>
      <p:sp>
        <p:nvSpPr>
          <p:cNvPr id="20" name="Rounded Rectangle 19"/>
          <p:cNvSpPr/>
          <p:nvPr/>
        </p:nvSpPr>
        <p:spPr>
          <a:xfrm>
            <a:off x="365760" y="4553712"/>
            <a:ext cx="370332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1 · Wire the 4 remaining
modes (engine ready)</a:t>
            </a:r>
          </a:p>
        </p:txBody>
      </p:sp>
      <p:cxnSp>
        <p:nvCxnSpPr>
          <p:cNvPr id="21" name="Connector 20"/>
          <p:cNvCxnSpPr/>
          <p:nvPr/>
        </p:nvCxnSpPr>
        <p:spPr>
          <a:xfrm>
            <a:off x="4087368" y="4983480"/>
            <a:ext cx="192024"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297680" y="4553712"/>
            <a:ext cx="370332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2 · Measured Poisson
(4-marker + backdrop)</a:t>
            </a:r>
          </a:p>
        </p:txBody>
      </p:sp>
      <p:cxnSp>
        <p:nvCxnSpPr>
          <p:cNvPr id="23" name="Connector 22"/>
          <p:cNvCxnSpPr/>
          <p:nvPr/>
        </p:nvCxnSpPr>
        <p:spPr>
          <a:xfrm>
            <a:off x="8019288" y="4983480"/>
            <a:ext cx="192024" cy="0"/>
          </a:xfrm>
          <a:prstGeom prst="line">
            <a:avLst/>
          </a:prstGeom>
          <a:ln w="2540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229600" y="4553712"/>
            <a:ext cx="3611880" cy="868680"/>
          </a:xfrm>
          <a:prstGeom prst="roundRect">
            <a:avLst/>
          </a:prstGeom>
          <a:solidFill>
            <a:srgbClr val="FFFFFF"/>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1">
                <a:solidFill>
                  <a:srgbClr val="000000"/>
                </a:solidFill>
                <a:latin typeface="Calibri"/>
              </a:rPr>
              <a:t>3 · UX wizard +
live overlay</a:t>
            </a:r>
          </a:p>
        </p:txBody>
      </p:sp>
      <p:sp>
        <p:nvSpPr>
          <p:cNvPr id="25" name="Rectangle 24"/>
          <p:cNvSpPr/>
          <p:nvPr/>
        </p:nvSpPr>
        <p:spPr>
          <a:xfrm>
            <a:off x="365760" y="5669280"/>
            <a:ext cx="11475720" cy="65836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Hardware gate — motor torque ~2.6 kN today; fix driver Vref / cooling to fracture 100% infill.</a:t>
            </a:r>
          </a:p>
        </p:txBody>
      </p:sp>
      <p:sp>
        <p:nvSpPr>
          <p:cNvPr id="26" name="TextBox 2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SPECIMEN REGISTER  (S1 – S26)</a:t>
            </a:r>
          </a:p>
        </p:txBody>
      </p:sp>
      <p:graphicFrame>
        <p:nvGraphicFramePr>
          <p:cNvPr id="5" name="Table 4"/>
          <p:cNvGraphicFramePr>
            <a:graphicFrameLocks noGrp="1"/>
          </p:cNvGraphicFramePr>
          <p:nvPr/>
        </p:nvGraphicFramePr>
        <p:xfrm>
          <a:off x="365760" y="1280160"/>
          <a:ext cx="5669280" cy="4663440"/>
        </p:xfrm>
        <a:graphic>
          <a:graphicData uri="http://schemas.openxmlformats.org/drawingml/2006/table">
            <a:tbl>
              <a:tblPr firstRow="1" bandRow="1">
                <a:tableStyleId>{5C22544A-7EE6-4342-B048-85BDC9FD1C3A}</a:tableStyleId>
              </a:tblPr>
              <a:tblGrid>
                <a:gridCol w="914400"/>
                <a:gridCol w="1005840"/>
                <a:gridCol w="1005840"/>
                <a:gridCol w="2743200"/>
              </a:tblGrid>
              <a:tr h="333102">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Infill</a:t>
                      </a:r>
                    </a:p>
                  </a:txBody>
                  <a:tcPr>
                    <a:solidFill>
                      <a:srgbClr val="143D2F"/>
                    </a:solidFill>
                  </a:tcPr>
                </a:tc>
                <a:tc>
                  <a:txBody>
                    <a:bodyPr lIns="54864" rIns="54864" tIns="18288" bIns="18288" wrap="square" anchor="ctr"/>
                    <a:lstStyle/>
                    <a:p>
                      <a:pPr algn="l"/>
                      <a:r>
                        <a:rPr sz="1000" b="1">
                          <a:solidFill>
                            <a:srgbClr val="FFFFFF"/>
                          </a:solidFill>
                          <a:latin typeface="Calibri"/>
                        </a:rPr>
                        <a:t>Colour</a:t>
                      </a:r>
                    </a:p>
                  </a:txBody>
                  <a:tcPr>
                    <a:solidFill>
                      <a:srgbClr val="143D2F"/>
                    </a:solidFill>
                  </a:tcPr>
                </a:tc>
                <a:tc>
                  <a:txBody>
                    <a:bodyPr lIns="54864" rIns="54864" tIns="18288" bIns="18288" wrap="square" anchor="ctr"/>
                    <a:lstStyle/>
                    <a:p>
                      <a:pPr algn="l"/>
                      <a:r>
                        <a:rPr sz="1000" b="1">
                          <a:solidFill>
                            <a:srgbClr val="FFFFFF"/>
                          </a:solidFill>
                          <a:latin typeface="Calibri"/>
                        </a:rPr>
                        <a:t>Test / result</a:t>
                      </a:r>
                    </a:p>
                  </a:txBody>
                  <a:tcPr>
                    <a:solidFill>
                      <a:srgbClr val="143D2F"/>
                    </a:solidFill>
                  </a:tcPr>
                </a:tc>
              </a:tr>
              <a:tr h="333102">
                <a:tc>
                  <a:txBody>
                    <a:bodyPr lIns="54864" rIns="54864" tIns="18288" bIns="18288" wrap="square" anchor="ctr"/>
                    <a:lstStyle/>
                    <a:p>
                      <a:pPr algn="l"/>
                      <a:r>
                        <a:rPr sz="900" b="0">
                          <a:solidFill>
                            <a:srgbClr val="000000"/>
                          </a:solidFill>
                          <a:latin typeface="Calibri"/>
                        </a:rPr>
                        <a:t>S1</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S2</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V5c · 22.0 MPa</a:t>
                      </a:r>
                    </a:p>
                  </a:txBody>
                  <a:tcPr/>
                </a:tc>
              </a:tr>
              <a:tr h="333102">
                <a:tc>
                  <a:txBody>
                    <a:bodyPr lIns="54864" rIns="54864" tIns="18288" bIns="18288" wrap="square" anchor="ctr"/>
                    <a:lstStyle/>
                    <a:p>
                      <a:pPr algn="l"/>
                      <a:r>
                        <a:rPr sz="900" b="0">
                          <a:solidFill>
                            <a:srgbClr val="000000"/>
                          </a:solidFill>
                          <a:latin typeface="Calibri"/>
                        </a:rPr>
                        <a:t>S3</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V5b · 22.0 MPa</a:t>
                      </a:r>
                    </a:p>
                  </a:txBody>
                  <a:tcPr/>
                </a:tc>
              </a:tr>
              <a:tr h="333102">
                <a:tc>
                  <a:txBody>
                    <a:bodyPr lIns="54864" rIns="54864" tIns="18288" bIns="18288" wrap="square" anchor="ctr"/>
                    <a:lstStyle/>
                    <a:p>
                      <a:pPr algn="l"/>
                      <a:r>
                        <a:rPr sz="900" b="0">
                          <a:solidFill>
                            <a:srgbClr val="000000"/>
                          </a:solidFill>
                          <a:latin typeface="Calibri"/>
                        </a:rPr>
                        <a:t>S4</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V5 · 22.1 MPa</a:t>
                      </a:r>
                    </a:p>
                  </a:txBody>
                  <a:tcPr/>
                </a:tc>
              </a:tr>
              <a:tr h="333102">
                <a:tc>
                  <a:txBody>
                    <a:bodyPr lIns="54864" rIns="54864" tIns="18288" bIns="18288" wrap="square" anchor="ctr"/>
                    <a:lstStyle/>
                    <a:p>
                      <a:pPr algn="l"/>
                      <a:r>
                        <a:rPr sz="900" b="0">
                          <a:solidFill>
                            <a:srgbClr val="000000"/>
                          </a:solidFill>
                          <a:latin typeface="Calibri"/>
                        </a:rPr>
                        <a:t>S5</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S6</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S7</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V6a · 47.8 MPa</a:t>
                      </a:r>
                    </a:p>
                  </a:txBody>
                  <a:tcPr/>
                </a:tc>
              </a:tr>
              <a:tr h="333102">
                <a:tc>
                  <a:txBody>
                    <a:bodyPr lIns="54864" rIns="54864" tIns="18288" bIns="18288" wrap="square" anchor="ctr"/>
                    <a:lstStyle/>
                    <a:p>
                      <a:pPr algn="l"/>
                      <a:r>
                        <a:rPr sz="900" b="0">
                          <a:solidFill>
                            <a:srgbClr val="000000"/>
                          </a:solidFill>
                          <a:latin typeface="Calibri"/>
                        </a:rPr>
                        <a:t>S8</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V6b · 44.8 MPa</a:t>
                      </a:r>
                    </a:p>
                  </a:txBody>
                  <a:tcPr/>
                </a:tc>
              </a:tr>
              <a:tr h="333102">
                <a:tc>
                  <a:txBody>
                    <a:bodyPr lIns="54864" rIns="54864" tIns="18288" bIns="18288" wrap="square" anchor="ctr"/>
                    <a:lstStyle/>
                    <a:p>
                      <a:pPr algn="l"/>
                      <a:r>
                        <a:rPr sz="900" b="0">
                          <a:solidFill>
                            <a:srgbClr val="000000"/>
                          </a:solidFill>
                          <a:latin typeface="Calibri"/>
                        </a:rPr>
                        <a:t>S9</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V6e · 45.5 MPa</a:t>
                      </a:r>
                    </a:p>
                  </a:txBody>
                  <a:tcPr/>
                </a:tc>
              </a:tr>
              <a:tr h="333102">
                <a:tc>
                  <a:txBody>
                    <a:bodyPr lIns="54864" rIns="54864" tIns="18288" bIns="18288" wrap="square" anchor="ctr"/>
                    <a:lstStyle/>
                    <a:p>
                      <a:pPr algn="l"/>
                      <a:r>
                        <a:rPr sz="900" b="0">
                          <a:solidFill>
                            <a:srgbClr val="000000"/>
                          </a:solidFill>
                          <a:latin typeface="Calibri"/>
                        </a:rPr>
                        <a:t>S10</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V6c · 46.8 MPa</a:t>
                      </a:r>
                    </a:p>
                  </a:txBody>
                  <a:tcPr/>
                </a:tc>
              </a:tr>
              <a:tr h="333102">
                <a:tc>
                  <a:txBody>
                    <a:bodyPr lIns="54864" rIns="54864" tIns="18288" bIns="18288" wrap="square" anchor="ctr"/>
                    <a:lstStyle/>
                    <a:p>
                      <a:pPr algn="l"/>
                      <a:r>
                        <a:rPr sz="900" b="0">
                          <a:solidFill>
                            <a:srgbClr val="000000"/>
                          </a:solidFill>
                          <a:latin typeface="Calibri"/>
                        </a:rPr>
                        <a:t>S11</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V6d · 46.1 MPa</a:t>
                      </a:r>
                    </a:p>
                  </a:txBody>
                  <a:tcPr/>
                </a:tc>
              </a:tr>
              <a:tr h="333102">
                <a:tc>
                  <a:txBody>
                    <a:bodyPr lIns="54864" rIns="54864" tIns="18288" bIns="18288" wrap="square" anchor="ctr"/>
                    <a:lstStyle/>
                    <a:p>
                      <a:pPr algn="l"/>
                      <a:r>
                        <a:rPr sz="900" b="0">
                          <a:solidFill>
                            <a:srgbClr val="000000"/>
                          </a:solidFill>
                          <a:latin typeface="Calibri"/>
                        </a:rPr>
                        <a:t>S12</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14">
                <a:tc>
                  <a:txBody>
                    <a:bodyPr lIns="54864" rIns="54864" tIns="18288" bIns="18288" wrap="square" anchor="ctr"/>
                    <a:lstStyle/>
                    <a:p>
                      <a:pPr algn="l"/>
                      <a:r>
                        <a:rPr sz="900" b="0">
                          <a:solidFill>
                            <a:srgbClr val="000000"/>
                          </a:solidFill>
                          <a:latin typeface="Calibri"/>
                        </a:rPr>
                        <a:t>S13</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6" name="Table 5"/>
          <p:cNvGraphicFramePr>
            <a:graphicFrameLocks noGrp="1"/>
          </p:cNvGraphicFramePr>
          <p:nvPr/>
        </p:nvGraphicFramePr>
        <p:xfrm>
          <a:off x="6172200" y="1280160"/>
          <a:ext cx="5669280" cy="4663440"/>
        </p:xfrm>
        <a:graphic>
          <a:graphicData uri="http://schemas.openxmlformats.org/drawingml/2006/table">
            <a:tbl>
              <a:tblPr firstRow="1" bandRow="1">
                <a:tableStyleId>{5C22544A-7EE6-4342-B048-85BDC9FD1C3A}</a:tableStyleId>
              </a:tblPr>
              <a:tblGrid>
                <a:gridCol w="914400"/>
                <a:gridCol w="1005840"/>
                <a:gridCol w="1005840"/>
                <a:gridCol w="2743200"/>
              </a:tblGrid>
              <a:tr h="333102">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Infill</a:t>
                      </a:r>
                    </a:p>
                  </a:txBody>
                  <a:tcPr>
                    <a:solidFill>
                      <a:srgbClr val="143D2F"/>
                    </a:solidFill>
                  </a:tcPr>
                </a:tc>
                <a:tc>
                  <a:txBody>
                    <a:bodyPr lIns="54864" rIns="54864" tIns="18288" bIns="18288" wrap="square" anchor="ctr"/>
                    <a:lstStyle/>
                    <a:p>
                      <a:pPr algn="l"/>
                      <a:r>
                        <a:rPr sz="1000" b="1">
                          <a:solidFill>
                            <a:srgbClr val="FFFFFF"/>
                          </a:solidFill>
                          <a:latin typeface="Calibri"/>
                        </a:rPr>
                        <a:t>Colour</a:t>
                      </a:r>
                    </a:p>
                  </a:txBody>
                  <a:tcPr>
                    <a:solidFill>
                      <a:srgbClr val="143D2F"/>
                    </a:solidFill>
                  </a:tcPr>
                </a:tc>
                <a:tc>
                  <a:txBody>
                    <a:bodyPr lIns="54864" rIns="54864" tIns="18288" bIns="18288" wrap="square" anchor="ctr"/>
                    <a:lstStyle/>
                    <a:p>
                      <a:pPr algn="l"/>
                      <a:r>
                        <a:rPr sz="1000" b="1">
                          <a:solidFill>
                            <a:srgbClr val="FFFFFF"/>
                          </a:solidFill>
                          <a:latin typeface="Calibri"/>
                        </a:rPr>
                        <a:t>Test / result</a:t>
                      </a:r>
                    </a:p>
                  </a:txBody>
                  <a:tcPr>
                    <a:solidFill>
                      <a:srgbClr val="143D2F"/>
                    </a:solidFill>
                  </a:tcPr>
                </a:tc>
              </a:tr>
              <a:tr h="333102">
                <a:tc>
                  <a:txBody>
                    <a:bodyPr lIns="54864" rIns="54864" tIns="18288" bIns="18288" wrap="square" anchor="ctr"/>
                    <a:lstStyle/>
                    <a:p>
                      <a:pPr algn="l"/>
                      <a:r>
                        <a:rPr sz="900" b="0">
                          <a:solidFill>
                            <a:srgbClr val="000000"/>
                          </a:solidFill>
                          <a:latin typeface="Calibri"/>
                        </a:rPr>
                        <a:t>S14</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
                      </a:r>
                    </a:p>
                  </a:txBody>
                  <a:tcPr/>
                </a:tc>
              </a:tr>
              <a:tr h="333102">
                <a:tc>
                  <a:txBody>
                    <a:bodyPr lIns="54864" rIns="54864" tIns="18288" bIns="18288" wrap="square" anchor="ctr"/>
                    <a:lstStyle/>
                    <a:p>
                      <a:pPr algn="l"/>
                      <a:r>
                        <a:rPr sz="900" b="0">
                          <a:solidFill>
                            <a:srgbClr val="000000"/>
                          </a:solidFill>
                          <a:latin typeface="Calibri"/>
                        </a:rPr>
                        <a:t>S15</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stall (no fracture)</a:t>
                      </a:r>
                    </a:p>
                  </a:txBody>
                  <a:tcPr/>
                </a:tc>
              </a:tr>
              <a:tr h="333102">
                <a:tc>
                  <a:txBody>
                    <a:bodyPr lIns="54864" rIns="54864" tIns="18288" bIns="18288" wrap="square" anchor="ctr"/>
                    <a:lstStyle/>
                    <a:p>
                      <a:pPr algn="l"/>
                      <a:r>
                        <a:rPr sz="900" b="0">
                          <a:solidFill>
                            <a:srgbClr val="000000"/>
                          </a:solidFill>
                          <a:latin typeface="Calibri"/>
                        </a:rPr>
                        <a:t>S16</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first 100% fracture · 47.4</a:t>
                      </a:r>
                    </a:p>
                  </a:txBody>
                  <a:tcPr/>
                </a:tc>
              </a:tr>
              <a:tr h="333102">
                <a:tc>
                  <a:txBody>
                    <a:bodyPr lIns="54864" rIns="54864" tIns="18288" bIns="18288" wrap="square" anchor="ctr"/>
                    <a:lstStyle/>
                    <a:p>
                      <a:pPr algn="l"/>
                      <a:r>
                        <a:rPr sz="900" b="0">
                          <a:solidFill>
                            <a:srgbClr val="000000"/>
                          </a:solidFill>
                          <a:latin typeface="Calibri"/>
                        </a:rPr>
                        <a:t>S17</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halt tests (DIC / stall)</a:t>
                      </a:r>
                    </a:p>
                  </a:txBody>
                  <a:tcPr/>
                </a:tc>
              </a:tr>
              <a:tr h="333102">
                <a:tc>
                  <a:txBody>
                    <a:bodyPr lIns="54864" rIns="54864" tIns="18288" bIns="18288" wrap="square" anchor="ctr"/>
                    <a:lstStyle/>
                    <a:p>
                      <a:pPr algn="l"/>
                      <a:r>
                        <a:rPr sz="900" b="0">
                          <a:solidFill>
                            <a:srgbClr val="000000"/>
                          </a:solidFill>
                          <a:latin typeface="Calibri"/>
                        </a:rPr>
                        <a:t>S18</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T7.2 staircase→frac · 21.2 MPa</a:t>
                      </a:r>
                    </a:p>
                  </a:txBody>
                  <a:tcPr/>
                </a:tc>
              </a:tr>
              <a:tr h="333102">
                <a:tc>
                  <a:txBody>
                    <a:bodyPr lIns="54864" rIns="54864" tIns="18288" bIns="18288" wrap="square" anchor="ctr"/>
                    <a:lstStyle/>
                    <a:p>
                      <a:pPr algn="l"/>
                      <a:r>
                        <a:rPr sz="900" b="0">
                          <a:solidFill>
                            <a:srgbClr val="000000"/>
                          </a:solidFill>
                          <a:latin typeface="Calibri"/>
                        </a:rPr>
                        <a:t>S19</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strain-rate frac · 17.3 MPa</a:t>
                      </a:r>
                    </a:p>
                  </a:txBody>
                  <a:tcPr/>
                </a:tc>
              </a:tr>
              <a:tr h="333102">
                <a:tc>
                  <a:txBody>
                    <a:bodyPr lIns="54864" rIns="54864" tIns="18288" bIns="18288" wrap="square" anchor="ctr"/>
                    <a:lstStyle/>
                    <a:p>
                      <a:pPr algn="l"/>
                      <a:r>
                        <a:rPr sz="900" b="0">
                          <a:solidFill>
                            <a:srgbClr val="000000"/>
                          </a:solidFill>
                          <a:latin typeface="Calibri"/>
                        </a:rPr>
                        <a:t>S20</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T1–T7 modes · T7 stalled 2355 N</a:t>
                      </a:r>
                    </a:p>
                  </a:txBody>
                  <a:tcPr/>
                </a:tc>
              </a:tr>
              <a:tr h="333102">
                <a:tc>
                  <a:txBody>
                    <a:bodyPr lIns="54864" rIns="54864" tIns="18288" bIns="18288" wrap="square" anchor="ctr"/>
                    <a:lstStyle/>
                    <a:p>
                      <a:pPr algn="l"/>
                      <a:r>
                        <a:rPr sz="900" b="0">
                          <a:solidFill>
                            <a:srgbClr val="000000"/>
                          </a:solidFill>
                          <a:latin typeface="Calibri"/>
                        </a:rPr>
                        <a:t>S21</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T8 prog. cyclic→frac · 21.4 MPa</a:t>
                      </a:r>
                    </a:p>
                  </a:txBody>
                  <a:tcPr/>
                </a:tc>
              </a:tr>
              <a:tr h="333102">
                <a:tc>
                  <a:txBody>
                    <a:bodyPr lIns="54864" rIns="54864" tIns="18288" bIns="18288" wrap="square" anchor="ctr"/>
                    <a:lstStyle/>
                    <a:p>
                      <a:pPr algn="l"/>
                      <a:r>
                        <a:rPr sz="900" b="0">
                          <a:solidFill>
                            <a:srgbClr val="000000"/>
                          </a:solidFill>
                          <a:latin typeface="Calibri"/>
                        </a:rPr>
                        <a:t>S22</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T6.4/6.5 cyclic · T7.3 → 19.7 MPa</a:t>
                      </a:r>
                    </a:p>
                  </a:txBody>
                  <a:tcPr/>
                </a:tc>
              </a:tr>
              <a:tr h="333102">
                <a:tc>
                  <a:txBody>
                    <a:bodyPr lIns="54864" rIns="54864" tIns="18288" bIns="18288" wrap="square" anchor="ctr"/>
                    <a:lstStyle/>
                    <a:p>
                      <a:pPr algn="l"/>
                      <a:r>
                        <a:rPr sz="900" b="0">
                          <a:solidFill>
                            <a:srgbClr val="000000"/>
                          </a:solidFill>
                          <a:latin typeface="Calibri"/>
                        </a:rPr>
                        <a:t>S23</a:t>
                      </a:r>
                    </a:p>
                  </a:txBody>
                  <a:tcPr/>
                </a:tc>
                <a:tc>
                  <a:txBody>
                    <a:bodyPr lIns="54864" rIns="54864" tIns="18288" bIns="18288" wrap="square" anchor="ctr"/>
                    <a:lstStyle/>
                    <a:p>
                      <a:pPr algn="l"/>
                      <a:r>
                        <a:rPr sz="900" b="0">
                          <a:solidFill>
                            <a:srgbClr val="000000"/>
                          </a:solidFill>
                          <a:latin typeface="Calibri"/>
                        </a:rPr>
                        <a:t>50%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T9 creep 600 N / 900 s</a:t>
                      </a:r>
                    </a:p>
                  </a:txBody>
                  <a:tcPr/>
                </a:tc>
              </a:tr>
              <a:tr h="333102">
                <a:tc>
                  <a:txBody>
                    <a:bodyPr lIns="54864" rIns="54864" tIns="18288" bIns="18288" wrap="square" anchor="ctr"/>
                    <a:lstStyle/>
                    <a:p>
                      <a:pPr algn="l"/>
                      <a:r>
                        <a:rPr sz="900" b="0">
                          <a:solidFill>
                            <a:srgbClr val="000000"/>
                          </a:solidFill>
                          <a:latin typeface="Calibri"/>
                        </a:rPr>
                        <a:t>S24</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VC1 capture · 46.5 MPa</a:t>
                      </a:r>
                    </a:p>
                  </a:txBody>
                  <a:tcPr/>
                </a:tc>
              </a:tr>
              <a:tr h="333102">
                <a:tc>
                  <a:txBody>
                    <a:bodyPr lIns="54864" rIns="54864" tIns="18288" bIns="18288" wrap="square" anchor="ctr"/>
                    <a:lstStyle/>
                    <a:p>
                      <a:pPr algn="l"/>
                      <a:r>
                        <a:rPr sz="900" b="0">
                          <a:solidFill>
                            <a:srgbClr val="000000"/>
                          </a:solidFill>
                          <a:latin typeface="Calibri"/>
                        </a:rPr>
                        <a:t>S25</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VC2 capture · 46.2 MPa</a:t>
                      </a:r>
                    </a:p>
                  </a:txBody>
                  <a:tcPr/>
                </a:tc>
              </a:tr>
              <a:tr h="333114">
                <a:tc>
                  <a:txBody>
                    <a:bodyPr lIns="54864" rIns="54864" tIns="18288" bIns="18288" wrap="square" anchor="ctr"/>
                    <a:lstStyle/>
                    <a:p>
                      <a:pPr algn="l"/>
                      <a:r>
                        <a:rPr sz="900" b="0">
                          <a:solidFill>
                            <a:srgbClr val="000000"/>
                          </a:solidFill>
                          <a:latin typeface="Calibri"/>
                        </a:rPr>
                        <a:t>S26</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
                      </a:r>
                    </a:p>
                  </a:txBody>
                  <a:tcPr/>
                </a:tc>
                <a:tc>
                  <a:txBody>
                    <a:bodyPr lIns="54864" rIns="54864" tIns="18288" bIns="18288" wrap="square" anchor="ctr"/>
                    <a:lstStyle/>
                    <a:p>
                      <a:pPr algn="l"/>
                      <a:r>
                        <a:rPr sz="900" b="0">
                          <a:solidFill>
                            <a:srgbClr val="000000"/>
                          </a:solidFill>
                          <a:latin typeface="Calibri"/>
                        </a:rPr>
                        <a:t>VC3 capture · 47.2 MPa</a:t>
                      </a:r>
                    </a:p>
                  </a:txBody>
                  <a:tcPr/>
                </a:tc>
              </a:tr>
            </a:tbl>
          </a:graphicData>
        </a:graphic>
      </p:graphicFrame>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spray markers (black dots on PLA). V1_Spray batch = 50% · V2_Spray = 100%. VC1-3 = the frame-capture fracture runs (p221-224). Colour column to be filled by operator.</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179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BUCK-CONVERTER ENCLOSURE — CAD (PLA)</a:t>
            </a:r>
          </a:p>
        </p:txBody>
      </p:sp>
      <p:pic>
        <p:nvPicPr>
          <p:cNvPr id="5" name="Picture 4" descr="Buckconverter_Enclosure_CAD.png"/>
          <p:cNvPicPr>
            <a:picLocks noChangeAspect="1"/>
          </p:cNvPicPr>
          <p:nvPr/>
        </p:nvPicPr>
        <p:blipFill>
          <a:blip r:embed="rId2"/>
          <a:stretch>
            <a:fillRect/>
          </a:stretch>
        </p:blipFill>
        <p:spPr>
          <a:xfrm>
            <a:off x="457200" y="1280160"/>
            <a:ext cx="5760720" cy="4966587"/>
          </a:xfrm>
          <a:prstGeom prst="rect">
            <a:avLst/>
          </a:prstGeom>
        </p:spPr>
      </p:pic>
      <p:sp>
        <p:nvSpPr>
          <p:cNvPr id="6" name="TextBox 5"/>
          <p:cNvSpPr txBox="1"/>
          <p:nvPr/>
        </p:nvSpPr>
        <p:spPr>
          <a:xfrm>
            <a:off x="6720840" y="1170432"/>
            <a:ext cx="5074920" cy="365760"/>
          </a:xfrm>
          <a:prstGeom prst="rect">
            <a:avLst/>
          </a:prstGeom>
          <a:noFill/>
        </p:spPr>
        <p:txBody>
          <a:bodyPr wrap="square" lIns="45720" rIns="45720" tIns="18288" bIns="18288" anchor="t">
            <a:spAutoFit/>
          </a:bodyPr>
          <a:lstStyle/>
          <a:p>
            <a:pPr algn="l"/>
            <a:r>
              <a:rPr sz="1600" b="0" i="0">
                <a:solidFill>
                  <a:srgbClr val="707070"/>
                </a:solidFill>
                <a:latin typeface="Calibri"/>
              </a:rPr>
              <a:t>Purpose</a:t>
            </a:r>
          </a:p>
        </p:txBody>
      </p:sp>
      <p:sp>
        <p:nvSpPr>
          <p:cNvPr id="7" name="TextBox 6"/>
          <p:cNvSpPr txBox="1"/>
          <p:nvPr/>
        </p:nvSpPr>
        <p:spPr>
          <a:xfrm>
            <a:off x="6720840" y="1554480"/>
            <a:ext cx="5074920" cy="868680"/>
          </a:xfrm>
          <a:prstGeom prst="rect">
            <a:avLst/>
          </a:prstGeom>
          <a:noFill/>
        </p:spPr>
        <p:txBody>
          <a:bodyPr wrap="square" lIns="45720" rIns="45720" tIns="18288" bIns="18288" anchor="t">
            <a:spAutoFit/>
          </a:bodyPr>
          <a:lstStyle/>
          <a:p>
            <a:pPr algn="l"/>
            <a:r>
              <a:rPr sz="1200" b="0" i="0">
                <a:solidFill>
                  <a:srgbClr val="000000"/>
                </a:solidFill>
                <a:latin typeface="Calibri"/>
              </a:rPr>
              <a:t>PLA-printed enclosure that houses the buck converter powering the LED ring lights.</a:t>
            </a:r>
          </a:p>
        </p:txBody>
      </p:sp>
      <p:sp>
        <p:nvSpPr>
          <p:cNvPr id="8" name="Rounded Rectangle 7"/>
          <p:cNvSpPr/>
          <p:nvPr/>
        </p:nvSpPr>
        <p:spPr>
          <a:xfrm>
            <a:off x="6720840" y="2542032"/>
            <a:ext cx="3246120" cy="566928"/>
          </a:xfrm>
          <a:prstGeom prst="roundRect">
            <a:avLst/>
          </a:prstGeom>
          <a:solidFill>
            <a:srgbClr val="E7F1F8"/>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1 · PCB locating pins</a:t>
            </a:r>
          </a:p>
        </p:txBody>
      </p:sp>
      <p:cxnSp>
        <p:nvCxnSpPr>
          <p:cNvPr id="9" name="Connector 8"/>
          <p:cNvCxnSpPr/>
          <p:nvPr/>
        </p:nvCxnSpPr>
        <p:spPr>
          <a:xfrm flipH="1">
            <a:off x="3840480" y="2825496"/>
            <a:ext cx="2880360" cy="100584"/>
          </a:xfrm>
          <a:prstGeom prst="line">
            <a:avLst/>
          </a:prstGeom>
          <a:ln w="28575">
            <a:solidFill>
              <a:srgbClr val="D627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720840" y="3977639"/>
            <a:ext cx="3611880" cy="566928"/>
          </a:xfrm>
          <a:prstGeom prst="roundRect">
            <a:avLst/>
          </a:prstGeom>
          <a:solidFill>
            <a:srgbClr val="E7F1F8"/>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200" b="1">
                <a:solidFill>
                  <a:srgbClr val="000000"/>
                </a:solidFill>
                <a:latin typeface="Calibri"/>
              </a:rPr>
              <a:t>2 · LED-switch extrusion</a:t>
            </a:r>
          </a:p>
        </p:txBody>
      </p:sp>
      <p:cxnSp>
        <p:nvCxnSpPr>
          <p:cNvPr id="11" name="Connector 10"/>
          <p:cNvCxnSpPr/>
          <p:nvPr/>
        </p:nvCxnSpPr>
        <p:spPr>
          <a:xfrm flipH="1">
            <a:off x="1828800" y="4261104"/>
            <a:ext cx="4892040" cy="356616"/>
          </a:xfrm>
          <a:prstGeom prst="line">
            <a:avLst/>
          </a:prstGeom>
          <a:ln w="28575">
            <a:solidFill>
              <a:srgbClr val="D62728"/>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6720840" y="4828032"/>
            <a:ext cx="5074920" cy="1280160"/>
          </a:xfrm>
          <a:prstGeom prst="rect">
            <a:avLst/>
          </a:prstGeom>
          <a:noFill/>
        </p:spPr>
        <p:txBody>
          <a:bodyPr wrap="square" lIns="45720" rIns="45720" tIns="18288" bIns="18288" anchor="t">
            <a:spAutoFit/>
          </a:bodyPr>
          <a:lstStyle/>
          <a:p>
            <a:pPr algn="l"/>
            <a:r>
              <a:rPr sz="1150" b="0" i="0">
                <a:solidFill>
                  <a:srgbClr val="000000"/>
                </a:solidFill>
                <a:latin typeface="Calibri"/>
              </a:rPr>
              <a:t>•  Pins align + hold the buck-converter PCB
•  Side extrusion = housing for the LED on/off switch
•  Open top + side slots for wiring / mounting</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CAD for a PLA-printed part. Callout arrows mark the PCB locating pins (floor posts) and the LED-switch extrusion (side tube).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MOTOR TORQUE CEILING — THE 100% FRACTURE LIMIT</a:t>
            </a:r>
          </a:p>
        </p:txBody>
      </p:sp>
      <p:sp>
        <p:nvSpPr>
          <p:cNvPr id="5" name="TextBox 4"/>
          <p:cNvSpPr txBox="1"/>
          <p:nvPr/>
        </p:nvSpPr>
        <p:spPr>
          <a:xfrm>
            <a:off x="365760" y="117043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Same crosshead speed (0.10 mm/s), different MAX force</a:t>
            </a:r>
          </a:p>
        </p:txBody>
      </p:sp>
      <p:sp>
        <p:nvSpPr>
          <p:cNvPr id="6" name="Rounded Rectangle 5"/>
          <p:cNvSpPr/>
          <p:nvPr/>
        </p:nvSpPr>
        <p:spPr>
          <a:xfrm>
            <a:off x="365760" y="1600200"/>
            <a:ext cx="36576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 kN</a:t>
            </a:r>
          </a:p>
          <a:p>
            <a:pPr algn="ctr"/>
            <a:r>
              <a:rPr sz="950">
                <a:solidFill>
                  <a:srgbClr val="000000"/>
                </a:solidFill>
                <a:latin typeface="Calibri"/>
              </a:rPr>
              <a:t>WEAK DAY (S15 · today)</a:t>
            </a:r>
          </a:p>
        </p:txBody>
      </p:sp>
      <p:sp>
        <p:nvSpPr>
          <p:cNvPr id="7" name="Rounded Rectangle 6"/>
          <p:cNvSpPr/>
          <p:nvPr/>
        </p:nvSpPr>
        <p:spPr>
          <a:xfrm>
            <a:off x="4206240" y="1600200"/>
            <a:ext cx="36576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3.2–3.8 kN</a:t>
            </a:r>
          </a:p>
          <a:p>
            <a:pPr algn="ctr"/>
            <a:r>
              <a:rPr sz="950">
                <a:solidFill>
                  <a:srgbClr val="000000"/>
                </a:solidFill>
                <a:latin typeface="Calibri"/>
              </a:rPr>
              <a:t>STRONG DAY (V6 · S16)</a:t>
            </a:r>
          </a:p>
        </p:txBody>
      </p:sp>
      <p:sp>
        <p:nvSpPr>
          <p:cNvPr id="8" name="Rounded Rectangle 7"/>
          <p:cNvSpPr/>
          <p:nvPr/>
        </p:nvSpPr>
        <p:spPr>
          <a:xfrm>
            <a:off x="8046720" y="1600200"/>
            <a:ext cx="37947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~3.7 kN</a:t>
            </a:r>
          </a:p>
          <a:p>
            <a:pPr algn="ctr"/>
            <a:r>
              <a:rPr sz="950">
                <a:solidFill>
                  <a:srgbClr val="000000"/>
                </a:solidFill>
                <a:latin typeface="Calibri"/>
              </a:rPr>
              <a:t>100% FULL-AREA NEEDS</a:t>
            </a:r>
          </a:p>
        </p:txBody>
      </p:sp>
      <p:sp>
        <p:nvSpPr>
          <p:cNvPr id="9" name="TextBox 8"/>
          <p:cNvSpPr txBox="1"/>
          <p:nvPr/>
        </p:nvSpPr>
        <p:spPr>
          <a:xfrm>
            <a:off x="365760" y="278892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suspected at the time — torque capacity, NOT speed or software</a:t>
            </a:r>
          </a:p>
        </p:txBody>
      </p:sp>
      <p:sp>
        <p:nvSpPr>
          <p:cNvPr id="10" name="TextBox 9"/>
          <p:cNvSpPr txBox="1"/>
          <p:nvPr/>
        </p:nvSpPr>
        <p:spPr>
          <a:xfrm>
            <a:off x="365760" y="3200400"/>
            <a:ext cx="5669280" cy="1371600"/>
          </a:xfrm>
          <a:prstGeom prst="rect">
            <a:avLst/>
          </a:prstGeom>
          <a:noFill/>
        </p:spPr>
        <p:txBody>
          <a:bodyPr wrap="square" lIns="45720" rIns="45720" tIns="18288" bIns="18288" anchor="t">
            <a:spAutoFit/>
          </a:bodyPr>
          <a:lstStyle/>
          <a:p>
            <a:pPr algn="l"/>
            <a:r>
              <a:rPr sz="1200" b="0" i="0">
                <a:solidFill>
                  <a:srgbClr val="000000"/>
                </a:solidFill>
                <a:latin typeface="Calibri"/>
              </a:rPr>
              <a:t>•  Driver current (Vref) set low
•  PSU voltage sag under load</a:t>
            </a:r>
          </a:p>
        </p:txBody>
      </p:sp>
      <p:sp>
        <p:nvSpPr>
          <p:cNvPr id="11" name="TextBox 10"/>
          <p:cNvSpPr txBox="1"/>
          <p:nvPr/>
        </p:nvSpPr>
        <p:spPr>
          <a:xfrm>
            <a:off x="6172200" y="3200400"/>
            <a:ext cx="5669280" cy="1371600"/>
          </a:xfrm>
          <a:prstGeom prst="rect">
            <a:avLst/>
          </a:prstGeom>
          <a:noFill/>
        </p:spPr>
        <p:txBody>
          <a:bodyPr wrap="square" lIns="45720" rIns="45720" tIns="18288" bIns="18288" anchor="t">
            <a:spAutoFit/>
          </a:bodyPr>
          <a:lstStyle/>
          <a:p>
            <a:pPr algn="l"/>
            <a:r>
              <a:rPr sz="1200" b="0" i="0">
                <a:solidFill>
                  <a:srgbClr val="000000"/>
                </a:solidFill>
                <a:latin typeface="Calibri"/>
              </a:rPr>
              <a:t>•  Driver THERMAL derating (the chip, not motor)
•  Mechanical binding (screw / rails)  ← this one</a:t>
            </a:r>
          </a:p>
        </p:txBody>
      </p:sp>
      <p:sp>
        <p:nvSpPr>
          <p:cNvPr id="12" name="Rectangle 11"/>
          <p:cNvSpPr/>
          <p:nvPr/>
        </p:nvSpPr>
        <p:spPr>
          <a:xfrm>
            <a:off x="365760" y="4800600"/>
            <a:ext cx="11475720" cy="9144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SUPERSEDED — see p183. It was the fourth cause: the load holders had worked loose and the crossheads sat out of alignment. Fixed; the rig now pulls 3.5 kN.</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At the SAME 0.10 mm/s and on the SAME DAY: S15 stalled 2.6 kN but S16 fractured 3.8 kN. Read as day-to-day drift at the time — it was specimen-to-specimen, i.e. the remount.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MOTOR JITTER = STALL WARNING  (a failed test)</a:t>
            </a:r>
          </a:p>
        </p:txBody>
      </p:sp>
      <p:pic>
        <p:nvPicPr>
          <p:cNvPr id="5" name="Picture 4" descr="feat_motor_jitter.png"/>
          <p:cNvPicPr>
            <a:picLocks noChangeAspect="1"/>
          </p:cNvPicPr>
          <p:nvPr/>
        </p:nvPicPr>
        <p:blipFill>
          <a:blip r:embed="rId2"/>
          <a:stretch>
            <a:fillRect/>
          </a:stretch>
        </p:blipFill>
        <p:spPr>
          <a:xfrm>
            <a:off x="320040" y="1417320"/>
            <a:ext cx="6766560" cy="3200400"/>
          </a:xfrm>
          <a:prstGeom prst="rect">
            <a:avLst/>
          </a:prstGeom>
        </p:spPr>
      </p:pic>
      <p:sp>
        <p:nvSpPr>
          <p:cNvPr id="6" name="TextBox 5"/>
          <p:cNvSpPr txBox="1"/>
          <p:nvPr/>
        </p:nvSpPr>
        <p:spPr>
          <a:xfrm>
            <a:off x="7315200" y="117043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happened</a:t>
            </a:r>
          </a:p>
        </p:txBody>
      </p:sp>
      <p:sp>
        <p:nvSpPr>
          <p:cNvPr id="7" name="TextBox 6"/>
          <p:cNvSpPr txBox="1"/>
          <p:nvPr/>
        </p:nvSpPr>
        <p:spPr>
          <a:xfrm>
            <a:off x="7315200" y="1572768"/>
            <a:ext cx="4526280" cy="1463040"/>
          </a:xfrm>
          <a:prstGeom prst="rect">
            <a:avLst/>
          </a:prstGeom>
          <a:noFill/>
        </p:spPr>
        <p:txBody>
          <a:bodyPr wrap="square" lIns="45720" rIns="45720" tIns="18288" bIns="18288" anchor="t">
            <a:spAutoFit/>
          </a:bodyPr>
          <a:lstStyle/>
          <a:p>
            <a:pPr algn="l"/>
            <a:r>
              <a:rPr sz="1150" b="0" i="0">
                <a:solidFill>
                  <a:srgbClr val="000000"/>
                </a:solidFill>
                <a:latin typeface="Calibri"/>
              </a:rPr>
              <a:t>At the force ceiling the crosshead FROZE and the whole machine SHOOK — a stalled stepper skipping steps.
S15: had to Stop by hand.</a:t>
            </a:r>
          </a:p>
        </p:txBody>
      </p:sp>
      <p:sp>
        <p:nvSpPr>
          <p:cNvPr id="8" name="TextBox 7"/>
          <p:cNvSpPr txBox="1"/>
          <p:nvPr/>
        </p:nvSpPr>
        <p:spPr>
          <a:xfrm>
            <a:off x="7315200" y="3200400"/>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a:t>
            </a:r>
          </a:p>
        </p:txBody>
      </p:sp>
      <p:sp>
        <p:nvSpPr>
          <p:cNvPr id="9" name="TextBox 8"/>
          <p:cNvSpPr txBox="1"/>
          <p:nvPr/>
        </p:nvSpPr>
        <p:spPr>
          <a:xfrm>
            <a:off x="7315200" y="3602736"/>
            <a:ext cx="4526280" cy="1645920"/>
          </a:xfrm>
          <a:prstGeom prst="rect">
            <a:avLst/>
          </a:prstGeom>
          <a:noFill/>
        </p:spPr>
        <p:txBody>
          <a:bodyPr wrap="square" lIns="45720" rIns="45720" tIns="18288" bIns="18288" anchor="t">
            <a:spAutoFit/>
          </a:bodyPr>
          <a:lstStyle/>
          <a:p>
            <a:pPr algn="l"/>
            <a:r>
              <a:rPr sz="1150" b="0" i="0">
                <a:solidFill>
                  <a:srgbClr val="000000"/>
                </a:solidFill>
                <a:latin typeface="Calibri"/>
              </a:rPr>
              <a:t>•  Motor at / beyond its torque limit
•  Strain-rate loop then oscillated, chasing a motor that can't move</a:t>
            </a:r>
          </a:p>
        </p:txBody>
      </p:sp>
      <p:sp>
        <p:nvSpPr>
          <p:cNvPr id="10" name="Rectangle 9"/>
          <p:cNvSpPr/>
          <p:nvPr/>
        </p:nvSpPr>
        <p:spPr>
          <a:xfrm>
            <a:off x="365760" y="5760720"/>
            <a:ext cx="11475720" cy="71323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000000"/>
                </a:solidFill>
                <a:latin typeface="Calibri"/>
              </a:rPr>
              <a:t>SUPERSEDED (next slide) — the jitter was BINDING, not a torque limit. The stall guard still auto-halts (&lt; 0.05 mm in 6 s under load).</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RESOLVED — THE “TORQUE CEILING” WAS A CROSSHEAD MISALIGNMENT</a:t>
            </a:r>
          </a:p>
        </p:txBody>
      </p:sp>
      <p:sp>
        <p:nvSpPr>
          <p:cNvPr id="5" name="TextBox 4"/>
          <p:cNvSpPr txBox="1"/>
          <p:nvPr/>
        </p:nvSpPr>
        <p:spPr>
          <a:xfrm>
            <a:off x="457200" y="1060704"/>
            <a:ext cx="11338560" cy="384048"/>
          </a:xfrm>
          <a:prstGeom prst="rect">
            <a:avLst/>
          </a:prstGeom>
          <a:noFill/>
        </p:spPr>
        <p:txBody>
          <a:bodyPr wrap="square" lIns="45720" rIns="45720" tIns="18288" bIns="18288" anchor="t">
            <a:spAutoFit/>
          </a:bodyPr>
          <a:lstStyle/>
          <a:p>
            <a:pPr algn="l"/>
            <a:r>
              <a:rPr sz="1200" b="0" i="1">
                <a:solidFill>
                  <a:srgbClr val="707070"/>
                </a:solidFill>
                <a:latin typeface="Calibri"/>
              </a:rPr>
              <a:t>The load holders had worked loose, letting the crossheads sit out of alignment. The motor was spending its torque on binding instead of on the specimen. Re-aligned and re-tightened, the rig pulls 3.5 kN with no stutter.</a:t>
            </a:r>
          </a:p>
        </p:txBody>
      </p:sp>
      <p:sp>
        <p:nvSpPr>
          <p:cNvPr id="6" name="Rounded Rectangle 5"/>
          <p:cNvSpPr/>
          <p:nvPr/>
        </p:nvSpPr>
        <p:spPr>
          <a:xfrm>
            <a:off x="365760" y="1572768"/>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Loose load holders</a:t>
            </a:r>
          </a:p>
          <a:p>
            <a:pPr algn="ctr"/>
            <a:r>
              <a:rPr sz="950">
                <a:solidFill>
                  <a:srgbClr val="000000"/>
                </a:solidFill>
                <a:latin typeface="Calibri"/>
              </a:rPr>
              <a:t>ROOT CAUSE</a:t>
            </a:r>
          </a:p>
        </p:txBody>
      </p:sp>
      <p:sp>
        <p:nvSpPr>
          <p:cNvPr id="7" name="Rounded Rectangle 6"/>
          <p:cNvSpPr/>
          <p:nvPr/>
        </p:nvSpPr>
        <p:spPr>
          <a:xfrm>
            <a:off x="3310128" y="1572768"/>
            <a:ext cx="278892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3.5 kN, no stutter</a:t>
            </a:r>
          </a:p>
          <a:p>
            <a:pPr algn="ctr"/>
            <a:r>
              <a:rPr sz="950">
                <a:solidFill>
                  <a:srgbClr val="000000"/>
                </a:solidFill>
                <a:latin typeface="Calibri"/>
              </a:rPr>
              <a:t>AFTER THE FIX</a:t>
            </a:r>
          </a:p>
        </p:txBody>
      </p:sp>
      <p:sp>
        <p:nvSpPr>
          <p:cNvPr id="8" name="Rounded Rectangle 7"/>
          <p:cNvSpPr/>
          <p:nvPr/>
        </p:nvSpPr>
        <p:spPr>
          <a:xfrm>
            <a:off x="6254496" y="1572768"/>
            <a:ext cx="278892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~3.7 kN</a:t>
            </a:r>
          </a:p>
          <a:p>
            <a:pPr algn="ctr"/>
            <a:r>
              <a:rPr sz="950">
                <a:solidFill>
                  <a:srgbClr val="000000"/>
                </a:solidFill>
                <a:latin typeface="Calibri"/>
              </a:rPr>
              <a:t>100 % FULL-AREA NEEDS</a:t>
            </a:r>
          </a:p>
        </p:txBody>
      </p:sp>
      <p:sp>
        <p:nvSpPr>
          <p:cNvPr id="9" name="Rounded Rectangle 8"/>
          <p:cNvSpPr/>
          <p:nvPr/>
        </p:nvSpPr>
        <p:spPr>
          <a:xfrm>
            <a:off x="9198864" y="1572768"/>
            <a:ext cx="2642616" cy="896112"/>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2.6 kN</a:t>
            </a:r>
          </a:p>
          <a:p>
            <a:pPr algn="ctr"/>
            <a:r>
              <a:rPr sz="950">
                <a:solidFill>
                  <a:srgbClr val="000000"/>
                </a:solidFill>
                <a:latin typeface="Calibri"/>
              </a:rPr>
              <a:t>SUPPOSED CEILING</a:t>
            </a:r>
          </a:p>
        </p:txBody>
      </p:sp>
      <p:sp>
        <p:nvSpPr>
          <p:cNvPr id="10" name="TextBox 9"/>
          <p:cNvSpPr txBox="1"/>
          <p:nvPr/>
        </p:nvSpPr>
        <p:spPr>
          <a:xfrm>
            <a:off x="365760" y="2670048"/>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data already said “mechanical” — before the fault was found</a:t>
            </a:r>
          </a:p>
        </p:txBody>
      </p:sp>
      <p:sp>
        <p:nvSpPr>
          <p:cNvPr id="11" name="TextBox 10"/>
          <p:cNvSpPr txBox="1"/>
          <p:nvPr/>
        </p:nvSpPr>
        <p:spPr>
          <a:xfrm>
            <a:off x="365760" y="3017520"/>
            <a:ext cx="5715000" cy="1874519"/>
          </a:xfrm>
          <a:prstGeom prst="rect">
            <a:avLst/>
          </a:prstGeom>
          <a:noFill/>
        </p:spPr>
        <p:txBody>
          <a:bodyPr wrap="square" lIns="45720" rIns="45720" tIns="18288" bIns="18288" anchor="t">
            <a:spAutoFit/>
          </a:bodyPr>
          <a:lstStyle/>
          <a:p>
            <a:pPr algn="l"/>
            <a:r>
              <a:rPr sz="1100" b="0" i="0">
                <a:solidFill>
                  <a:srgbClr val="000000"/>
                </a:solidFill>
                <a:latin typeface="Calibri"/>
              </a:rPr>
              <a:t>•  The same machine has fractured 100 % infill at 177–3826 N on 16 separate specimens over three months (mean 3009 ± 1408 N, CV 46.8 %).
•  That is 13 of 16 runs straight THROUGH a 2.6 kN “ceiling”. A ceiling ten runs walk past is not a ceiling.
•  Decisive: S15 stalled at 2.6 kN and S16 fractured at 3792 N on the SAME DAY (2026-07-28) — +46 %, same rig, same 0.10 mm/s.</a:t>
            </a:r>
          </a:p>
        </p:txBody>
      </p:sp>
      <p:sp>
        <p:nvSpPr>
          <p:cNvPr id="12" name="TextBox 11"/>
          <p:cNvSpPr txBox="1"/>
          <p:nvPr/>
        </p:nvSpPr>
        <p:spPr>
          <a:xfrm>
            <a:off x="6355080" y="267004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that retires — the four ranked causes (p201)</a:t>
            </a:r>
          </a:p>
        </p:txBody>
      </p:sp>
      <p:graphicFrame>
        <p:nvGraphicFramePr>
          <p:cNvPr id="13" name="Table 12"/>
          <p:cNvGraphicFramePr>
            <a:graphicFrameLocks noGrp="1"/>
          </p:cNvGraphicFramePr>
          <p:nvPr/>
        </p:nvGraphicFramePr>
        <p:xfrm>
          <a:off x="6355080" y="3017520"/>
          <a:ext cx="5486400" cy="1783080"/>
        </p:xfrm>
        <a:graphic>
          <a:graphicData uri="http://schemas.openxmlformats.org/drawingml/2006/table">
            <a:tbl>
              <a:tblPr firstRow="1" bandRow="1">
                <a:tableStyleId>{5C22544A-7EE6-4342-B048-85BDC9FD1C3A}</a:tableStyleId>
              </a:tblPr>
              <a:tblGrid>
                <a:gridCol w="3657600"/>
                <a:gridCol w="1828800"/>
              </a:tblGrid>
              <a:tr h="356616">
                <a:tc>
                  <a:txBody>
                    <a:bodyPr lIns="54864" rIns="54864" tIns="18288" bIns="18288" wrap="square" anchor="ctr"/>
                    <a:lstStyle/>
                    <a:p>
                      <a:pPr algn="l"/>
                      <a:r>
                        <a:rPr sz="1000" b="1">
                          <a:solidFill>
                            <a:srgbClr val="FFFFFF"/>
                          </a:solidFill>
                          <a:latin typeface="Calibri"/>
                        </a:rPr>
                        <a:t>Ranked cause</a:t>
                      </a:r>
                    </a:p>
                  </a:txBody>
                  <a:tcPr>
                    <a:solidFill>
                      <a:srgbClr val="143D2F"/>
                    </a:solidFill>
                  </a:tcPr>
                </a:tc>
                <a:tc>
                  <a:txBody>
                    <a:bodyPr lIns="54864" rIns="54864" tIns="18288" bIns="18288" wrap="square" anchor="ctr"/>
                    <a:lstStyle/>
                    <a:p>
                      <a:pPr algn="l"/>
                      <a:r>
                        <a:rPr sz="1000" b="1">
                          <a:solidFill>
                            <a:srgbClr val="FFFFFF"/>
                          </a:solidFill>
                          <a:latin typeface="Calibri"/>
                        </a:rPr>
                        <a:t>Verdict</a:t>
                      </a:r>
                    </a:p>
                  </a:txBody>
                  <a:tcPr>
                    <a:solidFill>
                      <a:srgbClr val="143D2F"/>
                    </a:solidFill>
                  </a:tcPr>
                </a:tc>
              </a:tr>
              <a:tr h="356616">
                <a:tc>
                  <a:txBody>
                    <a:bodyPr lIns="54864" rIns="54864" tIns="18288" bIns="18288" wrap="square" anchor="ctr"/>
                    <a:lstStyle/>
                    <a:p>
                      <a:pPr algn="l"/>
                      <a:r>
                        <a:rPr sz="1000" b="0">
                          <a:solidFill>
                            <a:srgbClr val="000000"/>
                          </a:solidFill>
                          <a:latin typeface="Calibri"/>
                        </a:rPr>
                        <a:t>1  Driver current (Vref) too low</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2  Driver thermal derating</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3  PSU voltage sag under load</a:t>
                      </a:r>
                    </a:p>
                  </a:txBody>
                  <a:tcPr/>
                </a:tc>
                <a:tc>
                  <a:txBody>
                    <a:bodyPr lIns="54864" rIns="54864" tIns="18288" bIns="18288" wrap="square" anchor="ctr"/>
                    <a:lstStyle/>
                    <a:p>
                      <a:pPr algn="l"/>
                      <a:r>
                        <a:rPr sz="1000" b="0">
                          <a:solidFill>
                            <a:srgbClr val="000000"/>
                          </a:solidFill>
                          <a:latin typeface="Calibri"/>
                        </a:rPr>
                        <a:t>exonerated</a:t>
                      </a:r>
                    </a:p>
                  </a:txBody>
                  <a:tcPr/>
                </a:tc>
              </a:tr>
              <a:tr h="356616">
                <a:tc>
                  <a:txBody>
                    <a:bodyPr lIns="54864" rIns="54864" tIns="18288" bIns="18288" wrap="square" anchor="ctr"/>
                    <a:lstStyle/>
                    <a:p>
                      <a:pPr algn="l"/>
                      <a:r>
                        <a:rPr sz="1000" b="0">
                          <a:solidFill>
                            <a:srgbClr val="000000"/>
                          </a:solidFill>
                          <a:latin typeface="Calibri"/>
                        </a:rPr>
                        <a:t>4  Mechanical binding  (ranked LAST)</a:t>
                      </a:r>
                    </a:p>
                  </a:txBody>
                  <a:tcPr/>
                </a:tc>
                <a:tc>
                  <a:txBody>
                    <a:bodyPr lIns="54864" rIns="54864" tIns="18288" bIns="18288" wrap="square" anchor="ctr"/>
                    <a:lstStyle/>
                    <a:p>
                      <a:pPr algn="l"/>
                      <a:r>
                        <a:rPr sz="1000" b="0">
                          <a:solidFill>
                            <a:srgbClr val="000000"/>
                          </a:solidFill>
                          <a:latin typeface="Calibri"/>
                        </a:rPr>
                        <a:t>CONFIRMED</a:t>
                      </a:r>
                    </a:p>
                  </a:txBody>
                  <a:tcPr/>
                </a:tc>
              </a:tr>
            </a:tbl>
          </a:graphicData>
        </a:graphic>
      </p:graphicFrame>
      <p:sp>
        <p:nvSpPr>
          <p:cNvPr id="14" name="TextBox 13"/>
          <p:cNvSpPr txBox="1"/>
          <p:nvPr/>
        </p:nvSpPr>
        <p:spPr>
          <a:xfrm>
            <a:off x="365760" y="491947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only the mechanical cause fits</a:t>
            </a:r>
          </a:p>
        </p:txBody>
      </p:sp>
      <p:sp>
        <p:nvSpPr>
          <p:cNvPr id="15" name="TextBox 14"/>
          <p:cNvSpPr txBox="1"/>
          <p:nvPr/>
        </p:nvSpPr>
        <p:spPr>
          <a:xfrm>
            <a:off x="365760" y="5248656"/>
            <a:ext cx="11475720" cy="512064"/>
          </a:xfrm>
          <a:prstGeom prst="rect">
            <a:avLst/>
          </a:prstGeom>
          <a:noFill/>
        </p:spPr>
        <p:txBody>
          <a:bodyPr wrap="square" lIns="45720" rIns="45720" tIns="18288" bIns="18288" anchor="t">
            <a:spAutoFit/>
          </a:bodyPr>
          <a:lstStyle/>
          <a:p>
            <a:pPr algn="l"/>
            <a:r>
              <a:rPr sz="1100" b="0" i="0">
                <a:solidFill>
                  <a:srgbClr val="000000"/>
                </a:solidFill>
                <a:latin typeface="Calibri"/>
              </a:rPr>
              <a:t>Vref is a setting — it does not change between two specimens. Thermal derating gets WORSE through a session, not 46 % better on the next pull. PSU sag scales with load, so it cannot let a HIGHER load through. Binding is the only candidate that is intermittent, and it changes exactly when the specimen is remounted — which is when alignment changes.</a:t>
            </a:r>
          </a:p>
        </p:txBody>
      </p:sp>
      <p:sp>
        <p:nvSpPr>
          <p:cNvPr id="16" name="Rectangle 15"/>
          <p:cNvSpPr/>
          <p:nvPr/>
        </p:nvSpPr>
        <p:spPr>
          <a:xfrm>
            <a:off x="365760" y="5779008"/>
            <a:ext cx="1147572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50" b="1">
                <a:solidFill>
                  <a:srgbClr val="1F3F2F"/>
                </a:solidFill>
                <a:latin typeface="Calibri"/>
              </a:rPr>
              <a:t>SUPERSEDES p181 and p182 — the 50 %-specimen workaround is no longer needed. 100 % full-area specimens fracture normally at ~3.0 kN.</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Not a hardware purchase and not a software change — a fastener. The stall guard and the force and travel backstops were never the problem, and were not touched to fix it.</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TESTS AFTER THE REALIGNMENT — PPD-UTM Mk II, THE RELIABLE SET</a:t>
            </a:r>
          </a:p>
        </p:txBody>
      </p:sp>
      <p:sp>
        <p:nvSpPr>
          <p:cNvPr id="5" name="TextBox 4"/>
          <p:cNvSpPr txBox="1"/>
          <p:nvPr/>
        </p:nvSpPr>
        <p:spPr>
          <a:xfrm>
            <a:off x="457200" y="1042415"/>
            <a:ext cx="11338560" cy="603504"/>
          </a:xfrm>
          <a:prstGeom prst="rect">
            <a:avLst/>
          </a:prstGeom>
          <a:noFill/>
        </p:spPr>
        <p:txBody>
          <a:bodyPr wrap="square" lIns="45720" rIns="45720" tIns="18288" bIns="18288" anchor="t">
            <a:spAutoFit/>
          </a:bodyPr>
          <a:lstStyle/>
          <a:p>
            <a:pPr algn="l"/>
            <a:r>
              <a:rPr sz="1150" b="0" i="1">
                <a:solidFill>
                  <a:srgbClr val="707070"/>
                </a:solidFill>
                <a:latin typeface="Calibri"/>
              </a:rPr>
              <a:t>“Mk” is MARK — the engineering convention for successive configurations of ONE machine, not for two different machines. PPD-UTM Mk I is this rig up to 2026-08-12; PPD-UTM Mk II is the SAME rig after its crossheads were realigned and its load holders re-tightened. No other part of it changed, and no recalibration of the load cell or the optics was involved.
Every run below is Mk II. Both stalls on record fall BEFORE that line; none after.</a:t>
            </a:r>
          </a:p>
        </p:txBody>
      </p:sp>
      <p:graphicFrame>
        <p:nvGraphicFramePr>
          <p:cNvPr id="6" name="Table 5"/>
          <p:cNvGraphicFramePr>
            <a:graphicFrameLocks noGrp="1"/>
          </p:cNvGraphicFramePr>
          <p:nvPr/>
        </p:nvGraphicFramePr>
        <p:xfrm>
          <a:off x="365760" y="1682496"/>
          <a:ext cx="11475720" cy="3346704"/>
        </p:xfrm>
        <a:graphic>
          <a:graphicData uri="http://schemas.openxmlformats.org/drawingml/2006/table">
            <a:tbl>
              <a:tblPr firstRow="1" bandRow="1">
                <a:tableStyleId>{5C22544A-7EE6-4342-B048-85BDC9FD1C3A}</a:tableStyleId>
              </a:tblPr>
              <a:tblGrid>
                <a:gridCol w="960120"/>
                <a:gridCol w="1143000"/>
                <a:gridCol w="1600200"/>
                <a:gridCol w="3520440"/>
                <a:gridCol w="960120"/>
                <a:gridCol w="1051560"/>
                <a:gridCol w="1051560"/>
                <a:gridCol w="1188720"/>
              </a:tblGrid>
              <a:tr h="223113">
                <a:tc>
                  <a:txBody>
                    <a:bodyPr lIns="54864" rIns="54864" tIns="18288" bIns="18288" wrap="square" anchor="ctr"/>
                    <a:lstStyle/>
                    <a:p>
                      <a:pPr algn="l"/>
                      <a:r>
                        <a:rPr sz="900" b="1">
                          <a:solidFill>
                            <a:srgbClr val="FFFFFF"/>
                          </a:solidFill>
                          <a:latin typeface="Calibri"/>
                        </a:rPr>
                        <a:t>Specimen</a:t>
                      </a:r>
                    </a:p>
                  </a:txBody>
                  <a:tcPr>
                    <a:solidFill>
                      <a:srgbClr val="143D2F"/>
                    </a:solidFill>
                  </a:tcPr>
                </a:tc>
                <a:tc>
                  <a:txBody>
                    <a:bodyPr lIns="54864" rIns="54864" tIns="18288" bIns="18288" wrap="square" anchor="ctr"/>
                    <a:lstStyle/>
                    <a:p>
                      <a:pPr algn="l"/>
                      <a:r>
                        <a:rPr sz="900" b="1">
                          <a:solidFill>
                            <a:srgbClr val="FFFFFF"/>
                          </a:solidFill>
                          <a:latin typeface="Calibri"/>
                        </a:rPr>
                        <a:t>Date</a:t>
                      </a:r>
                    </a:p>
                  </a:txBody>
                  <a:tcPr>
                    <a:solidFill>
                      <a:srgbClr val="143D2F"/>
                    </a:solidFill>
                  </a:tcPr>
                </a:tc>
                <a:tc>
                  <a:txBody>
                    <a:bodyPr lIns="54864" rIns="54864" tIns="18288" bIns="18288" wrap="square" anchor="ctr"/>
                    <a:lstStyle/>
                    <a:p>
                      <a:pPr algn="l"/>
                      <a:r>
                        <a:rPr sz="900" b="1">
                          <a:solidFill>
                            <a:srgbClr val="FFFFFF"/>
                          </a:solidFill>
                          <a:latin typeface="Calibri"/>
                        </a:rPr>
                        <a:t>Material</a:t>
                      </a:r>
                    </a:p>
                  </a:txBody>
                  <a:tcPr>
                    <a:solidFill>
                      <a:srgbClr val="143D2F"/>
                    </a:solidFill>
                  </a:tcPr>
                </a:tc>
                <a:tc>
                  <a:txBody>
                    <a:bodyPr lIns="54864" rIns="54864" tIns="18288" bIns="18288" wrap="square" anchor="ctr"/>
                    <a:lstStyle/>
                    <a:p>
                      <a:pPr algn="l"/>
                      <a:r>
                        <a:rPr sz="900" b="1">
                          <a:solidFill>
                            <a:srgbClr val="FFFFFF"/>
                          </a:solidFill>
                          <a:latin typeface="Calibri"/>
                        </a:rPr>
                        <a:t>What it was for</a:t>
                      </a:r>
                    </a:p>
                  </a:txBody>
                  <a:tcPr>
                    <a:solidFill>
                      <a:srgbClr val="143D2F"/>
                    </a:solidFill>
                  </a:tcPr>
                </a:tc>
                <a:tc>
                  <a:txBody>
                    <a:bodyPr lIns="54864" rIns="54864" tIns="18288" bIns="18288" wrap="square" anchor="ctr"/>
                    <a:lstStyle/>
                    <a:p>
                      <a:pPr algn="l"/>
                      <a:r>
                        <a:rPr sz="900" b="1">
                          <a:solidFill>
                            <a:srgbClr val="FFFFFF"/>
                          </a:solidFill>
                          <a:latin typeface="Calibri"/>
                        </a:rPr>
                        <a:t>Peak</a:t>
                      </a:r>
                    </a:p>
                  </a:txBody>
                  <a:tcPr>
                    <a:solidFill>
                      <a:srgbClr val="143D2F"/>
                    </a:solidFill>
                  </a:tcPr>
                </a:tc>
                <a:tc>
                  <a:txBody>
                    <a:bodyPr lIns="54864" rIns="54864" tIns="18288" bIns="18288" wrap="square" anchor="ctr"/>
                    <a:lstStyle/>
                    <a:p>
                      <a:pPr algn="l"/>
                      <a:r>
                        <a:rPr sz="900" b="1">
                          <a:solidFill>
                            <a:srgbClr val="FFFFFF"/>
                          </a:solidFill>
                          <a:latin typeface="Calibri"/>
                        </a:rPr>
                        <a:t>UTS</a:t>
                      </a:r>
                    </a:p>
                  </a:txBody>
                  <a:tcPr>
                    <a:solidFill>
                      <a:srgbClr val="143D2F"/>
                    </a:solidFill>
                  </a:tcPr>
                </a:tc>
                <a:tc>
                  <a:txBody>
                    <a:bodyPr lIns="54864" rIns="54864" tIns="18288" bIns="18288" wrap="square" anchor="ctr"/>
                    <a:lstStyle/>
                    <a:p>
                      <a:pPr algn="l"/>
                      <a:r>
                        <a:rPr sz="900" b="1">
                          <a:solidFill>
                            <a:srgbClr val="FFFFFF"/>
                          </a:solidFill>
                          <a:latin typeface="Calibri"/>
                        </a:rPr>
                        <a:t>E</a:t>
                      </a:r>
                    </a:p>
                  </a:txBody>
                  <a:tcPr>
                    <a:solidFill>
                      <a:srgbClr val="143D2F"/>
                    </a:solidFill>
                  </a:tcPr>
                </a:tc>
                <a:tc>
                  <a:txBody>
                    <a:bodyPr lIns="54864" rIns="54864" tIns="18288" bIns="18288" wrap="square" anchor="ctr"/>
                    <a:lstStyle/>
                    <a:p>
                      <a:pPr algn="l"/>
                      <a:r>
                        <a:rPr sz="900" b="1">
                          <a:solidFill>
                            <a:srgbClr val="FFFFFF"/>
                          </a:solidFill>
                          <a:latin typeface="Calibri"/>
                        </a:rPr>
                        <a:t>Outcome</a:t>
                      </a:r>
                    </a:p>
                  </a:txBody>
                  <a:tcPr>
                    <a:solidFill>
                      <a:srgbClr val="143D2F"/>
                    </a:solidFill>
                  </a:tcPr>
                </a:tc>
              </a:tr>
              <a:tr h="223113">
                <a:tc>
                  <a:txBody>
                    <a:bodyPr lIns="54864" rIns="54864" tIns="18288" bIns="18288" wrap="square" anchor="ctr"/>
                    <a:lstStyle/>
                    <a:p>
                      <a:pPr algn="l"/>
                      <a:r>
                        <a:rPr sz="850" b="0">
                          <a:solidFill>
                            <a:srgbClr val="000000"/>
                          </a:solidFill>
                          <a:latin typeface="Calibri"/>
                        </a:rPr>
                        <a:t>S24</a:t>
                      </a:r>
                    </a:p>
                  </a:txBody>
                  <a:tcPr/>
                </a:tc>
                <a:tc>
                  <a:txBody>
                    <a:bodyPr lIns="54864" rIns="54864" tIns="18288" bIns="18288" wrap="square" anchor="ctr"/>
                    <a:lstStyle/>
                    <a:p>
                      <a:pPr algn="l"/>
                      <a:r>
                        <a:rPr sz="850" b="0">
                          <a:solidFill>
                            <a:srgbClr val="000000"/>
                          </a:solidFill>
                          <a:latin typeface="Calibri"/>
                        </a:rPr>
                        <a:t>2026-08-14</a:t>
                      </a:r>
                    </a:p>
                  </a:txBody>
                  <a:tcPr/>
                </a:tc>
                <a:tc>
                  <a:txBody>
                    <a:bodyPr lIns="54864" rIns="54864" tIns="18288" bIns="18288" wrap="square" anchor="ctr"/>
                    <a:lstStyle/>
                    <a:p>
                      <a:pPr algn="l"/>
                      <a:r>
                        <a:rPr sz="850" b="0">
                          <a:solidFill>
                            <a:srgbClr val="000000"/>
                          </a:solidFill>
                          <a:latin typeface="Calibri"/>
                        </a:rPr>
                        <a:t>100 % white PLA</a:t>
                      </a:r>
                    </a:p>
                  </a:txBody>
                  <a:tcPr/>
                </a:tc>
                <a:tc>
                  <a:txBody>
                    <a:bodyPr lIns="54864" rIns="54864" tIns="18288" bIns="18288" wrap="square" anchor="ctr"/>
                    <a:lstStyle/>
                    <a:p>
                      <a:pPr algn="l"/>
                      <a:r>
                        <a:rPr sz="850" b="0">
                          <a:solidFill>
                            <a:srgbClr val="000000"/>
                          </a:solidFill>
                          <a:latin typeface="Calibri"/>
                        </a:rPr>
                        <a:t>Frame capture VC1</a:t>
                      </a:r>
                    </a:p>
                  </a:txBody>
                  <a:tcPr/>
                </a:tc>
                <a:tc>
                  <a:txBody>
                    <a:bodyPr lIns="54864" rIns="54864" tIns="18288" bIns="18288" wrap="square" anchor="ctr"/>
                    <a:lstStyle/>
                    <a:p>
                      <a:pPr algn="l"/>
                      <a:r>
                        <a:rPr sz="850" b="0">
                          <a:solidFill>
                            <a:srgbClr val="000000"/>
                          </a:solidFill>
                          <a:latin typeface="Calibri"/>
                        </a:rPr>
                        <a:t>3718 N</a:t>
                      </a:r>
                    </a:p>
                  </a:txBody>
                  <a:tcPr/>
                </a:tc>
                <a:tc>
                  <a:txBody>
                    <a:bodyPr lIns="54864" rIns="54864" tIns="18288" bIns="18288" wrap="square" anchor="ctr"/>
                    <a:lstStyle/>
                    <a:p>
                      <a:pPr algn="l"/>
                      <a:r>
                        <a:rPr sz="850" b="0">
                          <a:solidFill>
                            <a:srgbClr val="000000"/>
                          </a:solidFill>
                          <a:latin typeface="Calibri"/>
                        </a:rPr>
                        <a:t>46.5 MPa</a:t>
                      </a:r>
                    </a:p>
                  </a:txBody>
                  <a:tcPr/>
                </a:tc>
                <a:tc>
                  <a:txBody>
                    <a:bodyPr lIns="54864" rIns="54864" tIns="18288" bIns="18288" wrap="square" anchor="ctr"/>
                    <a:lstStyle/>
                    <a:p>
                      <a:pPr algn="l"/>
                      <a:r>
                        <a:rPr sz="850" b="0">
                          <a:solidFill>
                            <a:srgbClr val="000000"/>
                          </a:solidFill>
                          <a:latin typeface="Calibri"/>
                        </a:rPr>
                        <a:t>3.00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S12</a:t>
                      </a:r>
                    </a:p>
                  </a:txBody>
                  <a:tcPr/>
                </a:tc>
                <a:tc>
                  <a:txBody>
                    <a:bodyPr lIns="54864" rIns="54864" tIns="18288" bIns="18288" wrap="square" anchor="ctr"/>
                    <a:lstStyle/>
                    <a:p>
                      <a:pPr algn="l"/>
                      <a:r>
                        <a:rPr sz="850" b="0">
                          <a:solidFill>
                            <a:srgbClr val="000000"/>
                          </a:solidFill>
                          <a:latin typeface="Calibri"/>
                        </a:rPr>
                        <a:t>2026-08-17</a:t>
                      </a:r>
                    </a:p>
                  </a:txBody>
                  <a:tcPr/>
                </a:tc>
                <a:tc>
                  <a:txBody>
                    <a:bodyPr lIns="54864" rIns="54864" tIns="18288" bIns="18288" wrap="square" anchor="ctr"/>
                    <a:lstStyle/>
                    <a:p>
                      <a:pPr algn="l"/>
                      <a:r>
                        <a:rPr sz="850" b="0">
                          <a:solidFill>
                            <a:srgbClr val="000000"/>
                          </a:solidFill>
                          <a:latin typeface="Calibri"/>
                        </a:rPr>
                        <a:t>100 % BLACK PLA</a:t>
                      </a:r>
                    </a:p>
                  </a:txBody>
                  <a:tcPr/>
                </a:tc>
                <a:tc>
                  <a:txBody>
                    <a:bodyPr lIns="54864" rIns="54864" tIns="18288" bIns="18288" wrap="square" anchor="ctr"/>
                    <a:lstStyle/>
                    <a:p>
                      <a:pPr algn="l"/>
                      <a:r>
                        <a:rPr sz="850" b="0">
                          <a:solidFill>
                            <a:srgbClr val="000000"/>
                          </a:solidFill>
                          <a:latin typeface="Calibri"/>
                        </a:rPr>
                        <a:t>Black attempt VC6 — capture not filed</a:t>
                      </a:r>
                    </a:p>
                  </a:txBody>
                  <a:tcPr/>
                </a:tc>
                <a:tc>
                  <a:txBody>
                    <a:bodyPr lIns="54864" rIns="54864" tIns="18288" bIns="18288" wrap="square" anchor="ctr"/>
                    <a:lstStyle/>
                    <a:p>
                      <a:pPr algn="l"/>
                      <a:r>
                        <a:rPr sz="850" b="0">
                          <a:solidFill>
                            <a:srgbClr val="000000"/>
                          </a:solidFill>
                          <a:latin typeface="Calibri"/>
                        </a:rPr>
                        <a:t>3822 N</a:t>
                      </a:r>
                    </a:p>
                  </a:txBody>
                  <a:tcPr/>
                </a:tc>
                <a:tc>
                  <a:txBody>
                    <a:bodyPr lIns="54864" rIns="54864" tIns="18288" bIns="18288" wrap="square" anchor="ctr"/>
                    <a:lstStyle/>
                    <a:p>
                      <a:pPr algn="l"/>
                      <a:r>
                        <a:rPr sz="850" b="0">
                          <a:solidFill>
                            <a:srgbClr val="000000"/>
                          </a:solidFill>
                          <a:latin typeface="Calibri"/>
                        </a:rPr>
                        <a:t>47.8 MPa</a:t>
                      </a:r>
                    </a:p>
                  </a:txBody>
                  <a:tcPr/>
                </a:tc>
                <a:tc>
                  <a:txBody>
                    <a:bodyPr lIns="54864" rIns="54864" tIns="18288" bIns="18288" wrap="square" anchor="ctr"/>
                    <a:lstStyle/>
                    <a:p>
                      <a:pPr algn="l"/>
                      <a:r>
                        <a:rPr sz="850" b="0">
                          <a:solidFill>
                            <a:srgbClr val="000000"/>
                          </a:solidFill>
                          <a:latin typeface="Calibri"/>
                        </a:rPr>
                        <a:t>3.29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S25</a:t>
                      </a:r>
                    </a:p>
                  </a:txBody>
                  <a:tcPr/>
                </a:tc>
                <a:tc>
                  <a:txBody>
                    <a:bodyPr lIns="54864" rIns="54864" tIns="18288" bIns="18288" wrap="square" anchor="ctr"/>
                    <a:lstStyle/>
                    <a:p>
                      <a:pPr algn="l"/>
                      <a:r>
                        <a:rPr sz="850" b="0">
                          <a:solidFill>
                            <a:srgbClr val="000000"/>
                          </a:solidFill>
                          <a:latin typeface="Calibri"/>
                        </a:rPr>
                        <a:t>2026-08-17</a:t>
                      </a:r>
                    </a:p>
                  </a:txBody>
                  <a:tcPr/>
                </a:tc>
                <a:tc>
                  <a:txBody>
                    <a:bodyPr lIns="54864" rIns="54864" tIns="18288" bIns="18288" wrap="square" anchor="ctr"/>
                    <a:lstStyle/>
                    <a:p>
                      <a:pPr algn="l"/>
                      <a:r>
                        <a:rPr sz="850" b="0">
                          <a:solidFill>
                            <a:srgbClr val="000000"/>
                          </a:solidFill>
                          <a:latin typeface="Calibri"/>
                        </a:rPr>
                        <a:t>100 % white PLA</a:t>
                      </a:r>
                    </a:p>
                  </a:txBody>
                  <a:tcPr/>
                </a:tc>
                <a:tc>
                  <a:txBody>
                    <a:bodyPr lIns="54864" rIns="54864" tIns="18288" bIns="18288" wrap="square" anchor="ctr"/>
                    <a:lstStyle/>
                    <a:p>
                      <a:pPr algn="l"/>
                      <a:r>
                        <a:rPr sz="850" b="0">
                          <a:solidFill>
                            <a:srgbClr val="000000"/>
                          </a:solidFill>
                          <a:latin typeface="Calibri"/>
                        </a:rPr>
                        <a:t>Frame capture VC2 — extensometer basis</a:t>
                      </a:r>
                    </a:p>
                  </a:txBody>
                  <a:tcPr/>
                </a:tc>
                <a:tc>
                  <a:txBody>
                    <a:bodyPr lIns="54864" rIns="54864" tIns="18288" bIns="18288" wrap="square" anchor="ctr"/>
                    <a:lstStyle/>
                    <a:p>
                      <a:pPr algn="l"/>
                      <a:r>
                        <a:rPr sz="850" b="0">
                          <a:solidFill>
                            <a:srgbClr val="000000"/>
                          </a:solidFill>
                          <a:latin typeface="Calibri"/>
                        </a:rPr>
                        <a:t>3693 N</a:t>
                      </a:r>
                    </a:p>
                  </a:txBody>
                  <a:tcPr/>
                </a:tc>
                <a:tc>
                  <a:txBody>
                    <a:bodyPr lIns="54864" rIns="54864" tIns="18288" bIns="18288" wrap="square" anchor="ctr"/>
                    <a:lstStyle/>
                    <a:p>
                      <a:pPr algn="l"/>
                      <a:r>
                        <a:rPr sz="850" b="0">
                          <a:solidFill>
                            <a:srgbClr val="000000"/>
                          </a:solidFill>
                          <a:latin typeface="Calibri"/>
                        </a:rPr>
                        <a:t>46.2 MPa</a:t>
                      </a:r>
                    </a:p>
                  </a:txBody>
                  <a:tcPr/>
                </a:tc>
                <a:tc>
                  <a:txBody>
                    <a:bodyPr lIns="54864" rIns="54864" tIns="18288" bIns="18288" wrap="square" anchor="ctr"/>
                    <a:lstStyle/>
                    <a:p>
                      <a:pPr algn="l"/>
                      <a:r>
                        <a:rPr sz="850" b="0">
                          <a:solidFill>
                            <a:srgbClr val="000000"/>
                          </a:solidFill>
                          <a:latin typeface="Calibri"/>
                        </a:rPr>
                        <a:t>3.17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S26</a:t>
                      </a:r>
                    </a:p>
                  </a:txBody>
                  <a:tcPr/>
                </a:tc>
                <a:tc>
                  <a:txBody>
                    <a:bodyPr lIns="54864" rIns="54864" tIns="18288" bIns="18288" wrap="square" anchor="ctr"/>
                    <a:lstStyle/>
                    <a:p>
                      <a:pPr algn="l"/>
                      <a:r>
                        <a:rPr sz="850" b="0">
                          <a:solidFill>
                            <a:srgbClr val="000000"/>
                          </a:solidFill>
                          <a:latin typeface="Calibri"/>
                        </a:rPr>
                        <a:t>2026-08-17</a:t>
                      </a:r>
                    </a:p>
                  </a:txBody>
                  <a:tcPr/>
                </a:tc>
                <a:tc>
                  <a:txBody>
                    <a:bodyPr lIns="54864" rIns="54864" tIns="18288" bIns="18288" wrap="square" anchor="ctr"/>
                    <a:lstStyle/>
                    <a:p>
                      <a:pPr algn="l"/>
                      <a:r>
                        <a:rPr sz="850" b="0">
                          <a:solidFill>
                            <a:srgbClr val="000000"/>
                          </a:solidFill>
                          <a:latin typeface="Calibri"/>
                        </a:rPr>
                        <a:t>100 % white PLA</a:t>
                      </a:r>
                    </a:p>
                  </a:txBody>
                  <a:tcPr/>
                </a:tc>
                <a:tc>
                  <a:txBody>
                    <a:bodyPr lIns="54864" rIns="54864" tIns="18288" bIns="18288" wrap="square" anchor="ctr"/>
                    <a:lstStyle/>
                    <a:p>
                      <a:pPr algn="l"/>
                      <a:r>
                        <a:rPr sz="850" b="0">
                          <a:solidFill>
                            <a:srgbClr val="000000"/>
                          </a:solidFill>
                          <a:latin typeface="Calibri"/>
                        </a:rPr>
                        <a:t>Frame capture VC3 — extensometer basis</a:t>
                      </a:r>
                    </a:p>
                  </a:txBody>
                  <a:tcPr/>
                </a:tc>
                <a:tc>
                  <a:txBody>
                    <a:bodyPr lIns="54864" rIns="54864" tIns="18288" bIns="18288" wrap="square" anchor="ctr"/>
                    <a:lstStyle/>
                    <a:p>
                      <a:pPr algn="l"/>
                      <a:r>
                        <a:rPr sz="850" b="0">
                          <a:solidFill>
                            <a:srgbClr val="000000"/>
                          </a:solidFill>
                          <a:latin typeface="Calibri"/>
                        </a:rPr>
                        <a:t>3774 N</a:t>
                      </a:r>
                    </a:p>
                  </a:txBody>
                  <a:tcPr/>
                </a:tc>
                <a:tc>
                  <a:txBody>
                    <a:bodyPr lIns="54864" rIns="54864" tIns="18288" bIns="18288" wrap="square" anchor="ctr"/>
                    <a:lstStyle/>
                    <a:p>
                      <a:pPr algn="l"/>
                      <a:r>
                        <a:rPr sz="850" b="0">
                          <a:solidFill>
                            <a:srgbClr val="000000"/>
                          </a:solidFill>
                          <a:latin typeface="Calibri"/>
                        </a:rPr>
                        <a:t>47.2 MPa</a:t>
                      </a:r>
                    </a:p>
                  </a:txBody>
                  <a:tcPr/>
                </a:tc>
                <a:tc>
                  <a:txBody>
                    <a:bodyPr lIns="54864" rIns="54864" tIns="18288" bIns="18288" wrap="square" anchor="ctr"/>
                    <a:lstStyle/>
                    <a:p>
                      <a:pPr algn="l"/>
                      <a:r>
                        <a:rPr sz="850" b="0">
                          <a:solidFill>
                            <a:srgbClr val="000000"/>
                          </a:solidFill>
                          <a:latin typeface="Calibri"/>
                        </a:rPr>
                        <a:t>3.55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S27</a:t>
                      </a:r>
                    </a:p>
                  </a:txBody>
                  <a:tcPr/>
                </a:tc>
                <a:tc>
                  <a:txBody>
                    <a:bodyPr lIns="54864" rIns="54864" tIns="18288" bIns="18288" wrap="square" anchor="ctr"/>
                    <a:lstStyle/>
                    <a:p>
                      <a:pPr algn="l"/>
                      <a:r>
                        <a:rPr sz="850" b="0">
                          <a:solidFill>
                            <a:srgbClr val="000000"/>
                          </a:solidFill>
                          <a:latin typeface="Calibri"/>
                        </a:rPr>
                        <a:t>2026-08-17</a:t>
                      </a:r>
                    </a:p>
                  </a:txBody>
                  <a:tcPr/>
                </a:tc>
                <a:tc>
                  <a:txBody>
                    <a:bodyPr lIns="54864" rIns="54864" tIns="18288" bIns="18288" wrap="square" anchor="ctr"/>
                    <a:lstStyle/>
                    <a:p>
                      <a:pPr algn="l"/>
                      <a:r>
                        <a:rPr sz="850" b="0">
                          <a:solidFill>
                            <a:srgbClr val="000000"/>
                          </a:solidFill>
                          <a:latin typeface="Calibri"/>
                        </a:rPr>
                        <a:t>50 % white PLA</a:t>
                      </a:r>
                    </a:p>
                  </a:txBody>
                  <a:tcPr/>
                </a:tc>
                <a:tc>
                  <a:txBody>
                    <a:bodyPr lIns="54864" rIns="54864" tIns="18288" bIns="18288" wrap="square" anchor="ctr"/>
                    <a:lstStyle/>
                    <a:p>
                      <a:pPr algn="l"/>
                      <a:r>
                        <a:rPr sz="850" b="0">
                          <a:solidFill>
                            <a:srgbClr val="000000"/>
                          </a:solidFill>
                          <a:latin typeface="Calibri"/>
                        </a:rPr>
                        <a:t>50 % video pair VC4</a:t>
                      </a:r>
                    </a:p>
                  </a:txBody>
                  <a:tcPr/>
                </a:tc>
                <a:tc>
                  <a:txBody>
                    <a:bodyPr lIns="54864" rIns="54864" tIns="18288" bIns="18288" wrap="square" anchor="ctr"/>
                    <a:lstStyle/>
                    <a:p>
                      <a:pPr algn="l"/>
                      <a:r>
                        <a:rPr sz="850" b="0">
                          <a:solidFill>
                            <a:srgbClr val="000000"/>
                          </a:solidFill>
                          <a:latin typeface="Calibri"/>
                        </a:rPr>
                        <a:t>1588 N</a:t>
                      </a:r>
                    </a:p>
                  </a:txBody>
                  <a:tcPr/>
                </a:tc>
                <a:tc>
                  <a:txBody>
                    <a:bodyPr lIns="54864" rIns="54864" tIns="18288" bIns="18288" wrap="square" anchor="ctr"/>
                    <a:lstStyle/>
                    <a:p>
                      <a:pPr algn="l"/>
                      <a:r>
                        <a:rPr sz="850" b="0">
                          <a:solidFill>
                            <a:srgbClr val="000000"/>
                          </a:solidFill>
                          <a:latin typeface="Calibri"/>
                        </a:rPr>
                        <a:t>19.9 MPa</a:t>
                      </a:r>
                    </a:p>
                  </a:txBody>
                  <a:tcPr/>
                </a:tc>
                <a:tc>
                  <a:txBody>
                    <a:bodyPr lIns="54864" rIns="54864" tIns="18288" bIns="18288" wrap="square" anchor="ctr"/>
                    <a:lstStyle/>
                    <a:p>
                      <a:pPr algn="l"/>
                      <a:r>
                        <a:rPr sz="850" b="0">
                          <a:solidFill>
                            <a:srgbClr val="000000"/>
                          </a:solidFill>
                          <a:latin typeface="Calibri"/>
                        </a:rPr>
                        <a:t>1.40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S28</a:t>
                      </a:r>
                    </a:p>
                  </a:txBody>
                  <a:tcPr/>
                </a:tc>
                <a:tc>
                  <a:txBody>
                    <a:bodyPr lIns="54864" rIns="54864" tIns="18288" bIns="18288" wrap="square" anchor="ctr"/>
                    <a:lstStyle/>
                    <a:p>
                      <a:pPr algn="l"/>
                      <a:r>
                        <a:rPr sz="850" b="0">
                          <a:solidFill>
                            <a:srgbClr val="000000"/>
                          </a:solidFill>
                          <a:latin typeface="Calibri"/>
                        </a:rPr>
                        <a:t>2026-08-17</a:t>
                      </a:r>
                    </a:p>
                  </a:txBody>
                  <a:tcPr/>
                </a:tc>
                <a:tc>
                  <a:txBody>
                    <a:bodyPr lIns="54864" rIns="54864" tIns="18288" bIns="18288" wrap="square" anchor="ctr"/>
                    <a:lstStyle/>
                    <a:p>
                      <a:pPr algn="l"/>
                      <a:r>
                        <a:rPr sz="850" b="0">
                          <a:solidFill>
                            <a:srgbClr val="000000"/>
                          </a:solidFill>
                          <a:latin typeface="Calibri"/>
                        </a:rPr>
                        <a:t>50 % white PLA</a:t>
                      </a:r>
                    </a:p>
                  </a:txBody>
                  <a:tcPr/>
                </a:tc>
                <a:tc>
                  <a:txBody>
                    <a:bodyPr lIns="54864" rIns="54864" tIns="18288" bIns="18288" wrap="square" anchor="ctr"/>
                    <a:lstStyle/>
                    <a:p>
                      <a:pPr algn="l"/>
                      <a:r>
                        <a:rPr sz="850" b="0">
                          <a:solidFill>
                            <a:srgbClr val="000000"/>
                          </a:solidFill>
                          <a:latin typeface="Calibri"/>
                        </a:rPr>
                        <a:t>50 % video pair VC5</a:t>
                      </a:r>
                    </a:p>
                  </a:txBody>
                  <a:tcPr/>
                </a:tc>
                <a:tc>
                  <a:txBody>
                    <a:bodyPr lIns="54864" rIns="54864" tIns="18288" bIns="18288" wrap="square" anchor="ctr"/>
                    <a:lstStyle/>
                    <a:p>
                      <a:pPr algn="l"/>
                      <a:r>
                        <a:rPr sz="850" b="0">
                          <a:solidFill>
                            <a:srgbClr val="000000"/>
                          </a:solidFill>
                          <a:latin typeface="Calibri"/>
                        </a:rPr>
                        <a:t>1594 N</a:t>
                      </a:r>
                    </a:p>
                  </a:txBody>
                  <a:tcPr/>
                </a:tc>
                <a:tc>
                  <a:txBody>
                    <a:bodyPr lIns="54864" rIns="54864" tIns="18288" bIns="18288" wrap="square" anchor="ctr"/>
                    <a:lstStyle/>
                    <a:p>
                      <a:pPr algn="l"/>
                      <a:r>
                        <a:rPr sz="850" b="0">
                          <a:solidFill>
                            <a:srgbClr val="000000"/>
                          </a:solidFill>
                          <a:latin typeface="Calibri"/>
                        </a:rPr>
                        <a:t>19.9 MPa</a:t>
                      </a:r>
                    </a:p>
                  </a:txBody>
                  <a:tcPr/>
                </a:tc>
                <a:tc>
                  <a:txBody>
                    <a:bodyPr lIns="54864" rIns="54864" tIns="18288" bIns="18288" wrap="square" anchor="ctr"/>
                    <a:lstStyle/>
                    <a:p>
                      <a:pPr algn="l"/>
                      <a:r>
                        <a:rPr sz="850" b="0">
                          <a:solidFill>
                            <a:srgbClr val="000000"/>
                          </a:solidFill>
                          <a:latin typeface="Calibri"/>
                        </a:rPr>
                        <a:t>1.28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S13</a:t>
                      </a:r>
                    </a:p>
                  </a:txBody>
                  <a:tcPr/>
                </a:tc>
                <a:tc>
                  <a:txBody>
                    <a:bodyPr lIns="54864" rIns="54864" tIns="18288" bIns="18288" wrap="square" anchor="ctr"/>
                    <a:lstStyle/>
                    <a:p>
                      <a:pPr algn="l"/>
                      <a:r>
                        <a:rPr sz="850" b="0">
                          <a:solidFill>
                            <a:srgbClr val="000000"/>
                          </a:solidFill>
                          <a:latin typeface="Calibri"/>
                        </a:rPr>
                        <a:t>2026-08-18</a:t>
                      </a:r>
                    </a:p>
                  </a:txBody>
                  <a:tcPr/>
                </a:tc>
                <a:tc>
                  <a:txBody>
                    <a:bodyPr lIns="54864" rIns="54864" tIns="18288" bIns="18288" wrap="square" anchor="ctr"/>
                    <a:lstStyle/>
                    <a:p>
                      <a:pPr algn="l"/>
                      <a:r>
                        <a:rPr sz="850" b="0">
                          <a:solidFill>
                            <a:srgbClr val="000000"/>
                          </a:solidFill>
                          <a:latin typeface="Calibri"/>
                        </a:rPr>
                        <a:t>100 % BLACK PLA</a:t>
                      </a:r>
                    </a:p>
                  </a:txBody>
                  <a:tcPr/>
                </a:tc>
                <a:tc>
                  <a:txBody>
                    <a:bodyPr lIns="54864" rIns="54864" tIns="18288" bIns="18288" wrap="square" anchor="ctr"/>
                    <a:lstStyle/>
                    <a:p>
                      <a:pPr algn="l"/>
                      <a:r>
                        <a:rPr sz="850" b="0">
                          <a:solidFill>
                            <a:srgbClr val="000000"/>
                          </a:solidFill>
                          <a:latin typeface="Calibri"/>
                        </a:rPr>
                        <a:t>Black preset VALIDATED VC7</a:t>
                      </a:r>
                    </a:p>
                  </a:txBody>
                  <a:tcPr/>
                </a:tc>
                <a:tc>
                  <a:txBody>
                    <a:bodyPr lIns="54864" rIns="54864" tIns="18288" bIns="18288" wrap="square" anchor="ctr"/>
                    <a:lstStyle/>
                    <a:p>
                      <a:pPr algn="l"/>
                      <a:r>
                        <a:rPr sz="850" b="0">
                          <a:solidFill>
                            <a:srgbClr val="000000"/>
                          </a:solidFill>
                          <a:latin typeface="Calibri"/>
                        </a:rPr>
                        <a:t>3706 N</a:t>
                      </a:r>
                    </a:p>
                  </a:txBody>
                  <a:tcPr/>
                </a:tc>
                <a:tc>
                  <a:txBody>
                    <a:bodyPr lIns="54864" rIns="54864" tIns="18288" bIns="18288" wrap="square" anchor="ctr"/>
                    <a:lstStyle/>
                    <a:p>
                      <a:pPr algn="l"/>
                      <a:r>
                        <a:rPr sz="850" b="0">
                          <a:solidFill>
                            <a:srgbClr val="000000"/>
                          </a:solidFill>
                          <a:latin typeface="Calibri"/>
                        </a:rPr>
                        <a:t>46.3 MPa</a:t>
                      </a:r>
                    </a:p>
                  </a:txBody>
                  <a:tcPr/>
                </a:tc>
                <a:tc>
                  <a:txBody>
                    <a:bodyPr lIns="54864" rIns="54864" tIns="18288" bIns="18288" wrap="square" anchor="ctr"/>
                    <a:lstStyle/>
                    <a:p>
                      <a:pPr algn="l"/>
                      <a:r>
                        <a:rPr sz="850" b="0">
                          <a:solidFill>
                            <a:srgbClr val="000000"/>
                          </a:solidFill>
                          <a:latin typeface="Calibri"/>
                        </a:rPr>
                        <a:t>3.03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S30</a:t>
                      </a:r>
                    </a:p>
                  </a:txBody>
                  <a:tcPr/>
                </a:tc>
                <a:tc>
                  <a:txBody>
                    <a:bodyPr lIns="54864" rIns="54864" tIns="18288" bIns="18288" wrap="square" anchor="ctr"/>
                    <a:lstStyle/>
                    <a:p>
                      <a:pPr algn="l"/>
                      <a:r>
                        <a:rPr sz="850" b="0">
                          <a:solidFill>
                            <a:srgbClr val="000000"/>
                          </a:solidFill>
                          <a:latin typeface="Calibri"/>
                        </a:rPr>
                        <a:t>2026-08-22</a:t>
                      </a:r>
                    </a:p>
                  </a:txBody>
                  <a:tcPr/>
                </a:tc>
                <a:tc>
                  <a:txBody>
                    <a:bodyPr lIns="54864" rIns="54864" tIns="18288" bIns="18288" wrap="square" anchor="ctr"/>
                    <a:lstStyle/>
                    <a:p>
                      <a:pPr algn="l"/>
                      <a:r>
                        <a:rPr sz="850" b="0">
                          <a:solidFill>
                            <a:srgbClr val="000000"/>
                          </a:solidFill>
                          <a:latin typeface="Calibri"/>
                        </a:rPr>
                        <a:t>100 % PETG</a:t>
                      </a:r>
                    </a:p>
                  </a:txBody>
                  <a:tcPr/>
                </a:tc>
                <a:tc>
                  <a:txBody>
                    <a:bodyPr lIns="54864" rIns="54864" tIns="18288" bIns="18288" wrap="square" anchor="ctr"/>
                    <a:lstStyle/>
                    <a:p>
                      <a:pPr algn="l"/>
                      <a:r>
                        <a:rPr sz="850" b="0">
                          <a:solidFill>
                            <a:srgbClr val="000000"/>
                          </a:solidFill>
                          <a:latin typeface="Calibri"/>
                        </a:rPr>
                        <a:t>PETG 1 of 3 VC9 — the representative run</a:t>
                      </a:r>
                    </a:p>
                  </a:txBody>
                  <a:tcPr/>
                </a:tc>
                <a:tc>
                  <a:txBody>
                    <a:bodyPr lIns="54864" rIns="54864" tIns="18288" bIns="18288" wrap="square" anchor="ctr"/>
                    <a:lstStyle/>
                    <a:p>
                      <a:pPr algn="l"/>
                      <a:r>
                        <a:rPr sz="850" b="0">
                          <a:solidFill>
                            <a:srgbClr val="000000"/>
                          </a:solidFill>
                          <a:latin typeface="Calibri"/>
                        </a:rPr>
                        <a:t>3340 N</a:t>
                      </a:r>
                    </a:p>
                  </a:txBody>
                  <a:tcPr/>
                </a:tc>
                <a:tc>
                  <a:txBody>
                    <a:bodyPr lIns="54864" rIns="54864" tIns="18288" bIns="18288" wrap="square" anchor="ctr"/>
                    <a:lstStyle/>
                    <a:p>
                      <a:pPr algn="l"/>
                      <a:r>
                        <a:rPr sz="850" b="0">
                          <a:solidFill>
                            <a:srgbClr val="000000"/>
                          </a:solidFill>
                          <a:latin typeface="Calibri"/>
                        </a:rPr>
                        <a:t>41.8 MPa</a:t>
                      </a:r>
                    </a:p>
                  </a:txBody>
                  <a:tcPr/>
                </a:tc>
                <a:tc>
                  <a:txBody>
                    <a:bodyPr lIns="54864" rIns="54864" tIns="18288" bIns="18288" wrap="square" anchor="ctr"/>
                    <a:lstStyle/>
                    <a:p>
                      <a:pPr algn="l"/>
                      <a:r>
                        <a:rPr sz="850" b="0">
                          <a:solidFill>
                            <a:srgbClr val="000000"/>
                          </a:solidFill>
                          <a:latin typeface="Calibri"/>
                        </a:rPr>
                        <a:t>1.81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S31</a:t>
                      </a:r>
                    </a:p>
                  </a:txBody>
                  <a:tcPr/>
                </a:tc>
                <a:tc>
                  <a:txBody>
                    <a:bodyPr lIns="54864" rIns="54864" tIns="18288" bIns="18288" wrap="square" anchor="ctr"/>
                    <a:lstStyle/>
                    <a:p>
                      <a:pPr algn="l"/>
                      <a:r>
                        <a:rPr sz="850" b="0">
                          <a:solidFill>
                            <a:srgbClr val="000000"/>
                          </a:solidFill>
                          <a:latin typeface="Calibri"/>
                        </a:rPr>
                        <a:t>2026-08-22</a:t>
                      </a:r>
                    </a:p>
                  </a:txBody>
                  <a:tcPr/>
                </a:tc>
                <a:tc>
                  <a:txBody>
                    <a:bodyPr lIns="54864" rIns="54864" tIns="18288" bIns="18288" wrap="square" anchor="ctr"/>
                    <a:lstStyle/>
                    <a:p>
                      <a:pPr algn="l"/>
                      <a:r>
                        <a:rPr sz="850" b="0">
                          <a:solidFill>
                            <a:srgbClr val="000000"/>
                          </a:solidFill>
                          <a:latin typeface="Calibri"/>
                        </a:rPr>
                        <a:t>100 % PETG</a:t>
                      </a:r>
                    </a:p>
                  </a:txBody>
                  <a:tcPr/>
                </a:tc>
                <a:tc>
                  <a:txBody>
                    <a:bodyPr lIns="54864" rIns="54864" tIns="18288" bIns="18288" wrap="square" anchor="ctr"/>
                    <a:lstStyle/>
                    <a:p>
                      <a:pPr algn="l"/>
                      <a:r>
                        <a:rPr sz="850" b="0">
                          <a:solidFill>
                            <a:srgbClr val="000000"/>
                          </a:solidFill>
                          <a:latin typeface="Calibri"/>
                        </a:rPr>
                        <a:t>PETG 2 of 3 VC10 — strength only, 57 % tracked</a:t>
                      </a:r>
                    </a:p>
                  </a:txBody>
                  <a:tcPr/>
                </a:tc>
                <a:tc>
                  <a:txBody>
                    <a:bodyPr lIns="54864" rIns="54864" tIns="18288" bIns="18288" wrap="square" anchor="ctr"/>
                    <a:lstStyle/>
                    <a:p>
                      <a:pPr algn="l"/>
                      <a:r>
                        <a:rPr sz="850" b="0">
                          <a:solidFill>
                            <a:srgbClr val="000000"/>
                          </a:solidFill>
                          <a:latin typeface="Calibri"/>
                        </a:rPr>
                        <a:t>3244 N</a:t>
                      </a:r>
                    </a:p>
                  </a:txBody>
                  <a:tcPr/>
                </a:tc>
                <a:tc>
                  <a:txBody>
                    <a:bodyPr lIns="54864" rIns="54864" tIns="18288" bIns="18288" wrap="square" anchor="ctr"/>
                    <a:lstStyle/>
                    <a:p>
                      <a:pPr algn="l"/>
                      <a:r>
                        <a:rPr sz="850" b="0">
                          <a:solidFill>
                            <a:srgbClr val="000000"/>
                          </a:solidFill>
                          <a:latin typeface="Calibri"/>
                        </a:rPr>
                        <a:t>40.5 MPa</a:t>
                      </a:r>
                    </a:p>
                  </a:txBody>
                  <a:tcPr/>
                </a:tc>
                <a:tc>
                  <a:txBody>
                    <a:bodyPr lIns="54864" rIns="54864" tIns="18288" bIns="18288" wrap="square" anchor="ctr"/>
                    <a:lstStyle/>
                    <a:p>
                      <a:pPr algn="l"/>
                      <a:r>
                        <a:rPr sz="850" b="0">
                          <a:solidFill>
                            <a:srgbClr val="000000"/>
                          </a:solidFill>
                          <a:latin typeface="Calibri"/>
                        </a:rPr>
                        <a:t>2.12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S33</a:t>
                      </a:r>
                    </a:p>
                  </a:txBody>
                  <a:tcPr/>
                </a:tc>
                <a:tc>
                  <a:txBody>
                    <a:bodyPr lIns="54864" rIns="54864" tIns="18288" bIns="18288" wrap="square" anchor="ctr"/>
                    <a:lstStyle/>
                    <a:p>
                      <a:pPr algn="l"/>
                      <a:r>
                        <a:rPr sz="850" b="0">
                          <a:solidFill>
                            <a:srgbClr val="000000"/>
                          </a:solidFill>
                          <a:latin typeface="Calibri"/>
                        </a:rPr>
                        <a:t>2026-08-24</a:t>
                      </a:r>
                    </a:p>
                  </a:txBody>
                  <a:tcPr/>
                </a:tc>
                <a:tc>
                  <a:txBody>
                    <a:bodyPr lIns="54864" rIns="54864" tIns="18288" bIns="18288" wrap="square" anchor="ctr"/>
                    <a:lstStyle/>
                    <a:p>
                      <a:pPr algn="l"/>
                      <a:r>
                        <a:rPr sz="850" b="0">
                          <a:solidFill>
                            <a:srgbClr val="000000"/>
                          </a:solidFill>
                          <a:latin typeface="Calibri"/>
                        </a:rPr>
                        <a:t>white PLA</a:t>
                      </a:r>
                    </a:p>
                  </a:txBody>
                  <a:tcPr/>
                </a:tc>
                <a:tc>
                  <a:txBody>
                    <a:bodyPr lIns="54864" rIns="54864" tIns="18288" bIns="18288" wrap="square" anchor="ctr"/>
                    <a:lstStyle/>
                    <a:p>
                      <a:pPr algn="l"/>
                      <a:r>
                        <a:rPr sz="850" b="0">
                          <a:solidFill>
                            <a:srgbClr val="000000"/>
                          </a:solidFill>
                          <a:latin typeface="Calibri"/>
                        </a:rPr>
                        <a:t>Marker spacing 45 mm VC12 — against S25</a:t>
                      </a:r>
                    </a:p>
                  </a:txBody>
                  <a:tcPr/>
                </a:tc>
                <a:tc>
                  <a:txBody>
                    <a:bodyPr lIns="54864" rIns="54864" tIns="18288" bIns="18288" wrap="square" anchor="ctr"/>
                    <a:lstStyle/>
                    <a:p>
                      <a:pPr algn="l"/>
                      <a:r>
                        <a:rPr sz="850" b="0">
                          <a:solidFill>
                            <a:srgbClr val="000000"/>
                          </a:solidFill>
                          <a:latin typeface="Calibri"/>
                        </a:rPr>
                        <a:t>3767 N</a:t>
                      </a:r>
                    </a:p>
                  </a:txBody>
                  <a:tcPr/>
                </a:tc>
                <a:tc>
                  <a:txBody>
                    <a:bodyPr lIns="54864" rIns="54864" tIns="18288" bIns="18288" wrap="square" anchor="ctr"/>
                    <a:lstStyle/>
                    <a:p>
                      <a:pPr algn="l"/>
                      <a:r>
                        <a:rPr sz="850" b="0">
                          <a:solidFill>
                            <a:srgbClr val="000000"/>
                          </a:solidFill>
                          <a:latin typeface="Calibri"/>
                        </a:rPr>
                        <a:t>47.1 MPa</a:t>
                      </a:r>
                    </a:p>
                  </a:txBody>
                  <a:tcPr/>
                </a:tc>
                <a:tc>
                  <a:txBody>
                    <a:bodyPr lIns="54864" rIns="54864" tIns="18288" bIns="18288" wrap="square" anchor="ctr"/>
                    <a:lstStyle/>
                    <a:p>
                      <a:pPr algn="l"/>
                      <a:r>
                        <a:rPr sz="850" b="0">
                          <a:solidFill>
                            <a:srgbClr val="000000"/>
                          </a:solidFill>
                          <a:latin typeface="Calibri"/>
                        </a:rPr>
                        <a:t>3.17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S34</a:t>
                      </a:r>
                    </a:p>
                  </a:txBody>
                  <a:tcPr/>
                </a:tc>
                <a:tc>
                  <a:txBody>
                    <a:bodyPr lIns="54864" rIns="54864" tIns="18288" bIns="18288" wrap="square" anchor="ctr"/>
                    <a:lstStyle/>
                    <a:p>
                      <a:pPr algn="l"/>
                      <a:r>
                        <a:rPr sz="850" b="0">
                          <a:solidFill>
                            <a:srgbClr val="000000"/>
                          </a:solidFill>
                          <a:latin typeface="Calibri"/>
                        </a:rPr>
                        <a:t>2026-08-24</a:t>
                      </a:r>
                    </a:p>
                  </a:txBody>
                  <a:tcPr/>
                </a:tc>
                <a:tc>
                  <a:txBody>
                    <a:bodyPr lIns="54864" rIns="54864" tIns="18288" bIns="18288" wrap="square" anchor="ctr"/>
                    <a:lstStyle/>
                    <a:p>
                      <a:pPr algn="l"/>
                      <a:r>
                        <a:rPr sz="850" b="0">
                          <a:solidFill>
                            <a:srgbClr val="000000"/>
                          </a:solidFill>
                          <a:latin typeface="Calibri"/>
                        </a:rPr>
                        <a:t>white PLA</a:t>
                      </a:r>
                    </a:p>
                  </a:txBody>
                  <a:tcPr/>
                </a:tc>
                <a:tc>
                  <a:txBody>
                    <a:bodyPr lIns="54864" rIns="54864" tIns="18288" bIns="18288" wrap="square" anchor="ctr"/>
                    <a:lstStyle/>
                    <a:p>
                      <a:pPr algn="l"/>
                      <a:r>
                        <a:rPr sz="850" b="0">
                          <a:solidFill>
                            <a:srgbClr val="000000"/>
                          </a:solidFill>
                          <a:latin typeface="Calibri"/>
                        </a:rPr>
                        <a:t>Marker spacing 45 mm VC13 — against S26</a:t>
                      </a:r>
                    </a:p>
                  </a:txBody>
                  <a:tcPr/>
                </a:tc>
                <a:tc>
                  <a:txBody>
                    <a:bodyPr lIns="54864" rIns="54864" tIns="18288" bIns="18288" wrap="square" anchor="ctr"/>
                    <a:lstStyle/>
                    <a:p>
                      <a:pPr algn="l"/>
                      <a:r>
                        <a:rPr sz="850" b="0">
                          <a:solidFill>
                            <a:srgbClr val="000000"/>
                          </a:solidFill>
                          <a:latin typeface="Calibri"/>
                        </a:rPr>
                        <a:t>3867 N</a:t>
                      </a:r>
                    </a:p>
                  </a:txBody>
                  <a:tcPr/>
                </a:tc>
                <a:tc>
                  <a:txBody>
                    <a:bodyPr lIns="54864" rIns="54864" tIns="18288" bIns="18288" wrap="square" anchor="ctr"/>
                    <a:lstStyle/>
                    <a:p>
                      <a:pPr algn="l"/>
                      <a:r>
                        <a:rPr sz="850" b="0">
                          <a:solidFill>
                            <a:srgbClr val="000000"/>
                          </a:solidFill>
                          <a:latin typeface="Calibri"/>
                        </a:rPr>
                        <a:t>48.3 MPa</a:t>
                      </a:r>
                    </a:p>
                  </a:txBody>
                  <a:tcPr/>
                </a:tc>
                <a:tc>
                  <a:txBody>
                    <a:bodyPr lIns="54864" rIns="54864" tIns="18288" bIns="18288" wrap="square" anchor="ctr"/>
                    <a:lstStyle/>
                    <a:p>
                      <a:pPr algn="l"/>
                      <a:r>
                        <a:rPr sz="850" b="0">
                          <a:solidFill>
                            <a:srgbClr val="000000"/>
                          </a:solidFill>
                          <a:latin typeface="Calibri"/>
                        </a:rPr>
                        <a:t>3.45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S35</a:t>
                      </a:r>
                    </a:p>
                  </a:txBody>
                  <a:tcPr/>
                </a:tc>
                <a:tc>
                  <a:txBody>
                    <a:bodyPr lIns="54864" rIns="54864" tIns="18288" bIns="18288" wrap="square" anchor="ctr"/>
                    <a:lstStyle/>
                    <a:p>
                      <a:pPr algn="l"/>
                      <a:r>
                        <a:rPr sz="850" b="0">
                          <a:solidFill>
                            <a:srgbClr val="000000"/>
                          </a:solidFill>
                          <a:latin typeface="Calibri"/>
                        </a:rPr>
                        <a:t>2026-08-24</a:t>
                      </a:r>
                    </a:p>
                  </a:txBody>
                  <a:tcPr/>
                </a:tc>
                <a:tc>
                  <a:txBody>
                    <a:bodyPr lIns="54864" rIns="54864" tIns="18288" bIns="18288" wrap="square" anchor="ctr"/>
                    <a:lstStyle/>
                    <a:p>
                      <a:pPr algn="l"/>
                      <a:r>
                        <a:rPr sz="850" b="0">
                          <a:solidFill>
                            <a:srgbClr val="000000"/>
                          </a:solidFill>
                          <a:latin typeface="Calibri"/>
                        </a:rPr>
                        <a:t>TPU 95A</a:t>
                      </a:r>
                    </a:p>
                  </a:txBody>
                  <a:tcPr/>
                </a:tc>
                <a:tc>
                  <a:txBody>
                    <a:bodyPr lIns="54864" rIns="54864" tIns="18288" bIns="18288" wrap="square" anchor="ctr"/>
                    <a:lstStyle/>
                    <a:p>
                      <a:pPr algn="l"/>
                      <a:r>
                        <a:rPr sz="850" b="0">
                          <a:solidFill>
                            <a:srgbClr val="000000"/>
                          </a:solidFill>
                          <a:latin typeface="Calibri"/>
                        </a:rPr>
                        <a:t>TPU pair VC14 — marker lost at ~15 mm travel</a:t>
                      </a:r>
                    </a:p>
                  </a:txBody>
                  <a:tcPr/>
                </a:tc>
                <a:tc>
                  <a:txBody>
                    <a:bodyPr lIns="54864" rIns="54864" tIns="18288" bIns="18288" wrap="square" anchor="ctr"/>
                    <a:lstStyle/>
                    <a:p>
                      <a:pPr algn="l"/>
                      <a:r>
                        <a:rPr sz="850" b="0">
                          <a:solidFill>
                            <a:srgbClr val="000000"/>
                          </a:solidFill>
                          <a:latin typeface="Calibri"/>
                        </a:rPr>
                        <a:t>180 N</a:t>
                      </a:r>
                    </a:p>
                  </a:txBody>
                  <a:tcPr/>
                </a:tc>
                <a:tc>
                  <a:txBody>
                    <a:bodyPr lIns="54864" rIns="54864" tIns="18288" bIns="18288" wrap="square" anchor="ctr"/>
                    <a:lstStyle/>
                    <a:p>
                      <a:pPr algn="l"/>
                      <a:r>
                        <a:rPr sz="850" b="0">
                          <a:solidFill>
                            <a:srgbClr val="000000"/>
                          </a:solidFill>
                          <a:latin typeface="Calibri"/>
                        </a:rPr>
                        <a:t>2.2 MPa</a:t>
                      </a:r>
                    </a:p>
                  </a:txBody>
                  <a:tcPr/>
                </a:tc>
                <a:tc>
                  <a:txBody>
                    <a:bodyPr lIns="54864" rIns="54864" tIns="18288" bIns="18288" wrap="square" anchor="ctr"/>
                    <a:lstStyle/>
                    <a:p>
                      <a:pPr algn="l"/>
                      <a:r>
                        <a:rPr sz="850" b="0">
                          <a:solidFill>
                            <a:srgbClr val="000000"/>
                          </a:solidFill>
                          <a:latin typeface="Calibri"/>
                        </a:rPr>
                        <a:t>0.03 GPa</a:t>
                      </a:r>
                    </a:p>
                  </a:txBody>
                  <a:tcPr/>
                </a:tc>
                <a:tc>
                  <a:txBody>
                    <a:bodyPr lIns="54864" rIns="54864" tIns="18288" bIns="18288" wrap="square" anchor="ctr"/>
                    <a:lstStyle/>
                    <a:p>
                      <a:pPr algn="l"/>
                      <a:r>
                        <a:rPr sz="850" b="0">
                          <a:solidFill>
                            <a:srgbClr val="000000"/>
                          </a:solidFill>
                          <a:latin typeface="Calibri"/>
                        </a:rPr>
                        <a:t>fractured</a:t>
                      </a:r>
                    </a:p>
                  </a:txBody>
                  <a:tcPr/>
                </a:tc>
              </a:tr>
              <a:tr h="223113">
                <a:tc>
                  <a:txBody>
                    <a:bodyPr lIns="54864" rIns="54864" tIns="18288" bIns="18288" wrap="square" anchor="ctr"/>
                    <a:lstStyle/>
                    <a:p>
                      <a:pPr algn="l"/>
                      <a:r>
                        <a:rPr sz="850" b="0">
                          <a:solidFill>
                            <a:srgbClr val="000000"/>
                          </a:solidFill>
                          <a:latin typeface="Calibri"/>
                        </a:rPr>
                        <a:t>S36</a:t>
                      </a:r>
                    </a:p>
                  </a:txBody>
                  <a:tcPr/>
                </a:tc>
                <a:tc>
                  <a:txBody>
                    <a:bodyPr lIns="54864" rIns="54864" tIns="18288" bIns="18288" wrap="square" anchor="ctr"/>
                    <a:lstStyle/>
                    <a:p>
                      <a:pPr algn="l"/>
                      <a:r>
                        <a:rPr sz="850" b="0">
                          <a:solidFill>
                            <a:srgbClr val="000000"/>
                          </a:solidFill>
                          <a:latin typeface="Calibri"/>
                        </a:rPr>
                        <a:t>2026-08-24</a:t>
                      </a:r>
                    </a:p>
                  </a:txBody>
                  <a:tcPr/>
                </a:tc>
                <a:tc>
                  <a:txBody>
                    <a:bodyPr lIns="54864" rIns="54864" tIns="18288" bIns="18288" wrap="square" anchor="ctr"/>
                    <a:lstStyle/>
                    <a:p>
                      <a:pPr algn="l"/>
                      <a:r>
                        <a:rPr sz="850" b="0">
                          <a:solidFill>
                            <a:srgbClr val="000000"/>
                          </a:solidFill>
                          <a:latin typeface="Calibri"/>
                        </a:rPr>
                        <a:t>TPU 95A</a:t>
                      </a:r>
                    </a:p>
                  </a:txBody>
                  <a:tcPr/>
                </a:tc>
                <a:tc>
                  <a:txBody>
                    <a:bodyPr lIns="54864" rIns="54864" tIns="18288" bIns="18288" wrap="square" anchor="ctr"/>
                    <a:lstStyle/>
                    <a:p>
                      <a:pPr algn="l"/>
                      <a:r>
                        <a:rPr sz="850" b="0">
                          <a:solidFill>
                            <a:srgbClr val="000000"/>
                          </a:solidFill>
                          <a:latin typeface="Calibri"/>
                        </a:rPr>
                        <a:t>TPU pair — marker lost at ~15 mm travel</a:t>
                      </a:r>
                    </a:p>
                  </a:txBody>
                  <a:tcPr/>
                </a:tc>
                <a:tc>
                  <a:txBody>
                    <a:bodyPr lIns="54864" rIns="54864" tIns="18288" bIns="18288" wrap="square" anchor="ctr"/>
                    <a:lstStyle/>
                    <a:p>
                      <a:pPr algn="l"/>
                      <a:r>
                        <a:rPr sz="850" b="0">
                          <a:solidFill>
                            <a:srgbClr val="000000"/>
                          </a:solidFill>
                          <a:latin typeface="Calibri"/>
                        </a:rPr>
                        <a:t>177 N</a:t>
                      </a:r>
                    </a:p>
                  </a:txBody>
                  <a:tcPr/>
                </a:tc>
                <a:tc>
                  <a:txBody>
                    <a:bodyPr lIns="54864" rIns="54864" tIns="18288" bIns="18288" wrap="square" anchor="ctr"/>
                    <a:lstStyle/>
                    <a:p>
                      <a:pPr algn="l"/>
                      <a:r>
                        <a:rPr sz="850" b="0">
                          <a:solidFill>
                            <a:srgbClr val="000000"/>
                          </a:solidFill>
                          <a:latin typeface="Calibri"/>
                        </a:rPr>
                        <a:t>2.2 MPa</a:t>
                      </a:r>
                    </a:p>
                  </a:txBody>
                  <a:tcPr/>
                </a:tc>
                <a:tc>
                  <a:txBody>
                    <a:bodyPr lIns="54864" rIns="54864" tIns="18288" bIns="18288" wrap="square" anchor="ctr"/>
                    <a:lstStyle/>
                    <a:p>
                      <a:pPr algn="l"/>
                      <a:r>
                        <a:rPr sz="850" b="0">
                          <a:solidFill>
                            <a:srgbClr val="000000"/>
                          </a:solidFill>
                          <a:latin typeface="Calibri"/>
                        </a:rPr>
                        <a:t>0.03 GPa</a:t>
                      </a:r>
                    </a:p>
                  </a:txBody>
                  <a:tcPr/>
                </a:tc>
                <a:tc>
                  <a:txBody>
                    <a:bodyPr lIns="54864" rIns="54864" tIns="18288" bIns="18288" wrap="square" anchor="ctr"/>
                    <a:lstStyle/>
                    <a:p>
                      <a:pPr algn="l"/>
                      <a:r>
                        <a:rPr sz="850" b="0">
                          <a:solidFill>
                            <a:srgbClr val="000000"/>
                          </a:solidFill>
                          <a:latin typeface="Calibri"/>
                        </a:rPr>
                        <a:t>fractured</a:t>
                      </a:r>
                    </a:p>
                  </a:txBody>
                  <a:tcPr/>
                </a:tc>
              </a:tr>
              <a:tr h="223122">
                <a:tc>
                  <a:txBody>
                    <a:bodyPr lIns="54864" rIns="54864" tIns="18288" bIns="18288" wrap="square" anchor="ctr"/>
                    <a:lstStyle/>
                    <a:p>
                      <a:pPr algn="l"/>
                      <a:r>
                        <a:rPr sz="850" b="0">
                          <a:solidFill>
                            <a:srgbClr val="000000"/>
                          </a:solidFill>
                          <a:latin typeface="Calibri"/>
                        </a:rPr>
                        <a:t>S37</a:t>
                      </a:r>
                    </a:p>
                  </a:txBody>
                  <a:tcPr/>
                </a:tc>
                <a:tc>
                  <a:txBody>
                    <a:bodyPr lIns="54864" rIns="54864" tIns="18288" bIns="18288" wrap="square" anchor="ctr"/>
                    <a:lstStyle/>
                    <a:p>
                      <a:pPr algn="l"/>
                      <a:r>
                        <a:rPr sz="850" b="0">
                          <a:solidFill>
                            <a:srgbClr val="000000"/>
                          </a:solidFill>
                          <a:latin typeface="Calibri"/>
                        </a:rPr>
                        <a:t>2026-08-26</a:t>
                      </a:r>
                    </a:p>
                  </a:txBody>
                  <a:tcPr/>
                </a:tc>
                <a:tc>
                  <a:txBody>
                    <a:bodyPr lIns="54864" rIns="54864" tIns="18288" bIns="18288" wrap="square" anchor="ctr"/>
                    <a:lstStyle/>
                    <a:p>
                      <a:pPr algn="l"/>
                      <a:r>
                        <a:rPr sz="850" b="0">
                          <a:solidFill>
                            <a:srgbClr val="000000"/>
                          </a:solidFill>
                          <a:latin typeface="Calibri"/>
                        </a:rPr>
                        <a:t>TPU 95A</a:t>
                      </a:r>
                    </a:p>
                  </a:txBody>
                  <a:tcPr/>
                </a:tc>
                <a:tc>
                  <a:txBody>
                    <a:bodyPr lIns="54864" rIns="54864" tIns="18288" bIns="18288" wrap="square" anchor="ctr"/>
                    <a:lstStyle/>
                    <a:p>
                      <a:pPr algn="l"/>
                      <a:r>
                        <a:rPr sz="850" b="0">
                          <a:solidFill>
                            <a:srgbClr val="000000"/>
                          </a:solidFill>
                          <a:latin typeface="Calibri"/>
                        </a:rPr>
                        <a:t>TPU at 45 mm markers VC15 — the fix</a:t>
                      </a:r>
                    </a:p>
                  </a:txBody>
                  <a:tcPr/>
                </a:tc>
                <a:tc>
                  <a:txBody>
                    <a:bodyPr lIns="54864" rIns="54864" tIns="18288" bIns="18288" wrap="square" anchor="ctr"/>
                    <a:lstStyle/>
                    <a:p>
                      <a:pPr algn="l"/>
                      <a:r>
                        <a:rPr sz="850" b="0">
                          <a:solidFill>
                            <a:srgbClr val="000000"/>
                          </a:solidFill>
                          <a:latin typeface="Calibri"/>
                        </a:rPr>
                        <a:t>208 N</a:t>
                      </a:r>
                    </a:p>
                  </a:txBody>
                  <a:tcPr/>
                </a:tc>
                <a:tc>
                  <a:txBody>
                    <a:bodyPr lIns="54864" rIns="54864" tIns="18288" bIns="18288" wrap="square" anchor="ctr"/>
                    <a:lstStyle/>
                    <a:p>
                      <a:pPr algn="l"/>
                      <a:r>
                        <a:rPr sz="850" b="0">
                          <a:solidFill>
                            <a:srgbClr val="000000"/>
                          </a:solidFill>
                          <a:latin typeface="Calibri"/>
                        </a:rPr>
                        <a:t>2.6 MPa</a:t>
                      </a:r>
                    </a:p>
                  </a:txBody>
                  <a:tcPr/>
                </a:tc>
                <a:tc>
                  <a:txBody>
                    <a:bodyPr lIns="54864" rIns="54864" tIns="18288" bIns="18288" wrap="square" anchor="ctr"/>
                    <a:lstStyle/>
                    <a:p>
                      <a:pPr algn="l"/>
                      <a:r>
                        <a:rPr sz="850" b="0">
                          <a:solidFill>
                            <a:srgbClr val="000000"/>
                          </a:solidFill>
                          <a:latin typeface="Calibri"/>
                        </a:rPr>
                        <a:t>0.02 GPa</a:t>
                      </a:r>
                    </a:p>
                  </a:txBody>
                  <a:tcPr/>
                </a:tc>
                <a:tc>
                  <a:txBody>
                    <a:bodyPr lIns="54864" rIns="54864" tIns="18288" bIns="18288" wrap="square" anchor="ctr"/>
                    <a:lstStyle/>
                    <a:p>
                      <a:pPr algn="l"/>
                      <a:r>
                        <a:rPr sz="850" b="0">
                          <a:solidFill>
                            <a:srgbClr val="000000"/>
                          </a:solidFill>
                          <a:latin typeface="Calibri"/>
                        </a:rPr>
                        <a:t>fractured</a:t>
                      </a:r>
                    </a:p>
                  </a:txBody>
                  <a:tcPr/>
                </a:tc>
              </a:tr>
            </a:tbl>
          </a:graphicData>
        </a:graphic>
      </p:graphicFrame>
      <p:sp>
        <p:nvSpPr>
          <p:cNvPr id="7" name="Rounded Rectangle 6"/>
          <p:cNvSpPr/>
          <p:nvPr/>
        </p:nvSpPr>
        <p:spPr>
          <a:xfrm>
            <a:off x="365760" y="5084064"/>
            <a:ext cx="2788920" cy="56692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14</a:t>
            </a:r>
          </a:p>
          <a:p>
            <a:pPr algn="ctr"/>
            <a:r>
              <a:rPr sz="950">
                <a:solidFill>
                  <a:srgbClr val="000000"/>
                </a:solidFill>
                <a:latin typeface="Calibri"/>
              </a:rPr>
              <a:t>RUNS SINCE THE FIX</a:t>
            </a:r>
          </a:p>
        </p:txBody>
      </p:sp>
      <p:sp>
        <p:nvSpPr>
          <p:cNvPr id="8" name="Rounded Rectangle 7"/>
          <p:cNvSpPr/>
          <p:nvPr/>
        </p:nvSpPr>
        <p:spPr>
          <a:xfrm>
            <a:off x="3310128" y="5084064"/>
            <a:ext cx="2788920" cy="56692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0</a:t>
            </a:r>
          </a:p>
          <a:p>
            <a:pPr algn="ctr"/>
            <a:r>
              <a:rPr sz="950">
                <a:solidFill>
                  <a:srgbClr val="000000"/>
                </a:solidFill>
                <a:latin typeface="Calibri"/>
              </a:rPr>
              <a:t>STALLS SINCE THE FIX</a:t>
            </a:r>
          </a:p>
        </p:txBody>
      </p:sp>
      <p:sp>
        <p:nvSpPr>
          <p:cNvPr id="9" name="Rounded Rectangle 8"/>
          <p:cNvSpPr/>
          <p:nvPr/>
        </p:nvSpPr>
        <p:spPr>
          <a:xfrm>
            <a:off x="6254496" y="5084064"/>
            <a:ext cx="2788920" cy="56692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3693–3822 N</a:t>
            </a:r>
          </a:p>
          <a:p>
            <a:pPr algn="ctr"/>
            <a:r>
              <a:rPr sz="950">
                <a:solidFill>
                  <a:srgbClr val="000000"/>
                </a:solidFill>
                <a:latin typeface="Calibri"/>
              </a:rPr>
              <a:t>100 % PLA RUNS, PEAK RANGE</a:t>
            </a:r>
          </a:p>
        </p:txBody>
      </p:sp>
      <p:sp>
        <p:nvSpPr>
          <p:cNvPr id="10" name="Rounded Rectangle 9"/>
          <p:cNvSpPr/>
          <p:nvPr/>
        </p:nvSpPr>
        <p:spPr>
          <a:xfrm>
            <a:off x="9198864" y="5084064"/>
            <a:ext cx="2642616" cy="566928"/>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600" b="1">
                <a:solidFill>
                  <a:srgbClr val="1F3F2F"/>
                </a:solidFill>
                <a:latin typeface="Calibri"/>
              </a:rPr>
              <a:t>2</a:t>
            </a:r>
          </a:p>
          <a:p>
            <a:pPr algn="ctr"/>
            <a:r>
              <a:rPr sz="950">
                <a:solidFill>
                  <a:srgbClr val="000000"/>
                </a:solidFill>
                <a:latin typeface="Calibri"/>
              </a:rPr>
              <a:t>STALLS BEFORE IT</a:t>
            </a:r>
          </a:p>
        </p:txBody>
      </p:sp>
      <p:sp>
        <p:nvSpPr>
          <p:cNvPr id="11" name="TextBox 10"/>
          <p:cNvSpPr txBox="1"/>
          <p:nvPr/>
        </p:nvSpPr>
        <p:spPr>
          <a:xfrm>
            <a:off x="365760" y="5760720"/>
            <a:ext cx="11475720" cy="566928"/>
          </a:xfrm>
          <a:prstGeom prst="rect">
            <a:avLst/>
          </a:prstGeom>
          <a:noFill/>
        </p:spPr>
        <p:txBody>
          <a:bodyPr wrap="square" lIns="45720" rIns="45720" tIns="18288" bIns="18288" anchor="t">
            <a:spAutoFit/>
          </a:bodyPr>
          <a:lstStyle/>
          <a:p>
            <a:pPr algn="l"/>
            <a:r>
              <a:rPr sz="1100" b="0" i="0">
                <a:solidFill>
                  <a:srgbClr val="000000"/>
                </a:solidFill>
                <a:latin typeface="Calibri"/>
              </a:rPr>
              <a:t>All 14 ran to fracture with no stutter, and the 5 at 100 % infill PLA peaked 3693–3822 N — every one ABOVE the 2.6 kN carried as a hardware ceiling. Earlier results are not wrong (S15 and T7 were caught by the stall guard and excluded, never silently averaged in), but only this set is free of a load path that could bind.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S12 is listed because the PULL was sound (47.8 MPa) — what failed was the frame capture. Peaks are UTS × the CAD 80 mm² nominal area.</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MEASURING CAUCHY (TRUE) STRESS</a:t>
            </a:r>
          </a:p>
        </p:txBody>
      </p:sp>
      <p:sp>
        <p:nvSpPr>
          <p:cNvPr id="5" name="TextBox 4"/>
          <p:cNvSpPr txBox="1"/>
          <p:nvPr/>
        </p:nvSpPr>
        <p:spPr>
          <a:xfrm>
            <a:off x="365760" y="2651760"/>
            <a:ext cx="11475720" cy="1554480"/>
          </a:xfrm>
          <a:prstGeom prst="rect">
            <a:avLst/>
          </a:prstGeom>
          <a:noFill/>
        </p:spPr>
        <p:txBody>
          <a:bodyPr wrap="square" lIns="45720" rIns="45720" tIns="18288" bIns="18288" anchor="t">
            <a:spAutoFit/>
          </a:bodyPr>
          <a:lstStyle/>
          <a:p>
            <a:pPr algn="l"/>
            <a:r>
              <a:rPr sz="1600" b="1" i="0">
                <a:solidFill>
                  <a:srgbClr val="1F3F2F"/>
                </a:solidFill>
                <a:latin typeface="Calibri"/>
              </a:rPr>
              <a:t>Getting the DEFORMING cross-section for TRUE / Cauchy stress + Poisson ratio - a separate future work-stream: edge-width tracking on a matte-black backdrop.</a:t>
            </a:r>
          </a:p>
        </p:txBody>
      </p:sp>
      <p:sp>
        <p:nvSpPr>
          <p:cNvPr id="6" name="TextBox 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ENGINEERING vs TRUE (CAUCHY) STRESS — &amp; MEASURING THE AREA</a:t>
            </a:r>
          </a:p>
        </p:txBody>
      </p:sp>
      <p:sp>
        <p:nvSpPr>
          <p:cNvPr id="5" name="TextBox 4"/>
          <p:cNvSpPr txBox="1"/>
          <p:nvPr/>
        </p:nvSpPr>
        <p:spPr>
          <a:xfrm>
            <a:off x="365760" y="117043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we REPORT engineering stress</a:t>
            </a:r>
          </a:p>
        </p:txBody>
      </p:sp>
      <p:pic>
        <p:nvPicPr>
          <p:cNvPr id="6" name="Picture 5" descr="feat_eng_vs_true.png"/>
          <p:cNvPicPr>
            <a:picLocks noChangeAspect="1"/>
          </p:cNvPicPr>
          <p:nvPr/>
        </p:nvPicPr>
        <p:blipFill>
          <a:blip r:embed="rId2"/>
          <a:stretch>
            <a:fillRect/>
          </a:stretch>
        </p:blipFill>
        <p:spPr>
          <a:xfrm>
            <a:off x="365760" y="1517904"/>
            <a:ext cx="5623560" cy="2309892"/>
          </a:xfrm>
          <a:prstGeom prst="rect">
            <a:avLst/>
          </a:prstGeom>
        </p:spPr>
      </p:pic>
      <p:sp>
        <p:nvSpPr>
          <p:cNvPr id="7" name="TextBox 6"/>
          <p:cNvSpPr txBox="1"/>
          <p:nvPr/>
        </p:nvSpPr>
        <p:spPr>
          <a:xfrm>
            <a:off x="365760" y="3950208"/>
            <a:ext cx="5623560" cy="1051560"/>
          </a:xfrm>
          <a:prstGeom prst="rect">
            <a:avLst/>
          </a:prstGeom>
          <a:noFill/>
        </p:spPr>
        <p:txBody>
          <a:bodyPr wrap="square" lIns="45720" rIns="45720" tIns="18288" bIns="18288" anchor="t">
            <a:spAutoFit/>
          </a:bodyPr>
          <a:lstStyle/>
          <a:p>
            <a:pPr algn="l"/>
            <a:r>
              <a:rPr sz="1100" b="0" i="0">
                <a:solidFill>
                  <a:srgbClr val="000000"/>
                </a:solidFill>
                <a:latin typeface="Calibri"/>
              </a:rPr>
              <a:t>σ_eng = F / A₀  (REPORTED)      σ_true = F / A  (not tracked, ~2–5% higher)
Basis: ISO 527 · Chacón · datasheet all use ENGINEERING → apples-to-apples for our k-factors.  E &amp; σ_y ~unchanged.</a:t>
            </a:r>
          </a:p>
        </p:txBody>
      </p:sp>
      <p:sp>
        <p:nvSpPr>
          <p:cNvPr id="8" name="TextBox 7"/>
          <p:cNvSpPr txBox="1"/>
          <p:nvPr/>
        </p:nvSpPr>
        <p:spPr>
          <a:xfrm>
            <a:off x="6172200" y="1170432"/>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Measuring the CURRENT area → true stress (future)</a:t>
            </a:r>
          </a:p>
        </p:txBody>
      </p:sp>
      <p:graphicFrame>
        <p:nvGraphicFramePr>
          <p:cNvPr id="9" name="Table 8"/>
          <p:cNvGraphicFramePr>
            <a:graphicFrameLocks noGrp="1"/>
          </p:cNvGraphicFramePr>
          <p:nvPr/>
        </p:nvGraphicFramePr>
        <p:xfrm>
          <a:off x="6172200" y="1554480"/>
          <a:ext cx="5714998" cy="2286000"/>
        </p:xfrm>
        <a:graphic>
          <a:graphicData uri="http://schemas.openxmlformats.org/drawingml/2006/table">
            <a:tbl>
              <a:tblPr firstRow="1" bandRow="1">
                <a:tableStyleId>{5C22544A-7EE6-4342-B048-85BDC9FD1C3A}</a:tableStyleId>
              </a:tblPr>
              <a:tblGrid>
                <a:gridCol w="1365530"/>
                <a:gridCol w="2731061"/>
                <a:gridCol w="1618407"/>
              </a:tblGrid>
              <a:tr h="457200">
                <a:tc>
                  <a:txBody>
                    <a:bodyPr lIns="54864" rIns="54864" tIns="18288" bIns="18288" wrap="square" anchor="ctr"/>
                    <a:lstStyle/>
                    <a:p>
                      <a:pPr algn="l"/>
                      <a:r>
                        <a:rPr sz="1000" b="1">
                          <a:solidFill>
                            <a:srgbClr val="FFFFFF"/>
                          </a:solidFill>
                          <a:latin typeface="Calibri"/>
                        </a:rPr>
                        <a:t>Method</a:t>
                      </a:r>
                    </a:p>
                  </a:txBody>
                  <a:tcPr>
                    <a:solidFill>
                      <a:srgbClr val="143D2F"/>
                    </a:solidFill>
                  </a:tcPr>
                </a:tc>
                <a:tc>
                  <a:txBody>
                    <a:bodyPr lIns="54864" rIns="54864" tIns="18288" bIns="18288" wrap="square" anchor="ctr"/>
                    <a:lstStyle/>
                    <a:p>
                      <a:pPr algn="l"/>
                      <a:r>
                        <a:rPr sz="1000" b="1">
                          <a:solidFill>
                            <a:srgbClr val="FFFFFF"/>
                          </a:solidFill>
                          <a:latin typeface="Calibri"/>
                        </a:rPr>
                        <a:t>How</a:t>
                      </a:r>
                    </a:p>
                  </a:txBody>
                  <a:tcPr>
                    <a:solidFill>
                      <a:srgbClr val="143D2F"/>
                    </a:solidFill>
                  </a:tcPr>
                </a:tc>
                <a:tc>
                  <a:txBody>
                    <a:bodyPr lIns="54864" rIns="54864" tIns="18288" bIns="18288" wrap="square" anchor="ctr"/>
                    <a:lstStyle/>
                    <a:p>
                      <a:pPr algn="l"/>
                      <a:r>
                        <a:rPr sz="1000" b="1">
                          <a:solidFill>
                            <a:srgbClr val="FFFFFF"/>
                          </a:solidFill>
                          <a:latin typeface="Calibri"/>
                        </a:rPr>
                        <a:t>Note</a:t>
                      </a:r>
                    </a:p>
                  </a:txBody>
                  <a:tcPr>
                    <a:solidFill>
                      <a:srgbClr val="143D2F"/>
                    </a:solidFill>
                  </a:tcPr>
                </a:tc>
              </a:tr>
              <a:tr h="457200">
                <a:tc>
                  <a:txBody>
                    <a:bodyPr lIns="54864" rIns="54864" tIns="18288" bIns="18288" wrap="square" anchor="ctr"/>
                    <a:lstStyle/>
                    <a:p>
                      <a:pPr algn="l"/>
                      <a:r>
                        <a:rPr sz="950" b="0">
                          <a:solidFill>
                            <a:srgbClr val="000000"/>
                          </a:solidFill>
                          <a:latin typeface="Calibri"/>
                        </a:rPr>
                        <a:t>Poisson estimate</a:t>
                      </a:r>
                    </a:p>
                  </a:txBody>
                  <a:tcPr/>
                </a:tc>
                <a:tc>
                  <a:txBody>
                    <a:bodyPr lIns="54864" rIns="54864" tIns="18288" bIns="18288" wrap="square" anchor="ctr"/>
                    <a:lstStyle/>
                    <a:p>
                      <a:pPr algn="l"/>
                      <a:r>
                        <a:rPr sz="950" b="0">
                          <a:solidFill>
                            <a:srgbClr val="000000"/>
                          </a:solidFill>
                          <a:latin typeface="Calibri"/>
                        </a:rPr>
                        <a:t>A = A₀(1−ν·ε)²,  ν ≈ 0.35  (no hardware)</a:t>
                      </a:r>
                    </a:p>
                  </a:txBody>
                  <a:tcPr/>
                </a:tc>
                <a:tc>
                  <a:txBody>
                    <a:bodyPr lIns="54864" rIns="54864" tIns="18288" bIns="18288" wrap="square" anchor="ctr"/>
                    <a:lstStyle/>
                    <a:p>
                      <a:pPr algn="l"/>
                      <a:r>
                        <a:rPr sz="950" b="0">
                          <a:solidFill>
                            <a:srgbClr val="000000"/>
                          </a:solidFill>
                          <a:latin typeface="Calibri"/>
                        </a:rPr>
                        <a:t>cheap; ν drifts in yield</a:t>
                      </a:r>
                    </a:p>
                  </a:txBody>
                  <a:tcPr/>
                </a:tc>
              </a:tr>
              <a:tr h="457200">
                <a:tc>
                  <a:txBody>
                    <a:bodyPr lIns="54864" rIns="54864" tIns="18288" bIns="18288" wrap="square" anchor="ctr"/>
                    <a:lstStyle/>
                    <a:p>
                      <a:pPr algn="l"/>
                      <a:r>
                        <a:rPr sz="950" b="1">
                          <a:solidFill>
                            <a:srgbClr val="000000"/>
                          </a:solidFill>
                          <a:latin typeface="Calibri"/>
                        </a:rPr>
                        <a:t>Transverse markers</a:t>
                      </a:r>
                    </a:p>
                  </a:txBody>
                  <a:tcPr>
                    <a:solidFill>
                      <a:srgbClr val="C8E6C9"/>
                    </a:solidFill>
                  </a:tcPr>
                </a:tc>
                <a:tc>
                  <a:txBody>
                    <a:bodyPr lIns="54864" rIns="54864" tIns="18288" bIns="18288" wrap="square" anchor="ctr"/>
                    <a:lstStyle/>
                    <a:p>
                      <a:pPr algn="l"/>
                      <a:r>
                        <a:rPr sz="950" b="0">
                          <a:solidFill>
                            <a:srgbClr val="000000"/>
                          </a:solidFill>
                          <a:latin typeface="Calibri"/>
                        </a:rPr>
                        <a:t>+2 dots across width → ε_w;  A ≈ A₀(1+ε_w)²</a:t>
                      </a:r>
                    </a:p>
                  </a:txBody>
                  <a:tcPr>
                    <a:solidFill>
                      <a:srgbClr val="C8E6C9"/>
                    </a:solidFill>
                  </a:tcPr>
                </a:tc>
                <a:tc>
                  <a:txBody>
                    <a:bodyPr lIns="54864" rIns="54864" tIns="18288" bIns="18288" wrap="square" anchor="ctr"/>
                    <a:lstStyle/>
                    <a:p>
                      <a:pPr algn="l"/>
                      <a:r>
                        <a:rPr sz="950" b="0">
                          <a:solidFill>
                            <a:srgbClr val="000000"/>
                          </a:solidFill>
                          <a:latin typeface="Calibri"/>
                        </a:rPr>
                        <a:t>reuses blob-DIC; gives Poisson</a:t>
                      </a:r>
                    </a:p>
                  </a:txBody>
                  <a:tcPr>
                    <a:solidFill>
                      <a:srgbClr val="C8E6C9"/>
                    </a:solidFill>
                  </a:tcPr>
                </a:tc>
              </a:tr>
              <a:tr h="457200">
                <a:tc>
                  <a:txBody>
                    <a:bodyPr lIns="54864" rIns="54864" tIns="18288" bIns="18288" wrap="square" anchor="ctr"/>
                    <a:lstStyle/>
                    <a:p>
                      <a:pPr algn="l"/>
                      <a:r>
                        <a:rPr sz="950" b="0">
                          <a:solidFill>
                            <a:srgbClr val="000000"/>
                          </a:solidFill>
                          <a:latin typeface="Calibri"/>
                        </a:rPr>
                        <a:t>+ edge camera</a:t>
                      </a:r>
                    </a:p>
                  </a:txBody>
                  <a:tcPr/>
                </a:tc>
                <a:tc>
                  <a:txBody>
                    <a:bodyPr lIns="54864" rIns="54864" tIns="18288" bIns="18288" wrap="square" anchor="ctr"/>
                    <a:lstStyle/>
                    <a:p>
                      <a:pPr algn="l"/>
                      <a:r>
                        <a:rPr sz="950" b="0">
                          <a:solidFill>
                            <a:srgbClr val="000000"/>
                          </a:solidFill>
                          <a:latin typeface="Calibri"/>
                        </a:rPr>
                        <a:t>2nd view → thickness strain;  A = w·t</a:t>
                      </a:r>
                    </a:p>
                  </a:txBody>
                  <a:tcPr/>
                </a:tc>
                <a:tc>
                  <a:txBody>
                    <a:bodyPr lIns="54864" rIns="54864" tIns="18288" bIns="18288" wrap="square" anchor="ctr"/>
                    <a:lstStyle/>
                    <a:p>
                      <a:pPr algn="l"/>
                      <a:r>
                        <a:rPr sz="950" b="0">
                          <a:solidFill>
                            <a:srgbClr val="000000"/>
                          </a:solidFill>
                          <a:latin typeface="Calibri"/>
                        </a:rPr>
                        <a:t>rigorous; FDM is orthotropic</a:t>
                      </a:r>
                    </a:p>
                  </a:txBody>
                  <a:tcPr/>
                </a:tc>
              </a:tr>
              <a:tr h="457200">
                <a:tc>
                  <a:txBody>
                    <a:bodyPr lIns="54864" rIns="54864" tIns="18288" bIns="18288" wrap="square" anchor="ctr"/>
                    <a:lstStyle/>
                    <a:p>
                      <a:pPr algn="l"/>
                      <a:r>
                        <a:rPr sz="950" b="0">
                          <a:solidFill>
                            <a:srgbClr val="000000"/>
                          </a:solidFill>
                          <a:latin typeface="Calibri"/>
                        </a:rPr>
                        <a:t>Full-field speckle</a:t>
                      </a:r>
                    </a:p>
                  </a:txBody>
                  <a:tcPr/>
                </a:tc>
                <a:tc>
                  <a:txBody>
                    <a:bodyPr lIns="54864" rIns="54864" tIns="18288" bIns="18288" wrap="square" anchor="ctr"/>
                    <a:lstStyle/>
                    <a:p>
                      <a:pPr algn="l"/>
                      <a:r>
                        <a:rPr sz="950" b="0">
                          <a:solidFill>
                            <a:srgbClr val="000000"/>
                          </a:solidFill>
                          <a:latin typeface="Calibri"/>
                        </a:rPr>
                        <a:t>fine random speckle + subset DIC</a:t>
                      </a:r>
                    </a:p>
                  </a:txBody>
                  <a:tcPr/>
                </a:tc>
                <a:tc>
                  <a:txBody>
                    <a:bodyPr lIns="54864" rIns="54864" tIns="18288" bIns="18288" wrap="square" anchor="ctr"/>
                    <a:lstStyle/>
                    <a:p>
                      <a:pPr algn="l"/>
                      <a:r>
                        <a:rPr sz="950" b="0">
                          <a:solidFill>
                            <a:srgbClr val="000000"/>
                          </a:solidFill>
                          <a:latin typeface="Calibri"/>
                        </a:rPr>
                        <a:t>strain field + necking; new pipeline</a:t>
                      </a:r>
                    </a:p>
                  </a:txBody>
                  <a:tcPr/>
                </a:tc>
              </a:tr>
            </a:tbl>
          </a:graphicData>
        </a:graphic>
      </p:graphicFrame>
      <p:sp>
        <p:nvSpPr>
          <p:cNvPr id="10" name="TextBox 9"/>
          <p:cNvSpPr txBox="1"/>
          <p:nvPr/>
        </p:nvSpPr>
        <p:spPr>
          <a:xfrm>
            <a:off x="6172200" y="3950208"/>
            <a:ext cx="5715000" cy="960120"/>
          </a:xfrm>
          <a:prstGeom prst="rect">
            <a:avLst/>
          </a:prstGeom>
          <a:noFill/>
        </p:spPr>
        <p:txBody>
          <a:bodyPr wrap="square" lIns="45720" rIns="45720" tIns="18288" bIns="18288" anchor="t">
            <a:spAutoFit/>
          </a:bodyPr>
          <a:lstStyle/>
          <a:p>
            <a:pPr algn="l"/>
            <a:r>
              <a:rPr sz="1050" b="0" i="1">
                <a:solidFill>
                  <a:srgbClr val="707070"/>
                </a:solidFill>
                <a:latin typeface="Calibri"/>
              </a:rPr>
              <a:t>Same speckle style (spray dots): just add a transverse dot pair — the current 2-marker tracker extends naturally (2 axial + 2 transverse). A finer random speckle enables full-field DIC (transverse field + necking) but needs a new analysis pipeline.</a:t>
            </a:r>
          </a:p>
        </p:txBody>
      </p:sp>
      <p:sp>
        <p:nvSpPr>
          <p:cNvPr id="11" name="Rectangle 10"/>
          <p:cNvSpPr/>
          <p:nvPr/>
        </p:nvSpPr>
        <p:spPr>
          <a:xfrm>
            <a:off x="365760" y="5166360"/>
            <a:ext cx="1152144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TRANSVERSE markers = ideal, but the gauge is too NARROW → EDGE-WIDTH detection (next slide) is the practical route. Keep ENGINEERING stress as the validated basis.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Current V6 report &amp; plots = engineering stress (nominal 80 mm²). True/Cauchy needs the deforming area; post-necking needs full-field DIC or markers at the neck.</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MEASURING POISSON'S RATIO &amp; TRUE STRESS — WITHOUT TRANSVERSE DOTS</a:t>
            </a:r>
          </a:p>
        </p:txBody>
      </p:sp>
      <p:sp>
        <p:nvSpPr>
          <p:cNvPr id="5" name="TextBox 4"/>
          <p:cNvSpPr txBox="1"/>
          <p:nvPr/>
        </p:nvSpPr>
        <p:spPr>
          <a:xfrm>
            <a:off x="365760" y="1170432"/>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fix — track the specimen's OWN edges</a:t>
            </a:r>
          </a:p>
        </p:txBody>
      </p:sp>
      <p:pic>
        <p:nvPicPr>
          <p:cNvPr id="6" name="Picture 5" descr="feat_edgewidth.png"/>
          <p:cNvPicPr>
            <a:picLocks noChangeAspect="1"/>
          </p:cNvPicPr>
          <p:nvPr/>
        </p:nvPicPr>
        <p:blipFill>
          <a:blip r:embed="rId2"/>
          <a:stretch>
            <a:fillRect/>
          </a:stretch>
        </p:blipFill>
        <p:spPr>
          <a:xfrm>
            <a:off x="365760" y="1517904"/>
            <a:ext cx="5532120" cy="2272333"/>
          </a:xfrm>
          <a:prstGeom prst="rect">
            <a:avLst/>
          </a:prstGeom>
        </p:spPr>
      </p:pic>
      <p:sp>
        <p:nvSpPr>
          <p:cNvPr id="7" name="TextBox 6"/>
          <p:cNvSpPr txBox="1"/>
          <p:nvPr/>
        </p:nvSpPr>
        <p:spPr>
          <a:xfrm>
            <a:off x="365760" y="3913632"/>
            <a:ext cx="5532120" cy="1097280"/>
          </a:xfrm>
          <a:prstGeom prst="rect">
            <a:avLst/>
          </a:prstGeom>
          <a:noFill/>
        </p:spPr>
        <p:txBody>
          <a:bodyPr wrap="square" lIns="45720" rIns="45720" tIns="18288" bIns="18288" anchor="t">
            <a:spAutoFit/>
          </a:bodyPr>
          <a:lstStyle/>
          <a:p>
            <a:pPr algn="l"/>
            <a:r>
              <a:rPr sz="1100" b="0" i="0">
                <a:solidFill>
                  <a:srgbClr val="000000"/>
                </a:solidFill>
                <a:latin typeface="Calibri"/>
              </a:rPr>
              <a:t>Gauge too NARROW for transverse dots (sub-pixel at 20 px/mm) → track the L &amp; R edges instead.
ε_w = (W₀−W)/W₀     ν = −ε_w/ε_axial     A = W·t     → MEASURED (no assumed ν), written to the CSV.</a:t>
            </a:r>
          </a:p>
        </p:txBody>
      </p:sp>
      <p:sp>
        <p:nvSpPr>
          <p:cNvPr id="8" name="TextBox 7"/>
          <p:cNvSpPr txBox="1"/>
          <p:nvPr/>
        </p:nvSpPr>
        <p:spPr>
          <a:xfrm>
            <a:off x="6035040" y="1170432"/>
            <a:ext cx="58521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ways to MEASURE it (no transverse dots)</a:t>
            </a:r>
          </a:p>
        </p:txBody>
      </p:sp>
      <p:graphicFrame>
        <p:nvGraphicFramePr>
          <p:cNvPr id="9" name="Table 8"/>
          <p:cNvGraphicFramePr>
            <a:graphicFrameLocks noGrp="1"/>
          </p:cNvGraphicFramePr>
          <p:nvPr/>
        </p:nvGraphicFramePr>
        <p:xfrm>
          <a:off x="6035040" y="1554480"/>
          <a:ext cx="5852160" cy="2468880"/>
        </p:xfrm>
        <a:graphic>
          <a:graphicData uri="http://schemas.openxmlformats.org/drawingml/2006/table">
            <a:tbl>
              <a:tblPr firstRow="1" bandRow="1">
                <a:tableStyleId>{5C22544A-7EE6-4342-B048-85BDC9FD1C3A}</a:tableStyleId>
              </a:tblPr>
              <a:tblGrid>
                <a:gridCol w="1554480"/>
                <a:gridCol w="2743200"/>
                <a:gridCol w="1554480"/>
              </a:tblGrid>
              <a:tr h="617220">
                <a:tc>
                  <a:txBody>
                    <a:bodyPr lIns="54864" rIns="54864" tIns="18288" bIns="18288" wrap="square" anchor="ctr"/>
                    <a:lstStyle/>
                    <a:p>
                      <a:pPr algn="l"/>
                      <a:r>
                        <a:rPr sz="1000" b="1">
                          <a:solidFill>
                            <a:srgbClr val="FFFFFF"/>
                          </a:solidFill>
                          <a:latin typeface="Calibri"/>
                        </a:rPr>
                        <a:t>Route</a:t>
                      </a:r>
                    </a:p>
                  </a:txBody>
                  <a:tcPr>
                    <a:solidFill>
                      <a:srgbClr val="143D2F"/>
                    </a:solidFill>
                  </a:tcPr>
                </a:tc>
                <a:tc>
                  <a:txBody>
                    <a:bodyPr lIns="54864" rIns="54864" tIns="18288" bIns="18288" wrap="square" anchor="ctr"/>
                    <a:lstStyle/>
                    <a:p>
                      <a:pPr algn="l"/>
                      <a:r>
                        <a:rPr sz="1000" b="1">
                          <a:solidFill>
                            <a:srgbClr val="FFFFFF"/>
                          </a:solidFill>
                          <a:latin typeface="Calibri"/>
                        </a:rPr>
                        <a:t>How it works</a:t>
                      </a:r>
                    </a:p>
                  </a:txBody>
                  <a:tcPr>
                    <a:solidFill>
                      <a:srgbClr val="143D2F"/>
                    </a:solidFill>
                  </a:tcPr>
                </a:tc>
                <a:tc>
                  <a:txBody>
                    <a:bodyPr lIns="54864" rIns="54864" tIns="18288" bIns="18288" wrap="square" anchor="ctr"/>
                    <a:lstStyle/>
                    <a:p>
                      <a:pPr algn="l"/>
                      <a:r>
                        <a:rPr sz="1000" b="1">
                          <a:solidFill>
                            <a:srgbClr val="FFFFFF"/>
                          </a:solidFill>
                          <a:latin typeface="Calibri"/>
                        </a:rPr>
                        <a:t>Needs</a:t>
                      </a:r>
                    </a:p>
                  </a:txBody>
                  <a:tcPr>
                    <a:solidFill>
                      <a:srgbClr val="143D2F"/>
                    </a:solidFill>
                  </a:tcPr>
                </a:tc>
              </a:tr>
              <a:tr h="617220">
                <a:tc>
                  <a:txBody>
                    <a:bodyPr lIns="54864" rIns="54864" tIns="18288" bIns="18288" wrap="square" anchor="ctr"/>
                    <a:lstStyle/>
                    <a:p>
                      <a:pPr algn="l"/>
                      <a:r>
                        <a:rPr sz="900" b="1">
                          <a:solidFill>
                            <a:srgbClr val="000000"/>
                          </a:solidFill>
                          <a:latin typeface="Calibri"/>
                        </a:rPr>
                        <a:t>1  Edge / silhouette
    width tracking</a:t>
                      </a:r>
                    </a:p>
                  </a:txBody>
                  <a:tcPr>
                    <a:solidFill>
                      <a:srgbClr val="C8E6C9"/>
                    </a:solidFill>
                  </a:tcPr>
                </a:tc>
                <a:tc>
                  <a:txBody>
                    <a:bodyPr lIns="54864" rIns="54864" tIns="18288" bIns="18288" wrap="square" anchor="ctr"/>
                    <a:lstStyle/>
                    <a:p>
                      <a:pPr algn="l"/>
                      <a:r>
                        <a:rPr sz="900" b="0">
                          <a:solidFill>
                            <a:srgbClr val="000000"/>
                          </a:solidFill>
                          <a:latin typeface="Calibri"/>
                        </a:rPr>
                        <a:t>find the specimen's L &amp; R edges across the gauge; MEAN width while it is uniform (for ν), MINIMUM band once necking starts (for area) -&gt; ε_w each frame</a:t>
                      </a:r>
                    </a:p>
                  </a:txBody>
                  <a:tcPr>
                    <a:solidFill>
                      <a:srgbClr val="C8E6C9"/>
                    </a:solidFill>
                  </a:tcPr>
                </a:tc>
                <a:tc>
                  <a:txBody>
                    <a:bodyPr lIns="54864" rIns="54864" tIns="18288" bIns="18288" wrap="square" anchor="ctr"/>
                    <a:lstStyle/>
                    <a:p>
                      <a:pPr algn="l"/>
                      <a:r>
                        <a:rPr sz="900" b="0">
                          <a:solidFill>
                            <a:srgbClr val="000000"/>
                          </a:solidFill>
                          <a:latin typeface="Calibri"/>
                        </a:rPr>
                        <a:t>matte-black backdrop;
reuses THIS camera</a:t>
                      </a:r>
                    </a:p>
                  </a:txBody>
                  <a:tcPr>
                    <a:solidFill>
                      <a:srgbClr val="C8E6C9"/>
                    </a:solidFill>
                  </a:tcPr>
                </a:tc>
              </a:tr>
              <a:tr h="617220">
                <a:tc>
                  <a:txBody>
                    <a:bodyPr lIns="54864" rIns="54864" tIns="18288" bIns="18288" wrap="square" anchor="ctr"/>
                    <a:lstStyle/>
                    <a:p>
                      <a:pPr algn="l"/>
                      <a:r>
                        <a:rPr sz="900" b="0">
                          <a:solidFill>
                            <a:srgbClr val="000000"/>
                          </a:solidFill>
                          <a:latin typeface="Calibri"/>
                        </a:rPr>
                        <a:t>2  Full-field
    speckle DIC</a:t>
                      </a:r>
                    </a:p>
                  </a:txBody>
                  <a:tcPr/>
                </a:tc>
                <a:tc>
                  <a:txBody>
                    <a:bodyPr lIns="54864" rIns="54864" tIns="18288" bIns="18288" wrap="square" anchor="ctr"/>
                    <a:lstStyle/>
                    <a:p>
                      <a:pPr algn="l"/>
                      <a:r>
                        <a:rPr sz="900" b="0">
                          <a:solidFill>
                            <a:srgbClr val="000000"/>
                          </a:solidFill>
                          <a:latin typeface="Calibri"/>
                        </a:rPr>
                        <a:t>fine random speckle + subset correlation (Ncorr / muDIC, offline) -&gt; full axial + transverse strain field</a:t>
                      </a:r>
                    </a:p>
                  </a:txBody>
                  <a:tcPr/>
                </a:tc>
                <a:tc>
                  <a:txBody>
                    <a:bodyPr lIns="54864" rIns="54864" tIns="18288" bIns="18288" wrap="square" anchor="ctr"/>
                    <a:lstStyle/>
                    <a:p>
                      <a:pPr algn="l"/>
                      <a:r>
                        <a:rPr sz="900" b="0">
                          <a:solidFill>
                            <a:srgbClr val="000000"/>
                          </a:solidFill>
                          <a:latin typeface="Calibri"/>
                        </a:rPr>
                        <a:t>speckle + new
analysis pipeline</a:t>
                      </a:r>
                    </a:p>
                  </a:txBody>
                  <a:tcPr/>
                </a:tc>
              </a:tr>
              <a:tr h="617220">
                <a:tc>
                  <a:txBody>
                    <a:bodyPr lIns="54864" rIns="54864" tIns="18288" bIns="18288" wrap="square" anchor="ctr"/>
                    <a:lstStyle/>
                    <a:p>
                      <a:pPr algn="l"/>
                      <a:r>
                        <a:rPr sz="900" b="0">
                          <a:solidFill>
                            <a:srgbClr val="000000"/>
                          </a:solidFill>
                          <a:latin typeface="Calibri"/>
                        </a:rPr>
                        <a:t>3  Hardware probe</a:t>
                      </a:r>
                    </a:p>
                  </a:txBody>
                  <a:tcPr/>
                </a:tc>
                <a:tc>
                  <a:txBody>
                    <a:bodyPr lIns="54864" rIns="54864" tIns="18288" bIns="18288" wrap="square" anchor="ctr"/>
                    <a:lstStyle/>
                    <a:p>
                      <a:pPr algn="l"/>
                      <a:r>
                        <a:rPr sz="900" b="0">
                          <a:solidFill>
                            <a:srgbClr val="000000"/>
                          </a:solidFill>
                          <a:latin typeface="Calibri"/>
                        </a:rPr>
                        <a:t>2nd side camera (thickness), laser micrometer, or clip-on transverse extensometer</a:t>
                      </a:r>
                    </a:p>
                  </a:txBody>
                  <a:tcPr/>
                </a:tc>
                <a:tc>
                  <a:txBody>
                    <a:bodyPr lIns="54864" rIns="54864" tIns="18288" bIns="18288" wrap="square" anchor="ctr"/>
                    <a:lstStyle/>
                    <a:p>
                      <a:pPr algn="l"/>
                      <a:r>
                        <a:rPr sz="900" b="0">
                          <a:solidFill>
                            <a:srgbClr val="000000"/>
                          </a:solidFill>
                          <a:latin typeface="Calibri"/>
                        </a:rPr>
                        <a:t>extra hardware;
lab-grade</a:t>
                      </a:r>
                    </a:p>
                  </a:txBody>
                  <a:tcPr/>
                </a:tc>
              </a:tr>
            </a:tbl>
          </a:graphicData>
        </a:graphic>
      </p:graphicFrame>
      <p:sp>
        <p:nvSpPr>
          <p:cNvPr id="10" name="TextBox 9"/>
          <p:cNvSpPr txBox="1"/>
          <p:nvPr/>
        </p:nvSpPr>
        <p:spPr>
          <a:xfrm>
            <a:off x="6035040" y="4041648"/>
            <a:ext cx="5852160" cy="1097280"/>
          </a:xfrm>
          <a:prstGeom prst="rect">
            <a:avLst/>
          </a:prstGeom>
          <a:noFill/>
        </p:spPr>
        <p:txBody>
          <a:bodyPr wrap="square" lIns="45720" rIns="45720" tIns="18288" bIns="18288" anchor="t">
            <a:spAutoFit/>
          </a:bodyPr>
          <a:lstStyle/>
          <a:p>
            <a:pPr algn="l"/>
            <a:r>
              <a:rPr sz="1000" b="0" i="1">
                <a:solidFill>
                  <a:srgbClr val="707070"/>
                </a:solidFill>
                <a:latin typeface="Calibri"/>
              </a:rPr>
              <a:t>Why #1 works at 20 px/mm: one edge is sub-pixel, but averaging the width along the whole gauge (100s of rows) cuts the noise ~10x to ~0.01 px — the ~0.5 px elastic width change is then well resolved. It only needs CRISP edges = a dark background behind the specimen.
WHICH statistic depends on the regime, and this is not interchangeable. Before necking the width is uniform, so the MEAN over the whole gauge is right and buys that noise reduction — that is the ν measurement. Once a neck forms the deformation is LOCAL and the load is carried by the smallest section, so the area must come from the MINIMUM, averaged over a short band at the neck. A mean over the whole gauge would under-correct exactly where the correction matters most.</a:t>
            </a:r>
          </a:p>
        </p:txBody>
      </p:sp>
      <p:sp>
        <p:nvSpPr>
          <p:cNvPr id="11" name="Rectangle 10"/>
          <p:cNvSpPr/>
          <p:nvPr/>
        </p:nvSpPr>
        <p:spPr>
          <a:xfrm>
            <a:off x="365760" y="5166360"/>
            <a:ext cx="1152144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EDGE-WIDTH TRACKING + a matte-black backdrop = the only route that MEASURES Poisson &amp; true Cauchy, reusing THIS camera &amp; specimen. Keep ENGINEERING stress as the validated basis.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Supersedes the transverse-marker idea on the previous slide: the narrow gauge + camera resolution rule out a transverse dot pair. Measure the specimen's own edges (or full-field speckle) instead.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ADVANCED TEST MODES: SIX CLOSED-LOOP PROTOCOLS, ONE ENGINE</a:t>
            </a:r>
          </a:p>
        </p:txBody>
      </p:sp>
      <p:sp>
        <p:nvSpPr>
          <p:cNvPr id="5" name="TextBox 4"/>
          <p:cNvSpPr txBox="1"/>
          <p:nvPr/>
        </p:nvSpPr>
        <p:spPr>
          <a:xfrm>
            <a:off x="457200" y="1060704"/>
            <a:ext cx="1133856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six share one control loop (`_policy_step`) and one safety net. Every trace below is real rig data, not a schematic. Two of them drive the specimen to destruction.</a:t>
            </a:r>
          </a:p>
        </p:txBody>
      </p:sp>
      <p:pic>
        <p:nvPicPr>
          <p:cNvPr id="6" name="Picture 5" descr="sf9_overview.png"/>
          <p:cNvPicPr>
            <a:picLocks noChangeAspect="1"/>
          </p:cNvPicPr>
          <p:nvPr/>
        </p:nvPicPr>
        <p:blipFill>
          <a:blip r:embed="rId2"/>
          <a:stretch>
            <a:fillRect/>
          </a:stretch>
        </p:blipFill>
        <p:spPr>
          <a:xfrm>
            <a:off x="1322574" y="1426464"/>
            <a:ext cx="9562090" cy="4069080"/>
          </a:xfrm>
          <a:prstGeom prst="rect">
            <a:avLst/>
          </a:prstGeom>
        </p:spPr>
      </p:pic>
      <p:sp>
        <p:nvSpPr>
          <p:cNvPr id="7" name="Rectangle 6"/>
          <p:cNvSpPr/>
          <p:nvPr/>
        </p:nvSpPr>
        <p:spPr>
          <a:xfrm>
            <a:off x="411480" y="5614416"/>
            <a:ext cx="11384280" cy="65836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Why it matters: a conventional pull gives ONE modulus, ONE yield, ONE UTS. These modes interrogate the specimen on the way to failure — so a single specimen yields a CURVE (stiffness vs damage, relaxation vs level) instead of a point.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Rig-validated 2026-08-08/09 on S18, S20, S21. Engine: control_policies.py · app wiring: main.py `_policy_step` · schematics: ui_help/.</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HOW IT WORKS</a:t>
            </a:r>
          </a:p>
        </p:txBody>
      </p:sp>
      <p:pic>
        <p:nvPicPr>
          <p:cNvPr id="5" name="Picture 4" descr="cyclic.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Repeatedly loads and unloads between a Low and a High force for N cycles.
• Hysteresis loop area = energy dissipated per cycle
• Change in loop shape = early damage, before any visible yield
• Waveform choice: Triangle (constant-speed ramps) or Sine (eases at each peak)
• Stays elastic — the specimen is REUSABLE afterwards</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Low / High force</a:t>
                      </a:r>
                    </a:p>
                  </a:txBody>
                  <a:tcPr/>
                </a:tc>
                <a:tc>
                  <a:txBody>
                    <a:bodyPr lIns="54864" rIns="54864" tIns="18288" bIns="18288" wrap="square" anchor="ctr"/>
                    <a:lstStyle/>
                    <a:p>
                      <a:pPr algn="l"/>
                      <a:r>
                        <a:rPr sz="1000" b="0">
                          <a:solidFill>
                            <a:srgbClr val="000000"/>
                          </a:solidFill>
                          <a:latin typeface="Calibri"/>
                        </a:rPr>
                        <a:t>100 / 500 N</a:t>
                      </a:r>
                    </a:p>
                  </a:txBody>
                  <a:tcPr/>
                </a:tc>
              </a:tr>
              <a:tr h="256032">
                <a:tc>
                  <a:txBody>
                    <a:bodyPr lIns="54864" rIns="54864" tIns="18288" bIns="18288" wrap="square" anchor="ctr"/>
                    <a:lstStyle/>
                    <a:p>
                      <a:pPr algn="l"/>
                      <a:r>
                        <a:rPr sz="1000" b="0">
                          <a:solidFill>
                            <a:srgbClr val="000000"/>
                          </a:solidFill>
                          <a:latin typeface="Calibri"/>
                        </a:rPr>
                        <a:t>Cycles</a:t>
                      </a:r>
                    </a:p>
                  </a:txBody>
                  <a:tcPr/>
                </a:tc>
                <a:tc>
                  <a:txBody>
                    <a:bodyPr lIns="54864" rIns="54864" tIns="18288" bIns="18288" wrap="square" anchor="ctr"/>
                    <a:lstStyle/>
                    <a:p>
                      <a:pPr algn="l"/>
                      <a:r>
                        <a:rPr sz="1000" b="0">
                          <a:solidFill>
                            <a:srgbClr val="000000"/>
                          </a:solidFill>
                          <a:latin typeface="Calibri"/>
                        </a:rPr>
                        <a:t>5</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Waveform</a:t>
                      </a:r>
                    </a:p>
                  </a:txBody>
                  <a:tcPr/>
                </a:tc>
                <a:tc>
                  <a:txBody>
                    <a:bodyPr lIns="54864" rIns="54864" tIns="18288" bIns="18288" wrap="square" anchor="ctr"/>
                    <a:lstStyle/>
                    <a:p>
                      <a:pPr algn="l"/>
                      <a:r>
                        <a:rPr sz="1000" b="0">
                          <a:solidFill>
                            <a:srgbClr val="000000"/>
                          </a:solidFill>
                          <a:latin typeface="Calibri"/>
                        </a:rPr>
                        <a:t>Triangle (T5) · Sine (T6.3)</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Low 0–5000 N · High 0–5000 N · Cycles 1–1000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High below yield, or the run becomes a fatigue test and the specimen breaks.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189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OUR RESULTS</a:t>
            </a:r>
          </a:p>
        </p:txBody>
      </p:sp>
      <p:pic>
        <p:nvPicPr>
          <p:cNvPr id="5" name="Picture 4" descr="sf9_cyclic.png"/>
          <p:cNvPicPr>
            <a:picLocks noChangeAspect="1"/>
          </p:cNvPicPr>
          <p:nvPr/>
        </p:nvPicPr>
        <p:blipFill>
          <a:blip r:embed="rId2"/>
          <a:stretch>
            <a:fillRect/>
          </a:stretch>
        </p:blipFill>
        <p:spPr>
          <a:xfrm>
            <a:off x="1861386" y="1133856"/>
            <a:ext cx="8484467" cy="2889504"/>
          </a:xfrm>
          <a:prstGeom prst="rect">
            <a:avLst/>
          </a:prstGeom>
        </p:spPr>
      </p:pic>
      <p:sp>
        <p:nvSpPr>
          <p:cNvPr id="6" name="Rounded Rectangle 5"/>
          <p:cNvSpPr/>
          <p:nvPr/>
        </p:nvSpPr>
        <p:spPr>
          <a:xfrm>
            <a:off x="41148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71 N</a:t>
            </a:r>
          </a:p>
          <a:p>
            <a:pPr algn="ctr"/>
            <a:r>
              <a:rPr sz="950">
                <a:solidFill>
                  <a:srgbClr val="000000"/>
                </a:solidFill>
                <a:latin typeface="Calibri"/>
              </a:rPr>
              <a:t>Peak error — Triangle</a:t>
            </a:r>
          </a:p>
        </p:txBody>
      </p:sp>
      <p:sp>
        <p:nvSpPr>
          <p:cNvPr id="7" name="Rounded Rectangle 6"/>
          <p:cNvSpPr/>
          <p:nvPr/>
        </p:nvSpPr>
        <p:spPr>
          <a:xfrm>
            <a:off x="325755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15 N</a:t>
            </a:r>
          </a:p>
          <a:p>
            <a:pPr algn="ctr"/>
            <a:r>
              <a:rPr sz="950">
                <a:solidFill>
                  <a:srgbClr val="000000"/>
                </a:solidFill>
                <a:latin typeface="Calibri"/>
              </a:rPr>
              <a:t>Peak error — Sine</a:t>
            </a:r>
          </a:p>
        </p:txBody>
      </p:sp>
      <p:sp>
        <p:nvSpPr>
          <p:cNvPr id="8" name="Rounded Rectangle 7"/>
          <p:cNvSpPr/>
          <p:nvPr/>
        </p:nvSpPr>
        <p:spPr>
          <a:xfrm>
            <a:off x="610362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500 N</a:t>
            </a:r>
          </a:p>
          <a:p>
            <a:pPr algn="ctr"/>
            <a:r>
              <a:rPr sz="950">
                <a:solidFill>
                  <a:srgbClr val="000000"/>
                </a:solidFill>
                <a:latin typeface="Calibri"/>
              </a:rPr>
              <a:t>Sine, final cycle</a:t>
            </a:r>
          </a:p>
        </p:txBody>
      </p:sp>
      <p:sp>
        <p:nvSpPr>
          <p:cNvPr id="9" name="Rounded Rectangle 8"/>
          <p:cNvSpPr/>
          <p:nvPr/>
        </p:nvSpPr>
        <p:spPr>
          <a:xfrm>
            <a:off x="8949689"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 + 5</a:t>
            </a:r>
          </a:p>
          <a:p>
            <a:pPr algn="ctr"/>
            <a:r>
              <a:rPr sz="950">
                <a:solidFill>
                  <a:srgbClr val="000000"/>
                </a:solidFill>
                <a:latin typeface="Calibri"/>
              </a:rPr>
              <a:t>Cycles completed</a:t>
            </a:r>
          </a:p>
        </p:txBody>
      </p:sp>
      <p:graphicFrame>
        <p:nvGraphicFramePr>
          <p:cNvPr id="10" name="Table 9"/>
          <p:cNvGraphicFramePr>
            <a:graphicFrameLocks noGrp="1"/>
          </p:cNvGraphicFramePr>
          <p:nvPr/>
        </p:nvGraphicFramePr>
        <p:xfrm>
          <a:off x="411480" y="4956048"/>
          <a:ext cx="11384280" cy="713232"/>
        </p:xfrm>
        <a:graphic>
          <a:graphicData uri="http://schemas.openxmlformats.org/drawingml/2006/table">
            <a:tbl>
              <a:tblPr firstRow="1" bandRow="1">
                <a:tableStyleId>{5C22544A-7EE6-4342-B048-85BDC9FD1C3A}</a:tableStyleId>
              </a:tblPr>
              <a:tblGrid>
                <a:gridCol w="1626325"/>
                <a:gridCol w="1626325"/>
                <a:gridCol w="1626325"/>
                <a:gridCol w="1626325"/>
                <a:gridCol w="1626325"/>
                <a:gridCol w="1626325"/>
                <a:gridCol w="1626330"/>
              </a:tblGrid>
              <a:tr h="237744">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1</a:t>
                      </a:r>
                    </a:p>
                  </a:txBody>
                  <a:tcPr>
                    <a:solidFill>
                      <a:srgbClr val="143D2F"/>
                    </a:solidFill>
                  </a:tcPr>
                </a:tc>
                <a:tc>
                  <a:txBody>
                    <a:bodyPr lIns="54864" rIns="54864" tIns="18288" bIns="18288" wrap="square" anchor="ctr"/>
                    <a:lstStyle/>
                    <a:p>
                      <a:pPr algn="l"/>
                      <a:r>
                        <a:rPr sz="950" b="1">
                          <a:solidFill>
                            <a:srgbClr val="FFFFFF"/>
                          </a:solidFill>
                          <a:latin typeface="Calibri"/>
                        </a:rPr>
                        <a:t>2</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a:t>
                      </a:r>
                    </a:p>
                  </a:txBody>
                  <a:tcPr>
                    <a:solidFill>
                      <a:srgbClr val="143D2F"/>
                    </a:solidFill>
                  </a:tcPr>
                </a:tc>
                <a:tc>
                  <a:txBody>
                    <a:bodyPr lIns="54864" rIns="54864" tIns="18288" bIns="18288" wrap="square" anchor="ctr"/>
                    <a:lstStyle/>
                    <a:p>
                      <a:pPr algn="l"/>
                      <a:r>
                        <a:rPr sz="950" b="1">
                          <a:solidFill>
                            <a:srgbClr val="FFFFFF"/>
                          </a:solidFill>
                          <a:latin typeface="Calibri"/>
                        </a:rPr>
                        <a:t>mean |err|</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T5 Triangle — peak (N)</a:t>
                      </a:r>
                    </a:p>
                  </a:txBody>
                  <a:tcPr/>
                </a:tc>
                <a:tc>
                  <a:txBody>
                    <a:bodyPr lIns="54864" rIns="54864" tIns="18288" bIns="18288" wrap="square" anchor="ctr"/>
                    <a:lstStyle/>
                    <a:p>
                      <a:pPr algn="l"/>
                      <a:r>
                        <a:rPr sz="950" b="0">
                          <a:solidFill>
                            <a:srgbClr val="000000"/>
                          </a:solidFill>
                          <a:latin typeface="Calibri"/>
                        </a:rPr>
                        <a:t>556</a:t>
                      </a:r>
                    </a:p>
                  </a:txBody>
                  <a:tcPr/>
                </a:tc>
                <a:tc>
                  <a:txBody>
                    <a:bodyPr lIns="54864" rIns="54864" tIns="18288" bIns="18288" wrap="square" anchor="ctr"/>
                    <a:lstStyle/>
                    <a:p>
                      <a:pPr algn="l"/>
                      <a:r>
                        <a:rPr sz="950" b="0">
                          <a:solidFill>
                            <a:srgbClr val="000000"/>
                          </a:solidFill>
                          <a:latin typeface="Calibri"/>
                        </a:rPr>
                        <a:t>566</a:t>
                      </a:r>
                    </a:p>
                  </a:txBody>
                  <a:tcPr/>
                </a:tc>
                <a:tc>
                  <a:txBody>
                    <a:bodyPr lIns="54864" rIns="54864" tIns="18288" bIns="18288" wrap="square" anchor="ctr"/>
                    <a:lstStyle/>
                    <a:p>
                      <a:pPr algn="l"/>
                      <a:r>
                        <a:rPr sz="950" b="0">
                          <a:solidFill>
                            <a:srgbClr val="000000"/>
                          </a:solidFill>
                          <a:latin typeface="Calibri"/>
                        </a:rPr>
                        <a:t>572</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587</a:t>
                      </a:r>
                    </a:p>
                  </a:txBody>
                  <a:tcPr/>
                </a:tc>
                <a:tc>
                  <a:txBody>
                    <a:bodyPr lIns="54864" rIns="54864" tIns="18288" bIns="18288" wrap="square" anchor="ctr"/>
                    <a:lstStyle/>
                    <a:p>
                      <a:pPr algn="l"/>
                      <a:r>
                        <a:rPr sz="950" b="0">
                          <a:solidFill>
                            <a:srgbClr val="000000"/>
                          </a:solidFill>
                          <a:latin typeface="Calibri"/>
                        </a:rPr>
                        <a:t>71</a:t>
                      </a:r>
                    </a:p>
                  </a:txBody>
                  <a:tcPr/>
                </a:tc>
              </a:tr>
              <a:tr h="237744">
                <a:tc>
                  <a:txBody>
                    <a:bodyPr lIns="54864" rIns="54864" tIns="18288" bIns="18288" wrap="square" anchor="ctr"/>
                    <a:lstStyle/>
                    <a:p>
                      <a:pPr algn="l"/>
                      <a:r>
                        <a:rPr sz="950" b="0">
                          <a:solidFill>
                            <a:srgbClr val="000000"/>
                          </a:solidFill>
                          <a:latin typeface="Calibri"/>
                        </a:rPr>
                        <a:t>T6.3 Sine — peak (N)</a:t>
                      </a:r>
                    </a:p>
                  </a:txBody>
                  <a:tcPr/>
                </a:tc>
                <a:tc>
                  <a:txBody>
                    <a:bodyPr lIns="54864" rIns="54864" tIns="18288" bIns="18288" wrap="square" anchor="ctr"/>
                    <a:lstStyle/>
                    <a:p>
                      <a:pPr algn="l"/>
                      <a:r>
                        <a:rPr sz="950" b="0">
                          <a:solidFill>
                            <a:srgbClr val="000000"/>
                          </a:solidFill>
                          <a:latin typeface="Calibri"/>
                        </a:rPr>
                        <a:t>528</a:t>
                      </a:r>
                    </a:p>
                  </a:txBody>
                  <a:tcPr/>
                </a:tc>
                <a:tc>
                  <a:txBody>
                    <a:bodyPr lIns="54864" rIns="54864" tIns="18288" bIns="18288" wrap="square" anchor="ctr"/>
                    <a:lstStyle/>
                    <a:p>
                      <a:pPr algn="l"/>
                      <a:r>
                        <a:rPr sz="950" b="0">
                          <a:solidFill>
                            <a:srgbClr val="000000"/>
                          </a:solidFill>
                          <a:latin typeface="Calibri"/>
                        </a:rPr>
                        <a:t>528</a:t>
                      </a:r>
                    </a:p>
                  </a:txBody>
                  <a:tcPr/>
                </a:tc>
                <a:tc>
                  <a:txBody>
                    <a:bodyPr lIns="54864" rIns="54864" tIns="18288" bIns="18288" wrap="square" anchor="ctr"/>
                    <a:lstStyle/>
                    <a:p>
                      <a:pPr algn="l"/>
                      <a:r>
                        <a:rPr sz="950" b="0">
                          <a:solidFill>
                            <a:srgbClr val="000000"/>
                          </a:solidFill>
                          <a:latin typeface="Calibri"/>
                        </a:rPr>
                        <a:t>516</a:t>
                      </a:r>
                    </a:p>
                  </a:txBody>
                  <a:tcPr/>
                </a:tc>
                <a:tc>
                  <a:txBody>
                    <a:bodyPr lIns="54864" rIns="54864" tIns="18288" bIns="18288" wrap="square" anchor="ctr"/>
                    <a:lstStyle/>
                    <a:p>
                      <a:pPr algn="l"/>
                      <a:r>
                        <a:rPr sz="950" b="0">
                          <a:solidFill>
                            <a:srgbClr val="000000"/>
                          </a:solidFill>
                          <a:latin typeface="Calibri"/>
                        </a:rPr>
                        <a:t>504</a:t>
                      </a:r>
                    </a:p>
                  </a:txBody>
                  <a:tcPr/>
                </a:tc>
                <a:tc>
                  <a:txBody>
                    <a:bodyPr lIns="54864" rIns="54864" tIns="18288" bIns="18288" wrap="square" anchor="ctr"/>
                    <a:lstStyle/>
                    <a:p>
                      <a:pPr algn="l"/>
                      <a:r>
                        <a:rPr sz="950" b="0">
                          <a:solidFill>
                            <a:srgbClr val="000000"/>
                          </a:solidFill>
                          <a:latin typeface="Calibri"/>
                        </a:rPr>
                        <a:t>500</a:t>
                      </a:r>
                    </a:p>
                  </a:txBody>
                  <a:tcPr/>
                </a:tc>
                <a:tc>
                  <a:txBody>
                    <a:bodyPr lIns="54864" rIns="54864" tIns="18288" bIns="18288" wrap="square" anchor="ctr"/>
                    <a:lstStyle/>
                    <a:p>
                      <a:pPr algn="l"/>
                      <a:r>
                        <a:rPr sz="950" b="0">
                          <a:solidFill>
                            <a:srgbClr val="000000"/>
                          </a:solidFill>
                          <a:latin typeface="Calibri"/>
                        </a:rPr>
                        <a:t>15</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Sine cuts peak error 71 N → 15 N (78 % better) and CONVERGES: 528 → 500 N across the 5 cycles, landing on the 500 N target.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convergence is the adaptive reversal lead learning the true coast distance in the FORCE domain. Seeded at zero so it approaches from below — seeding it at the measured 1.3 s decel over-led and rang (T6, T6.2).</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[T5 · T6.3] — HYSTERESIS: A NEGATIVE RESULT</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mode promises loop area = energy dissipated and loop-shape change = early damage. Neither is measurable from THIS run. It is NOT a DIC resolution problem — the fault is mechanical slack.</a:t>
            </a:r>
          </a:p>
        </p:txBody>
      </p:sp>
      <p:pic>
        <p:nvPicPr>
          <p:cNvPr id="6" name="Picture 5" descr="sf9_cyclic_hyst.png"/>
          <p:cNvPicPr>
            <a:picLocks noChangeAspect="1"/>
          </p:cNvPicPr>
          <p:nvPr/>
        </p:nvPicPr>
        <p:blipFill>
          <a:blip r:embed="rId2"/>
          <a:stretch>
            <a:fillRect/>
          </a:stretch>
        </p:blipFill>
        <p:spPr>
          <a:xfrm>
            <a:off x="1183220" y="1371600"/>
            <a:ext cx="9840799" cy="3108960"/>
          </a:xfrm>
          <a:prstGeom prst="rect">
            <a:avLst/>
          </a:prstGeom>
        </p:spPr>
      </p:pic>
      <p:sp>
        <p:nvSpPr>
          <p:cNvPr id="7" name="Rounded Rectangle 6"/>
          <p:cNvSpPr/>
          <p:nvPr/>
        </p:nvSpPr>
        <p:spPr>
          <a:xfrm>
            <a:off x="411480" y="4590288"/>
            <a:ext cx="216712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14 % of fracture load</a:t>
            </a:r>
          </a:p>
          <a:p>
            <a:pPr algn="ctr"/>
            <a:r>
              <a:rPr sz="950">
                <a:solidFill>
                  <a:srgbClr val="000000"/>
                </a:solidFill>
                <a:latin typeface="Calibri"/>
              </a:rPr>
              <a:t>Cycled at</a:t>
            </a:r>
          </a:p>
        </p:txBody>
      </p:sp>
      <p:sp>
        <p:nvSpPr>
          <p:cNvPr id="8" name="Rounded Rectangle 7"/>
          <p:cNvSpPr/>
          <p:nvPr/>
        </p:nvSpPr>
        <p:spPr>
          <a:xfrm>
            <a:off x="2688336"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2.1 s</a:t>
            </a:r>
          </a:p>
          <a:p>
            <a:pPr algn="ctr"/>
            <a:r>
              <a:rPr sz="950">
                <a:solidFill>
                  <a:srgbClr val="000000"/>
                </a:solidFill>
                <a:latin typeface="Calibri"/>
              </a:rPr>
              <a:t>Reversal lag</a:t>
            </a:r>
          </a:p>
        </p:txBody>
      </p:sp>
      <p:sp>
        <p:nvSpPr>
          <p:cNvPr id="9" name="Rounded Rectangle 8"/>
          <p:cNvSpPr/>
          <p:nvPr/>
        </p:nvSpPr>
        <p:spPr>
          <a:xfrm>
            <a:off x="4965192"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load +97 N, strain −893 µε</a:t>
            </a:r>
          </a:p>
          <a:p>
            <a:pPr algn="ctr"/>
            <a:r>
              <a:rPr sz="950">
                <a:solidFill>
                  <a:srgbClr val="000000"/>
                </a:solidFill>
                <a:latin typeface="Calibri"/>
              </a:rPr>
              <a:t>…during which</a:t>
            </a:r>
          </a:p>
        </p:txBody>
      </p:sp>
      <p:sp>
        <p:nvSpPr>
          <p:cNvPr id="10" name="Rounded Rectangle 9"/>
          <p:cNvSpPr/>
          <p:nvPr/>
        </p:nvSpPr>
        <p:spPr>
          <a:xfrm>
            <a:off x="7242048" y="4590288"/>
            <a:ext cx="2167128" cy="731520"/>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+25 µm / cycle</a:t>
            </a:r>
          </a:p>
          <a:p>
            <a:pPr algn="ctr"/>
            <a:r>
              <a:rPr sz="950">
                <a:solidFill>
                  <a:srgbClr val="000000"/>
                </a:solidFill>
                <a:latin typeface="Calibri"/>
              </a:rPr>
              <a:t>Crosshead ratchet</a:t>
            </a:r>
          </a:p>
        </p:txBody>
      </p:sp>
      <p:sp>
        <p:nvSpPr>
          <p:cNvPr id="11" name="Rounded Rectangle 10"/>
          <p:cNvSpPr/>
          <p:nvPr/>
        </p:nvSpPr>
        <p:spPr>
          <a:xfrm>
            <a:off x="9518904" y="4590288"/>
            <a:ext cx="2167128" cy="731520"/>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0.1 px steps, ±0.02 px</a:t>
            </a:r>
          </a:p>
          <a:p>
            <a:pPr algn="ctr"/>
            <a:r>
              <a:rPr sz="950">
                <a:solidFill>
                  <a:srgbClr val="000000"/>
                </a:solidFill>
                <a:latin typeface="Calibri"/>
              </a:rPr>
              <a:t>DIC is NOT the limit</a:t>
            </a:r>
          </a:p>
        </p:txBody>
      </p:sp>
      <p:sp>
        <p:nvSpPr>
          <p:cNvPr id="12" name="Rectangle 11"/>
          <p:cNvSpPr/>
          <p:nvPr/>
        </p:nvSpPr>
        <p:spPr>
          <a:xfrm>
            <a:off x="411480" y="5431536"/>
            <a:ext cx="11384280" cy="53035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Root cause: at every reversal the load climbs 97 N while the strain still FALLS 893 µε — the load train is re-taking backlash, not straining the specimen. That fabricated area is most of the loop. Cycling at only 14 % of fracture load leaves little real hysteresis to compete with it.</a:t>
            </a:r>
          </a:p>
        </p:txBody>
      </p:sp>
      <p:sp>
        <p:nvSpPr>
          <p:cNvPr id="13" name="Rectangle 12"/>
          <p:cNvSpPr/>
          <p:nvPr/>
        </p:nvSpPr>
        <p:spPr>
          <a:xfrm>
            <a:off x="411480" y="6016752"/>
            <a:ext cx="1138428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 RESOLVED — T6.4 / T6.5 ran 2026-08-11 on S22 at 400→1100 N and the loops closed: 12.3 px measured against the 13.1 px predicted here.  See p215-214.</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400 N floor is the key: never unload through the slack band, so backlash is crossed once at the start instead of twice per cycle. Arm auto-stop — 1100 N is above the 694 N yield knee, which is the point, but T8 fractured at 1397 N.</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HOW IT WORKS</a:t>
            </a:r>
          </a:p>
        </p:txBody>
      </p:sp>
      <p:pic>
        <p:nvPicPr>
          <p:cNvPr id="5" name="Picture 4" descr="staircase.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Steps the load up — Start, Start+Step, Start+2·Step … — and DWELLS at every level.
• Each dwell is a mini stress-relaxation test
• Modulus can be re-measured at every level
• Ramp shape: Linear (constant speed) or Smooth (eases into each level)
• Non-destructive if the top level stays below yield</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645919"/>
        </p:xfrm>
        <a:graphic>
          <a:graphicData uri="http://schemas.openxmlformats.org/drawingml/2006/table">
            <a:tbl>
              <a:tblPr firstRow="1" bandRow="1">
                <a:tableStyleId>{5C22544A-7EE6-4342-B048-85BDC9FD1C3A}</a:tableStyleId>
              </a:tblPr>
              <a:tblGrid>
                <a:gridCol w="2945802"/>
                <a:gridCol w="1900517"/>
              </a:tblGrid>
              <a:tr h="235131">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35131">
                <a:tc>
                  <a:txBody>
                    <a:bodyPr lIns="54864" rIns="54864" tIns="18288" bIns="18288" wrap="square" anchor="ctr"/>
                    <a:lstStyle/>
                    <a:p>
                      <a:pPr algn="l"/>
                      <a:r>
                        <a:rPr sz="1000" b="0">
                          <a:solidFill>
                            <a:srgbClr val="000000"/>
                          </a:solidFill>
                          <a:latin typeface="Calibri"/>
                        </a:rPr>
                        <a:t>Start / Step</a:t>
                      </a:r>
                    </a:p>
                  </a:txBody>
                  <a:tcPr/>
                </a:tc>
                <a:tc>
                  <a:txBody>
                    <a:bodyPr lIns="54864" rIns="54864" tIns="18288" bIns="18288" wrap="square" anchor="ctr"/>
                    <a:lstStyle/>
                    <a:p>
                      <a:pPr algn="l"/>
                      <a:r>
                        <a:rPr sz="1000" b="0">
                          <a:solidFill>
                            <a:srgbClr val="000000"/>
                          </a:solidFill>
                          <a:latin typeface="Calibri"/>
                        </a:rPr>
                        <a:t>300 / 300 N</a:t>
                      </a:r>
                    </a:p>
                  </a:txBody>
                  <a:tcPr/>
                </a:tc>
              </a:tr>
              <a:tr h="235131">
                <a:tc>
                  <a:txBody>
                    <a:bodyPr lIns="54864" rIns="54864" tIns="18288" bIns="18288" wrap="square" anchor="ctr"/>
                    <a:lstStyle/>
                    <a:p>
                      <a:pPr algn="l"/>
                      <a:r>
                        <a:rPr sz="1000" b="0">
                          <a:solidFill>
                            <a:srgbClr val="000000"/>
                          </a:solidFill>
                          <a:latin typeface="Calibri"/>
                        </a:rPr>
                        <a:t>Levels</a:t>
                      </a:r>
                    </a:p>
                  </a:txBody>
                  <a:tcPr/>
                </a:tc>
                <a:tc>
                  <a:txBody>
                    <a:bodyPr lIns="54864" rIns="54864" tIns="18288" bIns="18288" wrap="square" anchor="ctr"/>
                    <a:lstStyle/>
                    <a:p>
                      <a:pPr algn="l"/>
                      <a:r>
                        <a:rPr sz="1000" b="0">
                          <a:solidFill>
                            <a:srgbClr val="000000"/>
                          </a:solidFill>
                          <a:latin typeface="Calibri"/>
                        </a:rPr>
                        <a:t>3</a:t>
                      </a:r>
                    </a:p>
                  </a:txBody>
                  <a:tcPr/>
                </a:tc>
              </a:tr>
              <a:tr h="235131">
                <a:tc>
                  <a:txBody>
                    <a:bodyPr lIns="54864" rIns="54864" tIns="18288" bIns="18288" wrap="square" anchor="ctr"/>
                    <a:lstStyle/>
                    <a:p>
                      <a:pPr algn="l"/>
                      <a:r>
                        <a:rPr sz="1000" b="0">
                          <a:solidFill>
                            <a:srgbClr val="000000"/>
                          </a:solidFill>
                          <a:latin typeface="Calibri"/>
                        </a:rPr>
                        <a:t>Dwell</a:t>
                      </a:r>
                    </a:p>
                  </a:txBody>
                  <a:tcPr/>
                </a:tc>
                <a:tc>
                  <a:txBody>
                    <a:bodyPr lIns="54864" rIns="54864" tIns="18288" bIns="18288" wrap="square" anchor="ctr"/>
                    <a:lstStyle/>
                    <a:p>
                      <a:pPr algn="l"/>
                      <a:r>
                        <a:rPr sz="1000" b="0">
                          <a:solidFill>
                            <a:srgbClr val="000000"/>
                          </a:solidFill>
                          <a:latin typeface="Calibri"/>
                        </a:rPr>
                        <a:t>20 s</a:t>
                      </a:r>
                    </a:p>
                  </a:txBody>
                  <a:tcPr/>
                </a:tc>
              </a:tr>
              <a:tr h="235131">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35131">
                <a:tc>
                  <a:txBody>
                    <a:bodyPr lIns="54864" rIns="54864" tIns="18288" bIns="18288" wrap="square" anchor="ctr"/>
                    <a:lstStyle/>
                    <a:p>
                      <a:pPr algn="l"/>
                      <a:r>
                        <a:rPr sz="1000" b="0">
                          <a:solidFill>
                            <a:srgbClr val="000000"/>
                          </a:solidFill>
                          <a:latin typeface="Calibri"/>
                        </a:rPr>
                        <a:t>Ramp</a:t>
                      </a:r>
                    </a:p>
                  </a:txBody>
                  <a:tcPr/>
                </a:tc>
                <a:tc>
                  <a:txBody>
                    <a:bodyPr lIns="54864" rIns="54864" tIns="18288" bIns="18288" wrap="square" anchor="ctr"/>
                    <a:lstStyle/>
                    <a:p>
                      <a:pPr algn="l"/>
                      <a:r>
                        <a:rPr sz="1000" b="0">
                          <a:solidFill>
                            <a:srgbClr val="000000"/>
                          </a:solidFill>
                          <a:latin typeface="Calibri"/>
                        </a:rPr>
                        <a:t>Linear (T3) · Smooth (T4)</a:t>
                      </a:r>
                    </a:p>
                  </a:txBody>
                  <a:tcPr/>
                </a:tc>
              </a:tr>
              <a:tr h="235133">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Start 0–5000 N · Step 10–2000 N · Levels 1–20 · Dwell 1–600 s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top level, Start+(Levels−1)·Step, below yield.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OUR RESULTS</a:t>
            </a:r>
          </a:p>
        </p:txBody>
      </p:sp>
      <p:pic>
        <p:nvPicPr>
          <p:cNvPr id="5" name="Picture 4" descr="sf9_staircase.png"/>
          <p:cNvPicPr>
            <a:picLocks noChangeAspect="1"/>
          </p:cNvPicPr>
          <p:nvPr/>
        </p:nvPicPr>
        <p:blipFill>
          <a:blip r:embed="rId2"/>
          <a:stretch>
            <a:fillRect/>
          </a:stretch>
        </p:blipFill>
        <p:spPr>
          <a:xfrm>
            <a:off x="2210430" y="1133856"/>
            <a:ext cx="7786378" cy="2651760"/>
          </a:xfrm>
          <a:prstGeom prst="rect">
            <a:avLst/>
          </a:prstGeom>
        </p:spPr>
      </p:pic>
      <p:sp>
        <p:nvSpPr>
          <p:cNvPr id="6" name="Rounded Rectangle 5"/>
          <p:cNvSpPr/>
          <p:nvPr/>
        </p:nvSpPr>
        <p:spPr>
          <a:xfrm>
            <a:off x="41148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48 N</a:t>
            </a:r>
          </a:p>
          <a:p>
            <a:pPr algn="ctr"/>
            <a:r>
              <a:rPr sz="950">
                <a:solidFill>
                  <a:srgbClr val="000000"/>
                </a:solidFill>
                <a:latin typeface="Calibri"/>
              </a:rPr>
              <a:t>Linear — mean overshoot</a:t>
            </a:r>
          </a:p>
        </p:txBody>
      </p:sp>
      <p:sp>
        <p:nvSpPr>
          <p:cNvPr id="7" name="Rounded Rectangle 6"/>
          <p:cNvSpPr/>
          <p:nvPr/>
        </p:nvSpPr>
        <p:spPr>
          <a:xfrm>
            <a:off x="325755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6 N</a:t>
            </a:r>
          </a:p>
          <a:p>
            <a:pPr algn="ctr"/>
            <a:r>
              <a:rPr sz="950">
                <a:solidFill>
                  <a:srgbClr val="000000"/>
                </a:solidFill>
                <a:latin typeface="Calibri"/>
              </a:rPr>
              <a:t>Smooth — mean overshoot</a:t>
            </a:r>
          </a:p>
        </p:txBody>
      </p:sp>
      <p:sp>
        <p:nvSpPr>
          <p:cNvPr id="8" name="Rounded Rectangle 7"/>
          <p:cNvSpPr/>
          <p:nvPr/>
        </p:nvSpPr>
        <p:spPr>
          <a:xfrm>
            <a:off x="610362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8×</a:t>
            </a:r>
          </a:p>
          <a:p>
            <a:pPr algn="ctr"/>
            <a:r>
              <a:rPr sz="950">
                <a:solidFill>
                  <a:srgbClr val="000000"/>
                </a:solidFill>
                <a:latin typeface="Calibri"/>
              </a:rPr>
              <a:t>Improvement</a:t>
            </a:r>
          </a:p>
        </p:txBody>
      </p:sp>
      <p:sp>
        <p:nvSpPr>
          <p:cNvPr id="9" name="Rounded Rectangle 8"/>
          <p:cNvSpPr/>
          <p:nvPr/>
        </p:nvSpPr>
        <p:spPr>
          <a:xfrm>
            <a:off x="8949689"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 of 6 dwells</a:t>
            </a:r>
          </a:p>
          <a:p>
            <a:pPr algn="ctr"/>
            <a:r>
              <a:rPr sz="950">
                <a:solidFill>
                  <a:srgbClr val="000000"/>
                </a:solidFill>
                <a:latin typeface="Calibri"/>
              </a:rPr>
              <a:t>Stall guard false trips</a:t>
            </a:r>
          </a:p>
        </p:txBody>
      </p:sp>
      <p:graphicFrame>
        <p:nvGraphicFramePr>
          <p:cNvPr id="10" name="Table 9"/>
          <p:cNvGraphicFramePr>
            <a:graphicFrameLocks noGrp="1"/>
          </p:cNvGraphicFramePr>
          <p:nvPr/>
        </p:nvGraphicFramePr>
        <p:xfrm>
          <a:off x="411480" y="4718304"/>
          <a:ext cx="11384280" cy="950976"/>
        </p:xfrm>
        <a:graphic>
          <a:graphicData uri="http://schemas.openxmlformats.org/drawingml/2006/table">
            <a:tbl>
              <a:tblPr firstRow="1" bandRow="1">
                <a:tableStyleId>{5C22544A-7EE6-4342-B048-85BDC9FD1C3A}</a:tableStyleId>
              </a:tblPr>
              <a:tblGrid>
                <a:gridCol w="2846070"/>
                <a:gridCol w="2846070"/>
                <a:gridCol w="2846070"/>
                <a:gridCol w="2846070"/>
              </a:tblGrid>
              <a:tr h="237744">
                <a:tc>
                  <a:txBody>
                    <a:bodyPr lIns="54864" rIns="54864" tIns="18288" bIns="18288" wrap="square" anchor="ctr"/>
                    <a:lstStyle/>
                    <a:p>
                      <a:pPr algn="l"/>
                      <a:r>
                        <a:rPr sz="950" b="1">
                          <a:solidFill>
                            <a:srgbClr val="FFFFFF"/>
                          </a:solidFill>
                          <a:latin typeface="Calibri"/>
                        </a:rPr>
                        <a:t>Level (commanded)</a:t>
                      </a:r>
                    </a:p>
                  </a:txBody>
                  <a:tcPr>
                    <a:solidFill>
                      <a:srgbClr val="143D2F"/>
                    </a:solidFill>
                  </a:tcPr>
                </a:tc>
                <a:tc>
                  <a:txBody>
                    <a:bodyPr lIns="54864" rIns="54864" tIns="18288" bIns="18288" wrap="square" anchor="ctr"/>
                    <a:lstStyle/>
                    <a:p>
                      <a:pPr algn="l"/>
                      <a:r>
                        <a:rPr sz="950" b="1">
                          <a:solidFill>
                            <a:srgbClr val="FFFFFF"/>
                          </a:solidFill>
                          <a:latin typeface="Calibri"/>
                        </a:rPr>
                        <a:t>L1 · 300 N</a:t>
                      </a:r>
                    </a:p>
                  </a:txBody>
                  <a:tcPr>
                    <a:solidFill>
                      <a:srgbClr val="143D2F"/>
                    </a:solidFill>
                  </a:tcPr>
                </a:tc>
                <a:tc>
                  <a:txBody>
                    <a:bodyPr lIns="54864" rIns="54864" tIns="18288" bIns="18288" wrap="square" anchor="ctr"/>
                    <a:lstStyle/>
                    <a:p>
                      <a:pPr algn="l"/>
                      <a:r>
                        <a:rPr sz="950" b="1">
                          <a:solidFill>
                            <a:srgbClr val="FFFFFF"/>
                          </a:solidFill>
                          <a:latin typeface="Calibri"/>
                        </a:rPr>
                        <a:t>L2 · 600 N</a:t>
                      </a:r>
                    </a:p>
                  </a:txBody>
                  <a:tcPr>
                    <a:solidFill>
                      <a:srgbClr val="143D2F"/>
                    </a:solidFill>
                  </a:tcPr>
                </a:tc>
                <a:tc>
                  <a:txBody>
                    <a:bodyPr lIns="54864" rIns="54864" tIns="18288" bIns="18288" wrap="square" anchor="ctr"/>
                    <a:lstStyle/>
                    <a:p>
                      <a:pPr algn="l"/>
                      <a:r>
                        <a:rPr sz="950" b="1">
                          <a:solidFill>
                            <a:srgbClr val="FFFFFF"/>
                          </a:solidFill>
                          <a:latin typeface="Calibri"/>
                        </a:rPr>
                        <a:t>L3 · 900 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T3 Linear — arrival overshoot</a:t>
                      </a:r>
                    </a:p>
                  </a:txBody>
                  <a:tcPr/>
                </a:tc>
                <a:tc>
                  <a:txBody>
                    <a:bodyPr lIns="54864" rIns="54864" tIns="18288" bIns="18288" wrap="square" anchor="ctr"/>
                    <a:lstStyle/>
                    <a:p>
                      <a:pPr algn="l"/>
                      <a:r>
                        <a:rPr sz="950" b="0">
                          <a:solidFill>
                            <a:srgbClr val="000000"/>
                          </a:solidFill>
                          <a:latin typeface="Calibri"/>
                        </a:rPr>
                        <a:t>+45.5 N</a:t>
                      </a:r>
                    </a:p>
                  </a:txBody>
                  <a:tcPr/>
                </a:tc>
                <a:tc>
                  <a:txBody>
                    <a:bodyPr lIns="54864" rIns="54864" tIns="18288" bIns="18288" wrap="square" anchor="ctr"/>
                    <a:lstStyle/>
                    <a:p>
                      <a:pPr algn="l"/>
                      <a:r>
                        <a:rPr sz="950" b="0">
                          <a:solidFill>
                            <a:srgbClr val="000000"/>
                          </a:solidFill>
                          <a:latin typeface="Calibri"/>
                        </a:rPr>
                        <a:t>+46.8 N</a:t>
                      </a:r>
                    </a:p>
                  </a:txBody>
                  <a:tcPr/>
                </a:tc>
                <a:tc>
                  <a:txBody>
                    <a:bodyPr lIns="54864" rIns="54864" tIns="18288" bIns="18288" wrap="square" anchor="ctr"/>
                    <a:lstStyle/>
                    <a:p>
                      <a:pPr algn="l"/>
                      <a:r>
                        <a:rPr sz="950" b="0">
                          <a:solidFill>
                            <a:srgbClr val="000000"/>
                          </a:solidFill>
                          <a:latin typeface="Calibri"/>
                        </a:rPr>
                        <a:t>+52.6 N</a:t>
                      </a:r>
                    </a:p>
                  </a:txBody>
                  <a:tcPr/>
                </a:tc>
              </a:tr>
              <a:tr h="237744">
                <a:tc>
                  <a:txBody>
                    <a:bodyPr lIns="54864" rIns="54864" tIns="18288" bIns="18288" wrap="square" anchor="ctr"/>
                    <a:lstStyle/>
                    <a:p>
                      <a:pPr algn="l"/>
                      <a:r>
                        <a:rPr sz="950" b="0">
                          <a:solidFill>
                            <a:srgbClr val="000000"/>
                          </a:solidFill>
                          <a:latin typeface="Calibri"/>
                        </a:rPr>
                        <a:t>T4 Smooth — arrival overshoot</a:t>
                      </a:r>
                    </a:p>
                  </a:txBody>
                  <a:tcPr/>
                </a:tc>
                <a:tc>
                  <a:txBody>
                    <a:bodyPr lIns="54864" rIns="54864" tIns="18288" bIns="18288" wrap="square" anchor="ctr"/>
                    <a:lstStyle/>
                    <a:p>
                      <a:pPr algn="l"/>
                      <a:r>
                        <a:rPr sz="950" b="0">
                          <a:solidFill>
                            <a:srgbClr val="000000"/>
                          </a:solidFill>
                          <a:latin typeface="Calibri"/>
                        </a:rPr>
                        <a:t>+6.0 N</a:t>
                      </a:r>
                    </a:p>
                  </a:txBody>
                  <a:tcPr/>
                </a:tc>
                <a:tc>
                  <a:txBody>
                    <a:bodyPr lIns="54864" rIns="54864" tIns="18288" bIns="18288" wrap="square" anchor="ctr"/>
                    <a:lstStyle/>
                    <a:p>
                      <a:pPr algn="l"/>
                      <a:r>
                        <a:rPr sz="950" b="0">
                          <a:solidFill>
                            <a:srgbClr val="000000"/>
                          </a:solidFill>
                          <a:latin typeface="Calibri"/>
                        </a:rPr>
                        <a:t>+4.8 N</a:t>
                      </a:r>
                    </a:p>
                  </a:txBody>
                  <a:tcPr/>
                </a:tc>
                <a:tc>
                  <a:txBody>
                    <a:bodyPr lIns="54864" rIns="54864" tIns="18288" bIns="18288" wrap="square" anchor="ctr"/>
                    <a:lstStyle/>
                    <a:p>
                      <a:pPr algn="l"/>
                      <a:r>
                        <a:rPr sz="950" b="0">
                          <a:solidFill>
                            <a:srgbClr val="000000"/>
                          </a:solidFill>
                          <a:latin typeface="Calibri"/>
                        </a:rPr>
                        <a:t>+7.8 N</a:t>
                      </a:r>
                    </a:p>
                  </a:txBody>
                  <a:tcPr/>
                </a:tc>
              </a:tr>
              <a:tr h="237744">
                <a:tc>
                  <a:txBody>
                    <a:bodyPr lIns="54864" rIns="54864" tIns="18288" bIns="18288" wrap="square" anchor="ctr"/>
                    <a:lstStyle/>
                    <a:p>
                      <a:pPr algn="l"/>
                      <a:r>
                        <a:rPr sz="950" b="0">
                          <a:solidFill>
                            <a:srgbClr val="000000"/>
                          </a:solidFill>
                          <a:latin typeface="Calibri"/>
                        </a:rPr>
                        <a:t>Dwell force drop (Smooth)</a:t>
                      </a:r>
                    </a:p>
                  </a:txBody>
                  <a:tcPr/>
                </a:tc>
                <a:tc>
                  <a:txBody>
                    <a:bodyPr lIns="54864" rIns="54864" tIns="18288" bIns="18288" wrap="square" anchor="ctr"/>
                    <a:lstStyle/>
                    <a:p>
                      <a:pPr algn="l"/>
                      <a:r>
                        <a:rPr sz="950" b="0">
                          <a:solidFill>
                            <a:srgbClr val="000000"/>
                          </a:solidFill>
                          <a:latin typeface="Calibri"/>
                        </a:rPr>
                        <a:t>7.7 N</a:t>
                      </a:r>
                    </a:p>
                  </a:txBody>
                  <a:tcPr/>
                </a:tc>
                <a:tc>
                  <a:txBody>
                    <a:bodyPr lIns="54864" rIns="54864" tIns="18288" bIns="18288" wrap="square" anchor="ctr"/>
                    <a:lstStyle/>
                    <a:p>
                      <a:pPr algn="l"/>
                      <a:r>
                        <a:rPr sz="950" b="0">
                          <a:solidFill>
                            <a:srgbClr val="000000"/>
                          </a:solidFill>
                          <a:latin typeface="Calibri"/>
                        </a:rPr>
                        <a:t>16.1 N</a:t>
                      </a:r>
                    </a:p>
                  </a:txBody>
                  <a:tcPr/>
                </a:tc>
                <a:tc>
                  <a:txBody>
                    <a:bodyPr lIns="54864" rIns="54864" tIns="18288" bIns="18288" wrap="square" anchor="ctr"/>
                    <a:lstStyle/>
                    <a:p>
                      <a:pPr algn="l"/>
                      <a:r>
                        <a:rPr sz="950" b="0">
                          <a:solidFill>
                            <a:srgbClr val="000000"/>
                          </a:solidFill>
                          <a:latin typeface="Calibri"/>
                        </a:rPr>
                        <a:t>6.0 N</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Smooth ramp cuts arrival overshoot from ~48 N to ~6 N — a 8× improvement — by tapering the last 25 % of every approach.</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Overshoot is measured against the COMMANDED level, not the settled value — the settled value already contains the dwell relaxation, which would mask the control error.</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[T3 · T4] — MODULUS AT EVERY LEVEL</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mode's claim is that stiffness can be re-measured at every level. Here it is: a modulus fitted to the ramp into each level, so E as a function of stress.</a:t>
            </a:r>
          </a:p>
        </p:txBody>
      </p:sp>
      <p:pic>
        <p:nvPicPr>
          <p:cNvPr id="6" name="Picture 5" descr="sf9_stair_modulus.png"/>
          <p:cNvPicPr>
            <a:picLocks noChangeAspect="1"/>
          </p:cNvPicPr>
          <p:nvPr/>
        </p:nvPicPr>
        <p:blipFill>
          <a:blip r:embed="rId2"/>
          <a:stretch>
            <a:fillRect/>
          </a:stretch>
        </p:blipFill>
        <p:spPr>
          <a:xfrm>
            <a:off x="1472067" y="1389888"/>
            <a:ext cx="9263104" cy="3154680"/>
          </a:xfrm>
          <a:prstGeom prst="rect">
            <a:avLst/>
          </a:prstGeom>
        </p:spPr>
      </p:pic>
      <p:graphicFrame>
        <p:nvGraphicFramePr>
          <p:cNvPr id="7" name="Table 6"/>
          <p:cNvGraphicFramePr>
            <a:graphicFrameLocks noGrp="1"/>
          </p:cNvGraphicFramePr>
          <p:nvPr/>
        </p:nvGraphicFramePr>
        <p:xfrm>
          <a:off x="411480" y="4663440"/>
          <a:ext cx="11384280" cy="987552"/>
        </p:xfrm>
        <a:graphic>
          <a:graphicData uri="http://schemas.openxmlformats.org/drawingml/2006/table">
            <a:tbl>
              <a:tblPr firstRow="1" bandRow="1">
                <a:tableStyleId>{5C22544A-7EE6-4342-B048-85BDC9FD1C3A}</a:tableStyleId>
              </a:tblPr>
              <a:tblGrid>
                <a:gridCol w="2846070"/>
                <a:gridCol w="2846070"/>
                <a:gridCol w="2846070"/>
                <a:gridCol w="2846070"/>
              </a:tblGrid>
              <a:tr h="246888">
                <a:tc>
                  <a:txBody>
                    <a:bodyPr lIns="54864" rIns="54864" tIns="18288" bIns="18288" wrap="square" anchor="ctr"/>
                    <a:lstStyle/>
                    <a:p>
                      <a:pPr algn="l"/>
                      <a:r>
                        <a:rPr sz="950" b="1">
                          <a:solidFill>
                            <a:srgbClr val="FFFFFF"/>
                          </a:solidFill>
                          <a:latin typeface="Calibri"/>
                        </a:rPr>
                        <a:t>Ramp into level</a:t>
                      </a:r>
                    </a:p>
                  </a:txBody>
                  <a:tcPr>
                    <a:solidFill>
                      <a:srgbClr val="143D2F"/>
                    </a:solidFill>
                  </a:tcPr>
                </a:tc>
                <a:tc>
                  <a:txBody>
                    <a:bodyPr lIns="54864" rIns="54864" tIns="18288" bIns="18288" wrap="square" anchor="ctr"/>
                    <a:lstStyle/>
                    <a:p>
                      <a:pPr algn="l"/>
                      <a:r>
                        <a:rPr sz="950" b="1">
                          <a:solidFill>
                            <a:srgbClr val="FFFFFF"/>
                          </a:solidFill>
                          <a:latin typeface="Calibri"/>
                        </a:rPr>
                        <a:t>L1 · 0 → 3.8 MPa</a:t>
                      </a:r>
                    </a:p>
                  </a:txBody>
                  <a:tcPr>
                    <a:solidFill>
                      <a:srgbClr val="143D2F"/>
                    </a:solidFill>
                  </a:tcPr>
                </a:tc>
                <a:tc>
                  <a:txBody>
                    <a:bodyPr lIns="54864" rIns="54864" tIns="18288" bIns="18288" wrap="square" anchor="ctr"/>
                    <a:lstStyle/>
                    <a:p>
                      <a:pPr algn="l"/>
                      <a:r>
                        <a:rPr sz="950" b="1">
                          <a:solidFill>
                            <a:srgbClr val="FFFFFF"/>
                          </a:solidFill>
                          <a:latin typeface="Calibri"/>
                        </a:rPr>
                        <a:t>L2 · 3.8 → 7.5 MPa</a:t>
                      </a:r>
                    </a:p>
                  </a:txBody>
                  <a:tcPr>
                    <a:solidFill>
                      <a:srgbClr val="143D2F"/>
                    </a:solidFill>
                  </a:tcPr>
                </a:tc>
                <a:tc>
                  <a:txBody>
                    <a:bodyPr lIns="54864" rIns="54864" tIns="18288" bIns="18288" wrap="square" anchor="ctr"/>
                    <a:lstStyle/>
                    <a:p>
                      <a:pPr algn="l"/>
                      <a:r>
                        <a:rPr sz="950" b="1">
                          <a:solidFill>
                            <a:srgbClr val="FFFFFF"/>
                          </a:solidFill>
                          <a:latin typeface="Calibri"/>
                        </a:rPr>
                        <a:t>L3 · 7.5 → 11.2 MPa</a:t>
                      </a:r>
                    </a:p>
                  </a:txBody>
                  <a:tcPr>
                    <a:solidFill>
                      <a:srgbClr val="143D2F"/>
                    </a:solidFill>
                  </a:tcPr>
                </a:tc>
              </a:tr>
              <a:tr h="246888">
                <a:tc>
                  <a:txBody>
                    <a:bodyPr lIns="54864" rIns="54864" tIns="18288" bIns="18288" wrap="square" anchor="ctr"/>
                    <a:lstStyle/>
                    <a:p>
                      <a:pPr algn="l"/>
                      <a:r>
                        <a:rPr sz="950" b="0">
                          <a:solidFill>
                            <a:srgbClr val="000000"/>
                          </a:solidFill>
                          <a:latin typeface="Calibri"/>
                        </a:rPr>
                        <a:t>T3 Linear — E (GPa)</a:t>
                      </a:r>
                    </a:p>
                  </a:txBody>
                  <a:tcPr/>
                </a:tc>
                <a:tc>
                  <a:txBody>
                    <a:bodyPr lIns="54864" rIns="54864" tIns="18288" bIns="18288" wrap="square" anchor="ctr"/>
                    <a:lstStyle/>
                    <a:p>
                      <a:pPr algn="l"/>
                      <a:r>
                        <a:rPr sz="950" b="0">
                          <a:solidFill>
                            <a:srgbClr val="000000"/>
                          </a:solidFill>
                          <a:latin typeface="Calibri"/>
                        </a:rPr>
                        <a:t>2.00  (R² 0.979)</a:t>
                      </a:r>
                    </a:p>
                  </a:txBody>
                  <a:tcPr/>
                </a:tc>
                <a:tc>
                  <a:txBody>
                    <a:bodyPr lIns="54864" rIns="54864" tIns="18288" bIns="18288" wrap="square" anchor="ctr"/>
                    <a:lstStyle/>
                    <a:p>
                      <a:pPr algn="l"/>
                      <a:r>
                        <a:rPr sz="950" b="0">
                          <a:solidFill>
                            <a:srgbClr val="000000"/>
                          </a:solidFill>
                          <a:latin typeface="Calibri"/>
                        </a:rPr>
                        <a:t>2.51  (R² 0.971)</a:t>
                      </a:r>
                    </a:p>
                  </a:txBody>
                  <a:tcPr/>
                </a:tc>
                <a:tc>
                  <a:txBody>
                    <a:bodyPr lIns="54864" rIns="54864" tIns="18288" bIns="18288" wrap="square" anchor="ctr"/>
                    <a:lstStyle/>
                    <a:p>
                      <a:pPr algn="l"/>
                      <a:r>
                        <a:rPr sz="950" b="0">
                          <a:solidFill>
                            <a:srgbClr val="000000"/>
                          </a:solidFill>
                          <a:latin typeface="Calibri"/>
                        </a:rPr>
                        <a:t>2.69  (R² 0.954)</a:t>
                      </a:r>
                    </a:p>
                  </a:txBody>
                  <a:tcPr/>
                </a:tc>
              </a:tr>
              <a:tr h="246888">
                <a:tc>
                  <a:txBody>
                    <a:bodyPr lIns="54864" rIns="54864" tIns="18288" bIns="18288" wrap="square" anchor="ctr"/>
                    <a:lstStyle/>
                    <a:p>
                      <a:pPr algn="l"/>
                      <a:r>
                        <a:rPr sz="950" b="0">
                          <a:solidFill>
                            <a:srgbClr val="000000"/>
                          </a:solidFill>
                          <a:latin typeface="Calibri"/>
                        </a:rPr>
                        <a:t>T4 Smooth — E (GPa)</a:t>
                      </a:r>
                    </a:p>
                  </a:txBody>
                  <a:tcPr/>
                </a:tc>
                <a:tc>
                  <a:txBody>
                    <a:bodyPr lIns="54864" rIns="54864" tIns="18288" bIns="18288" wrap="square" anchor="ctr"/>
                    <a:lstStyle/>
                    <a:p>
                      <a:pPr algn="l"/>
                      <a:r>
                        <a:rPr sz="950" b="0">
                          <a:solidFill>
                            <a:srgbClr val="000000"/>
                          </a:solidFill>
                          <a:latin typeface="Calibri"/>
                        </a:rPr>
                        <a:t>2.13  (R² 0.998)</a:t>
                      </a:r>
                    </a:p>
                  </a:txBody>
                  <a:tcPr/>
                </a:tc>
                <a:tc>
                  <a:txBody>
                    <a:bodyPr lIns="54864" rIns="54864" tIns="18288" bIns="18288" wrap="square" anchor="ctr"/>
                    <a:lstStyle/>
                    <a:p>
                      <a:pPr algn="l"/>
                      <a:r>
                        <a:rPr sz="950" b="0">
                          <a:solidFill>
                            <a:srgbClr val="000000"/>
                          </a:solidFill>
                          <a:latin typeface="Calibri"/>
                        </a:rPr>
                        <a:t>2.88  (R² 0.992)</a:t>
                      </a:r>
                    </a:p>
                  </a:txBody>
                  <a:tcPr/>
                </a:tc>
                <a:tc>
                  <a:txBody>
                    <a:bodyPr lIns="54864" rIns="54864" tIns="18288" bIns="18288" wrap="square" anchor="ctr"/>
                    <a:lstStyle/>
                    <a:p>
                      <a:pPr algn="l"/>
                      <a:r>
                        <a:rPr sz="950" b="0">
                          <a:solidFill>
                            <a:srgbClr val="000000"/>
                          </a:solidFill>
                          <a:latin typeface="Calibri"/>
                        </a:rPr>
                        <a:t>2.88  (R² 0.986)</a:t>
                      </a:r>
                    </a:p>
                  </a:txBody>
                  <a:tcPr/>
                </a:tc>
              </a:tr>
              <a:tr h="246888">
                <a:tc>
                  <a:txBody>
                    <a:bodyPr lIns="54864" rIns="54864" tIns="18288" bIns="18288" wrap="square" anchor="ctr"/>
                    <a:lstStyle/>
                    <a:p>
                      <a:pPr algn="l"/>
                      <a:r>
                        <a:rPr sz="950" b="0">
                          <a:solidFill>
                            <a:srgbClr val="000000"/>
                          </a:solidFill>
                          <a:latin typeface="Calibri"/>
                        </a:rPr>
                        <a:t>Literature, FDM PLA</a:t>
                      </a:r>
                    </a:p>
                  </a:txBody>
                  <a:tcPr/>
                </a:tc>
                <a:tc>
                  <a:txBody>
                    <a:bodyPr lIns="54864" rIns="54864" tIns="18288" bIns="18288" wrap="square" anchor="ctr"/>
                    <a:lstStyle/>
                    <a:p>
                      <a:pPr algn="l"/>
                      <a:r>
                        <a:rPr sz="950" b="0">
                          <a:solidFill>
                            <a:srgbClr val="000000"/>
                          </a:solidFill>
                          <a:latin typeface="Calibri"/>
                        </a:rPr>
                        <a:t>2.65 – 3.06 GPa</a:t>
                      </a:r>
                    </a:p>
                  </a:txBody>
                  <a:tcPr/>
                </a:tc>
                <a:tc>
                  <a:txBody>
                    <a:bodyPr lIns="54864" rIns="54864" tIns="18288" bIns="18288" wrap="square" anchor="ctr"/>
                    <a:lstStyle/>
                    <a:p>
                      <a:pPr algn="l"/>
                      <a:r>
                        <a:rPr sz="950" b="0">
                          <a:solidFill>
                            <a:srgbClr val="000000"/>
                          </a:solidFill>
                          <a:latin typeface="Calibri"/>
                        </a:rPr>
                        <a:t>(solid / high infill)</a:t>
                      </a:r>
                    </a:p>
                  </a:txBody>
                  <a:tcPr/>
                </a:tc>
                <a:tc>
                  <a:txBody>
                    <a:bodyPr lIns="54864" rIns="54864" tIns="18288" bIns="18288" wrap="square" anchor="ctr"/>
                    <a:lstStyle/>
                    <a:p>
                      <a:pPr algn="l"/>
                      <a:r>
                        <a:rPr sz="950" b="0">
                          <a:solidFill>
                            <a:srgbClr val="000000"/>
                          </a:solidFill>
                          <a:latin typeface="Calibri"/>
                        </a:rPr>
                        <a:t>Chacón · Chen et al.</a:t>
                      </a:r>
                    </a:p>
                  </a:txBody>
                  <a:tcPr/>
                </a:tc>
              </a:tr>
            </a:tbl>
          </a:graphicData>
        </a:graphic>
      </p:graphicFrame>
      <p:sp>
        <p:nvSpPr>
          <p:cNvPr id="8" name="Rectangle 7"/>
          <p:cNvSpPr/>
          <p:nvPr/>
        </p:nvSpPr>
        <p:spPr>
          <a:xfrm>
            <a:off x="411480" y="5742432"/>
            <a:ext cx="11384280" cy="53035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E climbs 2.13 → 2.88 GPa across the three levels and settles INSIDE the literature band — the rise is rig slack being squeezed out at low load, the same artefact that fools the crosshead stiffness in T8.</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Fit quality improves with the Smooth ramp (R² ≥ 0.986 vs 0.954) because a tapered approach spends more samples in steady loading and fewer in the overshoot transient.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RELAXATION  [T2] — HOW IT WORKS</a:t>
            </a:r>
          </a:p>
        </p:txBody>
      </p:sp>
      <p:pic>
        <p:nvPicPr>
          <p:cNvPr id="5" name="Picture 4" descr="relaxation.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Ramps to a target STRAIN, then holds the crosshead still and watches the force decay.
• Measures the viscoelastic stress-relaxation of the polymer
• Decay rate and magnitude are material fingerprints
• Requires live DIC (green 2/2) — strain is the controlled variable
• Non-destructive below yield</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280160"/>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Hold strain</a:t>
                      </a:r>
                    </a:p>
                  </a:txBody>
                  <a:tcPr/>
                </a:tc>
                <a:tc>
                  <a:txBody>
                    <a:bodyPr lIns="54864" rIns="54864" tIns="18288" bIns="18288" wrap="square" anchor="ctr"/>
                    <a:lstStyle/>
                    <a:p>
                      <a:pPr algn="l"/>
                      <a:r>
                        <a:rPr sz="1000" b="0">
                          <a:solidFill>
                            <a:srgbClr val="000000"/>
                          </a:solidFill>
                          <a:latin typeface="Calibri"/>
                        </a:rPr>
                        <a:t>0.010</a:t>
                      </a:r>
                    </a:p>
                  </a:txBody>
                  <a:tcPr/>
                </a:tc>
              </a:tr>
              <a:tr h="256032">
                <a:tc>
                  <a:txBody>
                    <a:bodyPr lIns="54864" rIns="54864" tIns="18288" bIns="18288" wrap="square" anchor="ctr"/>
                    <a:lstStyle/>
                    <a:p>
                      <a:pPr algn="l"/>
                      <a:r>
                        <a:rPr sz="1000" b="0">
                          <a:solidFill>
                            <a:srgbClr val="000000"/>
                          </a:solidFill>
                          <a:latin typeface="Calibri"/>
                        </a:rPr>
                        <a:t>Hold duration (measured)</a:t>
                      </a:r>
                    </a:p>
                  </a:txBody>
                  <a:tcPr/>
                </a:tc>
                <a:tc>
                  <a:txBody>
                    <a:bodyPr lIns="54864" rIns="54864" tIns="18288" bIns="18288" wrap="square" anchor="ctr"/>
                    <a:lstStyle/>
                    <a:p>
                      <a:pPr algn="l"/>
                      <a:r>
                        <a:rPr sz="1000" b="0">
                          <a:solidFill>
                            <a:srgbClr val="000000"/>
                          </a:solidFill>
                          <a:latin typeface="Calibri"/>
                        </a:rPr>
                        <a:t>81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Hold strain 0.001–0.200 · Duration 1–3600 s · Speed 0.005–0.500 mm/s · needs DIC green 2/2</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hold strain below yield (≈0.015 for PLA) for a purely elastic hold.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RELAXATION  [T2] — OUR RESULTS</a:t>
            </a:r>
          </a:p>
        </p:txBody>
      </p:sp>
      <p:pic>
        <p:nvPicPr>
          <p:cNvPr id="5" name="Picture 4" descr="sf9_relax.png"/>
          <p:cNvPicPr>
            <a:picLocks noChangeAspect="1"/>
          </p:cNvPicPr>
          <p:nvPr/>
        </p:nvPicPr>
        <p:blipFill>
          <a:blip r:embed="rId2"/>
          <a:stretch>
            <a:fillRect/>
          </a:stretch>
        </p:blipFill>
        <p:spPr>
          <a:xfrm>
            <a:off x="1861386" y="1133856"/>
            <a:ext cx="8484467" cy="2889504"/>
          </a:xfrm>
          <a:prstGeom prst="rect">
            <a:avLst/>
          </a:prstGeom>
        </p:spPr>
      </p:pic>
      <p:sp>
        <p:nvSpPr>
          <p:cNvPr id="6" name="Rounded Rectangle 5"/>
          <p:cNvSpPr/>
          <p:nvPr/>
        </p:nvSpPr>
        <p:spPr>
          <a:xfrm>
            <a:off x="41148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2146 N</a:t>
            </a:r>
          </a:p>
          <a:p>
            <a:pPr algn="ctr"/>
            <a:r>
              <a:rPr sz="950">
                <a:solidFill>
                  <a:srgbClr val="000000"/>
                </a:solidFill>
                <a:latin typeface="Calibri"/>
              </a:rPr>
              <a:t>Peak load</a:t>
            </a:r>
          </a:p>
        </p:txBody>
      </p:sp>
      <p:sp>
        <p:nvSpPr>
          <p:cNvPr id="7" name="Rounded Rectangle 6"/>
          <p:cNvSpPr/>
          <p:nvPr/>
        </p:nvSpPr>
        <p:spPr>
          <a:xfrm>
            <a:off x="325755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2040 N</a:t>
            </a:r>
          </a:p>
          <a:p>
            <a:pPr algn="ctr"/>
            <a:r>
              <a:rPr sz="950">
                <a:solidFill>
                  <a:srgbClr val="000000"/>
                </a:solidFill>
                <a:latin typeface="Calibri"/>
              </a:rPr>
              <a:t>After hold</a:t>
            </a:r>
          </a:p>
        </p:txBody>
      </p:sp>
      <p:sp>
        <p:nvSpPr>
          <p:cNvPr id="8" name="Rounded Rectangle 7"/>
          <p:cNvSpPr/>
          <p:nvPr/>
        </p:nvSpPr>
        <p:spPr>
          <a:xfrm>
            <a:off x="6103620"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106 N  (4.9 %)</a:t>
            </a:r>
          </a:p>
          <a:p>
            <a:pPr algn="ctr"/>
            <a:r>
              <a:rPr sz="950">
                <a:solidFill>
                  <a:srgbClr val="000000"/>
                </a:solidFill>
                <a:latin typeface="Calibri"/>
              </a:rPr>
              <a:t>Stress relaxed</a:t>
            </a:r>
          </a:p>
        </p:txBody>
      </p:sp>
      <p:sp>
        <p:nvSpPr>
          <p:cNvPr id="9" name="Rounded Rectangle 8"/>
          <p:cNvSpPr/>
          <p:nvPr/>
        </p:nvSpPr>
        <p:spPr>
          <a:xfrm>
            <a:off x="8949689" y="4114800"/>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0.01011</a:t>
            </a:r>
          </a:p>
          <a:p>
            <a:pPr algn="ctr"/>
            <a:r>
              <a:rPr sz="950">
                <a:solidFill>
                  <a:srgbClr val="000000"/>
                </a:solidFill>
                <a:latin typeface="Calibri"/>
              </a:rPr>
              <a:t>Strain held</a:t>
            </a:r>
          </a:p>
        </p:txBody>
      </p:sp>
      <p:graphicFrame>
        <p:nvGraphicFramePr>
          <p:cNvPr id="10" name="Table 9"/>
          <p:cNvGraphicFramePr>
            <a:graphicFrameLocks noGrp="1"/>
          </p:cNvGraphicFramePr>
          <p:nvPr/>
        </p:nvGraphicFramePr>
        <p:xfrm>
          <a:off x="411480" y="4956048"/>
          <a:ext cx="11384280" cy="713232"/>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Force decay over 81 s</a:t>
                      </a:r>
                    </a:p>
                  </a:txBody>
                  <a:tcPr/>
                </a:tc>
                <a:tc>
                  <a:txBody>
                    <a:bodyPr lIns="54864" rIns="54864" tIns="18288" bIns="18288" wrap="square" anchor="ctr"/>
                    <a:lstStyle/>
                    <a:p>
                      <a:pPr algn="l"/>
                      <a:r>
                        <a:rPr sz="950" b="0">
                          <a:solidFill>
                            <a:srgbClr val="000000"/>
                          </a:solidFill>
                          <a:latin typeface="Calibri"/>
                        </a:rPr>
                        <a:t>2146 → 2040 N</a:t>
                      </a:r>
                    </a:p>
                  </a:txBody>
                  <a:tcPr/>
                </a:tc>
                <a:tc>
                  <a:txBody>
                    <a:bodyPr lIns="54864" rIns="54864" tIns="18288" bIns="18288" wrap="square" anchor="ctr"/>
                    <a:lstStyle/>
                    <a:p>
                      <a:pPr algn="l"/>
                      <a:r>
                        <a:rPr sz="950" b="0">
                          <a:solidFill>
                            <a:srgbClr val="000000"/>
                          </a:solidFill>
                          <a:latin typeface="Calibri"/>
                        </a:rPr>
                        <a:t>4.9 % of the initial stress relaxed away</a:t>
                      </a:r>
                    </a:p>
                  </a:txBody>
                  <a:tcPr/>
                </a:tc>
              </a:tr>
              <a:tr h="237744">
                <a:tc>
                  <a:txBody>
                    <a:bodyPr lIns="54864" rIns="54864" tIns="18288" bIns="18288" wrap="square" anchor="ctr"/>
                    <a:lstStyle/>
                    <a:p>
                      <a:pPr algn="l"/>
                      <a:r>
                        <a:rPr sz="950" b="0">
                          <a:solidFill>
                            <a:srgbClr val="000000"/>
                          </a:solidFill>
                          <a:latin typeface="Calibri"/>
                        </a:rPr>
                        <a:t>Strain held</a:t>
                      </a:r>
                    </a:p>
                  </a:txBody>
                  <a:tcPr/>
                </a:tc>
                <a:tc>
                  <a:txBody>
                    <a:bodyPr lIns="54864" rIns="54864" tIns="18288" bIns="18288" wrap="square" anchor="ctr"/>
                    <a:lstStyle/>
                    <a:p>
                      <a:pPr algn="l"/>
                      <a:r>
                        <a:rPr sz="950" b="0">
                          <a:solidFill>
                            <a:srgbClr val="000000"/>
                          </a:solidFill>
                          <a:latin typeface="Calibri"/>
                        </a:rPr>
                        <a:t>0.01011 ± 0.000024</a:t>
                      </a:r>
                    </a:p>
                  </a:txBody>
                  <a:tcPr/>
                </a:tc>
                <a:tc>
                  <a:txBody>
                    <a:bodyPr lIns="54864" rIns="54864" tIns="18288" bIns="18288" wrap="square" anchor="ctr"/>
                    <a:lstStyle/>
                    <a:p>
                      <a:pPr algn="l"/>
                      <a:r>
                        <a:rPr sz="950" b="0">
                          <a:solidFill>
                            <a:srgbClr val="000000"/>
                          </a:solidFill>
                          <a:latin typeface="Calibri"/>
                        </a:rPr>
                        <a:t>±0.24 % of the held value — the crosshead really did stand still</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Textbook viscoelastic relaxation: 106 N (4.9 %) shed at a strain held to ±0.24 %. The control did its job — the decay is the MATERIAL, not drift.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Relaxation is the one mode whose dwell is not a zero-speed hold: it keeps nudging the crosshead to pin the strain, so the dwell is found from crosshead POSITION going flat.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[T1] — HOW IT WORKS</a:t>
            </a:r>
          </a:p>
        </p:txBody>
      </p:sp>
      <p:pic>
        <p:nvPicPr>
          <p:cNvPr id="5" name="Picture 4" descr="creep.png"/>
          <p:cNvPicPr>
            <a:picLocks noChangeAspect="1"/>
          </p:cNvPicPr>
          <p:nvPr/>
        </p:nvPicPr>
        <p:blipFill>
          <a:blip r:embed="rId2"/>
          <a:stretch>
            <a:fillRect/>
          </a:stretch>
        </p:blipFill>
        <p:spPr>
          <a:xfrm>
            <a:off x="593271" y="1188720"/>
            <a:ext cx="5991497" cy="3931920"/>
          </a:xfrm>
          <a:prstGeom prst="rect">
            <a:avLst/>
          </a:prstGeom>
        </p:spPr>
      </p:pic>
      <p:sp>
        <p:nvSpPr>
          <p:cNvPr id="6" name="TextBox 5"/>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7" name="Rounded Rectangle 6"/>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Ramps to a target LOAD, then holds that force constant and watches the strain grow.
• The dual of relaxation: fix stress, measure strain(t)
• Reveals time-dependent deformation under sustained service load
• Primary-creep slope indicates how the part behaves under a permanent load
• Non-destructive well below UTS</a:t>
            </a:r>
          </a:p>
        </p:txBody>
      </p:sp>
      <p:sp>
        <p:nvSpPr>
          <p:cNvPr id="8" name="TextBox 7"/>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9" name="Table 8"/>
          <p:cNvGraphicFramePr>
            <a:graphicFrameLocks noGrp="1"/>
          </p:cNvGraphicFramePr>
          <p:nvPr/>
        </p:nvGraphicFramePr>
        <p:xfrm>
          <a:off x="6903720" y="3749039"/>
          <a:ext cx="4846319" cy="1280160"/>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Hold load</a:t>
                      </a:r>
                    </a:p>
                  </a:txBody>
                  <a:tcPr/>
                </a:tc>
                <a:tc>
                  <a:txBody>
                    <a:bodyPr lIns="54864" rIns="54864" tIns="18288" bIns="18288" wrap="square" anchor="ctr"/>
                    <a:lstStyle/>
                    <a:p>
                      <a:pPr algn="l"/>
                      <a:r>
                        <a:rPr sz="1000" b="0">
                          <a:solidFill>
                            <a:srgbClr val="000000"/>
                          </a:solidFill>
                          <a:latin typeface="Calibri"/>
                        </a:rPr>
                        <a:t>400 N</a:t>
                      </a:r>
                    </a:p>
                  </a:txBody>
                  <a:tcPr/>
                </a:tc>
              </a:tr>
              <a:tr h="256032">
                <a:tc>
                  <a:txBody>
                    <a:bodyPr lIns="54864" rIns="54864" tIns="18288" bIns="18288" wrap="square" anchor="ctr"/>
                    <a:lstStyle/>
                    <a:p>
                      <a:pPr algn="l"/>
                      <a:r>
                        <a:rPr sz="1000" b="0">
                          <a:solidFill>
                            <a:srgbClr val="000000"/>
                          </a:solidFill>
                          <a:latin typeface="Calibri"/>
                        </a:rPr>
                        <a:t>Hold duration (measured)</a:t>
                      </a:r>
                    </a:p>
                  </a:txBody>
                  <a:tcPr/>
                </a:tc>
                <a:tc>
                  <a:txBody>
                    <a:bodyPr lIns="54864" rIns="54864" tIns="18288" bIns="18288" wrap="square" anchor="ctr"/>
                    <a:lstStyle/>
                    <a:p>
                      <a:pPr algn="l"/>
                      <a:r>
                        <a:rPr sz="1000" b="0">
                          <a:solidFill>
                            <a:srgbClr val="000000"/>
                          </a:solidFill>
                          <a:latin typeface="Calibri"/>
                        </a:rPr>
                        <a:t>40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S20 · 100 % infill</a:t>
                      </a:r>
                    </a:p>
                  </a:txBody>
                  <a:tcPr/>
                </a:tc>
              </a:tr>
            </a:tbl>
          </a:graphicData>
        </a:graphic>
      </p:graphicFrame>
      <p:sp>
        <p:nvSpPr>
          <p:cNvPr id="10" name="Rectangle 9"/>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Load 10–5000 N · Duration 1–3600 s · Speed 0.005–0.500 mm/s</a:t>
            </a:r>
          </a:p>
        </p:txBody>
      </p:sp>
      <p:sp>
        <p:nvSpPr>
          <p:cNvPr id="11" name="TextBox 10"/>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use ≤60–70 % of UTS — above that, creep runs away and the specimen fails during the hold.</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[T1] — OUR RESULTS</a:t>
            </a:r>
          </a:p>
        </p:txBody>
      </p:sp>
      <p:sp>
        <p:nvSpPr>
          <p:cNvPr id="5" name="Rectangle 4"/>
          <p:cNvSpPr/>
          <p:nvPr/>
        </p:nvSpPr>
        <p:spPr>
          <a:xfrm>
            <a:off x="411480" y="5888736"/>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 RESOLVED — T9 ran 2026-08-11 on S23 at 600 N tared for 877 s and creep IS resolved: +1080 µε drift-corrected = 41× the noise floor, decelerating (Findley n = 0.48).  See p217-217.</a:t>
            </a:r>
          </a:p>
        </p:txBody>
      </p:sp>
      <p:pic>
        <p:nvPicPr>
          <p:cNvPr id="6" name="Picture 5" descr="sf9_creep.png"/>
          <p:cNvPicPr>
            <a:picLocks noChangeAspect="1"/>
          </p:cNvPicPr>
          <p:nvPr/>
        </p:nvPicPr>
        <p:blipFill>
          <a:blip r:embed="rId2"/>
          <a:stretch>
            <a:fillRect/>
          </a:stretch>
        </p:blipFill>
        <p:spPr>
          <a:xfrm>
            <a:off x="2774272" y="1133856"/>
            <a:ext cx="6658695" cy="2267712"/>
          </a:xfrm>
          <a:prstGeom prst="rect">
            <a:avLst/>
          </a:prstGeom>
        </p:spPr>
      </p:pic>
      <p:sp>
        <p:nvSpPr>
          <p:cNvPr id="7" name="Rounded Rectangle 6"/>
          <p:cNvSpPr/>
          <p:nvPr/>
        </p:nvSpPr>
        <p:spPr>
          <a:xfrm>
            <a:off x="41148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398 N</a:t>
            </a:r>
          </a:p>
          <a:p>
            <a:pPr algn="ctr"/>
            <a:r>
              <a:rPr sz="950">
                <a:solidFill>
                  <a:srgbClr val="000000"/>
                </a:solidFill>
                <a:latin typeface="Calibri"/>
              </a:rPr>
              <a:t>Force held</a:t>
            </a:r>
          </a:p>
        </p:txBody>
      </p:sp>
      <p:sp>
        <p:nvSpPr>
          <p:cNvPr id="8" name="Rounded Rectangle 7"/>
          <p:cNvSpPr/>
          <p:nvPr/>
        </p:nvSpPr>
        <p:spPr>
          <a:xfrm>
            <a:off x="325755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2.2 N</a:t>
            </a:r>
          </a:p>
          <a:p>
            <a:pPr algn="ctr"/>
            <a:r>
              <a:rPr sz="950">
                <a:solidFill>
                  <a:srgbClr val="000000"/>
                </a:solidFill>
                <a:latin typeface="Calibri"/>
              </a:rPr>
              <a:t>Hold stability</a:t>
            </a:r>
          </a:p>
        </p:txBody>
      </p:sp>
      <p:sp>
        <p:nvSpPr>
          <p:cNvPr id="9" name="Rounded Rectangle 8"/>
          <p:cNvSpPr/>
          <p:nvPr/>
        </p:nvSpPr>
        <p:spPr>
          <a:xfrm>
            <a:off x="6103620"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 µε  (none)</a:t>
            </a:r>
          </a:p>
          <a:p>
            <a:pPr algn="ctr"/>
            <a:r>
              <a:rPr sz="950">
                <a:solidFill>
                  <a:srgbClr val="000000"/>
                </a:solidFill>
                <a:latin typeface="Calibri"/>
              </a:rPr>
              <a:t>Creep measured</a:t>
            </a:r>
          </a:p>
        </p:txBody>
      </p:sp>
      <p:sp>
        <p:nvSpPr>
          <p:cNvPr id="10" name="Rounded Rectangle 9"/>
          <p:cNvSpPr/>
          <p:nvPr/>
        </p:nvSpPr>
        <p:spPr>
          <a:xfrm>
            <a:off x="8949689" y="3493008"/>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12 µε</a:t>
            </a:r>
          </a:p>
          <a:p>
            <a:pPr algn="ctr"/>
            <a:r>
              <a:rPr sz="950">
                <a:solidFill>
                  <a:srgbClr val="000000"/>
                </a:solidFill>
                <a:latin typeface="Calibri"/>
              </a:rPr>
              <a:t>DIC noise band</a:t>
            </a:r>
          </a:p>
        </p:txBody>
      </p:sp>
      <p:graphicFrame>
        <p:nvGraphicFramePr>
          <p:cNvPr id="11" name="Table 10"/>
          <p:cNvGraphicFramePr>
            <a:graphicFrameLocks noGrp="1"/>
          </p:cNvGraphicFramePr>
          <p:nvPr/>
        </p:nvGraphicFramePr>
        <p:xfrm>
          <a:off x="411480" y="4334256"/>
          <a:ext cx="11384280" cy="950976"/>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Force held</a:t>
                      </a:r>
                    </a:p>
                  </a:txBody>
                  <a:tcPr/>
                </a:tc>
                <a:tc>
                  <a:txBody>
                    <a:bodyPr lIns="54864" rIns="54864" tIns="18288" bIns="18288" wrap="square" anchor="ctr"/>
                    <a:lstStyle/>
                    <a:p>
                      <a:pPr algn="l"/>
                      <a:r>
                        <a:rPr sz="950" b="0">
                          <a:solidFill>
                            <a:srgbClr val="000000"/>
                          </a:solidFill>
                          <a:latin typeface="Calibri"/>
                        </a:rPr>
                        <a:t>398 ± 2.2 N</a:t>
                      </a:r>
                    </a:p>
                  </a:txBody>
                  <a:tcPr/>
                </a:tc>
                <a:tc>
                  <a:txBody>
                    <a:bodyPr lIns="54864" rIns="54864" tIns="18288" bIns="18288" wrap="square" anchor="ctr"/>
                    <a:lstStyle/>
                    <a:p>
                      <a:pPr algn="l"/>
                      <a:r>
                        <a:rPr sz="950" b="0">
                          <a:solidFill>
                            <a:srgbClr val="000000"/>
                          </a:solidFill>
                          <a:latin typeface="Calibri"/>
                        </a:rPr>
                        <a:t>±0.55 % of target — the load is genuinely constant</a:t>
                      </a:r>
                    </a:p>
                  </a:txBody>
                  <a:tcPr/>
                </a:tc>
              </a:tr>
              <a:tr h="237744">
                <a:tc>
                  <a:txBody>
                    <a:bodyPr lIns="54864" rIns="54864" tIns="18288" bIns="18288" wrap="square" anchor="ctr"/>
                    <a:lstStyle/>
                    <a:p>
                      <a:pPr algn="l"/>
                      <a:r>
                        <a:rPr sz="950" b="0">
                          <a:solidFill>
                            <a:srgbClr val="000000"/>
                          </a:solidFill>
                          <a:latin typeface="Calibri"/>
                        </a:rPr>
                        <a:t>DIC strain over the hold</a:t>
                      </a:r>
                    </a:p>
                  </a:txBody>
                  <a:tcPr/>
                </a:tc>
                <a:tc>
                  <a:txBody>
                    <a:bodyPr lIns="54864" rIns="54864" tIns="18288" bIns="18288" wrap="square" anchor="ctr"/>
                    <a:lstStyle/>
                    <a:p>
                      <a:pPr algn="l"/>
                      <a:r>
                        <a:rPr sz="950" b="0">
                          <a:solidFill>
                            <a:srgbClr val="000000"/>
                          </a:solidFill>
                          <a:latin typeface="Calibri"/>
                        </a:rPr>
                        <a:t>0.00326 ± 0.000012</a:t>
                      </a:r>
                    </a:p>
                  </a:txBody>
                  <a:tcPr/>
                </a:tc>
                <a:tc>
                  <a:txBody>
                    <a:bodyPr lIns="54864" rIns="54864" tIns="18288" bIns="18288" wrap="square" anchor="ctr"/>
                    <a:lstStyle/>
                    <a:p>
                      <a:pPr algn="l"/>
                      <a:r>
                        <a:rPr sz="950" b="0">
                          <a:solidFill>
                            <a:srgbClr val="000000"/>
                          </a:solidFill>
                          <a:latin typeface="Calibri"/>
                        </a:rPr>
                        <a:t>drift +0.00 µε/s → +0 µε in 40 s: BELOW the ±12 µε noise band</a:t>
                      </a:r>
                    </a:p>
                  </a:txBody>
                  <a:tcPr/>
                </a:tc>
              </a:tr>
              <a:tr h="237744">
                <a:tc>
                  <a:txBody>
                    <a:bodyPr lIns="54864" rIns="54864" tIns="18288" bIns="18288" wrap="square" anchor="ctr"/>
                    <a:lstStyle/>
                    <a:p>
                      <a:pPr algn="l"/>
                      <a:r>
                        <a:rPr sz="950" b="0">
                          <a:solidFill>
                            <a:srgbClr val="000000"/>
                          </a:solidFill>
                          <a:latin typeface="Calibri"/>
                        </a:rPr>
                        <a:t>DIC dropouts skipped</a:t>
                      </a:r>
                    </a:p>
                  </a:txBody>
                  <a:tcPr/>
                </a:tc>
                <a:tc>
                  <a:txBody>
                    <a:bodyPr lIns="54864" rIns="54864" tIns="18288" bIns="18288" wrap="square" anchor="ctr"/>
                    <a:lstStyle/>
                    <a:p>
                      <a:pPr algn="l"/>
                      <a:r>
                        <a:rPr sz="950" b="0">
                          <a:solidFill>
                            <a:srgbClr val="000000"/>
                          </a:solidFill>
                          <a:latin typeface="Calibri"/>
                        </a:rPr>
                        <a:t>107 of 448 rows</a:t>
                      </a:r>
                    </a:p>
                  </a:txBody>
                  <a:tcPr/>
                </a:tc>
                <a:tc>
                  <a:txBody>
                    <a:bodyPr lIns="54864" rIns="54864" tIns="18288" bIns="18288" wrap="square" anchor="ctr"/>
                    <a:lstStyle/>
                    <a:p>
                      <a:pPr algn="l"/>
                      <a:r>
                        <a:rPr sz="950" b="0">
                          <a:solidFill>
                            <a:srgbClr val="000000"/>
                          </a:solidFill>
                          <a:latin typeface="Calibri"/>
                        </a:rPr>
                        <a:t>a dropout writes ec=0.0; differencing across one faked +3257 µε of 'creep'</a:t>
                      </a:r>
                    </a:p>
                  </a:txBody>
                  <a:tcPr/>
                </a:tc>
              </a:tr>
            </a:tbl>
          </a:graphicData>
        </a:graphic>
      </p:graphicFrame>
      <p:sp>
        <p:nvSpPr>
          <p:cNvPr id="12" name="Rectangle 11"/>
          <p:cNvSpPr/>
          <p:nvPr/>
        </p:nvSpPr>
        <p:spPr>
          <a:xfrm>
            <a:off x="411480" y="5376672"/>
            <a:ext cx="1138428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Force pinned to ±2.2 N (0.55 %) — the CONTROL works. But creep was NOT resolvable: 5.0 MPa is only 11 % of UTS and PLA is glassy at room temperature. Negative result, correctly reported.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T1 could not have detected creep at all: fitted rate +0.002 ± 0.060 µε/s, so the 95 % bound is &lt;0.12 µε/s — under 5 µε across the whole 40 s hold. The hold was ~20× too short and the stress ~2× too low. Run a 900 s ZERO-LOAD baseline first to separate thermal drift from creep.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 FRACTURE  [T7.2] — HOW IT WORKS</a:t>
            </a:r>
          </a:p>
        </p:txBody>
      </p:sp>
      <p:pic>
        <p:nvPicPr>
          <p:cNvPr id="5" name="Picture 4" descr="staircase_to_fracture.png"/>
          <p:cNvPicPr>
            <a:picLocks noChangeAspect="1"/>
          </p:cNvPicPr>
          <p:nvPr/>
        </p:nvPicPr>
        <p:blipFill>
          <a:blip r:embed="rId2"/>
          <a:stretch>
            <a:fillRect/>
          </a:stretch>
        </p:blipFill>
        <p:spPr>
          <a:xfrm>
            <a:off x="457200" y="1188720"/>
            <a:ext cx="6263640" cy="2665379"/>
          </a:xfrm>
          <a:prstGeom prst="rect">
            <a:avLst/>
          </a:prstGeom>
        </p:spPr>
      </p:pic>
      <p:sp>
        <p:nvSpPr>
          <p:cNvPr id="6" name="TextBox 5"/>
          <p:cNvSpPr txBox="1"/>
          <p:nvPr/>
        </p:nvSpPr>
        <p:spPr>
          <a:xfrm>
            <a:off x="457200" y="3991258"/>
            <a:ext cx="6263640" cy="685800"/>
          </a:xfrm>
          <a:prstGeom prst="rect">
            <a:avLst/>
          </a:prstGeom>
          <a:noFill/>
        </p:spPr>
        <p:txBody>
          <a:bodyPr wrap="square" lIns="45720" rIns="45720" tIns="18288" bIns="18288" anchor="t">
            <a:spAutoFit/>
          </a:bodyPr>
          <a:lstStyle/>
          <a:p>
            <a:pPr algn="l"/>
            <a:r>
              <a:rPr sz="1050" b="0" i="1">
                <a:solidFill>
                  <a:srgbClr val="707070"/>
                </a:solidFill>
                <a:latin typeface="Calibri"/>
              </a:rPr>
              <a:t>Destructive modes are behind a confirmation dialog that echoes area, gauge and infill before arming.</a:t>
            </a:r>
          </a:p>
        </p:txBody>
      </p:sp>
      <p:sp>
        <p:nvSpPr>
          <p:cNvPr id="7" name="TextBox 6"/>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8" name="Rounded Rectangle 7"/>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DESTRUCTIVE. Like Staircase, but it keeps adding levels until the specimen breaks.
• A mini stress-relaxation at EVERY level, right up to failure
• Yield onset appears as the dwell drop stops shrinking and starts growing
• Modulus re-measured at every level = stiffness vs stress
• Ends in fracture → UTS and ε_f from the SAME specimen</a:t>
            </a:r>
          </a:p>
        </p:txBody>
      </p:sp>
      <p:sp>
        <p:nvSpPr>
          <p:cNvPr id="9" name="TextBox 8"/>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10" name="Table 9"/>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Start / Step</a:t>
                      </a:r>
                    </a:p>
                  </a:txBody>
                  <a:tcPr/>
                </a:tc>
                <a:tc>
                  <a:txBody>
                    <a:bodyPr lIns="54864" rIns="54864" tIns="18288" bIns="18288" wrap="square" anchor="ctr"/>
                    <a:lstStyle/>
                    <a:p>
                      <a:pPr algn="l"/>
                      <a:r>
                        <a:rPr sz="1000" b="0">
                          <a:solidFill>
                            <a:srgbClr val="000000"/>
                          </a:solidFill>
                          <a:latin typeface="Calibri"/>
                        </a:rPr>
                        <a:t>200 / 120 N</a:t>
                      </a:r>
                    </a:p>
                  </a:txBody>
                  <a:tcPr/>
                </a:tc>
              </a:tr>
              <a:tr h="256032">
                <a:tc>
                  <a:txBody>
                    <a:bodyPr lIns="54864" rIns="54864" tIns="18288" bIns="18288" wrap="square" anchor="ctr"/>
                    <a:lstStyle/>
                    <a:p>
                      <a:pPr algn="l"/>
                      <a:r>
                        <a:rPr sz="1000" b="0">
                          <a:solidFill>
                            <a:srgbClr val="000000"/>
                          </a:solidFill>
                          <a:latin typeface="Calibri"/>
                        </a:rPr>
                        <a:t>Dwell</a:t>
                      </a:r>
                    </a:p>
                  </a:txBody>
                  <a:tcPr/>
                </a:tc>
                <a:tc>
                  <a:txBody>
                    <a:bodyPr lIns="54864" rIns="54864" tIns="18288" bIns="18288" wrap="square" anchor="ctr"/>
                    <a:lstStyle/>
                    <a:p>
                      <a:pPr algn="l"/>
                      <a:r>
                        <a:rPr sz="1000" b="0">
                          <a:solidFill>
                            <a:srgbClr val="000000"/>
                          </a:solidFill>
                          <a:latin typeface="Calibri"/>
                        </a:rPr>
                        <a:t>10 s</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Ramp</a:t>
                      </a:r>
                    </a:p>
                  </a:txBody>
                  <a:tcPr/>
                </a:tc>
                <a:tc>
                  <a:txBody>
                    <a:bodyPr lIns="54864" rIns="54864" tIns="18288" bIns="18288" wrap="square" anchor="ctr"/>
                    <a:lstStyle/>
                    <a:p>
                      <a:pPr algn="l"/>
                      <a:r>
                        <a:rPr sz="1000" b="0">
                          <a:solidFill>
                            <a:srgbClr val="000000"/>
                          </a:solidFill>
                          <a:latin typeface="Calibri"/>
                        </a:rPr>
                        <a:t>Smooth</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S18 · 50 % infill</a:t>
                      </a:r>
                    </a:p>
                  </a:txBody>
                  <a:tcPr/>
                </a:tc>
              </a:tr>
            </a:tbl>
          </a:graphicData>
        </a:graphic>
      </p:graphicFrame>
      <p:sp>
        <p:nvSpPr>
          <p:cNvPr id="11" name="Rectangle 10"/>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Start 0–5000 N · Step 10–2000 N · Dwell 1–600 s · Speed 0.005–0.500 mm/s · max 60 levels (policy cap)</a:t>
            </a:r>
          </a:p>
        </p:txBody>
      </p:sp>
      <p:sp>
        <p:nvSpPr>
          <p:cNvPr id="12" name="TextBox 11"/>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size Step so ~8–12 levels reach fracture. Too fine and the run drags; too coarse and you lose resolution exactly where yield happens.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199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STAIRCASE → FRACTURE  [T7.2] — OUR RESULTS</a:t>
            </a:r>
          </a:p>
        </p:txBody>
      </p:sp>
      <p:pic>
        <p:nvPicPr>
          <p:cNvPr id="5" name="Picture 4" descr="sf9_stair_fracture.png"/>
          <p:cNvPicPr>
            <a:picLocks noChangeAspect="1"/>
          </p:cNvPicPr>
          <p:nvPr/>
        </p:nvPicPr>
        <p:blipFill>
          <a:blip r:embed="rId2"/>
          <a:stretch>
            <a:fillRect/>
          </a:stretch>
        </p:blipFill>
        <p:spPr>
          <a:xfrm>
            <a:off x="2210430" y="1133856"/>
            <a:ext cx="7786378" cy="2651760"/>
          </a:xfrm>
          <a:prstGeom prst="rect">
            <a:avLst/>
          </a:prstGeom>
        </p:spPr>
      </p:pic>
      <p:sp>
        <p:nvSpPr>
          <p:cNvPr id="6" name="Rounded Rectangle 5"/>
          <p:cNvSpPr/>
          <p:nvPr/>
        </p:nvSpPr>
        <p:spPr>
          <a:xfrm>
            <a:off x="41148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1388 N</a:t>
            </a:r>
          </a:p>
          <a:p>
            <a:pPr algn="ctr"/>
            <a:r>
              <a:rPr sz="950">
                <a:solidFill>
                  <a:srgbClr val="000000"/>
                </a:solidFill>
                <a:latin typeface="Calibri"/>
              </a:rPr>
              <a:t>Peak load</a:t>
            </a:r>
          </a:p>
        </p:txBody>
      </p:sp>
      <p:sp>
        <p:nvSpPr>
          <p:cNvPr id="7" name="Rounded Rectangle 6"/>
          <p:cNvSpPr/>
          <p:nvPr/>
        </p:nvSpPr>
        <p:spPr>
          <a:xfrm>
            <a:off x="325755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307.4 N</a:t>
            </a:r>
          </a:p>
          <a:p>
            <a:pPr algn="ctr"/>
            <a:r>
              <a:rPr sz="950">
                <a:solidFill>
                  <a:srgbClr val="000000"/>
                </a:solidFill>
                <a:latin typeface="Calibri"/>
              </a:rPr>
              <a:t>Force anchor</a:t>
            </a:r>
          </a:p>
        </p:txBody>
      </p:sp>
      <p:sp>
        <p:nvSpPr>
          <p:cNvPr id="8" name="Rounded Rectangle 7"/>
          <p:cNvSpPr/>
          <p:nvPr/>
        </p:nvSpPr>
        <p:spPr>
          <a:xfrm>
            <a:off x="6103620"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21.19 MPa</a:t>
            </a:r>
          </a:p>
          <a:p>
            <a:pPr algn="ctr"/>
            <a:r>
              <a:rPr sz="950">
                <a:solidFill>
                  <a:srgbClr val="000000"/>
                </a:solidFill>
                <a:latin typeface="Calibri"/>
              </a:rPr>
              <a:t>TRUE UTS</a:t>
            </a:r>
          </a:p>
        </p:txBody>
      </p:sp>
      <p:sp>
        <p:nvSpPr>
          <p:cNvPr id="9" name="Rounded Rectangle 8"/>
          <p:cNvSpPr/>
          <p:nvPr/>
        </p:nvSpPr>
        <p:spPr>
          <a:xfrm>
            <a:off x="8949689" y="3877056"/>
            <a:ext cx="2736341"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1.36 s</a:t>
            </a:r>
          </a:p>
          <a:p>
            <a:pPr algn="ctr"/>
            <a:r>
              <a:rPr sz="950">
                <a:solidFill>
                  <a:srgbClr val="000000"/>
                </a:solidFill>
                <a:latin typeface="Calibri"/>
              </a:rPr>
              <a:t>Auto-halt after collapse</a:t>
            </a:r>
          </a:p>
        </p:txBody>
      </p:sp>
      <p:graphicFrame>
        <p:nvGraphicFramePr>
          <p:cNvPr id="10" name="Table 9"/>
          <p:cNvGraphicFramePr>
            <a:graphicFrameLocks noGrp="1"/>
          </p:cNvGraphicFramePr>
          <p:nvPr/>
        </p:nvGraphicFramePr>
        <p:xfrm>
          <a:off x="411480" y="4718304"/>
          <a:ext cx="11384280" cy="950976"/>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Note</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Levels resolved</a:t>
                      </a:r>
                    </a:p>
                  </a:txBody>
                  <a:tcPr/>
                </a:tc>
                <a:tc>
                  <a:txBody>
                    <a:bodyPr lIns="54864" rIns="54864" tIns="18288" bIns="18288" wrap="square" anchor="ctr"/>
                    <a:lstStyle/>
                    <a:p>
                      <a:pPr algn="l"/>
                      <a:r>
                        <a:rPr sz="950" b="0">
                          <a:solidFill>
                            <a:srgbClr val="000000"/>
                          </a:solidFill>
                          <a:latin typeface="Calibri"/>
                        </a:rPr>
                        <a:t>8 dwells</a:t>
                      </a:r>
                    </a:p>
                  </a:txBody>
                  <a:tcPr/>
                </a:tc>
                <a:tc>
                  <a:txBody>
                    <a:bodyPr lIns="54864" rIns="54864" tIns="18288" bIns="18288" wrap="square" anchor="ctr"/>
                    <a:lstStyle/>
                    <a:p>
                      <a:pPr algn="l"/>
                      <a:r>
                        <a:rPr sz="950" b="0">
                          <a:solidFill>
                            <a:srgbClr val="000000"/>
                          </a:solidFill>
                          <a:latin typeface="Calibri"/>
                        </a:rPr>
                        <a:t>each one a mini relaxation test</a:t>
                      </a:r>
                    </a:p>
                  </a:txBody>
                  <a:tcPr/>
                </a:tc>
              </a:tr>
              <a:tr h="237744">
                <a:tc>
                  <a:txBody>
                    <a:bodyPr lIns="54864" rIns="54864" tIns="18288" bIns="18288" wrap="square" anchor="ctr"/>
                    <a:lstStyle/>
                    <a:p>
                      <a:pPr algn="l"/>
                      <a:r>
                        <a:rPr sz="950" b="0">
                          <a:solidFill>
                            <a:srgbClr val="000000"/>
                          </a:solidFill>
                          <a:latin typeface="Calibri"/>
                        </a:rPr>
                        <a:t>Yield onset</a:t>
                      </a:r>
                    </a:p>
                  </a:txBody>
                  <a:tcPr/>
                </a:tc>
                <a:tc>
                  <a:txBody>
                    <a:bodyPr lIns="54864" rIns="54864" tIns="18288" bIns="18288" wrap="square" anchor="ctr"/>
                    <a:lstStyle/>
                    <a:p>
                      <a:pPr algn="l"/>
                      <a:r>
                        <a:rPr sz="950" b="0">
                          <a:solidFill>
                            <a:srgbClr val="000000"/>
                          </a:solidFill>
                          <a:latin typeface="Calibri"/>
                        </a:rPr>
                        <a:t>694 N tared</a:t>
                      </a:r>
                    </a:p>
                  </a:txBody>
                  <a:tcPr/>
                </a:tc>
                <a:tc>
                  <a:txBody>
                    <a:bodyPr lIns="54864" rIns="54864" tIns="18288" bIns="18288" wrap="square" anchor="ctr"/>
                    <a:lstStyle/>
                    <a:p>
                      <a:pPr algn="l"/>
                      <a:r>
                        <a:rPr sz="950" b="0">
                          <a:solidFill>
                            <a:srgbClr val="000000"/>
                          </a:solidFill>
                          <a:latin typeface="Calibri"/>
                        </a:rPr>
                        <a:t>the dwell drop stops falling and starts growing</a:t>
                      </a:r>
                    </a:p>
                  </a:txBody>
                  <a:tcPr/>
                </a:tc>
              </a:tr>
              <a:tr h="237744">
                <a:tc>
                  <a:txBody>
                    <a:bodyPr lIns="54864" rIns="54864" tIns="18288" bIns="18288" wrap="square" anchor="ctr"/>
                    <a:lstStyle/>
                    <a:p>
                      <a:pPr algn="l"/>
                      <a:r>
                        <a:rPr sz="950" b="0">
                          <a:solidFill>
                            <a:srgbClr val="000000"/>
                          </a:solidFill>
                          <a:latin typeface="Calibri"/>
                        </a:rPr>
                        <a:t>Nominal vs TRUE UTS</a:t>
                      </a:r>
                    </a:p>
                  </a:txBody>
                  <a:tcPr/>
                </a:tc>
                <a:tc>
                  <a:txBody>
                    <a:bodyPr lIns="54864" rIns="54864" tIns="18288" bIns="18288" wrap="square" anchor="ctr"/>
                    <a:lstStyle/>
                    <a:p>
                      <a:pPr algn="l"/>
                      <a:r>
                        <a:rPr sz="950" b="0">
                          <a:solidFill>
                            <a:srgbClr val="000000"/>
                          </a:solidFill>
                          <a:latin typeface="Calibri"/>
                        </a:rPr>
                        <a:t>17.35 → 21.19 MPa</a:t>
                      </a:r>
                    </a:p>
                  </a:txBody>
                  <a:tcPr/>
                </a:tc>
                <a:tc>
                  <a:txBody>
                    <a:bodyPr lIns="54864" rIns="54864" tIns="18288" bIns="18288" wrap="square" anchor="ctr"/>
                    <a:lstStyle/>
                    <a:p>
                      <a:pPr algn="l"/>
                      <a:r>
                        <a:rPr sz="950" b="0">
                          <a:solidFill>
                            <a:srgbClr val="000000"/>
                          </a:solidFill>
                          <a:latin typeface="Calibri"/>
                        </a:rPr>
                        <a:t>anchor 307.4 N recovered from the post-fracture tail</a:t>
                      </a:r>
                    </a:p>
                  </a:txBody>
                  <a:tcPr/>
                </a:tc>
              </a:tr>
            </a:tbl>
          </a:graphicData>
        </a:graphic>
      </p:graphicFrame>
      <p:sp>
        <p:nvSpPr>
          <p:cNvPr id="11" name="Rectangle 10"/>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One specimen delivered a yield knee AND a fracture: 8 relaxation points, yield located at 694 N, TRUE UTS 21.19 MPa, auto-halt 1.36 s after collapse.</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anchor is the preload the tare removed; recovering it from the settled post-fracture tail converts nominal stress to true stress without a second measurement.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THE ONE THAT FAILED  [T7] — AND WHY</a:t>
            </a:r>
          </a:p>
        </p:txBody>
      </p:sp>
      <p:sp>
        <p:nvSpPr>
          <p:cNvPr id="5" name="TextBox 4"/>
          <p:cNvSpPr txBox="1"/>
          <p:nvPr/>
        </p:nvSpPr>
        <p:spPr>
          <a:xfrm>
            <a:off x="457200" y="1060704"/>
            <a:ext cx="11338560" cy="365760"/>
          </a:xfrm>
          <a:prstGeom prst="rect">
            <a:avLst/>
          </a:prstGeom>
          <a:noFill/>
        </p:spPr>
        <p:txBody>
          <a:bodyPr wrap="square" lIns="45720" rIns="45720" tIns="18288" bIns="18288" anchor="t">
            <a:spAutoFit/>
          </a:bodyPr>
          <a:lstStyle/>
          <a:p>
            <a:pPr algn="l"/>
            <a:r>
              <a:rPr sz="1200" b="0" i="1">
                <a:solidFill>
                  <a:srgbClr val="707070"/>
                </a:solidFill>
                <a:latin typeface="Calibri"/>
              </a:rPr>
              <a:t>T7 ran Staircase → FRACTURE on S20 (100 % infill) and never broke the specimen. Worth a slide: the failure is a HARDWARE limit, and the software behaved exactly as designed.</a:t>
            </a:r>
          </a:p>
        </p:txBody>
      </p:sp>
      <p:pic>
        <p:nvPicPr>
          <p:cNvPr id="6" name="Picture 5" descr="sf9_t7_stall.png"/>
          <p:cNvPicPr>
            <a:picLocks noChangeAspect="1"/>
          </p:cNvPicPr>
          <p:nvPr/>
        </p:nvPicPr>
        <p:blipFill>
          <a:blip r:embed="rId2"/>
          <a:stretch>
            <a:fillRect/>
          </a:stretch>
        </p:blipFill>
        <p:spPr>
          <a:xfrm>
            <a:off x="1659285" y="1444752"/>
            <a:ext cx="8888669" cy="3017520"/>
          </a:xfrm>
          <a:prstGeom prst="rect">
            <a:avLst/>
          </a:prstGeom>
        </p:spPr>
      </p:pic>
      <p:sp>
        <p:nvSpPr>
          <p:cNvPr id="7" name="Rounded Rectangle 6"/>
          <p:cNvSpPr/>
          <p:nvPr/>
        </p:nvSpPr>
        <p:spPr>
          <a:xfrm>
            <a:off x="411480"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2355 N</a:t>
            </a:r>
          </a:p>
          <a:p>
            <a:pPr algn="ctr"/>
            <a:r>
              <a:rPr sz="950">
                <a:solidFill>
                  <a:srgbClr val="000000"/>
                </a:solidFill>
                <a:latin typeface="Calibri"/>
              </a:rPr>
              <a:t>Peak reached</a:t>
            </a:r>
          </a:p>
        </p:txBody>
      </p:sp>
      <p:sp>
        <p:nvSpPr>
          <p:cNvPr id="8" name="Rounded Rectangle 7"/>
          <p:cNvSpPr/>
          <p:nvPr/>
        </p:nvSpPr>
        <p:spPr>
          <a:xfrm>
            <a:off x="2688336"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3696 N</a:t>
            </a:r>
          </a:p>
          <a:p>
            <a:pPr algn="ctr"/>
            <a:r>
              <a:rPr sz="950">
                <a:solidFill>
                  <a:srgbClr val="000000"/>
                </a:solidFill>
                <a:latin typeface="Calibri"/>
              </a:rPr>
              <a:t>Needed to fracture</a:t>
            </a:r>
          </a:p>
        </p:txBody>
      </p:sp>
      <p:sp>
        <p:nvSpPr>
          <p:cNvPr id="9" name="Rounded Rectangle 8"/>
          <p:cNvSpPr/>
          <p:nvPr/>
        </p:nvSpPr>
        <p:spPr>
          <a:xfrm>
            <a:off x="4965192" y="4553712"/>
            <a:ext cx="2167128" cy="749808"/>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72 % of it</a:t>
            </a:r>
          </a:p>
          <a:p>
            <a:pPr algn="ctr"/>
            <a:r>
              <a:rPr sz="950">
                <a:solidFill>
                  <a:srgbClr val="000000"/>
                </a:solidFill>
                <a:latin typeface="Calibri"/>
              </a:rPr>
              <a:t>Got to</a:t>
            </a:r>
          </a:p>
        </p:txBody>
      </p:sp>
      <p:sp>
        <p:nvSpPr>
          <p:cNvPr id="10" name="Rounded Rectangle 9"/>
          <p:cNvSpPr/>
          <p:nvPr/>
        </p:nvSpPr>
        <p:spPr>
          <a:xfrm>
            <a:off x="7242048" y="4553712"/>
            <a:ext cx="2167128"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192 µm in 118 s</a:t>
            </a:r>
          </a:p>
          <a:p>
            <a:pPr algn="ctr"/>
            <a:r>
              <a:rPr sz="950">
                <a:solidFill>
                  <a:srgbClr val="000000"/>
                </a:solidFill>
                <a:latin typeface="Calibri"/>
              </a:rPr>
              <a:t>Crosshead at the top</a:t>
            </a:r>
          </a:p>
        </p:txBody>
      </p:sp>
      <p:sp>
        <p:nvSpPr>
          <p:cNvPr id="11" name="Rounded Rectangle 10"/>
          <p:cNvSpPr/>
          <p:nvPr/>
        </p:nvSpPr>
        <p:spPr>
          <a:xfrm>
            <a:off x="9518904" y="4553712"/>
            <a:ext cx="2167128" cy="749808"/>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1.6 %</a:t>
            </a:r>
          </a:p>
          <a:p>
            <a:pPr algn="ctr"/>
            <a:r>
              <a:rPr sz="950">
                <a:solidFill>
                  <a:srgbClr val="000000"/>
                </a:solidFill>
                <a:latin typeface="Calibri"/>
              </a:rPr>
              <a:t>…of commanded rate</a:t>
            </a:r>
          </a:p>
        </p:txBody>
      </p:sp>
      <p:sp>
        <p:nvSpPr>
          <p:cNvPr id="12" name="TextBox 11"/>
          <p:cNvSpPr txBox="1"/>
          <p:nvPr/>
        </p:nvSpPr>
        <p:spPr>
          <a:xfrm>
            <a:off x="457200" y="541324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stalled — ranked at the time (ANSWER: no. 4)</a:t>
            </a:r>
          </a:p>
        </p:txBody>
      </p:sp>
      <p:sp>
        <p:nvSpPr>
          <p:cNvPr id="13" name="TextBox 12"/>
          <p:cNvSpPr txBox="1"/>
          <p:nvPr/>
        </p:nvSpPr>
        <p:spPr>
          <a:xfrm>
            <a:off x="457200" y="5705856"/>
            <a:ext cx="5760720" cy="1005840"/>
          </a:xfrm>
          <a:prstGeom prst="rect">
            <a:avLst/>
          </a:prstGeom>
          <a:noFill/>
        </p:spPr>
        <p:txBody>
          <a:bodyPr wrap="square" lIns="45720" rIns="45720" tIns="18288" bIns="18288" anchor="t">
            <a:spAutoFit/>
          </a:bodyPr>
          <a:lstStyle/>
          <a:p>
            <a:pPr algn="l"/>
            <a:r>
              <a:rPr sz="1100" b="0" i="0">
                <a:solidFill>
                  <a:srgbClr val="000000"/>
                </a:solidFill>
                <a:latin typeface="Calibri"/>
              </a:rPr>
              <a:t>1  Stepper DRIVER CURRENT (Vref) set too low — most likely, and cheapest to check
2  Driver THERMAL DERATING — T7 was the 7th test of a 2 h 15 min session
3  PSU voltage SAG under peak load
4  ✔ MECHANICAL BINDING — crossheads misaligned, load holders loose.  See p183.</a:t>
            </a:r>
          </a:p>
        </p:txBody>
      </p:sp>
      <p:sp>
        <p:nvSpPr>
          <p:cNvPr id="14" name="TextBox 13"/>
          <p:cNvSpPr txBox="1"/>
          <p:nvPr/>
        </p:nvSpPr>
        <p:spPr>
          <a:xfrm>
            <a:off x="6400800" y="541324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Mitigation</a:t>
            </a:r>
          </a:p>
        </p:txBody>
      </p:sp>
      <p:sp>
        <p:nvSpPr>
          <p:cNvPr id="15" name="TextBox 14"/>
          <p:cNvSpPr txBox="1"/>
          <p:nvPr/>
        </p:nvSpPr>
        <p:spPr>
          <a:xfrm>
            <a:off x="6400800" y="5705856"/>
            <a:ext cx="5394960" cy="1005840"/>
          </a:xfrm>
          <a:prstGeom prst="rect">
            <a:avLst/>
          </a:prstGeom>
          <a:noFill/>
        </p:spPr>
        <p:txBody>
          <a:bodyPr wrap="square" lIns="45720" rIns="45720" tIns="18288" bIns="18288" anchor="t">
            <a:spAutoFit/>
          </a:bodyPr>
          <a:lstStyle/>
          <a:p>
            <a:pPr algn="l"/>
            <a:r>
              <a:rPr sz="1100" b="0" i="0">
                <a:solidFill>
                  <a:srgbClr val="000000"/>
                </a:solidFill>
                <a:latin typeface="Calibri"/>
              </a:rPr>
              <a:t>1  Raise driver current (Vref) — ⚠ HARDWARE today, NOT a software change · see next slide
2  Cool between destructive runs — T7.2 and T8 both PASSED after a pause
3  Scope the rail under load; fit a stiffer PSU
4  On a weak day use 50 % specimens (fracture ≈1.4 kN) — both later runs did</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NOT a hard ceiling: six 100 % specimens fractured at 3.1–3.4 kN. Software response was correct — nothing ran away, and the specimen was released intact and reusable.</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T7 — CAN THE Vref FIX BE DONE IN SOFTWARE?</a:t>
            </a:r>
          </a:p>
        </p:txBody>
      </p:sp>
      <p:sp>
        <p:nvSpPr>
          <p:cNvPr id="5" name="Rectangle 4"/>
          <p:cNvSpPr/>
          <p:nvPr/>
        </p:nvSpPr>
        <p:spPr>
          <a:xfrm>
            <a:off x="411480" y="1078992"/>
            <a:ext cx="11384280" cy="51206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300" b="1">
                <a:solidFill>
                  <a:srgbClr val="000000"/>
                </a:solidFill>
                <a:latin typeface="Calibri"/>
              </a:rPr>
              <a:t>NO — not as the rig stands today. But the driver hardware would allow it, and that is the single highest-value change available.</a:t>
            </a:r>
          </a:p>
        </p:txBody>
      </p:sp>
      <p:sp>
        <p:nvSpPr>
          <p:cNvPr id="6" name="TextBox 5"/>
          <p:cNvSpPr txBox="1"/>
          <p:nvPr/>
        </p:nvSpPr>
        <p:spPr>
          <a:xfrm>
            <a:off x="457200" y="173736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TODAY — a screwdriver job, not a code change</a:t>
            </a:r>
          </a:p>
        </p:txBody>
      </p:sp>
      <p:sp>
        <p:nvSpPr>
          <p:cNvPr id="7" name="Rounded Rectangle 6"/>
          <p:cNvSpPr/>
          <p:nvPr/>
        </p:nvSpPr>
        <p:spPr>
          <a:xfrm>
            <a:off x="457200" y="2084831"/>
            <a:ext cx="5532120" cy="1874519"/>
          </a:xfrm>
          <a:prstGeom prst="roundRect">
            <a:avLst/>
          </a:prstGeom>
          <a:solidFill>
            <a:srgbClr val="FFCDD2"/>
          </a:solidFill>
          <a:ln w="15240">
            <a:solidFill>
              <a:srgbClr val="D62728"/>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00" b="0">
                <a:solidFill>
                  <a:srgbClr val="000000"/>
                </a:solidFill>
                <a:latin typeface="Calibri"/>
              </a:rPr>
              <a:t>Firmware drives the motors with STEP / DIR / ENABLE only.
• No SPI, no UART to the driver
• No TMCStepper (or equivalent) library
• MoToStepper in STEPDIR mode; 200 × 8 microsteps
⇒ Nothing in main.py or the firmware can change motor current. Vref is set physically on the driver board and verified with a multimeter.</a:t>
            </a:r>
          </a:p>
        </p:txBody>
      </p:sp>
      <p:sp>
        <p:nvSpPr>
          <p:cNvPr id="8" name="TextBox 7"/>
          <p:cNvSpPr txBox="1"/>
          <p:nvPr/>
        </p:nvSpPr>
        <p:spPr>
          <a:xfrm>
            <a:off x="6263640" y="173736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POSSIBLE — the driver is an SPI Trinamic part</a:t>
            </a:r>
          </a:p>
        </p:txBody>
      </p:sp>
      <p:sp>
        <p:nvSpPr>
          <p:cNvPr id="9" name="Rounded Rectangle 8"/>
          <p:cNvSpPr/>
          <p:nvPr/>
        </p:nvSpPr>
        <p:spPr>
          <a:xfrm>
            <a:off x="6263640" y="2084831"/>
            <a:ext cx="5532120" cy="1874519"/>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00" b="0">
                <a:solidFill>
                  <a:srgbClr val="000000"/>
                </a:solidFill>
                <a:latin typeface="Calibri"/>
              </a:rPr>
              <a:t>MKS TMC2160_57 boards (README + PROJECT_REQUIREMENTS).
Wire CS / SCK / MOSI / MISO to the ESP32 and you can:
• SET run current in code — GLOBALSCALER + IRUN
• READ DRV_STATUS — otpw / ot over-temperature flags
• READ StallGuard — a true stall signal, not an inference
⇒ The thermal-derating theory stops being a theory and becomes a LOGGED CHANNEL.</a:t>
            </a:r>
          </a:p>
        </p:txBody>
      </p:sp>
      <p:sp>
        <p:nvSpPr>
          <p:cNvPr id="10" name="TextBox 9"/>
          <p:cNvSpPr txBox="1"/>
          <p:nvPr/>
        </p:nvSpPr>
        <p:spPr>
          <a:xfrm>
            <a:off x="457200" y="4096512"/>
            <a:ext cx="11338560" cy="365760"/>
          </a:xfrm>
          <a:prstGeom prst="rect">
            <a:avLst/>
          </a:prstGeom>
          <a:noFill/>
        </p:spPr>
        <p:txBody>
          <a:bodyPr wrap="square" lIns="45720" rIns="45720" tIns="18288" bIns="18288" anchor="t">
            <a:spAutoFit/>
          </a:bodyPr>
          <a:lstStyle/>
          <a:p>
            <a:pPr algn="l"/>
            <a:r>
              <a:rPr sz="1600" b="0" i="0">
                <a:solidFill>
                  <a:srgbClr val="707070"/>
                </a:solidFill>
                <a:latin typeface="Calibri"/>
              </a:rPr>
              <a:t>Is the drivetrain even big enough?  2 × 1.85 Nm · 20:1 gearbox · 5 mm lead</a:t>
            </a:r>
          </a:p>
        </p:txBody>
      </p:sp>
      <p:graphicFrame>
        <p:nvGraphicFramePr>
          <p:cNvPr id="11" name="Table 10"/>
          <p:cNvGraphicFramePr>
            <a:graphicFrameLocks noGrp="1"/>
          </p:cNvGraphicFramePr>
          <p:nvPr/>
        </p:nvGraphicFramePr>
        <p:xfrm>
          <a:off x="411480" y="4443984"/>
          <a:ext cx="11384280" cy="768096"/>
        </p:xfrm>
        <a:graphic>
          <a:graphicData uri="http://schemas.openxmlformats.org/drawingml/2006/table">
            <a:tbl>
              <a:tblPr firstRow="1" bandRow="1">
                <a:tableStyleId>{5C22544A-7EE6-4342-B048-85BDC9FD1C3A}</a:tableStyleId>
              </a:tblPr>
              <a:tblGrid>
                <a:gridCol w="2276856"/>
                <a:gridCol w="2276856"/>
                <a:gridCol w="2276856"/>
                <a:gridCol w="2276856"/>
                <a:gridCol w="2276856"/>
              </a:tblGrid>
              <a:tr h="256032">
                <a:tc>
                  <a:txBody>
                    <a:bodyPr lIns="54864" rIns="54864" tIns="18288" bIns="18288" wrap="square" anchor="ctr"/>
                    <a:lstStyle/>
                    <a:p>
                      <a:pPr algn="l"/>
                      <a:r>
                        <a:rPr sz="950" b="1">
                          <a:solidFill>
                            <a:srgbClr val="FFFFFF"/>
                          </a:solidFill>
                          <a:latin typeface="Calibri"/>
                        </a:rPr>
                        <a:t>Lead-screw efficiency assumed</a:t>
                      </a:r>
                    </a:p>
                  </a:txBody>
                  <a:tcPr>
                    <a:solidFill>
                      <a:srgbClr val="143D2F"/>
                    </a:solidFill>
                  </a:tcPr>
                </a:tc>
                <a:tc>
                  <a:txBody>
                    <a:bodyPr lIns="54864" rIns="54864" tIns="18288" bIns="18288" wrap="square" anchor="ctr"/>
                    <a:lstStyle/>
                    <a:p>
                      <a:pPr algn="l"/>
                      <a:r>
                        <a:rPr sz="950" b="1">
                          <a:solidFill>
                            <a:srgbClr val="FFFFFF"/>
                          </a:solidFill>
                          <a:latin typeface="Calibri"/>
                        </a:rPr>
                        <a:t>15 % (pessimistic ACME)</a:t>
                      </a:r>
                    </a:p>
                  </a:txBody>
                  <a:tcPr>
                    <a:solidFill>
                      <a:srgbClr val="143D2F"/>
                    </a:solidFill>
                  </a:tcPr>
                </a:tc>
                <a:tc>
                  <a:txBody>
                    <a:bodyPr lIns="54864" rIns="54864" tIns="18288" bIns="18288" wrap="square" anchor="ctr"/>
                    <a:lstStyle/>
                    <a:p>
                      <a:pPr algn="l"/>
                      <a:r>
                        <a:rPr sz="950" b="1">
                          <a:solidFill>
                            <a:srgbClr val="FFFFFF"/>
                          </a:solidFill>
                          <a:latin typeface="Calibri"/>
                        </a:rPr>
                        <a:t>20 %</a:t>
                      </a:r>
                    </a:p>
                  </a:txBody>
                  <a:tcPr>
                    <a:solidFill>
                      <a:srgbClr val="143D2F"/>
                    </a:solidFill>
                  </a:tcPr>
                </a:tc>
                <a:tc>
                  <a:txBody>
                    <a:bodyPr lIns="54864" rIns="54864" tIns="18288" bIns="18288" wrap="square" anchor="ctr"/>
                    <a:lstStyle/>
                    <a:p>
                      <a:pPr algn="l"/>
                      <a:r>
                        <a:rPr sz="950" b="1">
                          <a:solidFill>
                            <a:srgbClr val="FFFFFF"/>
                          </a:solidFill>
                          <a:latin typeface="Calibri"/>
                        </a:rPr>
                        <a:t>30 %</a:t>
                      </a:r>
                    </a:p>
                  </a:txBody>
                  <a:tcPr>
                    <a:solidFill>
                      <a:srgbClr val="143D2F"/>
                    </a:solidFill>
                  </a:tcPr>
                </a:tc>
                <a:tc>
                  <a:txBody>
                    <a:bodyPr lIns="54864" rIns="54864" tIns="18288" bIns="18288" wrap="square" anchor="ctr"/>
                    <a:lstStyle/>
                    <a:p>
                      <a:pPr algn="l"/>
                      <a:r>
                        <a:rPr sz="950" b="1">
                          <a:solidFill>
                            <a:srgbClr val="FFFFFF"/>
                          </a:solidFill>
                          <a:latin typeface="Calibri"/>
                        </a:rPr>
                        <a:t>90 % (ball screw)</a:t>
                      </a:r>
                    </a:p>
                  </a:txBody>
                  <a:tcPr>
                    <a:solidFill>
                      <a:srgbClr val="143D2F"/>
                    </a:solidFill>
                  </a:tcPr>
                </a:tc>
              </a:tr>
              <a:tr h="256032">
                <a:tc>
                  <a:txBody>
                    <a:bodyPr lIns="54864" rIns="54864" tIns="18288" bIns="18288" wrap="square" anchor="ctr"/>
                    <a:lstStyle/>
                    <a:p>
                      <a:pPr algn="l"/>
                      <a:r>
                        <a:rPr sz="950" b="0">
                          <a:solidFill>
                            <a:srgbClr val="000000"/>
                          </a:solidFill>
                          <a:latin typeface="Calibri"/>
                        </a:rPr>
                        <a:t>Force the drivetrain should reach</a:t>
                      </a:r>
                    </a:p>
                  </a:txBody>
                  <a:tcPr/>
                </a:tc>
                <a:tc>
                  <a:txBody>
                    <a:bodyPr lIns="54864" rIns="54864" tIns="18288" bIns="18288" wrap="square" anchor="ctr"/>
                    <a:lstStyle/>
                    <a:p>
                      <a:pPr algn="l"/>
                      <a:r>
                        <a:rPr sz="950" b="0">
                          <a:solidFill>
                            <a:srgbClr val="000000"/>
                          </a:solidFill>
                          <a:latin typeface="Calibri"/>
                        </a:rPr>
                        <a:t>12,554 N</a:t>
                      </a:r>
                    </a:p>
                  </a:txBody>
                  <a:tcPr/>
                </a:tc>
                <a:tc>
                  <a:txBody>
                    <a:bodyPr lIns="54864" rIns="54864" tIns="18288" bIns="18288" wrap="square" anchor="ctr"/>
                    <a:lstStyle/>
                    <a:p>
                      <a:pPr algn="l"/>
                      <a:r>
                        <a:rPr sz="950" b="0">
                          <a:solidFill>
                            <a:srgbClr val="000000"/>
                          </a:solidFill>
                          <a:latin typeface="Calibri"/>
                        </a:rPr>
                        <a:t>16,738 N</a:t>
                      </a:r>
                    </a:p>
                  </a:txBody>
                  <a:tcPr/>
                </a:tc>
                <a:tc>
                  <a:txBody>
                    <a:bodyPr lIns="54864" rIns="54864" tIns="18288" bIns="18288" wrap="square" anchor="ctr"/>
                    <a:lstStyle/>
                    <a:p>
                      <a:pPr algn="l"/>
                      <a:r>
                        <a:rPr sz="950" b="0">
                          <a:solidFill>
                            <a:srgbClr val="000000"/>
                          </a:solidFill>
                          <a:latin typeface="Calibri"/>
                        </a:rPr>
                        <a:t>25,108 N</a:t>
                      </a:r>
                    </a:p>
                  </a:txBody>
                  <a:tcPr/>
                </a:tc>
                <a:tc>
                  <a:txBody>
                    <a:bodyPr lIns="54864" rIns="54864" tIns="18288" bIns="18288" wrap="square" anchor="ctr"/>
                    <a:lstStyle/>
                    <a:p>
                      <a:pPr algn="l"/>
                      <a:r>
                        <a:rPr sz="950" b="0">
                          <a:solidFill>
                            <a:srgbClr val="000000"/>
                          </a:solidFill>
                          <a:latin typeface="Calibri"/>
                        </a:rPr>
                        <a:t>75,323 N</a:t>
                      </a:r>
                    </a:p>
                  </a:txBody>
                  <a:tcPr/>
                </a:tc>
              </a:tr>
              <a:tr h="256032">
                <a:tc>
                  <a:txBody>
                    <a:bodyPr lIns="54864" rIns="54864" tIns="18288" bIns="18288" wrap="square" anchor="ctr"/>
                    <a:lstStyle/>
                    <a:p>
                      <a:pPr algn="l"/>
                      <a:r>
                        <a:rPr sz="950" b="0">
                          <a:solidFill>
                            <a:srgbClr val="000000"/>
                          </a:solidFill>
                          <a:latin typeface="Calibri"/>
                        </a:rPr>
                        <a:t>Headroom over the 3696 N needed</a:t>
                      </a:r>
                    </a:p>
                  </a:txBody>
                  <a:tcPr/>
                </a:tc>
                <a:tc>
                  <a:txBody>
                    <a:bodyPr lIns="54864" rIns="54864" tIns="18288" bIns="18288" wrap="square" anchor="ctr"/>
                    <a:lstStyle/>
                    <a:p>
                      <a:pPr algn="l"/>
                      <a:r>
                        <a:rPr sz="950" b="0">
                          <a:solidFill>
                            <a:srgbClr val="000000"/>
                          </a:solidFill>
                          <a:latin typeface="Calibri"/>
                        </a:rPr>
                        <a:t>3.4×</a:t>
                      </a:r>
                    </a:p>
                  </a:txBody>
                  <a:tcPr/>
                </a:tc>
                <a:tc>
                  <a:txBody>
                    <a:bodyPr lIns="54864" rIns="54864" tIns="18288" bIns="18288" wrap="square" anchor="ctr"/>
                    <a:lstStyle/>
                    <a:p>
                      <a:pPr algn="l"/>
                      <a:r>
                        <a:rPr sz="950" b="0">
                          <a:solidFill>
                            <a:srgbClr val="000000"/>
                          </a:solidFill>
                          <a:latin typeface="Calibri"/>
                        </a:rPr>
                        <a:t>4.5×</a:t>
                      </a:r>
                    </a:p>
                  </a:txBody>
                  <a:tcPr/>
                </a:tc>
                <a:tc>
                  <a:txBody>
                    <a:bodyPr lIns="54864" rIns="54864" tIns="18288" bIns="18288" wrap="square" anchor="ctr"/>
                    <a:lstStyle/>
                    <a:p>
                      <a:pPr algn="l"/>
                      <a:r>
                        <a:rPr sz="950" b="0">
                          <a:solidFill>
                            <a:srgbClr val="000000"/>
                          </a:solidFill>
                          <a:latin typeface="Calibri"/>
                        </a:rPr>
                        <a:t>6.8×</a:t>
                      </a:r>
                    </a:p>
                  </a:txBody>
                  <a:tcPr/>
                </a:tc>
                <a:tc>
                  <a:txBody>
                    <a:bodyPr lIns="54864" rIns="54864" tIns="18288" bIns="18288" wrap="square" anchor="ctr"/>
                    <a:lstStyle/>
                    <a:p>
                      <a:pPr algn="l"/>
                      <a:r>
                        <a:rPr sz="950" b="0">
                          <a:solidFill>
                            <a:srgbClr val="000000"/>
                          </a:solidFill>
                          <a:latin typeface="Calibri"/>
                        </a:rPr>
                        <a:t>20.4×</a:t>
                      </a:r>
                    </a:p>
                  </a:txBody>
                  <a:tcPr/>
                </a:tc>
              </a:tr>
            </a:tbl>
          </a:graphicData>
        </a:graphic>
      </p:graphicFrame>
      <p:sp>
        <p:nvSpPr>
          <p:cNvPr id="12" name="Rectangle 11"/>
          <p:cNvSpPr/>
          <p:nvPr/>
        </p:nvSpPr>
        <p:spPr>
          <a:xfrm>
            <a:off x="411480" y="5358384"/>
            <a:ext cx="11384280" cy="530352"/>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Even at a pessimistic 15 % screw efficiency the drivetrain should deliver ~3.4× what is needed, yet T7 stopped at 72 %. A mechanical-sizing explanation does not survive that arithmetic — an electrical one does, which is why driver current is suspect #1.</a:t>
            </a:r>
          </a:p>
        </p:txBody>
      </p:sp>
      <p:sp>
        <p:nvSpPr>
          <p:cNvPr id="13" name="Rectangle 12"/>
          <p:cNvSpPr/>
          <p:nvPr/>
        </p:nvSpPr>
        <p:spPr>
          <a:xfrm>
            <a:off x="411480" y="5943600"/>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RECOMMENDED ORDER — (1) measure Vref and compare against the motor's rated current; (2) fit a heatsink/fan; (3) wire the SPI pins and log DRV_STATUS so derating is measured, not guessed.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Motor AMP57TH76-4280 (1.85 Nm), gearbox EPL64/2 20:1, 5 mm lead — from README.md and the MM_PER_S_PER_RPM constant in main.py. Torque figures are holding torque at rated current; if the driver runs the motor below rating, available force scales down roughly with current.</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PROGRESSIVE CYCLIC → FRACTURE  [T8] — HOW IT WORKS</a:t>
            </a:r>
          </a:p>
        </p:txBody>
      </p:sp>
      <p:pic>
        <p:nvPicPr>
          <p:cNvPr id="5" name="Picture 4" descr="progressive_cyclic_to_fracture.png"/>
          <p:cNvPicPr>
            <a:picLocks noChangeAspect="1"/>
          </p:cNvPicPr>
          <p:nvPr/>
        </p:nvPicPr>
        <p:blipFill>
          <a:blip r:embed="rId2"/>
          <a:stretch>
            <a:fillRect/>
          </a:stretch>
        </p:blipFill>
        <p:spPr>
          <a:xfrm>
            <a:off x="457200" y="1188720"/>
            <a:ext cx="6263640" cy="2665379"/>
          </a:xfrm>
          <a:prstGeom prst="rect">
            <a:avLst/>
          </a:prstGeom>
        </p:spPr>
      </p:pic>
      <p:sp>
        <p:nvSpPr>
          <p:cNvPr id="6" name="TextBox 5"/>
          <p:cNvSpPr txBox="1"/>
          <p:nvPr/>
        </p:nvSpPr>
        <p:spPr>
          <a:xfrm>
            <a:off x="457200" y="3991258"/>
            <a:ext cx="6263640" cy="685800"/>
          </a:xfrm>
          <a:prstGeom prst="rect">
            <a:avLst/>
          </a:prstGeom>
          <a:noFill/>
        </p:spPr>
        <p:txBody>
          <a:bodyPr wrap="square" lIns="45720" rIns="45720" tIns="18288" bIns="18288" anchor="t">
            <a:spAutoFit/>
          </a:bodyPr>
          <a:lstStyle/>
          <a:p>
            <a:pPr algn="l"/>
            <a:r>
              <a:rPr sz="1050" b="0" i="1">
                <a:solidFill>
                  <a:srgbClr val="707070"/>
                </a:solidFill>
                <a:latin typeface="Calibri"/>
              </a:rPr>
              <a:t>The collapse watch here is PER RISING STROKE and armed only past halfway to target — a single always-on detector would trip on every intentional unload.</a:t>
            </a:r>
          </a:p>
        </p:txBody>
      </p:sp>
      <p:sp>
        <p:nvSpPr>
          <p:cNvPr id="7" name="TextBox 6"/>
          <p:cNvSpPr txBox="1"/>
          <p:nvPr/>
        </p:nvSpPr>
        <p:spPr>
          <a:xfrm>
            <a:off x="6903720" y="1133856"/>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mode tells you</a:t>
            </a:r>
          </a:p>
        </p:txBody>
      </p:sp>
      <p:sp>
        <p:nvSpPr>
          <p:cNvPr id="8" name="Rounded Rectangle 7"/>
          <p:cNvSpPr/>
          <p:nvPr/>
        </p:nvSpPr>
        <p:spPr>
          <a:xfrm>
            <a:off x="6903720" y="1517904"/>
            <a:ext cx="4846320" cy="1783080"/>
          </a:xfrm>
          <a:prstGeom prst="roundRect">
            <a:avLst/>
          </a:prstGeom>
          <a:solidFill>
            <a:srgbClr val="E7F1F8"/>
          </a:solidFill>
          <a:ln w="15240">
            <a:solidFill>
              <a:srgbClr val="1F77B4"/>
            </a:solidFill>
          </a:ln>
        </p:spPr>
        <p:style>
          <a:lnRef idx="1">
            <a:schemeClr val="accent1"/>
          </a:lnRef>
          <a:fillRef idx="3">
            <a:schemeClr val="accent1"/>
          </a:fillRef>
          <a:effectRef idx="2">
            <a:schemeClr val="accent1"/>
          </a:effectRef>
          <a:fontRef idx="minor">
            <a:schemeClr val="lt1"/>
          </a:fontRef>
        </p:style>
        <p:txBody>
          <a:bodyPr rtlCol="0" anchor="ctr" lIns="54864" rIns="54864" tIns="27432" bIns="27432" wrap="square"/>
          <a:lstStyle/>
          <a:p>
            <a:pPr algn="ctr"/>
            <a:r>
              <a:rPr sz="1150" b="0">
                <a:solidFill>
                  <a:srgbClr val="000000"/>
                </a:solidFill>
                <a:latin typeface="Calibri"/>
              </a:rPr>
              <a:t>DESTRUCTIVE. Load–unload–reload with the peak rising every cycle, until fracture.
• EVERY unload measures the modulus at that damage state
• Gives the stiffness-degradation curve D = 1 − Eᵢ/E₀ vs stress
• Hysteresis area per cycle tracks energy going into damage
• Permanent set per cycle shows plasticity accumulating</a:t>
            </a:r>
          </a:p>
        </p:txBody>
      </p:sp>
      <p:sp>
        <p:nvSpPr>
          <p:cNvPr id="9" name="TextBox 8"/>
          <p:cNvSpPr txBox="1"/>
          <p:nvPr/>
        </p:nvSpPr>
        <p:spPr>
          <a:xfrm>
            <a:off x="6903720" y="3401568"/>
            <a:ext cx="493776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used for our test</a:t>
            </a:r>
          </a:p>
        </p:txBody>
      </p:sp>
      <p:graphicFrame>
        <p:nvGraphicFramePr>
          <p:cNvPr id="10" name="Table 9"/>
          <p:cNvGraphicFramePr>
            <a:graphicFrameLocks noGrp="1"/>
          </p:cNvGraphicFramePr>
          <p:nvPr/>
        </p:nvGraphicFramePr>
        <p:xfrm>
          <a:off x="6903720" y="3749039"/>
          <a:ext cx="4846319" cy="1536192"/>
        </p:xfrm>
        <a:graphic>
          <a:graphicData uri="http://schemas.openxmlformats.org/drawingml/2006/table">
            <a:tbl>
              <a:tblPr firstRow="1" bandRow="1">
                <a:tableStyleId>{5C22544A-7EE6-4342-B048-85BDC9FD1C3A}</a:tableStyleId>
              </a:tblPr>
              <a:tblGrid>
                <a:gridCol w="2945802"/>
                <a:gridCol w="1900517"/>
              </a:tblGrid>
              <a:tr h="256032">
                <a:tc>
                  <a:txBody>
                    <a:bodyPr lIns="54864" rIns="54864" tIns="18288" bIns="18288" wrap="square" anchor="ctr"/>
                    <a:lstStyle/>
                    <a:p>
                      <a:pPr algn="l"/>
                      <a:r>
                        <a:rPr sz="1000" b="1">
                          <a:solidFill>
                            <a:srgbClr val="FFFFFF"/>
                          </a:solidFill>
                          <a:latin typeface="Calibri"/>
                        </a:rPr>
                        <a:t>Parameter</a:t>
                      </a:r>
                    </a:p>
                  </a:txBody>
                  <a:tcPr>
                    <a:solidFill>
                      <a:srgbClr val="143D2F"/>
                    </a:solidFill>
                  </a:tcPr>
                </a:tc>
                <a:tc>
                  <a:txBody>
                    <a:bodyPr lIns="54864" rIns="54864" tIns="18288" bIns="18288" wrap="square" anchor="ctr"/>
                    <a:lstStyle/>
                    <a:p>
                      <a:pPr algn="l"/>
                      <a:r>
                        <a:rPr sz="1000" b="1">
                          <a:solidFill>
                            <a:srgbClr val="FFFFFF"/>
                          </a:solidFill>
                          <a:latin typeface="Calibri"/>
                        </a:rPr>
                        <a:t>Value</a:t>
                      </a:r>
                    </a:p>
                  </a:txBody>
                  <a:tcPr>
                    <a:solidFill>
                      <a:srgbClr val="143D2F"/>
                    </a:solidFill>
                  </a:tcPr>
                </a:tc>
              </a:tr>
              <a:tr h="256032">
                <a:tc>
                  <a:txBody>
                    <a:bodyPr lIns="54864" rIns="54864" tIns="18288" bIns="18288" wrap="square" anchor="ctr"/>
                    <a:lstStyle/>
                    <a:p>
                      <a:pPr algn="l"/>
                      <a:r>
                        <a:rPr sz="1000" b="0">
                          <a:solidFill>
                            <a:srgbClr val="000000"/>
                          </a:solidFill>
                          <a:latin typeface="Calibri"/>
                        </a:rPr>
                        <a:t>1st peak</a:t>
                      </a:r>
                    </a:p>
                  </a:txBody>
                  <a:tcPr/>
                </a:tc>
                <a:tc>
                  <a:txBody>
                    <a:bodyPr lIns="54864" rIns="54864" tIns="18288" bIns="18288" wrap="square" anchor="ctr"/>
                    <a:lstStyle/>
                    <a:p>
                      <a:pPr algn="l"/>
                      <a:r>
                        <a:rPr sz="1000" b="0">
                          <a:solidFill>
                            <a:srgbClr val="000000"/>
                          </a:solidFill>
                          <a:latin typeface="Calibri"/>
                        </a:rPr>
                        <a:t>300 N</a:t>
                      </a:r>
                    </a:p>
                  </a:txBody>
                  <a:tcPr/>
                </a:tc>
              </a:tr>
              <a:tr h="256032">
                <a:tc>
                  <a:txBody>
                    <a:bodyPr lIns="54864" rIns="54864" tIns="18288" bIns="18288" wrap="square" anchor="ctr"/>
                    <a:lstStyle/>
                    <a:p>
                      <a:pPr algn="l"/>
                      <a:r>
                        <a:rPr sz="1000" b="0">
                          <a:solidFill>
                            <a:srgbClr val="000000"/>
                          </a:solidFill>
                          <a:latin typeface="Calibri"/>
                        </a:rPr>
                        <a:t>Peak step</a:t>
                      </a:r>
                    </a:p>
                  </a:txBody>
                  <a:tcPr/>
                </a:tc>
                <a:tc>
                  <a:txBody>
                    <a:bodyPr lIns="54864" rIns="54864" tIns="18288" bIns="18288" wrap="square" anchor="ctr"/>
                    <a:lstStyle/>
                    <a:p>
                      <a:pPr algn="l"/>
                      <a:r>
                        <a:rPr sz="1000" b="0">
                          <a:solidFill>
                            <a:srgbClr val="000000"/>
                          </a:solidFill>
                          <a:latin typeface="Calibri"/>
                        </a:rPr>
                        <a:t>150 N</a:t>
                      </a:r>
                    </a:p>
                  </a:txBody>
                  <a:tcPr/>
                </a:tc>
              </a:tr>
              <a:tr h="256032">
                <a:tc>
                  <a:txBody>
                    <a:bodyPr lIns="54864" rIns="54864" tIns="18288" bIns="18288" wrap="square" anchor="ctr"/>
                    <a:lstStyle/>
                    <a:p>
                      <a:pPr algn="l"/>
                      <a:r>
                        <a:rPr sz="1000" b="0">
                          <a:solidFill>
                            <a:srgbClr val="000000"/>
                          </a:solidFill>
                          <a:latin typeface="Calibri"/>
                        </a:rPr>
                        <a:t>Unload to</a:t>
                      </a:r>
                    </a:p>
                  </a:txBody>
                  <a:tcPr/>
                </a:tc>
                <a:tc>
                  <a:txBody>
                    <a:bodyPr lIns="54864" rIns="54864" tIns="18288" bIns="18288" wrap="square" anchor="ctr"/>
                    <a:lstStyle/>
                    <a:p>
                      <a:pPr algn="l"/>
                      <a:r>
                        <a:rPr sz="1000" b="0">
                          <a:solidFill>
                            <a:srgbClr val="000000"/>
                          </a:solidFill>
                          <a:latin typeface="Calibri"/>
                        </a:rPr>
                        <a:t>100 N</a:t>
                      </a:r>
                    </a:p>
                  </a:txBody>
                  <a:tcPr/>
                </a:tc>
              </a:tr>
              <a:tr h="256032">
                <a:tc>
                  <a:txBody>
                    <a:bodyPr lIns="54864" rIns="54864" tIns="18288" bIns="18288" wrap="square" anchor="ctr"/>
                    <a:lstStyle/>
                    <a:p>
                      <a:pPr algn="l"/>
                      <a:r>
                        <a:rPr sz="1000" b="0">
                          <a:solidFill>
                            <a:srgbClr val="000000"/>
                          </a:solidFill>
                          <a:latin typeface="Calibri"/>
                        </a:rPr>
                        <a:t>Speed</a:t>
                      </a:r>
                    </a:p>
                  </a:txBody>
                  <a:tcPr/>
                </a:tc>
                <a:tc>
                  <a:txBody>
                    <a:bodyPr lIns="54864" rIns="54864" tIns="18288" bIns="18288" wrap="square" anchor="ctr"/>
                    <a:lstStyle/>
                    <a:p>
                      <a:pPr algn="l"/>
                      <a:r>
                        <a:rPr sz="1000" b="0">
                          <a:solidFill>
                            <a:srgbClr val="000000"/>
                          </a:solidFill>
                          <a:latin typeface="Calibri"/>
                        </a:rPr>
                        <a:t>0.100 mm/s</a:t>
                      </a:r>
                    </a:p>
                  </a:txBody>
                  <a:tcPr/>
                </a:tc>
              </a:tr>
              <a:tr h="256032">
                <a:tc>
                  <a:txBody>
                    <a:bodyPr lIns="54864" rIns="54864" tIns="18288" bIns="18288" wrap="square" anchor="ctr"/>
                    <a:lstStyle/>
                    <a:p>
                      <a:pPr algn="l"/>
                      <a:r>
                        <a:rPr sz="1000" b="0">
                          <a:solidFill>
                            <a:srgbClr val="000000"/>
                          </a:solidFill>
                          <a:latin typeface="Calibri"/>
                        </a:rPr>
                        <a:t>Specimen</a:t>
                      </a:r>
                    </a:p>
                  </a:txBody>
                  <a:tcPr/>
                </a:tc>
                <a:tc>
                  <a:txBody>
                    <a:bodyPr lIns="54864" rIns="54864" tIns="18288" bIns="18288" wrap="square" anchor="ctr"/>
                    <a:lstStyle/>
                    <a:p>
                      <a:pPr algn="l"/>
                      <a:r>
                        <a:rPr sz="1000" b="0">
                          <a:solidFill>
                            <a:srgbClr val="000000"/>
                          </a:solidFill>
                          <a:latin typeface="Calibri"/>
                        </a:rPr>
                        <a:t>S21 · 50 % infill</a:t>
                      </a:r>
                    </a:p>
                  </a:txBody>
                  <a:tcPr/>
                </a:tc>
              </a:tr>
            </a:tbl>
          </a:graphicData>
        </a:graphic>
      </p:graphicFrame>
      <p:sp>
        <p:nvSpPr>
          <p:cNvPr id="11" name="Rectangle 10"/>
          <p:cNvSpPr/>
          <p:nvPr/>
        </p:nvSpPr>
        <p:spPr>
          <a:xfrm>
            <a:off x="457200" y="5504688"/>
            <a:ext cx="1133856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SOFTWARE LIMITS — 1st peak 0–5000 N · Peak step 10–2000 N · Unload to 20–2000 N · Speed 0.005–0.500 mm/s · max 40 cycles (policy cap)</a:t>
            </a:r>
          </a:p>
        </p:txBody>
      </p:sp>
      <p:sp>
        <p:nvSpPr>
          <p:cNvPr id="12" name="TextBox 11"/>
          <p:cNvSpPr txBox="1"/>
          <p:nvPr/>
        </p:nvSpPr>
        <p:spPr>
          <a:xfrm>
            <a:off x="457200" y="5998464"/>
            <a:ext cx="11338560" cy="292608"/>
          </a:xfrm>
          <a:prstGeom prst="rect">
            <a:avLst/>
          </a:prstGeom>
          <a:noFill/>
        </p:spPr>
        <p:txBody>
          <a:bodyPr wrap="square" lIns="45720" rIns="45720" tIns="18288" bIns="18288" anchor="t">
            <a:spAutoFit/>
          </a:bodyPr>
          <a:lstStyle/>
          <a:p>
            <a:pPr algn="l"/>
            <a:r>
              <a:rPr sz="1050" b="0" i="1">
                <a:solidFill>
                  <a:srgbClr val="707070"/>
                </a:solidFill>
                <a:latin typeface="Calibri"/>
              </a:rPr>
              <a:t>Guidance: keep the unload floor ≥20 N so the specimen never goes slack and the grips stay seated.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Always-on, every mode: 4.5 kN force · 30 mm travel · 900 s timeout · stall guard (6 s window, min(0.05 mm, 35 % of commanded travel), armed above 200 N) · dead-DIC freeze 0.2 s / halt 1.0 s · E-Stop.</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PROGRESSIVE CYCLIC → FRACTURE  [T8] — OUR RESULTS</a:t>
            </a:r>
          </a:p>
        </p:txBody>
      </p:sp>
      <p:pic>
        <p:nvPicPr>
          <p:cNvPr id="5" name="Picture 4" descr="sf9_prog_cyclic.png"/>
          <p:cNvPicPr>
            <a:picLocks noChangeAspect="1"/>
          </p:cNvPicPr>
          <p:nvPr/>
        </p:nvPicPr>
        <p:blipFill>
          <a:blip r:embed="rId2"/>
          <a:stretch>
            <a:fillRect/>
          </a:stretch>
        </p:blipFill>
        <p:spPr>
          <a:xfrm>
            <a:off x="1207744" y="1133856"/>
            <a:ext cx="9791751" cy="3017520"/>
          </a:xfrm>
          <a:prstGeom prst="rect">
            <a:avLst/>
          </a:prstGeom>
        </p:spPr>
      </p:pic>
      <p:graphicFrame>
        <p:nvGraphicFramePr>
          <p:cNvPr id="6" name="Table 5"/>
          <p:cNvGraphicFramePr>
            <a:graphicFrameLocks noGrp="1"/>
          </p:cNvGraphicFramePr>
          <p:nvPr/>
        </p:nvGraphicFramePr>
        <p:xfrm>
          <a:off x="411480" y="4242816"/>
          <a:ext cx="11384280" cy="1426464"/>
        </p:xfrm>
        <a:graphic>
          <a:graphicData uri="http://schemas.openxmlformats.org/drawingml/2006/table">
            <a:tbl>
              <a:tblPr firstRow="1" bandRow="1">
                <a:tableStyleId>{5C22544A-7EE6-4342-B048-85BDC9FD1C3A}</a:tableStyleId>
              </a:tblPr>
              <a:tblGrid>
                <a:gridCol w="1138428"/>
                <a:gridCol w="1138428"/>
                <a:gridCol w="1138428"/>
                <a:gridCol w="1138428"/>
                <a:gridCol w="1138428"/>
                <a:gridCol w="1138428"/>
                <a:gridCol w="1138428"/>
                <a:gridCol w="1138428"/>
                <a:gridCol w="1138428"/>
                <a:gridCol w="1138428"/>
              </a:tblGrid>
              <a:tr h="237744">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1</a:t>
                      </a:r>
                    </a:p>
                  </a:txBody>
                  <a:tcPr>
                    <a:solidFill>
                      <a:srgbClr val="143D2F"/>
                    </a:solidFill>
                  </a:tcPr>
                </a:tc>
                <a:tc>
                  <a:txBody>
                    <a:bodyPr lIns="54864" rIns="54864" tIns="18288" bIns="18288" wrap="square" anchor="ctr"/>
                    <a:lstStyle/>
                    <a:p>
                      <a:pPr algn="l"/>
                      <a:r>
                        <a:rPr sz="950" b="1">
                          <a:solidFill>
                            <a:srgbClr val="FFFFFF"/>
                          </a:solidFill>
                          <a:latin typeface="Calibri"/>
                        </a:rPr>
                        <a:t>2</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a:t>
                      </a:r>
                    </a:p>
                  </a:txBody>
                  <a:tcPr>
                    <a:solidFill>
                      <a:srgbClr val="143D2F"/>
                    </a:solidFill>
                  </a:tcPr>
                </a:tc>
                <a:tc>
                  <a:txBody>
                    <a:bodyPr lIns="54864" rIns="54864" tIns="18288" bIns="18288" wrap="square" anchor="ctr"/>
                    <a:lstStyle/>
                    <a:p>
                      <a:pPr algn="l"/>
                      <a:r>
                        <a:rPr sz="950" b="1">
                          <a:solidFill>
                            <a:srgbClr val="FFFFFF"/>
                          </a:solidFill>
                          <a:latin typeface="Calibri"/>
                        </a:rPr>
                        <a:t>6</a:t>
                      </a:r>
                    </a:p>
                  </a:txBody>
                  <a:tcPr>
                    <a:solidFill>
                      <a:srgbClr val="143D2F"/>
                    </a:solidFill>
                  </a:tcPr>
                </a:tc>
                <a:tc>
                  <a:txBody>
                    <a:bodyPr lIns="54864" rIns="54864" tIns="18288" bIns="18288" wrap="square" anchor="ctr"/>
                    <a:lstStyle/>
                    <a:p>
                      <a:pPr algn="l"/>
                      <a:r>
                        <a:rPr sz="950" b="1">
                          <a:solidFill>
                            <a:srgbClr val="FFFFFF"/>
                          </a:solidFill>
                          <a:latin typeface="Calibri"/>
                        </a:rPr>
                        <a:t>7</a:t>
                      </a:r>
                    </a:p>
                  </a:txBody>
                  <a:tcPr>
                    <a:solidFill>
                      <a:srgbClr val="143D2F"/>
                    </a:solidFill>
                  </a:tcPr>
                </a:tc>
                <a:tc>
                  <a:txBody>
                    <a:bodyPr lIns="54864" rIns="54864" tIns="18288" bIns="18288" wrap="square" anchor="ctr"/>
                    <a:lstStyle/>
                    <a:p>
                      <a:pPr algn="l"/>
                      <a:r>
                        <a:rPr sz="950" b="1">
                          <a:solidFill>
                            <a:srgbClr val="FFFFFF"/>
                          </a:solidFill>
                          <a:latin typeface="Calibri"/>
                        </a:rPr>
                        <a:t>8</a:t>
                      </a:r>
                    </a:p>
                  </a:txBody>
                  <a:tcPr>
                    <a:solidFill>
                      <a:srgbClr val="143D2F"/>
                    </a:solidFill>
                  </a:tcPr>
                </a:tc>
                <a:tc>
                  <a:txBody>
                    <a:bodyPr lIns="54864" rIns="54864" tIns="18288" bIns="18288" wrap="square" anchor="ctr"/>
                    <a:lstStyle/>
                    <a:p>
                      <a:pPr algn="l"/>
                      <a:r>
                        <a:rPr sz="950" b="1">
                          <a:solidFill>
                            <a:srgbClr val="FFFFFF"/>
                          </a:solidFill>
                          <a:latin typeface="Calibri"/>
                        </a:rPr>
                        <a:t>trend</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Peak load (N)</a:t>
                      </a:r>
                    </a:p>
                  </a:txBody>
                  <a:tcPr/>
                </a:tc>
                <a:tc>
                  <a:txBody>
                    <a:bodyPr lIns="54864" rIns="54864" tIns="18288" bIns="18288" wrap="square" anchor="ctr"/>
                    <a:lstStyle/>
                    <a:p>
                      <a:pPr algn="l"/>
                      <a:r>
                        <a:rPr sz="950" b="0">
                          <a:solidFill>
                            <a:srgbClr val="000000"/>
                          </a:solidFill>
                          <a:latin typeface="Calibri"/>
                        </a:rPr>
                        <a:t>333</a:t>
                      </a:r>
                    </a:p>
                  </a:txBody>
                  <a:tcPr/>
                </a:tc>
                <a:tc>
                  <a:txBody>
                    <a:bodyPr lIns="54864" rIns="54864" tIns="18288" bIns="18288" wrap="square" anchor="ctr"/>
                    <a:lstStyle/>
                    <a:p>
                      <a:pPr algn="l"/>
                      <a:r>
                        <a:rPr sz="950" b="0">
                          <a:solidFill>
                            <a:srgbClr val="000000"/>
                          </a:solidFill>
                          <a:latin typeface="Calibri"/>
                        </a:rPr>
                        <a:t>455</a:t>
                      </a:r>
                    </a:p>
                  </a:txBody>
                  <a:tcPr/>
                </a:tc>
                <a:tc>
                  <a:txBody>
                    <a:bodyPr lIns="54864" rIns="54864" tIns="18288" bIns="18288" wrap="square" anchor="ctr"/>
                    <a:lstStyle/>
                    <a:p>
                      <a:pPr algn="l"/>
                      <a:r>
                        <a:rPr sz="950" b="0">
                          <a:solidFill>
                            <a:srgbClr val="000000"/>
                          </a:solidFill>
                          <a:latin typeface="Calibri"/>
                        </a:rPr>
                        <a:t>595</a:t>
                      </a:r>
                    </a:p>
                  </a:txBody>
                  <a:tcPr/>
                </a:tc>
                <a:tc>
                  <a:txBody>
                    <a:bodyPr lIns="54864" rIns="54864" tIns="18288" bIns="18288" wrap="square" anchor="ctr"/>
                    <a:lstStyle/>
                    <a:p>
                      <a:pPr algn="l"/>
                      <a:r>
                        <a:rPr sz="950" b="0">
                          <a:solidFill>
                            <a:srgbClr val="000000"/>
                          </a:solidFill>
                          <a:latin typeface="Calibri"/>
                        </a:rPr>
                        <a:t>756</a:t>
                      </a:r>
                    </a:p>
                  </a:txBody>
                  <a:tcPr/>
                </a:tc>
                <a:tc>
                  <a:txBody>
                    <a:bodyPr lIns="54864" rIns="54864" tIns="18288" bIns="18288" wrap="square" anchor="ctr"/>
                    <a:lstStyle/>
                    <a:p>
                      <a:pPr algn="l"/>
                      <a:r>
                        <a:rPr sz="950" b="0">
                          <a:solidFill>
                            <a:srgbClr val="000000"/>
                          </a:solidFill>
                          <a:latin typeface="Calibri"/>
                        </a:rPr>
                        <a:t>893</a:t>
                      </a:r>
                    </a:p>
                  </a:txBody>
                  <a:tcPr/>
                </a:tc>
                <a:tc>
                  <a:txBody>
                    <a:bodyPr lIns="54864" rIns="54864" tIns="18288" bIns="18288" wrap="square" anchor="ctr"/>
                    <a:lstStyle/>
                    <a:p>
                      <a:pPr algn="l"/>
                      <a:r>
                        <a:rPr sz="950" b="0">
                          <a:solidFill>
                            <a:srgbClr val="000000"/>
                          </a:solidFill>
                          <a:latin typeface="Calibri"/>
                        </a:rPr>
                        <a:t>1046</a:t>
                      </a:r>
                    </a:p>
                  </a:txBody>
                  <a:tcPr/>
                </a:tc>
                <a:tc>
                  <a:txBody>
                    <a:bodyPr lIns="54864" rIns="54864" tIns="18288" bIns="18288" wrap="square" anchor="ctr"/>
                    <a:lstStyle/>
                    <a:p>
                      <a:pPr algn="l"/>
                      <a:r>
                        <a:rPr sz="950" b="0">
                          <a:solidFill>
                            <a:srgbClr val="000000"/>
                          </a:solidFill>
                          <a:latin typeface="Calibri"/>
                        </a:rPr>
                        <a:t>1198</a:t>
                      </a:r>
                    </a:p>
                  </a:txBody>
                  <a:tcPr/>
                </a:tc>
                <a:tc>
                  <a:txBody>
                    <a:bodyPr lIns="54864" rIns="54864" tIns="18288" bIns="18288" wrap="square" anchor="ctr"/>
                    <a:lstStyle/>
                    <a:p>
                      <a:pPr algn="l"/>
                      <a:r>
                        <a:rPr sz="950" b="0">
                          <a:solidFill>
                            <a:srgbClr val="000000"/>
                          </a:solidFill>
                          <a:latin typeface="Calibri"/>
                        </a:rPr>
                        <a:t>1338</a:t>
                      </a:r>
                    </a:p>
                  </a:txBody>
                  <a:tcPr/>
                </a:tc>
                <a:tc>
                  <a:txBody>
                    <a:bodyPr lIns="54864" rIns="54864" tIns="18288" bIns="18288" wrap="square" anchor="ctr"/>
                    <a:lstStyle/>
                    <a:p>
                      <a:pPr algn="l"/>
                      <a:r>
                        <a:rPr sz="950" b="0">
                          <a:solidFill>
                            <a:srgbClr val="000000"/>
                          </a:solidFill>
                          <a:latin typeface="Calibri"/>
                        </a:rPr>
                        <a:t>target ±12 N</a:t>
                      </a:r>
                    </a:p>
                  </a:txBody>
                  <a:tcPr/>
                </a:tc>
              </a:tr>
              <a:tr h="237744">
                <a:tc>
                  <a:txBody>
                    <a:bodyPr lIns="54864" rIns="54864" tIns="18288" bIns="18288" wrap="square" anchor="ctr"/>
                    <a:lstStyle/>
                    <a:p>
                      <a:pPr algn="l"/>
                      <a:r>
                        <a:rPr sz="950" b="0">
                          <a:solidFill>
                            <a:srgbClr val="000000"/>
                          </a:solidFill>
                          <a:latin typeface="Calibri"/>
                        </a:rPr>
                        <a:t>Peak error vs target (N)</a:t>
                      </a:r>
                    </a:p>
                  </a:txBody>
                  <a:tcPr/>
                </a:tc>
                <a:tc>
                  <a:txBody>
                    <a:bodyPr lIns="54864" rIns="54864" tIns="18288" bIns="18288" wrap="square" anchor="ctr"/>
                    <a:lstStyle/>
                    <a:p>
                      <a:pPr algn="l"/>
                      <a:r>
                        <a:rPr sz="950" b="0">
                          <a:solidFill>
                            <a:srgbClr val="000000"/>
                          </a:solidFill>
                          <a:latin typeface="Calibri"/>
                        </a:rPr>
                        <a:t>+33</a:t>
                      </a:r>
                    </a:p>
                  </a:txBody>
                  <a:tcPr/>
                </a:tc>
                <a:tc>
                  <a:txBody>
                    <a:bodyPr lIns="54864" rIns="54864" tIns="18288" bIns="18288" wrap="square" anchor="ctr"/>
                    <a:lstStyle/>
                    <a:p>
                      <a:pPr algn="l"/>
                      <a:r>
                        <a:rPr sz="950" b="0">
                          <a:solidFill>
                            <a:srgbClr val="000000"/>
                          </a:solidFill>
                          <a:latin typeface="Calibri"/>
                        </a:rPr>
                        <a:t>+5</a:t>
                      </a:r>
                    </a:p>
                  </a:txBody>
                  <a:tcPr/>
                </a:tc>
                <a:tc>
                  <a:txBody>
                    <a:bodyPr lIns="54864" rIns="54864" tIns="18288" bIns="18288" wrap="square" anchor="ctr"/>
                    <a:lstStyle/>
                    <a:p>
                      <a:pPr algn="l"/>
                      <a:r>
                        <a:rPr sz="950" b="0">
                          <a:solidFill>
                            <a:srgbClr val="000000"/>
                          </a:solidFill>
                          <a:latin typeface="Calibri"/>
                        </a:rPr>
                        <a:t>-5</a:t>
                      </a:r>
                    </a:p>
                  </a:txBody>
                  <a:tcPr/>
                </a:tc>
                <a:tc>
                  <a:txBody>
                    <a:bodyPr lIns="54864" rIns="54864" tIns="18288" bIns="18288" wrap="square" anchor="ctr"/>
                    <a:lstStyle/>
                    <a:p>
                      <a:pPr algn="l"/>
                      <a:r>
                        <a:rPr sz="950" b="0">
                          <a:solidFill>
                            <a:srgbClr val="000000"/>
                          </a:solidFill>
                          <a:latin typeface="Calibri"/>
                        </a:rPr>
                        <a:t>+6</a:t>
                      </a:r>
                    </a:p>
                  </a:txBody>
                  <a:tcPr/>
                </a:tc>
                <a:tc>
                  <a:txBody>
                    <a:bodyPr lIns="54864" rIns="54864" tIns="18288" bIns="18288" wrap="square" anchor="ctr"/>
                    <a:lstStyle/>
                    <a:p>
                      <a:pPr algn="l"/>
                      <a:r>
                        <a:rPr sz="950" b="0">
                          <a:solidFill>
                            <a:srgbClr val="000000"/>
                          </a:solidFill>
                          <a:latin typeface="Calibri"/>
                        </a:rPr>
                        <a:t>-7</a:t>
                      </a:r>
                    </a:p>
                  </a:txBody>
                  <a:tcPr/>
                </a:tc>
                <a:tc>
                  <a:txBody>
                    <a:bodyPr lIns="54864" rIns="54864" tIns="18288" bIns="18288" wrap="square" anchor="ctr"/>
                    <a:lstStyle/>
                    <a:p>
                      <a:pPr algn="l"/>
                      <a:r>
                        <a:rPr sz="950" b="0">
                          <a:solidFill>
                            <a:srgbClr val="000000"/>
                          </a:solidFill>
                          <a:latin typeface="Calibri"/>
                        </a:rPr>
                        <a:t>-4</a:t>
                      </a:r>
                    </a:p>
                  </a:txBody>
                  <a:tcPr/>
                </a:tc>
                <a:tc>
                  <a:txBody>
                    <a:bodyPr lIns="54864" rIns="54864" tIns="18288" bIns="18288" wrap="square" anchor="ctr"/>
                    <a:lstStyle/>
                    <a:p>
                      <a:pPr algn="l"/>
                      <a:r>
                        <a:rPr sz="950" b="0">
                          <a:solidFill>
                            <a:srgbClr val="000000"/>
                          </a:solidFill>
                          <a:latin typeface="Calibri"/>
                        </a:rPr>
                        <a:t>-2</a:t>
                      </a:r>
                    </a:p>
                  </a:txBody>
                  <a:tcPr/>
                </a:tc>
                <a:tc>
                  <a:txBody>
                    <a:bodyPr lIns="54864" rIns="54864" tIns="18288" bIns="18288" wrap="square" anchor="ctr"/>
                    <a:lstStyle/>
                    <a:p>
                      <a:pPr algn="l"/>
                      <a:r>
                        <a:rPr sz="950" b="0">
                          <a:solidFill>
                            <a:srgbClr val="000000"/>
                          </a:solidFill>
                          <a:latin typeface="Calibri"/>
                        </a:rPr>
                        <a:t>-12</a:t>
                      </a:r>
                    </a:p>
                  </a:txBody>
                  <a:tcPr/>
                </a:tc>
                <a:tc>
                  <a:txBody>
                    <a:bodyPr lIns="54864" rIns="54864" tIns="18288" bIns="18288" wrap="square" anchor="ctr"/>
                    <a:lstStyle/>
                    <a:p>
                      <a:pPr algn="l"/>
                      <a:r>
                        <a:rPr sz="950" b="0">
                          <a:solidFill>
                            <a:srgbClr val="000000"/>
                          </a:solidFill>
                          <a:latin typeface="Calibri"/>
                        </a:rPr>
                        <a:t>±6 mean</a:t>
                      </a:r>
                    </a:p>
                  </a:txBody>
                  <a:tcPr/>
                </a:tc>
              </a:tr>
              <a:tr h="237744">
                <a:tc>
                  <a:txBody>
                    <a:bodyPr lIns="54864" rIns="54864" tIns="18288" bIns="18288" wrap="square" anchor="ctr"/>
                    <a:lstStyle/>
                    <a:p>
                      <a:pPr algn="l"/>
                      <a:r>
                        <a:rPr sz="950" b="0">
                          <a:solidFill>
                            <a:srgbClr val="000000"/>
                          </a:solidFill>
                          <a:latin typeface="Calibri"/>
                        </a:rPr>
                        <a:t>DIC unload E (GPa)</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2.32</a:t>
                      </a:r>
                    </a:p>
                  </a:txBody>
                  <a:tcPr/>
                </a:tc>
                <a:tc>
                  <a:txBody>
                    <a:bodyPr lIns="54864" rIns="54864" tIns="18288" bIns="18288" wrap="square" anchor="ctr"/>
                    <a:lstStyle/>
                    <a:p>
                      <a:pPr algn="l"/>
                      <a:r>
                        <a:rPr sz="950" b="0">
                          <a:solidFill>
                            <a:srgbClr val="000000"/>
                          </a:solidFill>
                          <a:latin typeface="Calibri"/>
                        </a:rPr>
                        <a:t>2.12</a:t>
                      </a:r>
                    </a:p>
                  </a:txBody>
                  <a:tcPr/>
                </a:tc>
                <a:tc>
                  <a:txBody>
                    <a:bodyPr lIns="54864" rIns="54864" tIns="18288" bIns="18288" wrap="square" anchor="ctr"/>
                    <a:lstStyle/>
                    <a:p>
                      <a:pPr algn="l"/>
                      <a:r>
                        <a:rPr sz="950" b="0">
                          <a:solidFill>
                            <a:srgbClr val="000000"/>
                          </a:solidFill>
                          <a:latin typeface="Calibri"/>
                        </a:rPr>
                        <a:t>1.97</a:t>
                      </a:r>
                    </a:p>
                  </a:txBody>
                  <a:tcPr/>
                </a:tc>
                <a:tc>
                  <a:txBody>
                    <a:bodyPr lIns="54864" rIns="54864" tIns="18288" bIns="18288" wrap="square" anchor="ctr"/>
                    <a:lstStyle/>
                    <a:p>
                      <a:pPr algn="l"/>
                      <a:r>
                        <a:rPr sz="950" b="0">
                          <a:solidFill>
                            <a:srgbClr val="000000"/>
                          </a:solidFill>
                          <a:latin typeface="Calibri"/>
                        </a:rPr>
                        <a:t>1.85</a:t>
                      </a:r>
                    </a:p>
                  </a:txBody>
                  <a:tcPr/>
                </a:tc>
                <a:tc>
                  <a:txBody>
                    <a:bodyPr lIns="54864" rIns="54864" tIns="18288" bIns="18288" wrap="square" anchor="ctr"/>
                    <a:lstStyle/>
                    <a:p>
                      <a:pPr algn="l"/>
                      <a:r>
                        <a:rPr sz="950" b="0">
                          <a:solidFill>
                            <a:srgbClr val="000000"/>
                          </a:solidFill>
                          <a:latin typeface="Calibri"/>
                        </a:rPr>
                        <a:t>1.73</a:t>
                      </a:r>
                    </a:p>
                  </a:txBody>
                  <a:tcPr/>
                </a:tc>
                <a:tc>
                  <a:txBody>
                    <a:bodyPr lIns="54864" rIns="54864" tIns="18288" bIns="18288" wrap="square" anchor="ctr"/>
                    <a:lstStyle/>
                    <a:p>
                      <a:pPr algn="l"/>
                      <a:r>
                        <a:rPr sz="950" b="0">
                          <a:solidFill>
                            <a:srgbClr val="000000"/>
                          </a:solidFill>
                          <a:latin typeface="Calibri"/>
                        </a:rPr>
                        <a:t>2.32 → 1.73</a:t>
                      </a:r>
                    </a:p>
                  </a:txBody>
                  <a:tcPr/>
                </a:tc>
              </a:tr>
              <a:tr h="237744">
                <a:tc>
                  <a:txBody>
                    <a:bodyPr lIns="54864" rIns="54864" tIns="18288" bIns="18288" wrap="square" anchor="ctr"/>
                    <a:lstStyle/>
                    <a:p>
                      <a:pPr algn="l"/>
                      <a:r>
                        <a:rPr sz="950" b="0">
                          <a:solidFill>
                            <a:srgbClr val="000000"/>
                          </a:solidFill>
                          <a:latin typeface="Calibri"/>
                        </a:rPr>
                        <a:t>Crosshead K (N/mm)</a:t>
                      </a:r>
                    </a:p>
                  </a:txBody>
                  <a:tcPr/>
                </a:tc>
                <a:tc>
                  <a:txBody>
                    <a:bodyPr lIns="54864" rIns="54864" tIns="18288" bIns="18288" wrap="square" anchor="ctr"/>
                    <a:lstStyle/>
                    <a:p>
                      <a:pPr algn="l"/>
                      <a:r>
                        <a:rPr sz="950" b="0">
                          <a:solidFill>
                            <a:srgbClr val="000000"/>
                          </a:solidFill>
                          <a:latin typeface="Calibri"/>
                        </a:rPr>
                        <a:t>613</a:t>
                      </a:r>
                    </a:p>
                  </a:txBody>
                  <a:tcPr/>
                </a:tc>
                <a:tc>
                  <a:txBody>
                    <a:bodyPr lIns="54864" rIns="54864" tIns="18288" bIns="18288" wrap="square" anchor="ctr"/>
                    <a:lstStyle/>
                    <a:p>
                      <a:pPr algn="l"/>
                      <a:r>
                        <a:rPr sz="950" b="0">
                          <a:solidFill>
                            <a:srgbClr val="000000"/>
                          </a:solidFill>
                          <a:latin typeface="Calibri"/>
                        </a:rPr>
                        <a:t>640</a:t>
                      </a:r>
                    </a:p>
                  </a:txBody>
                  <a:tcPr/>
                </a:tc>
                <a:tc>
                  <a:txBody>
                    <a:bodyPr lIns="54864" rIns="54864" tIns="18288" bIns="18288" wrap="square" anchor="ctr"/>
                    <a:lstStyle/>
                    <a:p>
                      <a:pPr algn="l"/>
                      <a:r>
                        <a:rPr sz="950" b="0">
                          <a:solidFill>
                            <a:srgbClr val="000000"/>
                          </a:solidFill>
                          <a:latin typeface="Calibri"/>
                        </a:rPr>
                        <a:t>706</a:t>
                      </a:r>
                    </a:p>
                  </a:txBody>
                  <a:tcPr/>
                </a:tc>
                <a:tc>
                  <a:txBody>
                    <a:bodyPr lIns="54864" rIns="54864" tIns="18288" bIns="18288" wrap="square" anchor="ctr"/>
                    <a:lstStyle/>
                    <a:p>
                      <a:pPr algn="l"/>
                      <a:r>
                        <a:rPr sz="950" b="0">
                          <a:solidFill>
                            <a:srgbClr val="000000"/>
                          </a:solidFill>
                          <a:latin typeface="Calibri"/>
                        </a:rPr>
                        <a:t>744</a:t>
                      </a:r>
                    </a:p>
                  </a:txBody>
                  <a:tcPr/>
                </a:tc>
                <a:tc>
                  <a:txBody>
                    <a:bodyPr lIns="54864" rIns="54864" tIns="18288" bIns="18288" wrap="square" anchor="ctr"/>
                    <a:lstStyle/>
                    <a:p>
                      <a:pPr algn="l"/>
                      <a:r>
                        <a:rPr sz="950" b="0">
                          <a:solidFill>
                            <a:srgbClr val="000000"/>
                          </a:solidFill>
                          <a:latin typeface="Calibri"/>
                        </a:rPr>
                        <a:t>755</a:t>
                      </a:r>
                    </a:p>
                  </a:txBody>
                  <a:tcPr/>
                </a:tc>
                <a:tc>
                  <a:txBody>
                    <a:bodyPr lIns="54864" rIns="54864" tIns="18288" bIns="18288" wrap="square" anchor="ctr"/>
                    <a:lstStyle/>
                    <a:p>
                      <a:pPr algn="l"/>
                      <a:r>
                        <a:rPr sz="950" b="0">
                          <a:solidFill>
                            <a:srgbClr val="000000"/>
                          </a:solidFill>
                          <a:latin typeface="Calibri"/>
                        </a:rPr>
                        <a:t>765</a:t>
                      </a:r>
                    </a:p>
                  </a:txBody>
                  <a:tcPr/>
                </a:tc>
                <a:tc>
                  <a:txBody>
                    <a:bodyPr lIns="54864" rIns="54864" tIns="18288" bIns="18288" wrap="square" anchor="ctr"/>
                    <a:lstStyle/>
                    <a:p>
                      <a:pPr algn="l"/>
                      <a:r>
                        <a:rPr sz="950" b="0">
                          <a:solidFill>
                            <a:srgbClr val="000000"/>
                          </a:solidFill>
                          <a:latin typeface="Calibri"/>
                        </a:rPr>
                        <a:t>769</a:t>
                      </a:r>
                    </a:p>
                  </a:txBody>
                  <a:tcPr/>
                </a:tc>
                <a:tc>
                  <a:txBody>
                    <a:bodyPr lIns="54864" rIns="54864" tIns="18288" bIns="18288" wrap="square" anchor="ctr"/>
                    <a:lstStyle/>
                    <a:p>
                      <a:pPr algn="l"/>
                      <a:r>
                        <a:rPr sz="950" b="0">
                          <a:solidFill>
                            <a:srgbClr val="000000"/>
                          </a:solidFill>
                          <a:latin typeface="Calibri"/>
                        </a:rPr>
                        <a:t>777</a:t>
                      </a:r>
                    </a:p>
                  </a:txBody>
                  <a:tcPr/>
                </a:tc>
                <a:tc>
                  <a:txBody>
                    <a:bodyPr lIns="54864" rIns="54864" tIns="18288" bIns="18288" wrap="square" anchor="ctr"/>
                    <a:lstStyle/>
                    <a:p>
                      <a:pPr algn="l"/>
                      <a:r>
                        <a:rPr sz="950" b="0">
                          <a:solidFill>
                            <a:srgbClr val="000000"/>
                          </a:solidFill>
                          <a:latin typeface="Calibri"/>
                        </a:rPr>
                        <a:t>613 → 777  ↑</a:t>
                      </a:r>
                    </a:p>
                  </a:txBody>
                  <a:tcPr/>
                </a:tc>
              </a:tr>
              <a:tr h="237744">
                <a:tc>
                  <a:txBody>
                    <a:bodyPr lIns="54864" rIns="54864" tIns="18288" bIns="18288" wrap="square" anchor="ctr"/>
                    <a:lstStyle/>
                    <a:p>
                      <a:pPr algn="l"/>
                      <a:r>
                        <a:rPr sz="950" b="0">
                          <a:solidFill>
                            <a:srgbClr val="000000"/>
                          </a:solidFill>
                          <a:latin typeface="Calibri"/>
                        </a:rPr>
                        <a:t>Hysteresis dissipated (%)</a:t>
                      </a:r>
                    </a:p>
                  </a:txBody>
                  <a:tcPr/>
                </a:tc>
                <a:tc>
                  <a:txBody>
                    <a:bodyPr lIns="54864" rIns="54864" tIns="18288" bIns="18288" wrap="square" anchor="ctr"/>
                    <a:lstStyle/>
                    <a:p>
                      <a:pPr algn="l"/>
                      <a:r>
                        <a:rPr sz="950" b="0">
                          <a:solidFill>
                            <a:srgbClr val="000000"/>
                          </a:solidFill>
                          <a:latin typeface="Calibri"/>
                        </a:rPr>
                        <a:t>31.7</a:t>
                      </a:r>
                    </a:p>
                  </a:txBody>
                  <a:tcPr/>
                </a:tc>
                <a:tc>
                  <a:txBody>
                    <a:bodyPr lIns="54864" rIns="54864" tIns="18288" bIns="18288" wrap="square" anchor="ctr"/>
                    <a:lstStyle/>
                    <a:p>
                      <a:pPr algn="l"/>
                      <a:r>
                        <a:rPr sz="950" b="0">
                          <a:solidFill>
                            <a:srgbClr val="000000"/>
                          </a:solidFill>
                          <a:latin typeface="Calibri"/>
                        </a:rPr>
                        <a:t>12.4</a:t>
                      </a:r>
                    </a:p>
                  </a:txBody>
                  <a:tcPr/>
                </a:tc>
                <a:tc>
                  <a:txBody>
                    <a:bodyPr lIns="54864" rIns="54864" tIns="18288" bIns="18288" wrap="square" anchor="ctr"/>
                    <a:lstStyle/>
                    <a:p>
                      <a:pPr algn="l"/>
                      <a:r>
                        <a:rPr sz="950" b="0">
                          <a:solidFill>
                            <a:srgbClr val="000000"/>
                          </a:solidFill>
                          <a:latin typeface="Calibri"/>
                        </a:rPr>
                        <a:t>10.8</a:t>
                      </a:r>
                    </a:p>
                  </a:txBody>
                  <a:tcPr/>
                </a:tc>
                <a:tc>
                  <a:txBody>
                    <a:bodyPr lIns="54864" rIns="54864" tIns="18288" bIns="18288" wrap="square" anchor="ctr"/>
                    <a:lstStyle/>
                    <a:p>
                      <a:pPr algn="l"/>
                      <a:r>
                        <a:rPr sz="950" b="0">
                          <a:solidFill>
                            <a:srgbClr val="000000"/>
                          </a:solidFill>
                          <a:latin typeface="Calibri"/>
                        </a:rPr>
                        <a:t>11.4</a:t>
                      </a:r>
                    </a:p>
                  </a:txBody>
                  <a:tcPr/>
                </a:tc>
                <a:tc>
                  <a:txBody>
                    <a:bodyPr lIns="54864" rIns="54864" tIns="18288" bIns="18288" wrap="square" anchor="ctr"/>
                    <a:lstStyle/>
                    <a:p>
                      <a:pPr algn="l"/>
                      <a:r>
                        <a:rPr sz="950" b="0">
                          <a:solidFill>
                            <a:srgbClr val="000000"/>
                          </a:solidFill>
                          <a:latin typeface="Calibri"/>
                        </a:rPr>
                        <a:t>9.6</a:t>
                      </a:r>
                    </a:p>
                  </a:txBody>
                  <a:tcPr/>
                </a:tc>
                <a:tc>
                  <a:txBody>
                    <a:bodyPr lIns="54864" rIns="54864" tIns="18288" bIns="18288" wrap="square" anchor="ctr"/>
                    <a:lstStyle/>
                    <a:p>
                      <a:pPr algn="l"/>
                      <a:r>
                        <a:rPr sz="950" b="0">
                          <a:solidFill>
                            <a:srgbClr val="000000"/>
                          </a:solidFill>
                          <a:latin typeface="Calibri"/>
                        </a:rPr>
                        <a:t>15.2</a:t>
                      </a:r>
                    </a:p>
                  </a:txBody>
                  <a:tcPr/>
                </a:tc>
                <a:tc>
                  <a:txBody>
                    <a:bodyPr lIns="54864" rIns="54864" tIns="18288" bIns="18288" wrap="square" anchor="ctr"/>
                    <a:lstStyle/>
                    <a:p>
                      <a:pPr algn="l"/>
                      <a:r>
                        <a:rPr sz="950" b="0">
                          <a:solidFill>
                            <a:srgbClr val="000000"/>
                          </a:solidFill>
                          <a:latin typeface="Calibri"/>
                        </a:rPr>
                        <a:t>19.6</a:t>
                      </a:r>
                    </a:p>
                  </a:txBody>
                  <a:tcPr/>
                </a:tc>
                <a:tc>
                  <a:txBody>
                    <a:bodyPr lIns="54864" rIns="54864" tIns="18288" bIns="18288" wrap="square" anchor="ctr"/>
                    <a:lstStyle/>
                    <a:p>
                      <a:pPr algn="l"/>
                      <a:r>
                        <a:rPr sz="950" b="0">
                          <a:solidFill>
                            <a:srgbClr val="000000"/>
                          </a:solidFill>
                          <a:latin typeface="Calibri"/>
                        </a:rPr>
                        <a:t>29.6</a:t>
                      </a:r>
                    </a:p>
                  </a:txBody>
                  <a:tcPr/>
                </a:tc>
                <a:tc>
                  <a:txBody>
                    <a:bodyPr lIns="54864" rIns="54864" tIns="18288" bIns="18288" wrap="square" anchor="ctr"/>
                    <a:lstStyle/>
                    <a:p>
                      <a:pPr algn="l"/>
                      <a:r>
                        <a:rPr sz="950" b="0">
                          <a:solidFill>
                            <a:srgbClr val="000000"/>
                          </a:solidFill>
                          <a:latin typeface="Calibri"/>
                        </a:rPr>
                        <a:t>min 9.6 → 29.6</a:t>
                      </a:r>
                    </a:p>
                  </a:txBody>
                  <a:tcPr/>
                </a:tc>
              </a:tr>
            </a:tbl>
          </a:graphicData>
        </a:graphic>
      </p:graphicFrame>
      <p:sp>
        <p:nvSpPr>
          <p:cNvPr id="7" name="Rectangle 6"/>
          <p:cNvSpPr/>
          <p:nvPr/>
        </p:nvSpPr>
        <p:spPr>
          <a:xfrm>
            <a:off x="411480" y="5760720"/>
            <a:ext cx="1138428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Specimen SOFTENED 2.32 → 1.73 GPa (25 % stiffness lost) while the crosshead read 613 → 777 N/mm — STIFFER. Without DIC this test concludes the opposite of the truth.</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Cycles 1–3 carry no modulus: the DIC strain CHANGE in those small unloads is below the noise floor (R² 0.17–0.82). Dissipation is an energy integral over a large position range and has no such floor — on this rig it is the better damage metric.</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EXPLAINER — “the specimen softens but the machine reads stiffer”</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This is the single most important idea on the T8 slide, so here it is slowly. Nothing here is new data — it is the same numbers, explained.</a:t>
            </a:r>
          </a:p>
        </p:txBody>
      </p:sp>
      <p:pic>
        <p:nvPicPr>
          <p:cNvPr id="6" name="Picture 5" descr="sf9_teach_stiffness.png"/>
          <p:cNvPicPr>
            <a:picLocks noChangeAspect="1"/>
          </p:cNvPicPr>
          <p:nvPr/>
        </p:nvPicPr>
        <p:blipFill>
          <a:blip r:embed="rId2"/>
          <a:stretch>
            <a:fillRect/>
          </a:stretch>
        </p:blipFill>
        <p:spPr>
          <a:xfrm>
            <a:off x="1804849" y="1389888"/>
            <a:ext cx="8597541" cy="3401568"/>
          </a:xfrm>
          <a:prstGeom prst="rect">
            <a:avLst/>
          </a:prstGeom>
        </p:spPr>
      </p:pic>
      <p:sp>
        <p:nvSpPr>
          <p:cNvPr id="7" name="TextBox 6"/>
          <p:cNvSpPr txBox="1"/>
          <p:nvPr/>
        </p:nvSpPr>
        <p:spPr>
          <a:xfrm>
            <a:off x="457200" y="4901184"/>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What you are measuring</a:t>
            </a:r>
          </a:p>
        </p:txBody>
      </p:sp>
      <p:sp>
        <p:nvSpPr>
          <p:cNvPr id="8" name="TextBox 7"/>
          <p:cNvSpPr txBox="1"/>
          <p:nvPr/>
        </p:nvSpPr>
        <p:spPr>
          <a:xfrm>
            <a:off x="3246120" y="4901184"/>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Two DIFFERENT things.  DIC watches two dots ON the specimen. The crosshead measures how far the whole machine moved.</a:t>
            </a:r>
          </a:p>
        </p:txBody>
      </p:sp>
      <p:sp>
        <p:nvSpPr>
          <p:cNvPr id="9" name="TextBox 8"/>
          <p:cNvSpPr txBox="1"/>
          <p:nvPr/>
        </p:nvSpPr>
        <p:spPr>
          <a:xfrm>
            <a:off x="457200" y="5285232"/>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Why that matters</a:t>
            </a:r>
          </a:p>
        </p:txBody>
      </p:sp>
      <p:sp>
        <p:nvSpPr>
          <p:cNvPr id="10" name="TextBox 9"/>
          <p:cNvSpPr txBox="1"/>
          <p:nvPr/>
        </p:nvSpPr>
        <p:spPr>
          <a:xfrm>
            <a:off x="3246120" y="5285232"/>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crosshead reading contains the grips, screw, frame and every bit of slack — the specimen is only ONE part of what it sees.</a:t>
            </a:r>
          </a:p>
        </p:txBody>
      </p:sp>
      <p:sp>
        <p:nvSpPr>
          <p:cNvPr id="11" name="TextBox 10"/>
          <p:cNvSpPr txBox="1"/>
          <p:nvPr/>
        </p:nvSpPr>
        <p:spPr>
          <a:xfrm>
            <a:off x="457200" y="5669280"/>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What actually happened</a:t>
            </a:r>
          </a:p>
        </p:txBody>
      </p:sp>
      <p:sp>
        <p:nvSpPr>
          <p:cNvPr id="12" name="TextBox 11"/>
          <p:cNvSpPr txBox="1"/>
          <p:nvPr/>
        </p:nvSpPr>
        <p:spPr>
          <a:xfrm>
            <a:off x="3246120" y="5669280"/>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specimen got 26 % SOFTER (real damage). The machine got 29 % STIFFER as slack was squeezed out. The machine change is bigger, so the total went UP 4 %.</a:t>
            </a:r>
          </a:p>
        </p:txBody>
      </p:sp>
      <p:sp>
        <p:nvSpPr>
          <p:cNvPr id="13" name="TextBox 12"/>
          <p:cNvSpPr txBox="1"/>
          <p:nvPr/>
        </p:nvSpPr>
        <p:spPr>
          <a:xfrm>
            <a:off x="457200" y="6053328"/>
            <a:ext cx="2697480" cy="384048"/>
          </a:xfrm>
          <a:prstGeom prst="rect">
            <a:avLst/>
          </a:prstGeom>
          <a:noFill/>
        </p:spPr>
        <p:txBody>
          <a:bodyPr wrap="square" lIns="45720" rIns="45720" tIns="18288" bIns="18288" anchor="t">
            <a:spAutoFit/>
          </a:bodyPr>
          <a:lstStyle/>
          <a:p>
            <a:pPr algn="l"/>
            <a:r>
              <a:rPr sz="1100" b="1" i="0">
                <a:solidFill>
                  <a:srgbClr val="1F3F2F"/>
                </a:solidFill>
                <a:latin typeface="Calibri"/>
              </a:rPr>
              <a:t>The one-line version</a:t>
            </a:r>
          </a:p>
        </p:txBody>
      </p:sp>
      <p:sp>
        <p:nvSpPr>
          <p:cNvPr id="14" name="TextBox 13"/>
          <p:cNvSpPr txBox="1"/>
          <p:nvPr/>
        </p:nvSpPr>
        <p:spPr>
          <a:xfrm>
            <a:off x="3246120" y="6053328"/>
            <a:ext cx="8549640" cy="384048"/>
          </a:xfrm>
          <a:prstGeom prst="rect">
            <a:avLst/>
          </a:prstGeom>
          <a:noFill/>
        </p:spPr>
        <p:txBody>
          <a:bodyPr wrap="square" lIns="45720" rIns="45720" tIns="18288" bIns="18288" anchor="t">
            <a:spAutoFit/>
          </a:bodyPr>
          <a:lstStyle/>
          <a:p>
            <a:pPr algn="l"/>
            <a:r>
              <a:rPr sz="1050" b="0" i="0">
                <a:solidFill>
                  <a:srgbClr val="000000"/>
                </a:solidFill>
                <a:latin typeface="Calibri"/>
              </a:rPr>
              <a:t>The rig is the SOFTER spring (1095 vs 2325 N/mm), so it dominates the crosshead number. Only DIC can see the specimen by itself.</a:t>
            </a:r>
          </a:p>
        </p:txBody>
      </p:sp>
      <p:sp>
        <p:nvSpPr>
          <p:cNvPr id="15" name="Rectangle 14"/>
          <p:cNvSpPr/>
          <p:nvPr/>
        </p:nvSpPr>
        <p:spPr>
          <a:xfrm>
            <a:off x="411480" y="6419088"/>
            <a:ext cx="11384280" cy="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 b="1">
                <a:solidFill>
                  <a:srgbClr val="FFFFFF"/>
                </a:solidFill>
                <a:latin typeface="Calibri"/>
              </a:rPr>
              <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Springs in series: 1/K_measured = 1/K_specimen + 1/K_machine. K_specimen = E·A/L; with A = 80 mm² and L = 80 mm that is numerically E in MPa, which is why all three fit on one axis.</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EXPLAINER — why the energy loss DIPS, then CLIMBS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The U shape looks odd until you see that TWO separate things are being added together — one dying away, one waking up.</a:t>
            </a:r>
          </a:p>
        </p:txBody>
      </p:sp>
      <p:pic>
        <p:nvPicPr>
          <p:cNvPr id="6" name="Picture 5" descr="sf9_teach_dissipation.png"/>
          <p:cNvPicPr>
            <a:picLocks noChangeAspect="1"/>
          </p:cNvPicPr>
          <p:nvPr/>
        </p:nvPicPr>
        <p:blipFill>
          <a:blip r:embed="rId2"/>
          <a:stretch>
            <a:fillRect/>
          </a:stretch>
        </p:blipFill>
        <p:spPr>
          <a:xfrm>
            <a:off x="1214214" y="1389888"/>
            <a:ext cx="9778810" cy="3246120"/>
          </a:xfrm>
          <a:prstGeom prst="rect">
            <a:avLst/>
          </a:prstGeom>
        </p:spPr>
      </p:pic>
      <p:graphicFrame>
        <p:nvGraphicFramePr>
          <p:cNvPr id="7" name="Table 6"/>
          <p:cNvGraphicFramePr>
            <a:graphicFrameLocks noGrp="1"/>
          </p:cNvGraphicFramePr>
          <p:nvPr/>
        </p:nvGraphicFramePr>
        <p:xfrm>
          <a:off x="411480" y="4773168"/>
          <a:ext cx="11384277" cy="987552"/>
        </p:xfrm>
        <a:graphic>
          <a:graphicData uri="http://schemas.openxmlformats.org/drawingml/2006/table">
            <a:tbl>
              <a:tblPr firstRow="1" bandRow="1">
                <a:tableStyleId>{5C22544A-7EE6-4342-B048-85BDC9FD1C3A}</a:tableStyleId>
              </a:tblPr>
              <a:tblGrid>
                <a:gridCol w="2919046"/>
                <a:gridCol w="1109237"/>
                <a:gridCol w="1109237"/>
                <a:gridCol w="1459523"/>
                <a:gridCol w="1109237"/>
                <a:gridCol w="1109237"/>
                <a:gridCol w="2568760"/>
              </a:tblGrid>
              <a:tr h="246888">
                <a:tc>
                  <a:txBody>
                    <a:bodyPr lIns="54864" rIns="54864" tIns="18288" bIns="18288" wrap="square" anchor="ctr"/>
                    <a:lstStyle/>
                    <a:p>
                      <a:pPr algn="l"/>
                      <a:r>
                        <a:rPr sz="950" b="1">
                          <a:solidFill>
                            <a:srgbClr val="FFFFFF"/>
                          </a:solidFill>
                          <a:latin typeface="Calibri"/>
                        </a:rPr>
                        <a:t>Cycle</a:t>
                      </a:r>
                    </a:p>
                  </a:txBody>
                  <a:tcPr>
                    <a:solidFill>
                      <a:srgbClr val="143D2F"/>
                    </a:solidFill>
                  </a:tcPr>
                </a:tc>
                <a:tc>
                  <a:txBody>
                    <a:bodyPr lIns="54864" rIns="54864" tIns="18288" bIns="18288" wrap="square" anchor="ctr"/>
                    <a:lstStyle/>
                    <a:p>
                      <a:pPr algn="l"/>
                      <a:r>
                        <a:rPr sz="950" b="1">
                          <a:solidFill>
                            <a:srgbClr val="FFFFFF"/>
                          </a:solidFill>
                          <a:latin typeface="Calibri"/>
                        </a:rPr>
                        <a:t>3</a:t>
                      </a:r>
                    </a:p>
                  </a:txBody>
                  <a:tcPr>
                    <a:solidFill>
                      <a:srgbClr val="143D2F"/>
                    </a:solidFill>
                  </a:tcPr>
                </a:tc>
                <a:tc>
                  <a:txBody>
                    <a:bodyPr lIns="54864" rIns="54864" tIns="18288" bIns="18288" wrap="square" anchor="ctr"/>
                    <a:lstStyle/>
                    <a:p>
                      <a:pPr algn="l"/>
                      <a:r>
                        <a:rPr sz="950" b="1">
                          <a:solidFill>
                            <a:srgbClr val="FFFFFF"/>
                          </a:solidFill>
                          <a:latin typeface="Calibri"/>
                        </a:rPr>
                        <a:t>4</a:t>
                      </a:r>
                    </a:p>
                  </a:txBody>
                  <a:tcPr>
                    <a:solidFill>
                      <a:srgbClr val="143D2F"/>
                    </a:solidFill>
                  </a:tcPr>
                </a:tc>
                <a:tc>
                  <a:txBody>
                    <a:bodyPr lIns="54864" rIns="54864" tIns="18288" bIns="18288" wrap="square" anchor="ctr"/>
                    <a:lstStyle/>
                    <a:p>
                      <a:pPr algn="l"/>
                      <a:r>
                        <a:rPr sz="950" b="1">
                          <a:solidFill>
                            <a:srgbClr val="FFFFFF"/>
                          </a:solidFill>
                          <a:latin typeface="Calibri"/>
                        </a:rPr>
                        <a:t>5  ← lowest</a:t>
                      </a:r>
                    </a:p>
                  </a:txBody>
                  <a:tcPr>
                    <a:solidFill>
                      <a:srgbClr val="143D2F"/>
                    </a:solidFill>
                  </a:tcPr>
                </a:tc>
                <a:tc>
                  <a:txBody>
                    <a:bodyPr lIns="54864" rIns="54864" tIns="18288" bIns="18288" wrap="square" anchor="ctr"/>
                    <a:lstStyle/>
                    <a:p>
                      <a:pPr algn="l"/>
                      <a:r>
                        <a:rPr sz="950" b="1">
                          <a:solidFill>
                            <a:srgbClr val="FFFFFF"/>
                          </a:solidFill>
                          <a:latin typeface="Calibri"/>
                        </a:rPr>
                        <a:t>6</a:t>
                      </a:r>
                    </a:p>
                  </a:txBody>
                  <a:tcPr>
                    <a:solidFill>
                      <a:srgbClr val="143D2F"/>
                    </a:solidFill>
                  </a:tcPr>
                </a:tc>
                <a:tc>
                  <a:txBody>
                    <a:bodyPr lIns="54864" rIns="54864" tIns="18288" bIns="18288" wrap="square" anchor="ctr"/>
                    <a:lstStyle/>
                    <a:p>
                      <a:pPr algn="l"/>
                      <a:r>
                        <a:rPr sz="950" b="1">
                          <a:solidFill>
                            <a:srgbClr val="FFFFFF"/>
                          </a:solidFill>
                          <a:latin typeface="Calibri"/>
                        </a:rPr>
                        <a:t>8</a:t>
                      </a:r>
                    </a:p>
                  </a:txBody>
                  <a:tcPr>
                    <a:solidFill>
                      <a:srgbClr val="143D2F"/>
                    </a:solidFill>
                  </a:tcPr>
                </a:tc>
                <a:tc>
                  <a:txBody>
                    <a:bodyPr lIns="54864" rIns="54864" tIns="18288" bIns="18288" wrap="square" anchor="ctr"/>
                    <a:lstStyle/>
                    <a:p>
                      <a:pPr algn="l"/>
                      <a:r>
                        <a:rPr sz="950" b="1">
                          <a:solidFill>
                            <a:srgbClr val="FFFFFF"/>
                          </a:solidFill>
                          <a:latin typeface="Calibri"/>
                        </a:rPr>
                        <a:t>what it tells you</a:t>
                      </a:r>
                    </a:p>
                  </a:txBody>
                  <a:tcPr>
                    <a:solidFill>
                      <a:srgbClr val="143D2F"/>
                    </a:solidFill>
                  </a:tcPr>
                </a:tc>
              </a:tr>
              <a:tr h="246888">
                <a:tc>
                  <a:txBody>
                    <a:bodyPr lIns="54864" rIns="54864" tIns="18288" bIns="18288" wrap="square" anchor="ctr"/>
                    <a:lstStyle/>
                    <a:p>
                      <a:pPr algn="l"/>
                      <a:r>
                        <a:rPr sz="950" b="0">
                          <a:solidFill>
                            <a:srgbClr val="000000"/>
                          </a:solidFill>
                          <a:latin typeface="Calibri"/>
                        </a:rPr>
                        <a:t>Energy lost per cycle</a:t>
                      </a:r>
                    </a:p>
                  </a:txBody>
                  <a:tcPr/>
                </a:tc>
                <a:tc>
                  <a:txBody>
                    <a:bodyPr lIns="54864" rIns="54864" tIns="18288" bIns="18288" wrap="square" anchor="ctr"/>
                    <a:lstStyle/>
                    <a:p>
                      <a:pPr algn="l"/>
                      <a:r>
                        <a:rPr sz="950" b="0">
                          <a:solidFill>
                            <a:srgbClr val="000000"/>
                          </a:solidFill>
                          <a:latin typeface="Calibri"/>
                        </a:rPr>
                        <a:t>10.8 %</a:t>
                      </a:r>
                    </a:p>
                  </a:txBody>
                  <a:tcPr/>
                </a:tc>
                <a:tc>
                  <a:txBody>
                    <a:bodyPr lIns="54864" rIns="54864" tIns="18288" bIns="18288" wrap="square" anchor="ctr"/>
                    <a:lstStyle/>
                    <a:p>
                      <a:pPr algn="l"/>
                      <a:r>
                        <a:rPr sz="950" b="0">
                          <a:solidFill>
                            <a:srgbClr val="000000"/>
                          </a:solidFill>
                          <a:latin typeface="Calibri"/>
                        </a:rPr>
                        <a:t>11.4 %</a:t>
                      </a:r>
                    </a:p>
                  </a:txBody>
                  <a:tcPr/>
                </a:tc>
                <a:tc>
                  <a:txBody>
                    <a:bodyPr lIns="54864" rIns="54864" tIns="18288" bIns="18288" wrap="square" anchor="ctr"/>
                    <a:lstStyle/>
                    <a:p>
                      <a:pPr algn="l"/>
                      <a:r>
                        <a:rPr sz="950" b="1">
                          <a:solidFill>
                            <a:srgbClr val="000000"/>
                          </a:solidFill>
                          <a:latin typeface="Calibri"/>
                        </a:rPr>
                        <a:t>9.6 %</a:t>
                      </a:r>
                    </a:p>
                  </a:txBody>
                  <a:tcPr>
                    <a:solidFill>
                      <a:srgbClr val="C8E6C9"/>
                    </a:solidFill>
                  </a:tcPr>
                </a:tc>
                <a:tc>
                  <a:txBody>
                    <a:bodyPr lIns="54864" rIns="54864" tIns="18288" bIns="18288" wrap="square" anchor="ctr"/>
                    <a:lstStyle/>
                    <a:p>
                      <a:pPr algn="l"/>
                      <a:r>
                        <a:rPr sz="950" b="0">
                          <a:solidFill>
                            <a:srgbClr val="000000"/>
                          </a:solidFill>
                          <a:latin typeface="Calibri"/>
                        </a:rPr>
                        <a:t>15.2 %</a:t>
                      </a:r>
                    </a:p>
                  </a:txBody>
                  <a:tcPr/>
                </a:tc>
                <a:tc>
                  <a:txBody>
                    <a:bodyPr lIns="54864" rIns="54864" tIns="18288" bIns="18288" wrap="square" anchor="ctr"/>
                    <a:lstStyle/>
                    <a:p>
                      <a:pPr algn="l"/>
                      <a:r>
                        <a:rPr sz="950" b="0">
                          <a:solidFill>
                            <a:srgbClr val="000000"/>
                          </a:solidFill>
                          <a:latin typeface="Calibri"/>
                        </a:rPr>
                        <a:t>29.6 %</a:t>
                      </a:r>
                    </a:p>
                  </a:txBody>
                  <a:tcPr/>
                </a:tc>
                <a:tc>
                  <a:txBody>
                    <a:bodyPr lIns="54864" rIns="54864" tIns="18288" bIns="18288" wrap="square" anchor="ctr"/>
                    <a:lstStyle/>
                    <a:p>
                      <a:pPr algn="l"/>
                      <a:r>
                        <a:rPr sz="950" b="0">
                          <a:solidFill>
                            <a:srgbClr val="000000"/>
                          </a:solidFill>
                          <a:latin typeface="Calibri"/>
                        </a:rPr>
                        <a:t>dips, then climbs</a:t>
                      </a:r>
                    </a:p>
                  </a:txBody>
                  <a:tcPr/>
                </a:tc>
              </a:tr>
              <a:tr h="246888">
                <a:tc>
                  <a:txBody>
                    <a:bodyPr lIns="54864" rIns="54864" tIns="18288" bIns="18288" wrap="square" anchor="ctr"/>
                    <a:lstStyle/>
                    <a:p>
                      <a:pPr algn="l"/>
                      <a:r>
                        <a:rPr sz="950" b="0">
                          <a:solidFill>
                            <a:srgbClr val="000000"/>
                          </a:solidFill>
                          <a:latin typeface="Calibri"/>
                        </a:rPr>
                        <a:t>Permanent stretch added</a:t>
                      </a:r>
                    </a:p>
                  </a:txBody>
                  <a:tcPr/>
                </a:tc>
                <a:tc>
                  <a:txBody>
                    <a:bodyPr lIns="54864" rIns="54864" tIns="18288" bIns="18288" wrap="square" anchor="ctr"/>
                    <a:lstStyle/>
                    <a:p>
                      <a:pPr algn="l"/>
                      <a:r>
                        <a:rPr sz="950" b="0">
                          <a:solidFill>
                            <a:srgbClr val="000000"/>
                          </a:solidFill>
                          <a:latin typeface="Calibri"/>
                        </a:rPr>
                        <a:t>+106 µm</a:t>
                      </a:r>
                    </a:p>
                  </a:txBody>
                  <a:tcPr/>
                </a:tc>
                <a:tc>
                  <a:txBody>
                    <a:bodyPr lIns="54864" rIns="54864" tIns="18288" bIns="18288" wrap="square" anchor="ctr"/>
                    <a:lstStyle/>
                    <a:p>
                      <a:pPr algn="l"/>
                      <a:r>
                        <a:rPr sz="950" b="0">
                          <a:solidFill>
                            <a:srgbClr val="000000"/>
                          </a:solidFill>
                          <a:latin typeface="Calibri"/>
                        </a:rPr>
                        <a:t>+102 µm</a:t>
                      </a:r>
                    </a:p>
                  </a:txBody>
                  <a:tcPr/>
                </a:tc>
                <a:tc>
                  <a:txBody>
                    <a:bodyPr lIns="54864" rIns="54864" tIns="18288" bIns="18288" wrap="square" anchor="ctr"/>
                    <a:lstStyle/>
                    <a:p>
                      <a:pPr algn="l"/>
                      <a:r>
                        <a:rPr sz="950" b="1">
                          <a:solidFill>
                            <a:srgbClr val="000000"/>
                          </a:solidFill>
                          <a:latin typeface="Calibri"/>
                        </a:rPr>
                        <a:t>+22 µm</a:t>
                      </a:r>
                    </a:p>
                  </a:txBody>
                  <a:tcPr>
                    <a:solidFill>
                      <a:srgbClr val="C8E6C9"/>
                    </a:solidFill>
                  </a:tcPr>
                </a:tc>
                <a:tc>
                  <a:txBody>
                    <a:bodyPr lIns="54864" rIns="54864" tIns="18288" bIns="18288" wrap="square" anchor="ctr"/>
                    <a:lstStyle/>
                    <a:p>
                      <a:pPr algn="l"/>
                      <a:r>
                        <a:rPr sz="950" b="0">
                          <a:solidFill>
                            <a:srgbClr val="000000"/>
                          </a:solidFill>
                          <a:latin typeface="Calibri"/>
                        </a:rPr>
                        <a:t>+65 µm</a:t>
                      </a:r>
                    </a:p>
                  </a:txBody>
                  <a:tcPr/>
                </a:tc>
                <a:tc>
                  <a:txBody>
                    <a:bodyPr lIns="54864" rIns="54864" tIns="18288" bIns="18288" wrap="square" anchor="ctr"/>
                    <a:lstStyle/>
                    <a:p>
                      <a:pPr algn="l"/>
                      <a:r>
                        <a:rPr sz="950" b="0">
                          <a:solidFill>
                            <a:srgbClr val="000000"/>
                          </a:solidFill>
                          <a:latin typeface="Calibri"/>
                        </a:rPr>
                        <a:t>+271 µm</a:t>
                      </a:r>
                    </a:p>
                  </a:txBody>
                  <a:tcPr/>
                </a:tc>
                <a:tc>
                  <a:txBody>
                    <a:bodyPr lIns="54864" rIns="54864" tIns="18288" bIns="18288" wrap="square" anchor="ctr"/>
                    <a:lstStyle/>
                    <a:p>
                      <a:pPr algn="l"/>
                      <a:r>
                        <a:rPr sz="950" b="0">
                          <a:solidFill>
                            <a:srgbClr val="000000"/>
                          </a:solidFill>
                          <a:latin typeface="Calibri"/>
                        </a:rPr>
                        <a:t>dips, then climbs</a:t>
                      </a:r>
                    </a:p>
                  </a:txBody>
                  <a:tcPr/>
                </a:tc>
              </a:tr>
              <a:tr h="246888">
                <a:tc>
                  <a:txBody>
                    <a:bodyPr lIns="54864" rIns="54864" tIns="18288" bIns="18288" wrap="square" anchor="ctr"/>
                    <a:lstStyle/>
                    <a:p>
                      <a:pPr algn="l"/>
                      <a:r>
                        <a:rPr sz="950" b="0">
                          <a:solidFill>
                            <a:srgbClr val="000000"/>
                          </a:solidFill>
                          <a:latin typeface="Calibri"/>
                        </a:rPr>
                        <a:t>Left-over strain added (DIC)</a:t>
                      </a:r>
                    </a:p>
                  </a:txBody>
                  <a:tcPr/>
                </a:tc>
                <a:tc>
                  <a:txBody>
                    <a:bodyPr lIns="54864" rIns="54864" tIns="18288" bIns="18288" wrap="square" anchor="ctr"/>
                    <a:lstStyle/>
                    <a:p>
                      <a:pPr algn="l"/>
                      <a:r>
                        <a:rPr sz="950" b="0">
                          <a:solidFill>
                            <a:srgbClr val="000000"/>
                          </a:solidFill>
                          <a:latin typeface="Calibri"/>
                        </a:rPr>
                        <a:t>+385 µε</a:t>
                      </a:r>
                    </a:p>
                  </a:txBody>
                  <a:tcPr/>
                </a:tc>
                <a:tc>
                  <a:txBody>
                    <a:bodyPr lIns="54864" rIns="54864" tIns="18288" bIns="18288" wrap="square" anchor="ctr"/>
                    <a:lstStyle/>
                    <a:p>
                      <a:pPr algn="l"/>
                      <a:r>
                        <a:rPr sz="950" b="0">
                          <a:solidFill>
                            <a:srgbClr val="000000"/>
                          </a:solidFill>
                          <a:latin typeface="Calibri"/>
                        </a:rPr>
                        <a:t>+254 µε</a:t>
                      </a:r>
                    </a:p>
                  </a:txBody>
                  <a:tcPr/>
                </a:tc>
                <a:tc>
                  <a:txBody>
                    <a:bodyPr lIns="54864" rIns="54864" tIns="18288" bIns="18288" wrap="square" anchor="ctr"/>
                    <a:lstStyle/>
                    <a:p>
                      <a:pPr algn="l"/>
                      <a:r>
                        <a:rPr sz="950" b="1">
                          <a:solidFill>
                            <a:srgbClr val="000000"/>
                          </a:solidFill>
                          <a:latin typeface="Calibri"/>
                        </a:rPr>
                        <a:t>+212 µε</a:t>
                      </a:r>
                    </a:p>
                  </a:txBody>
                  <a:tcPr>
                    <a:solidFill>
                      <a:srgbClr val="C8E6C9"/>
                    </a:solidFill>
                  </a:tcPr>
                </a:tc>
                <a:tc>
                  <a:txBody>
                    <a:bodyPr lIns="54864" rIns="54864" tIns="18288" bIns="18288" wrap="square" anchor="ctr"/>
                    <a:lstStyle/>
                    <a:p>
                      <a:pPr algn="l"/>
                      <a:r>
                        <a:rPr sz="950" b="0">
                          <a:solidFill>
                            <a:srgbClr val="000000"/>
                          </a:solidFill>
                          <a:latin typeface="Calibri"/>
                        </a:rPr>
                        <a:t>+264 µε</a:t>
                      </a:r>
                    </a:p>
                  </a:txBody>
                  <a:tcPr/>
                </a:tc>
                <a:tc>
                  <a:txBody>
                    <a:bodyPr lIns="54864" rIns="54864" tIns="18288" bIns="18288" wrap="square" anchor="ctr"/>
                    <a:lstStyle/>
                    <a:p>
                      <a:pPr algn="l"/>
                      <a:r>
                        <a:rPr sz="950" b="0">
                          <a:solidFill>
                            <a:srgbClr val="000000"/>
                          </a:solidFill>
                          <a:latin typeface="Calibri"/>
                        </a:rPr>
                        <a:t>+1669 µε</a:t>
                      </a:r>
                    </a:p>
                  </a:txBody>
                  <a:tcPr/>
                </a:tc>
                <a:tc>
                  <a:txBody>
                    <a:bodyPr lIns="54864" rIns="54864" tIns="18288" bIns="18288" wrap="square" anchor="ctr"/>
                    <a:lstStyle/>
                    <a:p>
                      <a:pPr algn="l"/>
                      <a:r>
                        <a:rPr sz="950" b="0">
                          <a:solidFill>
                            <a:srgbClr val="000000"/>
                          </a:solidFill>
                          <a:latin typeface="Calibri"/>
                        </a:rPr>
                        <a:t>dips, then climbs</a:t>
                      </a:r>
                    </a:p>
                  </a:txBody>
                  <a:tcPr/>
                </a:tc>
              </a:tr>
            </a:tbl>
          </a:graphicData>
        </a:graphic>
      </p:graphicFrame>
      <p:sp>
        <p:nvSpPr>
          <p:cNvPr id="8" name="Rectangle 7"/>
          <p:cNvSpPr/>
          <p:nvPr/>
        </p:nvSpPr>
        <p:spPr>
          <a:xfrm>
            <a:off x="411480" y="5833872"/>
            <a:ext cx="1138428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Three completely separate measurements all bottom out at CYCLE 5. That is why it is believed — one dipping curve could be noise; three agreeing is a real change of regime.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Careful: cycle 5 is where MATERIAL damage overtakes the still-fading MACHINE settling — it is not a pure yield point. T7.2's relaxation knee says 694 N, this says 893 N, so the deck quotes yield onset as a BRACKET of 700–900 N rather than one number.</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SF3 · SETTINGS (RECIPES) — WHAT ONE CLICK RESTORES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A recipe is the WHOLE test setup, not just a couple of boxes. Pick a profile, press Load, and every field below is restored — including the advanced test mode and its parameters.</a:t>
            </a:r>
          </a:p>
        </p:txBody>
      </p:sp>
      <p:sp>
        <p:nvSpPr>
          <p:cNvPr id="6" name="TextBox 5"/>
          <p:cNvSpPr txBox="1"/>
          <p:nvPr/>
        </p:nvSpPr>
        <p:spPr>
          <a:xfrm>
            <a:off x="457200" y="146304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Specimen &amp; rig</a:t>
            </a:r>
          </a:p>
        </p:txBody>
      </p:sp>
      <p:graphicFrame>
        <p:nvGraphicFramePr>
          <p:cNvPr id="7" name="Table 6"/>
          <p:cNvGraphicFramePr>
            <a:graphicFrameLocks noGrp="1"/>
          </p:cNvGraphicFramePr>
          <p:nvPr/>
        </p:nvGraphicFramePr>
        <p:xfrm>
          <a:off x="457200" y="1792224"/>
          <a:ext cx="5532118" cy="1975104"/>
        </p:xfrm>
        <a:graphic>
          <a:graphicData uri="http://schemas.openxmlformats.org/drawingml/2006/table">
            <a:tbl>
              <a:tblPr firstRow="1" bandRow="1">
                <a:tableStyleId>{5C22544A-7EE6-4342-B048-85BDC9FD1C3A}</a:tableStyleId>
              </a:tblPr>
              <a:tblGrid>
                <a:gridCol w="2234125"/>
                <a:gridCol w="1702190"/>
                <a:gridCol w="1595803"/>
              </a:tblGrid>
              <a:tr h="246888">
                <a:tc>
                  <a:txBody>
                    <a:bodyPr lIns="54864" rIns="54864" tIns="18288" bIns="18288" wrap="square" anchor="ctr"/>
                    <a:lstStyle/>
                    <a:p>
                      <a:pPr algn="l"/>
                      <a:r>
                        <a:rPr sz="950" b="1">
                          <a:solidFill>
                            <a:srgbClr val="FFFFFF"/>
                          </a:solidFill>
                          <a:latin typeface="Calibri"/>
                        </a:rPr>
                        <a:t>Field</a:t>
                      </a:r>
                    </a:p>
                  </a:txBody>
                  <a:tcPr>
                    <a:solidFill>
                      <a:srgbClr val="143D2F"/>
                    </a:solidFill>
                  </a:tcPr>
                </a:tc>
                <a:tc>
                  <a:txBody>
                    <a:bodyPr lIns="54864" rIns="54864" tIns="18288" bIns="18288" wrap="square" anchor="ctr"/>
                    <a:lstStyle/>
                    <a:p>
                      <a:pPr algn="l"/>
                      <a:r>
                        <a:rPr sz="950" b="1">
                          <a:solidFill>
                            <a:srgbClr val="FFFFFF"/>
                          </a:solidFill>
                          <a:latin typeface="Calibri"/>
                        </a:rPr>
                        <a:t>Stored as</a:t>
                      </a:r>
                    </a:p>
                  </a:txBody>
                  <a:tcPr>
                    <a:solidFill>
                      <a:srgbClr val="143D2F"/>
                    </a:solidFill>
                  </a:tcPr>
                </a:tc>
                <a:tc>
                  <a:txBody>
                    <a:bodyPr lIns="54864" rIns="54864" tIns="18288" bIns="18288" wrap="square" anchor="ctr"/>
                    <a:lstStyle/>
                    <a:p>
                      <a:pPr algn="l"/>
                      <a:r>
                        <a:rPr sz="950" b="1">
                          <a:solidFill>
                            <a:srgbClr val="FFFFFF"/>
                          </a:solidFill>
                          <a:latin typeface="Calibri"/>
                        </a:rPr>
                        <a:t>Example</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Material</a:t>
                      </a:r>
                    </a:p>
                  </a:txBody>
                  <a:tcPr/>
                </a:tc>
                <a:tc>
                  <a:txBody>
                    <a:bodyPr lIns="54864" rIns="54864" tIns="18288" bIns="18288" wrap="square" anchor="ctr"/>
                    <a:lstStyle/>
                    <a:p>
                      <a:pPr algn="l"/>
                      <a:r>
                        <a:rPr sz="900" b="0">
                          <a:solidFill>
                            <a:srgbClr val="000000"/>
                          </a:solidFill>
                          <a:latin typeface="Calibri"/>
                        </a:rPr>
                        <a:t>material</a:t>
                      </a:r>
                    </a:p>
                  </a:txBody>
                  <a:tcPr/>
                </a:tc>
                <a:tc>
                  <a:txBody>
                    <a:bodyPr lIns="54864" rIns="54864" tIns="18288" bIns="18288" wrap="square" anchor="ctr"/>
                    <a:lstStyle/>
                    <a:p>
                      <a:pPr algn="l"/>
                      <a:r>
                        <a:rPr sz="900" b="0">
                          <a:solidFill>
                            <a:srgbClr val="000000"/>
                          </a:solidFill>
                          <a:latin typeface="Calibri"/>
                        </a:rPr>
                        <a:t>PLA</a:t>
                      </a:r>
                    </a:p>
                  </a:txBody>
                  <a:tcPr/>
                </a:tc>
              </a:tr>
              <a:tr h="246888">
                <a:tc>
                  <a:txBody>
                    <a:bodyPr lIns="54864" rIns="54864" tIns="18288" bIns="18288" wrap="square" anchor="ctr"/>
                    <a:lstStyle/>
                    <a:p>
                      <a:pPr algn="l"/>
                      <a:r>
                        <a:rPr sz="900" b="0">
                          <a:solidFill>
                            <a:srgbClr val="000000"/>
                          </a:solidFill>
                          <a:latin typeface="Calibri"/>
                        </a:rPr>
                        <a:t>Infill %</a:t>
                      </a:r>
                    </a:p>
                  </a:txBody>
                  <a:tcPr/>
                </a:tc>
                <a:tc>
                  <a:txBody>
                    <a:bodyPr lIns="54864" rIns="54864" tIns="18288" bIns="18288" wrap="square" anchor="ctr"/>
                    <a:lstStyle/>
                    <a:p>
                      <a:pPr algn="l"/>
                      <a:r>
                        <a:rPr sz="900" b="0">
                          <a:solidFill>
                            <a:srgbClr val="000000"/>
                          </a:solidFill>
                          <a:latin typeface="Calibri"/>
                        </a:rPr>
                        <a:t>infill_pct</a:t>
                      </a:r>
                    </a:p>
                  </a:txBody>
                  <a:tcPr/>
                </a:tc>
                <a:tc>
                  <a:txBody>
                    <a:bodyPr lIns="54864" rIns="54864" tIns="18288" bIns="18288" wrap="square" anchor="ctr"/>
                    <a:lstStyle/>
                    <a:p>
                      <a:pPr algn="l"/>
                      <a:r>
                        <a:rPr sz="900" b="0">
                          <a:solidFill>
                            <a:srgbClr val="000000"/>
                          </a:solidFill>
                          <a:latin typeface="Calibri"/>
                        </a:rPr>
                        <a:t>50</a:t>
                      </a:r>
                    </a:p>
                  </a:txBody>
                  <a:tcPr/>
                </a:tc>
              </a:tr>
              <a:tr h="246888">
                <a:tc>
                  <a:txBody>
                    <a:bodyPr lIns="54864" rIns="54864" tIns="18288" bIns="18288" wrap="square" anchor="ctr"/>
                    <a:lstStyle/>
                    <a:p>
                      <a:pPr algn="l"/>
                      <a:r>
                        <a:rPr sz="900" b="0">
                          <a:solidFill>
                            <a:srgbClr val="000000"/>
                          </a:solidFill>
                          <a:latin typeface="Calibri"/>
                        </a:rPr>
                        <a:t>DIC specimen preset</a:t>
                      </a:r>
                    </a:p>
                  </a:txBody>
                  <a:tcPr/>
                </a:tc>
                <a:tc>
                  <a:txBody>
                    <a:bodyPr lIns="54864" rIns="54864" tIns="18288" bIns="18288" wrap="square" anchor="ctr"/>
                    <a:lstStyle/>
                    <a:p>
                      <a:pPr algn="l"/>
                      <a:r>
                        <a:rPr sz="900" b="0">
                          <a:solidFill>
                            <a:srgbClr val="000000"/>
                          </a:solidFill>
                          <a:latin typeface="Calibri"/>
                        </a:rPr>
                        <a:t>specimen_mode</a:t>
                      </a:r>
                    </a:p>
                  </a:txBody>
                  <a:tcPr/>
                </a:tc>
                <a:tc>
                  <a:txBody>
                    <a:bodyPr lIns="54864" rIns="54864" tIns="18288" bIns="18288" wrap="square" anchor="ctr"/>
                    <a:lstStyle/>
                    <a:p>
                      <a:pPr algn="l"/>
                      <a:r>
                        <a:rPr sz="900" b="0">
                          <a:solidFill>
                            <a:srgbClr val="000000"/>
                          </a:solidFill>
                          <a:latin typeface="Calibri"/>
                        </a:rPr>
                        <a:t>White / Black</a:t>
                      </a:r>
                    </a:p>
                  </a:txBody>
                  <a:tcPr/>
                </a:tc>
              </a:tr>
              <a:tr h="246888">
                <a:tc>
                  <a:txBody>
                    <a:bodyPr lIns="54864" rIns="54864" tIns="18288" bIns="18288" wrap="square" anchor="ctr"/>
                    <a:lstStyle/>
                    <a:p>
                      <a:pPr algn="l"/>
                      <a:r>
                        <a:rPr sz="900" b="0">
                          <a:solidFill>
                            <a:srgbClr val="000000"/>
                          </a:solidFill>
                          <a:latin typeface="Calibri"/>
                        </a:rPr>
                        <a:t>Cross-section area</a:t>
                      </a:r>
                    </a:p>
                  </a:txBody>
                  <a:tcPr/>
                </a:tc>
                <a:tc>
                  <a:txBody>
                    <a:bodyPr lIns="54864" rIns="54864" tIns="18288" bIns="18288" wrap="square" anchor="ctr"/>
                    <a:lstStyle/>
                    <a:p>
                      <a:pPr algn="l"/>
                      <a:r>
                        <a:rPr sz="900" b="0">
                          <a:solidFill>
                            <a:srgbClr val="000000"/>
                          </a:solidFill>
                          <a:latin typeface="Calibri"/>
                        </a:rPr>
                        <a:t>area_mm2</a:t>
                      </a:r>
                    </a:p>
                  </a:txBody>
                  <a:tcPr/>
                </a:tc>
                <a:tc>
                  <a:txBody>
                    <a:bodyPr lIns="54864" rIns="54864" tIns="18288" bIns="18288" wrap="square" anchor="ctr"/>
                    <a:lstStyle/>
                    <a:p>
                      <a:pPr algn="l"/>
                      <a:r>
                        <a:rPr sz="900" b="0">
                          <a:solidFill>
                            <a:srgbClr val="000000"/>
                          </a:solidFill>
                          <a:latin typeface="Calibri"/>
                        </a:rPr>
                        <a:t>80.0 mm²</a:t>
                      </a:r>
                    </a:p>
                  </a:txBody>
                  <a:tcPr/>
                </a:tc>
              </a:tr>
              <a:tr h="246888">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gauge_mm</a:t>
                      </a:r>
                    </a:p>
                  </a:txBody>
                  <a:tcPr/>
                </a:tc>
                <a:tc>
                  <a:txBody>
                    <a:bodyPr lIns="54864" rIns="54864" tIns="18288" bIns="18288" wrap="square" anchor="ctr"/>
                    <a:lstStyle/>
                    <a:p>
                      <a:pPr algn="l"/>
                      <a:r>
                        <a:rPr sz="900" b="0">
                          <a:solidFill>
                            <a:srgbClr val="000000"/>
                          </a:solidFill>
                          <a:latin typeface="Calibri"/>
                        </a:rPr>
                        <a:t>80.0 mm</a:t>
                      </a:r>
                    </a:p>
                  </a:txBody>
                  <a:tcPr/>
                </a:tc>
              </a:tr>
              <a:tr h="246888">
                <a:tc>
                  <a:txBody>
                    <a:bodyPr lIns="54864" rIns="54864" tIns="18288" bIns="18288" wrap="square" anchor="ctr"/>
                    <a:lstStyle/>
                    <a:p>
                      <a:pPr algn="l"/>
                      <a:r>
                        <a:rPr sz="900" b="0">
                          <a:solidFill>
                            <a:srgbClr val="000000"/>
                          </a:solidFill>
                          <a:latin typeface="Calibri"/>
                        </a:rPr>
                        <a:t>Preload target</a:t>
                      </a:r>
                    </a:p>
                  </a:txBody>
                  <a:tcPr/>
                </a:tc>
                <a:tc>
                  <a:txBody>
                    <a:bodyPr lIns="54864" rIns="54864" tIns="18288" bIns="18288" wrap="square" anchor="ctr"/>
                    <a:lstStyle/>
                    <a:p>
                      <a:pPr algn="l"/>
                      <a:r>
                        <a:rPr sz="900" b="0">
                          <a:solidFill>
                            <a:srgbClr val="000000"/>
                          </a:solidFill>
                          <a:latin typeface="Calibri"/>
                        </a:rPr>
                        <a:t>preload_N</a:t>
                      </a:r>
                    </a:p>
                  </a:txBody>
                  <a:tcPr/>
                </a:tc>
                <a:tc>
                  <a:txBody>
                    <a:bodyPr lIns="54864" rIns="54864" tIns="18288" bIns="18288" wrap="square" anchor="ctr"/>
                    <a:lstStyle/>
                    <a:p>
                      <a:pPr algn="l"/>
                      <a:r>
                        <a:rPr sz="900" b="0">
                          <a:solidFill>
                            <a:srgbClr val="000000"/>
                          </a:solidFill>
                          <a:latin typeface="Calibri"/>
                        </a:rPr>
                        <a:t>300 N</a:t>
                      </a:r>
                    </a:p>
                  </a:txBody>
                  <a:tcPr/>
                </a:tc>
              </a:tr>
              <a:tr h="246888">
                <a:tc>
                  <a:txBody>
                    <a:bodyPr lIns="54864" rIns="54864" tIns="18288" bIns="18288" wrap="square" anchor="ctr"/>
                    <a:lstStyle/>
                    <a:p>
                      <a:pPr algn="l"/>
                      <a:r>
                        <a:rPr sz="900" b="0">
                          <a:solidFill>
                            <a:srgbClr val="000000"/>
                          </a:solidFill>
                          <a:latin typeface="Calibri"/>
                        </a:rPr>
                        <a:t>Test speed</a:t>
                      </a:r>
                    </a:p>
                  </a:txBody>
                  <a:tcPr/>
                </a:tc>
                <a:tc>
                  <a:txBody>
                    <a:bodyPr lIns="54864" rIns="54864" tIns="18288" bIns="18288" wrap="square" anchor="ctr"/>
                    <a:lstStyle/>
                    <a:p>
                      <a:pPr algn="l"/>
                      <a:r>
                        <a:rPr sz="900" b="0">
                          <a:solidFill>
                            <a:srgbClr val="000000"/>
                          </a:solidFill>
                          <a:latin typeface="Calibri"/>
                        </a:rPr>
                        <a:t>test_speed_mm_s</a:t>
                      </a:r>
                    </a:p>
                  </a:txBody>
                  <a:tcPr/>
                </a:tc>
                <a:tc>
                  <a:txBody>
                    <a:bodyPr lIns="54864" rIns="54864" tIns="18288" bIns="18288" wrap="square" anchor="ctr"/>
                    <a:lstStyle/>
                    <a:p>
                      <a:pPr algn="l"/>
                      <a:r>
                        <a:rPr sz="900" b="0">
                          <a:solidFill>
                            <a:srgbClr val="000000"/>
                          </a:solidFill>
                          <a:latin typeface="Calibri"/>
                        </a:rPr>
                        <a:t>0.100 mm/s</a:t>
                      </a:r>
                    </a:p>
                  </a:txBody>
                  <a:tcPr/>
                </a:tc>
              </a:tr>
            </a:tbl>
          </a:graphicData>
        </a:graphic>
      </p:graphicFrame>
      <p:sp>
        <p:nvSpPr>
          <p:cNvPr id="8" name="TextBox 7"/>
          <p:cNvSpPr txBox="1"/>
          <p:nvPr/>
        </p:nvSpPr>
        <p:spPr>
          <a:xfrm>
            <a:off x="6263640" y="146304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programme  ← the part people miss</a:t>
            </a:r>
          </a:p>
        </p:txBody>
      </p:sp>
      <p:graphicFrame>
        <p:nvGraphicFramePr>
          <p:cNvPr id="9" name="Table 8"/>
          <p:cNvGraphicFramePr>
            <a:graphicFrameLocks noGrp="1"/>
          </p:cNvGraphicFramePr>
          <p:nvPr/>
        </p:nvGraphicFramePr>
        <p:xfrm>
          <a:off x="6263640" y="1792224"/>
          <a:ext cx="5532119" cy="1975104"/>
        </p:xfrm>
        <a:graphic>
          <a:graphicData uri="http://schemas.openxmlformats.org/drawingml/2006/table">
            <a:tbl>
              <a:tblPr firstRow="1" bandRow="1">
                <a:tableStyleId>{5C22544A-7EE6-4342-B048-85BDC9FD1C3A}</a:tableStyleId>
              </a:tblPr>
              <a:tblGrid>
                <a:gridCol w="1844040"/>
                <a:gridCol w="2019662"/>
                <a:gridCol w="1668417"/>
              </a:tblGrid>
              <a:tr h="246888">
                <a:tc>
                  <a:txBody>
                    <a:bodyPr lIns="54864" rIns="54864" tIns="18288" bIns="18288" wrap="square" anchor="ctr"/>
                    <a:lstStyle/>
                    <a:p>
                      <a:pPr algn="l"/>
                      <a:r>
                        <a:rPr sz="950" b="1">
                          <a:solidFill>
                            <a:srgbClr val="FFFFFF"/>
                          </a:solidFill>
                          <a:latin typeface="Calibri"/>
                        </a:rPr>
                        <a:t>Field</a:t>
                      </a:r>
                    </a:p>
                  </a:txBody>
                  <a:tcPr>
                    <a:solidFill>
                      <a:srgbClr val="143D2F"/>
                    </a:solidFill>
                  </a:tcPr>
                </a:tc>
                <a:tc>
                  <a:txBody>
                    <a:bodyPr lIns="54864" rIns="54864" tIns="18288" bIns="18288" wrap="square" anchor="ctr"/>
                    <a:lstStyle/>
                    <a:p>
                      <a:pPr algn="l"/>
                      <a:r>
                        <a:rPr sz="950" b="1">
                          <a:solidFill>
                            <a:srgbClr val="FFFFFF"/>
                          </a:solidFill>
                          <a:latin typeface="Calibri"/>
                        </a:rPr>
                        <a:t>Stored as</a:t>
                      </a:r>
                    </a:p>
                  </a:txBody>
                  <a:tcPr>
                    <a:solidFill>
                      <a:srgbClr val="143D2F"/>
                    </a:solidFill>
                  </a:tcPr>
                </a:tc>
                <a:tc>
                  <a:txBody>
                    <a:bodyPr lIns="54864" rIns="54864" tIns="18288" bIns="18288" wrap="square" anchor="ctr"/>
                    <a:lstStyle/>
                    <a:p>
                      <a:pPr algn="l"/>
                      <a:r>
                        <a:rPr sz="950" b="1">
                          <a:solidFill>
                            <a:srgbClr val="FFFFFF"/>
                          </a:solidFill>
                          <a:latin typeface="Calibri"/>
                        </a:rPr>
                        <a:t>Example</a:t>
                      </a:r>
                    </a:p>
                  </a:txBody>
                  <a:tcPr>
                    <a:solidFill>
                      <a:srgbClr val="143D2F"/>
                    </a:solidFill>
                  </a:tcPr>
                </a:tc>
              </a:tr>
              <a:tr h="246888">
                <a:tc>
                  <a:txBody>
                    <a:bodyPr lIns="54864" rIns="54864" tIns="18288" bIns="18288" wrap="square" anchor="ctr"/>
                    <a:lstStyle/>
                    <a:p>
                      <a:pPr algn="l"/>
                      <a:r>
                        <a:rPr sz="900" b="1">
                          <a:solidFill>
                            <a:srgbClr val="000000"/>
                          </a:solidFill>
                          <a:latin typeface="Calibri"/>
                        </a:rPr>
                        <a:t>Which advanced mode</a:t>
                      </a:r>
                    </a:p>
                  </a:txBody>
                  <a:tcPr>
                    <a:solidFill>
                      <a:srgbClr val="C8E6C9"/>
                    </a:solidFill>
                  </a:tcPr>
                </a:tc>
                <a:tc>
                  <a:txBody>
                    <a:bodyPr lIns="54864" rIns="54864" tIns="18288" bIns="18288" wrap="square" anchor="ctr"/>
                    <a:lstStyle/>
                    <a:p>
                      <a:pPr algn="l"/>
                      <a:r>
                        <a:rPr sz="900" b="0">
                          <a:solidFill>
                            <a:srgbClr val="000000"/>
                          </a:solidFill>
                          <a:latin typeface="Calibri"/>
                        </a:rPr>
                        <a:t>mode</a:t>
                      </a:r>
                    </a:p>
                  </a:txBody>
                  <a:tcPr>
                    <a:solidFill>
                      <a:srgbClr val="C8E6C9"/>
                    </a:solidFill>
                  </a:tcPr>
                </a:tc>
                <a:tc>
                  <a:txBody>
                    <a:bodyPr lIns="54864" rIns="54864" tIns="18288" bIns="18288" wrap="square" anchor="ctr"/>
                    <a:lstStyle/>
                    <a:p>
                      <a:pPr algn="l"/>
                      <a:r>
                        <a:rPr sz="900" b="0">
                          <a:solidFill>
                            <a:srgbClr val="000000"/>
                          </a:solidFill>
                          <a:latin typeface="Calibri"/>
                        </a:rPr>
                        <a:t>Progressive cyclic → FRACTURE</a:t>
                      </a:r>
                    </a:p>
                  </a:txBody>
                  <a:tcPr>
                    <a:solidFill>
                      <a:srgbClr val="C8E6C9"/>
                    </a:solidFill>
                  </a:tcPr>
                </a:tc>
              </a:tr>
              <a:tr h="246888">
                <a:tc>
                  <a:txBody>
                    <a:bodyPr lIns="54864" rIns="54864" tIns="18288" bIns="18288" wrap="square" anchor="ctr"/>
                    <a:lstStyle/>
                    <a:p>
                      <a:pPr algn="l"/>
                      <a:r>
                        <a:rPr sz="900" b="1">
                          <a:solidFill>
                            <a:srgbClr val="000000"/>
                          </a:solidFill>
                          <a:latin typeface="Calibri"/>
                        </a:rPr>
                        <a:t>ALL SIX modes' parameters</a:t>
                      </a:r>
                    </a:p>
                  </a:txBody>
                  <a:tcPr>
                    <a:solidFill>
                      <a:srgbClr val="C8E6C9"/>
                    </a:solidFill>
                  </a:tcPr>
                </a:tc>
                <a:tc>
                  <a:txBody>
                    <a:bodyPr lIns="54864" rIns="54864" tIns="18288" bIns="18288" wrap="square" anchor="ctr"/>
                    <a:lstStyle/>
                    <a:p>
                      <a:pPr algn="l"/>
                      <a:r>
                        <a:rPr sz="900" b="0">
                          <a:solidFill>
                            <a:srgbClr val="000000"/>
                          </a:solidFill>
                          <a:latin typeface="Calibri"/>
                        </a:rPr>
                        <a:t>mode_params</a:t>
                      </a:r>
                    </a:p>
                  </a:txBody>
                  <a:tcPr>
                    <a:solidFill>
                      <a:srgbClr val="C8E6C9"/>
                    </a:solidFill>
                  </a:tcPr>
                </a:tc>
                <a:tc>
                  <a:txBody>
                    <a:bodyPr lIns="54864" rIns="54864" tIns="18288" bIns="18288" wrap="square" anchor="ctr"/>
                    <a:lstStyle/>
                    <a:p>
                      <a:pPr algn="l"/>
                      <a:r>
                        <a:rPr sz="900" b="0">
                          <a:solidFill>
                            <a:srgbClr val="000000"/>
                          </a:solidFill>
                          <a:latin typeface="Calibri"/>
                        </a:rPr>
                        <a:t>see below</a:t>
                      </a:r>
                    </a:p>
                  </a:txBody>
                  <a:tcPr>
                    <a:solidFill>
                      <a:srgbClr val="C8E6C9"/>
                    </a:solidFill>
                  </a:tcPr>
                </a:tc>
              </a:tr>
              <a:tr h="246888">
                <a:tc>
                  <a:txBody>
                    <a:bodyPr lIns="54864" rIns="54864" tIns="18288" bIns="18288" wrap="square" anchor="ctr"/>
                    <a:lstStyle/>
                    <a:p>
                      <a:pPr algn="l"/>
                      <a:r>
                        <a:rPr sz="900" b="0">
                          <a:solidFill>
                            <a:srgbClr val="000000"/>
                          </a:solidFill>
                          <a:latin typeface="Calibri"/>
                        </a:rPr>
                        <a:t>Strain-rate target</a:t>
                      </a:r>
                    </a:p>
                  </a:txBody>
                  <a:tcPr/>
                </a:tc>
                <a:tc>
                  <a:txBody>
                    <a:bodyPr lIns="54864" rIns="54864" tIns="18288" bIns="18288" wrap="square" anchor="ctr"/>
                    <a:lstStyle/>
                    <a:p>
                      <a:pPr algn="l"/>
                      <a:r>
                        <a:rPr sz="900" b="0">
                          <a:solidFill>
                            <a:srgbClr val="000000"/>
                          </a:solidFill>
                          <a:latin typeface="Calibri"/>
                        </a:rPr>
                        <a:t>strain_rate</a:t>
                      </a:r>
                    </a:p>
                  </a:txBody>
                  <a:tcPr/>
                </a:tc>
                <a:tc>
                  <a:txBody>
                    <a:bodyPr lIns="54864" rIns="54864" tIns="18288" bIns="18288" wrap="square" anchor="ctr"/>
                    <a:lstStyle/>
                    <a:p>
                      <a:pPr algn="l"/>
                      <a:r>
                        <a:rPr sz="900" b="0">
                          <a:solidFill>
                            <a:srgbClr val="000000"/>
                          </a:solidFill>
                          <a:latin typeface="Calibri"/>
                        </a:rPr>
                        <a:t>0.0005 /s</a:t>
                      </a:r>
                    </a:p>
                  </a:txBody>
                  <a:tcPr/>
                </a:tc>
              </a:tr>
              <a:tr h="246888">
                <a:tc>
                  <a:txBody>
                    <a:bodyPr lIns="54864" rIns="54864" tIns="18288" bIns="18288" wrap="square" anchor="ctr"/>
                    <a:lstStyle/>
                    <a:p>
                      <a:pPr algn="l"/>
                      <a:r>
                        <a:rPr sz="900" b="0">
                          <a:solidFill>
                            <a:srgbClr val="000000"/>
                          </a:solidFill>
                          <a:latin typeface="Calibri"/>
                        </a:rPr>
                        <a:t>Auto-stop at fracture</a:t>
                      </a:r>
                    </a:p>
                  </a:txBody>
                  <a:tcPr/>
                </a:tc>
                <a:tc>
                  <a:txBody>
                    <a:bodyPr lIns="54864" rIns="54864" tIns="18288" bIns="18288" wrap="square" anchor="ctr"/>
                    <a:lstStyle/>
                    <a:p>
                      <a:pPr algn="l"/>
                      <a:r>
                        <a:rPr sz="900" b="0">
                          <a:solidFill>
                            <a:srgbClr val="000000"/>
                          </a:solidFill>
                          <a:latin typeface="Calibri"/>
                        </a:rPr>
                        <a:t>auto_stop_fracture</a:t>
                      </a:r>
                    </a:p>
                  </a:txBody>
                  <a:tcPr/>
                </a:tc>
                <a:tc>
                  <a:txBody>
                    <a:bodyPr lIns="54864" rIns="54864" tIns="18288" bIns="18288" wrap="square" anchor="ctr"/>
                    <a:lstStyle/>
                    <a:p>
                      <a:pPr algn="l"/>
                      <a:r>
                        <a:rPr sz="900" b="0">
                          <a:solidFill>
                            <a:srgbClr val="000000"/>
                          </a:solidFill>
                          <a:latin typeface="Calibri"/>
                        </a:rPr>
                        <a:t>ON</a:t>
                      </a:r>
                    </a:p>
                  </a:txBody>
                  <a:tcPr/>
                </a:tc>
              </a:tr>
              <a:tr h="246888">
                <a:tc>
                  <a:txBody>
                    <a:bodyPr lIns="54864" rIns="54864" tIns="18288" bIns="18288" wrap="square" anchor="ctr"/>
                    <a:lstStyle/>
                    <a:p>
                      <a:pPr algn="l"/>
                      <a:r>
                        <a:rPr sz="900" b="0">
                          <a:solidFill>
                            <a:srgbClr val="000000"/>
                          </a:solidFill>
                          <a:latin typeface="Calibri"/>
                        </a:rPr>
                        <a:t>Free-text notes</a:t>
                      </a:r>
                    </a:p>
                  </a:txBody>
                  <a:tcPr/>
                </a:tc>
                <a:tc>
                  <a:txBody>
                    <a:bodyPr lIns="54864" rIns="54864" tIns="18288" bIns="18288" wrap="square" anchor="ctr"/>
                    <a:lstStyle/>
                    <a:p>
                      <a:pPr algn="l"/>
                      <a:r>
                        <a:rPr sz="900" b="0">
                          <a:solidFill>
                            <a:srgbClr val="000000"/>
                          </a:solidFill>
                          <a:latin typeface="Calibri"/>
                        </a:rPr>
                        <a:t>notes</a:t>
                      </a:r>
                    </a:p>
                  </a:txBody>
                  <a:tcPr/>
                </a:tc>
                <a:tc>
                  <a:txBody>
                    <a:bodyPr lIns="54864" rIns="54864" tIns="18288" bIns="18288" wrap="square" anchor="ctr"/>
                    <a:lstStyle/>
                    <a:p>
                      <a:pPr algn="l"/>
                      <a:r>
                        <a:rPr sz="900" b="0">
                          <a:solidFill>
                            <a:srgbClr val="000000"/>
                          </a:solidFill>
                          <a:latin typeface="Calibri"/>
                        </a:rPr>
                        <a:t>why these settings</a:t>
                      </a:r>
                    </a:p>
                  </a:txBody>
                  <a:tcPr/>
                </a:tc>
              </a:tr>
              <a:tr h="246888">
                <a:tc>
                  <a:txBody>
                    <a:bodyPr lIns="54864" rIns="54864" tIns="18288" bIns="18288" wrap="square" anchor="ctr"/>
                    <a:lstStyle/>
                    <a:p>
                      <a:pPr algn="l"/>
                      <a:r>
                        <a:rPr sz="900" b="0">
                          <a:solidFill>
                            <a:srgbClr val="000000"/>
                          </a:solidFill>
                          <a:latin typeface="Calibri"/>
                        </a:rPr>
                        <a:t>— Cyclic</a:t>
                      </a:r>
                    </a:p>
                  </a:txBody>
                  <a:tcPr/>
                </a:tc>
                <a:tc>
                  <a:txBody>
                    <a:bodyPr lIns="54864" rIns="54864" tIns="18288" bIns="18288" wrap="square" anchor="ctr"/>
                    <a:lstStyle/>
                    <a:p>
                      <a:pPr algn="l"/>
                      <a:r>
                        <a:rPr sz="900" b="0">
                          <a:solidFill>
                            <a:srgbClr val="000000"/>
                          </a:solidFill>
                          <a:latin typeface="Calibri"/>
                        </a:rPr>
                        <a:t>low/high/cycles/speed/waveform</a:t>
                      </a:r>
                    </a:p>
                  </a:txBody>
                  <a:tcPr/>
                </a:tc>
                <a:tc>
                  <a:txBody>
                    <a:bodyPr lIns="54864" rIns="54864" tIns="18288" bIns="18288" wrap="square" anchor="ctr"/>
                    <a:lstStyle/>
                    <a:p>
                      <a:pPr algn="l"/>
                      <a:r>
                        <a:rPr sz="900" b="0">
                          <a:solidFill>
                            <a:srgbClr val="000000"/>
                          </a:solidFill>
                          <a:latin typeface="Calibri"/>
                        </a:rPr>
                        <a:t>100 / 500 N · 5 · Sine</a:t>
                      </a:r>
                    </a:p>
                  </a:txBody>
                  <a:tcPr/>
                </a:tc>
              </a:tr>
              <a:tr h="246888">
                <a:tc>
                  <a:txBody>
                    <a:bodyPr lIns="54864" rIns="54864" tIns="18288" bIns="18288" wrap="square" anchor="ctr"/>
                    <a:lstStyle/>
                    <a:p>
                      <a:pPr algn="l"/>
                      <a:r>
                        <a:rPr sz="900" b="0">
                          <a:solidFill>
                            <a:srgbClr val="000000"/>
                          </a:solidFill>
                          <a:latin typeface="Calibri"/>
                        </a:rPr>
                        <a:t>— Progressive cyclic</a:t>
                      </a:r>
                    </a:p>
                  </a:txBody>
                  <a:tcPr/>
                </a:tc>
                <a:tc>
                  <a:txBody>
                    <a:bodyPr lIns="54864" rIns="54864" tIns="18288" bIns="18288" wrap="square" anchor="ctr"/>
                    <a:lstStyle/>
                    <a:p>
                      <a:pPr algn="l"/>
                      <a:r>
                        <a:rPr sz="900" b="0">
                          <a:solidFill>
                            <a:srgbClr val="000000"/>
                          </a:solidFill>
                          <a:latin typeface="Calibri"/>
                        </a:rPr>
                        <a:t>first_peak/peak_step/unload_to/speed</a:t>
                      </a:r>
                    </a:p>
                  </a:txBody>
                  <a:tcPr/>
                </a:tc>
                <a:tc>
                  <a:txBody>
                    <a:bodyPr lIns="54864" rIns="54864" tIns="18288" bIns="18288" wrap="square" anchor="ctr"/>
                    <a:lstStyle/>
                    <a:p>
                      <a:pPr algn="l"/>
                      <a:r>
                        <a:rPr sz="900" b="0">
                          <a:solidFill>
                            <a:srgbClr val="000000"/>
                          </a:solidFill>
                          <a:latin typeface="Calibri"/>
                        </a:rPr>
                        <a:t>300 / 150 / 100 N</a:t>
                      </a:r>
                    </a:p>
                  </a:txBody>
                  <a:tcPr/>
                </a:tc>
              </a:tr>
            </a:tbl>
          </a:graphicData>
        </a:graphic>
      </p:graphicFrame>
      <p:sp>
        <p:nvSpPr>
          <p:cNvPr id="10" name="Rectangle 9"/>
          <p:cNvSpPr/>
          <p:nvPr/>
        </p:nvSpPr>
        <p:spPr>
          <a:xfrm>
            <a:off x="411480" y="3931920"/>
            <a:ext cx="11384280" cy="51206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Every mode's parameters are stored, not just the selected one — so switching Test type AFTER a Load gives sane values instead of leftovers from whatever was loaded before. Verified by round-trip: save → reload returns byte-identical params for all six modes.</a:t>
            </a:r>
          </a:p>
        </p:txBody>
      </p:sp>
      <p:sp>
        <p:nvSpPr>
          <p:cNvPr id="11" name="TextBox 10"/>
          <p:cNvSpPr txBox="1"/>
          <p:nvPr/>
        </p:nvSpPr>
        <p:spPr>
          <a:xfrm>
            <a:off x="457200" y="45720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matters</a:t>
            </a:r>
          </a:p>
        </p:txBody>
      </p:sp>
      <p:sp>
        <p:nvSpPr>
          <p:cNvPr id="12" name="TextBox 11"/>
          <p:cNvSpPr txBox="1"/>
          <p:nvPr/>
        </p:nvSpPr>
        <p:spPr>
          <a:xfrm>
            <a:off x="457200" y="4882896"/>
            <a:ext cx="5532120" cy="1371600"/>
          </a:xfrm>
          <a:prstGeom prst="rect">
            <a:avLst/>
          </a:prstGeom>
          <a:noFill/>
        </p:spPr>
        <p:txBody>
          <a:bodyPr wrap="square" lIns="45720" rIns="45720" tIns="18288" bIns="18288" anchor="t">
            <a:spAutoFit/>
          </a:bodyPr>
          <a:lstStyle/>
          <a:p>
            <a:pPr algn="l"/>
            <a:r>
              <a:rPr sz="1050" b="0" i="0">
                <a:solidFill>
                  <a:srgbClr val="000000"/>
                </a:solidFill>
                <a:latin typeface="Calibri"/>
              </a:rPr>
              <a:t>•  A destructive test is ONE specimen — there is no second chance to get the settings right.
•  Repeat runs are identical by construction, not by memory or a lab notebook.
•  A student can run a validated protocol without knowing how it was tuned.
•  One shared source of truth: `_mode_widget_map()` drives BOTH save and load, so the two can never drift apart. Adding a mode means one entry there and nothing else.</a:t>
            </a:r>
          </a:p>
        </p:txBody>
      </p:sp>
      <p:sp>
        <p:nvSpPr>
          <p:cNvPr id="13" name="TextBox 12"/>
          <p:cNvSpPr txBox="1"/>
          <p:nvPr/>
        </p:nvSpPr>
        <p:spPr>
          <a:xfrm>
            <a:off x="6263640" y="4572000"/>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profile that ships</a:t>
            </a:r>
          </a:p>
        </p:txBody>
      </p:sp>
      <p:graphicFrame>
        <p:nvGraphicFramePr>
          <p:cNvPr id="14" name="Table 13"/>
          <p:cNvGraphicFramePr>
            <a:graphicFrameLocks noGrp="1"/>
          </p:cNvGraphicFramePr>
          <p:nvPr/>
        </p:nvGraphicFramePr>
        <p:xfrm>
          <a:off x="6263640" y="4882896"/>
          <a:ext cx="5532119" cy="493776"/>
        </p:xfrm>
        <a:graphic>
          <a:graphicData uri="http://schemas.openxmlformats.org/drawingml/2006/table">
            <a:tbl>
              <a:tblPr firstRow="1" bandRow="1">
                <a:tableStyleId>{5C22544A-7EE6-4342-B048-85BDC9FD1C3A}</a:tableStyleId>
              </a:tblPr>
              <a:tblGrid>
                <a:gridCol w="1844040"/>
                <a:gridCol w="737616"/>
                <a:gridCol w="829818"/>
                <a:gridCol w="2120645"/>
              </a:tblGrid>
              <a:tr h="246888">
                <a:tc>
                  <a:txBody>
                    <a:bodyPr lIns="54864" rIns="54864" tIns="18288" bIns="18288" wrap="square" anchor="ctr"/>
                    <a:lstStyle/>
                    <a:p>
                      <a:pPr algn="l"/>
                      <a:r>
                        <a:rPr sz="950" b="1">
                          <a:solidFill>
                            <a:srgbClr val="FFFFFF"/>
                          </a:solidFill>
                          <a:latin typeface="Calibri"/>
                        </a:rPr>
                        <a:t>Profile</a:t>
                      </a:r>
                    </a:p>
                  </a:txBody>
                  <a:tcPr>
                    <a:solidFill>
                      <a:srgbClr val="143D2F"/>
                    </a:solidFill>
                  </a:tcPr>
                </a:tc>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Preload</a:t>
                      </a:r>
                    </a:p>
                  </a:txBody>
                  <a:tcPr>
                    <a:solidFill>
                      <a:srgbClr val="143D2F"/>
                    </a:solidFill>
                  </a:tcPr>
                </a:tc>
                <a:tc>
                  <a:txBody>
                    <a:bodyPr lIns="54864" rIns="54864" tIns="18288" bIns="18288" wrap="square" anchor="ctr"/>
                    <a:lstStyle/>
                    <a:p>
                      <a:pPr algn="l"/>
                      <a:r>
                        <a:rPr sz="950" b="1">
                          <a:solidFill>
                            <a:srgbClr val="FFFFFF"/>
                          </a:solidFill>
                          <a:latin typeface="Calibri"/>
                        </a:rPr>
                        <a:t>Fracture protocols sized for</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Default</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300 N</a:t>
                      </a:r>
                    </a:p>
                  </a:txBody>
                  <a:tcPr/>
                </a:tc>
                <a:tc>
                  <a:txBody>
                    <a:bodyPr lIns="54864" rIns="54864" tIns="18288" bIns="18288" wrap="square" anchor="ctr"/>
                    <a:lstStyle/>
                    <a:p>
                      <a:pPr algn="l"/>
                      <a:r>
                        <a:rPr sz="900" b="0">
                          <a:solidFill>
                            <a:srgbClr val="000000"/>
                          </a:solidFill>
                          <a:latin typeface="Calibri"/>
                        </a:rPr>
                        <a:t>~3.2 kN in ~10 levels</a:t>
                      </a:r>
                    </a:p>
                  </a:txBody>
                  <a:tcPr/>
                </a:tc>
              </a:tr>
            </a:tbl>
          </a:graphicData>
        </a:graphic>
      </p:graphicFrame>
      <p:sp>
        <p:nvSpPr>
          <p:cNvPr id="15" name="TextBox 14"/>
          <p:cNvSpPr txBox="1"/>
          <p:nvPr/>
        </p:nvSpPr>
        <p:spPr>
          <a:xfrm>
            <a:off x="6263640" y="5513832"/>
            <a:ext cx="5532120" cy="685800"/>
          </a:xfrm>
          <a:prstGeom prst="rect">
            <a:avLst/>
          </a:prstGeom>
          <a:noFill/>
        </p:spPr>
        <p:txBody>
          <a:bodyPr wrap="square" lIns="45720" rIns="45720" tIns="18288" bIns="18288" anchor="t">
            <a:spAutoFit/>
          </a:bodyPr>
          <a:lstStyle/>
          <a:p>
            <a:pPr algn="l"/>
            <a:r>
              <a:rPr sz="1000" b="0" i="1">
                <a:solidFill>
                  <a:srgbClr val="707070"/>
                </a:solidFill>
                <a:latin typeface="Calibri"/>
              </a:rPr>
              <a:t>Recreated automatically if missing, so a fresh clone always has it. A profile you have saved under your own name is never overwritten. Was two profiles (100 % / 50 % infill) until 2026-08-12 — one is enough, since infill is a label that enters no calculation and every force here is a starting point the operator adjusts per specimen anyway.</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Stored as plain JSON in Software/UTM_PyQt6/recipes/ — readable, diffable, and easy to hand to someone else. The folder is gitignored as user-local; the two defaults regenerate on launch.</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STRESS vs STRAIN, ALL SIX MODES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The same six protocols in MATERIAL space. Strain is DIC gauge strain, ENGINEERING (ΔL/L₀); stress is engineering (F/A₀). True stress needs the current cross-section, which needs Poisson from edge tracking — not measured yet, so nothing here is labelled 'true'.</a:t>
            </a:r>
          </a:p>
        </p:txBody>
      </p:sp>
      <p:pic>
        <p:nvPicPr>
          <p:cNvPr id="6" name="Picture 5" descr="sf9_stress_strain.png"/>
          <p:cNvPicPr>
            <a:picLocks noChangeAspect="1"/>
          </p:cNvPicPr>
          <p:nvPr/>
        </p:nvPicPr>
        <p:blipFill>
          <a:blip r:embed="rId2"/>
          <a:stretch>
            <a:fillRect/>
          </a:stretch>
        </p:blipFill>
        <p:spPr>
          <a:xfrm>
            <a:off x="1701580" y="1408176"/>
            <a:ext cx="8804079" cy="4160520"/>
          </a:xfrm>
          <a:prstGeom prst="rect">
            <a:avLst/>
          </a:prstGeom>
        </p:spPr>
      </p:pic>
      <p:sp>
        <p:nvSpPr>
          <p:cNvPr id="7" name="Rectangle 6"/>
          <p:cNvSpPr/>
          <p:nvPr/>
        </p:nvSpPr>
        <p:spPr>
          <a:xfrm>
            <a:off x="411480" y="5669280"/>
            <a:ext cx="11384280" cy="54864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Each protocol has a signature: cyclic = a tight loop bundle · staircase = one straight line with dwell steps · relaxation = a VERTICAL drop at fixed strain · creep = a single POINT · both fracture modes = the full curve to failure.</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ε_f 3.10 % (T7.2) and 3.32 % (T8). A marker-separation plausibility bound is applied: at fracture L_px jumps 1668→1825 px ONE SAMPLE before the load collapses, which would otherwise stretch both fracture panels to a fictitious 10 % strain.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DO THE NUMBERS MAKE SENSE?  vs add:north E-PLA TDS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SAME reference as the V6 slides (p156 / p163): add:north E-PLA TDS rev 2.1, ISO 527 / 178, so k = spec ÷ measured is directly comparable across the deck. The datasheet has NO creep or relaxation data — those two rows use journals and are marked ‡.</a:t>
            </a:r>
          </a:p>
        </p:txBody>
      </p:sp>
      <p:pic>
        <p:nvPicPr>
          <p:cNvPr id="6" name="Picture 5" descr="sf9_literature.png"/>
          <p:cNvPicPr>
            <a:picLocks noChangeAspect="1"/>
          </p:cNvPicPr>
          <p:nvPr/>
        </p:nvPicPr>
        <p:blipFill>
          <a:blip r:embed="rId2"/>
          <a:stretch>
            <a:fillRect/>
          </a:stretch>
        </p:blipFill>
        <p:spPr>
          <a:xfrm>
            <a:off x="1826143" y="1389888"/>
            <a:ext cx="8554952" cy="2834640"/>
          </a:xfrm>
          <a:prstGeom prst="rect">
            <a:avLst/>
          </a:prstGeom>
        </p:spPr>
      </p:pic>
      <p:graphicFrame>
        <p:nvGraphicFramePr>
          <p:cNvPr id="7" name="Table 6"/>
          <p:cNvGraphicFramePr>
            <a:graphicFrameLocks noGrp="1"/>
          </p:cNvGraphicFramePr>
          <p:nvPr/>
        </p:nvGraphicFramePr>
        <p:xfrm>
          <a:off x="411480" y="4315968"/>
          <a:ext cx="11384277" cy="1664208"/>
        </p:xfrm>
        <a:graphic>
          <a:graphicData uri="http://schemas.openxmlformats.org/drawingml/2006/table">
            <a:tbl>
              <a:tblPr firstRow="1" bandRow="1">
                <a:tableStyleId>{5C22544A-7EE6-4342-B048-85BDC9FD1C3A}</a:tableStyleId>
              </a:tblPr>
              <a:tblGrid>
                <a:gridCol w="5210715"/>
                <a:gridCol w="623020"/>
                <a:gridCol w="1415955"/>
                <a:gridCol w="1869060"/>
                <a:gridCol w="1302678"/>
                <a:gridCol w="962849"/>
              </a:tblGrid>
              <a:tr h="237744">
                <a:tc>
                  <a:txBody>
                    <a:bodyPr lIns="54864" rIns="54864" tIns="18288" bIns="18288" wrap="square" anchor="ctr"/>
                    <a:lstStyle/>
                    <a:p>
                      <a:pPr algn="l"/>
                      <a:r>
                        <a:rPr sz="950" b="1">
                          <a:solidFill>
                            <a:srgbClr val="FFFFFF"/>
                          </a:solidFill>
                          <a:latin typeface="Calibri"/>
                        </a:rPr>
                        <a:t>Property</a:t>
                      </a:r>
                    </a:p>
                  </a:txBody>
                  <a:tcPr>
                    <a:solidFill>
                      <a:srgbClr val="143D2F"/>
                    </a:solidFill>
                  </a:tcPr>
                </a:tc>
                <a:tc>
                  <a:txBody>
                    <a:bodyPr lIns="54864" rIns="54864" tIns="18288" bIns="18288" wrap="square" anchor="ctr"/>
                    <a:lstStyle/>
                    <a:p>
                      <a:pPr algn="l"/>
                      <a:r>
                        <a:rPr sz="950" b="1">
                          <a:solidFill>
                            <a:srgbClr val="FFFFFF"/>
                          </a:solidFill>
                          <a:latin typeface="Calibri"/>
                        </a:rPr>
                        <a:t>ISO</a:t>
                      </a:r>
                    </a:p>
                  </a:txBody>
                  <a:tcPr>
                    <a:solidFill>
                      <a:srgbClr val="143D2F"/>
                    </a:solidFill>
                  </a:tcPr>
                </a:tc>
                <a:tc>
                  <a:txBody>
                    <a:bodyPr lIns="54864" rIns="54864" tIns="18288" bIns="18288" wrap="square" anchor="ctr"/>
                    <a:lstStyle/>
                    <a:p>
                      <a:pPr algn="l"/>
                      <a:r>
                        <a:rPr sz="950" b="1">
                          <a:solidFill>
                            <a:srgbClr val="FFFFFF"/>
                          </a:solidFill>
                          <a:latin typeface="Calibri"/>
                        </a:rPr>
                        <a:t>E-PLA spec</a:t>
                      </a:r>
                    </a:p>
                  </a:txBody>
                  <a:tcPr>
                    <a:solidFill>
                      <a:srgbClr val="143D2F"/>
                    </a:solidFill>
                  </a:tcPr>
                </a:tc>
                <a:tc>
                  <a:txBody>
                    <a:bodyPr lIns="54864" rIns="54864" tIns="18288" bIns="18288" wrap="square" anchor="ctr"/>
                    <a:lstStyle/>
                    <a:p>
                      <a:pPr algn="l"/>
                      <a:r>
                        <a:rPr sz="950" b="1">
                          <a:solidFill>
                            <a:srgbClr val="FFFFFF"/>
                          </a:solidFill>
                          <a:latin typeface="Calibri"/>
                        </a:rPr>
                        <a:t>SF9 measured</a:t>
                      </a:r>
                    </a:p>
                  </a:txBody>
                  <a:tcPr>
                    <a:solidFill>
                      <a:srgbClr val="143D2F"/>
                    </a:solidFill>
                  </a:tcPr>
                </a:tc>
                <a:tc>
                  <a:txBody>
                    <a:bodyPr lIns="54864" rIns="54864" tIns="18288" bIns="18288" wrap="square" anchor="ctr"/>
                    <a:lstStyle/>
                    <a:p>
                      <a:pPr algn="l"/>
                      <a:r>
                        <a:rPr sz="950" b="1">
                          <a:solidFill>
                            <a:srgbClr val="FFFFFF"/>
                          </a:solidFill>
                          <a:latin typeface="Calibri"/>
                        </a:rPr>
                        <a:t>k</a:t>
                      </a:r>
                    </a:p>
                  </a:txBody>
                  <a:tcPr>
                    <a:solidFill>
                      <a:srgbClr val="143D2F"/>
                    </a:solidFill>
                  </a:tcPr>
                </a:tc>
                <a:tc>
                  <a:txBody>
                    <a:bodyPr lIns="54864" rIns="54864" tIns="18288" bIns="18288" wrap="square" anchor="ctr"/>
                    <a:lstStyle/>
                    <a:p>
                      <a:pPr algn="l"/>
                      <a:r>
                        <a:rPr sz="950" b="1">
                          <a:solidFill>
                            <a:srgbClr val="FFFFFF"/>
                          </a:solidFill>
                          <a:latin typeface="Calibri"/>
                        </a:rPr>
                        <a:t>retain</a:t>
                      </a:r>
                    </a:p>
                  </a:txBody>
                  <a:tcPr>
                    <a:solidFill>
                      <a:srgbClr val="143D2F"/>
                    </a:solidFill>
                  </a:tcPr>
                </a:tc>
              </a:tr>
              <a:tr h="237744">
                <a:tc>
                  <a:txBody>
                    <a:bodyPr lIns="54864" rIns="54864" tIns="18288" bIns="18288" wrap="square" anchor="ctr"/>
                    <a:lstStyle/>
                    <a:p>
                      <a:pPr algn="l"/>
                      <a:r>
                        <a:rPr sz="900" b="1">
                          <a:solidFill>
                            <a:srgbClr val="000000"/>
                          </a:solidFill>
                          <a:latin typeface="Calibri"/>
                        </a:rPr>
                        <a:t>Tensile modulus E — T4 staircase, top level (100 %)</a:t>
                      </a:r>
                    </a:p>
                  </a:txBody>
                  <a:tcPr>
                    <a:solidFill>
                      <a:srgbClr val="C8E6C9"/>
                    </a:solidFill>
                  </a:tcPr>
                </a:tc>
                <a:tc>
                  <a:txBody>
                    <a:bodyPr lIns="54864" rIns="54864" tIns="18288" bIns="18288" wrap="square" anchor="ctr"/>
                    <a:lstStyle/>
                    <a:p>
                      <a:pPr algn="l"/>
                      <a:r>
                        <a:rPr sz="900" b="0">
                          <a:solidFill>
                            <a:srgbClr val="000000"/>
                          </a:solidFill>
                          <a:latin typeface="Calibri"/>
                        </a:rPr>
                        <a:t>527</a:t>
                      </a:r>
                    </a:p>
                  </a:txBody>
                  <a:tcPr>
                    <a:solidFill>
                      <a:srgbClr val="C8E6C9"/>
                    </a:solidFill>
                  </a:tcPr>
                </a:tc>
                <a:tc>
                  <a:txBody>
                    <a:bodyPr lIns="54864" rIns="54864" tIns="18288" bIns="18288" wrap="square" anchor="ctr"/>
                    <a:lstStyle/>
                    <a:p>
                      <a:pPr algn="l"/>
                      <a:r>
                        <a:rPr sz="900" b="0">
                          <a:solidFill>
                            <a:srgbClr val="000000"/>
                          </a:solidFill>
                          <a:latin typeface="Calibri"/>
                        </a:rPr>
                        <a:t>2.87 GPa</a:t>
                      </a:r>
                    </a:p>
                  </a:txBody>
                  <a:tcPr>
                    <a:solidFill>
                      <a:srgbClr val="C8E6C9"/>
                    </a:solidFill>
                  </a:tcPr>
                </a:tc>
                <a:tc>
                  <a:txBody>
                    <a:bodyPr lIns="54864" rIns="54864" tIns="18288" bIns="18288" wrap="square" anchor="ctr"/>
                    <a:lstStyle/>
                    <a:p>
                      <a:pPr algn="l"/>
                      <a:r>
                        <a:rPr sz="900" b="0">
                          <a:solidFill>
                            <a:srgbClr val="000000"/>
                          </a:solidFill>
                          <a:latin typeface="Calibri"/>
                        </a:rPr>
                        <a:t>2.88 GPa</a:t>
                      </a:r>
                    </a:p>
                  </a:txBody>
                  <a:tcPr>
                    <a:solidFill>
                      <a:srgbClr val="C8E6C9"/>
                    </a:solidFill>
                  </a:tcPr>
                </a:tc>
                <a:tc>
                  <a:txBody>
                    <a:bodyPr lIns="54864" rIns="54864" tIns="18288" bIns="18288" wrap="square" anchor="ctr"/>
                    <a:lstStyle/>
                    <a:p>
                      <a:pPr algn="l"/>
                      <a:r>
                        <a:rPr sz="900" b="1">
                          <a:solidFill>
                            <a:srgbClr val="000000"/>
                          </a:solidFill>
                          <a:latin typeface="Calibri"/>
                        </a:rPr>
                        <a:t>1.00</a:t>
                      </a:r>
                    </a:p>
                  </a:txBody>
                  <a:tcPr>
                    <a:solidFill>
                      <a:srgbClr val="C8E6C9"/>
                    </a:solidFill>
                  </a:tcPr>
                </a:tc>
                <a:tc>
                  <a:txBody>
                    <a:bodyPr lIns="54864" rIns="54864" tIns="18288" bIns="18288" wrap="square" anchor="ctr"/>
                    <a:lstStyle/>
                    <a:p>
                      <a:pPr algn="l"/>
                      <a:r>
                        <a:rPr sz="900" b="0">
                          <a:solidFill>
                            <a:srgbClr val="000000"/>
                          </a:solidFill>
                          <a:latin typeface="Calibri"/>
                        </a:rPr>
                        <a:t>100 %</a:t>
                      </a:r>
                    </a:p>
                  </a:txBody>
                  <a:tcPr>
                    <a:solidFill>
                      <a:srgbClr val="C8E6C9"/>
                    </a:solidFill>
                  </a:tcPr>
                </a:tc>
              </a:tr>
              <a:tr h="237744">
                <a:tc>
                  <a:txBody>
                    <a:bodyPr lIns="54864" rIns="54864" tIns="18288" bIns="18288" wrap="square" anchor="ctr"/>
                    <a:lstStyle/>
                    <a:p>
                      <a:pPr algn="l"/>
                      <a:r>
                        <a:rPr sz="900" b="0">
                          <a:solidFill>
                            <a:srgbClr val="000000"/>
                          </a:solidFill>
                          <a:latin typeface="Calibri"/>
                        </a:rPr>
                        <a:t>Tensile modulus E — T8 cycle 4 (50 % infill)</a:t>
                      </a:r>
                    </a:p>
                  </a:txBody>
                  <a:tcPr/>
                </a:tc>
                <a:tc>
                  <a:txBody>
                    <a:bodyPr lIns="54864" rIns="54864" tIns="18288" bIns="18288" wrap="square" anchor="ctr"/>
                    <a:lstStyle/>
                    <a:p>
                      <a:pPr algn="l"/>
                      <a:r>
                        <a:rPr sz="900" b="0">
                          <a:solidFill>
                            <a:srgbClr val="000000"/>
                          </a:solidFill>
                          <a:latin typeface="Calibri"/>
                        </a:rPr>
                        <a:t>527</a:t>
                      </a:r>
                    </a:p>
                  </a:txBody>
                  <a:tcPr/>
                </a:tc>
                <a:tc>
                  <a:txBody>
                    <a:bodyPr lIns="54864" rIns="54864" tIns="18288" bIns="18288" wrap="square" anchor="ctr"/>
                    <a:lstStyle/>
                    <a:p>
                      <a:pPr algn="l"/>
                      <a:r>
                        <a:rPr sz="900" b="0">
                          <a:solidFill>
                            <a:srgbClr val="000000"/>
                          </a:solidFill>
                          <a:latin typeface="Calibri"/>
                        </a:rPr>
                        <a:t>2.87 GPa</a:t>
                      </a:r>
                    </a:p>
                  </a:txBody>
                  <a:tcPr/>
                </a:tc>
                <a:tc>
                  <a:txBody>
                    <a:bodyPr lIns="54864" rIns="54864" tIns="18288" bIns="18288" wrap="square" anchor="ctr"/>
                    <a:lstStyle/>
                    <a:p>
                      <a:pPr algn="l"/>
                      <a:r>
                        <a:rPr sz="900" b="0">
                          <a:solidFill>
                            <a:srgbClr val="000000"/>
                          </a:solidFill>
                          <a:latin typeface="Calibri"/>
                        </a:rPr>
                        <a:t>2.32 GPa</a:t>
                      </a:r>
                    </a:p>
                  </a:txBody>
                  <a:tcPr/>
                </a:tc>
                <a:tc>
                  <a:txBody>
                    <a:bodyPr lIns="54864" rIns="54864" tIns="18288" bIns="18288" wrap="square" anchor="ctr"/>
                    <a:lstStyle/>
                    <a:p>
                      <a:pPr algn="l"/>
                      <a:r>
                        <a:rPr sz="900" b="0">
                          <a:solidFill>
                            <a:srgbClr val="000000"/>
                          </a:solidFill>
                          <a:latin typeface="Calibri"/>
                        </a:rPr>
                        <a:t>1.23</a:t>
                      </a:r>
                    </a:p>
                  </a:txBody>
                  <a:tcPr/>
                </a:tc>
                <a:tc>
                  <a:txBody>
                    <a:bodyPr lIns="54864" rIns="54864" tIns="18288" bIns="18288" wrap="square" anchor="ctr"/>
                    <a:lstStyle/>
                    <a:p>
                      <a:pPr algn="l"/>
                      <a:r>
                        <a:rPr sz="900" b="0">
                          <a:solidFill>
                            <a:srgbClr val="000000"/>
                          </a:solidFill>
                          <a:latin typeface="Calibri"/>
                        </a:rPr>
                        <a:t>81 %</a:t>
                      </a:r>
                    </a:p>
                  </a:txBody>
                  <a:tcPr/>
                </a:tc>
              </a:tr>
              <a:tr h="237744">
                <a:tc>
                  <a:txBody>
                    <a:bodyPr lIns="54864" rIns="54864" tIns="18288" bIns="18288" wrap="square" anchor="ctr"/>
                    <a:lstStyle/>
                    <a:p>
                      <a:pPr algn="l"/>
                      <a:r>
                        <a:rPr sz="900" b="1">
                          <a:solidFill>
                            <a:srgbClr val="000000"/>
                          </a:solidFill>
                          <a:latin typeface="Calibri"/>
                        </a:rPr>
                        <a:t>Tensile strength — T7.2 / T8 (50 % infill)</a:t>
                      </a:r>
                    </a:p>
                  </a:txBody>
                  <a:tcPr>
                    <a:solidFill>
                      <a:srgbClr val="C8E6C9"/>
                    </a:solidFill>
                  </a:tcPr>
                </a:tc>
                <a:tc>
                  <a:txBody>
                    <a:bodyPr lIns="54864" rIns="54864" tIns="18288" bIns="18288" wrap="square" anchor="ctr"/>
                    <a:lstStyle/>
                    <a:p>
                      <a:pPr algn="l"/>
                      <a:r>
                        <a:rPr sz="900" b="0">
                          <a:solidFill>
                            <a:srgbClr val="000000"/>
                          </a:solidFill>
                          <a:latin typeface="Calibri"/>
                        </a:rPr>
                        <a:t>527</a:t>
                      </a:r>
                    </a:p>
                  </a:txBody>
                  <a:tcPr>
                    <a:solidFill>
                      <a:srgbClr val="C8E6C9"/>
                    </a:solidFill>
                  </a:tcPr>
                </a:tc>
                <a:tc>
                  <a:txBody>
                    <a:bodyPr lIns="54864" rIns="54864" tIns="18288" bIns="18288" wrap="square" anchor="ctr"/>
                    <a:lstStyle/>
                    <a:p>
                      <a:pPr algn="l"/>
                      <a:r>
                        <a:rPr sz="900" b="0">
                          <a:solidFill>
                            <a:srgbClr val="000000"/>
                          </a:solidFill>
                          <a:latin typeface="Calibri"/>
                        </a:rPr>
                        <a:t>58 MPa</a:t>
                      </a:r>
                    </a:p>
                  </a:txBody>
                  <a:tcPr>
                    <a:solidFill>
                      <a:srgbClr val="C8E6C9"/>
                    </a:solidFill>
                  </a:tcPr>
                </a:tc>
                <a:tc>
                  <a:txBody>
                    <a:bodyPr lIns="54864" rIns="54864" tIns="18288" bIns="18288" wrap="square" anchor="ctr"/>
                    <a:lstStyle/>
                    <a:p>
                      <a:pPr algn="l"/>
                      <a:r>
                        <a:rPr sz="900" b="0">
                          <a:solidFill>
                            <a:srgbClr val="000000"/>
                          </a:solidFill>
                          <a:latin typeface="Calibri"/>
                        </a:rPr>
                        <a:t>21.2 / 21.4 MPa</a:t>
                      </a:r>
                    </a:p>
                  </a:txBody>
                  <a:tcPr>
                    <a:solidFill>
                      <a:srgbClr val="C8E6C9"/>
                    </a:solidFill>
                  </a:tcPr>
                </a:tc>
                <a:tc>
                  <a:txBody>
                    <a:bodyPr lIns="54864" rIns="54864" tIns="18288" bIns="18288" wrap="square" anchor="ctr"/>
                    <a:lstStyle/>
                    <a:p>
                      <a:pPr algn="l"/>
                      <a:r>
                        <a:rPr sz="900" b="1">
                          <a:solidFill>
                            <a:srgbClr val="000000"/>
                          </a:solidFill>
                          <a:latin typeface="Calibri"/>
                        </a:rPr>
                        <a:t>2.74 / 2.71</a:t>
                      </a:r>
                    </a:p>
                  </a:txBody>
                  <a:tcPr>
                    <a:solidFill>
                      <a:srgbClr val="C8E6C9"/>
                    </a:solidFill>
                  </a:tcPr>
                </a:tc>
                <a:tc>
                  <a:txBody>
                    <a:bodyPr lIns="54864" rIns="54864" tIns="18288" bIns="18288" wrap="square" anchor="ctr"/>
                    <a:lstStyle/>
                    <a:p>
                      <a:pPr algn="l"/>
                      <a:r>
                        <a:rPr sz="900" b="0">
                          <a:solidFill>
                            <a:srgbClr val="000000"/>
                          </a:solidFill>
                          <a:latin typeface="Calibri"/>
                        </a:rPr>
                        <a:t>37 %</a:t>
                      </a:r>
                    </a:p>
                  </a:txBody>
                  <a:tcPr>
                    <a:solidFill>
                      <a:srgbClr val="C8E6C9"/>
                    </a:solidFill>
                  </a:tcPr>
                </a:tc>
              </a:tr>
              <a:tr h="237744">
                <a:tc>
                  <a:txBody>
                    <a:bodyPr lIns="54864" rIns="54864" tIns="18288" bIns="18288" wrap="square" anchor="ctr"/>
                    <a:lstStyle/>
                    <a:p>
                      <a:pPr algn="l"/>
                      <a:r>
                        <a:rPr sz="900" b="0">
                          <a:solidFill>
                            <a:srgbClr val="000000"/>
                          </a:solidFill>
                          <a:latin typeface="Calibri"/>
                        </a:rPr>
                        <a:t>Elongation at break — T7.2 / T8 (50 % infill)</a:t>
                      </a:r>
                    </a:p>
                  </a:txBody>
                  <a:tcPr/>
                </a:tc>
                <a:tc>
                  <a:txBody>
                    <a:bodyPr lIns="54864" rIns="54864" tIns="18288" bIns="18288" wrap="square" anchor="ctr"/>
                    <a:lstStyle/>
                    <a:p>
                      <a:pPr algn="l"/>
                      <a:r>
                        <a:rPr sz="900" b="0">
                          <a:solidFill>
                            <a:srgbClr val="000000"/>
                          </a:solidFill>
                          <a:latin typeface="Calibri"/>
                        </a:rPr>
                        <a:t>527</a:t>
                      </a:r>
                    </a:p>
                  </a:txBody>
                  <a:tcPr/>
                </a:tc>
                <a:tc>
                  <a:txBody>
                    <a:bodyPr lIns="54864" rIns="54864" tIns="18288" bIns="18288" wrap="square" anchor="ctr"/>
                    <a:lstStyle/>
                    <a:p>
                      <a:pPr algn="l"/>
                      <a:r>
                        <a:rPr sz="900" b="0">
                          <a:solidFill>
                            <a:srgbClr val="000000"/>
                          </a:solidFill>
                          <a:latin typeface="Calibri"/>
                        </a:rPr>
                        <a:t>8 %</a:t>
                      </a:r>
                    </a:p>
                  </a:txBody>
                  <a:tcPr/>
                </a:tc>
                <a:tc>
                  <a:txBody>
                    <a:bodyPr lIns="54864" rIns="54864" tIns="18288" bIns="18288" wrap="square" anchor="ctr"/>
                    <a:lstStyle/>
                    <a:p>
                      <a:pPr algn="l"/>
                      <a:r>
                        <a:rPr sz="900" b="0">
                          <a:solidFill>
                            <a:srgbClr val="000000"/>
                          </a:solidFill>
                          <a:latin typeface="Calibri"/>
                        </a:rPr>
                        <a:t>3.10 / 3.32 %</a:t>
                      </a:r>
                    </a:p>
                  </a:txBody>
                  <a:tcPr/>
                </a:tc>
                <a:tc>
                  <a:txBody>
                    <a:bodyPr lIns="54864" rIns="54864" tIns="18288" bIns="18288" wrap="square" anchor="ctr"/>
                    <a:lstStyle/>
                    <a:p>
                      <a:pPr algn="l"/>
                      <a:r>
                        <a:rPr sz="900" b="0">
                          <a:solidFill>
                            <a:srgbClr val="000000"/>
                          </a:solidFill>
                          <a:latin typeface="Calibri"/>
                        </a:rPr>
                        <a:t>2.58 / 2.41</a:t>
                      </a:r>
                    </a:p>
                  </a:txBody>
                  <a:tcPr/>
                </a:tc>
                <a:tc>
                  <a:txBody>
                    <a:bodyPr lIns="54864" rIns="54864" tIns="18288" bIns="18288" wrap="square" anchor="ctr"/>
                    <a:lstStyle/>
                    <a:p>
                      <a:pPr algn="l"/>
                      <a:r>
                        <a:rPr sz="900" b="0">
                          <a:solidFill>
                            <a:srgbClr val="000000"/>
                          </a:solidFill>
                          <a:latin typeface="Calibri"/>
                        </a:rPr>
                        <a:t>39–42 %</a:t>
                      </a:r>
                    </a:p>
                  </a:txBody>
                  <a:tcPr/>
                </a:tc>
              </a:tr>
              <a:tr h="237744">
                <a:tc>
                  <a:txBody>
                    <a:bodyPr lIns="54864" rIns="54864" tIns="18288" bIns="18288" wrap="square" anchor="ctr"/>
                    <a:lstStyle/>
                    <a:p>
                      <a:pPr algn="l"/>
                      <a:r>
                        <a:rPr sz="900" b="1">
                          <a:solidFill>
                            <a:srgbClr val="000000"/>
                          </a:solidFill>
                          <a:latin typeface="Calibri"/>
                        </a:rPr>
                        <a:t>Stress relaxation ‡ — T2, 81 s at ε=0.010</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not on TDS</a:t>
                      </a:r>
                    </a:p>
                  </a:txBody>
                  <a:tcPr>
                    <a:solidFill>
                      <a:srgbClr val="FFF3CD"/>
                    </a:solidFill>
                  </a:tcPr>
                </a:tc>
                <a:tc>
                  <a:txBody>
                    <a:bodyPr lIns="54864" rIns="54864" tIns="18288" bIns="18288" wrap="square" anchor="ctr"/>
                    <a:lstStyle/>
                    <a:p>
                      <a:pPr algn="l"/>
                      <a:r>
                        <a:rPr sz="900" b="0">
                          <a:solidFill>
                            <a:srgbClr val="000000"/>
                          </a:solidFill>
                          <a:latin typeface="Calibri"/>
                        </a:rPr>
                        <a:t>4.9 %</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see ‡</a:t>
                      </a:r>
                    </a:p>
                  </a:txBody>
                  <a:tcPr>
                    <a:solidFill>
                      <a:srgbClr val="FFF3CD"/>
                    </a:solidFill>
                  </a:tcPr>
                </a:tc>
              </a:tr>
              <a:tr h="237744">
                <a:tc>
                  <a:txBody>
                    <a:bodyPr lIns="54864" rIns="54864" tIns="18288" bIns="18288" wrap="square" anchor="ctr"/>
                    <a:lstStyle/>
                    <a:p>
                      <a:pPr algn="l"/>
                      <a:r>
                        <a:rPr sz="900" b="1">
                          <a:solidFill>
                            <a:srgbClr val="000000"/>
                          </a:solidFill>
                          <a:latin typeface="Calibri"/>
                        </a:rPr>
                        <a:t>Creep ‡ — T1, 40 s at 5.0 MPa</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not on TDS</a:t>
                      </a:r>
                    </a:p>
                  </a:txBody>
                  <a:tcPr>
                    <a:solidFill>
                      <a:srgbClr val="FFF3CD"/>
                    </a:solidFill>
                  </a:tcPr>
                </a:tc>
                <a:tc>
                  <a:txBody>
                    <a:bodyPr lIns="54864" rIns="54864" tIns="18288" bIns="18288" wrap="square" anchor="ctr"/>
                    <a:lstStyle/>
                    <a:p>
                      <a:pPr algn="l"/>
                      <a:r>
                        <a:rPr sz="900" b="0">
                          <a:solidFill>
                            <a:srgbClr val="000000"/>
                          </a:solidFill>
                          <a:latin typeface="Calibri"/>
                        </a:rPr>
                        <a:t>none resolvable</a:t>
                      </a:r>
                    </a:p>
                  </a:txBody>
                  <a:tcPr>
                    <a:solidFill>
                      <a:srgbClr val="FFF3CD"/>
                    </a:solidFill>
                  </a:tcPr>
                </a:tc>
                <a:tc>
                  <a:txBody>
                    <a:bodyPr lIns="54864" rIns="54864" tIns="18288" bIns="18288" wrap="square" anchor="ctr"/>
                    <a:lstStyle/>
                    <a:p>
                      <a:pPr algn="l"/>
                      <a:r>
                        <a:rPr sz="900" b="0">
                          <a:solidFill>
                            <a:srgbClr val="000000"/>
                          </a:solidFill>
                          <a:latin typeface="Calibri"/>
                        </a:rPr>
                        <a:t>—</a:t>
                      </a:r>
                    </a:p>
                  </a:txBody>
                  <a:tcPr>
                    <a:solidFill>
                      <a:srgbClr val="FFF3CD"/>
                    </a:solidFill>
                  </a:tcPr>
                </a:tc>
                <a:tc>
                  <a:txBody>
                    <a:bodyPr lIns="54864" rIns="54864" tIns="18288" bIns="18288" wrap="square" anchor="ctr"/>
                    <a:lstStyle/>
                    <a:p>
                      <a:pPr algn="l"/>
                      <a:r>
                        <a:rPr sz="900" b="0">
                          <a:solidFill>
                            <a:srgbClr val="000000"/>
                          </a:solidFill>
                          <a:latin typeface="Calibri"/>
                        </a:rPr>
                        <a:t>see ‡</a:t>
                      </a:r>
                    </a:p>
                  </a:txBody>
                  <a:tcPr>
                    <a:solidFill>
                      <a:srgbClr val="FFF3CD"/>
                    </a:solidFill>
                  </a:tcPr>
                </a:tc>
              </a:tr>
            </a:tbl>
          </a:graphicData>
        </a:graphic>
      </p:graphicFrame>
      <p:sp>
        <p:nvSpPr>
          <p:cNvPr id="8" name="Rectangle 7"/>
          <p:cNvSpPr/>
          <p:nvPr/>
        </p:nvSpPr>
        <p:spPr>
          <a:xfrm>
            <a:off x="411480" y="5961888"/>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Headline: the staircase modulus measured on a HIGH-STRESS increment lands on the datasheet (k = 1.00) where the conventional broad-range fit gives k = 1.10 — the low-stress slack is what drags the usual number down.</a:t>
            </a:r>
          </a:p>
        </p:txBody>
      </p:sp>
      <p:sp>
        <p:nvSpPr>
          <p:cNvPr id="9" name="TextBox 8"/>
          <p:cNvSpPr txBox="1"/>
          <p:nvPr/>
        </p:nvSpPr>
        <p:spPr>
          <a:xfrm>
            <a:off x="457200" y="6391656"/>
            <a:ext cx="4572000" cy="274320"/>
          </a:xfrm>
          <a:prstGeom prst="rect">
            <a:avLst/>
          </a:prstGeom>
          <a:noFill/>
        </p:spPr>
        <p:txBody>
          <a:bodyPr wrap="square">
            <a:spAutoFit/>
          </a:bodyPr>
          <a:lstStyle/>
          <a:p>
            <a:r>
              <a:rPr sz="1100" u="sng">
                <a:solidFill>
                  <a:srgbClr val="1A5FB4"/>
                </a:solidFill>
                <a:latin typeface="Calibri"/>
                <a:hlinkClick r:id="rId3"/>
              </a:rPr>
              <a:t>Spec sheet — add:north E-PLA TDS (PDF, ISO 527 / 178)</a:t>
            </a:r>
          </a:p>
        </p:txBody>
      </p:sp>
      <p:sp>
        <p:nvSpPr>
          <p:cNvPr id="10" name="TextBox 9"/>
          <p:cNvSpPr txBox="1"/>
          <p:nvPr/>
        </p:nvSpPr>
        <p:spPr>
          <a:xfrm>
            <a:off x="5212080" y="6391656"/>
            <a:ext cx="6400800" cy="365760"/>
          </a:xfrm>
          <a:prstGeom prst="rect">
            <a:avLst/>
          </a:prstGeom>
          <a:noFill/>
        </p:spPr>
        <p:txBody>
          <a:bodyPr wrap="square" lIns="45720" rIns="45720" tIns="18288" bIns="18288" anchor="t">
            <a:spAutoFit/>
          </a:bodyPr>
          <a:lstStyle/>
          <a:p>
            <a:pPr algn="l"/>
            <a:r>
              <a:rPr sz="950" b="0" i="1">
                <a:solidFill>
                  <a:srgbClr val="707070"/>
                </a:solidFill>
                <a:latin typeface="Calibri"/>
              </a:rPr>
              <a:t>‡ TDS carries no viscoelastic data. Relaxation/creep compared against Materials 15(10) 3509 and J. Appl. Polym. Sci. e54463 (~11–13 % relaxation, far longer holds). Tg 55–60 °C is from the TDS.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209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TEST CAMPAIGN REGISTER  (T1–T8)</a:t>
            </a:r>
          </a:p>
        </p:txBody>
      </p:sp>
      <p:sp>
        <p:nvSpPr>
          <p:cNvPr id="5" name="TextBox 4"/>
          <p:cNvSpPr txBox="1"/>
          <p:nvPr/>
        </p:nvSpPr>
        <p:spPr>
          <a:xfrm>
            <a:off x="457200" y="1042415"/>
            <a:ext cx="11338560" cy="310896"/>
          </a:xfrm>
          <a:prstGeom prst="rect">
            <a:avLst/>
          </a:prstGeom>
          <a:noFill/>
        </p:spPr>
        <p:txBody>
          <a:bodyPr wrap="square" lIns="45720" rIns="45720" tIns="18288" bIns="18288" anchor="t">
            <a:spAutoFit/>
          </a:bodyPr>
          <a:lstStyle/>
          <a:p>
            <a:pPr algn="l"/>
            <a:r>
              <a:rPr sz="1100" b="0" i="1">
                <a:solidFill>
                  <a:srgbClr val="707070"/>
                </a:solidFill>
                <a:latin typeface="Calibri"/>
              </a:rPr>
              <a:t>Every advanced-mode run, in order. Use the Test ID to tie a slide back to its CSV, and the Slides column to go the other way. Dates are the CSV's own 'Test Date' header — the filename timestamp is a session id and does NOT match (all three T6 attempts share one).</a:t>
            </a:r>
          </a:p>
        </p:txBody>
      </p:sp>
      <p:graphicFrame>
        <p:nvGraphicFramePr>
          <p:cNvPr id="6" name="Table 5"/>
          <p:cNvGraphicFramePr>
            <a:graphicFrameLocks noGrp="1"/>
          </p:cNvGraphicFramePr>
          <p:nvPr/>
        </p:nvGraphicFramePr>
        <p:xfrm>
          <a:off x="411480" y="1408176"/>
          <a:ext cx="11384276" cy="3566160"/>
        </p:xfrm>
        <a:graphic>
          <a:graphicData uri="http://schemas.openxmlformats.org/drawingml/2006/table">
            <a:tbl>
              <a:tblPr firstRow="1" bandRow="1">
                <a:tableStyleId>{5C22544A-7EE6-4342-B048-85BDC9FD1C3A}</a:tableStyleId>
              </a:tblPr>
              <a:tblGrid>
                <a:gridCol w="602053"/>
                <a:gridCol w="2353480"/>
                <a:gridCol w="930445"/>
                <a:gridCol w="1149374"/>
                <a:gridCol w="5582675"/>
                <a:gridCol w="766249"/>
              </a:tblGrid>
              <a:tr h="297180">
                <a:tc>
                  <a:txBody>
                    <a:bodyPr lIns="54864" rIns="54864" tIns="18288" bIns="18288" wrap="square" anchor="ctr"/>
                    <a:lstStyle/>
                    <a:p>
                      <a:pPr algn="l"/>
                      <a:r>
                        <a:rPr sz="1000" b="1">
                          <a:solidFill>
                            <a:srgbClr val="FFFFFF"/>
                          </a:solidFill>
                          <a:latin typeface="Calibri"/>
                        </a:rPr>
                        <a:t>Test</a:t>
                      </a:r>
                    </a:p>
                  </a:txBody>
                  <a:tcPr>
                    <a:solidFill>
                      <a:srgbClr val="143D2F"/>
                    </a:solidFill>
                  </a:tcPr>
                </a:tc>
                <a:tc>
                  <a:txBody>
                    <a:bodyPr lIns="54864" rIns="54864" tIns="18288" bIns="18288" wrap="square" anchor="ctr"/>
                    <a:lstStyle/>
                    <a:p>
                      <a:pPr algn="l"/>
                      <a:r>
                        <a:rPr sz="1000" b="1">
                          <a:solidFill>
                            <a:srgbClr val="FFFFFF"/>
                          </a:solidFill>
                          <a:latin typeface="Calibri"/>
                        </a:rPr>
                        <a:t>Mode / variant</a:t>
                      </a:r>
                    </a:p>
                  </a:txBody>
                  <a:tcPr>
                    <a:solidFill>
                      <a:srgbClr val="143D2F"/>
                    </a:solidFill>
                  </a:tcPr>
                </a:tc>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When (2026)</a:t>
                      </a:r>
                    </a:p>
                  </a:txBody>
                  <a:tcPr>
                    <a:solidFill>
                      <a:srgbClr val="143D2F"/>
                    </a:solidFill>
                  </a:tcPr>
                </a:tc>
                <a:tc>
                  <a:txBody>
                    <a:bodyPr lIns="54864" rIns="54864" tIns="18288" bIns="18288" wrap="square" anchor="ctr"/>
                    <a:lstStyle/>
                    <a:p>
                      <a:pPr algn="l"/>
                      <a:r>
                        <a:rPr sz="1000" b="1">
                          <a:solidFill>
                            <a:srgbClr val="FFFFFF"/>
                          </a:solidFill>
                          <a:latin typeface="Calibri"/>
                        </a:rPr>
                        <a:t>Headline result</a:t>
                      </a:r>
                    </a:p>
                  </a:txBody>
                  <a:tcPr>
                    <a:solidFill>
                      <a:srgbClr val="143D2F"/>
                    </a:solidFill>
                  </a:tcPr>
                </a:tc>
                <a:tc>
                  <a:txBody>
                    <a:bodyPr lIns="54864" rIns="54864" tIns="18288" bIns="18288" wrap="square" anchor="ctr"/>
                    <a:lstStyle/>
                    <a:p>
                      <a:pPr algn="l"/>
                      <a:r>
                        <a:rPr sz="1000" b="1">
                          <a:solidFill>
                            <a:srgbClr val="FFFFFF"/>
                          </a:solidFill>
                          <a:latin typeface="Calibri"/>
                        </a:rPr>
                        <a:t>Slides</a:t>
                      </a:r>
                    </a:p>
                  </a:txBody>
                  <a:tcPr>
                    <a:solidFill>
                      <a:srgbClr val="143D2F"/>
                    </a:solidFill>
                  </a:tcPr>
                </a:tc>
              </a:tr>
              <a:tr h="297180">
                <a:tc>
                  <a:txBody>
                    <a:bodyPr lIns="54864" rIns="54864" tIns="18288" bIns="18288" wrap="square" anchor="ctr"/>
                    <a:lstStyle/>
                    <a:p>
                      <a:pPr algn="l"/>
                      <a:r>
                        <a:rPr sz="950" b="1">
                          <a:solidFill>
                            <a:srgbClr val="000000"/>
                          </a:solidFill>
                          <a:latin typeface="Calibri"/>
                        </a:rPr>
                        <a:t>T1</a:t>
                      </a:r>
                    </a:p>
                  </a:txBody>
                  <a:tcPr>
                    <a:solidFill>
                      <a:srgbClr val="C8E6C9"/>
                    </a:solidFill>
                  </a:tcPr>
                </a:tc>
                <a:tc>
                  <a:txBody>
                    <a:bodyPr lIns="54864" rIns="54864" tIns="18288" bIns="18288" wrap="square" anchor="ctr"/>
                    <a:lstStyle/>
                    <a:p>
                      <a:pPr algn="l"/>
                      <a:r>
                        <a:rPr sz="950" b="0">
                          <a:solidFill>
                            <a:srgbClr val="000000"/>
                          </a:solidFill>
                          <a:latin typeface="Calibri"/>
                        </a:rPr>
                        <a:t>Creep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18:28</a:t>
                      </a:r>
                    </a:p>
                  </a:txBody>
                  <a:tcPr/>
                </a:tc>
                <a:tc>
                  <a:txBody>
                    <a:bodyPr lIns="54864" rIns="54864" tIns="18288" bIns="18288" wrap="square" anchor="ctr"/>
                    <a:lstStyle/>
                    <a:p>
                      <a:pPr algn="l"/>
                      <a:r>
                        <a:rPr sz="950" b="0">
                          <a:solidFill>
                            <a:srgbClr val="000000"/>
                          </a:solidFill>
                          <a:latin typeface="Calibri"/>
                        </a:rPr>
                        <a:t>held 398 ± 2.2 N for 40 s; creep NOT resolvable (-14 µε vs ±12 µε noise)</a:t>
                      </a:r>
                    </a:p>
                  </a:txBody>
                  <a:tcPr/>
                </a:tc>
                <a:tc>
                  <a:txBody>
                    <a:bodyPr lIns="54864" rIns="54864" tIns="18288" bIns="18288" wrap="square" anchor="ctr"/>
                    <a:lstStyle/>
                    <a:p>
                      <a:pPr algn="l"/>
                      <a:r>
                        <a:rPr sz="950" b="0">
                          <a:solidFill>
                            <a:srgbClr val="000000"/>
                          </a:solidFill>
                          <a:latin typeface="Calibri"/>
                        </a:rPr>
                        <a:t>195-196 · 206 · 207</a:t>
                      </a:r>
                    </a:p>
                  </a:txBody>
                  <a:tcPr/>
                </a:tc>
              </a:tr>
              <a:tr h="297180">
                <a:tc>
                  <a:txBody>
                    <a:bodyPr lIns="54864" rIns="54864" tIns="18288" bIns="18288" wrap="square" anchor="ctr"/>
                    <a:lstStyle/>
                    <a:p>
                      <a:pPr algn="l"/>
                      <a:r>
                        <a:rPr sz="950" b="1">
                          <a:solidFill>
                            <a:srgbClr val="000000"/>
                          </a:solidFill>
                          <a:latin typeface="Calibri"/>
                        </a:rPr>
                        <a:t>T2</a:t>
                      </a:r>
                    </a:p>
                  </a:txBody>
                  <a:tcPr>
                    <a:solidFill>
                      <a:srgbClr val="C8E6C9"/>
                    </a:solidFill>
                  </a:tcPr>
                </a:tc>
                <a:tc>
                  <a:txBody>
                    <a:bodyPr lIns="54864" rIns="54864" tIns="18288" bIns="18288" wrap="square" anchor="ctr"/>
                    <a:lstStyle/>
                    <a:p>
                      <a:pPr algn="l"/>
                      <a:r>
                        <a:rPr sz="950" b="0">
                          <a:solidFill>
                            <a:srgbClr val="000000"/>
                          </a:solidFill>
                          <a:latin typeface="Calibri"/>
                        </a:rPr>
                        <a:t>Relaxation</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18:34</a:t>
                      </a:r>
                    </a:p>
                  </a:txBody>
                  <a:tcPr/>
                </a:tc>
                <a:tc>
                  <a:txBody>
                    <a:bodyPr lIns="54864" rIns="54864" tIns="18288" bIns="18288" wrap="square" anchor="ctr"/>
                    <a:lstStyle/>
                    <a:p>
                      <a:pPr algn="l"/>
                      <a:r>
                        <a:rPr sz="950" b="0">
                          <a:solidFill>
                            <a:srgbClr val="000000"/>
                          </a:solidFill>
                          <a:latin typeface="Calibri"/>
                        </a:rPr>
                        <a:t>ε pinned at 0.01011; force decayed 2146 → 2040 N (4.9 %)</a:t>
                      </a:r>
                    </a:p>
                  </a:txBody>
                  <a:tcPr/>
                </a:tc>
                <a:tc>
                  <a:txBody>
                    <a:bodyPr lIns="54864" rIns="54864" tIns="18288" bIns="18288" wrap="square" anchor="ctr"/>
                    <a:lstStyle/>
                    <a:p>
                      <a:pPr algn="l"/>
                      <a:r>
                        <a:rPr sz="950" b="0">
                          <a:solidFill>
                            <a:srgbClr val="000000"/>
                          </a:solidFill>
                          <a:latin typeface="Calibri"/>
                        </a:rPr>
                        <a:t>193-194 · 206 · 207</a:t>
                      </a:r>
                    </a:p>
                  </a:txBody>
                  <a:tcPr/>
                </a:tc>
              </a:tr>
              <a:tr h="297180">
                <a:tc>
                  <a:txBody>
                    <a:bodyPr lIns="54864" rIns="54864" tIns="18288" bIns="18288" wrap="square" anchor="ctr"/>
                    <a:lstStyle/>
                    <a:p>
                      <a:pPr algn="l"/>
                      <a:r>
                        <a:rPr sz="950" b="1">
                          <a:solidFill>
                            <a:srgbClr val="000000"/>
                          </a:solidFill>
                          <a:latin typeface="Calibri"/>
                        </a:rPr>
                        <a:t>T3</a:t>
                      </a:r>
                    </a:p>
                  </a:txBody>
                  <a:tcPr>
                    <a:solidFill>
                      <a:srgbClr val="C8E6C9"/>
                    </a:solidFill>
                  </a:tcPr>
                </a:tc>
                <a:tc>
                  <a:txBody>
                    <a:bodyPr lIns="54864" rIns="54864" tIns="18288" bIns="18288" wrap="square" anchor="ctr"/>
                    <a:lstStyle/>
                    <a:p>
                      <a:pPr algn="l"/>
                      <a:r>
                        <a:rPr sz="950" b="0">
                          <a:solidFill>
                            <a:srgbClr val="000000"/>
                          </a:solidFill>
                          <a:latin typeface="Calibri"/>
                        </a:rPr>
                        <a:t>Staircase · Linear ramp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19:37</a:t>
                      </a:r>
                    </a:p>
                  </a:txBody>
                  <a:tcPr/>
                </a:tc>
                <a:tc>
                  <a:txBody>
                    <a:bodyPr lIns="54864" rIns="54864" tIns="18288" bIns="18288" wrap="square" anchor="ctr"/>
                    <a:lstStyle/>
                    <a:p>
                      <a:pPr algn="l"/>
                      <a:r>
                        <a:rPr sz="950" b="0">
                          <a:solidFill>
                            <a:srgbClr val="000000"/>
                          </a:solidFill>
                          <a:latin typeface="Calibri"/>
                        </a:rPr>
                        <a:t>3 levels / 20 s dwells — arrival overshoot +45/+47/+53 N</a:t>
                      </a:r>
                    </a:p>
                  </a:txBody>
                  <a:tcPr/>
                </a:tc>
                <a:tc>
                  <a:txBody>
                    <a:bodyPr lIns="54864" rIns="54864" tIns="18288" bIns="18288" wrap="square" anchor="ctr"/>
                    <a:lstStyle/>
                    <a:p>
                      <a:pPr algn="l"/>
                      <a:r>
                        <a:rPr sz="950" b="0">
                          <a:solidFill>
                            <a:srgbClr val="000000"/>
                          </a:solidFill>
                          <a:latin typeface="Calibri"/>
                        </a:rPr>
                        <a:t>190-192 · 206</a:t>
                      </a:r>
                    </a:p>
                  </a:txBody>
                  <a:tcPr/>
                </a:tc>
              </a:tr>
              <a:tr h="297180">
                <a:tc>
                  <a:txBody>
                    <a:bodyPr lIns="54864" rIns="54864" tIns="18288" bIns="18288" wrap="square" anchor="ctr"/>
                    <a:lstStyle/>
                    <a:p>
                      <a:pPr algn="l"/>
                      <a:r>
                        <a:rPr sz="950" b="1">
                          <a:solidFill>
                            <a:srgbClr val="000000"/>
                          </a:solidFill>
                          <a:latin typeface="Calibri"/>
                        </a:rPr>
                        <a:t>T4</a:t>
                      </a:r>
                    </a:p>
                  </a:txBody>
                  <a:tcPr>
                    <a:solidFill>
                      <a:srgbClr val="C8E6C9"/>
                    </a:solidFill>
                  </a:tcPr>
                </a:tc>
                <a:tc>
                  <a:txBody>
                    <a:bodyPr lIns="54864" rIns="54864" tIns="18288" bIns="18288" wrap="square" anchor="ctr"/>
                    <a:lstStyle/>
                    <a:p>
                      <a:pPr algn="l"/>
                      <a:r>
                        <a:rPr sz="950" b="0">
                          <a:solidFill>
                            <a:srgbClr val="000000"/>
                          </a:solidFill>
                          <a:latin typeface="Calibri"/>
                        </a:rPr>
                        <a:t>Staircase · Smooth ramp</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08-08 19:42</a:t>
                      </a:r>
                    </a:p>
                  </a:txBody>
                  <a:tcPr/>
                </a:tc>
                <a:tc>
                  <a:txBody>
                    <a:bodyPr lIns="54864" rIns="54864" tIns="18288" bIns="18288" wrap="square" anchor="ctr"/>
                    <a:lstStyle/>
                    <a:p>
                      <a:pPr algn="l"/>
                      <a:r>
                        <a:rPr sz="950" b="0">
                          <a:solidFill>
                            <a:srgbClr val="000000"/>
                          </a:solidFill>
                          <a:latin typeface="Calibri"/>
                        </a:rPr>
                        <a:t>same levels — overshoot +6/+5/+8 N  ▸ the taper fix</a:t>
                      </a:r>
                    </a:p>
                  </a:txBody>
                  <a:tcPr/>
                </a:tc>
                <a:tc>
                  <a:txBody>
                    <a:bodyPr lIns="54864" rIns="54864" tIns="18288" bIns="18288" wrap="square" anchor="ctr"/>
                    <a:lstStyle/>
                    <a:p>
                      <a:pPr algn="l"/>
                      <a:r>
                        <a:rPr sz="950" b="0">
                          <a:solidFill>
                            <a:srgbClr val="000000"/>
                          </a:solidFill>
                          <a:latin typeface="Calibri"/>
                        </a:rPr>
                        <a:t>190-192 · 206</a:t>
                      </a:r>
                    </a:p>
                  </a:txBody>
                  <a:tcPr/>
                </a:tc>
              </a:tr>
              <a:tr h="297180">
                <a:tc>
                  <a:txBody>
                    <a:bodyPr lIns="54864" rIns="54864" tIns="18288" bIns="18288" wrap="square" anchor="ctr"/>
                    <a:lstStyle/>
                    <a:p>
                      <a:pPr algn="l"/>
                      <a:r>
                        <a:rPr sz="950" b="1">
                          <a:solidFill>
                            <a:srgbClr val="000000"/>
                          </a:solidFill>
                          <a:latin typeface="Calibri"/>
                        </a:rPr>
                        <a:t>T5</a:t>
                      </a:r>
                    </a:p>
                  </a:txBody>
                  <a:tcPr>
                    <a:solidFill>
                      <a:srgbClr val="C8E6C9"/>
                    </a:solidFill>
                  </a:tcPr>
                </a:tc>
                <a:tc>
                  <a:txBody>
                    <a:bodyPr lIns="54864" rIns="54864" tIns="18288" bIns="18288" wrap="square" anchor="ctr"/>
                    <a:lstStyle/>
                    <a:p>
                      <a:pPr algn="l"/>
                      <a:r>
                        <a:rPr sz="950" b="0">
                          <a:solidFill>
                            <a:srgbClr val="000000"/>
                          </a:solidFill>
                          <a:latin typeface="Calibri"/>
                        </a:rPr>
                        <a:t>Cyclic · Triangle</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13:10</a:t>
                      </a:r>
                    </a:p>
                  </a:txBody>
                  <a:tcPr/>
                </a:tc>
                <a:tc>
                  <a:txBody>
                    <a:bodyPr lIns="54864" rIns="54864" tIns="18288" bIns="18288" wrap="square" anchor="ctr"/>
                    <a:lstStyle/>
                    <a:p>
                      <a:pPr algn="l"/>
                      <a:r>
                        <a:rPr sz="950" b="0">
                          <a:solidFill>
                            <a:srgbClr val="000000"/>
                          </a:solidFill>
                          <a:latin typeface="Calibri"/>
                        </a:rPr>
                        <a:t>5 cycles 100/500 N in 115 s; peak error 71 N (no lead yet)</a:t>
                      </a:r>
                    </a:p>
                  </a:txBody>
                  <a:tcPr/>
                </a:tc>
                <a:tc>
                  <a:txBody>
                    <a:bodyPr lIns="54864" rIns="54864" tIns="18288" bIns="18288" wrap="square" anchor="ctr"/>
                    <a:lstStyle/>
                    <a:p>
                      <a:pPr algn="l"/>
                      <a:r>
                        <a:rPr sz="950" b="0">
                          <a:solidFill>
                            <a:srgbClr val="000000"/>
                          </a:solidFill>
                          <a:latin typeface="Calibri"/>
                        </a:rPr>
                        <a:t>187-189 · 204</a:t>
                      </a:r>
                    </a:p>
                  </a:txBody>
                  <a:tcPr/>
                </a:tc>
              </a:tr>
              <a:tr h="297180">
                <a:tc>
                  <a:txBody>
                    <a:bodyPr lIns="54864" rIns="54864" tIns="18288" bIns="18288" wrap="square" anchor="ctr"/>
                    <a:lstStyle/>
                    <a:p>
                      <a:pPr algn="l"/>
                      <a:r>
                        <a:rPr sz="950" b="1">
                          <a:solidFill>
                            <a:srgbClr val="000000"/>
                          </a:solidFill>
                          <a:latin typeface="Calibri"/>
                        </a:rPr>
                        <a:t>T6</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 1st try</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13:16</a:t>
                      </a:r>
                    </a:p>
                  </a:txBody>
                  <a:tcPr/>
                </a:tc>
                <a:tc>
                  <a:txBody>
                    <a:bodyPr lIns="54864" rIns="54864" tIns="18288" bIns="18288" wrap="square" anchor="ctr"/>
                    <a:lstStyle/>
                    <a:p>
                      <a:pPr algn="l"/>
                      <a:r>
                        <a:rPr sz="950" b="0">
                          <a:solidFill>
                            <a:srgbClr val="000000"/>
                          </a:solidFill>
                          <a:latin typeface="Calibri"/>
                        </a:rPr>
                        <a:t>accurate (8 N) but took 222 s — ~2× too slow, flat bottoms ▸ velocity-law bug found</a:t>
                      </a:r>
                    </a:p>
                  </a:txBody>
                  <a:tcPr>
                    <a:solidFill>
                      <a:srgbClr val="FFF3CD"/>
                    </a:solidFill>
                  </a:tcPr>
                </a:tc>
                <a:tc>
                  <a:txBody>
                    <a:bodyPr lIns="54864" rIns="54864" tIns="18288" bIns="18288" wrap="square" anchor="ctr"/>
                    <a:lstStyle/>
                    <a:p>
                      <a:pPr algn="l"/>
                      <a:r>
                        <a:rPr sz="950" b="0">
                          <a:solidFill>
                            <a:srgbClr val="000000"/>
                          </a:solidFill>
                          <a:latin typeface="Calibri"/>
                        </a:rPr>
                        <a:t>—</a:t>
                      </a:r>
                    </a:p>
                  </a:txBody>
                  <a:tcPr/>
                </a:tc>
              </a:tr>
              <a:tr h="297180">
                <a:tc>
                  <a:txBody>
                    <a:bodyPr lIns="54864" rIns="54864" tIns="18288" bIns="18288" wrap="square" anchor="ctr"/>
                    <a:lstStyle/>
                    <a:p>
                      <a:pPr algn="l"/>
                      <a:r>
                        <a:rPr sz="950" b="1">
                          <a:solidFill>
                            <a:srgbClr val="000000"/>
                          </a:solidFill>
                          <a:latin typeface="Calibri"/>
                        </a:rPr>
                        <a:t>T6.2</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 2nd try</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14:03</a:t>
                      </a:r>
                    </a:p>
                  </a:txBody>
                  <a:tcPr/>
                </a:tc>
                <a:tc>
                  <a:txBody>
                    <a:bodyPr lIns="54864" rIns="54864" tIns="18288" bIns="18288" wrap="square" anchor="ctr"/>
                    <a:lstStyle/>
                    <a:p>
                      <a:pPr algn="l"/>
                      <a:r>
                        <a:rPr sz="950" b="0">
                          <a:solidFill>
                            <a:srgbClr val="000000"/>
                          </a:solidFill>
                          <a:latin typeface="Calibri"/>
                        </a:rPr>
                        <a:t>speed fixed (117 s) but peaks flat at +15 N — no convergence ▸ 2 structural fixes</a:t>
                      </a:r>
                    </a:p>
                  </a:txBody>
                  <a:tcPr>
                    <a:solidFill>
                      <a:srgbClr val="FFF3CD"/>
                    </a:solidFill>
                  </a:tcPr>
                </a:tc>
                <a:tc>
                  <a:txBody>
                    <a:bodyPr lIns="54864" rIns="54864" tIns="18288" bIns="18288" wrap="square" anchor="ctr"/>
                    <a:lstStyle/>
                    <a:p>
                      <a:pPr algn="l"/>
                      <a:r>
                        <a:rPr sz="950" b="0">
                          <a:solidFill>
                            <a:srgbClr val="000000"/>
                          </a:solidFill>
                          <a:latin typeface="Calibri"/>
                        </a:rPr>
                        <a:t>—</a:t>
                      </a:r>
                    </a:p>
                  </a:txBody>
                  <a:tcPr/>
                </a:tc>
              </a:tr>
              <a:tr h="297180">
                <a:tc>
                  <a:txBody>
                    <a:bodyPr lIns="54864" rIns="54864" tIns="18288" bIns="18288" wrap="square" anchor="ctr"/>
                    <a:lstStyle/>
                    <a:p>
                      <a:pPr algn="l"/>
                      <a:r>
                        <a:rPr sz="950" b="1">
                          <a:solidFill>
                            <a:srgbClr val="000000"/>
                          </a:solidFill>
                          <a:latin typeface="Calibri"/>
                        </a:rPr>
                        <a:t>T6.3</a:t>
                      </a:r>
                    </a:p>
                  </a:txBody>
                  <a:tcPr>
                    <a:solidFill>
                      <a:srgbClr val="C8E6C9"/>
                    </a:solidFill>
                  </a:tcPr>
                </a:tc>
                <a:tc>
                  <a:txBody>
                    <a:bodyPr lIns="54864" rIns="54864" tIns="18288" bIns="18288" wrap="square" anchor="ctr"/>
                    <a:lstStyle/>
                    <a:p>
                      <a:pPr algn="l"/>
                      <a:r>
                        <a:rPr sz="950" b="0">
                          <a:solidFill>
                            <a:srgbClr val="000000"/>
                          </a:solidFill>
                          <a:latin typeface="Calibri"/>
                        </a:rPr>
                        <a:t>Cyclic · Sine — final</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14:25</a:t>
                      </a:r>
                    </a:p>
                  </a:txBody>
                  <a:tcPr/>
                </a:tc>
                <a:tc>
                  <a:txBody>
                    <a:bodyPr lIns="54864" rIns="54864" tIns="18288" bIns="18288" wrap="square" anchor="ctr"/>
                    <a:lstStyle/>
                    <a:p>
                      <a:pPr algn="l"/>
                      <a:r>
                        <a:rPr sz="950" b="0">
                          <a:solidFill>
                            <a:srgbClr val="000000"/>
                          </a:solidFill>
                          <a:latin typeface="Calibri"/>
                        </a:rPr>
                        <a:t>138 s, peak error 15 N, and peaks CONVERGE 528 → 500 N</a:t>
                      </a:r>
                    </a:p>
                  </a:txBody>
                  <a:tcPr/>
                </a:tc>
                <a:tc>
                  <a:txBody>
                    <a:bodyPr lIns="54864" rIns="54864" tIns="18288" bIns="18288" wrap="square" anchor="ctr"/>
                    <a:lstStyle/>
                    <a:p>
                      <a:pPr algn="l"/>
                      <a:r>
                        <a:rPr sz="950" b="0">
                          <a:solidFill>
                            <a:srgbClr val="000000"/>
                          </a:solidFill>
                          <a:latin typeface="Calibri"/>
                        </a:rPr>
                        <a:t>187-189 · 204</a:t>
                      </a:r>
                    </a:p>
                  </a:txBody>
                  <a:tcPr/>
                </a:tc>
              </a:tr>
              <a:tr h="297180">
                <a:tc>
                  <a:txBody>
                    <a:bodyPr lIns="54864" rIns="54864" tIns="18288" bIns="18288" wrap="square" anchor="ctr"/>
                    <a:lstStyle/>
                    <a:p>
                      <a:pPr algn="l"/>
                      <a:r>
                        <a:rPr sz="950" b="1">
                          <a:solidFill>
                            <a:srgbClr val="000000"/>
                          </a:solidFill>
                          <a:latin typeface="Calibri"/>
                        </a:rPr>
                        <a:t>T7</a:t>
                      </a:r>
                    </a:p>
                  </a:txBody>
                  <a:tcPr>
                    <a:solidFill>
                      <a:srgbClr val="FFCDD2"/>
                    </a:solidFill>
                  </a:tcPr>
                </a:tc>
                <a:tc>
                  <a:txBody>
                    <a:bodyPr lIns="54864" rIns="54864" tIns="18288" bIns="18288" wrap="square" anchor="ctr"/>
                    <a:lstStyle/>
                    <a:p>
                      <a:pPr algn="l"/>
                      <a:r>
                        <a:rPr sz="950" b="0">
                          <a:solidFill>
                            <a:srgbClr val="000000"/>
                          </a:solidFill>
                          <a:latin typeface="Calibri"/>
                        </a:rPr>
                        <a:t>Staircase → FRACTURE</a:t>
                      </a:r>
                    </a:p>
                  </a:txBody>
                  <a:tcPr/>
                </a:tc>
                <a:tc>
                  <a:txBody>
                    <a:bodyPr lIns="54864" rIns="54864" tIns="18288" bIns="18288" wrap="square" anchor="ctr"/>
                    <a:lstStyle/>
                    <a:p>
                      <a:pPr algn="l"/>
                      <a:r>
                        <a:rPr sz="950" b="0">
                          <a:solidFill>
                            <a:srgbClr val="000000"/>
                          </a:solidFill>
                          <a:latin typeface="Calibri"/>
                        </a:rPr>
                        <a:t>S20 100 %</a:t>
                      </a:r>
                    </a:p>
                  </a:txBody>
                  <a:tcPr/>
                </a:tc>
                <a:tc>
                  <a:txBody>
                    <a:bodyPr lIns="54864" rIns="54864" tIns="18288" bIns="18288" wrap="square" anchor="ctr"/>
                    <a:lstStyle/>
                    <a:p>
                      <a:pPr algn="l"/>
                      <a:r>
                        <a:rPr sz="950" b="0">
                          <a:solidFill>
                            <a:srgbClr val="000000"/>
                          </a:solidFill>
                          <a:latin typeface="Calibri"/>
                        </a:rPr>
                        <a:t>08-09 15:20</a:t>
                      </a:r>
                    </a:p>
                  </a:txBody>
                  <a:tcPr/>
                </a:tc>
                <a:tc>
                  <a:txBody>
                    <a:bodyPr lIns="54864" rIns="54864" tIns="18288" bIns="18288" wrap="square" anchor="ctr"/>
                    <a:lstStyle/>
                    <a:p>
                      <a:pPr algn="l"/>
                      <a:r>
                        <a:rPr sz="950" b="0">
                          <a:solidFill>
                            <a:srgbClr val="000000"/>
                          </a:solidFill>
                          <a:latin typeface="Calibri"/>
                        </a:rPr>
                        <a:t>STALLED at 2355 N (72 % of what was needed) — no fracture, specimen intact</a:t>
                      </a:r>
                    </a:p>
                  </a:txBody>
                  <a:tcPr>
                    <a:solidFill>
                      <a:srgbClr val="FFCDD2"/>
                    </a:solidFill>
                  </a:tcPr>
                </a:tc>
                <a:tc>
                  <a:txBody>
                    <a:bodyPr lIns="54864" rIns="54864" tIns="18288" bIns="18288" wrap="square" anchor="ctr"/>
                    <a:lstStyle/>
                    <a:p>
                      <a:pPr algn="l"/>
                      <a:r>
                        <a:rPr sz="950" b="0">
                          <a:solidFill>
                            <a:srgbClr val="000000"/>
                          </a:solidFill>
                          <a:latin typeface="Calibri"/>
                        </a:rPr>
                        <a:t>199-200</a:t>
                      </a:r>
                    </a:p>
                  </a:txBody>
                  <a:tcPr/>
                </a:tc>
              </a:tr>
              <a:tr h="297180">
                <a:tc>
                  <a:txBody>
                    <a:bodyPr lIns="54864" rIns="54864" tIns="18288" bIns="18288" wrap="square" anchor="ctr"/>
                    <a:lstStyle/>
                    <a:p>
                      <a:pPr algn="l"/>
                      <a:r>
                        <a:rPr sz="950" b="1">
                          <a:solidFill>
                            <a:srgbClr val="000000"/>
                          </a:solidFill>
                          <a:latin typeface="Calibri"/>
                        </a:rPr>
                        <a:t>T7.2</a:t>
                      </a:r>
                    </a:p>
                  </a:txBody>
                  <a:tcPr>
                    <a:solidFill>
                      <a:srgbClr val="C8E6C9"/>
                    </a:solidFill>
                  </a:tcPr>
                </a:tc>
                <a:tc>
                  <a:txBody>
                    <a:bodyPr lIns="54864" rIns="54864" tIns="18288" bIns="18288" wrap="square" anchor="ctr"/>
                    <a:lstStyle/>
                    <a:p>
                      <a:pPr algn="l"/>
                      <a:r>
                        <a:rPr sz="950" b="0">
                          <a:solidFill>
                            <a:srgbClr val="000000"/>
                          </a:solidFill>
                          <a:latin typeface="Calibri"/>
                        </a:rPr>
                        <a:t>Staircase → FRACTURE</a:t>
                      </a:r>
                    </a:p>
                  </a:txBody>
                  <a:tcPr/>
                </a:tc>
                <a:tc>
                  <a:txBody>
                    <a:bodyPr lIns="54864" rIns="54864" tIns="18288" bIns="18288" wrap="square" anchor="ctr"/>
                    <a:lstStyle/>
                    <a:p>
                      <a:pPr algn="l"/>
                      <a:r>
                        <a:rPr sz="950" b="0">
                          <a:solidFill>
                            <a:srgbClr val="000000"/>
                          </a:solidFill>
                          <a:latin typeface="Calibri"/>
                        </a:rPr>
                        <a:t>S18 50 %</a:t>
                      </a:r>
                    </a:p>
                  </a:txBody>
                  <a:tcPr/>
                </a:tc>
                <a:tc>
                  <a:txBody>
                    <a:bodyPr lIns="54864" rIns="54864" tIns="18288" bIns="18288" wrap="square" anchor="ctr"/>
                    <a:lstStyle/>
                    <a:p>
                      <a:pPr algn="l"/>
                      <a:r>
                        <a:rPr sz="950" b="0">
                          <a:solidFill>
                            <a:srgbClr val="000000"/>
                          </a:solidFill>
                          <a:latin typeface="Calibri"/>
                        </a:rPr>
                        <a:t>08-09 15:37</a:t>
                      </a:r>
                    </a:p>
                  </a:txBody>
                  <a:tcPr/>
                </a:tc>
                <a:tc>
                  <a:txBody>
                    <a:bodyPr lIns="54864" rIns="54864" tIns="18288" bIns="18288" wrap="square" anchor="ctr"/>
                    <a:lstStyle/>
                    <a:p>
                      <a:pPr algn="l"/>
                      <a:r>
                        <a:rPr sz="950" b="0">
                          <a:solidFill>
                            <a:srgbClr val="000000"/>
                          </a:solidFill>
                          <a:latin typeface="Calibri"/>
                        </a:rPr>
                        <a:t>yield knee 694 N, TRUE UTS 21.19 MPa, auto-halt 1.36 s</a:t>
                      </a:r>
                    </a:p>
                  </a:txBody>
                  <a:tcPr/>
                </a:tc>
                <a:tc>
                  <a:txBody>
                    <a:bodyPr lIns="54864" rIns="54864" tIns="18288" bIns="18288" wrap="square" anchor="ctr"/>
                    <a:lstStyle/>
                    <a:p>
                      <a:pPr algn="l"/>
                      <a:r>
                        <a:rPr sz="950" b="0">
                          <a:solidFill>
                            <a:srgbClr val="000000"/>
                          </a:solidFill>
                          <a:latin typeface="Calibri"/>
                        </a:rPr>
                        <a:t>197-199 · 206</a:t>
                      </a:r>
                    </a:p>
                  </a:txBody>
                  <a:tcPr/>
                </a:tc>
              </a:tr>
              <a:tr h="297180">
                <a:tc>
                  <a:txBody>
                    <a:bodyPr lIns="54864" rIns="54864" tIns="18288" bIns="18288" wrap="square" anchor="ctr"/>
                    <a:lstStyle/>
                    <a:p>
                      <a:pPr algn="l"/>
                      <a:r>
                        <a:rPr sz="950" b="1">
                          <a:solidFill>
                            <a:srgbClr val="000000"/>
                          </a:solidFill>
                          <a:latin typeface="Calibri"/>
                        </a:rPr>
                        <a:t>T8</a:t>
                      </a:r>
                    </a:p>
                  </a:txBody>
                  <a:tcPr>
                    <a:solidFill>
                      <a:srgbClr val="C8E6C9"/>
                    </a:solidFill>
                  </a:tcPr>
                </a:tc>
                <a:tc>
                  <a:txBody>
                    <a:bodyPr lIns="54864" rIns="54864" tIns="18288" bIns="18288" wrap="square" anchor="ctr"/>
                    <a:lstStyle/>
                    <a:p>
                      <a:pPr algn="l"/>
                      <a:r>
                        <a:rPr sz="950" b="0">
                          <a:solidFill>
                            <a:srgbClr val="000000"/>
                          </a:solidFill>
                          <a:latin typeface="Calibri"/>
                        </a:rPr>
                        <a:t>Progressive cyclic → FRACTURE</a:t>
                      </a:r>
                    </a:p>
                  </a:txBody>
                  <a:tcPr/>
                </a:tc>
                <a:tc>
                  <a:txBody>
                    <a:bodyPr lIns="54864" rIns="54864" tIns="18288" bIns="18288" wrap="square" anchor="ctr"/>
                    <a:lstStyle/>
                    <a:p>
                      <a:pPr algn="l"/>
                      <a:r>
                        <a:rPr sz="950" b="0">
                          <a:solidFill>
                            <a:srgbClr val="000000"/>
                          </a:solidFill>
                          <a:latin typeface="Calibri"/>
                        </a:rPr>
                        <a:t>S21 50 %</a:t>
                      </a:r>
                    </a:p>
                  </a:txBody>
                  <a:tcPr/>
                </a:tc>
                <a:tc>
                  <a:txBody>
                    <a:bodyPr lIns="54864" rIns="54864" tIns="18288" bIns="18288" wrap="square" anchor="ctr"/>
                    <a:lstStyle/>
                    <a:p>
                      <a:pPr algn="l"/>
                      <a:r>
                        <a:rPr sz="950" b="0">
                          <a:solidFill>
                            <a:srgbClr val="000000"/>
                          </a:solidFill>
                          <a:latin typeface="Calibri"/>
                        </a:rPr>
                        <a:t>08-09 17:34</a:t>
                      </a:r>
                    </a:p>
                  </a:txBody>
                  <a:tcPr/>
                </a:tc>
                <a:tc>
                  <a:txBody>
                    <a:bodyPr lIns="54864" rIns="54864" tIns="18288" bIns="18288" wrap="square" anchor="ctr"/>
                    <a:lstStyle/>
                    <a:p>
                      <a:pPr algn="l"/>
                      <a:r>
                        <a:rPr sz="950" b="0">
                          <a:solidFill>
                            <a:srgbClr val="000000"/>
                          </a:solidFill>
                          <a:latin typeface="Calibri"/>
                        </a:rPr>
                        <a:t>8 clean cycles, 25 % stiffness lost, TRUE UTS 21.38 MPa</a:t>
                      </a:r>
                    </a:p>
                  </a:txBody>
                  <a:tcPr/>
                </a:tc>
                <a:tc>
                  <a:txBody>
                    <a:bodyPr lIns="54864" rIns="54864" tIns="18288" bIns="18288" wrap="square" anchor="ctr"/>
                    <a:lstStyle/>
                    <a:p>
                      <a:pPr algn="l"/>
                      <a:r>
                        <a:rPr sz="950" b="0">
                          <a:solidFill>
                            <a:srgbClr val="000000"/>
                          </a:solidFill>
                          <a:latin typeface="Calibri"/>
                        </a:rPr>
                        <a:t>201-206</a:t>
                      </a:r>
                    </a:p>
                  </a:txBody>
                  <a:tcPr/>
                </a:tc>
              </a:tr>
            </a:tbl>
          </a:graphicData>
        </a:graphic>
      </p:graphicFrame>
      <p:sp>
        <p:nvSpPr>
          <p:cNvPr id="7" name="Rectangle 6"/>
          <p:cNvSpPr/>
          <p:nvPr/>
        </p:nvSpPr>
        <p:spPr>
          <a:xfrm>
            <a:off x="411480" y="5138928"/>
            <a:ext cx="11384280" cy="56692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11 runs, 6 modes, 3 specimens.  T6 → T6.2 → T6.3 are three attempts at ONE test, not three tests — each failure diagnosed a real bug.  T7 is the only outright failure, and it is hardware.</a:t>
            </a:r>
          </a:p>
        </p:txBody>
      </p:sp>
      <p:sp>
        <p:nvSpPr>
          <p:cNvPr id="8" name="TextBox 7"/>
          <p:cNvSpPr txBox="1"/>
          <p:nvPr/>
        </p:nvSpPr>
        <p:spPr>
          <a:xfrm>
            <a:off x="457200" y="5797296"/>
            <a:ext cx="11338560" cy="566928"/>
          </a:xfrm>
          <a:prstGeom prst="rect">
            <a:avLst/>
          </a:prstGeom>
          <a:noFill/>
        </p:spPr>
        <p:txBody>
          <a:bodyPr wrap="square" lIns="45720" rIns="45720" tIns="18288" bIns="18288" anchor="t">
            <a:spAutoFit/>
          </a:bodyPr>
          <a:lstStyle/>
          <a:p>
            <a:pPr algn="l"/>
            <a:r>
              <a:rPr sz="1100" b="0" i="0">
                <a:solidFill>
                  <a:srgbClr val="707070"/>
                </a:solidFill>
                <a:latin typeface="Calibri"/>
              </a:rPr>
              <a:t>Specimen economy: S20 (100 %) survived all eight NON-destructive runs (T1–T6.3) AND the failed T7 — a destructive protocol it was never broken by. The two destructive runs that DID succeed each consumed a fresh specimen (S18, S21). T7 came after 2 h 15 min of continuous testing that day, which is the thermal-derating argument on p201.</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CSVs: Software/UTM_PyQt6/8.7/&lt;specimen folder&gt;/. Metrics recomputed by documentation/scripts/sf9_data.py — this table is generated, not typed.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REFERENCE — ENGINEERING vs TRUE vs “CAUCHY” STRAIN</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Three names, only TWO quantities. This page exists because the CSV column is called DIC_Cauchy while it holds ENGINEERING strain — the single most confusing thing in this project.</a:t>
            </a:r>
          </a:p>
        </p:txBody>
      </p:sp>
      <p:pic>
        <p:nvPicPr>
          <p:cNvPr id="6" name="Picture 5" descr="sf9_strain_terms.png"/>
          <p:cNvPicPr>
            <a:picLocks noChangeAspect="1"/>
          </p:cNvPicPr>
          <p:nvPr/>
        </p:nvPicPr>
        <p:blipFill>
          <a:blip r:embed="rId2"/>
          <a:stretch>
            <a:fillRect/>
          </a:stretch>
        </p:blipFill>
        <p:spPr>
          <a:xfrm>
            <a:off x="2156460" y="1389888"/>
            <a:ext cx="7894320" cy="2971800"/>
          </a:xfrm>
          <a:prstGeom prst="rect">
            <a:avLst/>
          </a:prstGeom>
        </p:spPr>
      </p:pic>
      <p:sp>
        <p:nvSpPr>
          <p:cNvPr id="7" name="Rectangle 6"/>
          <p:cNvSpPr/>
          <p:nvPr/>
        </p:nvSpPr>
        <p:spPr>
          <a:xfrm>
            <a:off x="411480" y="4480560"/>
            <a:ext cx="11384280" cy="51206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TRAP:  “Cauchy STRESS” means TRUE stress — but “Cauchy STRAIN” is a synonym for ENGINEERING strain. Putting the two words side by side invites exactly the wrong reading, which is why every axis now says “Engineering strain, DIC”.</a:t>
            </a:r>
          </a:p>
        </p:txBody>
      </p:sp>
      <p:sp>
        <p:nvSpPr>
          <p:cNvPr id="8" name="TextBox 7"/>
          <p:cNvSpPr txBox="1"/>
          <p:nvPr/>
        </p:nvSpPr>
        <p:spPr>
          <a:xfrm>
            <a:off x="457200" y="510235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engineering — and it is about STRESS, not strain</a:t>
            </a:r>
          </a:p>
        </p:txBody>
      </p:sp>
      <p:graphicFrame>
        <p:nvGraphicFramePr>
          <p:cNvPr id="9" name="Table 8"/>
          <p:cNvGraphicFramePr>
            <a:graphicFrameLocks noGrp="1"/>
          </p:cNvGraphicFramePr>
          <p:nvPr/>
        </p:nvGraphicFramePr>
        <p:xfrm>
          <a:off x="457200" y="5431536"/>
          <a:ext cx="5532119" cy="1188720"/>
        </p:xfrm>
        <a:graphic>
          <a:graphicData uri="http://schemas.openxmlformats.org/drawingml/2006/table">
            <a:tbl>
              <a:tblPr firstRow="1" bandRow="1">
                <a:tableStyleId>{5C22544A-7EE6-4342-B048-85BDC9FD1C3A}</a:tableStyleId>
              </a:tblPr>
              <a:tblGrid>
                <a:gridCol w="2663613"/>
                <a:gridCol w="1639146"/>
                <a:gridCol w="12293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Needs</a:t>
                      </a:r>
                    </a:p>
                  </a:txBody>
                  <a:tcPr>
                    <a:solidFill>
                      <a:srgbClr val="143D2F"/>
                    </a:solidFill>
                  </a:tcPr>
                </a:tc>
                <a:tc>
                  <a:txBody>
                    <a:bodyPr lIns="54864" rIns="54864" tIns="18288" bIns="18288" wrap="square" anchor="ctr"/>
                    <a:lstStyle/>
                    <a:p>
                      <a:pPr algn="l"/>
                      <a:r>
                        <a:rPr sz="950" b="1">
                          <a:solidFill>
                            <a:srgbClr val="FFFFFF"/>
                          </a:solidFill>
                          <a:latin typeface="Calibri"/>
                        </a:rPr>
                        <a:t>Can we?</a:t>
                      </a:r>
                    </a:p>
                  </a:txBody>
                  <a:tcPr>
                    <a:solidFill>
                      <a:srgbClr val="143D2F"/>
                    </a:solidFill>
                  </a:tcPr>
                </a:tc>
              </a:tr>
              <a:tr h="237744">
                <a:tc>
                  <a:txBody>
                    <a:bodyPr lIns="54864" rIns="54864" tIns="18288" bIns="18288" wrap="square" anchor="ctr"/>
                    <a:lstStyle/>
                    <a:p>
                      <a:pPr algn="l"/>
                      <a:r>
                        <a:rPr sz="900" b="0">
                          <a:solidFill>
                            <a:srgbClr val="000000"/>
                          </a:solidFill>
                          <a:latin typeface="Calibri"/>
                        </a:rPr>
                        <a:t>Engineering strain  ΔL/L₀</a:t>
                      </a:r>
                    </a:p>
                  </a:txBody>
                  <a:tcPr/>
                </a:tc>
                <a:tc>
                  <a:txBody>
                    <a:bodyPr lIns="54864" rIns="54864" tIns="18288" bIns="18288" wrap="square" anchor="ctr"/>
                    <a:lstStyle/>
                    <a:p>
                      <a:pPr algn="l"/>
                      <a:r>
                        <a:rPr sz="900" b="0">
                          <a:solidFill>
                            <a:srgbClr val="000000"/>
                          </a:solidFill>
                          <a:latin typeface="Calibri"/>
                        </a:rPr>
                        <a:t>length only</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True strain  ln(L/L₀)</a:t>
                      </a:r>
                    </a:p>
                  </a:txBody>
                  <a:tcPr/>
                </a:tc>
                <a:tc>
                  <a:txBody>
                    <a:bodyPr lIns="54864" rIns="54864" tIns="18288" bIns="18288" wrap="square" anchor="ctr"/>
                    <a:lstStyle/>
                    <a:p>
                      <a:pPr algn="l"/>
                      <a:r>
                        <a:rPr sz="900" b="0">
                          <a:solidFill>
                            <a:srgbClr val="000000"/>
                          </a:solidFill>
                          <a:latin typeface="Calibri"/>
                        </a:rPr>
                        <a:t>length only</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Engineering stress  F/A₀</a:t>
                      </a:r>
                    </a:p>
                  </a:txBody>
                  <a:tcPr/>
                </a:tc>
                <a:tc>
                  <a:txBody>
                    <a:bodyPr lIns="54864" rIns="54864" tIns="18288" bIns="18288" wrap="square" anchor="ctr"/>
                    <a:lstStyle/>
                    <a:p>
                      <a:pPr algn="l"/>
                      <a:r>
                        <a:rPr sz="900" b="0">
                          <a:solidFill>
                            <a:srgbClr val="000000"/>
                          </a:solidFill>
                          <a:latin typeface="Calibri"/>
                        </a:rPr>
                        <a:t>original area</a:t>
                      </a:r>
                    </a:p>
                  </a:txBody>
                  <a:tcPr/>
                </a:tc>
                <a:tc>
                  <a:txBody>
                    <a:bodyPr lIns="54864" rIns="54864" tIns="18288" bIns="18288" wrap="square" anchor="ctr"/>
                    <a:lstStyle/>
                    <a:p>
                      <a:pPr algn="l"/>
                      <a:r>
                        <a:rPr sz="900" b="0">
                          <a:solidFill>
                            <a:srgbClr val="000000"/>
                          </a:solidFill>
                          <a:latin typeface="Calibri"/>
                        </a:rPr>
                        <a:t>YES</a:t>
                      </a:r>
                    </a:p>
                  </a:txBody>
                  <a:tcPr/>
                </a:tc>
              </a:tr>
              <a:tr h="237744">
                <a:tc>
                  <a:txBody>
                    <a:bodyPr lIns="54864" rIns="54864" tIns="18288" bIns="18288" wrap="square" anchor="ctr"/>
                    <a:lstStyle/>
                    <a:p>
                      <a:pPr algn="l"/>
                      <a:r>
                        <a:rPr sz="900" b="0">
                          <a:solidFill>
                            <a:srgbClr val="000000"/>
                          </a:solidFill>
                          <a:latin typeface="Calibri"/>
                        </a:rPr>
                        <a:t>True stress  F/A_current</a:t>
                      </a:r>
                    </a:p>
                  </a:txBody>
                  <a:tcPr>
                    <a:solidFill>
                      <a:srgbClr val="FFCDD2"/>
                    </a:solidFill>
                  </a:tcPr>
                </a:tc>
                <a:tc>
                  <a:txBody>
                    <a:bodyPr lIns="54864" rIns="54864" tIns="18288" bIns="18288" wrap="square" anchor="ctr"/>
                    <a:lstStyle/>
                    <a:p>
                      <a:pPr algn="l"/>
                      <a:r>
                        <a:rPr sz="900" b="0">
                          <a:solidFill>
                            <a:srgbClr val="000000"/>
                          </a:solidFill>
                          <a:latin typeface="Calibri"/>
                        </a:rPr>
                        <a:t>CURRENT area</a:t>
                      </a:r>
                    </a:p>
                  </a:txBody>
                  <a:tcPr>
                    <a:solidFill>
                      <a:srgbClr val="FFCDD2"/>
                    </a:solidFill>
                  </a:tcPr>
                </a:tc>
                <a:tc>
                  <a:txBody>
                    <a:bodyPr lIns="54864" rIns="54864" tIns="18288" bIns="18288" wrap="square" anchor="ctr"/>
                    <a:lstStyle/>
                    <a:p>
                      <a:pPr algn="l"/>
                      <a:r>
                        <a:rPr sz="900" b="1">
                          <a:solidFill>
                            <a:srgbClr val="000000"/>
                          </a:solidFill>
                          <a:latin typeface="Calibri"/>
                        </a:rPr>
                        <a:t>NO — not yet</a:t>
                      </a:r>
                    </a:p>
                  </a:txBody>
                  <a:tcPr>
                    <a:solidFill>
                      <a:srgbClr val="FFCDD2"/>
                    </a:solidFill>
                  </a:tcPr>
                </a:tc>
              </a:tr>
            </a:tbl>
          </a:graphicData>
        </a:graphic>
      </p:graphicFrame>
      <p:sp>
        <p:nvSpPr>
          <p:cNvPr id="10" name="TextBox 9"/>
          <p:cNvSpPr txBox="1"/>
          <p:nvPr/>
        </p:nvSpPr>
        <p:spPr>
          <a:xfrm>
            <a:off x="6263640" y="5102352"/>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the choice is forced</a:t>
            </a:r>
          </a:p>
        </p:txBody>
      </p:sp>
      <p:sp>
        <p:nvSpPr>
          <p:cNvPr id="11" name="TextBox 10"/>
          <p:cNvSpPr txBox="1"/>
          <p:nvPr/>
        </p:nvSpPr>
        <p:spPr>
          <a:xfrm>
            <a:off x="6263640" y="5413248"/>
            <a:ext cx="5532120" cy="1143000"/>
          </a:xfrm>
          <a:prstGeom prst="rect">
            <a:avLst/>
          </a:prstGeom>
          <a:noFill/>
        </p:spPr>
        <p:txBody>
          <a:bodyPr wrap="square" lIns="45720" rIns="45720" tIns="18288" bIns="18288" anchor="t">
            <a:spAutoFit/>
          </a:bodyPr>
          <a:lstStyle/>
          <a:p>
            <a:pPr algn="l"/>
            <a:r>
              <a:rPr sz="1000" b="0" i="0">
                <a:solidFill>
                  <a:srgbClr val="000000"/>
                </a:solidFill>
                <a:latin typeface="Calibri"/>
              </a:rPr>
              <a:t>•  A stress–strain curve must be INTERNALLY CONSISTENT — engineering with engineering, or true with true. Mixing them is simply wrong.
•  True stress needs the current cross-section ⇒ Poisson, which the narrow gauge blocks (p187).
•  So engineering + engineering is the only defensible pairing available today.
•  ISO 527 and the add:north TDS also report engineering — which is what keeps our k-factors comparable (p208).</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In code: cauchy = (L−L₀)/L₀ and true_strain = ln(L/L₀), both written to every CSV. Verified on real data: DIC_True always equals ln(1 + DIC_Cauchy), so the maths was right — only the NAME was misleading. The column name is kept for backward compatibility with every past test.</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REFERENCE — WOULD TRUE STRESS CHANGE OUR ANSWERS?</a:t>
            </a:r>
          </a:p>
        </p:txBody>
      </p:sp>
      <p:sp>
        <p:nvSpPr>
          <p:cNvPr id="5" name="TextBox 4"/>
          <p:cNvSpPr txBox="1"/>
          <p:nvPr/>
        </p:nvSpPr>
        <p:spPr>
          <a:xfrm>
            <a:off x="457200" y="1060704"/>
            <a:ext cx="11338560" cy="310896"/>
          </a:xfrm>
          <a:prstGeom prst="rect">
            <a:avLst/>
          </a:prstGeom>
          <a:noFill/>
        </p:spPr>
        <p:txBody>
          <a:bodyPr wrap="square" lIns="45720" rIns="45720" tIns="18288" bIns="18288" anchor="t">
            <a:spAutoFit/>
          </a:bodyPr>
          <a:lstStyle/>
          <a:p>
            <a:pPr algn="l"/>
            <a:r>
              <a:rPr sz="1150" b="0" i="1">
                <a:solidFill>
                  <a:srgbClr val="707070"/>
                </a:solidFill>
                <a:latin typeface="Calibri"/>
              </a:rPr>
              <a:t>Worth asking before building the edge-tracking rig on p187. Short answer: it is a ~3 % refinement on the numbers — but it buys two things nothing else can.</a:t>
            </a:r>
          </a:p>
        </p:txBody>
      </p:sp>
      <p:pic>
        <p:nvPicPr>
          <p:cNvPr id="6" name="Picture 5" descr="sf9_true_stress.png"/>
          <p:cNvPicPr>
            <a:picLocks noChangeAspect="1"/>
          </p:cNvPicPr>
          <p:nvPr/>
        </p:nvPicPr>
        <p:blipFill>
          <a:blip r:embed="rId2"/>
          <a:stretch>
            <a:fillRect/>
          </a:stretch>
        </p:blipFill>
        <p:spPr>
          <a:xfrm>
            <a:off x="1174407" y="1389888"/>
            <a:ext cx="9858424" cy="2971800"/>
          </a:xfrm>
          <a:prstGeom prst="rect">
            <a:avLst/>
          </a:prstGeom>
        </p:spPr>
      </p:pic>
      <p:graphicFrame>
        <p:nvGraphicFramePr>
          <p:cNvPr id="7" name="Table 6"/>
          <p:cNvGraphicFramePr>
            <a:graphicFrameLocks noGrp="1"/>
          </p:cNvGraphicFramePr>
          <p:nvPr/>
        </p:nvGraphicFramePr>
        <p:xfrm>
          <a:off x="411480" y="4443984"/>
          <a:ext cx="11384277" cy="1188720"/>
        </p:xfrm>
        <a:graphic>
          <a:graphicData uri="http://schemas.openxmlformats.org/drawingml/2006/table">
            <a:tbl>
              <a:tblPr firstRow="1" bandRow="1">
                <a:tableStyleId>{5C22544A-7EE6-4342-B048-85BDC9FD1C3A}</a:tableStyleId>
              </a:tblPr>
              <a:tblGrid>
                <a:gridCol w="4107729"/>
                <a:gridCol w="1291000"/>
                <a:gridCol w="1877819"/>
                <a:gridCol w="1877819"/>
                <a:gridCol w="2229910"/>
              </a:tblGrid>
              <a:tr h="237744">
                <a:tc>
                  <a:txBody>
                    <a:bodyPr lIns="54864" rIns="54864" tIns="18288" bIns="18288" wrap="square" anchor="ctr"/>
                    <a:lstStyle/>
                    <a:p>
                      <a:pPr algn="l"/>
                      <a:r>
                        <a:rPr sz="950" b="1">
                          <a:solidFill>
                            <a:srgbClr val="FFFFFF"/>
                          </a:solidFill>
                          <a:latin typeface="Calibri"/>
                        </a:rPr>
                        <a:t>Engineering strain</a:t>
                      </a:r>
                    </a:p>
                  </a:txBody>
                  <a:tcPr>
                    <a:solidFill>
                      <a:srgbClr val="143D2F"/>
                    </a:solidFill>
                  </a:tcPr>
                </a:tc>
                <a:tc>
                  <a:txBody>
                    <a:bodyPr lIns="54864" rIns="54864" tIns="18288" bIns="18288" wrap="square" anchor="ctr"/>
                    <a:lstStyle/>
                    <a:p>
                      <a:pPr algn="l"/>
                      <a:r>
                        <a:rPr sz="950" b="1">
                          <a:solidFill>
                            <a:srgbClr val="FFFFFF"/>
                          </a:solidFill>
                          <a:latin typeface="Calibri"/>
                        </a:rPr>
                        <a:t>1 %</a:t>
                      </a:r>
                    </a:p>
                  </a:txBody>
                  <a:tcPr>
                    <a:solidFill>
                      <a:srgbClr val="143D2F"/>
                    </a:solidFill>
                  </a:tcPr>
                </a:tc>
                <a:tc>
                  <a:txBody>
                    <a:bodyPr lIns="54864" rIns="54864" tIns="18288" bIns="18288" wrap="square" anchor="ctr"/>
                    <a:lstStyle/>
                    <a:p>
                      <a:pPr algn="l"/>
                      <a:r>
                        <a:rPr sz="950" b="1">
                          <a:solidFill>
                            <a:srgbClr val="FFFFFF"/>
                          </a:solidFill>
                          <a:latin typeface="Calibri"/>
                        </a:rPr>
                        <a:t>3.3 %  (T8 ε_f)</a:t>
                      </a:r>
                    </a:p>
                  </a:txBody>
                  <a:tcPr>
                    <a:solidFill>
                      <a:srgbClr val="143D2F"/>
                    </a:solidFill>
                  </a:tcPr>
                </a:tc>
                <a:tc>
                  <a:txBody>
                    <a:bodyPr lIns="54864" rIns="54864" tIns="18288" bIns="18288" wrap="square" anchor="ctr"/>
                    <a:lstStyle/>
                    <a:p>
                      <a:pPr algn="l"/>
                      <a:r>
                        <a:rPr sz="950" b="1">
                          <a:solidFill>
                            <a:srgbClr val="FFFFFF"/>
                          </a:solidFill>
                          <a:latin typeface="Calibri"/>
                        </a:rPr>
                        <a:t>7 %  (V6 worst)</a:t>
                      </a:r>
                    </a:p>
                  </a:txBody>
                  <a:tcPr>
                    <a:solidFill>
                      <a:srgbClr val="143D2F"/>
                    </a:solidFill>
                  </a:tcPr>
                </a:tc>
                <a:tc>
                  <a:txBody>
                    <a:bodyPr lIns="54864" rIns="54864" tIns="18288" bIns="18288" wrap="square" anchor="ctr"/>
                    <a:lstStyle/>
                    <a:p>
                      <a:pPr algn="l"/>
                      <a:r>
                        <a:rPr sz="950" b="1">
                          <a:solidFill>
                            <a:srgbClr val="FFFFFF"/>
                          </a:solidFill>
                          <a:latin typeface="Calibri"/>
                        </a:rPr>
                        <a:t>20 %  (a ductile metal)</a:t>
                      </a:r>
                    </a:p>
                  </a:txBody>
                  <a:tcPr>
                    <a:solidFill>
                      <a:srgbClr val="143D2F"/>
                    </a:solidFill>
                  </a:tcPr>
                </a:tc>
              </a:tr>
              <a:tr h="237744">
                <a:tc>
                  <a:txBody>
                    <a:bodyPr lIns="54864" rIns="54864" tIns="18288" bIns="18288" wrap="square" anchor="ctr"/>
                    <a:lstStyle/>
                    <a:p>
                      <a:pPr algn="l"/>
                      <a:r>
                        <a:rPr sz="900" b="0">
                          <a:solidFill>
                            <a:srgbClr val="000000"/>
                          </a:solidFill>
                          <a:latin typeface="Calibri"/>
                        </a:rPr>
                        <a:t>True stress higher by — elastic, ν = 0.35</a:t>
                      </a:r>
                    </a:p>
                  </a:txBody>
                  <a:tcPr/>
                </a:tc>
                <a:tc>
                  <a:txBody>
                    <a:bodyPr lIns="54864" rIns="54864" tIns="18288" bIns="18288" wrap="square" anchor="ctr"/>
                    <a:lstStyle/>
                    <a:p>
                      <a:pPr algn="l"/>
                      <a:r>
                        <a:rPr sz="900" b="0">
                          <a:solidFill>
                            <a:srgbClr val="000000"/>
                          </a:solidFill>
                          <a:latin typeface="Calibri"/>
                        </a:rPr>
                        <a:t>+0.7 %</a:t>
                      </a:r>
                    </a:p>
                  </a:txBody>
                  <a:tcPr/>
                </a:tc>
                <a:tc>
                  <a:txBody>
                    <a:bodyPr lIns="54864" rIns="54864" tIns="18288" bIns="18288" wrap="square" anchor="ctr"/>
                    <a:lstStyle/>
                    <a:p>
                      <a:pPr algn="l"/>
                      <a:r>
                        <a:rPr sz="900" b="1">
                          <a:solidFill>
                            <a:srgbClr val="000000"/>
                          </a:solidFill>
                          <a:latin typeface="Calibri"/>
                        </a:rPr>
                        <a:t>+2.4 %</a:t>
                      </a:r>
                    </a:p>
                  </a:txBody>
                  <a:tcPr>
                    <a:solidFill>
                      <a:srgbClr val="C8E6C9"/>
                    </a:solidFill>
                  </a:tcPr>
                </a:tc>
                <a:tc>
                  <a:txBody>
                    <a:bodyPr lIns="54864" rIns="54864" tIns="18288" bIns="18288" wrap="square" anchor="ctr"/>
                    <a:lstStyle/>
                    <a:p>
                      <a:pPr algn="l"/>
                      <a:r>
                        <a:rPr sz="900" b="0">
                          <a:solidFill>
                            <a:srgbClr val="000000"/>
                          </a:solidFill>
                          <a:latin typeface="Calibri"/>
                        </a:rPr>
                        <a:t>+5.1 %</a:t>
                      </a:r>
                    </a:p>
                  </a:txBody>
                  <a:tcPr/>
                </a:tc>
                <a:tc>
                  <a:txBody>
                    <a:bodyPr lIns="54864" rIns="54864" tIns="18288" bIns="18288" wrap="square" anchor="ctr"/>
                    <a:lstStyle/>
                    <a:p>
                      <a:pPr algn="l"/>
                      <a:r>
                        <a:rPr sz="900" b="0">
                          <a:solidFill>
                            <a:srgbClr val="000000"/>
                          </a:solidFill>
                          <a:latin typeface="Calibri"/>
                        </a:rPr>
                        <a:t>+15.6 %</a:t>
                      </a:r>
                    </a:p>
                  </a:txBody>
                  <a:tcPr/>
                </a:tc>
              </a:tr>
              <a:tr h="237744">
                <a:tc>
                  <a:txBody>
                    <a:bodyPr lIns="54864" rIns="54864" tIns="18288" bIns="18288" wrap="square" anchor="ctr"/>
                    <a:lstStyle/>
                    <a:p>
                      <a:pPr algn="l"/>
                      <a:r>
                        <a:rPr sz="900" b="0">
                          <a:solidFill>
                            <a:srgbClr val="000000"/>
                          </a:solidFill>
                          <a:latin typeface="Calibri"/>
                        </a:rPr>
                        <a:t>True stress higher by — volume conserved</a:t>
                      </a:r>
                    </a:p>
                  </a:txBody>
                  <a:tcPr/>
                </a:tc>
                <a:tc>
                  <a:txBody>
                    <a:bodyPr lIns="54864" rIns="54864" tIns="18288" bIns="18288" wrap="square" anchor="ctr"/>
                    <a:lstStyle/>
                    <a:p>
                      <a:pPr algn="l"/>
                      <a:r>
                        <a:rPr sz="900" b="0">
                          <a:solidFill>
                            <a:srgbClr val="000000"/>
                          </a:solidFill>
                          <a:latin typeface="Calibri"/>
                        </a:rPr>
                        <a:t>+1.0 %</a:t>
                      </a:r>
                    </a:p>
                  </a:txBody>
                  <a:tcPr/>
                </a:tc>
                <a:tc>
                  <a:txBody>
                    <a:bodyPr lIns="54864" rIns="54864" tIns="18288" bIns="18288" wrap="square" anchor="ctr"/>
                    <a:lstStyle/>
                    <a:p>
                      <a:pPr algn="l"/>
                      <a:r>
                        <a:rPr sz="900" b="1">
                          <a:solidFill>
                            <a:srgbClr val="000000"/>
                          </a:solidFill>
                          <a:latin typeface="Calibri"/>
                        </a:rPr>
                        <a:t>+3.3 %</a:t>
                      </a:r>
                    </a:p>
                  </a:txBody>
                  <a:tcPr>
                    <a:solidFill>
                      <a:srgbClr val="C8E6C9"/>
                    </a:solidFill>
                  </a:tcPr>
                </a:tc>
                <a:tc>
                  <a:txBody>
                    <a:bodyPr lIns="54864" rIns="54864" tIns="18288" bIns="18288" wrap="square" anchor="ctr"/>
                    <a:lstStyle/>
                    <a:p>
                      <a:pPr algn="l"/>
                      <a:r>
                        <a:rPr sz="900" b="0">
                          <a:solidFill>
                            <a:srgbClr val="000000"/>
                          </a:solidFill>
                          <a:latin typeface="Calibri"/>
                        </a:rPr>
                        <a:t>+7.0 %</a:t>
                      </a:r>
                    </a:p>
                  </a:txBody>
                  <a:tcPr/>
                </a:tc>
                <a:tc>
                  <a:txBody>
                    <a:bodyPr lIns="54864" rIns="54864" tIns="18288" bIns="18288" wrap="square" anchor="ctr"/>
                    <a:lstStyle/>
                    <a:p>
                      <a:pPr algn="l"/>
                      <a:r>
                        <a:rPr sz="900" b="0">
                          <a:solidFill>
                            <a:srgbClr val="000000"/>
                          </a:solidFill>
                          <a:latin typeface="Calibri"/>
                        </a:rPr>
                        <a:t>+20.0 %</a:t>
                      </a:r>
                    </a:p>
                  </a:txBody>
                  <a:tcPr/>
                </a:tc>
              </a:tr>
              <a:tr h="237744">
                <a:tc>
                  <a:txBody>
                    <a:bodyPr lIns="54864" rIns="54864" tIns="18288" bIns="18288" wrap="square" anchor="ctr"/>
                    <a:lstStyle/>
                    <a:p>
                      <a:pPr algn="l"/>
                      <a:r>
                        <a:rPr sz="900" b="0">
                          <a:solidFill>
                            <a:srgbClr val="000000"/>
                          </a:solidFill>
                          <a:latin typeface="Calibri"/>
                        </a:rPr>
                        <a:t>Our 21.38 MPa would become</a:t>
                      </a:r>
                    </a:p>
                  </a:txBody>
                  <a:tcPr/>
                </a:tc>
                <a:tc>
                  <a:txBody>
                    <a:bodyPr lIns="54864" rIns="54864" tIns="18288" bIns="18288" wrap="square" anchor="ctr"/>
                    <a:lstStyle/>
                    <a:p>
                      <a:pPr algn="l"/>
                      <a:r>
                        <a:rPr sz="900" b="0">
                          <a:solidFill>
                            <a:srgbClr val="000000"/>
                          </a:solidFill>
                          <a:latin typeface="Calibri"/>
                        </a:rPr>
                        <a:t>21.6</a:t>
                      </a:r>
                    </a:p>
                  </a:txBody>
                  <a:tcPr/>
                </a:tc>
                <a:tc>
                  <a:txBody>
                    <a:bodyPr lIns="54864" rIns="54864" tIns="18288" bIns="18288" wrap="square" anchor="ctr"/>
                    <a:lstStyle/>
                    <a:p>
                      <a:pPr algn="l"/>
                      <a:r>
                        <a:rPr sz="900" b="1">
                          <a:solidFill>
                            <a:srgbClr val="000000"/>
                          </a:solidFill>
                          <a:latin typeface="Calibri"/>
                        </a:rPr>
                        <a:t>21.9 – 22.1</a:t>
                      </a:r>
                    </a:p>
                  </a:txBody>
                  <a:tcPr>
                    <a:solidFill>
                      <a:srgbClr val="C8E6C9"/>
                    </a:solidFill>
                  </a:tcPr>
                </a:tc>
                <a:tc>
                  <a:txBody>
                    <a:bodyPr lIns="54864" rIns="54864" tIns="18288" bIns="18288" wrap="square" anchor="ctr"/>
                    <a:lstStyle/>
                    <a:p>
                      <a:pPr algn="l"/>
                      <a:r>
                        <a:rPr sz="900" b="0">
                          <a:solidFill>
                            <a:srgbClr val="000000"/>
                          </a:solidFill>
                          <a:latin typeface="Calibri"/>
                        </a:rPr>
                        <a:t>22.5 – 22.9</a:t>
                      </a:r>
                    </a:p>
                  </a:txBody>
                  <a:tcPr/>
                </a:tc>
                <a:tc>
                  <a:txBody>
                    <a:bodyPr lIns="54864" rIns="54864" tIns="18288" bIns="18288" wrap="square" anchor="ctr"/>
                    <a:lstStyle/>
                    <a:p>
                      <a:pPr algn="l"/>
                      <a:r>
                        <a:rPr sz="900" b="0">
                          <a:solidFill>
                            <a:srgbClr val="000000"/>
                          </a:solidFill>
                          <a:latin typeface="Calibri"/>
                        </a:rPr>
                        <a:t>—</a:t>
                      </a:r>
                    </a:p>
                  </a:txBody>
                  <a:tcPr/>
                </a:tc>
              </a:tr>
              <a:tr h="237744">
                <a:tc>
                  <a:txBody>
                    <a:bodyPr lIns="54864" rIns="54864" tIns="18288" bIns="18288" wrap="square" anchor="ctr"/>
                    <a:lstStyle/>
                    <a:p>
                      <a:pPr algn="l"/>
                      <a:r>
                        <a:rPr sz="900" b="0">
                          <a:solidFill>
                            <a:srgbClr val="000000"/>
                          </a:solidFill>
                          <a:latin typeface="Calibri"/>
                        </a:rPr>
                        <a:t>Engineering vs TRUE STRAIN differ by</a:t>
                      </a:r>
                    </a:p>
                  </a:txBody>
                  <a:tcPr/>
                </a:tc>
                <a:tc>
                  <a:txBody>
                    <a:bodyPr lIns="54864" rIns="54864" tIns="18288" bIns="18288" wrap="square" anchor="ctr"/>
                    <a:lstStyle/>
                    <a:p>
                      <a:pPr algn="l"/>
                      <a:r>
                        <a:rPr sz="900" b="0">
                          <a:solidFill>
                            <a:srgbClr val="000000"/>
                          </a:solidFill>
                          <a:latin typeface="Calibri"/>
                        </a:rPr>
                        <a:t>0.5 %</a:t>
                      </a:r>
                    </a:p>
                  </a:txBody>
                  <a:tcPr/>
                </a:tc>
                <a:tc>
                  <a:txBody>
                    <a:bodyPr lIns="54864" rIns="54864" tIns="18288" bIns="18288" wrap="square" anchor="ctr"/>
                    <a:lstStyle/>
                    <a:p>
                      <a:pPr algn="l"/>
                      <a:r>
                        <a:rPr sz="900" b="1">
                          <a:solidFill>
                            <a:srgbClr val="000000"/>
                          </a:solidFill>
                          <a:latin typeface="Calibri"/>
                        </a:rPr>
                        <a:t>1.6 %</a:t>
                      </a:r>
                    </a:p>
                  </a:txBody>
                  <a:tcPr>
                    <a:solidFill>
                      <a:srgbClr val="C8E6C9"/>
                    </a:solidFill>
                  </a:tcPr>
                </a:tc>
                <a:tc>
                  <a:txBody>
                    <a:bodyPr lIns="54864" rIns="54864" tIns="18288" bIns="18288" wrap="square" anchor="ctr"/>
                    <a:lstStyle/>
                    <a:p>
                      <a:pPr algn="l"/>
                      <a:r>
                        <a:rPr sz="900" b="0">
                          <a:solidFill>
                            <a:srgbClr val="000000"/>
                          </a:solidFill>
                          <a:latin typeface="Calibri"/>
                        </a:rPr>
                        <a:t>3.3 %</a:t>
                      </a:r>
                    </a:p>
                  </a:txBody>
                  <a:tcPr/>
                </a:tc>
                <a:tc>
                  <a:txBody>
                    <a:bodyPr lIns="54864" rIns="54864" tIns="18288" bIns="18288" wrap="square" anchor="ctr"/>
                    <a:lstStyle/>
                    <a:p>
                      <a:pPr algn="l"/>
                      <a:r>
                        <a:rPr sz="900" b="0">
                          <a:solidFill>
                            <a:srgbClr val="000000"/>
                          </a:solidFill>
                          <a:latin typeface="Calibri"/>
                        </a:rPr>
                        <a:t>10.7 %</a:t>
                      </a:r>
                    </a:p>
                  </a:txBody>
                  <a:tcPr/>
                </a:tc>
              </a:tr>
            </a:tbl>
          </a:graphicData>
        </a:graphic>
      </p:graphicFrame>
      <p:sp>
        <p:nvSpPr>
          <p:cNvPr id="8" name="Rectangle 7"/>
          <p:cNvSpPr/>
          <p:nvPr/>
        </p:nvSpPr>
        <p:spPr>
          <a:xfrm>
            <a:off x="411480" y="5705856"/>
            <a:ext cx="1138428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So DO IT — but not for the 3 %. Do it for (1) POISSON'S RATIO, a material property we cannot measure at all today, and (2) telling whether the post-peak drop is real softening or just thinning: S16 falls 47.4 → 42 MPa, and volume-conserved true stress is still only 44.5.</a:t>
            </a:r>
          </a:p>
        </p:txBody>
      </p:sp>
      <p:sp>
        <p:nvSpPr>
          <p:cNvPr id="9" name="Rectangle 8"/>
          <p:cNvSpPr/>
          <p:nvPr/>
        </p:nvSpPr>
        <p:spPr>
          <a:xfrm>
            <a:off x="411480" y="6217920"/>
            <a:ext cx="11384280" cy="402336"/>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 DESIGN FIX APPLIED on p187 (2026-09-01): the spec said “average width over 100s of rows”. Necking is LOCAL, so the mean under-corrects exactly where it matters. It now reads MEAN while the width is uniform (ν), MINIMUM band once necking starts (area). Fixed before building, which is the cheap end.</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CYCLIC — RE-RUN  [T6.4 · T6.5] — OUR RESULTS</a:t>
            </a:r>
          </a:p>
        </p:txBody>
      </p:sp>
      <p:sp>
        <p:nvSpPr>
          <p:cNvPr id="5" name="Rectangle 4"/>
          <p:cNvSpPr/>
          <p:nvPr/>
        </p:nvSpPr>
        <p:spPr>
          <a:xfrm>
            <a:off x="411480" y="5888736"/>
            <a:ext cx="1138428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STILL MISSING — a DAMAGE CURVE. T6.4 lost DIC mid-run and T6.5 ran on the already-cycled specimen, and E RECOVERED over the 40 min between them (cycle 3 = 1.52 → cycle 8 = 1.54 GPa), so recoverable softening cannot be separated from permanent damage. D = 1 − Eᵢ/E₀ is NOT computable here.</a:t>
            </a:r>
          </a:p>
        </p:txBody>
      </p:sp>
      <p:pic>
        <p:nvPicPr>
          <p:cNvPr id="6" name="Picture 5" descr="sf9_cyclic_t65.png"/>
          <p:cNvPicPr>
            <a:picLocks noChangeAspect="1"/>
          </p:cNvPicPr>
          <p:nvPr/>
        </p:nvPicPr>
        <p:blipFill>
          <a:blip r:embed="rId2"/>
          <a:stretch>
            <a:fillRect/>
          </a:stretch>
        </p:blipFill>
        <p:spPr>
          <a:xfrm>
            <a:off x="2516478" y="1133856"/>
            <a:ext cx="7174283" cy="2267712"/>
          </a:xfrm>
          <a:prstGeom prst="rect">
            <a:avLst/>
          </a:prstGeom>
        </p:spPr>
      </p:pic>
      <p:sp>
        <p:nvSpPr>
          <p:cNvPr id="7" name="Rounded Rectangle 6"/>
          <p:cNvSpPr/>
          <p:nvPr/>
        </p:nvSpPr>
        <p:spPr>
          <a:xfrm>
            <a:off x="411480"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 3.4 N</a:t>
            </a:r>
          </a:p>
          <a:p>
            <a:pPr algn="ctr"/>
            <a:r>
              <a:rPr sz="950">
                <a:solidFill>
                  <a:srgbClr val="000000"/>
                </a:solidFill>
                <a:latin typeface="Calibri"/>
              </a:rPr>
              <a:t>Peak error</a:t>
            </a:r>
          </a:p>
        </p:txBody>
      </p:sp>
      <p:sp>
        <p:nvSpPr>
          <p:cNvPr id="8" name="Rounded Rectangle 7"/>
          <p:cNvSpPr/>
          <p:nvPr/>
        </p:nvSpPr>
        <p:spPr>
          <a:xfrm>
            <a:off x="2688336"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12.3 px  (was 3.6)</a:t>
            </a:r>
          </a:p>
          <a:p>
            <a:pPr algn="ctr"/>
            <a:r>
              <a:rPr sz="950">
                <a:solidFill>
                  <a:srgbClr val="000000"/>
                </a:solidFill>
                <a:latin typeface="Calibri"/>
              </a:rPr>
              <a:t>Strain excursion</a:t>
            </a:r>
          </a:p>
        </p:txBody>
      </p:sp>
      <p:sp>
        <p:nvSpPr>
          <p:cNvPr id="9" name="Rounded Rectangle 8"/>
          <p:cNvSpPr/>
          <p:nvPr/>
        </p:nvSpPr>
        <p:spPr>
          <a:xfrm>
            <a:off x="4965192"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14.2 → 10.9 kJ/m³</a:t>
            </a:r>
          </a:p>
          <a:p>
            <a:pPr algn="ctr"/>
            <a:r>
              <a:rPr sz="950">
                <a:solidFill>
                  <a:srgbClr val="000000"/>
                </a:solidFill>
                <a:latin typeface="Calibri"/>
              </a:rPr>
              <a:t>Loop area</a:t>
            </a:r>
          </a:p>
        </p:txBody>
      </p:sp>
      <p:sp>
        <p:nvSpPr>
          <p:cNvPr id="10" name="Rounded Rectangle 9"/>
          <p:cNvSpPr/>
          <p:nvPr/>
        </p:nvSpPr>
        <p:spPr>
          <a:xfrm>
            <a:off x="7242047"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1.49 → 1.43 GPa</a:t>
            </a:r>
          </a:p>
          <a:p>
            <a:pPr algn="ctr"/>
            <a:r>
              <a:rPr sz="950">
                <a:solidFill>
                  <a:srgbClr val="000000"/>
                </a:solidFill>
                <a:latin typeface="Calibri"/>
              </a:rPr>
              <a:t>Unload modulus</a:t>
            </a:r>
          </a:p>
        </p:txBody>
      </p:sp>
      <p:sp>
        <p:nvSpPr>
          <p:cNvPr id="11" name="Rounded Rectangle 10"/>
          <p:cNvSpPr/>
          <p:nvPr/>
        </p:nvSpPr>
        <p:spPr>
          <a:xfrm>
            <a:off x="9518903" y="3493008"/>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0.99  (was 0.12)</a:t>
            </a:r>
          </a:p>
          <a:p>
            <a:pPr algn="ctr"/>
            <a:r>
              <a:rPr sz="950">
                <a:solidFill>
                  <a:srgbClr val="000000"/>
                </a:solidFill>
                <a:latin typeface="Calibri"/>
              </a:rPr>
              <a:t>Unload-fit R²</a:t>
            </a:r>
          </a:p>
        </p:txBody>
      </p:sp>
      <p:graphicFrame>
        <p:nvGraphicFramePr>
          <p:cNvPr id="12" name="Table 11"/>
          <p:cNvGraphicFramePr>
            <a:graphicFrameLocks noGrp="1"/>
          </p:cNvGraphicFramePr>
          <p:nvPr/>
        </p:nvGraphicFramePr>
        <p:xfrm>
          <a:off x="411480" y="4334256"/>
          <a:ext cx="11384280" cy="950976"/>
        </p:xfrm>
        <a:graphic>
          <a:graphicData uri="http://schemas.openxmlformats.org/drawingml/2006/table">
            <a:tbl>
              <a:tblPr firstRow="1" bandRow="1">
                <a:tableStyleId>{5C22544A-7EE6-4342-B048-85BDC9FD1C3A}</a:tableStyleId>
              </a:tblPr>
              <a:tblGrid>
                <a:gridCol w="2846070"/>
                <a:gridCol w="2846070"/>
                <a:gridCol w="2846070"/>
                <a:gridCol w="284607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T6.4  (1st run)</a:t>
                      </a:r>
                    </a:p>
                  </a:txBody>
                  <a:tcPr>
                    <a:solidFill>
                      <a:srgbClr val="143D2F"/>
                    </a:solidFill>
                  </a:tcPr>
                </a:tc>
                <a:tc>
                  <a:txBody>
                    <a:bodyPr lIns="54864" rIns="54864" tIns="18288" bIns="18288" wrap="square" anchor="ctr"/>
                    <a:lstStyle/>
                    <a:p>
                      <a:pPr algn="l"/>
                      <a:r>
                        <a:rPr sz="950" b="1">
                          <a:solidFill>
                            <a:srgbClr val="FFFFFF"/>
                          </a:solidFill>
                          <a:latin typeface="Calibri"/>
                        </a:rPr>
                        <a:t>T6.5  (2nd run)</a:t>
                      </a:r>
                    </a:p>
                  </a:txBody>
                  <a:tcPr>
                    <a:solidFill>
                      <a:srgbClr val="143D2F"/>
                    </a:solidFill>
                  </a:tcPr>
                </a:tc>
                <a:tc>
                  <a:txBody>
                    <a:bodyPr lIns="54864" rIns="54864" tIns="18288" bIns="18288" wrap="square" anchor="ctr"/>
                    <a:lstStyle/>
                    <a:p>
                      <a:pPr algn="l"/>
                      <a:r>
                        <a:rPr sz="950" b="1">
                          <a:solidFill>
                            <a:srgbClr val="FFFFFF"/>
                          </a:solidFill>
                          <a:latin typeface="Calibri"/>
                        </a:rPr>
                        <a:t>What it means</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Closed loops recovered</a:t>
                      </a:r>
                    </a:p>
                  </a:txBody>
                  <a:tcPr/>
                </a:tc>
                <a:tc>
                  <a:txBody>
                    <a:bodyPr lIns="54864" rIns="54864" tIns="18288" bIns="18288" wrap="square" anchor="ctr"/>
                    <a:lstStyle/>
                    <a:p>
                      <a:pPr algn="l"/>
                      <a:r>
                        <a:rPr sz="950" b="0">
                          <a:solidFill>
                            <a:srgbClr val="000000"/>
                          </a:solidFill>
                          <a:latin typeface="Calibri"/>
                        </a:rPr>
                        <a:t>3 of 8  ·  45 % frames</a:t>
                      </a:r>
                    </a:p>
                  </a:txBody>
                  <a:tcPr/>
                </a:tc>
                <a:tc>
                  <a:txBody>
                    <a:bodyPr lIns="54864" rIns="54864" tIns="18288" bIns="18288" wrap="square" anchor="ctr"/>
                    <a:lstStyle/>
                    <a:p>
                      <a:pPr algn="l"/>
                      <a:r>
                        <a:rPr sz="950" b="0">
                          <a:solidFill>
                            <a:srgbClr val="000000"/>
                          </a:solidFill>
                          <a:latin typeface="Calibri"/>
                        </a:rPr>
                        <a:t>6 of 8  ·  97 % frames</a:t>
                      </a:r>
                    </a:p>
                  </a:txBody>
                  <a:tcPr/>
                </a:tc>
                <a:tc>
                  <a:txBody>
                    <a:bodyPr lIns="54864" rIns="54864" tIns="18288" bIns="18288" wrap="square" anchor="ctr"/>
                    <a:lstStyle/>
                    <a:p>
                      <a:pPr algn="l"/>
                      <a:r>
                        <a:rPr sz="950" b="0">
                          <a:solidFill>
                            <a:srgbClr val="000000"/>
                          </a:solidFill>
                          <a:latin typeface="Calibri"/>
                        </a:rPr>
                        <a:t>T6.4 lost the camera at t ≈ 145 s</a:t>
                      </a:r>
                    </a:p>
                  </a:txBody>
                  <a:tcPr/>
                </a:tc>
              </a:tr>
              <a:tr h="237744">
                <a:tc>
                  <a:txBody>
                    <a:bodyPr lIns="54864" rIns="54864" tIns="18288" bIns="18288" wrap="square" anchor="ctr"/>
                    <a:lstStyle/>
                    <a:p>
                      <a:pPr algn="l"/>
                      <a:r>
                        <a:rPr sz="950" b="0">
                          <a:solidFill>
                            <a:srgbClr val="000000"/>
                          </a:solidFill>
                          <a:latin typeface="Calibri"/>
                        </a:rPr>
                        <a:t>Loop area, first → last</a:t>
                      </a:r>
                    </a:p>
                  </a:txBody>
                  <a:tcPr/>
                </a:tc>
                <a:tc>
                  <a:txBody>
                    <a:bodyPr lIns="54864" rIns="54864" tIns="18288" bIns="18288" wrap="square" anchor="ctr"/>
                    <a:lstStyle/>
                    <a:p>
                      <a:pPr algn="l"/>
                      <a:r>
                        <a:rPr sz="950" b="0">
                          <a:solidFill>
                            <a:srgbClr val="000000"/>
                          </a:solidFill>
                          <a:latin typeface="Calibri"/>
                        </a:rPr>
                        <a:t>15.3 → 10.2 kJ/m³</a:t>
                      </a:r>
                    </a:p>
                  </a:txBody>
                  <a:tcPr/>
                </a:tc>
                <a:tc>
                  <a:txBody>
                    <a:bodyPr lIns="54864" rIns="54864" tIns="18288" bIns="18288" wrap="square" anchor="ctr"/>
                    <a:lstStyle/>
                    <a:p>
                      <a:pPr algn="l"/>
                      <a:r>
                        <a:rPr sz="950" b="0">
                          <a:solidFill>
                            <a:srgbClr val="000000"/>
                          </a:solidFill>
                          <a:latin typeface="Calibri"/>
                        </a:rPr>
                        <a:t>14.2 → 10.9 kJ/m³</a:t>
                      </a:r>
                    </a:p>
                  </a:txBody>
                  <a:tcPr/>
                </a:tc>
                <a:tc>
                  <a:txBody>
                    <a:bodyPr lIns="54864" rIns="54864" tIns="18288" bIns="18288" wrap="square" anchor="ctr"/>
                    <a:lstStyle/>
                    <a:p>
                      <a:pPr algn="l"/>
                      <a:r>
                        <a:rPr sz="950" b="0">
                          <a:solidFill>
                            <a:srgbClr val="000000"/>
                          </a:solidFill>
                          <a:latin typeface="Calibri"/>
                        </a:rPr>
                        <a:t>falls monotonically — real energy, not noise</a:t>
                      </a:r>
                    </a:p>
                  </a:txBody>
                  <a:tcPr/>
                </a:tc>
              </a:tr>
              <a:tr h="237744">
                <a:tc>
                  <a:txBody>
                    <a:bodyPr lIns="54864" rIns="54864" tIns="18288" bIns="18288" wrap="square" anchor="ctr"/>
                    <a:lstStyle/>
                    <a:p>
                      <a:pPr algn="l"/>
                      <a:r>
                        <a:rPr sz="950" b="0">
                          <a:solidFill>
                            <a:srgbClr val="000000"/>
                          </a:solidFill>
                          <a:latin typeface="Calibri"/>
                        </a:rPr>
                        <a:t>Unload modulus (R²), 1st → last</a:t>
                      </a:r>
                    </a:p>
                  </a:txBody>
                  <a:tcPr/>
                </a:tc>
                <a:tc>
                  <a:txBody>
                    <a:bodyPr lIns="54864" rIns="54864" tIns="18288" bIns="18288" wrap="square" anchor="ctr"/>
                    <a:lstStyle/>
                    <a:p>
                      <a:pPr algn="l"/>
                      <a:r>
                        <a:rPr sz="950" b="0">
                          <a:solidFill>
                            <a:srgbClr val="000000"/>
                          </a:solidFill>
                          <a:latin typeface="Calibri"/>
                        </a:rPr>
                        <a:t>1.51 → 2.19 GPa  (0.65)</a:t>
                      </a:r>
                    </a:p>
                  </a:txBody>
                  <a:tcPr/>
                </a:tc>
                <a:tc>
                  <a:txBody>
                    <a:bodyPr lIns="54864" rIns="54864" tIns="18288" bIns="18288" wrap="square" anchor="ctr"/>
                    <a:lstStyle/>
                    <a:p>
                      <a:pPr algn="l"/>
                      <a:r>
                        <a:rPr sz="950" b="0">
                          <a:solidFill>
                            <a:srgbClr val="000000"/>
                          </a:solidFill>
                          <a:latin typeface="Calibri"/>
                        </a:rPr>
                        <a:t>1.49 → 1.43 GPa  (≥ 0.99)</a:t>
                      </a:r>
                    </a:p>
                  </a:txBody>
                  <a:tcPr/>
                </a:tc>
                <a:tc>
                  <a:txBody>
                    <a:bodyPr lIns="54864" rIns="54864" tIns="18288" bIns="18288" wrap="square" anchor="ctr"/>
                    <a:lstStyle/>
                    <a:p>
                      <a:pPr algn="l"/>
                      <a:r>
                        <a:rPr sz="950" b="0">
                          <a:solidFill>
                            <a:srgbClr val="000000"/>
                          </a:solidFill>
                          <a:latin typeface="Calibri"/>
                        </a:rPr>
                        <a:t>resolvable every cycle — impossible on T6.3</a:t>
                      </a:r>
                    </a:p>
                  </a:txBody>
                  <a:tcPr/>
                </a:tc>
              </a:tr>
            </a:tbl>
          </a:graphicData>
        </a:graphic>
      </p:graphicFrame>
      <p:sp>
        <p:nvSpPr>
          <p:cNvPr id="13" name="Rectangle 12"/>
          <p:cNvSpPr/>
          <p:nvPr/>
        </p:nvSpPr>
        <p:spPr>
          <a:xfrm>
            <a:off x="411480" y="5376672"/>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T6.5 IS THE SLIDE-READY CYCLIC RESULT: 8 cycles at 400→1100 N, peak held to ± 3.4 N, 6 closed loops, and BOTH damage metrics (loop area, unload E) fall monotonically. The negative result on p191 is closed.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runs are S22, 50 % infill. Cycle 1 is never a baseline — rig slack inflates it (ratchet +185 µm on T6.4 cycle 1 vs +37 µm on cycle 2). The loop extraction needs a trough-peak-trough triplet, so the first and last half-cycles are correctly not counted.</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T6.3 → T6.5 — WHY THE RE-RUN WORKED</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One parameter, not a new machine. Same mode, same engine, same camera, same code — the ONLY change is where the cycle bottoms out and tops out. p191 predicted a 13.1 px loop from that change alone; here is the measurement.</a:t>
            </a:r>
          </a:p>
        </p:txBody>
      </p:sp>
      <p:pic>
        <p:nvPicPr>
          <p:cNvPr id="6" name="Picture 5" descr="sf9_cyclic_compare.png"/>
          <p:cNvPicPr>
            <a:picLocks noChangeAspect="1"/>
          </p:cNvPicPr>
          <p:nvPr/>
        </p:nvPicPr>
        <p:blipFill>
          <a:blip r:embed="rId2"/>
          <a:stretch>
            <a:fillRect/>
          </a:stretch>
        </p:blipFill>
        <p:spPr>
          <a:xfrm>
            <a:off x="1464220" y="1389888"/>
            <a:ext cx="9278799" cy="2788920"/>
          </a:xfrm>
          <a:prstGeom prst="rect">
            <a:avLst/>
          </a:prstGeom>
        </p:spPr>
      </p:pic>
      <p:graphicFrame>
        <p:nvGraphicFramePr>
          <p:cNvPr id="7" name="Table 6"/>
          <p:cNvGraphicFramePr>
            <a:graphicFrameLocks noGrp="1"/>
          </p:cNvGraphicFramePr>
          <p:nvPr/>
        </p:nvGraphicFramePr>
        <p:xfrm>
          <a:off x="411480" y="4315968"/>
          <a:ext cx="11384280" cy="1097280"/>
        </p:xfrm>
        <a:graphic>
          <a:graphicData uri="http://schemas.openxmlformats.org/drawingml/2006/table">
            <a:tbl>
              <a:tblPr firstRow="1" bandRow="1">
                <a:tableStyleId>{5C22544A-7EE6-4342-B048-85BDC9FD1C3A}</a:tableStyleId>
              </a:tblPr>
              <a:tblGrid>
                <a:gridCol w="2606040"/>
                <a:gridCol w="3703320"/>
                <a:gridCol w="3154680"/>
                <a:gridCol w="1920240"/>
              </a:tblGrid>
              <a:tr h="274320">
                <a:tc>
                  <a:txBody>
                    <a:bodyPr lIns="54864" rIns="54864" tIns="18288" bIns="18288" wrap="square" anchor="ctr"/>
                    <a:lstStyle/>
                    <a:p>
                      <a:pPr algn="l"/>
                      <a:r>
                        <a:rPr sz="950" b="1">
                          <a:solidFill>
                            <a:srgbClr val="FFFFFF"/>
                          </a:solidFill>
                          <a:latin typeface="Calibri"/>
                        </a:rPr>
                        <a:t>What was wrong on T6.3</a:t>
                      </a:r>
                    </a:p>
                  </a:txBody>
                  <a:tcPr>
                    <a:solidFill>
                      <a:srgbClr val="143D2F"/>
                    </a:solidFill>
                  </a:tcPr>
                </a:tc>
                <a:tc>
                  <a:txBody>
                    <a:bodyPr lIns="54864" rIns="54864" tIns="18288" bIns="18288" wrap="square" anchor="ctr"/>
                    <a:lstStyle/>
                    <a:p>
                      <a:pPr algn="l"/>
                      <a:r>
                        <a:rPr sz="950" b="1">
                          <a:solidFill>
                            <a:srgbClr val="FFFFFF"/>
                          </a:solidFill>
                          <a:latin typeface="Calibri"/>
                        </a:rPr>
                        <a:t>Why it was wrong</a:t>
                      </a:r>
                    </a:p>
                  </a:txBody>
                  <a:tcPr>
                    <a:solidFill>
                      <a:srgbClr val="143D2F"/>
                    </a:solidFill>
                  </a:tcPr>
                </a:tc>
                <a:tc>
                  <a:txBody>
                    <a:bodyPr lIns="54864" rIns="54864" tIns="18288" bIns="18288" wrap="square" anchor="ctr"/>
                    <a:lstStyle/>
                    <a:p>
                      <a:pPr algn="l"/>
                      <a:r>
                        <a:rPr sz="950" b="1">
                          <a:solidFill>
                            <a:srgbClr val="FFFFFF"/>
                          </a:solidFill>
                          <a:latin typeface="Calibri"/>
                        </a:rPr>
                        <a:t>What T6.5 changed</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Loop area was mostly BACKLASH</a:t>
                      </a:r>
                    </a:p>
                  </a:txBody>
                  <a:tcPr/>
                </a:tc>
                <a:tc>
                  <a:txBody>
                    <a:bodyPr lIns="54864" rIns="54864" tIns="18288" bIns="18288" wrap="square" anchor="ctr"/>
                    <a:lstStyle/>
                    <a:p>
                      <a:pPr algn="l"/>
                      <a:r>
                        <a:rPr sz="900" b="0">
                          <a:solidFill>
                            <a:srgbClr val="000000"/>
                          </a:solidFill>
                          <a:latin typeface="Calibri"/>
                        </a:rPr>
                        <a:t>unloading to 100 N re-crosses the slack band every cycle</a:t>
                      </a:r>
                    </a:p>
                  </a:txBody>
                  <a:tcPr/>
                </a:tc>
                <a:tc>
                  <a:txBody>
                    <a:bodyPr lIns="54864" rIns="54864" tIns="18288" bIns="18288" wrap="square" anchor="ctr"/>
                    <a:lstStyle/>
                    <a:p>
                      <a:pPr algn="l"/>
                      <a:r>
                        <a:rPr sz="900" b="0">
                          <a:solidFill>
                            <a:srgbClr val="000000"/>
                          </a:solidFill>
                          <a:latin typeface="Calibri"/>
                        </a:rPr>
                        <a:t>floor raised to 400 N — crossed ONCE, at the start</a:t>
                      </a:r>
                    </a:p>
                  </a:txBody>
                  <a:tcPr/>
                </a:tc>
                <a:tc>
                  <a:txBody>
                    <a:bodyPr lIns="54864" rIns="54864" tIns="18288" bIns="18288" wrap="square" anchor="ctr"/>
                    <a:lstStyle/>
                    <a:p>
                      <a:pPr algn="l"/>
                      <a:r>
                        <a:rPr sz="900" b="1">
                          <a:solidFill>
                            <a:srgbClr val="000000"/>
                          </a:solidFill>
                          <a:latin typeface="Calibri"/>
                        </a:rPr>
                        <a:t>loops close; ratchet +34 µm/cycle</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Strain excursion only 3.6 px</a:t>
                      </a:r>
                    </a:p>
                  </a:txBody>
                  <a:tcPr/>
                </a:tc>
                <a:tc>
                  <a:txBody>
                    <a:bodyPr lIns="54864" rIns="54864" tIns="18288" bIns="18288" wrap="square" anchor="ctr"/>
                    <a:lstStyle/>
                    <a:p>
                      <a:pPr algn="l"/>
                      <a:r>
                        <a:rPr sz="900" b="0">
                          <a:solidFill>
                            <a:srgbClr val="000000"/>
                          </a:solidFill>
                          <a:latin typeface="Calibri"/>
                        </a:rPr>
                        <a:t>that swing is near the centroid quantisation limit</a:t>
                      </a:r>
                    </a:p>
                  </a:txBody>
                  <a:tcPr/>
                </a:tc>
                <a:tc>
                  <a:txBody>
                    <a:bodyPr lIns="54864" rIns="54864" tIns="18288" bIns="18288" wrap="square" anchor="ctr"/>
                    <a:lstStyle/>
                    <a:p>
                      <a:pPr algn="l"/>
                      <a:r>
                        <a:rPr sz="900" b="0">
                          <a:solidFill>
                            <a:srgbClr val="000000"/>
                          </a:solidFill>
                          <a:latin typeface="Calibri"/>
                        </a:rPr>
                        <a:t>peak raised to 1100 N — 1.8× the load swing</a:t>
                      </a:r>
                    </a:p>
                  </a:txBody>
                  <a:tcPr/>
                </a:tc>
                <a:tc>
                  <a:txBody>
                    <a:bodyPr lIns="54864" rIns="54864" tIns="18288" bIns="18288" wrap="square" anchor="ctr"/>
                    <a:lstStyle/>
                    <a:p>
                      <a:pPr algn="l"/>
                      <a:r>
                        <a:rPr sz="900" b="1">
                          <a:solidFill>
                            <a:srgbClr val="000000"/>
                          </a:solidFill>
                          <a:latin typeface="Calibri"/>
                        </a:rPr>
                        <a:t>12.3 px, vs 13.1 px predicted</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Unload modulus unfittable (R² 0.12)</a:t>
                      </a:r>
                    </a:p>
                  </a:txBody>
                  <a:tcPr/>
                </a:tc>
                <a:tc>
                  <a:txBody>
                    <a:bodyPr lIns="54864" rIns="54864" tIns="18288" bIns="18288" wrap="square" anchor="ctr"/>
                    <a:lstStyle/>
                    <a:p>
                      <a:pPr algn="l"/>
                      <a:r>
                        <a:rPr sz="900" b="0">
                          <a:solidFill>
                            <a:srgbClr val="000000"/>
                          </a:solidFill>
                          <a:latin typeface="Calibri"/>
                        </a:rPr>
                        <a:t>the strain change in a small unload is under the noise floor</a:t>
                      </a:r>
                    </a:p>
                  </a:txBody>
                  <a:tcPr/>
                </a:tc>
                <a:tc>
                  <a:txBody>
                    <a:bodyPr lIns="54864" rIns="54864" tIns="18288" bIns="18288" wrap="square" anchor="ctr"/>
                    <a:lstStyle/>
                    <a:p>
                      <a:pPr algn="l"/>
                      <a:r>
                        <a:rPr sz="900" b="0">
                          <a:solidFill>
                            <a:srgbClr val="000000"/>
                          </a:solidFill>
                          <a:latin typeface="Calibri"/>
                        </a:rPr>
                        <a:t>the unload now spans 6169 µε, not ~243</a:t>
                      </a:r>
                    </a:p>
                  </a:txBody>
                  <a:tcPr/>
                </a:tc>
                <a:tc>
                  <a:txBody>
                    <a:bodyPr lIns="54864" rIns="54864" tIns="18288" bIns="18288" wrap="square" anchor="ctr"/>
                    <a:lstStyle/>
                    <a:p>
                      <a:pPr algn="l"/>
                      <a:r>
                        <a:rPr sz="900" b="1">
                          <a:solidFill>
                            <a:srgbClr val="000000"/>
                          </a:solidFill>
                          <a:latin typeface="Calibri"/>
                        </a:rPr>
                        <a:t>R² 0.99–1.00 every cycle</a:t>
                      </a:r>
                    </a:p>
                  </a:txBody>
                  <a:tcPr>
                    <a:solidFill>
                      <a:srgbClr val="C8E6C9"/>
                    </a:solidFill>
                  </a:tcPr>
                </a:tc>
              </a:tr>
            </a:tbl>
          </a:graphicData>
        </a:graphic>
      </p:graphicFrame>
      <p:sp>
        <p:nvSpPr>
          <p:cNvPr id="8" name="Rectangle 7"/>
          <p:cNvSpPr/>
          <p:nvPr/>
        </p:nvSpPr>
        <p:spPr>
          <a:xfrm>
            <a:off x="411480" y="5632704"/>
            <a:ext cx="11384280" cy="51206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The lesson generalises: on a machine with slack, WHERE you cycle matters more than HOW accurately you cycle. T6.3 already held its peaks to 15 N — the control was never the problem, the operating window was.</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Kept honest: T6.3's loop area was 7.6 kJ/m³, not zero — it was never 'no signal', it was signal you cannot attribute, and the R² column is what separates those two cases. Different specimens (S20 100 % vs S22 50 %), so absolute stress is not comparable; resolvability is.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[T9] — HOW IT WAS DESIGNED: TWO RUNS</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T1 failed because a creep signal below the noise floor is indistinguishable from the instrument drifting. T9 therefore MEASURES the drift first — same specimen, same mounting, nothing commanded — then subtracts its SLOPE from the real hold.</a:t>
            </a:r>
          </a:p>
        </p:txBody>
      </p:sp>
      <p:pic>
        <p:nvPicPr>
          <p:cNvPr id="6" name="Picture 5" descr="sf9_t9_baseline.png"/>
          <p:cNvPicPr>
            <a:picLocks noChangeAspect="1"/>
          </p:cNvPicPr>
          <p:nvPr/>
        </p:nvPicPr>
        <p:blipFill>
          <a:blip r:embed="rId2"/>
          <a:stretch>
            <a:fillRect/>
          </a:stretch>
        </p:blipFill>
        <p:spPr>
          <a:xfrm>
            <a:off x="2033118" y="1389888"/>
            <a:ext cx="8141003" cy="2697480"/>
          </a:xfrm>
          <a:prstGeom prst="rect">
            <a:avLst/>
          </a:prstGeom>
        </p:spPr>
      </p:pic>
      <p:sp>
        <p:nvSpPr>
          <p:cNvPr id="7" name="TextBox 6"/>
          <p:cNvSpPr txBox="1"/>
          <p:nvPr/>
        </p:nvSpPr>
        <p:spPr>
          <a:xfrm>
            <a:off x="457200" y="4169663"/>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protocol — order matters</a:t>
            </a:r>
          </a:p>
        </p:txBody>
      </p:sp>
      <p:graphicFrame>
        <p:nvGraphicFramePr>
          <p:cNvPr id="8" name="Table 7"/>
          <p:cNvGraphicFramePr>
            <a:graphicFrameLocks noGrp="1"/>
          </p:cNvGraphicFramePr>
          <p:nvPr/>
        </p:nvGraphicFramePr>
        <p:xfrm>
          <a:off x="457200" y="4498848"/>
          <a:ext cx="5532120" cy="1234440"/>
        </p:xfrm>
        <a:graphic>
          <a:graphicData uri="http://schemas.openxmlformats.org/drawingml/2006/table">
            <a:tbl>
              <a:tblPr firstRow="1" bandRow="1">
                <a:tableStyleId>{5C22544A-7EE6-4342-B048-85BDC9FD1C3A}</a:tableStyleId>
              </a:tblPr>
              <a:tblGrid>
                <a:gridCol w="1417320"/>
                <a:gridCol w="1920240"/>
                <a:gridCol w="2194560"/>
              </a:tblGrid>
              <a:tr h="246888">
                <a:tc>
                  <a:txBody>
                    <a:bodyPr lIns="54864" rIns="54864" tIns="18288" bIns="18288" wrap="square" anchor="ctr"/>
                    <a:lstStyle/>
                    <a:p>
                      <a:pPr algn="l"/>
                      <a:r>
                        <a:rPr sz="950" b="1">
                          <a:solidFill>
                            <a:srgbClr val="FFFFFF"/>
                          </a:solidFill>
                          <a:latin typeface="Calibri"/>
                        </a:rPr>
                        <a:t>Step</a:t>
                      </a:r>
                    </a:p>
                  </a:txBody>
                  <a:tcPr>
                    <a:solidFill>
                      <a:srgbClr val="143D2F"/>
                    </a:solidFill>
                  </a:tcPr>
                </a:tc>
                <a:tc>
                  <a:txBody>
                    <a:bodyPr lIns="54864" rIns="54864" tIns="18288" bIns="18288" wrap="square" anchor="ctr"/>
                    <a:lstStyle/>
                    <a:p>
                      <a:pPr algn="l"/>
                      <a:r>
                        <a:rPr sz="950" b="1">
                          <a:solidFill>
                            <a:srgbClr val="FFFFFF"/>
                          </a:solidFill>
                          <a:latin typeface="Calibri"/>
                        </a:rPr>
                        <a:t>What runs</a:t>
                      </a:r>
                    </a:p>
                  </a:txBody>
                  <a:tcPr>
                    <a:solidFill>
                      <a:srgbClr val="143D2F"/>
                    </a:solidFill>
                  </a:tcPr>
                </a:tc>
                <a:tc>
                  <a:txBody>
                    <a:bodyPr lIns="54864" rIns="54864" tIns="18288" bIns="18288" wrap="square" anchor="ctr"/>
                    <a:lstStyle/>
                    <a:p>
                      <a:pPr algn="l"/>
                      <a:r>
                        <a:rPr sz="950" b="1">
                          <a:solidFill>
                            <a:srgbClr val="FFFFFF"/>
                          </a:solidFill>
                          <a:latin typeface="Calibri"/>
                        </a:rPr>
                        <a:t>Why</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1  Preload + tare</a:t>
                      </a:r>
                    </a:p>
                  </a:txBody>
                  <a:tcPr/>
                </a:tc>
                <a:tc>
                  <a:txBody>
                    <a:bodyPr lIns="54864" rIns="54864" tIns="18288" bIns="18288" wrap="square" anchor="ctr"/>
                    <a:lstStyle/>
                    <a:p>
                      <a:pPr algn="l"/>
                      <a:r>
                        <a:rPr sz="900" b="0">
                          <a:solidFill>
                            <a:srgbClr val="000000"/>
                          </a:solidFill>
                          <a:latin typeface="Calibri"/>
                        </a:rPr>
                        <a:t>300 N, tare force &amp; DIC</a:t>
                      </a:r>
                    </a:p>
                  </a:txBody>
                  <a:tcPr/>
                </a:tc>
                <a:tc>
                  <a:txBody>
                    <a:bodyPr lIns="54864" rIns="54864" tIns="18288" bIns="18288" wrap="square" anchor="ctr"/>
                    <a:lstStyle/>
                    <a:p>
                      <a:pPr algn="l"/>
                      <a:r>
                        <a:rPr sz="900" b="0">
                          <a:solidFill>
                            <a:srgbClr val="000000"/>
                          </a:solidFill>
                          <a:latin typeface="Calibri"/>
                        </a:rPr>
                        <a:t>one mounting state for both runs</a:t>
                      </a:r>
                    </a:p>
                  </a:txBody>
                  <a:tcPr/>
                </a:tc>
              </a:tr>
              <a:tr h="246888">
                <a:tc>
                  <a:txBody>
                    <a:bodyPr lIns="54864" rIns="54864" tIns="18288" bIns="18288" wrap="square" anchor="ctr"/>
                    <a:lstStyle/>
                    <a:p>
                      <a:pPr algn="l"/>
                      <a:r>
                        <a:rPr sz="900" b="0">
                          <a:solidFill>
                            <a:srgbClr val="000000"/>
                          </a:solidFill>
                          <a:latin typeface="Calibri"/>
                        </a:rPr>
                        <a:t>2  RUN 1 — baseline</a:t>
                      </a:r>
                    </a:p>
                  </a:txBody>
                  <a:tcPr/>
                </a:tc>
                <a:tc>
                  <a:txBody>
                    <a:bodyPr lIns="54864" rIns="54864" tIns="18288" bIns="18288" wrap="square" anchor="ctr"/>
                    <a:lstStyle/>
                    <a:p>
                      <a:pPr algn="l"/>
                      <a:r>
                        <a:rPr sz="900" b="0">
                          <a:solidFill>
                            <a:srgbClr val="000000"/>
                          </a:solidFill>
                          <a:latin typeface="Calibri"/>
                        </a:rPr>
                        <a:t>928 s, nothing commanded</a:t>
                      </a:r>
                    </a:p>
                  </a:txBody>
                  <a:tcPr/>
                </a:tc>
                <a:tc>
                  <a:txBody>
                    <a:bodyPr lIns="54864" rIns="54864" tIns="18288" bIns="18288" wrap="square" anchor="ctr"/>
                    <a:lstStyle/>
                    <a:p>
                      <a:pPr algn="l"/>
                      <a:r>
                        <a:rPr sz="900" b="0">
                          <a:solidFill>
                            <a:srgbClr val="000000"/>
                          </a:solidFill>
                          <a:latin typeface="Calibri"/>
                        </a:rPr>
                        <a:t>drift, with zero load applied</a:t>
                      </a:r>
                    </a:p>
                  </a:txBody>
                  <a:tcPr/>
                </a:tc>
              </a:tr>
              <a:tr h="246888">
                <a:tc>
                  <a:txBody>
                    <a:bodyPr lIns="54864" rIns="54864" tIns="18288" bIns="18288" wrap="square" anchor="ctr"/>
                    <a:lstStyle/>
                    <a:p>
                      <a:pPr algn="l"/>
                      <a:r>
                        <a:rPr sz="900" b="0">
                          <a:solidFill>
                            <a:srgbClr val="000000"/>
                          </a:solidFill>
                          <a:latin typeface="Calibri"/>
                        </a:rPr>
                        <a:t>3  RUN 2 — creep</a:t>
                      </a:r>
                    </a:p>
                  </a:txBody>
                  <a:tcPr/>
                </a:tc>
                <a:tc>
                  <a:txBody>
                    <a:bodyPr lIns="54864" rIns="54864" tIns="18288" bIns="18288" wrap="square" anchor="ctr"/>
                    <a:lstStyle/>
                    <a:p>
                      <a:pPr algn="l"/>
                      <a:r>
                        <a:rPr sz="900" b="0">
                          <a:solidFill>
                            <a:srgbClr val="000000"/>
                          </a:solidFill>
                          <a:latin typeface="Calibri"/>
                        </a:rPr>
                        <a:t>600 N tared, 877 s hold</a:t>
                      </a:r>
                    </a:p>
                  </a:txBody>
                  <a:tcPr/>
                </a:tc>
                <a:tc>
                  <a:txBody>
                    <a:bodyPr lIns="54864" rIns="54864" tIns="18288" bIns="18288" wrap="square" anchor="ctr"/>
                    <a:lstStyle/>
                    <a:p>
                      <a:pPr algn="l"/>
                      <a:r>
                        <a:rPr sz="900" b="0">
                          <a:solidFill>
                            <a:srgbClr val="000000"/>
                          </a:solidFill>
                          <a:latin typeface="Calibri"/>
                        </a:rPr>
                        <a:t>the actual experiment</a:t>
                      </a:r>
                    </a:p>
                  </a:txBody>
                  <a:tcPr/>
                </a:tc>
              </a:tr>
              <a:tr h="246888">
                <a:tc>
                  <a:txBody>
                    <a:bodyPr lIns="54864" rIns="54864" tIns="18288" bIns="18288" wrap="square" anchor="ctr"/>
                    <a:lstStyle/>
                    <a:p>
                      <a:pPr algn="l"/>
                      <a:r>
                        <a:rPr sz="900" b="1">
                          <a:solidFill>
                            <a:srgbClr val="000000"/>
                          </a:solidFill>
                          <a:latin typeface="Calibri"/>
                        </a:rPr>
                        <a:t>4  Subtract the SLOPE</a:t>
                      </a:r>
                    </a:p>
                  </a:txBody>
                  <a:tcPr>
                    <a:solidFill>
                      <a:srgbClr val="C8E6C9"/>
                    </a:solidFill>
                  </a:tcPr>
                </a:tc>
                <a:tc>
                  <a:txBody>
                    <a:bodyPr lIns="54864" rIns="54864" tIns="18288" bIns="18288" wrap="square" anchor="ctr"/>
                    <a:lstStyle/>
                    <a:p>
                      <a:pPr algn="l"/>
                      <a:r>
                        <a:rPr sz="900" b="0">
                          <a:solidFill>
                            <a:srgbClr val="000000"/>
                          </a:solidFill>
                          <a:latin typeface="Calibri"/>
                        </a:rPr>
                        <a:t>+0.2893 µε/s</a:t>
                      </a:r>
                    </a:p>
                  </a:txBody>
                  <a:tcPr>
                    <a:solidFill>
                      <a:srgbClr val="C8E6C9"/>
                    </a:solidFill>
                  </a:tcPr>
                </a:tc>
                <a:tc>
                  <a:txBody>
                    <a:bodyPr lIns="54864" rIns="54864" tIns="18288" bIns="18288" wrap="square" anchor="ctr"/>
                    <a:lstStyle/>
                    <a:p>
                      <a:pPr algn="l"/>
                      <a:r>
                        <a:rPr sz="900" b="0">
                          <a:solidFill>
                            <a:srgbClr val="000000"/>
                          </a:solidFill>
                          <a:latin typeface="Calibri"/>
                        </a:rPr>
                        <a:t>a rate survives a re-tare; an offset does not</a:t>
                      </a:r>
                    </a:p>
                  </a:txBody>
                  <a:tcPr>
                    <a:solidFill>
                      <a:srgbClr val="C8E6C9"/>
                    </a:solidFill>
                  </a:tcPr>
                </a:tc>
              </a:tr>
            </a:tbl>
          </a:graphicData>
        </a:graphic>
      </p:graphicFrame>
      <p:sp>
        <p:nvSpPr>
          <p:cNvPr id="9" name="TextBox 8"/>
          <p:cNvSpPr txBox="1"/>
          <p:nvPr/>
        </p:nvSpPr>
        <p:spPr>
          <a:xfrm>
            <a:off x="6263640" y="4169663"/>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Settings, and how the target was sized</a:t>
            </a:r>
          </a:p>
        </p:txBody>
      </p:sp>
      <p:graphicFrame>
        <p:nvGraphicFramePr>
          <p:cNvPr id="10" name="Table 9"/>
          <p:cNvGraphicFramePr>
            <a:graphicFrameLocks noGrp="1"/>
          </p:cNvGraphicFramePr>
          <p:nvPr/>
        </p:nvGraphicFramePr>
        <p:xfrm>
          <a:off x="6263640" y="4498848"/>
          <a:ext cx="5532120" cy="1234440"/>
        </p:xfrm>
        <a:graphic>
          <a:graphicData uri="http://schemas.openxmlformats.org/drawingml/2006/table">
            <a:tbl>
              <a:tblPr firstRow="1" bandRow="1">
                <a:tableStyleId>{5C22544A-7EE6-4342-B048-85BDC9FD1C3A}</a:tableStyleId>
              </a:tblPr>
              <a:tblGrid>
                <a:gridCol w="1234440"/>
                <a:gridCol w="1280160"/>
                <a:gridCol w="3017520"/>
              </a:tblGrid>
              <a:tr h="246888">
                <a:tc>
                  <a:txBody>
                    <a:bodyPr lIns="54864" rIns="54864" tIns="18288" bIns="18288" wrap="square" anchor="ctr"/>
                    <a:lstStyle/>
                    <a:p>
                      <a:pPr algn="l"/>
                      <a:r>
                        <a:rPr sz="950" b="1">
                          <a:solidFill>
                            <a:srgbClr val="FFFFFF"/>
                          </a:solidFill>
                          <a:latin typeface="Calibri"/>
                        </a:rPr>
                        <a:t>Parameter</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Reasoning</a:t>
                      </a:r>
                    </a:p>
                  </a:txBody>
                  <a:tcPr>
                    <a:solidFill>
                      <a:srgbClr val="143D2F"/>
                    </a:solidFill>
                  </a:tcPr>
                </a:tc>
              </a:tr>
              <a:tr h="246888">
                <a:tc>
                  <a:txBody>
                    <a:bodyPr lIns="54864" rIns="54864" tIns="18288" bIns="18288" wrap="square" anchor="ctr"/>
                    <a:lstStyle/>
                    <a:p>
                      <a:pPr algn="l"/>
                      <a:r>
                        <a:rPr sz="900" b="0">
                          <a:solidFill>
                            <a:srgbClr val="000000"/>
                          </a:solidFill>
                          <a:latin typeface="Calibri"/>
                        </a:rPr>
                        <a:t>Hold load</a:t>
                      </a:r>
                    </a:p>
                  </a:txBody>
                  <a:tcPr/>
                </a:tc>
                <a:tc>
                  <a:txBody>
                    <a:bodyPr lIns="54864" rIns="54864" tIns="18288" bIns="18288" wrap="square" anchor="ctr"/>
                    <a:lstStyle/>
                    <a:p>
                      <a:pPr algn="l"/>
                      <a:r>
                        <a:rPr sz="900" b="0">
                          <a:solidFill>
                            <a:srgbClr val="000000"/>
                          </a:solidFill>
                          <a:latin typeface="Calibri"/>
                        </a:rPr>
                        <a:t>600 N tared</a:t>
                      </a:r>
                    </a:p>
                  </a:txBody>
                  <a:tcPr/>
                </a:tc>
                <a:tc>
                  <a:txBody>
                    <a:bodyPr lIns="54864" rIns="54864" tIns="18288" bIns="18288" wrap="square" anchor="ctr"/>
                    <a:lstStyle/>
                    <a:p>
                      <a:pPr algn="l"/>
                      <a:r>
                        <a:rPr sz="900" b="0">
                          <a:solidFill>
                            <a:srgbClr val="000000"/>
                          </a:solidFill>
                          <a:latin typeface="Calibri"/>
                        </a:rPr>
                        <a:t>11.3 MPa true = 53 % of the 21.2 MPa UTS</a:t>
                      </a:r>
                    </a:p>
                  </a:txBody>
                  <a:tcPr/>
                </a:tc>
              </a:tr>
              <a:tr h="246888">
                <a:tc>
                  <a:txBody>
                    <a:bodyPr lIns="54864" rIns="54864" tIns="18288" bIns="18288" wrap="square" anchor="ctr"/>
                    <a:lstStyle/>
                    <a:p>
                      <a:pPr algn="l"/>
                      <a:r>
                        <a:rPr sz="900" b="0">
                          <a:solidFill>
                            <a:srgbClr val="000000"/>
                          </a:solidFill>
                          <a:latin typeface="Calibri"/>
                        </a:rPr>
                        <a:t>Hold duration</a:t>
                      </a:r>
                    </a:p>
                  </a:txBody>
                  <a:tcPr/>
                </a:tc>
                <a:tc>
                  <a:txBody>
                    <a:bodyPr lIns="54864" rIns="54864" tIns="18288" bIns="18288" wrap="square" anchor="ctr"/>
                    <a:lstStyle/>
                    <a:p>
                      <a:pPr algn="l"/>
                      <a:r>
                        <a:rPr sz="900" b="0">
                          <a:solidFill>
                            <a:srgbClr val="000000"/>
                          </a:solidFill>
                          <a:latin typeface="Calibri"/>
                        </a:rPr>
                        <a:t>900 s commanded</a:t>
                      </a:r>
                    </a:p>
                  </a:txBody>
                  <a:tcPr/>
                </a:tc>
                <a:tc>
                  <a:txBody>
                    <a:bodyPr lIns="54864" rIns="54864" tIns="18288" bIns="18288" wrap="square" anchor="ctr"/>
                    <a:lstStyle/>
                    <a:p>
                      <a:pPr algn="l"/>
                      <a:r>
                        <a:rPr sz="900" b="0">
                          <a:solidFill>
                            <a:srgbClr val="000000"/>
                          </a:solidFill>
                          <a:latin typeface="Calibri"/>
                        </a:rPr>
                        <a:t>877 s of settled hold measured</a:t>
                      </a:r>
                    </a:p>
                  </a:txBody>
                  <a:tcPr/>
                </a:tc>
              </a:tr>
              <a:tr h="246888">
                <a:tc>
                  <a:txBody>
                    <a:bodyPr lIns="54864" rIns="54864" tIns="18288" bIns="18288" wrap="square" anchor="ctr"/>
                    <a:lstStyle/>
                    <a:p>
                      <a:pPr algn="l"/>
                      <a:r>
                        <a:rPr sz="900" b="0">
                          <a:solidFill>
                            <a:srgbClr val="000000"/>
                          </a:solidFill>
                          <a:latin typeface="Calibri"/>
                        </a:rPr>
                        <a:t>Specimen</a:t>
                      </a:r>
                    </a:p>
                  </a:txBody>
                  <a:tcPr/>
                </a:tc>
                <a:tc>
                  <a:txBody>
                    <a:bodyPr lIns="54864" rIns="54864" tIns="18288" bIns="18288" wrap="square" anchor="ctr"/>
                    <a:lstStyle/>
                    <a:p>
                      <a:pPr algn="l"/>
                      <a:r>
                        <a:rPr sz="900" b="0">
                          <a:solidFill>
                            <a:srgbClr val="000000"/>
                          </a:solidFill>
                          <a:latin typeface="Calibri"/>
                        </a:rPr>
                        <a:t>S23 · 50 % infill</a:t>
                      </a:r>
                    </a:p>
                  </a:txBody>
                  <a:tcPr/>
                </a:tc>
                <a:tc>
                  <a:txBody>
                    <a:bodyPr lIns="54864" rIns="54864" tIns="18288" bIns="18288" wrap="square" anchor="ctr"/>
                    <a:lstStyle/>
                    <a:p>
                      <a:pPr algn="l"/>
                      <a:r>
                        <a:rPr sz="900" b="0">
                          <a:solidFill>
                            <a:srgbClr val="000000"/>
                          </a:solidFill>
                          <a:latin typeface="Calibri"/>
                        </a:rPr>
                        <a:t>50 % infill ⇒ ~2× the stress at the same load</a:t>
                      </a:r>
                    </a:p>
                  </a:txBody>
                  <a:tcPr/>
                </a:tc>
              </a:tr>
              <a:tr h="246888">
                <a:tc>
                  <a:txBody>
                    <a:bodyPr lIns="54864" rIns="54864" tIns="18288" bIns="18288" wrap="square" anchor="ctr"/>
                    <a:lstStyle/>
                    <a:p>
                      <a:pPr algn="l"/>
                      <a:r>
                        <a:rPr sz="900" b="0">
                          <a:solidFill>
                            <a:srgbClr val="000000"/>
                          </a:solidFill>
                          <a:latin typeface="Calibri"/>
                        </a:rPr>
                        <a:t>Ramp speed</a:t>
                      </a:r>
                    </a:p>
                  </a:txBody>
                  <a:tcPr/>
                </a:tc>
                <a:tc>
                  <a:txBody>
                    <a:bodyPr lIns="54864" rIns="54864" tIns="18288" bIns="18288" wrap="square" anchor="ctr"/>
                    <a:lstStyle/>
                    <a:p>
                      <a:pPr algn="l"/>
                      <a:r>
                        <a:rPr sz="900" b="0">
                          <a:solidFill>
                            <a:srgbClr val="000000"/>
                          </a:solidFill>
                          <a:latin typeface="Calibri"/>
                        </a:rPr>
                        <a:t>0.100 mm/s</a:t>
                      </a:r>
                    </a:p>
                  </a:txBody>
                  <a:tcPr/>
                </a:tc>
                <a:tc>
                  <a:txBody>
                    <a:bodyPr lIns="54864" rIns="54864" tIns="18288" bIns="18288" wrap="square" anchor="ctr"/>
                    <a:lstStyle/>
                    <a:p>
                      <a:pPr algn="l"/>
                      <a:r>
                        <a:rPr sz="900" b="0">
                          <a:solidFill>
                            <a:srgbClr val="000000"/>
                          </a:solidFill>
                          <a:latin typeface="Calibri"/>
                        </a:rPr>
                        <a:t>same as every other SF9 mode</a:t>
                      </a:r>
                    </a:p>
                  </a:txBody>
                  <a:tcPr/>
                </a:tc>
              </a:tr>
            </a:tbl>
          </a:graphicData>
        </a:graphic>
      </p:graphicFrame>
      <p:sp>
        <p:nvSpPr>
          <p:cNvPr id="11" name="Rectangle 10"/>
          <p:cNvSpPr/>
          <p:nvPr/>
        </p:nvSpPr>
        <p:spPr>
          <a:xfrm>
            <a:off x="411480" y="5870448"/>
            <a:ext cx="1138428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THE DISCRIMINATOR WAS FIXED BEFORE THE RUN: material creep DECELERATES (log-shaped), instrument drift is LINEAR. The baseline's half-slopes are 0.345 / 0.277 µε/s (ratio 0.80) — linear, exactly as a drift should be. Anything curved in run 2 is therefore the specimen.</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baseline also RE-MEASURED the DIC noise floor as ± 26 µε over a full 900 s window (p198's ± 12 µε is a 40 s window). 9971 of 10854 rows DIC-valid at 20.6 ± 0.23 N, crosshead frozen.</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CREEP — RE-RUN  [T9] — OUR RESULTS</a:t>
            </a:r>
          </a:p>
        </p:txBody>
      </p:sp>
      <p:pic>
        <p:nvPicPr>
          <p:cNvPr id="5" name="Picture 4" descr="sf9_creep_t9.png"/>
          <p:cNvPicPr>
            <a:picLocks noChangeAspect="1"/>
          </p:cNvPicPr>
          <p:nvPr/>
        </p:nvPicPr>
        <p:blipFill>
          <a:blip r:embed="rId2"/>
          <a:stretch>
            <a:fillRect/>
          </a:stretch>
        </p:blipFill>
        <p:spPr>
          <a:xfrm>
            <a:off x="2289316" y="1133856"/>
            <a:ext cx="7628606" cy="2414016"/>
          </a:xfrm>
          <a:prstGeom prst="rect">
            <a:avLst/>
          </a:prstGeom>
        </p:spPr>
      </p:pic>
      <p:sp>
        <p:nvSpPr>
          <p:cNvPr id="6" name="Rounded Rectangle 5"/>
          <p:cNvSpPr/>
          <p:nvPr/>
        </p:nvSpPr>
        <p:spPr>
          <a:xfrm>
            <a:off x="411480"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596.5 ± 1.3 N</a:t>
            </a:r>
          </a:p>
          <a:p>
            <a:pPr algn="ctr"/>
            <a:r>
              <a:rPr sz="950">
                <a:solidFill>
                  <a:srgbClr val="000000"/>
                </a:solidFill>
                <a:latin typeface="Calibri"/>
              </a:rPr>
              <a:t>Force held</a:t>
            </a:r>
          </a:p>
        </p:txBody>
      </p:sp>
      <p:sp>
        <p:nvSpPr>
          <p:cNvPr id="7" name="Rounded Rectangle 6"/>
          <p:cNvSpPr/>
          <p:nvPr/>
        </p:nvSpPr>
        <p:spPr>
          <a:xfrm>
            <a:off x="2688336"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+1080 µε</a:t>
            </a:r>
          </a:p>
          <a:p>
            <a:pPr algn="ctr"/>
            <a:r>
              <a:rPr sz="950">
                <a:solidFill>
                  <a:srgbClr val="000000"/>
                </a:solidFill>
                <a:latin typeface="Calibri"/>
              </a:rPr>
              <a:t>Creep strain</a:t>
            </a:r>
          </a:p>
        </p:txBody>
      </p:sp>
      <p:sp>
        <p:nvSpPr>
          <p:cNvPr id="8" name="Rounded Rectangle 7"/>
          <p:cNvSpPr/>
          <p:nvPr/>
        </p:nvSpPr>
        <p:spPr>
          <a:xfrm>
            <a:off x="4965192"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41 ×</a:t>
            </a:r>
          </a:p>
          <a:p>
            <a:pPr algn="ctr"/>
            <a:r>
              <a:rPr sz="950">
                <a:solidFill>
                  <a:srgbClr val="000000"/>
                </a:solidFill>
                <a:latin typeface="Calibri"/>
              </a:rPr>
              <a:t>vs noise floor</a:t>
            </a:r>
          </a:p>
        </p:txBody>
      </p:sp>
      <p:sp>
        <p:nvSpPr>
          <p:cNvPr id="9" name="Rounded Rectangle 8"/>
          <p:cNvSpPr/>
          <p:nvPr/>
        </p:nvSpPr>
        <p:spPr>
          <a:xfrm>
            <a:off x="7242047"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n = 0.48</a:t>
            </a:r>
          </a:p>
          <a:p>
            <a:pPr algn="ctr"/>
            <a:r>
              <a:rPr sz="950">
                <a:solidFill>
                  <a:srgbClr val="000000"/>
                </a:solidFill>
                <a:latin typeface="Calibri"/>
              </a:rPr>
              <a:t>Findley exponent</a:t>
            </a:r>
          </a:p>
        </p:txBody>
      </p:sp>
      <p:sp>
        <p:nvSpPr>
          <p:cNvPr id="10" name="Rounded Rectangle 9"/>
          <p:cNvSpPr/>
          <p:nvPr/>
        </p:nvSpPr>
        <p:spPr>
          <a:xfrm>
            <a:off x="9518903" y="3639312"/>
            <a:ext cx="2167127"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100 %</a:t>
            </a:r>
          </a:p>
          <a:p>
            <a:pPr algn="ctr"/>
            <a:r>
              <a:rPr sz="950">
                <a:solidFill>
                  <a:srgbClr val="000000"/>
                </a:solidFill>
                <a:latin typeface="Calibri"/>
              </a:rPr>
              <a:t>DIC frames tracked</a:t>
            </a:r>
          </a:p>
        </p:txBody>
      </p:sp>
      <p:graphicFrame>
        <p:nvGraphicFramePr>
          <p:cNvPr id="11" name="Table 10"/>
          <p:cNvGraphicFramePr>
            <a:graphicFrameLocks noGrp="1"/>
          </p:cNvGraphicFramePr>
          <p:nvPr/>
        </p:nvGraphicFramePr>
        <p:xfrm>
          <a:off x="411480" y="4480560"/>
          <a:ext cx="11384280" cy="1188720"/>
        </p:xfrm>
        <a:graphic>
          <a:graphicData uri="http://schemas.openxmlformats.org/drawingml/2006/table">
            <a:tbl>
              <a:tblPr firstRow="1" bandRow="1">
                <a:tableStyleId>{5C22544A-7EE6-4342-B048-85BDC9FD1C3A}</a:tableStyleId>
              </a:tblPr>
              <a:tblGrid>
                <a:gridCol w="3794760"/>
                <a:gridCol w="3794760"/>
                <a:gridCol w="3794760"/>
              </a:tblGrid>
              <a:tr h="237744">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Interpretation</a:t>
                      </a:r>
                    </a:p>
                  </a:txBody>
                  <a:tcPr>
                    <a:solidFill>
                      <a:srgbClr val="143D2F"/>
                    </a:solidFill>
                  </a:tcPr>
                </a:tc>
              </a:tr>
              <a:tr h="237744">
                <a:tc>
                  <a:txBody>
                    <a:bodyPr lIns="54864" rIns="54864" tIns="18288" bIns="18288" wrap="square" anchor="ctr"/>
                    <a:lstStyle/>
                    <a:p>
                      <a:pPr algn="l"/>
                      <a:r>
                        <a:rPr sz="950" b="0">
                          <a:solidFill>
                            <a:srgbClr val="000000"/>
                          </a:solidFill>
                          <a:latin typeface="Calibri"/>
                        </a:rPr>
                        <a:t>Load held over the 877 s window</a:t>
                      </a:r>
                    </a:p>
                  </a:txBody>
                  <a:tcPr/>
                </a:tc>
                <a:tc>
                  <a:txBody>
                    <a:bodyPr lIns="54864" rIns="54864" tIns="18288" bIns="18288" wrap="square" anchor="ctr"/>
                    <a:lstStyle/>
                    <a:p>
                      <a:pPr algn="l"/>
                      <a:r>
                        <a:rPr sz="950" b="0">
                          <a:solidFill>
                            <a:srgbClr val="000000"/>
                          </a:solidFill>
                          <a:latin typeface="Calibri"/>
                        </a:rPr>
                        <a:t>596.55 ± 1.30 N   (594.1–610.9 N)</a:t>
                      </a:r>
                    </a:p>
                  </a:txBody>
                  <a:tcPr/>
                </a:tc>
                <a:tc>
                  <a:txBody>
                    <a:bodyPr lIns="54864" rIns="54864" tIns="18288" bIns="18288" wrap="square" anchor="ctr"/>
                    <a:lstStyle/>
                    <a:p>
                      <a:pPr algn="l"/>
                      <a:r>
                        <a:rPr sz="950" b="0">
                          <a:solidFill>
                            <a:srgbClr val="000000"/>
                          </a:solidFill>
                          <a:latin typeface="Calibri"/>
                        </a:rPr>
                        <a:t>± 0.22 % — the strain rise is not a load artefact</a:t>
                      </a:r>
                    </a:p>
                  </a:txBody>
                  <a:tcPr/>
                </a:tc>
              </a:tr>
              <a:tr h="237744">
                <a:tc>
                  <a:txBody>
                    <a:bodyPr lIns="54864" rIns="54864" tIns="18288" bIns="18288" wrap="square" anchor="ctr"/>
                    <a:lstStyle/>
                    <a:p>
                      <a:pPr algn="l"/>
                      <a:r>
                        <a:rPr sz="950" b="0">
                          <a:solidFill>
                            <a:srgbClr val="000000"/>
                          </a:solidFill>
                          <a:latin typeface="Calibri"/>
                        </a:rPr>
                        <a:t>Raw strain rise → drift-corrected</a:t>
                      </a:r>
                    </a:p>
                  </a:txBody>
                  <a:tcPr/>
                </a:tc>
                <a:tc>
                  <a:txBody>
                    <a:bodyPr lIns="54864" rIns="54864" tIns="18288" bIns="18288" wrap="square" anchor="ctr"/>
                    <a:lstStyle/>
                    <a:p>
                      <a:pPr algn="l"/>
                      <a:r>
                        <a:rPr sz="950" b="0">
                          <a:solidFill>
                            <a:srgbClr val="000000"/>
                          </a:solidFill>
                          <a:latin typeface="Calibri"/>
                        </a:rPr>
                        <a:t>+1334 µε  →  +1080 µε</a:t>
                      </a:r>
                    </a:p>
                  </a:txBody>
                  <a:tcPr/>
                </a:tc>
                <a:tc>
                  <a:txBody>
                    <a:bodyPr lIns="54864" rIns="54864" tIns="18288" bIns="18288" wrap="square" anchor="ctr"/>
                    <a:lstStyle/>
                    <a:p>
                      <a:pPr algn="l"/>
                      <a:r>
                        <a:rPr sz="950" b="0">
                          <a:solidFill>
                            <a:srgbClr val="000000"/>
                          </a:solidFill>
                          <a:latin typeface="Calibri"/>
                        </a:rPr>
                        <a:t>drift only 19 % of raw; subtraction costs ± 2 µε</a:t>
                      </a:r>
                    </a:p>
                  </a:txBody>
                  <a:tcPr/>
                </a:tc>
              </a:tr>
              <a:tr h="237744">
                <a:tc>
                  <a:txBody>
                    <a:bodyPr lIns="54864" rIns="54864" tIns="18288" bIns="18288" wrap="square" anchor="ctr"/>
                    <a:lstStyle/>
                    <a:p>
                      <a:pPr algn="l"/>
                      <a:r>
                        <a:rPr sz="950" b="0">
                          <a:solidFill>
                            <a:srgbClr val="000000"/>
                          </a:solidFill>
                          <a:latin typeface="Calibri"/>
                        </a:rPr>
                        <a:t>Shape — the pre-set discriminator</a:t>
                      </a:r>
                    </a:p>
                  </a:txBody>
                  <a:tcPr/>
                </a:tc>
                <a:tc>
                  <a:txBody>
                    <a:bodyPr lIns="54864" rIns="54864" tIns="18288" bIns="18288" wrap="square" anchor="ctr"/>
                    <a:lstStyle/>
                    <a:p>
                      <a:pPr algn="l"/>
                      <a:r>
                        <a:rPr sz="950" b="0">
                          <a:solidFill>
                            <a:srgbClr val="000000"/>
                          </a:solidFill>
                          <a:latin typeface="Calibri"/>
                        </a:rPr>
                        <a:t>Findley n = 0.48 · half-slopes 1.48 → 0.59 µε/s</a:t>
                      </a:r>
                    </a:p>
                  </a:txBody>
                  <a:tcPr/>
                </a:tc>
                <a:tc>
                  <a:txBody>
                    <a:bodyPr lIns="54864" rIns="54864" tIns="18288" bIns="18288" wrap="square" anchor="ctr"/>
                    <a:lstStyle/>
                    <a:p>
                      <a:pPr algn="l"/>
                      <a:r>
                        <a:rPr sz="950" b="0">
                          <a:solidFill>
                            <a:srgbClr val="000000"/>
                          </a:solidFill>
                          <a:latin typeface="Calibri"/>
                        </a:rPr>
                        <a:t>n &lt; 1 and the rate halves: primary creep, not drift</a:t>
                      </a:r>
                    </a:p>
                  </a:txBody>
                  <a:tcPr/>
                </a:tc>
              </a:tr>
              <a:tr h="237744">
                <a:tc>
                  <a:txBody>
                    <a:bodyPr lIns="54864" rIns="54864" tIns="18288" bIns="18288" wrap="square" anchor="ctr"/>
                    <a:lstStyle/>
                    <a:p>
                      <a:pPr algn="l"/>
                      <a:r>
                        <a:rPr sz="950" b="0">
                          <a:solidFill>
                            <a:srgbClr val="000000"/>
                          </a:solidFill>
                          <a:latin typeface="Calibri"/>
                        </a:rPr>
                        <a:t>Crosshead travel to hold the load</a:t>
                      </a:r>
                    </a:p>
                  </a:txBody>
                  <a:tcPr/>
                </a:tc>
                <a:tc>
                  <a:txBody>
                    <a:bodyPr lIns="54864" rIns="54864" tIns="18288" bIns="18288" wrap="square" anchor="ctr"/>
                    <a:lstStyle/>
                    <a:p>
                      <a:pPr algn="l"/>
                      <a:r>
                        <a:rPr sz="950" b="0">
                          <a:solidFill>
                            <a:srgbClr val="000000"/>
                          </a:solidFill>
                          <a:latin typeface="Calibri"/>
                        </a:rPr>
                        <a:t>+172 µm   (DIC gauge only +107 µm)</a:t>
                      </a:r>
                    </a:p>
                  </a:txBody>
                  <a:tcPr/>
                </a:tc>
                <a:tc>
                  <a:txBody>
                    <a:bodyPr lIns="54864" rIns="54864" tIns="18288" bIns="18288" wrap="square" anchor="ctr"/>
                    <a:lstStyle/>
                    <a:p>
                      <a:pPr algn="l"/>
                      <a:r>
                        <a:rPr sz="950" b="0">
                          <a:solidFill>
                            <a:srgbClr val="000000"/>
                          </a:solidFill>
                          <a:latin typeface="Calibri"/>
                        </a:rPr>
                        <a:t>only 62 % of that motion is specimen — rest is rig</a:t>
                      </a:r>
                    </a:p>
                  </a:txBody>
                  <a:tcPr/>
                </a:tc>
              </a:tr>
            </a:tbl>
          </a:graphicData>
        </a:graphic>
      </p:graphicFrame>
      <p:sp>
        <p:nvSpPr>
          <p:cNvPr id="12" name="Rectangle 11"/>
          <p:cNvSpPr/>
          <p:nvPr/>
        </p:nvSpPr>
        <p:spPr>
          <a:xfrm>
            <a:off x="411480" y="5760720"/>
            <a:ext cx="1138428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CREEP RESOLVED: +1080 µε drift-corrected = 41× the 26 µε noise floor, decelerating (n = 0.48), while the load sat at 597 ± 1.3 N. The negative result on p198 is closed.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Also measured: creep compliance J = 0.863 → 1.008 GPa⁻¹ (+16.7 %), plus a free fixed-grip relaxation tail, 598 → 582 N over 300 s (−2.8 %).  ⚠ The CSV header reads 'Infill: 100 %' while S23 is 50 % — a label that enters no calculation, so no number here is affected.</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T1 → T9 — WHY CREEP IS NOW RESOLVED</a:t>
            </a:r>
          </a:p>
        </p:txBody>
      </p:sp>
      <p:sp>
        <p:nvSpPr>
          <p:cNvPr id="5" name="TextBox 4"/>
          <p:cNvSpPr txBox="1"/>
          <p:nvPr/>
        </p:nvSpPr>
        <p:spPr>
          <a:xfrm>
            <a:off x="457200" y="1042415"/>
            <a:ext cx="11338560" cy="329184"/>
          </a:xfrm>
          <a:prstGeom prst="rect">
            <a:avLst/>
          </a:prstGeom>
          <a:noFill/>
        </p:spPr>
        <p:txBody>
          <a:bodyPr wrap="square" lIns="45720" rIns="45720" tIns="18288" bIns="18288" anchor="t">
            <a:spAutoFit/>
          </a:bodyPr>
          <a:lstStyle/>
          <a:p>
            <a:pPr algn="l"/>
            <a:r>
              <a:rPr sz="1150" b="0" i="1">
                <a:solidFill>
                  <a:srgbClr val="707070"/>
                </a:solidFill>
                <a:latin typeface="Calibri"/>
              </a:rPr>
              <a:t>T1 was not a broken test — it was an UNDER-SIZED one, and it never could have succeeded. Three things were too small at once, and each was fixed by a number, not by new hardware.</a:t>
            </a:r>
          </a:p>
        </p:txBody>
      </p:sp>
      <p:pic>
        <p:nvPicPr>
          <p:cNvPr id="6" name="Picture 5" descr="sf9_creep_compare.png"/>
          <p:cNvPicPr>
            <a:picLocks noChangeAspect="1"/>
          </p:cNvPicPr>
          <p:nvPr/>
        </p:nvPicPr>
        <p:blipFill>
          <a:blip r:embed="rId2"/>
          <a:stretch>
            <a:fillRect/>
          </a:stretch>
        </p:blipFill>
        <p:spPr>
          <a:xfrm>
            <a:off x="1545760" y="1389888"/>
            <a:ext cx="9115719" cy="2743200"/>
          </a:xfrm>
          <a:prstGeom prst="rect">
            <a:avLst/>
          </a:prstGeom>
        </p:spPr>
      </p:pic>
      <p:graphicFrame>
        <p:nvGraphicFramePr>
          <p:cNvPr id="7" name="Table 6"/>
          <p:cNvGraphicFramePr>
            <a:graphicFrameLocks noGrp="1"/>
          </p:cNvGraphicFramePr>
          <p:nvPr/>
        </p:nvGraphicFramePr>
        <p:xfrm>
          <a:off x="411480" y="4224528"/>
          <a:ext cx="11384280" cy="1097280"/>
        </p:xfrm>
        <a:graphic>
          <a:graphicData uri="http://schemas.openxmlformats.org/drawingml/2006/table">
            <a:tbl>
              <a:tblPr firstRow="1" bandRow="1">
                <a:tableStyleId>{5C22544A-7EE6-4342-B048-85BDC9FD1C3A}</a:tableStyleId>
              </a:tblPr>
              <a:tblGrid>
                <a:gridCol w="2514600"/>
                <a:gridCol w="3794760"/>
                <a:gridCol w="3017520"/>
                <a:gridCol w="2057400"/>
              </a:tblGrid>
              <a:tr h="274320">
                <a:tc>
                  <a:txBody>
                    <a:bodyPr lIns="54864" rIns="54864" tIns="18288" bIns="18288" wrap="square" anchor="ctr"/>
                    <a:lstStyle/>
                    <a:p>
                      <a:pPr algn="l"/>
                      <a:r>
                        <a:rPr sz="950" b="1">
                          <a:solidFill>
                            <a:srgbClr val="FFFFFF"/>
                          </a:solidFill>
                          <a:latin typeface="Calibri"/>
                        </a:rPr>
                        <a:t>What was wrong on T1</a:t>
                      </a:r>
                    </a:p>
                  </a:txBody>
                  <a:tcPr>
                    <a:solidFill>
                      <a:srgbClr val="143D2F"/>
                    </a:solidFill>
                  </a:tcPr>
                </a:tc>
                <a:tc>
                  <a:txBody>
                    <a:bodyPr lIns="54864" rIns="54864" tIns="18288" bIns="18288" wrap="square" anchor="ctr"/>
                    <a:lstStyle/>
                    <a:p>
                      <a:pPr algn="l"/>
                      <a:r>
                        <a:rPr sz="950" b="1">
                          <a:solidFill>
                            <a:srgbClr val="FFFFFF"/>
                          </a:solidFill>
                          <a:latin typeface="Calibri"/>
                        </a:rPr>
                        <a:t>Why it was fatal</a:t>
                      </a:r>
                    </a:p>
                  </a:txBody>
                  <a:tcPr>
                    <a:solidFill>
                      <a:srgbClr val="143D2F"/>
                    </a:solidFill>
                  </a:tcPr>
                </a:tc>
                <a:tc>
                  <a:txBody>
                    <a:bodyPr lIns="54864" rIns="54864" tIns="18288" bIns="18288" wrap="square" anchor="ctr"/>
                    <a:lstStyle/>
                    <a:p>
                      <a:pPr algn="l"/>
                      <a:r>
                        <a:rPr sz="950" b="1">
                          <a:solidFill>
                            <a:srgbClr val="FFFFFF"/>
                          </a:solidFill>
                          <a:latin typeface="Calibri"/>
                        </a:rPr>
                        <a:t>What T9 changed</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Stress only 11 % of UTS</a:t>
                      </a:r>
                    </a:p>
                  </a:txBody>
                  <a:tcPr/>
                </a:tc>
                <a:tc>
                  <a:txBody>
                    <a:bodyPr lIns="54864" rIns="54864" tIns="18288" bIns="18288" wrap="square" anchor="ctr"/>
                    <a:lstStyle/>
                    <a:p>
                      <a:pPr algn="l"/>
                      <a:r>
                        <a:rPr sz="900" b="0">
                          <a:solidFill>
                            <a:srgbClr val="000000"/>
                          </a:solidFill>
                          <a:latin typeface="Calibri"/>
                        </a:rPr>
                        <a:t>creep scales with stress — at 11 % there is nothing to see</a:t>
                      </a:r>
                    </a:p>
                  </a:txBody>
                  <a:tcPr/>
                </a:tc>
                <a:tc>
                  <a:txBody>
                    <a:bodyPr lIns="54864" rIns="54864" tIns="18288" bIns="18288" wrap="square" anchor="ctr"/>
                    <a:lstStyle/>
                    <a:p>
                      <a:pPr algn="l"/>
                      <a:r>
                        <a:rPr sz="900" b="0">
                          <a:solidFill>
                            <a:srgbClr val="000000"/>
                          </a:solidFill>
                          <a:latin typeface="Calibri"/>
                        </a:rPr>
                        <a:t>600 N on a 50 %-infill specimen = 53 % of UTS</a:t>
                      </a:r>
                    </a:p>
                  </a:txBody>
                  <a:tcPr/>
                </a:tc>
                <a:tc>
                  <a:txBody>
                    <a:bodyPr lIns="54864" rIns="54864" tIns="18288" bIns="18288" wrap="square" anchor="ctr"/>
                    <a:lstStyle/>
                    <a:p>
                      <a:pPr algn="l"/>
                      <a:r>
                        <a:rPr sz="900" b="1">
                          <a:solidFill>
                            <a:srgbClr val="000000"/>
                          </a:solidFill>
                          <a:latin typeface="Calibri"/>
                        </a:rPr>
                        <a:t>signal ×77</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Hold only 40 s</a:t>
                      </a:r>
                    </a:p>
                  </a:txBody>
                  <a:tcPr/>
                </a:tc>
                <a:tc>
                  <a:txBody>
                    <a:bodyPr lIns="54864" rIns="54864" tIns="18288" bIns="18288" wrap="square" anchor="ctr"/>
                    <a:lstStyle/>
                    <a:p>
                      <a:pPr algn="l"/>
                      <a:r>
                        <a:rPr sz="900" b="0">
                          <a:solidFill>
                            <a:srgbClr val="000000"/>
                          </a:solidFill>
                          <a:latin typeface="Calibri"/>
                        </a:rPr>
                        <a:t>primary creep is log-shaped — it plays out over minutes</a:t>
                      </a:r>
                    </a:p>
                  </a:txBody>
                  <a:tcPr/>
                </a:tc>
                <a:tc>
                  <a:txBody>
                    <a:bodyPr lIns="54864" rIns="54864" tIns="18288" bIns="18288" wrap="square" anchor="ctr"/>
                    <a:lstStyle/>
                    <a:p>
                      <a:pPr algn="l"/>
                      <a:r>
                        <a:rPr sz="900" b="0">
                          <a:solidFill>
                            <a:srgbClr val="000000"/>
                          </a:solidFill>
                          <a:latin typeface="Calibri"/>
                        </a:rPr>
                        <a:t>877 s of settled hold</a:t>
                      </a:r>
                    </a:p>
                  </a:txBody>
                  <a:tcPr/>
                </a:tc>
                <a:tc>
                  <a:txBody>
                    <a:bodyPr lIns="54864" rIns="54864" tIns="18288" bIns="18288" wrap="square" anchor="ctr"/>
                    <a:lstStyle/>
                    <a:p>
                      <a:pPr algn="l"/>
                      <a:r>
                        <a:rPr sz="900" b="1">
                          <a:solidFill>
                            <a:srgbClr val="000000"/>
                          </a:solidFill>
                          <a:latin typeface="Calibri"/>
                        </a:rPr>
                        <a:t>22× longer</a:t>
                      </a:r>
                    </a:p>
                  </a:txBody>
                  <a:tcPr>
                    <a:solidFill>
                      <a:srgbClr val="C8E6C9"/>
                    </a:solidFill>
                  </a:tcPr>
                </a:tc>
              </a:tr>
              <a:tr h="274320">
                <a:tc>
                  <a:txBody>
                    <a:bodyPr lIns="54864" rIns="54864" tIns="18288" bIns="18288" wrap="square" anchor="ctr"/>
                    <a:lstStyle/>
                    <a:p>
                      <a:pPr algn="l"/>
                      <a:r>
                        <a:rPr sz="900" b="0">
                          <a:solidFill>
                            <a:srgbClr val="000000"/>
                          </a:solidFill>
                          <a:latin typeface="Calibri"/>
                        </a:rPr>
                        <a:t>No drift baseline existed</a:t>
                      </a:r>
                    </a:p>
                  </a:txBody>
                  <a:tcPr/>
                </a:tc>
                <a:tc>
                  <a:txBody>
                    <a:bodyPr lIns="54864" rIns="54864" tIns="18288" bIns="18288" wrap="square" anchor="ctr"/>
                    <a:lstStyle/>
                    <a:p>
                      <a:pPr algn="l"/>
                      <a:r>
                        <a:rPr sz="900" b="0">
                          <a:solidFill>
                            <a:srgbClr val="000000"/>
                          </a:solidFill>
                          <a:latin typeface="Calibri"/>
                        </a:rPr>
                        <a:t>any slow rise could equally be the instrument, so nothing could be attributed</a:t>
                      </a:r>
                    </a:p>
                  </a:txBody>
                  <a:tcPr/>
                </a:tc>
                <a:tc>
                  <a:txBody>
                    <a:bodyPr lIns="54864" rIns="54864" tIns="18288" bIns="18288" wrap="square" anchor="ctr"/>
                    <a:lstStyle/>
                    <a:p>
                      <a:pPr algn="l"/>
                      <a:r>
                        <a:rPr sz="900" b="0">
                          <a:solidFill>
                            <a:srgbClr val="000000"/>
                          </a:solidFill>
                          <a:latin typeface="Calibri"/>
                        </a:rPr>
                        <a:t>a 928 s zero-load run FIRST, same mounting</a:t>
                      </a:r>
                    </a:p>
                  </a:txBody>
                  <a:tcPr/>
                </a:tc>
                <a:tc>
                  <a:txBody>
                    <a:bodyPr lIns="54864" rIns="54864" tIns="18288" bIns="18288" wrap="square" anchor="ctr"/>
                    <a:lstStyle/>
                    <a:p>
                      <a:pPr algn="l"/>
                      <a:r>
                        <a:rPr sz="900" b="1">
                          <a:solidFill>
                            <a:srgbClr val="000000"/>
                          </a:solidFill>
                          <a:latin typeface="Calibri"/>
                        </a:rPr>
                        <a:t>drift measured: +0.2893 µε/s</a:t>
                      </a:r>
                    </a:p>
                  </a:txBody>
                  <a:tcPr>
                    <a:solidFill>
                      <a:srgbClr val="C8E6C9"/>
                    </a:solidFill>
                  </a:tcPr>
                </a:tc>
              </a:tr>
            </a:tbl>
          </a:graphicData>
        </a:graphic>
      </p:graphicFrame>
      <p:sp>
        <p:nvSpPr>
          <p:cNvPr id="8" name="Rectangle 7"/>
          <p:cNvSpPr/>
          <p:nvPr/>
        </p:nvSpPr>
        <p:spPr>
          <a:xfrm>
            <a:off x="411480" y="5486400"/>
            <a:ext cx="1138428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WHAT THE BASELINE BOUGHT: the drift was +268 µε over 928 s — 19 % of the whole raw signal, and about 60 % of what a textbook 6 % creep would have been. Without run 1 the answer would have been arguable; with it, the subtraction is good to ± 2 µε.</a:t>
            </a:r>
          </a:p>
        </p:txBody>
      </p:sp>
      <p:sp>
        <p:nvSpPr>
          <p:cNvPr id="9" name="Rectangle 8"/>
          <p:cNvSpPr/>
          <p:nvPr/>
        </p:nvSpPr>
        <p:spPr>
          <a:xfrm>
            <a:off x="411480" y="5998464"/>
            <a:ext cx="11384280" cy="38404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 NOISE FLOOR DEPENDS ON THE WINDOW: ± 12 µε on p198 is T1's own 40 s scatter; over a full 900 s window it is ± 26 µε. Any LONG-hold claim must be judged against 26, not 12.</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Honest limits: the creep/instantaneous ratio of 16.8 % is an UPPER bound (ε_inst is tared at preload), and n=1 — one specimen, one stress level. A compliance CURVE needs 3-4 levels.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SF9 — FOLLOW-UP CAMPAIGN REGISTER  (T6.4 – T9, 2026-08-11)</a:t>
            </a:r>
          </a:p>
        </p:txBody>
      </p:sp>
      <p:sp>
        <p:nvSpPr>
          <p:cNvPr id="5" name="TextBox 4"/>
          <p:cNvSpPr txBox="1"/>
          <p:nvPr/>
        </p:nvSpPr>
        <p:spPr>
          <a:xfrm>
            <a:off x="457200" y="1042415"/>
            <a:ext cx="11338560" cy="310896"/>
          </a:xfrm>
          <a:prstGeom prst="rect">
            <a:avLst/>
          </a:prstGeom>
          <a:noFill/>
        </p:spPr>
        <p:txBody>
          <a:bodyPr wrap="square" lIns="45720" rIns="45720" tIns="18288" bIns="18288" anchor="t">
            <a:spAutoFit/>
          </a:bodyPr>
          <a:lstStyle/>
          <a:p>
            <a:pPr algn="l"/>
            <a:r>
              <a:rPr sz="1100" b="0" i="1">
                <a:solidFill>
                  <a:srgbClr val="707070"/>
                </a:solidFill>
                <a:latin typeface="Calibri"/>
              </a:rPr>
              <a:t>Continues the T1–T8 register on p210. One session, two specimens, five runs — aimed squarely at the two negative results (cyclic hysteresis, creep) and at the first fatigue-damage number.</a:t>
            </a:r>
          </a:p>
        </p:txBody>
      </p:sp>
      <p:graphicFrame>
        <p:nvGraphicFramePr>
          <p:cNvPr id="6" name="Table 5"/>
          <p:cNvGraphicFramePr>
            <a:graphicFrameLocks noGrp="1"/>
          </p:cNvGraphicFramePr>
          <p:nvPr/>
        </p:nvGraphicFramePr>
        <p:xfrm>
          <a:off x="411480" y="1389888"/>
          <a:ext cx="11384274" cy="2194560"/>
        </p:xfrm>
        <a:graphic>
          <a:graphicData uri="http://schemas.openxmlformats.org/drawingml/2006/table">
            <a:tbl>
              <a:tblPr firstRow="1" bandRow="1">
                <a:tableStyleId>{5C22544A-7EE6-4342-B048-85BDC9FD1C3A}</a:tableStyleId>
              </a:tblPr>
              <a:tblGrid>
                <a:gridCol w="548639"/>
                <a:gridCol w="2148839"/>
                <a:gridCol w="777239"/>
                <a:gridCol w="960119"/>
                <a:gridCol w="6309359"/>
                <a:gridCol w="640079"/>
              </a:tblGrid>
              <a:tr h="365760">
                <a:tc>
                  <a:txBody>
                    <a:bodyPr lIns="54864" rIns="54864" tIns="18288" bIns="18288" wrap="square" anchor="ctr"/>
                    <a:lstStyle/>
                    <a:p>
                      <a:pPr algn="l"/>
                      <a:r>
                        <a:rPr sz="1000" b="1">
                          <a:solidFill>
                            <a:srgbClr val="FFFFFF"/>
                          </a:solidFill>
                          <a:latin typeface="Calibri"/>
                        </a:rPr>
                        <a:t>Test</a:t>
                      </a:r>
                    </a:p>
                  </a:txBody>
                  <a:tcPr>
                    <a:solidFill>
                      <a:srgbClr val="143D2F"/>
                    </a:solidFill>
                  </a:tcPr>
                </a:tc>
                <a:tc>
                  <a:txBody>
                    <a:bodyPr lIns="54864" rIns="54864" tIns="18288" bIns="18288" wrap="square" anchor="ctr"/>
                    <a:lstStyle/>
                    <a:p>
                      <a:pPr algn="l"/>
                      <a:r>
                        <a:rPr sz="1000" b="1">
                          <a:solidFill>
                            <a:srgbClr val="FFFFFF"/>
                          </a:solidFill>
                          <a:latin typeface="Calibri"/>
                        </a:rPr>
                        <a:t>Mode / variant</a:t>
                      </a:r>
                    </a:p>
                  </a:txBody>
                  <a:tcPr>
                    <a:solidFill>
                      <a:srgbClr val="143D2F"/>
                    </a:solidFill>
                  </a:tcPr>
                </a:tc>
                <a:tc>
                  <a:txBody>
                    <a:bodyPr lIns="54864" rIns="54864" tIns="18288" bIns="18288" wrap="square" anchor="ctr"/>
                    <a:lstStyle/>
                    <a:p>
                      <a:pPr algn="l"/>
                      <a:r>
                        <a:rPr sz="1000" b="1">
                          <a:solidFill>
                            <a:srgbClr val="FFFFFF"/>
                          </a:solidFill>
                          <a:latin typeface="Calibri"/>
                        </a:rPr>
                        <a:t>Spec.</a:t>
                      </a:r>
                    </a:p>
                  </a:txBody>
                  <a:tcPr>
                    <a:solidFill>
                      <a:srgbClr val="143D2F"/>
                    </a:solidFill>
                  </a:tcPr>
                </a:tc>
                <a:tc>
                  <a:txBody>
                    <a:bodyPr lIns="54864" rIns="54864" tIns="18288" bIns="18288" wrap="square" anchor="ctr"/>
                    <a:lstStyle/>
                    <a:p>
                      <a:pPr algn="l"/>
                      <a:r>
                        <a:rPr sz="1000" b="1">
                          <a:solidFill>
                            <a:srgbClr val="FFFFFF"/>
                          </a:solidFill>
                          <a:latin typeface="Calibri"/>
                        </a:rPr>
                        <a:t>When (2026)</a:t>
                      </a:r>
                    </a:p>
                  </a:txBody>
                  <a:tcPr>
                    <a:solidFill>
                      <a:srgbClr val="143D2F"/>
                    </a:solidFill>
                  </a:tcPr>
                </a:tc>
                <a:tc>
                  <a:txBody>
                    <a:bodyPr lIns="54864" rIns="54864" tIns="18288" bIns="18288" wrap="square" anchor="ctr"/>
                    <a:lstStyle/>
                    <a:p>
                      <a:pPr algn="l"/>
                      <a:r>
                        <a:rPr sz="1000" b="1">
                          <a:solidFill>
                            <a:srgbClr val="FFFFFF"/>
                          </a:solidFill>
                          <a:latin typeface="Calibri"/>
                        </a:rPr>
                        <a:t>Headline result</a:t>
                      </a:r>
                    </a:p>
                  </a:txBody>
                  <a:tcPr>
                    <a:solidFill>
                      <a:srgbClr val="143D2F"/>
                    </a:solidFill>
                  </a:tcPr>
                </a:tc>
                <a:tc>
                  <a:txBody>
                    <a:bodyPr lIns="54864" rIns="54864" tIns="18288" bIns="18288" wrap="square" anchor="ctr"/>
                    <a:lstStyle/>
                    <a:p>
                      <a:pPr algn="l"/>
                      <a:r>
                        <a:rPr sz="1000" b="1">
                          <a:solidFill>
                            <a:srgbClr val="FFFFFF"/>
                          </a:solidFill>
                          <a:latin typeface="Calibri"/>
                        </a:rPr>
                        <a:t>Slides</a:t>
                      </a:r>
                    </a:p>
                  </a:txBody>
                  <a:tcPr>
                    <a:solidFill>
                      <a:srgbClr val="143D2F"/>
                    </a:solidFill>
                  </a:tcPr>
                </a:tc>
              </a:tr>
              <a:tr h="365760">
                <a:tc>
                  <a:txBody>
                    <a:bodyPr lIns="54864" rIns="54864" tIns="18288" bIns="18288" wrap="square" anchor="ctr"/>
                    <a:lstStyle/>
                    <a:p>
                      <a:pPr algn="l"/>
                      <a:r>
                        <a:rPr sz="950" b="1">
                          <a:solidFill>
                            <a:srgbClr val="000000"/>
                          </a:solidFill>
                          <a:latin typeface="Calibri"/>
                        </a:rPr>
                        <a:t>T6.4</a:t>
                      </a:r>
                    </a:p>
                  </a:txBody>
                  <a:tcPr>
                    <a:solidFill>
                      <a:srgbClr val="FFF3CD"/>
                    </a:solidFill>
                  </a:tcPr>
                </a:tc>
                <a:tc>
                  <a:txBody>
                    <a:bodyPr lIns="54864" rIns="54864" tIns="18288" bIns="18288" wrap="square" anchor="ctr"/>
                    <a:lstStyle/>
                    <a:p>
                      <a:pPr algn="l"/>
                      <a:r>
                        <a:rPr sz="950" b="0">
                          <a:solidFill>
                            <a:srgbClr val="000000"/>
                          </a:solidFill>
                          <a:latin typeface="Calibri"/>
                        </a:rPr>
                        <a:t>Cyclic · Sine 400/1100 N</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14:06</a:t>
                      </a:r>
                    </a:p>
                  </a:txBody>
                  <a:tcPr/>
                </a:tc>
                <a:tc>
                  <a:txBody>
                    <a:bodyPr lIns="54864" rIns="54864" tIns="18288" bIns="18288" wrap="square" anchor="ctr"/>
                    <a:lstStyle/>
                    <a:p>
                      <a:pPr algn="l"/>
                      <a:r>
                        <a:rPr sz="950" b="0">
                          <a:solidFill>
                            <a:srgbClr val="000000"/>
                          </a:solidFill>
                          <a:latin typeface="Calibri"/>
                        </a:rPr>
                        <a:t>peak error 3.0 N and the loop opens up — but the CAMERA stopped at t ≈ 145 s, so cycles 4-8 have no strain (45 % frames)</a:t>
                      </a:r>
                    </a:p>
                  </a:txBody>
                  <a:tcPr>
                    <a:solidFill>
                      <a:srgbClr val="FFF3CD"/>
                    </a:solidFill>
                  </a:tcPr>
                </a:tc>
                <a:tc>
                  <a:txBody>
                    <a:bodyPr lIns="54864" rIns="54864" tIns="18288" bIns="18288" wrap="square" anchor="ctr"/>
                    <a:lstStyle/>
                    <a:p>
                      <a:pPr algn="l"/>
                      <a:r>
                        <a:rPr sz="950" b="0">
                          <a:solidFill>
                            <a:srgbClr val="000000"/>
                          </a:solidFill>
                          <a:latin typeface="Calibri"/>
                        </a:rPr>
                        <a:t>211-212</a:t>
                      </a:r>
                    </a:p>
                  </a:txBody>
                  <a:tcPr/>
                </a:tc>
              </a:tr>
              <a:tr h="365760">
                <a:tc>
                  <a:txBody>
                    <a:bodyPr lIns="54864" rIns="54864" tIns="18288" bIns="18288" wrap="square" anchor="ctr"/>
                    <a:lstStyle/>
                    <a:p>
                      <a:pPr algn="l"/>
                      <a:r>
                        <a:rPr sz="950" b="1">
                          <a:solidFill>
                            <a:srgbClr val="000000"/>
                          </a:solidFill>
                          <a:latin typeface="Calibri"/>
                        </a:rPr>
                        <a:t>T6.5</a:t>
                      </a:r>
                    </a:p>
                  </a:txBody>
                  <a:tcPr>
                    <a:solidFill>
                      <a:srgbClr val="C8E6C9"/>
                    </a:solidFill>
                  </a:tcPr>
                </a:tc>
                <a:tc>
                  <a:txBody>
                    <a:bodyPr lIns="54864" rIns="54864" tIns="18288" bIns="18288" wrap="square" anchor="ctr"/>
                    <a:lstStyle/>
                    <a:p>
                      <a:pPr algn="l"/>
                      <a:r>
                        <a:rPr sz="950" b="0">
                          <a:solidFill>
                            <a:srgbClr val="000000"/>
                          </a:solidFill>
                          <a:latin typeface="Calibri"/>
                        </a:rPr>
                        <a:t>Cyclic · Sine 400/1100 N</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14:45</a:t>
                      </a:r>
                    </a:p>
                  </a:txBody>
                  <a:tcPr/>
                </a:tc>
                <a:tc>
                  <a:txBody>
                    <a:bodyPr lIns="54864" rIns="54864" tIns="18288" bIns="18288" wrap="square" anchor="ctr"/>
                    <a:lstStyle/>
                    <a:p>
                      <a:pPr algn="l"/>
                      <a:r>
                        <a:rPr sz="950" b="0">
                          <a:solidFill>
                            <a:srgbClr val="000000"/>
                          </a:solidFill>
                          <a:latin typeface="Calibri"/>
                        </a:rPr>
                        <a:t>6 closed loops · area 14.2 → 10.9 kJ/m³ · unload E 1.49 → 1.43 GPa — the slide-ready cyclic result</a:t>
                      </a:r>
                    </a:p>
                  </a:txBody>
                  <a:tcPr/>
                </a:tc>
                <a:tc>
                  <a:txBody>
                    <a:bodyPr lIns="54864" rIns="54864" tIns="18288" bIns="18288" wrap="square" anchor="ctr"/>
                    <a:lstStyle/>
                    <a:p>
                      <a:pPr algn="l"/>
                      <a:r>
                        <a:rPr sz="950" b="0">
                          <a:solidFill>
                            <a:srgbClr val="000000"/>
                          </a:solidFill>
                          <a:latin typeface="Calibri"/>
                        </a:rPr>
                        <a:t>211-212</a:t>
                      </a:r>
                    </a:p>
                  </a:txBody>
                  <a:tcPr/>
                </a:tc>
              </a:tr>
              <a:tr h="365760">
                <a:tc>
                  <a:txBody>
                    <a:bodyPr lIns="54864" rIns="54864" tIns="18288" bIns="18288" wrap="square" anchor="ctr"/>
                    <a:lstStyle/>
                    <a:p>
                      <a:pPr algn="l"/>
                      <a:r>
                        <a:rPr sz="950" b="1">
                          <a:solidFill>
                            <a:srgbClr val="000000"/>
                          </a:solidFill>
                          <a:latin typeface="Calibri"/>
                        </a:rPr>
                        <a:t>T7.3</a:t>
                      </a:r>
                    </a:p>
                  </a:txBody>
                  <a:tcPr>
                    <a:solidFill>
                      <a:srgbClr val="C8E6C9"/>
                    </a:solidFill>
                  </a:tcPr>
                </a:tc>
                <a:tc>
                  <a:txBody>
                    <a:bodyPr lIns="54864" rIns="54864" tIns="18288" bIns="18288" wrap="square" anchor="ctr"/>
                    <a:lstStyle/>
                    <a:p>
                      <a:pPr algn="l"/>
                      <a:r>
                        <a:rPr sz="950" b="0">
                          <a:solidFill>
                            <a:srgbClr val="000000"/>
                          </a:solidFill>
                          <a:latin typeface="Calibri"/>
                        </a:rPr>
                        <a:t>Staircase → FRACTURE (fatigued)</a:t>
                      </a:r>
                    </a:p>
                  </a:txBody>
                  <a:tcPr/>
                </a:tc>
                <a:tc>
                  <a:txBody>
                    <a:bodyPr lIns="54864" rIns="54864" tIns="18288" bIns="18288" wrap="square" anchor="ctr"/>
                    <a:lstStyle/>
                    <a:p>
                      <a:pPr algn="l"/>
                      <a:r>
                        <a:rPr sz="950" b="0">
                          <a:solidFill>
                            <a:srgbClr val="000000"/>
                          </a:solidFill>
                          <a:latin typeface="Calibri"/>
                        </a:rPr>
                        <a:t>S22 50 %</a:t>
                      </a:r>
                    </a:p>
                  </a:txBody>
                  <a:tcPr/>
                </a:tc>
                <a:tc>
                  <a:txBody>
                    <a:bodyPr lIns="54864" rIns="54864" tIns="18288" bIns="18288" wrap="square" anchor="ctr"/>
                    <a:lstStyle/>
                    <a:p>
                      <a:pPr algn="l"/>
                      <a:r>
                        <a:rPr sz="950" b="0">
                          <a:solidFill>
                            <a:srgbClr val="000000"/>
                          </a:solidFill>
                          <a:latin typeface="Calibri"/>
                        </a:rPr>
                        <a:t>08-11 15:12</a:t>
                      </a:r>
                    </a:p>
                  </a:txBody>
                  <a:tcPr/>
                </a:tc>
                <a:tc>
                  <a:txBody>
                    <a:bodyPr lIns="54864" rIns="54864" tIns="18288" bIns="18288" wrap="square" anchor="ctr"/>
                    <a:lstStyle/>
                    <a:p>
                      <a:pPr algn="l"/>
                      <a:r>
                        <a:rPr sz="950" b="0">
                          <a:solidFill>
                            <a:srgbClr val="000000"/>
                          </a:solidFill>
                          <a:latin typeface="Calibri"/>
                        </a:rPr>
                        <a:t>residual strength after 16 cycles at 1100 N: 1272 N tared, TRUE UTS 19.74 MPa = -6.8 % vs S18 (same protocol); yield knee moved UP (load memory)</a:t>
                      </a:r>
                    </a:p>
                  </a:txBody>
                  <a:tcPr/>
                </a:tc>
                <a:tc>
                  <a:txBody>
                    <a:bodyPr lIns="54864" rIns="54864" tIns="18288" bIns="18288" wrap="square" anchor="ctr"/>
                    <a:lstStyle/>
                    <a:p>
                      <a:pPr algn="l"/>
                      <a:r>
                        <a:rPr sz="950" b="0">
                          <a:solidFill>
                            <a:srgbClr val="000000"/>
                          </a:solidFill>
                          <a:latin typeface="Calibri"/>
                        </a:rPr>
                        <a:t>208 · 216</a:t>
                      </a:r>
                    </a:p>
                  </a:txBody>
                  <a:tcPr/>
                </a:tc>
              </a:tr>
              <a:tr h="365760">
                <a:tc>
                  <a:txBody>
                    <a:bodyPr lIns="54864" rIns="54864" tIns="18288" bIns="18288" wrap="square" anchor="ctr"/>
                    <a:lstStyle/>
                    <a:p>
                      <a:pPr algn="l"/>
                      <a:r>
                        <a:rPr sz="950" b="1">
                          <a:solidFill>
                            <a:srgbClr val="000000"/>
                          </a:solidFill>
                          <a:latin typeface="Calibri"/>
                        </a:rPr>
                        <a:t>T9-a</a:t>
                      </a:r>
                    </a:p>
                  </a:txBody>
                  <a:tcPr>
                    <a:solidFill>
                      <a:srgbClr val="C8E6C9"/>
                    </a:solidFill>
                  </a:tcPr>
                </a:tc>
                <a:tc>
                  <a:txBody>
                    <a:bodyPr lIns="54864" rIns="54864" tIns="18288" bIns="18288" wrap="square" anchor="ctr"/>
                    <a:lstStyle/>
                    <a:p>
                      <a:pPr algn="l"/>
                      <a:r>
                        <a:rPr sz="950" b="0">
                          <a:solidFill>
                            <a:srgbClr val="000000"/>
                          </a:solidFill>
                          <a:latin typeface="Calibri"/>
                        </a:rPr>
                        <a:t>Creep · zero-load BASELINE</a:t>
                      </a:r>
                    </a:p>
                  </a:txBody>
                  <a:tcPr/>
                </a:tc>
                <a:tc>
                  <a:txBody>
                    <a:bodyPr lIns="54864" rIns="54864" tIns="18288" bIns="18288" wrap="square" anchor="ctr"/>
                    <a:lstStyle/>
                    <a:p>
                      <a:pPr algn="l"/>
                      <a:r>
                        <a:rPr sz="950" b="0">
                          <a:solidFill>
                            <a:srgbClr val="000000"/>
                          </a:solidFill>
                          <a:latin typeface="Calibri"/>
                        </a:rPr>
                        <a:t>S23 50 %</a:t>
                      </a:r>
                    </a:p>
                  </a:txBody>
                  <a:tcPr/>
                </a:tc>
                <a:tc>
                  <a:txBody>
                    <a:bodyPr lIns="54864" rIns="54864" tIns="18288" bIns="18288" wrap="square" anchor="ctr"/>
                    <a:lstStyle/>
                    <a:p>
                      <a:pPr algn="l"/>
                      <a:r>
                        <a:rPr sz="950" b="0">
                          <a:solidFill>
                            <a:srgbClr val="000000"/>
                          </a:solidFill>
                          <a:latin typeface="Calibri"/>
                        </a:rPr>
                        <a:t>08-11 15:50</a:t>
                      </a:r>
                    </a:p>
                  </a:txBody>
                  <a:tcPr/>
                </a:tc>
                <a:tc>
                  <a:txBody>
                    <a:bodyPr lIns="54864" rIns="54864" tIns="18288" bIns="18288" wrap="square" anchor="ctr"/>
                    <a:lstStyle/>
                    <a:p>
                      <a:pPr algn="l"/>
                      <a:r>
                        <a:rPr sz="950" b="0">
                          <a:solidFill>
                            <a:srgbClr val="000000"/>
                          </a:solidFill>
                          <a:latin typeface="Calibri"/>
                        </a:rPr>
                        <a:t>928 s at 20.6 N, crosshead frozen: drift +0.2893 µε/s (R² 0.90), noise floor ± 26 µε</a:t>
                      </a:r>
                    </a:p>
                  </a:txBody>
                  <a:tcPr/>
                </a:tc>
                <a:tc>
                  <a:txBody>
                    <a:bodyPr lIns="54864" rIns="54864" tIns="18288" bIns="18288" wrap="square" anchor="ctr"/>
                    <a:lstStyle/>
                    <a:p>
                      <a:pPr algn="l"/>
                      <a:r>
                        <a:rPr sz="950" b="0">
                          <a:solidFill>
                            <a:srgbClr val="000000"/>
                          </a:solidFill>
                          <a:latin typeface="Calibri"/>
                        </a:rPr>
                        <a:t>213</a:t>
                      </a:r>
                    </a:p>
                  </a:txBody>
                  <a:tcPr/>
                </a:tc>
              </a:tr>
              <a:tr h="365760">
                <a:tc>
                  <a:txBody>
                    <a:bodyPr lIns="54864" rIns="54864" tIns="18288" bIns="18288" wrap="square" anchor="ctr"/>
                    <a:lstStyle/>
                    <a:p>
                      <a:pPr algn="l"/>
                      <a:r>
                        <a:rPr sz="950" b="1">
                          <a:solidFill>
                            <a:srgbClr val="000000"/>
                          </a:solidFill>
                          <a:latin typeface="Calibri"/>
                        </a:rPr>
                        <a:t>T9-b</a:t>
                      </a:r>
                    </a:p>
                  </a:txBody>
                  <a:tcPr>
                    <a:solidFill>
                      <a:srgbClr val="C8E6C9"/>
                    </a:solidFill>
                  </a:tcPr>
                </a:tc>
                <a:tc>
                  <a:txBody>
                    <a:bodyPr lIns="54864" rIns="54864" tIns="18288" bIns="18288" wrap="square" anchor="ctr"/>
                    <a:lstStyle/>
                    <a:p>
                      <a:pPr algn="l"/>
                      <a:r>
                        <a:rPr sz="950" b="0">
                          <a:solidFill>
                            <a:srgbClr val="000000"/>
                          </a:solidFill>
                          <a:latin typeface="Calibri"/>
                        </a:rPr>
                        <a:t>Creep · 600 N tared</a:t>
                      </a:r>
                    </a:p>
                  </a:txBody>
                  <a:tcPr/>
                </a:tc>
                <a:tc>
                  <a:txBody>
                    <a:bodyPr lIns="54864" rIns="54864" tIns="18288" bIns="18288" wrap="square" anchor="ctr"/>
                    <a:lstStyle/>
                    <a:p>
                      <a:pPr algn="l"/>
                      <a:r>
                        <a:rPr sz="950" b="0">
                          <a:solidFill>
                            <a:srgbClr val="000000"/>
                          </a:solidFill>
                          <a:latin typeface="Calibri"/>
                        </a:rPr>
                        <a:t>S23 50 %</a:t>
                      </a:r>
                    </a:p>
                  </a:txBody>
                  <a:tcPr/>
                </a:tc>
                <a:tc>
                  <a:txBody>
                    <a:bodyPr lIns="54864" rIns="54864" tIns="18288" bIns="18288" wrap="square" anchor="ctr"/>
                    <a:lstStyle/>
                    <a:p>
                      <a:pPr algn="l"/>
                      <a:r>
                        <a:rPr sz="950" b="0">
                          <a:solidFill>
                            <a:srgbClr val="000000"/>
                          </a:solidFill>
                          <a:latin typeface="Calibri"/>
                        </a:rPr>
                        <a:t>08-11 16:26</a:t>
                      </a:r>
                    </a:p>
                  </a:txBody>
                  <a:tcPr/>
                </a:tc>
                <a:tc>
                  <a:txBody>
                    <a:bodyPr lIns="54864" rIns="54864" tIns="18288" bIns="18288" wrap="square" anchor="ctr"/>
                    <a:lstStyle/>
                    <a:p>
                      <a:pPr algn="l"/>
                      <a:r>
                        <a:rPr sz="950" b="0">
                          <a:solidFill>
                            <a:srgbClr val="000000"/>
                          </a:solidFill>
                          <a:latin typeface="Calibri"/>
                        </a:rPr>
                        <a:t>held 596.5 ± 1.3 N for 877 s → +1080 µε drift-corrected (41× noise), Findley n = 0.48; +172 µm crosshead needed to hold it</a:t>
                      </a:r>
                    </a:p>
                  </a:txBody>
                  <a:tcPr/>
                </a:tc>
                <a:tc>
                  <a:txBody>
                    <a:bodyPr lIns="54864" rIns="54864" tIns="18288" bIns="18288" wrap="square" anchor="ctr"/>
                    <a:lstStyle/>
                    <a:p>
                      <a:pPr algn="l"/>
                      <a:r>
                        <a:rPr sz="950" b="0">
                          <a:solidFill>
                            <a:srgbClr val="000000"/>
                          </a:solidFill>
                          <a:latin typeface="Calibri"/>
                        </a:rPr>
                        <a:t>213-215</a:t>
                      </a:r>
                    </a:p>
                  </a:txBody>
                  <a:tcPr/>
                </a:tc>
              </a:tr>
            </a:tbl>
          </a:graphicData>
        </a:graphic>
      </p:graphicFrame>
      <p:sp>
        <p:nvSpPr>
          <p:cNvPr id="7" name="Rectangle 6"/>
          <p:cNvSpPr/>
          <p:nvPr/>
        </p:nvSpPr>
        <p:spPr>
          <a:xfrm>
            <a:off x="411480" y="3749039"/>
            <a:ext cx="11384280" cy="56692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Two negative results turned positive in ONE session, by changing NUMBERS only — no new hardware, no code change to the control engine. Cyclic needed a higher window (400→1100 N instead of 100→500 N); creep needed more stress, more time, and a baseline.</a:t>
            </a:r>
          </a:p>
        </p:txBody>
      </p:sp>
      <p:sp>
        <p:nvSpPr>
          <p:cNvPr id="8" name="TextBox 7"/>
          <p:cNvSpPr txBox="1"/>
          <p:nvPr/>
        </p:nvSpPr>
        <p:spPr>
          <a:xfrm>
            <a:off x="457200" y="448056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now CLOSED</a:t>
            </a:r>
          </a:p>
        </p:txBody>
      </p:sp>
      <p:sp>
        <p:nvSpPr>
          <p:cNvPr id="9" name="TextBox 8"/>
          <p:cNvSpPr txBox="1"/>
          <p:nvPr/>
        </p:nvSpPr>
        <p:spPr>
          <a:xfrm>
            <a:off x="457200" y="4791456"/>
            <a:ext cx="5532120" cy="1417320"/>
          </a:xfrm>
          <a:prstGeom prst="rect">
            <a:avLst/>
          </a:prstGeom>
          <a:noFill/>
        </p:spPr>
        <p:txBody>
          <a:bodyPr wrap="square" lIns="45720" rIns="45720" tIns="18288" bIns="18288" anchor="t">
            <a:spAutoFit/>
          </a:bodyPr>
          <a:lstStyle/>
          <a:p>
            <a:pPr algn="l"/>
            <a:r>
              <a:rPr sz="1050" b="0" i="0">
                <a:solidFill>
                  <a:srgbClr val="000000"/>
                </a:solidFill>
                <a:latin typeface="Calibri"/>
              </a:rPr>
              <a:t>•  Cyclic hysteresis is measurable — loop area AND unload modulus both trend (p213-214).
•  Creep is measurable — +1080 µε at 41× the noise floor, decelerating (p216-217).
•  The DIC noise floor is now MEASURED over a full 900 s window: ± 26 µε.
•  Fatigue damage has a first number: -6.8 % TRUE UTS after 16 cycles at 79 % of fracture,
   measured against S18 — the run that used the SAME protocol (T7.3).
•  A fixed-grip relaxation tail comes free at the end of every creep run.</a:t>
            </a:r>
          </a:p>
        </p:txBody>
      </p:sp>
      <p:sp>
        <p:nvSpPr>
          <p:cNvPr id="10" name="TextBox 9"/>
          <p:cNvSpPr txBox="1"/>
          <p:nvPr/>
        </p:nvSpPr>
        <p:spPr>
          <a:xfrm>
            <a:off x="6263640" y="448056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still OPEN</a:t>
            </a:r>
          </a:p>
        </p:txBody>
      </p:sp>
      <p:sp>
        <p:nvSpPr>
          <p:cNvPr id="11" name="TextBox 10"/>
          <p:cNvSpPr txBox="1"/>
          <p:nvPr/>
        </p:nvSpPr>
        <p:spPr>
          <a:xfrm>
            <a:off x="6263640" y="4791456"/>
            <a:ext cx="5532120" cy="1417320"/>
          </a:xfrm>
          <a:prstGeom prst="rect">
            <a:avLst/>
          </a:prstGeom>
          <a:noFill/>
        </p:spPr>
        <p:txBody>
          <a:bodyPr wrap="square" lIns="45720" rIns="45720" tIns="18288" bIns="18288" anchor="t">
            <a:spAutoFit/>
          </a:bodyPr>
          <a:lstStyle/>
          <a:p>
            <a:pPr algn="l"/>
            <a:r>
              <a:rPr sz="1050" b="0" i="0">
                <a:solidFill>
                  <a:srgbClr val="000000"/>
                </a:solidFill>
                <a:latin typeface="Calibri"/>
              </a:rPr>
              <a:t>•  No damage curve D = 1 − Eᵢ/E₀ — T6.4 lost DIC, T6.5 started already damaged, and E RECOVERED over the 40 min between them, so there is no valid E₀.  ▸ T6.6: fresh specimen, 12 cycles, ONE continuous run, baseline E on cycle 2.
•  Creep at ONE stress level only — a compliance curve needs 3-4 levels.
•  The `Infill` CSV header still writes 100 % after an app restart (label only).</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CSVs: Software/UTM_PyQt6/Test data/Smart Features - Advanced Test Modes/&lt;specimen folder&gt;/. Every number on this page is recomputed by documentation/scripts/sf9_data.py — the table is generated, not typed.</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 S26 — FRAME CAPTURE, CHECKED AGAINST THE TEST DATA</a:t>
            </a:r>
          </a:p>
        </p:txBody>
      </p:sp>
      <p:sp>
        <p:nvSpPr>
          <p:cNvPr id="5" name="TextBox 4"/>
          <p:cNvSpPr txBox="1"/>
          <p:nvPr/>
        </p:nvSpPr>
        <p:spPr>
          <a:xfrm>
            <a:off x="365760" y="1078992"/>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Two 100 % infill runs pulled to fracture on 2026-08-17 with capture armed. These videos are going to an extensometer package, so the question is not “did it record” but “is every frame real, distinct, and matched to a load sample”.</a:t>
            </a:r>
          </a:p>
        </p:txBody>
      </p:sp>
      <p:graphicFrame>
        <p:nvGraphicFramePr>
          <p:cNvPr id="6" name="Table 5"/>
          <p:cNvGraphicFramePr>
            <a:graphicFrameLocks noGrp="1"/>
          </p:cNvGraphicFramePr>
          <p:nvPr/>
        </p:nvGraphicFramePr>
        <p:xfrm>
          <a:off x="365760" y="1627632"/>
          <a:ext cx="7635238" cy="4224528"/>
        </p:xfrm>
        <a:graphic>
          <a:graphicData uri="http://schemas.openxmlformats.org/drawingml/2006/table">
            <a:tbl>
              <a:tblPr firstRow="1" bandRow="1">
                <a:tableStyleId>{5C22544A-7EE6-4342-B048-85BDC9FD1C3A}</a:tableStyleId>
              </a:tblPr>
              <a:tblGrid>
                <a:gridCol w="3539515"/>
                <a:gridCol w="1567499"/>
                <a:gridCol w="1567499"/>
                <a:gridCol w="960725"/>
              </a:tblGrid>
              <a:tr h="301752">
                <a:tc>
                  <a:txBody>
                    <a:bodyPr lIns="54864" rIns="54864" tIns="18288" bIns="18288" wrap="square" anchor="ctr"/>
                    <a:lstStyle/>
                    <a:p>
                      <a:pPr algn="l"/>
                      <a:r>
                        <a:rPr sz="1050" b="1">
                          <a:solidFill>
                            <a:srgbClr val="FFFFFF"/>
                          </a:solidFill>
                          <a:latin typeface="Calibri"/>
                        </a:rPr>
                        <a:t>Check</a:t>
                      </a:r>
                    </a:p>
                  </a:txBody>
                  <a:tcPr>
                    <a:solidFill>
                      <a:srgbClr val="143D2F"/>
                    </a:solidFill>
                  </a:tcPr>
                </a:tc>
                <a:tc>
                  <a:txBody>
                    <a:bodyPr lIns="54864" rIns="54864" tIns="18288" bIns="18288" wrap="square" anchor="ctr"/>
                    <a:lstStyle/>
                    <a:p>
                      <a:pPr algn="l"/>
                      <a:r>
                        <a:rPr sz="1050" b="1">
                          <a:solidFill>
                            <a:srgbClr val="FFFFFF"/>
                          </a:solidFill>
                          <a:latin typeface="Calibri"/>
                        </a:rPr>
                        <a:t>S25 · VC2</a:t>
                      </a:r>
                    </a:p>
                  </a:txBody>
                  <a:tcPr>
                    <a:solidFill>
                      <a:srgbClr val="143D2F"/>
                    </a:solidFill>
                  </a:tcPr>
                </a:tc>
                <a:tc>
                  <a:txBody>
                    <a:bodyPr lIns="54864" rIns="54864" tIns="18288" bIns="18288" wrap="square" anchor="ctr"/>
                    <a:lstStyle/>
                    <a:p>
                      <a:pPr algn="l"/>
                      <a:r>
                        <a:rPr sz="1050" b="1">
                          <a:solidFill>
                            <a:srgbClr val="FFFFFF"/>
                          </a:solidFill>
                          <a:latin typeface="Calibri"/>
                        </a:rPr>
                        <a:t>S26 · VC3</a:t>
                      </a:r>
                    </a:p>
                  </a:txBody>
                  <a:tcPr>
                    <a:solidFill>
                      <a:srgbClr val="143D2F"/>
                    </a:solidFill>
                  </a:tcPr>
                </a:tc>
                <a:tc>
                  <a:txBody>
                    <a:bodyPr lIns="54864" rIns="54864" tIns="18288" bIns="18288" wrap="square" anchor="ctr"/>
                    <a:lstStyle/>
                    <a:p>
                      <a:pPr algn="l"/>
                      <a:r>
                        <a:rPr sz="1050" b="1">
                          <a:solidFill>
                            <a:srgbClr val="FFFFFF"/>
                          </a:solidFill>
                          <a:latin typeface="Calibri"/>
                        </a:rPr>
                        <a:t>Verdict</a:t>
                      </a:r>
                    </a:p>
                  </a:txBody>
                  <a:tcPr>
                    <a:solidFill>
                      <a:srgbClr val="143D2F"/>
                    </a:solidFill>
                  </a:tcPr>
                </a:tc>
              </a:tr>
              <a:tr h="301752">
                <a:tc>
                  <a:txBody>
                    <a:bodyPr lIns="54864" rIns="54864" tIns="18288" bIns="18288" wrap="square" anchor="ctr"/>
                    <a:lstStyle/>
                    <a:p>
                      <a:pPr algn="l"/>
                      <a:r>
                        <a:rPr sz="1000" b="0">
                          <a:solidFill>
                            <a:srgbClr val="000000"/>
                          </a:solidFill>
                          <a:latin typeface="Calibri"/>
                        </a:rPr>
                        <a:t>PNG stills written</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video.avi (raw)</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video_boost.avi</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video_speckle.avi</a:t>
                      </a:r>
                    </a:p>
                  </a:txBody>
                  <a:tcPr/>
                </a:tc>
                <a:tc>
                  <a:txBody>
                    <a:bodyPr lIns="54864" rIns="54864" tIns="18288" bIns="18288" wrap="square" anchor="ctr"/>
                    <a:lstStyle/>
                    <a:p>
                      <a:pPr algn="l"/>
                      <a:r>
                        <a:rPr sz="1000" b="0">
                          <a:solidFill>
                            <a:srgbClr val="000000"/>
                          </a:solidFill>
                          <a:latin typeface="Calibri"/>
                        </a:rPr>
                        <a:t>1445</a:t>
                      </a:r>
                    </a:p>
                  </a:txBody>
                  <a:tcPr/>
                </a:tc>
                <a:tc>
                  <a:txBody>
                    <a:bodyPr lIns="54864" rIns="54864" tIns="18288" bIns="18288" wrap="square" anchor="ctr"/>
                    <a:lstStyle/>
                    <a:p>
                      <a:pPr algn="l"/>
                      <a:r>
                        <a:rPr sz="1000" b="0">
                          <a:solidFill>
                            <a:srgbClr val="000000"/>
                          </a:solidFill>
                          <a:latin typeface="Calibri"/>
                        </a:rPr>
                        <a:t>1682</a:t>
                      </a:r>
                    </a:p>
                  </a:txBody>
                  <a:tcPr/>
                </a:tc>
                <a:tc>
                  <a:txBody>
                    <a:bodyPr lIns="54864" rIns="54864" tIns="18288" bIns="18288" wrap="square" anchor="ctr"/>
                    <a:lstStyle/>
                    <a:p>
                      <a:pPr algn="l"/>
                      <a:r>
                        <a:rPr sz="1000" b="0">
                          <a:solidFill>
                            <a:srgbClr val="000000"/>
                          </a:solidFill>
                          <a:latin typeface="Calibri"/>
                        </a:rPr>
                        <a:t>—</a:t>
                      </a:r>
                    </a:p>
                  </a:txBody>
                  <a:tcPr/>
                </a:tc>
              </a:tr>
              <a:tr h="301752">
                <a:tc>
                  <a:txBody>
                    <a:bodyPr lIns="54864" rIns="54864" tIns="18288" bIns="18288" wrap="square" anchor="ctr"/>
                    <a:lstStyle/>
                    <a:p>
                      <a:pPr algn="l"/>
                      <a:r>
                        <a:rPr sz="1000" b="0">
                          <a:solidFill>
                            <a:srgbClr val="000000"/>
                          </a:solidFill>
                          <a:latin typeface="Calibri"/>
                        </a:rPr>
                        <a:t>All four sinks hold the same count</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Dropped frames (implied by timestamps)</a:t>
                      </a:r>
                    </a:p>
                  </a:txBody>
                  <a:tcPr/>
                </a:tc>
                <a:tc>
                  <a:txBody>
                    <a:bodyPr lIns="54864" rIns="54864" tIns="18288" bIns="18288" wrap="square" anchor="ctr"/>
                    <a:lstStyle/>
                    <a:p>
                      <a:pPr algn="l"/>
                      <a:r>
                        <a:rPr sz="1000" b="0">
                          <a:solidFill>
                            <a:srgbClr val="000000"/>
                          </a:solidFill>
                          <a:latin typeface="Calibri"/>
                        </a:rPr>
                        <a:t>0</a:t>
                      </a:r>
                    </a:p>
                  </a:txBody>
                  <a:tcPr/>
                </a:tc>
                <a:tc>
                  <a:txBody>
                    <a:bodyPr lIns="54864" rIns="54864" tIns="18288" bIns="18288" wrap="square" anchor="ctr"/>
                    <a:lstStyle/>
                    <a:p>
                      <a:pPr algn="l"/>
                      <a:r>
                        <a:rPr sz="1000" b="0">
                          <a:solidFill>
                            <a:srgbClr val="000000"/>
                          </a:solidFill>
                          <a:latin typeface="Calibri"/>
                        </a:rPr>
                        <a:t>0</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Capture rate (median interval)</a:t>
                      </a:r>
                    </a:p>
                  </a:txBody>
                  <a:tcPr/>
                </a:tc>
                <a:tc>
                  <a:txBody>
                    <a:bodyPr lIns="54864" rIns="54864" tIns="18288" bIns="18288" wrap="square" anchor="ctr"/>
                    <a:lstStyle/>
                    <a:p>
                      <a:pPr algn="l"/>
                      <a:r>
                        <a:rPr sz="1000" b="0">
                          <a:solidFill>
                            <a:srgbClr val="000000"/>
                          </a:solidFill>
                          <a:latin typeface="Calibri"/>
                        </a:rPr>
                        <a:t>19.9 fps (50.2 ms)</a:t>
                      </a:r>
                    </a:p>
                  </a:txBody>
                  <a:tcPr/>
                </a:tc>
                <a:tc>
                  <a:txBody>
                    <a:bodyPr lIns="54864" rIns="54864" tIns="18288" bIns="18288" wrap="square" anchor="ctr"/>
                    <a:lstStyle/>
                    <a:p>
                      <a:pPr algn="l"/>
                      <a:r>
                        <a:rPr sz="1000" b="0">
                          <a:solidFill>
                            <a:srgbClr val="000000"/>
                          </a:solidFill>
                          <a:latin typeface="Calibri"/>
                        </a:rPr>
                        <a:t>19.9 fps (50.2 ms)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Worst interval (p95)</a:t>
                      </a:r>
                    </a:p>
                  </a:txBody>
                  <a:tcPr/>
                </a:tc>
                <a:tc>
                  <a:txBody>
                    <a:bodyPr lIns="54864" rIns="54864" tIns="18288" bIns="18288" wrap="square" anchor="ctr"/>
                    <a:lstStyle/>
                    <a:p>
                      <a:pPr algn="l"/>
                      <a:r>
                        <a:rPr sz="1000" b="0">
                          <a:solidFill>
                            <a:srgbClr val="000000"/>
                          </a:solidFill>
                          <a:latin typeface="Calibri"/>
                        </a:rPr>
                        <a:t>52.3 ms</a:t>
                      </a:r>
                    </a:p>
                  </a:txBody>
                  <a:tcPr/>
                </a:tc>
                <a:tc>
                  <a:txBody>
                    <a:bodyPr lIns="54864" rIns="54864" tIns="18288" bIns="18288" wrap="square" anchor="ctr"/>
                    <a:lstStyle/>
                    <a:p>
                      <a:pPr algn="l"/>
                      <a:r>
                        <a:rPr sz="1000" b="0">
                          <a:solidFill>
                            <a:srgbClr val="000000"/>
                          </a:solidFill>
                          <a:latin typeface="Calibri"/>
                        </a:rPr>
                        <a:t>52.4 ms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SF11 run.json points at this CSV</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0">
                          <a:solidFill>
                            <a:srgbClr val="000000"/>
                          </a:solidFill>
                          <a:latin typeface="Calibri"/>
                        </a:rPr>
                        <a:t>yes</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DIC coverage (CSV header)</a:t>
                      </a:r>
                    </a:p>
                  </a:txBody>
                  <a:tcPr/>
                </a:tc>
                <a:tc>
                  <a:txBody>
                    <a:bodyPr lIns="54864" rIns="54864" tIns="18288" bIns="18288" wrap="square" anchor="ctr"/>
                    <a:lstStyle/>
                    <a:p>
                      <a:pPr algn="l"/>
                      <a:r>
                        <a:rPr sz="1000" b="0">
                          <a:solidFill>
                            <a:srgbClr val="000000"/>
                          </a:solidFill>
                          <a:latin typeface="Calibri"/>
                        </a:rPr>
                        <a:t>100%</a:t>
                      </a:r>
                    </a:p>
                  </a:txBody>
                  <a:tcPr/>
                </a:tc>
                <a:tc>
                  <a:txBody>
                    <a:bodyPr lIns="54864" rIns="54864" tIns="18288" bIns="18288" wrap="square" anchor="ctr"/>
                    <a:lstStyle/>
                    <a:p>
                      <a:pPr algn="l"/>
                      <a:r>
                        <a:rPr sz="1000" b="0">
                          <a:solidFill>
                            <a:srgbClr val="000000"/>
                          </a:solidFill>
                          <a:latin typeface="Calibri"/>
                        </a:rPr>
                        <a:t>100%</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DIC health (CSV header)</a:t>
                      </a:r>
                    </a:p>
                  </a:txBody>
                  <a:tcPr/>
                </a:tc>
                <a:tc>
                  <a:txBody>
                    <a:bodyPr lIns="54864" rIns="54864" tIns="18288" bIns="18288" wrap="square" anchor="ctr"/>
                    <a:lstStyle/>
                    <a:p>
                      <a:pPr algn="l"/>
                      <a:r>
                        <a:rPr sz="1000" b="0">
                          <a:solidFill>
                            <a:srgbClr val="000000"/>
                          </a:solidFill>
                          <a:latin typeface="Calibri"/>
                        </a:rPr>
                        <a:t>100% frames tracked 2/2</a:t>
                      </a:r>
                    </a:p>
                  </a:txBody>
                  <a:tcPr/>
                </a:tc>
                <a:tc>
                  <a:txBody>
                    <a:bodyPr lIns="54864" rIns="54864" tIns="18288" bIns="18288" wrap="square" anchor="ctr"/>
                    <a:lstStyle/>
                    <a:p>
                      <a:pPr algn="l"/>
                      <a:r>
                        <a:rPr sz="1000" b="0">
                          <a:solidFill>
                            <a:srgbClr val="000000"/>
                          </a:solidFill>
                          <a:latin typeface="Calibri"/>
                        </a:rPr>
                        <a:t>100% frames tracked 2/2</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Replay: frames byte-distinct</a:t>
                      </a:r>
                    </a:p>
                  </a:txBody>
                  <a:tcPr/>
                </a:tc>
                <a:tc>
                  <a:txBody>
                    <a:bodyPr lIns="54864" rIns="54864" tIns="18288" bIns="18288" wrap="square" anchor="ctr"/>
                    <a:lstStyle/>
                    <a:p>
                      <a:pPr algn="l"/>
                      <a:r>
                        <a:rPr sz="1000" b="0">
                          <a:solidFill>
                            <a:srgbClr val="000000"/>
                          </a:solidFill>
                          <a:latin typeface="Calibri"/>
                        </a:rPr>
                        <a:t>100.0 %</a:t>
                      </a:r>
                    </a:p>
                  </a:txBody>
                  <a:tcPr/>
                </a:tc>
                <a:tc>
                  <a:txBody>
                    <a:bodyPr lIns="54864" rIns="54864" tIns="18288" bIns="18288" wrap="square" anchor="ctr"/>
                    <a:lstStyle/>
                    <a:p>
                      <a:pPr algn="l"/>
                      <a:r>
                        <a:rPr sz="1000" b="0">
                          <a:solidFill>
                            <a:srgbClr val="000000"/>
                          </a:solidFill>
                          <a:latin typeface="Calibri"/>
                        </a:rPr>
                        <a:t>100.0 %</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r h="301752">
                <a:tc>
                  <a:txBody>
                    <a:bodyPr lIns="54864" rIns="54864" tIns="18288" bIns="18288" wrap="square" anchor="ctr"/>
                    <a:lstStyle/>
                    <a:p>
                      <a:pPr algn="l"/>
                      <a:r>
                        <a:rPr sz="1000" b="0">
                          <a:solidFill>
                            <a:srgbClr val="000000"/>
                          </a:solidFill>
                          <a:latin typeface="Calibri"/>
                        </a:rPr>
                        <a:t>Replay: 2 markers found by the app's detector</a:t>
                      </a:r>
                    </a:p>
                  </a:txBody>
                  <a:tcPr/>
                </a:tc>
                <a:tc>
                  <a:txBody>
                    <a:bodyPr lIns="54864" rIns="54864" tIns="18288" bIns="18288" wrap="square" anchor="ctr"/>
                    <a:lstStyle/>
                    <a:p>
                      <a:pPr algn="l"/>
                      <a:r>
                        <a:rPr sz="1000" b="0">
                          <a:solidFill>
                            <a:srgbClr val="000000"/>
                          </a:solidFill>
                          <a:latin typeface="Calibri"/>
                        </a:rPr>
                        <a:t>99.8 %</a:t>
                      </a:r>
                    </a:p>
                  </a:txBody>
                  <a:tcPr/>
                </a:tc>
                <a:tc>
                  <a:txBody>
                    <a:bodyPr lIns="54864" rIns="54864" tIns="18288" bIns="18288" wrap="square" anchor="ctr"/>
                    <a:lstStyle/>
                    <a:p>
                      <a:pPr algn="l"/>
                      <a:r>
                        <a:rPr sz="1000" b="0">
                          <a:solidFill>
                            <a:srgbClr val="000000"/>
                          </a:solidFill>
                          <a:latin typeface="Calibri"/>
                        </a:rPr>
                        <a:t>99.9 %</a:t>
                      </a:r>
                    </a:p>
                  </a:txBody>
                  <a:tcPr/>
                </a:tc>
                <a:tc>
                  <a:txBody>
                    <a:bodyPr lIns="54864" rIns="54864" tIns="18288" bIns="18288" wrap="square" anchor="ctr"/>
                    <a:lstStyle/>
                    <a:p>
                      <a:pPr algn="l"/>
                      <a:r>
                        <a:rPr sz="1000" b="1">
                          <a:solidFill>
                            <a:srgbClr val="000000"/>
                          </a:solidFill>
                          <a:latin typeface="Calibri"/>
                        </a:rPr>
                        <a:t>PASS</a:t>
                      </a:r>
                    </a:p>
                  </a:txBody>
                  <a:tcPr>
                    <a:solidFill>
                      <a:srgbClr val="C8E6C9"/>
                    </a:solidFill>
                  </a:tcPr>
                </a:tc>
              </a:tr>
            </a:tbl>
          </a:graphicData>
        </a:graphic>
      </p:graphicFrame>
      <p:sp>
        <p:nvSpPr>
          <p:cNvPr id="7" name="TextBox 6"/>
          <p:cNvSpPr txBox="1"/>
          <p:nvPr/>
        </p:nvSpPr>
        <p:spPr>
          <a:xfrm>
            <a:off x="8229600" y="1536192"/>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Does the video cover the pull?</a:t>
            </a:r>
          </a:p>
        </p:txBody>
      </p:sp>
      <p:sp>
        <p:nvSpPr>
          <p:cNvPr id="8" name="TextBox 7"/>
          <p:cNvSpPr txBox="1"/>
          <p:nvPr/>
        </p:nvSpPr>
        <p:spPr>
          <a:xfrm>
            <a:off x="8229600" y="1883664"/>
            <a:ext cx="3611880" cy="2103120"/>
          </a:xfrm>
          <a:prstGeom prst="rect">
            <a:avLst/>
          </a:prstGeom>
          <a:noFill/>
        </p:spPr>
        <p:txBody>
          <a:bodyPr wrap="square" lIns="45720" rIns="45720" tIns="18288" bIns="18288" anchor="t">
            <a:spAutoFit/>
          </a:bodyPr>
          <a:lstStyle/>
          <a:p>
            <a:pPr algn="l"/>
            <a:r>
              <a:rPr sz="1050" b="0" i="0">
                <a:solidFill>
                  <a:srgbClr val="000000"/>
                </a:solidFill>
                <a:latin typeface="Calibri"/>
              </a:rPr>
              <a:t>The whole point is a video that spans the loaded history — a capture that opens late has no elastic region to give the extensometer.
S25   ramp 33.5 s · capture 33.0 → 106.0 s · fracture 101.4 s
S26   ramp 10.6 s · capture 10.0 → 95.0 s · fracture 90.4 s
Both open ≈ 0.6 s BEFORE the crosshead moves and run 4.6 s past fracture.</a:t>
            </a:r>
          </a:p>
        </p:txBody>
      </p:sp>
      <p:sp>
        <p:nvSpPr>
          <p:cNvPr id="9" name="TextBox 8"/>
          <p:cNvSpPr txBox="1"/>
          <p:nvPr/>
        </p:nvSpPr>
        <p:spPr>
          <a:xfrm>
            <a:off x="8229600" y="4133087"/>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that did not do this</a:t>
            </a:r>
          </a:p>
        </p:txBody>
      </p:sp>
      <p:sp>
        <p:nvSpPr>
          <p:cNvPr id="10" name="TextBox 9"/>
          <p:cNvSpPr txBox="1"/>
          <p:nvPr/>
        </p:nvSpPr>
        <p:spPr>
          <a:xfrm>
            <a:off x="8229600" y="4480560"/>
            <a:ext cx="3611880" cy="1325880"/>
          </a:xfrm>
          <a:prstGeom prst="rect">
            <a:avLst/>
          </a:prstGeom>
          <a:noFill/>
        </p:spPr>
        <p:txBody>
          <a:bodyPr wrap="square" lIns="45720" rIns="45720" tIns="18288" bIns="18288" anchor="t">
            <a:spAutoFit/>
          </a:bodyPr>
          <a:lstStyle/>
          <a:p>
            <a:pPr algn="l"/>
            <a:r>
              <a:rPr sz="1050" b="0" i="0">
                <a:solidFill>
                  <a:srgbClr val="000000"/>
                </a:solidFill>
                <a:latin typeface="Calibri"/>
              </a:rPr>
              <a:t>S24 (the first capture run, before these two) logged only 27 % DIC coverage — the frames were all there and all distinct, so the loss was in the load↔DIC matching step. It has not recurred: both runs here are at 100 %.</a:t>
            </a:r>
          </a:p>
        </p:txBody>
      </p:sp>
      <p:sp>
        <p:nvSpPr>
          <p:cNvPr id="11" name="Rectangle 10"/>
          <p:cNvSpPr/>
          <p:nvPr/>
        </p:nvSpPr>
        <p:spPr>
          <a:xfrm>
            <a:off x="365760" y="5989320"/>
            <a:ext cx="11475720" cy="38404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PASS — 3 127 stills and 3 × 3 127 AVI frames, zero dropped, all four sinks in step, 100 % DIC coverage on both runs. The videos are usable as extensometer input.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Software/UTM_PyQt6/Test data/8.6.20 - Tensile test to Failure/Specimen_S25… and …S26…/. Frame counts, rates and coverage recomputed at build time by documentation/scripts/s25_s26_data.py.</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219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 vs STRAIN, OVERLAID</a:t>
            </a:r>
          </a:p>
        </p:txBody>
      </p:sp>
      <p:sp>
        <p:nvSpPr>
          <p:cNvPr id="5" name="TextBox 4"/>
          <p:cNvSpPr txBox="1"/>
          <p:nvPr/>
        </p:nvSpPr>
        <p:spPr>
          <a:xfrm>
            <a:off x="365760" y="1078992"/>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Same material, same 80 mm² nominal section, same protocol, 37 minutes apart. Engineering stress, anchor-corrected; DIC gauge strain over 80 mm.</a:t>
            </a:r>
          </a:p>
        </p:txBody>
      </p:sp>
      <p:pic>
        <p:nvPicPr>
          <p:cNvPr id="6" name="Picture 5" descr="s25_s26_overlay.png"/>
          <p:cNvPicPr>
            <a:picLocks noChangeAspect="1"/>
          </p:cNvPicPr>
          <p:nvPr/>
        </p:nvPicPr>
        <p:blipFill>
          <a:blip r:embed="rId2"/>
          <a:stretch>
            <a:fillRect/>
          </a:stretch>
        </p:blipFill>
        <p:spPr>
          <a:xfrm>
            <a:off x="320040" y="1481328"/>
            <a:ext cx="7818120" cy="4406577"/>
          </a:xfrm>
          <a:prstGeom prst="rect">
            <a:avLst/>
          </a:prstGeom>
        </p:spPr>
      </p:pic>
      <p:graphicFrame>
        <p:nvGraphicFramePr>
          <p:cNvPr id="7" name="Table 6"/>
          <p:cNvGraphicFramePr>
            <a:graphicFrameLocks noGrp="1"/>
          </p:cNvGraphicFramePr>
          <p:nvPr/>
        </p:nvGraphicFramePr>
        <p:xfrm>
          <a:off x="8275320" y="1481328"/>
          <a:ext cx="3566158" cy="2331720"/>
        </p:xfrm>
        <a:graphic>
          <a:graphicData uri="http://schemas.openxmlformats.org/drawingml/2006/table">
            <a:tbl>
              <a:tblPr firstRow="1" bandRow="1">
                <a:tableStyleId>{5C22544A-7EE6-4342-B048-85BDC9FD1C3A}</a:tableStyleId>
              </a:tblPr>
              <a:tblGrid>
                <a:gridCol w="1282214"/>
                <a:gridCol w="801384"/>
                <a:gridCol w="801384"/>
                <a:gridCol w="681176"/>
              </a:tblGrid>
              <a:tr h="2590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S25 · VC2</a:t>
                      </a:r>
                    </a:p>
                  </a:txBody>
                  <a:tcPr>
                    <a:solidFill>
                      <a:srgbClr val="143D2F"/>
                    </a:solidFill>
                  </a:tcPr>
                </a:tc>
                <a:tc>
                  <a:txBody>
                    <a:bodyPr lIns="54864" rIns="54864" tIns="18288" bIns="18288" wrap="square" anchor="ctr"/>
                    <a:lstStyle/>
                    <a:p>
                      <a:pPr algn="l"/>
                      <a:r>
                        <a:rPr sz="1000" b="1">
                          <a:solidFill>
                            <a:srgbClr val="FFFFFF"/>
                          </a:solidFill>
                          <a:latin typeface="Calibri"/>
                        </a:rPr>
                        <a:t>S26 · VC3</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r>
              <a:tr h="259080">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1">
                          <a:solidFill>
                            <a:srgbClr val="000000"/>
                          </a:solidFill>
                          <a:latin typeface="Calibri"/>
                        </a:rPr>
                        <a:t>46.16</a:t>
                      </a:r>
                    </a:p>
                  </a:txBody>
                  <a:tcPr/>
                </a:tc>
                <a:tc>
                  <a:txBody>
                    <a:bodyPr lIns="54864" rIns="54864" tIns="18288" bIns="18288" wrap="square" anchor="ctr"/>
                    <a:lstStyle/>
                    <a:p>
                      <a:pPr algn="l"/>
                      <a:r>
                        <a:rPr sz="950" b="1">
                          <a:solidFill>
                            <a:srgbClr val="000000"/>
                          </a:solidFill>
                          <a:latin typeface="Calibri"/>
                        </a:rPr>
                        <a:t>47.17</a:t>
                      </a:r>
                    </a:p>
                  </a:txBody>
                  <a:tcPr/>
                </a:tc>
                <a:tc>
                  <a:txBody>
                    <a:bodyPr lIns="54864" rIns="54864" tIns="18288" bIns="18288" wrap="square" anchor="ctr"/>
                    <a:lstStyle/>
                    <a:p>
                      <a:pPr algn="l"/>
                      <a:r>
                        <a:rPr sz="950" b="1">
                          <a:solidFill>
                            <a:srgbClr val="000000"/>
                          </a:solidFill>
                          <a:latin typeface="Calibri"/>
                        </a:rPr>
                        <a:t>+1.01</a:t>
                      </a:r>
                    </a:p>
                  </a:txBody>
                  <a:tcPr>
                    <a:solidFill>
                      <a:srgbClr val="C8E6C9"/>
                    </a:solidFill>
                  </a:tcPr>
                </a:tc>
              </a:tr>
              <a:tr h="259080">
                <a:tc>
                  <a:txBody>
                    <a:bodyPr lIns="54864" rIns="54864" tIns="18288" bIns="18288" wrap="square" anchor="ctr"/>
                    <a:lstStyle/>
                    <a:p>
                      <a:pPr algn="l"/>
                      <a:r>
                        <a:rPr sz="950" b="0">
                          <a:solidFill>
                            <a:srgbClr val="000000"/>
                          </a:solidFill>
                          <a:latin typeface="Calibri"/>
                        </a:rPr>
                        <a:t>   at strain (%)</a:t>
                      </a:r>
                    </a:p>
                  </a:txBody>
                  <a:tcPr/>
                </a:tc>
                <a:tc>
                  <a:txBody>
                    <a:bodyPr lIns="54864" rIns="54864" tIns="18288" bIns="18288" wrap="square" anchor="ctr"/>
                    <a:lstStyle/>
                    <a:p>
                      <a:pPr algn="l"/>
                      <a:r>
                        <a:rPr sz="950" b="0">
                          <a:solidFill>
                            <a:srgbClr val="000000"/>
                          </a:solidFill>
                          <a:latin typeface="Calibri"/>
                        </a:rPr>
                        <a:t>2.19</a:t>
                      </a:r>
                    </a:p>
                  </a:txBody>
                  <a:tcPr/>
                </a:tc>
                <a:tc>
                  <a:txBody>
                    <a:bodyPr lIns="54864" rIns="54864" tIns="18288" bIns="18288" wrap="square" anchor="ctr"/>
                    <a:lstStyle/>
                    <a:p>
                      <a:pPr algn="l"/>
                      <a:r>
                        <a:rPr sz="950" b="0">
                          <a:solidFill>
                            <a:srgbClr val="000000"/>
                          </a:solidFill>
                          <a:latin typeface="Calibri"/>
                        </a:rPr>
                        <a:t>2.44</a:t>
                      </a:r>
                    </a:p>
                  </a:txBody>
                  <a:tcPr/>
                </a:tc>
                <a:tc>
                  <a:txBody>
                    <a:bodyPr lIns="54864" rIns="54864" tIns="18288" bIns="18288" wrap="square" anchor="ctr"/>
                    <a:lstStyle/>
                    <a:p>
                      <a:pPr algn="l"/>
                      <a:r>
                        <a:rPr sz="950" b="0">
                          <a:solidFill>
                            <a:srgbClr val="000000"/>
                          </a:solidFill>
                          <a:latin typeface="Calibri"/>
                        </a:rPr>
                        <a:t>+0.25</a:t>
                      </a:r>
                    </a:p>
                  </a:txBody>
                  <a:tcPr/>
                </a:tc>
              </a:tr>
              <a:tr h="259080">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+1.93</a:t>
                      </a:r>
                    </a:p>
                  </a:txBody>
                  <a:tcPr/>
                </a:tc>
              </a:tr>
              <a:tr h="259080">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3.167</a:t>
                      </a:r>
                    </a:p>
                  </a:txBody>
                  <a:tcPr/>
                </a:tc>
                <a:tc>
                  <a:txBody>
                    <a:bodyPr lIns="54864" rIns="54864" tIns="18288" bIns="18288" wrap="square" anchor="ctr"/>
                    <a:lstStyle/>
                    <a:p>
                      <a:pPr algn="l"/>
                      <a:r>
                        <a:rPr sz="950" b="0">
                          <a:solidFill>
                            <a:srgbClr val="000000"/>
                          </a:solidFill>
                          <a:latin typeface="Calibri"/>
                        </a:rPr>
                        <a:t>3.549</a:t>
                      </a:r>
                    </a:p>
                  </a:txBody>
                  <a:tcPr/>
                </a:tc>
                <a:tc>
                  <a:txBody>
                    <a:bodyPr lIns="54864" rIns="54864" tIns="18288" bIns="18288" wrap="square" anchor="ctr"/>
                    <a:lstStyle/>
                    <a:p>
                      <a:pPr algn="l"/>
                      <a:r>
                        <a:rPr sz="950" b="0">
                          <a:solidFill>
                            <a:srgbClr val="000000"/>
                          </a:solidFill>
                          <a:latin typeface="Calibri"/>
                        </a:rPr>
                        <a:t>+0.382</a:t>
                      </a:r>
                    </a:p>
                  </a:txBody>
                  <a:tcPr/>
                </a:tc>
              </a:tr>
              <a:tr h="259080">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+1.57</a:t>
                      </a:r>
                    </a:p>
                  </a:txBody>
                  <a:tcPr/>
                </a:tc>
              </a:tr>
              <a:tr h="259080">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2309</a:t>
                      </a:r>
                    </a:p>
                  </a:txBody>
                  <a:tcPr/>
                </a:tc>
                <a:tc>
                  <a:txBody>
                    <a:bodyPr lIns="54864" rIns="54864" tIns="18288" bIns="18288" wrap="square" anchor="ctr"/>
                    <a:lstStyle/>
                    <a:p>
                      <a:pPr algn="l"/>
                      <a:r>
                        <a:rPr sz="950" b="0">
                          <a:solidFill>
                            <a:srgbClr val="000000"/>
                          </a:solidFill>
                          <a:latin typeface="Calibri"/>
                        </a:rPr>
                        <a:t>+745</a:t>
                      </a:r>
                    </a:p>
                  </a:txBody>
                  <a:tcPr/>
                </a:tc>
              </a:tr>
              <a:tr h="259080">
                <a:tc>
                  <a:txBody>
                    <a:bodyPr lIns="54864" rIns="54864" tIns="18288" bIns="18288" wrap="square" anchor="ctr"/>
                    <a:lstStyle/>
                    <a:p>
                      <a:pPr algn="l"/>
                      <a:r>
                        <a:rPr sz="950" b="0">
                          <a:solidFill>
                            <a:srgbClr val="000000"/>
                          </a:solidFill>
                          <a:latin typeface="Calibri"/>
                        </a:rPr>
                        <a:t>Force anchor  (N)</a:t>
                      </a:r>
                    </a:p>
                  </a:txBody>
                  <a:tcPr/>
                </a:tc>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308</a:t>
                      </a:r>
                    </a:p>
                  </a:txBody>
                  <a:tcPr/>
                </a:tc>
                <a:tc>
                  <a:txBody>
                    <a:bodyPr lIns="54864" rIns="54864" tIns="18288" bIns="18288" wrap="square" anchor="ctr"/>
                    <a:lstStyle/>
                    <a:p>
                      <a:pPr algn="l"/>
                      <a:r>
                        <a:rPr sz="950" b="0">
                          <a:solidFill>
                            <a:srgbClr val="000000"/>
                          </a:solidFill>
                          <a:latin typeface="Calibri"/>
                        </a:rPr>
                        <a:t>+27</a:t>
                      </a:r>
                    </a:p>
                  </a:txBody>
                  <a:tcPr/>
                </a:tc>
              </a:tr>
              <a:tr h="259080">
                <a:tc>
                  <a:txBody>
                    <a:bodyPr lIns="54864" rIns="54864" tIns="18288" bIns="18288" wrap="square" anchor="ctr"/>
                    <a:lstStyle/>
                    <a:p>
                      <a:pPr algn="l"/>
                      <a:r>
                        <a:rPr sz="950" b="0">
                          <a:solidFill>
                            <a:srgbClr val="000000"/>
                          </a:solidFill>
                          <a:latin typeface="Calibri"/>
                        </a:rPr>
                        <a:t>Gauge share  (%)</a:t>
                      </a:r>
                    </a:p>
                  </a:txBody>
                  <a:tcPr/>
                </a:tc>
                <a:tc>
                  <a:txBody>
                    <a:bodyPr lIns="54864" rIns="54864" tIns="18288" bIns="18288" wrap="square" anchor="ctr"/>
                    <a:lstStyle/>
                    <a:p>
                      <a:pPr algn="l"/>
                      <a:r>
                        <a:rPr sz="950" b="0">
                          <a:solidFill>
                            <a:srgbClr val="000000"/>
                          </a:solidFill>
                          <a:latin typeface="Calibri"/>
                        </a:rPr>
                        <a:t>49.5</a:t>
                      </a:r>
                    </a:p>
                  </a:txBody>
                  <a:tcPr/>
                </a:tc>
                <a:tc>
                  <a:txBody>
                    <a:bodyPr lIns="54864" rIns="54864" tIns="18288" bIns="18288" wrap="square" anchor="ctr"/>
                    <a:lstStyle/>
                    <a:p>
                      <a:pPr algn="l"/>
                      <a:r>
                        <a:rPr sz="950" b="0">
                          <a:solidFill>
                            <a:srgbClr val="000000"/>
                          </a:solidFill>
                          <a:latin typeface="Calibri"/>
                        </a:rPr>
                        <a:t>57.8</a:t>
                      </a:r>
                    </a:p>
                  </a:txBody>
                  <a:tcPr/>
                </a:tc>
                <a:tc>
                  <a:txBody>
                    <a:bodyPr lIns="54864" rIns="54864" tIns="18288" bIns="18288" wrap="square" anchor="ctr"/>
                    <a:lstStyle/>
                    <a:p>
                      <a:pPr algn="l"/>
                      <a:r>
                        <a:rPr sz="950" b="0">
                          <a:solidFill>
                            <a:srgbClr val="000000"/>
                          </a:solidFill>
                          <a:latin typeface="Calibri"/>
                        </a:rPr>
                        <a:t>+8.4</a:t>
                      </a:r>
                    </a:p>
                  </a:txBody>
                  <a:tcPr/>
                </a:tc>
              </a:tr>
            </a:tbl>
          </a:graphicData>
        </a:graphic>
      </p:graphicFrame>
      <p:sp>
        <p:nvSpPr>
          <p:cNvPr id="8" name="TextBox 7"/>
          <p:cNvSpPr txBox="1"/>
          <p:nvPr/>
        </p:nvSpPr>
        <p:spPr>
          <a:xfrm>
            <a:off x="8275320" y="4096512"/>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agrees, and what does not</a:t>
            </a:r>
          </a:p>
        </p:txBody>
      </p:sp>
      <p:sp>
        <p:nvSpPr>
          <p:cNvPr id="9" name="TextBox 8"/>
          <p:cNvSpPr txBox="1"/>
          <p:nvPr/>
        </p:nvSpPr>
        <p:spPr>
          <a:xfrm>
            <a:off x="8275320" y="4425696"/>
            <a:ext cx="3566160" cy="1874519"/>
          </a:xfrm>
          <a:prstGeom prst="rect">
            <a:avLst/>
          </a:prstGeom>
          <a:noFill/>
        </p:spPr>
        <p:txBody>
          <a:bodyPr wrap="square" lIns="45720" rIns="45720" tIns="18288" bIns="18288" anchor="t">
            <a:spAutoFit/>
          </a:bodyPr>
          <a:lstStyle/>
          <a:p>
            <a:pPr algn="l"/>
            <a:r>
              <a:rPr sz="1050" b="0" i="0">
                <a:solidFill>
                  <a:srgbClr val="000000"/>
                </a:solidFill>
                <a:latin typeface="Calibri"/>
              </a:rPr>
              <a:t>UTS agrees to 2.2 % — it needs no curve fit, so it is the number to carry into the extensometer comparison.
E and σ_y do NOT agree, and the next page shows they are the same disagreement counted twice.
ε_f differs by 1.6 points. Across the eight 100 % runs on record ε_f spans 3.0–7.4 %, so this is ordinary specimen scatter in a brittle-ish failure, not an instrument effect.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curves come from utm_analysis.analyze() — the same function behind the app's Generate-report button. Plot: documentation/scripts/s25_s26_plots.py.</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E AND σ_y DISAGREE — AND WHY UTS DOES NOT</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Read on its own, “2.98 vs 2.51 GPa” looks like two specimens with different stiffness. It is not. analyze() fits E over a FIXED 0.05–0.40 % strain window, and the two specimens do not have their toe in the same place — so for one of them that window is sitting on curved data.</a:t>
            </a:r>
          </a:p>
        </p:txBody>
      </p:sp>
      <p:pic>
        <p:nvPicPr>
          <p:cNvPr id="6" name="Picture 5" descr="s25_s26_elastic.png"/>
          <p:cNvPicPr>
            <a:picLocks noChangeAspect="1"/>
          </p:cNvPicPr>
          <p:nvPr/>
        </p:nvPicPr>
        <p:blipFill>
          <a:blip r:embed="rId2"/>
          <a:stretch>
            <a:fillRect/>
          </a:stretch>
        </p:blipFill>
        <p:spPr>
          <a:xfrm>
            <a:off x="320040" y="1664208"/>
            <a:ext cx="7772400" cy="3108960"/>
          </a:xfrm>
          <a:prstGeom prst="rect">
            <a:avLst/>
          </a:prstGeom>
        </p:spPr>
      </p:pic>
      <p:graphicFrame>
        <p:nvGraphicFramePr>
          <p:cNvPr id="7" name="Table 6"/>
          <p:cNvGraphicFramePr>
            <a:graphicFrameLocks noGrp="1"/>
          </p:cNvGraphicFramePr>
          <p:nvPr/>
        </p:nvGraphicFramePr>
        <p:xfrm>
          <a:off x="8229600" y="1664208"/>
          <a:ext cx="3611880" cy="1005840"/>
        </p:xfrm>
        <a:graphic>
          <a:graphicData uri="http://schemas.openxmlformats.org/drawingml/2006/table">
            <a:tbl>
              <a:tblPr firstRow="1" bandRow="1">
                <a:tableStyleId>{5C22544A-7EE6-4342-B048-85BDC9FD1C3A}</a:tableStyleId>
              </a:tblPr>
              <a:tblGrid>
                <a:gridCol w="502920"/>
                <a:gridCol w="1051560"/>
                <a:gridCol w="2057400"/>
              </a:tblGrid>
              <a:tr h="33528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fixed window</a:t>
                      </a:r>
                    </a:p>
                  </a:txBody>
                  <a:tcPr>
                    <a:solidFill>
                      <a:srgbClr val="143D2F"/>
                    </a:solidFill>
                  </a:tcPr>
                </a:tc>
                <a:tc>
                  <a:txBody>
                    <a:bodyPr lIns="54864" rIns="54864" tIns="18288" bIns="18288" wrap="square" anchor="ctr"/>
                    <a:lstStyle/>
                    <a:p>
                      <a:pPr algn="l"/>
                      <a:r>
                        <a:rPr sz="950" b="1">
                          <a:solidFill>
                            <a:srgbClr val="FFFFFF"/>
                          </a:solidFill>
                          <a:latin typeface="Calibri"/>
                        </a:rPr>
                        <a:t>straightest run (its own)</a:t>
                      </a:r>
                    </a:p>
                  </a:txBody>
                  <a:tcPr>
                    <a:solidFill>
                      <a:srgbClr val="143D2F"/>
                    </a:solidFill>
                  </a:tcPr>
                </a:tc>
              </a:tr>
              <a:tr h="33528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3.167 GPa</a:t>
                      </a:r>
                    </a:p>
                  </a:txBody>
                  <a:tcPr/>
                </a:tc>
                <a:tc>
                  <a:txBody>
                    <a:bodyPr lIns="54864" rIns="54864" tIns="18288" bIns="18288" wrap="square" anchor="ctr"/>
                    <a:lstStyle/>
                    <a:p>
                      <a:pPr algn="l"/>
                      <a:r>
                        <a:rPr sz="950" b="0">
                          <a:solidFill>
                            <a:srgbClr val="000000"/>
                          </a:solidFill>
                          <a:latin typeface="Calibri"/>
                        </a:rPr>
                        <a:t>3.123 GPa  (0.13–0.65 %)</a:t>
                      </a:r>
                    </a:p>
                  </a:txBody>
                  <a:tcPr/>
                </a:tc>
              </a:tr>
              <a:tr h="33528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3.549 GPa</a:t>
                      </a:r>
                    </a:p>
                  </a:txBody>
                  <a:tcPr/>
                </a:tc>
                <a:tc>
                  <a:txBody>
                    <a:bodyPr lIns="54864" rIns="54864" tIns="18288" bIns="18288" wrap="square" anchor="ctr"/>
                    <a:lstStyle/>
                    <a:p>
                      <a:pPr algn="l"/>
                      <a:r>
                        <a:rPr sz="950" b="0">
                          <a:solidFill>
                            <a:srgbClr val="000000"/>
                          </a:solidFill>
                          <a:latin typeface="Calibri"/>
                        </a:rPr>
                        <a:t>3.464 GPa  (0.33–0.85 %)</a:t>
                      </a:r>
                    </a:p>
                  </a:txBody>
                  <a:tcPr/>
                </a:tc>
              </a:tr>
            </a:tbl>
          </a:graphicData>
        </a:graphic>
      </p:graphicFrame>
      <p:sp>
        <p:nvSpPr>
          <p:cNvPr id="8" name="TextBox 7"/>
          <p:cNvSpPr txBox="1"/>
          <p:nvPr/>
        </p:nvSpPr>
        <p:spPr>
          <a:xfrm>
            <a:off x="8229600" y="292608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σ_y then follows E, mechanically</a:t>
            </a:r>
          </a:p>
        </p:txBody>
      </p:sp>
      <p:sp>
        <p:nvSpPr>
          <p:cNvPr id="9" name="TextBox 8"/>
          <p:cNvSpPr txBox="1"/>
          <p:nvPr/>
        </p:nvSpPr>
        <p:spPr>
          <a:xfrm>
            <a:off x="8229600" y="3264408"/>
            <a:ext cx="3611880" cy="1691640"/>
          </a:xfrm>
          <a:prstGeom prst="rect">
            <a:avLst/>
          </a:prstGeom>
          <a:noFill/>
        </p:spPr>
        <p:txBody>
          <a:bodyPr wrap="square" lIns="45720" rIns="45720" tIns="18288" bIns="18288" anchor="t">
            <a:spAutoFit/>
          </a:bodyPr>
          <a:lstStyle/>
          <a:p>
            <a:pPr algn="l"/>
            <a:r>
              <a:rPr sz="1050" b="0" i="0">
                <a:solidFill>
                  <a:srgbClr val="000000"/>
                </a:solidFill>
                <a:latin typeface="Calibri"/>
              </a:rPr>
              <a:t>The 0.2 % offset line has slope E. A softer E tilts it down, so it meets the curve later and higher:
S25   E 3.17 → σ_y is 86.3 % of its UTS
S26   E 3.55 → σ_y is 88.5 % of its UTS
So the σ_y spread (39.8 vs 41.7 MPa) is largely the E spread re-expressed — one disagreement, counted twice.</a:t>
            </a:r>
          </a:p>
        </p:txBody>
      </p:sp>
      <p:sp>
        <p:nvSpPr>
          <p:cNvPr id="10" name="Rectangle 9"/>
          <p:cNvSpPr/>
          <p:nvPr/>
        </p:nvSpPr>
        <p:spPr>
          <a:xfrm>
            <a:off x="365760" y="4983480"/>
            <a:ext cx="11475720" cy="8686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TAKE-AWAY — quote UTS (no fit, agrees to 2.2 %) and treat σ_y / E from these two runs as fit-window artefacts until the E window is made adaptive. Fixing it is a change to utm_analysis.analyze(), not to the rig: search each curve for its own straightest run instead of assuming every specimen seats identically.</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Shaded bands are the two candidate fit windows on each specimen's own curve. Recomputed by s25_s26_data.best_elastic_fit().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(1/3)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0.00 % → 1.90 %,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0.00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0.10</a:t>
                      </a:r>
                    </a:p>
                  </a:txBody>
                  <a:tcPr/>
                </a:tc>
                <a:tc>
                  <a:txBody>
                    <a:bodyPr lIns="54864" rIns="54864" tIns="18288" bIns="18288" wrap="square" anchor="ctr"/>
                    <a:lstStyle/>
                    <a:p>
                      <a:pPr algn="l"/>
                      <a:r>
                        <a:rPr sz="950" b="0">
                          <a:solidFill>
                            <a:srgbClr val="000000"/>
                          </a:solidFill>
                          <a:latin typeface="Calibri"/>
                        </a:rPr>
                        <a:t>6.20</a:t>
                      </a:r>
                    </a:p>
                  </a:txBody>
                  <a:tcPr/>
                </a:tc>
                <a:tc>
                  <a:txBody>
                    <a:bodyPr lIns="54864" rIns="54864" tIns="18288" bIns="18288" wrap="square" anchor="ctr"/>
                    <a:lstStyle/>
                    <a:p>
                      <a:pPr algn="l"/>
                      <a:r>
                        <a:rPr sz="950" b="0">
                          <a:solidFill>
                            <a:srgbClr val="000000"/>
                          </a:solidFill>
                          <a:latin typeface="Calibri"/>
                        </a:rPr>
                        <a:t>5.84</a:t>
                      </a:r>
                    </a:p>
                  </a:txBody>
                  <a:tcPr/>
                </a:tc>
                <a:tc>
                  <a:txBody>
                    <a:bodyPr lIns="54864" rIns="54864" tIns="18288" bIns="18288" wrap="square" anchor="ctr"/>
                    <a:lstStyle/>
                    <a:p>
                      <a:pPr algn="l"/>
                      <a:r>
                        <a:rPr sz="950" b="0">
                          <a:solidFill>
                            <a:srgbClr val="000000"/>
                          </a:solidFill>
                          <a:latin typeface="Calibri"/>
                        </a:rPr>
                        <a:t>-0.37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0.20</a:t>
                      </a:r>
                    </a:p>
                  </a:txBody>
                  <a:tcPr/>
                </a:tc>
                <a:tc>
                  <a:txBody>
                    <a:bodyPr lIns="54864" rIns="54864" tIns="18288" bIns="18288" wrap="square" anchor="ctr"/>
                    <a:lstStyle/>
                    <a:p>
                      <a:pPr algn="l"/>
                      <a:r>
                        <a:rPr sz="950" b="0">
                          <a:solidFill>
                            <a:srgbClr val="000000"/>
                          </a:solidFill>
                          <a:latin typeface="Calibri"/>
                        </a:rPr>
                        <a:t>8.86</a:t>
                      </a:r>
                    </a:p>
                  </a:txBody>
                  <a:tcPr/>
                </a:tc>
                <a:tc>
                  <a:txBody>
                    <a:bodyPr lIns="54864" rIns="54864" tIns="18288" bIns="18288" wrap="square" anchor="ctr"/>
                    <a:lstStyle/>
                    <a:p>
                      <a:pPr algn="l"/>
                      <a:r>
                        <a:rPr sz="950" b="0">
                          <a:solidFill>
                            <a:srgbClr val="000000"/>
                          </a:solidFill>
                          <a:latin typeface="Calibri"/>
                        </a:rPr>
                        <a:t>8.28</a:t>
                      </a:r>
                    </a:p>
                  </a:txBody>
                  <a:tcPr/>
                </a:tc>
                <a:tc>
                  <a:txBody>
                    <a:bodyPr lIns="54864" rIns="54864" tIns="18288" bIns="18288" wrap="square" anchor="ctr"/>
                    <a:lstStyle/>
                    <a:p>
                      <a:pPr algn="l"/>
                      <a:r>
                        <a:rPr sz="950" b="0">
                          <a:solidFill>
                            <a:srgbClr val="000000"/>
                          </a:solidFill>
                          <a:latin typeface="Calibri"/>
                        </a:rPr>
                        <a:t>-0.58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0.30</a:t>
                      </a:r>
                    </a:p>
                  </a:txBody>
                  <a:tcPr/>
                </a:tc>
                <a:tc>
                  <a:txBody>
                    <a:bodyPr lIns="54864" rIns="54864" tIns="18288" bIns="18288" wrap="square" anchor="ctr"/>
                    <a:lstStyle/>
                    <a:p>
                      <a:pPr algn="l"/>
                      <a:r>
                        <a:rPr sz="950" b="0">
                          <a:solidFill>
                            <a:srgbClr val="000000"/>
                          </a:solidFill>
                          <a:latin typeface="Calibri"/>
                        </a:rPr>
                        <a:t>12.05</a:t>
                      </a:r>
                    </a:p>
                  </a:txBody>
                  <a:tcPr/>
                </a:tc>
                <a:tc>
                  <a:txBody>
                    <a:bodyPr lIns="54864" rIns="54864" tIns="18288" bIns="18288" wrap="square" anchor="ctr"/>
                    <a:lstStyle/>
                    <a:p>
                      <a:pPr algn="l"/>
                      <a:r>
                        <a:rPr sz="950" b="0">
                          <a:solidFill>
                            <a:srgbClr val="000000"/>
                          </a:solidFill>
                          <a:latin typeface="Calibri"/>
                        </a:rPr>
                        <a:t>10.64</a:t>
                      </a:r>
                    </a:p>
                  </a:txBody>
                  <a:tcPr/>
                </a:tc>
                <a:tc>
                  <a:txBody>
                    <a:bodyPr lIns="54864" rIns="54864" tIns="18288" bIns="18288" wrap="square" anchor="ctr"/>
                    <a:lstStyle/>
                    <a:p>
                      <a:pPr algn="l"/>
                      <a:r>
                        <a:rPr sz="950" b="0">
                          <a:solidFill>
                            <a:srgbClr val="000000"/>
                          </a:solidFill>
                          <a:latin typeface="Calibri"/>
                        </a:rPr>
                        <a:t>-1.41</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0.40</a:t>
                      </a:r>
                    </a:p>
                  </a:txBody>
                  <a:tcPr/>
                </a:tc>
                <a:tc>
                  <a:txBody>
                    <a:bodyPr lIns="54864" rIns="54864" tIns="18288" bIns="18288" wrap="square" anchor="ctr"/>
                    <a:lstStyle/>
                    <a:p>
                      <a:pPr algn="l"/>
                      <a:r>
                        <a:rPr sz="950" b="0">
                          <a:solidFill>
                            <a:srgbClr val="000000"/>
                          </a:solidFill>
                          <a:latin typeface="Calibri"/>
                        </a:rPr>
                        <a:t>15.11</a:t>
                      </a:r>
                    </a:p>
                  </a:txBody>
                  <a:tcPr/>
                </a:tc>
                <a:tc>
                  <a:txBody>
                    <a:bodyPr lIns="54864" rIns="54864" tIns="18288" bIns="18288" wrap="square" anchor="ctr"/>
                    <a:lstStyle/>
                    <a:p>
                      <a:pPr algn="l"/>
                      <a:r>
                        <a:rPr sz="950" b="0">
                          <a:solidFill>
                            <a:srgbClr val="000000"/>
                          </a:solidFill>
                          <a:latin typeface="Calibri"/>
                        </a:rPr>
                        <a:t>13.64</a:t>
                      </a:r>
                    </a:p>
                  </a:txBody>
                  <a:tcPr/>
                </a:tc>
                <a:tc>
                  <a:txBody>
                    <a:bodyPr lIns="54864" rIns="54864" tIns="18288" bIns="18288" wrap="square" anchor="ctr"/>
                    <a:lstStyle/>
                    <a:p>
                      <a:pPr algn="l"/>
                      <a:r>
                        <a:rPr sz="950" b="0">
                          <a:solidFill>
                            <a:srgbClr val="000000"/>
                          </a:solidFill>
                          <a:latin typeface="Calibri"/>
                        </a:rPr>
                        <a:t>-1.48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0.50</a:t>
                      </a:r>
                    </a:p>
                  </a:txBody>
                  <a:tcPr/>
                </a:tc>
                <a:tc>
                  <a:txBody>
                    <a:bodyPr lIns="54864" rIns="54864" tIns="18288" bIns="18288" wrap="square" anchor="ctr"/>
                    <a:lstStyle/>
                    <a:p>
                      <a:pPr algn="l"/>
                      <a:r>
                        <a:rPr sz="950" b="0">
                          <a:solidFill>
                            <a:srgbClr val="000000"/>
                          </a:solidFill>
                          <a:latin typeface="Calibri"/>
                        </a:rPr>
                        <a:t>18.34</a:t>
                      </a:r>
                    </a:p>
                  </a:txBody>
                  <a:tcPr/>
                </a:tc>
                <a:tc>
                  <a:txBody>
                    <a:bodyPr lIns="54864" rIns="54864" tIns="18288" bIns="18288" wrap="square" anchor="ctr"/>
                    <a:lstStyle/>
                    <a:p>
                      <a:pPr algn="l"/>
                      <a:r>
                        <a:rPr sz="950" b="0">
                          <a:solidFill>
                            <a:srgbClr val="000000"/>
                          </a:solidFill>
                          <a:latin typeface="Calibri"/>
                        </a:rPr>
                        <a:t>17.12</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0.60</a:t>
                      </a:r>
                    </a:p>
                  </a:txBody>
                  <a:tcPr/>
                </a:tc>
                <a:tc>
                  <a:txBody>
                    <a:bodyPr lIns="54864" rIns="54864" tIns="18288" bIns="18288" wrap="square" anchor="ctr"/>
                    <a:lstStyle/>
                    <a:p>
                      <a:pPr algn="l"/>
                      <a:r>
                        <a:rPr sz="950" b="0">
                          <a:solidFill>
                            <a:srgbClr val="000000"/>
                          </a:solidFill>
                          <a:latin typeface="Calibri"/>
                        </a:rPr>
                        <a:t>21.31</a:t>
                      </a:r>
                    </a:p>
                  </a:txBody>
                  <a:tcPr/>
                </a:tc>
                <a:tc>
                  <a:txBody>
                    <a:bodyPr lIns="54864" rIns="54864" tIns="18288" bIns="18288" wrap="square" anchor="ctr"/>
                    <a:lstStyle/>
                    <a:p>
                      <a:pPr algn="l"/>
                      <a:r>
                        <a:rPr sz="950" b="0">
                          <a:solidFill>
                            <a:srgbClr val="000000"/>
                          </a:solidFill>
                          <a:latin typeface="Calibri"/>
                        </a:rPr>
                        <a:t>20.59</a:t>
                      </a:r>
                    </a:p>
                  </a:txBody>
                  <a:tcPr/>
                </a:tc>
                <a:tc>
                  <a:txBody>
                    <a:bodyPr lIns="54864" rIns="54864" tIns="18288" bIns="18288" wrap="square" anchor="ctr"/>
                    <a:lstStyle/>
                    <a:p>
                      <a:pPr algn="l"/>
                      <a:r>
                        <a:rPr sz="950" b="0">
                          <a:solidFill>
                            <a:srgbClr val="000000"/>
                          </a:solidFill>
                          <a:latin typeface="Calibri"/>
                        </a:rPr>
                        <a:t>-0.71</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0.70</a:t>
                      </a:r>
                    </a:p>
                  </a:txBody>
                  <a:tcPr/>
                </a:tc>
                <a:tc>
                  <a:txBody>
                    <a:bodyPr lIns="54864" rIns="54864" tIns="18288" bIns="18288" wrap="square" anchor="ctr"/>
                    <a:lstStyle/>
                    <a:p>
                      <a:pPr algn="l"/>
                      <a:r>
                        <a:rPr sz="950" b="0">
                          <a:solidFill>
                            <a:srgbClr val="000000"/>
                          </a:solidFill>
                          <a:latin typeface="Calibri"/>
                        </a:rPr>
                        <a:t>24.14</a:t>
                      </a:r>
                    </a:p>
                  </a:txBody>
                  <a:tcPr/>
                </a:tc>
                <a:tc>
                  <a:txBody>
                    <a:bodyPr lIns="54864" rIns="54864" tIns="18288" bIns="18288" wrap="square" anchor="ctr"/>
                    <a:lstStyle/>
                    <a:p>
                      <a:pPr algn="l"/>
                      <a:r>
                        <a:rPr sz="950" b="0">
                          <a:solidFill>
                            <a:srgbClr val="000000"/>
                          </a:solidFill>
                          <a:latin typeface="Calibri"/>
                        </a:rPr>
                        <a:t>24.27</a:t>
                      </a:r>
                    </a:p>
                  </a:txBody>
                  <a:tcPr/>
                </a:tc>
                <a:tc>
                  <a:txBody>
                    <a:bodyPr lIns="54864" rIns="54864" tIns="18288" bIns="18288" wrap="square" anchor="ctr"/>
                    <a:lstStyle/>
                    <a:p>
                      <a:pPr algn="l"/>
                      <a:r>
                        <a:rPr sz="950" b="0">
                          <a:solidFill>
                            <a:srgbClr val="000000"/>
                          </a:solidFill>
                          <a:latin typeface="Calibri"/>
                        </a:rPr>
                        <a:t>+0.14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0.80</a:t>
                      </a:r>
                    </a:p>
                  </a:txBody>
                  <a:tcPr/>
                </a:tc>
                <a:tc>
                  <a:txBody>
                    <a:bodyPr lIns="54864" rIns="54864" tIns="18288" bIns="18288" wrap="square" anchor="ctr"/>
                    <a:lstStyle/>
                    <a:p>
                      <a:pPr algn="l"/>
                      <a:r>
                        <a:rPr sz="950" b="0">
                          <a:solidFill>
                            <a:srgbClr val="000000"/>
                          </a:solidFill>
                          <a:latin typeface="Calibri"/>
                        </a:rPr>
                        <a:t>26.90</a:t>
                      </a:r>
                    </a:p>
                  </a:txBody>
                  <a:tcPr/>
                </a:tc>
                <a:tc>
                  <a:txBody>
                    <a:bodyPr lIns="54864" rIns="54864" tIns="18288" bIns="18288" wrap="square" anchor="ctr"/>
                    <a:lstStyle/>
                    <a:p>
                      <a:pPr algn="l"/>
                      <a:r>
                        <a:rPr sz="950" b="0">
                          <a:solidFill>
                            <a:srgbClr val="000000"/>
                          </a:solidFill>
                          <a:latin typeface="Calibri"/>
                        </a:rPr>
                        <a:t>27.56</a:t>
                      </a:r>
                    </a:p>
                  </a:txBody>
                  <a:tcPr/>
                </a:tc>
                <a:tc>
                  <a:txBody>
                    <a:bodyPr lIns="54864" rIns="54864" tIns="18288" bIns="18288" wrap="square" anchor="ctr"/>
                    <a:lstStyle/>
                    <a:p>
                      <a:pPr algn="l"/>
                      <a:r>
                        <a:rPr sz="950" b="0">
                          <a:solidFill>
                            <a:srgbClr val="000000"/>
                          </a:solidFill>
                          <a:latin typeface="Calibri"/>
                        </a:rPr>
                        <a:t>+0.66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0.90</a:t>
                      </a:r>
                    </a:p>
                  </a:txBody>
                  <a:tcPr/>
                </a:tc>
                <a:tc>
                  <a:txBody>
                    <a:bodyPr lIns="54864" rIns="54864" tIns="18288" bIns="18288" wrap="square" anchor="ctr"/>
                    <a:lstStyle/>
                    <a:p>
                      <a:pPr algn="l"/>
                      <a:r>
                        <a:rPr sz="950" b="0">
                          <a:solidFill>
                            <a:srgbClr val="000000"/>
                          </a:solidFill>
                          <a:latin typeface="Calibri"/>
                        </a:rPr>
                        <a:t>29.45</a:t>
                      </a:r>
                    </a:p>
                  </a:txBody>
                  <a:tcPr/>
                </a:tc>
                <a:tc>
                  <a:txBody>
                    <a:bodyPr lIns="54864" rIns="54864" tIns="18288" bIns="18288" wrap="square" anchor="ctr"/>
                    <a:lstStyle/>
                    <a:p>
                      <a:pPr algn="l"/>
                      <a:r>
                        <a:rPr sz="950" b="0">
                          <a:solidFill>
                            <a:srgbClr val="000000"/>
                          </a:solidFill>
                          <a:latin typeface="Calibri"/>
                        </a:rPr>
                        <a:t>30.60</a:t>
                      </a:r>
                    </a:p>
                  </a:txBody>
                  <a:tcPr/>
                </a:tc>
                <a:tc>
                  <a:txBody>
                    <a:bodyPr lIns="54864" rIns="54864" tIns="18288" bIns="18288" wrap="square" anchor="ctr"/>
                    <a:lstStyle/>
                    <a:p>
                      <a:pPr algn="l"/>
                      <a:r>
                        <a:rPr sz="950" b="0">
                          <a:solidFill>
                            <a:srgbClr val="000000"/>
                          </a:solidFill>
                          <a:latin typeface="Calibri"/>
                        </a:rPr>
                        <a:t>+1.15</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31.81</a:t>
                      </a:r>
                    </a:p>
                  </a:txBody>
                  <a:tcPr/>
                </a:tc>
                <a:tc>
                  <a:txBody>
                    <a:bodyPr lIns="54864" rIns="54864" tIns="18288" bIns="18288" wrap="square" anchor="ctr"/>
                    <a:lstStyle/>
                    <a:p>
                      <a:pPr algn="l"/>
                      <a:r>
                        <a:rPr sz="950" b="0">
                          <a:solidFill>
                            <a:srgbClr val="000000"/>
                          </a:solidFill>
                          <a:latin typeface="Calibri"/>
                        </a:rPr>
                        <a:t>33.47</a:t>
                      </a:r>
                    </a:p>
                  </a:txBody>
                  <a:tcPr/>
                </a:tc>
                <a:tc>
                  <a:txBody>
                    <a:bodyPr lIns="54864" rIns="54864" tIns="18288" bIns="18288" wrap="square" anchor="ctr"/>
                    <a:lstStyle/>
                    <a:p>
                      <a:pPr algn="l"/>
                      <a:r>
                        <a:rPr sz="950" b="0">
                          <a:solidFill>
                            <a:srgbClr val="000000"/>
                          </a:solidFill>
                          <a:latin typeface="Calibri"/>
                        </a:rPr>
                        <a:t>+1.67</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1.10</a:t>
                      </a:r>
                    </a:p>
                  </a:txBody>
                  <a:tcPr/>
                </a:tc>
                <a:tc>
                  <a:txBody>
                    <a:bodyPr lIns="54864" rIns="54864" tIns="18288" bIns="18288" wrap="square" anchor="ctr"/>
                    <a:lstStyle/>
                    <a:p>
                      <a:pPr algn="l"/>
                      <a:r>
                        <a:rPr sz="950" b="0">
                          <a:solidFill>
                            <a:srgbClr val="000000"/>
                          </a:solidFill>
                          <a:latin typeface="Calibri"/>
                        </a:rPr>
                        <a:t>34.11</a:t>
                      </a:r>
                    </a:p>
                  </a:txBody>
                  <a:tcPr/>
                </a:tc>
                <a:tc>
                  <a:txBody>
                    <a:bodyPr lIns="54864" rIns="54864" tIns="18288" bIns="18288" wrap="square" anchor="ctr"/>
                    <a:lstStyle/>
                    <a:p>
                      <a:pPr algn="l"/>
                      <a:r>
                        <a:rPr sz="950" b="0">
                          <a:solidFill>
                            <a:srgbClr val="000000"/>
                          </a:solidFill>
                          <a:latin typeface="Calibri"/>
                        </a:rPr>
                        <a:t>35.89</a:t>
                      </a:r>
                    </a:p>
                  </a:txBody>
                  <a:tcPr/>
                </a:tc>
                <a:tc>
                  <a:txBody>
                    <a:bodyPr lIns="54864" rIns="54864" tIns="18288" bIns="18288" wrap="square" anchor="ctr"/>
                    <a:lstStyle/>
                    <a:p>
                      <a:pPr algn="l"/>
                      <a:r>
                        <a:rPr sz="950" b="0">
                          <a:solidFill>
                            <a:srgbClr val="000000"/>
                          </a:solidFill>
                          <a:latin typeface="Calibri"/>
                        </a:rPr>
                        <a:t>+1.79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1.20</a:t>
                      </a:r>
                    </a:p>
                  </a:txBody>
                  <a:tcPr/>
                </a:tc>
                <a:tc>
                  <a:txBody>
                    <a:bodyPr lIns="54864" rIns="54864" tIns="18288" bIns="18288" wrap="square" anchor="ctr"/>
                    <a:lstStyle/>
                    <a:p>
                      <a:pPr algn="l"/>
                      <a:r>
                        <a:rPr sz="950" b="0">
                          <a:solidFill>
                            <a:srgbClr val="000000"/>
                          </a:solidFill>
                          <a:latin typeface="Calibri"/>
                        </a:rPr>
                        <a:t>36.23</a:t>
                      </a:r>
                    </a:p>
                  </a:txBody>
                  <a:tcPr/>
                </a:tc>
                <a:tc>
                  <a:txBody>
                    <a:bodyPr lIns="54864" rIns="54864" tIns="18288" bIns="18288" wrap="square" anchor="ctr"/>
                    <a:lstStyle/>
                    <a:p>
                      <a:pPr algn="l"/>
                      <a:r>
                        <a:rPr sz="950" b="0">
                          <a:solidFill>
                            <a:srgbClr val="000000"/>
                          </a:solidFill>
                          <a:latin typeface="Calibri"/>
                        </a:rPr>
                        <a:t>38.12</a:t>
                      </a:r>
                    </a:p>
                  </a:txBody>
                  <a:tcPr/>
                </a:tc>
                <a:tc>
                  <a:txBody>
                    <a:bodyPr lIns="54864" rIns="54864" tIns="18288" bIns="18288" wrap="square" anchor="ctr"/>
                    <a:lstStyle/>
                    <a:p>
                      <a:pPr algn="l"/>
                      <a:r>
                        <a:rPr sz="950" b="0">
                          <a:solidFill>
                            <a:srgbClr val="000000"/>
                          </a:solidFill>
                          <a:latin typeface="Calibri"/>
                        </a:rPr>
                        <a:t>+1.89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1.30</a:t>
                      </a:r>
                    </a:p>
                  </a:txBody>
                  <a:tcPr/>
                </a:tc>
                <a:tc>
                  <a:txBody>
                    <a:bodyPr lIns="54864" rIns="54864" tIns="18288" bIns="18288" wrap="square" anchor="ctr"/>
                    <a:lstStyle/>
                    <a:p>
                      <a:pPr algn="l"/>
                      <a:r>
                        <a:rPr sz="950" b="0">
                          <a:solidFill>
                            <a:srgbClr val="000000"/>
                          </a:solidFill>
                          <a:latin typeface="Calibri"/>
                        </a:rPr>
                        <a:t>38.25</a:t>
                      </a:r>
                    </a:p>
                  </a:txBody>
                  <a:tcPr/>
                </a:tc>
                <a:tc>
                  <a:txBody>
                    <a:bodyPr lIns="54864" rIns="54864" tIns="18288" bIns="18288" wrap="square" anchor="ctr"/>
                    <a:lstStyle/>
                    <a:p>
                      <a:pPr algn="l"/>
                      <a:r>
                        <a:rPr sz="950" b="0">
                          <a:solidFill>
                            <a:srgbClr val="000000"/>
                          </a:solidFill>
                          <a:latin typeface="Calibri"/>
                        </a:rPr>
                        <a:t>40.16</a:t>
                      </a:r>
                    </a:p>
                  </a:txBody>
                  <a:tcPr/>
                </a:tc>
                <a:tc>
                  <a:txBody>
                    <a:bodyPr lIns="54864" rIns="54864" tIns="18288" bIns="18288" wrap="square" anchor="ctr"/>
                    <a:lstStyle/>
                    <a:p>
                      <a:pPr algn="l"/>
                      <a:r>
                        <a:rPr sz="950" b="0">
                          <a:solidFill>
                            <a:srgbClr val="000000"/>
                          </a:solidFill>
                          <a:latin typeface="Calibri"/>
                        </a:rPr>
                        <a:t>+1.92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1.38</a:t>
                      </a:r>
                    </a:p>
                  </a:txBody>
                  <a:tcPr>
                    <a:solidFill>
                      <a:srgbClr val="C8E6C9"/>
                    </a:solidFill>
                  </a:tcPr>
                </a:tc>
                <a:tc>
                  <a:txBody>
                    <a:bodyPr lIns="54864" rIns="54864" tIns="18288" bIns="18288" wrap="square" anchor="ctr"/>
                    <a:lstStyle/>
                    <a:p>
                      <a:pPr algn="l"/>
                      <a:r>
                        <a:rPr sz="950" b="1">
                          <a:solidFill>
                            <a:srgbClr val="000000"/>
                          </a:solidFill>
                          <a:latin typeface="Calibri"/>
                        </a:rPr>
                        <a:t>39.82</a:t>
                      </a:r>
                    </a:p>
                  </a:txBody>
                  <a:tcPr>
                    <a:solidFill>
                      <a:srgbClr val="C8E6C9"/>
                    </a:solidFill>
                  </a:tcPr>
                </a:tc>
                <a:tc>
                  <a:txBody>
                    <a:bodyPr lIns="54864" rIns="54864" tIns="18288" bIns="18288" wrap="square" anchor="ctr"/>
                    <a:lstStyle/>
                    <a:p>
                      <a:pPr algn="l"/>
                      <a:r>
                        <a:rPr sz="950" b="1">
                          <a:solidFill>
                            <a:srgbClr val="000000"/>
                          </a:solidFill>
                          <a:latin typeface="Calibri"/>
                        </a:rPr>
                        <a:t>41.55</a:t>
                      </a:r>
                    </a:p>
                  </a:txBody>
                  <a:tcPr>
                    <a:solidFill>
                      <a:srgbClr val="C8E6C9"/>
                    </a:solidFill>
                  </a:tcPr>
                </a:tc>
                <a:tc>
                  <a:txBody>
                    <a:bodyPr lIns="54864" rIns="54864" tIns="18288" bIns="18288" wrap="square" anchor="ctr"/>
                    <a:lstStyle/>
                    <a:p>
                      <a:pPr algn="l"/>
                      <a:r>
                        <a:rPr sz="950" b="1">
                          <a:solidFill>
                            <a:srgbClr val="000000"/>
                          </a:solidFill>
                          <a:latin typeface="Calibri"/>
                        </a:rPr>
                        <a:t>+1.73</a:t>
                      </a:r>
                    </a:p>
                  </a:txBody>
                  <a:tcPr>
                    <a:solidFill>
                      <a:srgbClr val="C8E6C9"/>
                    </a:solidFill>
                  </a:tcPr>
                </a:tc>
                <a:tc>
                  <a:txBody>
                    <a:bodyPr lIns="54864" rIns="54864" tIns="18288" bIns="18288" wrap="square" anchor="ctr"/>
                    <a:lstStyle/>
                    <a:p>
                      <a:pPr algn="l"/>
                      <a:r>
                        <a:rPr sz="950" b="1">
                          <a:solidFill>
                            <a:srgbClr val="000000"/>
                          </a:solidFill>
                          <a:latin typeface="Calibri"/>
                        </a:rPr>
                        <a:t>S25 yield</a:t>
                      </a:r>
                    </a:p>
                  </a:txBody>
                  <a:tcPr>
                    <a:solidFill>
                      <a:srgbClr val="C8E6C9"/>
                    </a:solidFill>
                  </a:tcPr>
                </a:tc>
              </a:tr>
              <a:tr h="365760">
                <a:tc>
                  <a:txBody>
                    <a:bodyPr lIns="54864" rIns="54864" tIns="18288" bIns="18288" wrap="square" anchor="ctr"/>
                    <a:lstStyle/>
                    <a:p>
                      <a:pPr algn="l"/>
                      <a:r>
                        <a:rPr sz="950" b="1">
                          <a:solidFill>
                            <a:srgbClr val="000000"/>
                          </a:solidFill>
                          <a:latin typeface="Calibri"/>
                        </a:rPr>
                        <a:t>1.40</a:t>
                      </a:r>
                    </a:p>
                  </a:txBody>
                  <a:tcPr>
                    <a:solidFill>
                      <a:srgbClr val="C8E6C9"/>
                    </a:solidFill>
                  </a:tcPr>
                </a:tc>
                <a:tc>
                  <a:txBody>
                    <a:bodyPr lIns="54864" rIns="54864" tIns="18288" bIns="18288" wrap="square" anchor="ctr"/>
                    <a:lstStyle/>
                    <a:p>
                      <a:pPr algn="l"/>
                      <a:r>
                        <a:rPr sz="950" b="1">
                          <a:solidFill>
                            <a:srgbClr val="000000"/>
                          </a:solidFill>
                          <a:latin typeface="Calibri"/>
                        </a:rPr>
                        <a:t>40.07</a:t>
                      </a:r>
                    </a:p>
                  </a:txBody>
                  <a:tcPr>
                    <a:solidFill>
                      <a:srgbClr val="C8E6C9"/>
                    </a:solidFill>
                  </a:tcPr>
                </a:tc>
                <a:tc>
                  <a:txBody>
                    <a:bodyPr lIns="54864" rIns="54864" tIns="18288" bIns="18288" wrap="square" anchor="ctr"/>
                    <a:lstStyle/>
                    <a:p>
                      <a:pPr algn="l"/>
                      <a:r>
                        <a:rPr sz="950" b="1">
                          <a:solidFill>
                            <a:srgbClr val="000000"/>
                          </a:solidFill>
                          <a:latin typeface="Calibri"/>
                        </a:rPr>
                        <a:t>41.75</a:t>
                      </a:r>
                    </a:p>
                  </a:txBody>
                  <a:tcPr>
                    <a:solidFill>
                      <a:srgbClr val="C8E6C9"/>
                    </a:solidFill>
                  </a:tcPr>
                </a:tc>
                <a:tc>
                  <a:txBody>
                    <a:bodyPr lIns="54864" rIns="54864" tIns="18288" bIns="18288" wrap="square" anchor="ctr"/>
                    <a:lstStyle/>
                    <a:p>
                      <a:pPr algn="l"/>
                      <a:r>
                        <a:rPr sz="950" b="1">
                          <a:solidFill>
                            <a:srgbClr val="000000"/>
                          </a:solidFill>
                          <a:latin typeface="Calibri"/>
                        </a:rPr>
                        <a:t>+1.67</a:t>
                      </a:r>
                    </a:p>
                  </a:txBody>
                  <a:tcPr>
                    <a:solidFill>
                      <a:srgbClr val="C8E6C9"/>
                    </a:solidFill>
                  </a:tcPr>
                </a:tc>
                <a:tc>
                  <a:txBody>
                    <a:bodyPr lIns="54864" rIns="54864" tIns="18288" bIns="18288" wrap="square" anchor="ctr"/>
                    <a:lstStyle/>
                    <a:p>
                      <a:pPr algn="l"/>
                      <a:r>
                        <a:rPr sz="950" b="1">
                          <a:solidFill>
                            <a:srgbClr val="000000"/>
                          </a:solidFill>
                          <a:latin typeface="Calibri"/>
                        </a:rPr>
                        <a:t>S26 yield</a:t>
                      </a:r>
                    </a:p>
                  </a:txBody>
                  <a:tcPr>
                    <a:solidFill>
                      <a:srgbClr val="C8E6C9"/>
                    </a:solidFill>
                  </a:tcPr>
                </a:tc>
              </a:tr>
              <a:tr h="365760">
                <a:tc>
                  <a:txBody>
                    <a:bodyPr lIns="54864" rIns="54864" tIns="18288" bIns="18288" wrap="square" anchor="ctr"/>
                    <a:lstStyle/>
                    <a:p>
                      <a:pPr algn="l"/>
                      <a:r>
                        <a:rPr sz="950" b="0">
                          <a:solidFill>
                            <a:srgbClr val="000000"/>
                          </a:solidFill>
                          <a:latin typeface="Calibri"/>
                        </a:rPr>
                        <a:t>1.40</a:t>
                      </a:r>
                    </a:p>
                  </a:txBody>
                  <a:tcPr/>
                </a:tc>
                <a:tc>
                  <a:txBody>
                    <a:bodyPr lIns="54864" rIns="54864" tIns="18288" bIns="18288" wrap="square" anchor="ctr"/>
                    <a:lstStyle/>
                    <a:p>
                      <a:pPr algn="l"/>
                      <a:r>
                        <a:rPr sz="950" b="0">
                          <a:solidFill>
                            <a:srgbClr val="000000"/>
                          </a:solidFill>
                          <a:latin typeface="Calibri"/>
                        </a:rPr>
                        <a:t>40.10</a:t>
                      </a:r>
                    </a:p>
                  </a:txBody>
                  <a:tcPr/>
                </a:tc>
                <a:tc>
                  <a:txBody>
                    <a:bodyPr lIns="54864" rIns="54864" tIns="18288" bIns="18288" wrap="square" anchor="ctr"/>
                    <a:lstStyle/>
                    <a:p>
                      <a:pPr algn="l"/>
                      <a:r>
                        <a:rPr sz="950" b="0">
                          <a:solidFill>
                            <a:srgbClr val="000000"/>
                          </a:solidFill>
                          <a:latin typeface="Calibri"/>
                        </a:rPr>
                        <a:t>41.78</a:t>
                      </a:r>
                    </a:p>
                  </a:txBody>
                  <a:tcPr/>
                </a:tc>
                <a:tc>
                  <a:txBody>
                    <a:bodyPr lIns="54864" rIns="54864" tIns="18288" bIns="18288" wrap="square" anchor="ctr"/>
                    <a:lstStyle/>
                    <a:p>
                      <a:pPr algn="l"/>
                      <a:r>
                        <a:rPr sz="950" b="0">
                          <a:solidFill>
                            <a:srgbClr val="000000"/>
                          </a:solidFill>
                          <a:latin typeface="Calibri"/>
                        </a:rPr>
                        <a:t>+1.68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1.50</a:t>
                      </a:r>
                    </a:p>
                  </a:txBody>
                  <a:tcPr/>
                </a:tc>
                <a:tc>
                  <a:txBody>
                    <a:bodyPr lIns="54864" rIns="54864" tIns="18288" bIns="18288" wrap="square" anchor="ctr"/>
                    <a:lstStyle/>
                    <a:p>
                      <a:pPr algn="l"/>
                      <a:r>
                        <a:rPr sz="950" b="0">
                          <a:solidFill>
                            <a:srgbClr val="000000"/>
                          </a:solidFill>
                          <a:latin typeface="Calibri"/>
                        </a:rPr>
                        <a:t>41.67</a:t>
                      </a:r>
                    </a:p>
                  </a:txBody>
                  <a:tcPr/>
                </a:tc>
                <a:tc>
                  <a:txBody>
                    <a:bodyPr lIns="54864" rIns="54864" tIns="18288" bIns="18288" wrap="square" anchor="ctr"/>
                    <a:lstStyle/>
                    <a:p>
                      <a:pPr algn="l"/>
                      <a:r>
                        <a:rPr sz="950" b="0">
                          <a:solidFill>
                            <a:srgbClr val="000000"/>
                          </a:solidFill>
                          <a:latin typeface="Calibri"/>
                        </a:rPr>
                        <a:t>43.13</a:t>
                      </a:r>
                    </a:p>
                  </a:txBody>
                  <a:tcPr/>
                </a:tc>
                <a:tc>
                  <a:txBody>
                    <a:bodyPr lIns="54864" rIns="54864" tIns="18288" bIns="18288" wrap="square" anchor="ctr"/>
                    <a:lstStyle/>
                    <a:p>
                      <a:pPr algn="l"/>
                      <a:r>
                        <a:rPr sz="950" b="0">
                          <a:solidFill>
                            <a:srgbClr val="000000"/>
                          </a:solidFill>
                          <a:latin typeface="Calibri"/>
                        </a:rPr>
                        <a:t>+1.47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1.60</a:t>
                      </a:r>
                    </a:p>
                  </a:txBody>
                  <a:tcPr/>
                </a:tc>
                <a:tc>
                  <a:txBody>
                    <a:bodyPr lIns="54864" rIns="54864" tIns="18288" bIns="18288" wrap="square" anchor="ctr"/>
                    <a:lstStyle/>
                    <a:p>
                      <a:pPr algn="l"/>
                      <a:r>
                        <a:rPr sz="950" b="0">
                          <a:solidFill>
                            <a:srgbClr val="000000"/>
                          </a:solidFill>
                          <a:latin typeface="Calibri"/>
                        </a:rPr>
                        <a:t>43.05</a:t>
                      </a:r>
                    </a:p>
                  </a:txBody>
                  <a:tcPr/>
                </a:tc>
                <a:tc>
                  <a:txBody>
                    <a:bodyPr lIns="54864" rIns="54864" tIns="18288" bIns="18288" wrap="square" anchor="ctr"/>
                    <a:lstStyle/>
                    <a:p>
                      <a:pPr algn="l"/>
                      <a:r>
                        <a:rPr sz="950" b="0">
                          <a:solidFill>
                            <a:srgbClr val="000000"/>
                          </a:solidFill>
                          <a:latin typeface="Calibri"/>
                        </a:rPr>
                        <a:t>44.27</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1.70</a:t>
                      </a:r>
                    </a:p>
                  </a:txBody>
                  <a:tcPr/>
                </a:tc>
                <a:tc>
                  <a:txBody>
                    <a:bodyPr lIns="54864" rIns="54864" tIns="18288" bIns="18288" wrap="square" anchor="ctr"/>
                    <a:lstStyle/>
                    <a:p>
                      <a:pPr algn="l"/>
                      <a:r>
                        <a:rPr sz="950" b="0">
                          <a:solidFill>
                            <a:srgbClr val="000000"/>
                          </a:solidFill>
                          <a:latin typeface="Calibri"/>
                        </a:rPr>
                        <a:t>44.13</a:t>
                      </a:r>
                    </a:p>
                  </a:txBody>
                  <a:tcPr/>
                </a:tc>
                <a:tc>
                  <a:txBody>
                    <a:bodyPr lIns="54864" rIns="54864" tIns="18288" bIns="18288" wrap="square" anchor="ctr"/>
                    <a:lstStyle/>
                    <a:p>
                      <a:pPr algn="l"/>
                      <a:r>
                        <a:rPr sz="950" b="0">
                          <a:solidFill>
                            <a:srgbClr val="000000"/>
                          </a:solidFill>
                          <a:latin typeface="Calibri"/>
                        </a:rPr>
                        <a:t>45.18</a:t>
                      </a:r>
                    </a:p>
                  </a:txBody>
                  <a:tcPr/>
                </a:tc>
                <a:tc>
                  <a:txBody>
                    <a:bodyPr lIns="54864" rIns="54864" tIns="18288" bIns="18288" wrap="square" anchor="ctr"/>
                    <a:lstStyle/>
                    <a:p>
                      <a:pPr algn="l"/>
                      <a:r>
                        <a:rPr sz="950" b="0">
                          <a:solidFill>
                            <a:srgbClr val="000000"/>
                          </a:solidFill>
                          <a:latin typeface="Calibri"/>
                        </a:rPr>
                        <a:t>+1.05</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1.80</a:t>
                      </a:r>
                    </a:p>
                  </a:txBody>
                  <a:tcPr/>
                </a:tc>
                <a:tc>
                  <a:txBody>
                    <a:bodyPr lIns="54864" rIns="54864" tIns="18288" bIns="18288" wrap="square" anchor="ctr"/>
                    <a:lstStyle/>
                    <a:p>
                      <a:pPr algn="l"/>
                      <a:r>
                        <a:rPr sz="950" b="0">
                          <a:solidFill>
                            <a:srgbClr val="000000"/>
                          </a:solidFill>
                          <a:latin typeface="Calibri"/>
                        </a:rPr>
                        <a:t>44.97</a:t>
                      </a:r>
                    </a:p>
                  </a:txBody>
                  <a:tcPr/>
                </a:tc>
                <a:tc>
                  <a:txBody>
                    <a:bodyPr lIns="54864" rIns="54864" tIns="18288" bIns="18288" wrap="square" anchor="ctr"/>
                    <a:lstStyle/>
                    <a:p>
                      <a:pPr algn="l"/>
                      <a:r>
                        <a:rPr sz="950" b="0">
                          <a:solidFill>
                            <a:srgbClr val="000000"/>
                          </a:solidFill>
                          <a:latin typeface="Calibri"/>
                        </a:rPr>
                        <a:t>45.88</a:t>
                      </a:r>
                    </a:p>
                  </a:txBody>
                  <a:tcPr/>
                </a:tc>
                <a:tc>
                  <a:txBody>
                    <a:bodyPr lIns="54864" rIns="54864" tIns="18288" bIns="18288" wrap="square" anchor="ctr"/>
                    <a:lstStyle/>
                    <a:p>
                      <a:pPr algn="l"/>
                      <a:r>
                        <a:rPr sz="950" b="0">
                          <a:solidFill>
                            <a:srgbClr val="000000"/>
                          </a:solidFill>
                          <a:latin typeface="Calibri"/>
                        </a:rPr>
                        <a:t>+0.92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1.90</a:t>
                      </a:r>
                    </a:p>
                  </a:txBody>
                  <a:tcPr/>
                </a:tc>
                <a:tc>
                  <a:txBody>
                    <a:bodyPr lIns="54864" rIns="54864" tIns="18288" bIns="18288" wrap="square" anchor="ctr"/>
                    <a:lstStyle/>
                    <a:p>
                      <a:pPr algn="l"/>
                      <a:r>
                        <a:rPr sz="950" b="0">
                          <a:solidFill>
                            <a:srgbClr val="000000"/>
                          </a:solidFill>
                          <a:latin typeface="Calibri"/>
                        </a:rPr>
                        <a:t>45.57</a:t>
                      </a:r>
                    </a:p>
                  </a:txBody>
                  <a:tcPr/>
                </a:tc>
                <a:tc>
                  <a:txBody>
                    <a:bodyPr lIns="54864" rIns="54864" tIns="18288" bIns="18288" wrap="square" anchor="ctr"/>
                    <a:lstStyle/>
                    <a:p>
                      <a:pPr algn="l"/>
                      <a:r>
                        <a:rPr sz="950" b="0">
                          <a:solidFill>
                            <a:srgbClr val="000000"/>
                          </a:solidFill>
                          <a:latin typeface="Calibri"/>
                        </a:rPr>
                        <a:t>46.39</a:t>
                      </a:r>
                    </a:p>
                  </a:txBody>
                  <a:tcPr/>
                </a:tc>
                <a:tc>
                  <a:txBody>
                    <a:bodyPr lIns="54864" rIns="54864" tIns="18288" bIns="18288" wrap="square" anchor="ctr"/>
                    <a:lstStyle/>
                    <a:p>
                      <a:pPr algn="l"/>
                      <a:r>
                        <a:rPr sz="950" b="0">
                          <a:solidFill>
                            <a:srgbClr val="000000"/>
                          </a:solidFill>
                          <a:latin typeface="Calibri"/>
                        </a:rPr>
                        <a:t>+0.82</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(2/3)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2.00 % → 3.90 %,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2.00</a:t>
                      </a:r>
                    </a:p>
                  </a:txBody>
                  <a:tcPr/>
                </a:tc>
                <a:tc>
                  <a:txBody>
                    <a:bodyPr lIns="54864" rIns="54864" tIns="18288" bIns="18288" wrap="square" anchor="ctr"/>
                    <a:lstStyle/>
                    <a:p>
                      <a:pPr algn="l"/>
                      <a:r>
                        <a:rPr sz="950" b="0">
                          <a:solidFill>
                            <a:srgbClr val="000000"/>
                          </a:solidFill>
                          <a:latin typeface="Calibri"/>
                        </a:rPr>
                        <a:t>45.94</a:t>
                      </a:r>
                    </a:p>
                  </a:txBody>
                  <a:tcPr/>
                </a:tc>
                <a:tc>
                  <a:txBody>
                    <a:bodyPr lIns="54864" rIns="54864" tIns="18288" bIns="18288" wrap="square" anchor="ctr"/>
                    <a:lstStyle/>
                    <a:p>
                      <a:pPr algn="l"/>
                      <a:r>
                        <a:rPr sz="950" b="0">
                          <a:solidFill>
                            <a:srgbClr val="000000"/>
                          </a:solidFill>
                          <a:latin typeface="Calibri"/>
                        </a:rPr>
                        <a:t>46.73</a:t>
                      </a:r>
                    </a:p>
                  </a:txBody>
                  <a:tcPr/>
                </a:tc>
                <a:tc>
                  <a:txBody>
                    <a:bodyPr lIns="54864" rIns="54864" tIns="18288" bIns="18288" wrap="square" anchor="ctr"/>
                    <a:lstStyle/>
                    <a:p>
                      <a:pPr algn="l"/>
                      <a:r>
                        <a:rPr sz="950" b="0">
                          <a:solidFill>
                            <a:srgbClr val="000000"/>
                          </a:solidFill>
                          <a:latin typeface="Calibri"/>
                        </a:rPr>
                        <a:t>+0.79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2.10</a:t>
                      </a:r>
                    </a:p>
                  </a:txBody>
                  <a:tcPr/>
                </a:tc>
                <a:tc>
                  <a:txBody>
                    <a:bodyPr lIns="54864" rIns="54864" tIns="18288" bIns="18288" wrap="square" anchor="ctr"/>
                    <a:lstStyle/>
                    <a:p>
                      <a:pPr algn="l"/>
                      <a:r>
                        <a:rPr sz="950" b="0">
                          <a:solidFill>
                            <a:srgbClr val="000000"/>
                          </a:solidFill>
                          <a:latin typeface="Calibri"/>
                        </a:rPr>
                        <a:t>46.11</a:t>
                      </a:r>
                    </a:p>
                  </a:txBody>
                  <a:tcPr/>
                </a:tc>
                <a:tc>
                  <a:txBody>
                    <a:bodyPr lIns="54864" rIns="54864" tIns="18288" bIns="18288" wrap="square" anchor="ctr"/>
                    <a:lstStyle/>
                    <a:p>
                      <a:pPr algn="l"/>
                      <a:r>
                        <a:rPr sz="950" b="0">
                          <a:solidFill>
                            <a:srgbClr val="000000"/>
                          </a:solidFill>
                          <a:latin typeface="Calibri"/>
                        </a:rPr>
                        <a:t>46.95</a:t>
                      </a:r>
                    </a:p>
                  </a:txBody>
                  <a:tcPr/>
                </a:tc>
                <a:tc>
                  <a:txBody>
                    <a:bodyPr lIns="54864" rIns="54864" tIns="18288" bIns="18288" wrap="square" anchor="ctr"/>
                    <a:lstStyle/>
                    <a:p>
                      <a:pPr algn="l"/>
                      <a:r>
                        <a:rPr sz="950" b="0">
                          <a:solidFill>
                            <a:srgbClr val="000000"/>
                          </a:solidFill>
                          <a:latin typeface="Calibri"/>
                        </a:rPr>
                        <a:t>+0.84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2.19</a:t>
                      </a:r>
                    </a:p>
                  </a:txBody>
                  <a:tcPr>
                    <a:solidFill>
                      <a:srgbClr val="FFF3CD"/>
                    </a:solidFill>
                  </a:tcPr>
                </a:tc>
                <a:tc>
                  <a:txBody>
                    <a:bodyPr lIns="54864" rIns="54864" tIns="18288" bIns="18288" wrap="square" anchor="ctr"/>
                    <a:lstStyle/>
                    <a:p>
                      <a:pPr algn="l"/>
                      <a:r>
                        <a:rPr sz="950" b="1">
                          <a:solidFill>
                            <a:srgbClr val="000000"/>
                          </a:solidFill>
                          <a:latin typeface="Calibri"/>
                        </a:rPr>
                        <a:t>46.16</a:t>
                      </a:r>
                    </a:p>
                  </a:txBody>
                  <a:tcPr>
                    <a:solidFill>
                      <a:srgbClr val="FFF3CD"/>
                    </a:solidFill>
                  </a:tcPr>
                </a:tc>
                <a:tc>
                  <a:txBody>
                    <a:bodyPr lIns="54864" rIns="54864" tIns="18288" bIns="18288" wrap="square" anchor="ctr"/>
                    <a:lstStyle/>
                    <a:p>
                      <a:pPr algn="l"/>
                      <a:r>
                        <a:rPr sz="950" b="1">
                          <a:solidFill>
                            <a:srgbClr val="000000"/>
                          </a:solidFill>
                          <a:latin typeface="Calibri"/>
                        </a:rPr>
                        <a:t>47.06</a:t>
                      </a:r>
                    </a:p>
                  </a:txBody>
                  <a:tcPr>
                    <a:solidFill>
                      <a:srgbClr val="FFF3CD"/>
                    </a:solidFill>
                  </a:tcPr>
                </a:tc>
                <a:tc>
                  <a:txBody>
                    <a:bodyPr lIns="54864" rIns="54864" tIns="18288" bIns="18288" wrap="square" anchor="ctr"/>
                    <a:lstStyle/>
                    <a:p>
                      <a:pPr algn="l"/>
                      <a:r>
                        <a:rPr sz="950" b="1">
                          <a:solidFill>
                            <a:srgbClr val="000000"/>
                          </a:solidFill>
                          <a:latin typeface="Calibri"/>
                        </a:rPr>
                        <a:t>+0.91</a:t>
                      </a:r>
                    </a:p>
                  </a:txBody>
                  <a:tcPr>
                    <a:solidFill>
                      <a:srgbClr val="FFF3CD"/>
                    </a:solidFill>
                  </a:tcPr>
                </a:tc>
                <a:tc>
                  <a:txBody>
                    <a:bodyPr lIns="54864" rIns="54864" tIns="18288" bIns="18288" wrap="square" anchor="ctr"/>
                    <a:lstStyle/>
                    <a:p>
                      <a:pPr algn="l"/>
                      <a:r>
                        <a:rPr sz="950" b="1">
                          <a:solidFill>
                            <a:srgbClr val="000000"/>
                          </a:solidFill>
                          <a:latin typeface="Calibri"/>
                        </a:rPr>
                        <a:t>S25 UTS</a:t>
                      </a:r>
                    </a:p>
                  </a:txBody>
                  <a:tcPr>
                    <a:solidFill>
                      <a:srgbClr val="FFF3CD"/>
                    </a:solidFill>
                  </a:tcPr>
                </a:tc>
              </a:tr>
              <a:tr h="365760">
                <a:tc>
                  <a:txBody>
                    <a:bodyPr lIns="54864" rIns="54864" tIns="18288" bIns="18288" wrap="square" anchor="ctr"/>
                    <a:lstStyle/>
                    <a:p>
                      <a:pPr algn="l"/>
                      <a:r>
                        <a:rPr sz="950" b="0">
                          <a:solidFill>
                            <a:srgbClr val="000000"/>
                          </a:solidFill>
                          <a:latin typeface="Calibri"/>
                        </a:rPr>
                        <a:t>2.20</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47.08</a:t>
                      </a:r>
                    </a:p>
                  </a:txBody>
                  <a:tcPr/>
                </a:tc>
                <a:tc>
                  <a:txBody>
                    <a:bodyPr lIns="54864" rIns="54864" tIns="18288" bIns="18288" wrap="square" anchor="ctr"/>
                    <a:lstStyle/>
                    <a:p>
                      <a:pPr algn="l"/>
                      <a:r>
                        <a:rPr sz="950" b="0">
                          <a:solidFill>
                            <a:srgbClr val="000000"/>
                          </a:solidFill>
                          <a:latin typeface="Calibri"/>
                        </a:rPr>
                        <a:t>+0.92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2.30</a:t>
                      </a:r>
                    </a:p>
                  </a:txBody>
                  <a:tcPr/>
                </a:tc>
                <a:tc>
                  <a:txBody>
                    <a:bodyPr lIns="54864" rIns="54864" tIns="18288" bIns="18288" wrap="square" anchor="ctr"/>
                    <a:lstStyle/>
                    <a:p>
                      <a:pPr algn="l"/>
                      <a:r>
                        <a:rPr sz="950" b="0">
                          <a:solidFill>
                            <a:srgbClr val="000000"/>
                          </a:solidFill>
                          <a:latin typeface="Calibri"/>
                        </a:rPr>
                        <a:t>46.07</a:t>
                      </a:r>
                    </a:p>
                  </a:txBody>
                  <a:tcPr/>
                </a:tc>
                <a:tc>
                  <a:txBody>
                    <a:bodyPr lIns="54864" rIns="54864" tIns="18288" bIns="18288" wrap="square" anchor="ctr"/>
                    <a:lstStyle/>
                    <a:p>
                      <a:pPr algn="l"/>
                      <a:r>
                        <a:rPr sz="950" b="0">
                          <a:solidFill>
                            <a:srgbClr val="000000"/>
                          </a:solidFill>
                          <a:latin typeface="Calibri"/>
                        </a:rPr>
                        <a:t>47.13</a:t>
                      </a:r>
                    </a:p>
                  </a:txBody>
                  <a:tcPr/>
                </a:tc>
                <a:tc>
                  <a:txBody>
                    <a:bodyPr lIns="54864" rIns="54864" tIns="18288" bIns="18288" wrap="square" anchor="ctr"/>
                    <a:lstStyle/>
                    <a:p>
                      <a:pPr algn="l"/>
                      <a:r>
                        <a:rPr sz="950" b="0">
                          <a:solidFill>
                            <a:srgbClr val="000000"/>
                          </a:solidFill>
                          <a:latin typeface="Calibri"/>
                        </a:rPr>
                        <a:t>+1.06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2.40</a:t>
                      </a:r>
                    </a:p>
                  </a:txBody>
                  <a:tcPr/>
                </a:tc>
                <a:tc>
                  <a:txBody>
                    <a:bodyPr lIns="54864" rIns="54864" tIns="18288" bIns="18288" wrap="square" anchor="ctr"/>
                    <a:lstStyle/>
                    <a:p>
                      <a:pPr algn="l"/>
                      <a:r>
                        <a:rPr sz="950" b="0">
                          <a:solidFill>
                            <a:srgbClr val="000000"/>
                          </a:solidFill>
                          <a:latin typeface="Calibri"/>
                        </a:rPr>
                        <a:t>45.94</a:t>
                      </a:r>
                    </a:p>
                  </a:txBody>
                  <a:tcPr/>
                </a:tc>
                <a:tc>
                  <a:txBody>
                    <a:bodyPr lIns="54864" rIns="54864" tIns="18288" bIns="18288" wrap="square" anchor="ctr"/>
                    <a:lstStyle/>
                    <a:p>
                      <a:pPr algn="l"/>
                      <a:r>
                        <a:rPr sz="950" b="0">
                          <a:solidFill>
                            <a:srgbClr val="000000"/>
                          </a:solidFill>
                          <a:latin typeface="Calibri"/>
                        </a:rPr>
                        <a:t>47.16</a:t>
                      </a:r>
                    </a:p>
                  </a:txBody>
                  <a:tcPr/>
                </a:tc>
                <a:tc>
                  <a:txBody>
                    <a:bodyPr lIns="54864" rIns="54864" tIns="18288" bIns="18288" wrap="square" anchor="ctr"/>
                    <a:lstStyle/>
                    <a:p>
                      <a:pPr algn="l"/>
                      <a:r>
                        <a:rPr sz="950" b="0">
                          <a:solidFill>
                            <a:srgbClr val="000000"/>
                          </a:solidFill>
                          <a:latin typeface="Calibri"/>
                        </a:rPr>
                        <a:t>+1.22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2.44</a:t>
                      </a:r>
                    </a:p>
                  </a:txBody>
                  <a:tcPr>
                    <a:solidFill>
                      <a:srgbClr val="FFF3CD"/>
                    </a:solidFill>
                  </a:tcPr>
                </a:tc>
                <a:tc>
                  <a:txBody>
                    <a:bodyPr lIns="54864" rIns="54864" tIns="18288" bIns="18288" wrap="square" anchor="ctr"/>
                    <a:lstStyle/>
                    <a:p>
                      <a:pPr algn="l"/>
                      <a:r>
                        <a:rPr sz="950" b="1">
                          <a:solidFill>
                            <a:srgbClr val="000000"/>
                          </a:solidFill>
                          <a:latin typeface="Calibri"/>
                        </a:rPr>
                        <a:t>45.87</a:t>
                      </a:r>
                    </a:p>
                  </a:txBody>
                  <a:tcPr>
                    <a:solidFill>
                      <a:srgbClr val="FFF3CD"/>
                    </a:solidFill>
                  </a:tcPr>
                </a:tc>
                <a:tc>
                  <a:txBody>
                    <a:bodyPr lIns="54864" rIns="54864" tIns="18288" bIns="18288" wrap="square" anchor="ctr"/>
                    <a:lstStyle/>
                    <a:p>
                      <a:pPr algn="l"/>
                      <a:r>
                        <a:rPr sz="950" b="1">
                          <a:solidFill>
                            <a:srgbClr val="000000"/>
                          </a:solidFill>
                          <a:latin typeface="Calibri"/>
                        </a:rPr>
                        <a:t>47.17</a:t>
                      </a:r>
                    </a:p>
                  </a:txBody>
                  <a:tcPr>
                    <a:solidFill>
                      <a:srgbClr val="FFF3CD"/>
                    </a:solidFill>
                  </a:tcPr>
                </a:tc>
                <a:tc>
                  <a:txBody>
                    <a:bodyPr lIns="54864" rIns="54864" tIns="18288" bIns="18288" wrap="square" anchor="ctr"/>
                    <a:lstStyle/>
                    <a:p>
                      <a:pPr algn="l"/>
                      <a:r>
                        <a:rPr sz="950" b="1">
                          <a:solidFill>
                            <a:srgbClr val="000000"/>
                          </a:solidFill>
                          <a:latin typeface="Calibri"/>
                        </a:rPr>
                        <a:t>+1.30</a:t>
                      </a:r>
                    </a:p>
                  </a:txBody>
                  <a:tcPr>
                    <a:solidFill>
                      <a:srgbClr val="FFF3CD"/>
                    </a:solidFill>
                  </a:tcPr>
                </a:tc>
                <a:tc>
                  <a:txBody>
                    <a:bodyPr lIns="54864" rIns="54864" tIns="18288" bIns="18288" wrap="square" anchor="ctr"/>
                    <a:lstStyle/>
                    <a:p>
                      <a:pPr algn="l"/>
                      <a:r>
                        <a:rPr sz="950" b="1">
                          <a:solidFill>
                            <a:srgbClr val="000000"/>
                          </a:solidFill>
                          <a:latin typeface="Calibri"/>
                        </a:rPr>
                        <a:t>S26 UTS</a:t>
                      </a:r>
                    </a:p>
                  </a:txBody>
                  <a:tcPr>
                    <a:solidFill>
                      <a:srgbClr val="FFF3CD"/>
                    </a:solidFill>
                  </a:tcPr>
                </a:tc>
              </a:tr>
              <a:tr h="365760">
                <a:tc>
                  <a:txBody>
                    <a:bodyPr lIns="54864" rIns="54864" tIns="18288" bIns="18288" wrap="square" anchor="ctr"/>
                    <a:lstStyle/>
                    <a:p>
                      <a:pPr algn="l"/>
                      <a:r>
                        <a:rPr sz="950" b="0">
                          <a:solidFill>
                            <a:srgbClr val="000000"/>
                          </a:solidFill>
                          <a:latin typeface="Calibri"/>
                        </a:rPr>
                        <a:t>2.50</a:t>
                      </a:r>
                    </a:p>
                  </a:txBody>
                  <a:tcPr/>
                </a:tc>
                <a:tc>
                  <a:txBody>
                    <a:bodyPr lIns="54864" rIns="54864" tIns="18288" bIns="18288" wrap="square" anchor="ctr"/>
                    <a:lstStyle/>
                    <a:p>
                      <a:pPr algn="l"/>
                      <a:r>
                        <a:rPr sz="950" b="0">
                          <a:solidFill>
                            <a:srgbClr val="000000"/>
                          </a:solidFill>
                          <a:latin typeface="Calibri"/>
                        </a:rPr>
                        <a:t>45.75</a:t>
                      </a:r>
                    </a:p>
                  </a:txBody>
                  <a:tcPr/>
                </a:tc>
                <a:tc>
                  <a:txBody>
                    <a:bodyPr lIns="54864" rIns="54864" tIns="18288" bIns="18288" wrap="square" anchor="ctr"/>
                    <a:lstStyle/>
                    <a:p>
                      <a:pPr algn="l"/>
                      <a:r>
                        <a:rPr sz="950" b="0">
                          <a:solidFill>
                            <a:srgbClr val="000000"/>
                          </a:solidFill>
                          <a:latin typeface="Calibri"/>
                        </a:rPr>
                        <a:t>47.15</a:t>
                      </a:r>
                    </a:p>
                  </a:txBody>
                  <a:tcPr/>
                </a:tc>
                <a:tc>
                  <a:txBody>
                    <a:bodyPr lIns="54864" rIns="54864" tIns="18288" bIns="18288" wrap="square" anchor="ctr"/>
                    <a:lstStyle/>
                    <a:p>
                      <a:pPr algn="l"/>
                      <a:r>
                        <a:rPr sz="950" b="0">
                          <a:solidFill>
                            <a:srgbClr val="000000"/>
                          </a:solidFill>
                          <a:latin typeface="Calibri"/>
                        </a:rPr>
                        <a:t>+1.39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2.60</a:t>
                      </a:r>
                    </a:p>
                  </a:txBody>
                  <a:tcPr/>
                </a:tc>
                <a:tc>
                  <a:txBody>
                    <a:bodyPr lIns="54864" rIns="54864" tIns="18288" bIns="18288" wrap="square" anchor="ctr"/>
                    <a:lstStyle/>
                    <a:p>
                      <a:pPr algn="l"/>
                      <a:r>
                        <a:rPr sz="950" b="0">
                          <a:solidFill>
                            <a:srgbClr val="000000"/>
                          </a:solidFill>
                          <a:latin typeface="Calibri"/>
                        </a:rPr>
                        <a:t>45.54</a:t>
                      </a:r>
                    </a:p>
                  </a:txBody>
                  <a:tcPr/>
                </a:tc>
                <a:tc>
                  <a:txBody>
                    <a:bodyPr lIns="54864" rIns="54864" tIns="18288" bIns="18288" wrap="square" anchor="ctr"/>
                    <a:lstStyle/>
                    <a:p>
                      <a:pPr algn="l"/>
                      <a:r>
                        <a:rPr sz="950" b="0">
                          <a:solidFill>
                            <a:srgbClr val="000000"/>
                          </a:solidFill>
                          <a:latin typeface="Calibri"/>
                        </a:rPr>
                        <a:t>47.11</a:t>
                      </a:r>
                    </a:p>
                  </a:txBody>
                  <a:tcPr/>
                </a:tc>
                <a:tc>
                  <a:txBody>
                    <a:bodyPr lIns="54864" rIns="54864" tIns="18288" bIns="18288" wrap="square" anchor="ctr"/>
                    <a:lstStyle/>
                    <a:p>
                      <a:pPr algn="l"/>
                      <a:r>
                        <a:rPr sz="950" b="0">
                          <a:solidFill>
                            <a:srgbClr val="000000"/>
                          </a:solidFill>
                          <a:latin typeface="Calibri"/>
                        </a:rPr>
                        <a:t>+1.57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2.70</a:t>
                      </a:r>
                    </a:p>
                  </a:txBody>
                  <a:tcPr/>
                </a:tc>
                <a:tc>
                  <a:txBody>
                    <a:bodyPr lIns="54864" rIns="54864" tIns="18288" bIns="18288" wrap="square" anchor="ctr"/>
                    <a:lstStyle/>
                    <a:p>
                      <a:pPr algn="l"/>
                      <a:r>
                        <a:rPr sz="950" b="0">
                          <a:solidFill>
                            <a:srgbClr val="000000"/>
                          </a:solidFill>
                          <a:latin typeface="Calibri"/>
                        </a:rPr>
                        <a:t>45.31</a:t>
                      </a:r>
                    </a:p>
                  </a:txBody>
                  <a:tcPr/>
                </a:tc>
                <a:tc>
                  <a:txBody>
                    <a:bodyPr lIns="54864" rIns="54864" tIns="18288" bIns="18288" wrap="square" anchor="ctr"/>
                    <a:lstStyle/>
                    <a:p>
                      <a:pPr algn="l"/>
                      <a:r>
                        <a:rPr sz="950" b="0">
                          <a:solidFill>
                            <a:srgbClr val="000000"/>
                          </a:solidFill>
                          <a:latin typeface="Calibri"/>
                        </a:rPr>
                        <a:t>47.04</a:t>
                      </a:r>
                    </a:p>
                  </a:txBody>
                  <a:tcPr/>
                </a:tc>
                <a:tc>
                  <a:txBody>
                    <a:bodyPr lIns="54864" rIns="54864" tIns="18288" bIns="18288" wrap="square" anchor="ctr"/>
                    <a:lstStyle/>
                    <a:p>
                      <a:pPr algn="l"/>
                      <a:r>
                        <a:rPr sz="950" b="0">
                          <a:solidFill>
                            <a:srgbClr val="000000"/>
                          </a:solidFill>
                          <a:latin typeface="Calibri"/>
                        </a:rPr>
                        <a:t>+1.73</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45.10</a:t>
                      </a:r>
                    </a:p>
                  </a:txBody>
                  <a:tcPr/>
                </a:tc>
                <a:tc>
                  <a:txBody>
                    <a:bodyPr lIns="54864" rIns="54864" tIns="18288" bIns="18288" wrap="square" anchor="ctr"/>
                    <a:lstStyle/>
                    <a:p>
                      <a:pPr algn="l"/>
                      <a:r>
                        <a:rPr sz="950" b="0">
                          <a:solidFill>
                            <a:srgbClr val="000000"/>
                          </a:solidFill>
                          <a:latin typeface="Calibri"/>
                        </a:rPr>
                        <a:t>46.96</a:t>
                      </a:r>
                    </a:p>
                  </a:txBody>
                  <a:tcPr/>
                </a:tc>
                <a:tc>
                  <a:txBody>
                    <a:bodyPr lIns="54864" rIns="54864" tIns="18288" bIns="18288" wrap="square" anchor="ctr"/>
                    <a:lstStyle/>
                    <a:p>
                      <a:pPr algn="l"/>
                      <a:r>
                        <a:rPr sz="950" b="0">
                          <a:solidFill>
                            <a:srgbClr val="000000"/>
                          </a:solidFill>
                          <a:latin typeface="Calibri"/>
                        </a:rPr>
                        <a:t>+1.86</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2.90</a:t>
                      </a:r>
                    </a:p>
                  </a:txBody>
                  <a:tcPr/>
                </a:tc>
                <a:tc>
                  <a:txBody>
                    <a:bodyPr lIns="54864" rIns="54864" tIns="18288" bIns="18288" wrap="square" anchor="ctr"/>
                    <a:lstStyle/>
                    <a:p>
                      <a:pPr algn="l"/>
                      <a:r>
                        <a:rPr sz="950" b="0">
                          <a:solidFill>
                            <a:srgbClr val="000000"/>
                          </a:solidFill>
                          <a:latin typeface="Calibri"/>
                        </a:rPr>
                        <a:t>44.87</a:t>
                      </a:r>
                    </a:p>
                  </a:txBody>
                  <a:tcPr/>
                </a:tc>
                <a:tc>
                  <a:txBody>
                    <a:bodyPr lIns="54864" rIns="54864" tIns="18288" bIns="18288" wrap="square" anchor="ctr"/>
                    <a:lstStyle/>
                    <a:p>
                      <a:pPr algn="l"/>
                      <a:r>
                        <a:rPr sz="950" b="0">
                          <a:solidFill>
                            <a:srgbClr val="000000"/>
                          </a:solidFill>
                          <a:latin typeface="Calibri"/>
                        </a:rPr>
                        <a:t>46.86</a:t>
                      </a:r>
                    </a:p>
                  </a:txBody>
                  <a:tcPr/>
                </a:tc>
                <a:tc>
                  <a:txBody>
                    <a:bodyPr lIns="54864" rIns="54864" tIns="18288" bIns="18288" wrap="square" anchor="ctr"/>
                    <a:lstStyle/>
                    <a:p>
                      <a:pPr algn="l"/>
                      <a:r>
                        <a:rPr sz="950" b="0">
                          <a:solidFill>
                            <a:srgbClr val="000000"/>
                          </a:solidFill>
                          <a:latin typeface="Calibri"/>
                        </a:rPr>
                        <a:t>+1.99</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3.00</a:t>
                      </a:r>
                    </a:p>
                  </a:txBody>
                  <a:tcPr/>
                </a:tc>
                <a:tc>
                  <a:txBody>
                    <a:bodyPr lIns="54864" rIns="54864" tIns="18288" bIns="18288" wrap="square" anchor="ctr"/>
                    <a:lstStyle/>
                    <a:p>
                      <a:pPr algn="l"/>
                      <a:r>
                        <a:rPr sz="950" b="0">
                          <a:solidFill>
                            <a:srgbClr val="000000"/>
                          </a:solidFill>
                          <a:latin typeface="Calibri"/>
                        </a:rPr>
                        <a:t>44.66</a:t>
                      </a:r>
                    </a:p>
                  </a:txBody>
                  <a:tcPr/>
                </a:tc>
                <a:tc>
                  <a:txBody>
                    <a:bodyPr lIns="54864" rIns="54864" tIns="18288" bIns="18288" wrap="square" anchor="ctr"/>
                    <a:lstStyle/>
                    <a:p>
                      <a:pPr algn="l"/>
                      <a:r>
                        <a:rPr sz="950" b="0">
                          <a:solidFill>
                            <a:srgbClr val="000000"/>
                          </a:solidFill>
                          <a:latin typeface="Calibri"/>
                        </a:rPr>
                        <a:t>46.74</a:t>
                      </a:r>
                    </a:p>
                  </a:txBody>
                  <a:tcPr/>
                </a:tc>
                <a:tc>
                  <a:txBody>
                    <a:bodyPr lIns="54864" rIns="54864" tIns="18288" bIns="18288" wrap="square" anchor="ctr"/>
                    <a:lstStyle/>
                    <a:p>
                      <a:pPr algn="l"/>
                      <a:r>
                        <a:rPr sz="950" b="0">
                          <a:solidFill>
                            <a:srgbClr val="000000"/>
                          </a:solidFill>
                          <a:latin typeface="Calibri"/>
                        </a:rPr>
                        <a:t>+2.08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3.10</a:t>
                      </a:r>
                    </a:p>
                  </a:txBody>
                  <a:tcPr/>
                </a:tc>
                <a:tc>
                  <a:txBody>
                    <a:bodyPr lIns="54864" rIns="54864" tIns="18288" bIns="18288" wrap="square" anchor="ctr"/>
                    <a:lstStyle/>
                    <a:p>
                      <a:pPr algn="l"/>
                      <a:r>
                        <a:rPr sz="950" b="0">
                          <a:solidFill>
                            <a:srgbClr val="000000"/>
                          </a:solidFill>
                          <a:latin typeface="Calibri"/>
                        </a:rPr>
                        <a:t>44.45</a:t>
                      </a:r>
                    </a:p>
                  </a:txBody>
                  <a:tcPr/>
                </a:tc>
                <a:tc>
                  <a:txBody>
                    <a:bodyPr lIns="54864" rIns="54864" tIns="18288" bIns="18288" wrap="square" anchor="ctr"/>
                    <a:lstStyle/>
                    <a:p>
                      <a:pPr algn="l"/>
                      <a:r>
                        <a:rPr sz="950" b="0">
                          <a:solidFill>
                            <a:srgbClr val="000000"/>
                          </a:solidFill>
                          <a:latin typeface="Calibri"/>
                        </a:rPr>
                        <a:t>46.61</a:t>
                      </a:r>
                    </a:p>
                  </a:txBody>
                  <a:tcPr/>
                </a:tc>
                <a:tc>
                  <a:txBody>
                    <a:bodyPr lIns="54864" rIns="54864" tIns="18288" bIns="18288" wrap="square" anchor="ctr"/>
                    <a:lstStyle/>
                    <a:p>
                      <a:pPr algn="l"/>
                      <a:r>
                        <a:rPr sz="950" b="0">
                          <a:solidFill>
                            <a:srgbClr val="000000"/>
                          </a:solidFill>
                          <a:latin typeface="Calibri"/>
                        </a:rPr>
                        <a:t>+2.17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3.20</a:t>
                      </a:r>
                    </a:p>
                  </a:txBody>
                  <a:tcPr/>
                </a:tc>
                <a:tc>
                  <a:txBody>
                    <a:bodyPr lIns="54864" rIns="54864" tIns="18288" bIns="18288" wrap="square" anchor="ctr"/>
                    <a:lstStyle/>
                    <a:p>
                      <a:pPr algn="l"/>
                      <a:r>
                        <a:rPr sz="950" b="0">
                          <a:solidFill>
                            <a:srgbClr val="000000"/>
                          </a:solidFill>
                          <a:latin typeface="Calibri"/>
                        </a:rPr>
                        <a:t>44.23</a:t>
                      </a:r>
                    </a:p>
                  </a:txBody>
                  <a:tcPr/>
                </a:tc>
                <a:tc>
                  <a:txBody>
                    <a:bodyPr lIns="54864" rIns="54864" tIns="18288" bIns="18288" wrap="square" anchor="ctr"/>
                    <a:lstStyle/>
                    <a:p>
                      <a:pPr algn="l"/>
                      <a:r>
                        <a:rPr sz="950" b="0">
                          <a:solidFill>
                            <a:srgbClr val="000000"/>
                          </a:solidFill>
                          <a:latin typeface="Calibri"/>
                        </a:rPr>
                        <a:t>46.47</a:t>
                      </a:r>
                    </a:p>
                  </a:txBody>
                  <a:tcPr/>
                </a:tc>
                <a:tc>
                  <a:txBody>
                    <a:bodyPr lIns="54864" rIns="54864" tIns="18288" bIns="18288" wrap="square" anchor="ctr"/>
                    <a:lstStyle/>
                    <a:p>
                      <a:pPr algn="l"/>
                      <a:r>
                        <a:rPr sz="950" b="0">
                          <a:solidFill>
                            <a:srgbClr val="000000"/>
                          </a:solidFill>
                          <a:latin typeface="Calibri"/>
                        </a:rPr>
                        <a:t>+2.24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3.30</a:t>
                      </a:r>
                    </a:p>
                  </a:txBody>
                  <a:tcPr/>
                </a:tc>
                <a:tc>
                  <a:txBody>
                    <a:bodyPr lIns="54864" rIns="54864" tIns="18288" bIns="18288" wrap="square" anchor="ctr"/>
                    <a:lstStyle/>
                    <a:p>
                      <a:pPr algn="l"/>
                      <a:r>
                        <a:rPr sz="950" b="0">
                          <a:solidFill>
                            <a:srgbClr val="000000"/>
                          </a:solidFill>
                          <a:latin typeface="Calibri"/>
                        </a:rPr>
                        <a:t>44.05</a:t>
                      </a:r>
                    </a:p>
                  </a:txBody>
                  <a:tcPr/>
                </a:tc>
                <a:tc>
                  <a:txBody>
                    <a:bodyPr lIns="54864" rIns="54864" tIns="18288" bIns="18288" wrap="square" anchor="ctr"/>
                    <a:lstStyle/>
                    <a:p>
                      <a:pPr algn="l"/>
                      <a:r>
                        <a:rPr sz="950" b="0">
                          <a:solidFill>
                            <a:srgbClr val="000000"/>
                          </a:solidFill>
                          <a:latin typeface="Calibri"/>
                        </a:rPr>
                        <a:t>46.32</a:t>
                      </a:r>
                    </a:p>
                  </a:txBody>
                  <a:tcPr/>
                </a:tc>
                <a:tc>
                  <a:txBody>
                    <a:bodyPr lIns="54864" rIns="54864" tIns="18288" bIns="18288" wrap="square" anchor="ctr"/>
                    <a:lstStyle/>
                    <a:p>
                      <a:pPr algn="l"/>
                      <a:r>
                        <a:rPr sz="950" b="0">
                          <a:solidFill>
                            <a:srgbClr val="000000"/>
                          </a:solidFill>
                          <a:latin typeface="Calibri"/>
                        </a:rPr>
                        <a:t>+2.28</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3.40</a:t>
                      </a:r>
                    </a:p>
                  </a:txBody>
                  <a:tcPr/>
                </a:tc>
                <a:tc>
                  <a:txBody>
                    <a:bodyPr lIns="54864" rIns="54864" tIns="18288" bIns="18288" wrap="square" anchor="ctr"/>
                    <a:lstStyle/>
                    <a:p>
                      <a:pPr algn="l"/>
                      <a:r>
                        <a:rPr sz="950" b="0">
                          <a:solidFill>
                            <a:srgbClr val="000000"/>
                          </a:solidFill>
                          <a:latin typeface="Calibri"/>
                        </a:rPr>
                        <a:t>43.85</a:t>
                      </a:r>
                    </a:p>
                  </a:txBody>
                  <a:tcPr/>
                </a:tc>
                <a:tc>
                  <a:txBody>
                    <a:bodyPr lIns="54864" rIns="54864" tIns="18288" bIns="18288" wrap="square" anchor="ctr"/>
                    <a:lstStyle/>
                    <a:p>
                      <a:pPr algn="l"/>
                      <a:r>
                        <a:rPr sz="950" b="0">
                          <a:solidFill>
                            <a:srgbClr val="000000"/>
                          </a:solidFill>
                          <a:latin typeface="Calibri"/>
                        </a:rPr>
                        <a:t>46.17</a:t>
                      </a:r>
                    </a:p>
                  </a:txBody>
                  <a:tcPr/>
                </a:tc>
                <a:tc>
                  <a:txBody>
                    <a:bodyPr lIns="54864" rIns="54864" tIns="18288" bIns="18288" wrap="square" anchor="ctr"/>
                    <a:lstStyle/>
                    <a:p>
                      <a:pPr algn="l"/>
                      <a:r>
                        <a:rPr sz="950" b="0">
                          <a:solidFill>
                            <a:srgbClr val="000000"/>
                          </a:solidFill>
                          <a:latin typeface="Calibri"/>
                        </a:rPr>
                        <a:t>+2.32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3.50</a:t>
                      </a:r>
                    </a:p>
                  </a:txBody>
                  <a:tcPr/>
                </a:tc>
                <a:tc>
                  <a:txBody>
                    <a:bodyPr lIns="54864" rIns="54864" tIns="18288" bIns="18288" wrap="square" anchor="ctr"/>
                    <a:lstStyle/>
                    <a:p>
                      <a:pPr algn="l"/>
                      <a:r>
                        <a:rPr sz="950" b="0">
                          <a:solidFill>
                            <a:srgbClr val="000000"/>
                          </a:solidFill>
                          <a:latin typeface="Calibri"/>
                        </a:rPr>
                        <a:t>43.67</a:t>
                      </a:r>
                    </a:p>
                  </a:txBody>
                  <a:tcPr/>
                </a:tc>
                <a:tc>
                  <a:txBody>
                    <a:bodyPr lIns="54864" rIns="54864" tIns="18288" bIns="18288" wrap="square" anchor="ctr"/>
                    <a:lstStyle/>
                    <a:p>
                      <a:pPr algn="l"/>
                      <a:r>
                        <a:rPr sz="950" b="0">
                          <a:solidFill>
                            <a:srgbClr val="000000"/>
                          </a:solidFill>
                          <a:latin typeface="Calibri"/>
                        </a:rPr>
                        <a:t>46.03</a:t>
                      </a:r>
                    </a:p>
                  </a:txBody>
                  <a:tcPr/>
                </a:tc>
                <a:tc>
                  <a:txBody>
                    <a:bodyPr lIns="54864" rIns="54864" tIns="18288" bIns="18288" wrap="square" anchor="ctr"/>
                    <a:lstStyle/>
                    <a:p>
                      <a:pPr algn="l"/>
                      <a:r>
                        <a:rPr sz="950" b="0">
                          <a:solidFill>
                            <a:srgbClr val="000000"/>
                          </a:solidFill>
                          <a:latin typeface="Calibri"/>
                        </a:rPr>
                        <a:t>+2.36</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3.60</a:t>
                      </a:r>
                    </a:p>
                  </a:txBody>
                  <a:tcPr/>
                </a:tc>
                <a:tc>
                  <a:txBody>
                    <a:bodyPr lIns="54864" rIns="54864" tIns="18288" bIns="18288" wrap="square" anchor="ctr"/>
                    <a:lstStyle/>
                    <a:p>
                      <a:pPr algn="l"/>
                      <a:r>
                        <a:rPr sz="950" b="0">
                          <a:solidFill>
                            <a:srgbClr val="000000"/>
                          </a:solidFill>
                          <a:latin typeface="Calibri"/>
                        </a:rPr>
                        <a:t>43.47</a:t>
                      </a:r>
                    </a:p>
                  </a:txBody>
                  <a:tcPr/>
                </a:tc>
                <a:tc>
                  <a:txBody>
                    <a:bodyPr lIns="54864" rIns="54864" tIns="18288" bIns="18288" wrap="square" anchor="ctr"/>
                    <a:lstStyle/>
                    <a:p>
                      <a:pPr algn="l"/>
                      <a:r>
                        <a:rPr sz="950" b="0">
                          <a:solidFill>
                            <a:srgbClr val="000000"/>
                          </a:solidFill>
                          <a:latin typeface="Calibri"/>
                        </a:rPr>
                        <a:t>45.89</a:t>
                      </a:r>
                    </a:p>
                  </a:txBody>
                  <a:tcPr/>
                </a:tc>
                <a:tc>
                  <a:txBody>
                    <a:bodyPr lIns="54864" rIns="54864" tIns="18288" bIns="18288" wrap="square" anchor="ctr"/>
                    <a:lstStyle/>
                    <a:p>
                      <a:pPr algn="l"/>
                      <a:r>
                        <a:rPr sz="950" b="0">
                          <a:solidFill>
                            <a:srgbClr val="000000"/>
                          </a:solidFill>
                          <a:latin typeface="Calibri"/>
                        </a:rPr>
                        <a:t>+2.42</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3.70</a:t>
                      </a:r>
                    </a:p>
                  </a:txBody>
                  <a:tcPr/>
                </a:tc>
                <a:tc>
                  <a:txBody>
                    <a:bodyPr lIns="54864" rIns="54864" tIns="18288" bIns="18288" wrap="square" anchor="ctr"/>
                    <a:lstStyle/>
                    <a:p>
                      <a:pPr algn="l"/>
                      <a:r>
                        <a:rPr sz="950" b="0">
                          <a:solidFill>
                            <a:srgbClr val="000000"/>
                          </a:solidFill>
                          <a:latin typeface="Calibri"/>
                        </a:rPr>
                        <a:t>43.27</a:t>
                      </a:r>
                    </a:p>
                  </a:txBody>
                  <a:tcPr/>
                </a:tc>
                <a:tc>
                  <a:txBody>
                    <a:bodyPr lIns="54864" rIns="54864" tIns="18288" bIns="18288" wrap="square" anchor="ctr"/>
                    <a:lstStyle/>
                    <a:p>
                      <a:pPr algn="l"/>
                      <a:r>
                        <a:rPr sz="950" b="0">
                          <a:solidFill>
                            <a:srgbClr val="000000"/>
                          </a:solidFill>
                          <a:latin typeface="Calibri"/>
                        </a:rPr>
                        <a:t>45.74</a:t>
                      </a:r>
                    </a:p>
                  </a:txBody>
                  <a:tcPr/>
                </a:tc>
                <a:tc>
                  <a:txBody>
                    <a:bodyPr lIns="54864" rIns="54864" tIns="18288" bIns="18288" wrap="square" anchor="ctr"/>
                    <a:lstStyle/>
                    <a:p>
                      <a:pPr algn="l"/>
                      <a:r>
                        <a:rPr sz="950" b="0">
                          <a:solidFill>
                            <a:srgbClr val="000000"/>
                          </a:solidFill>
                          <a:latin typeface="Calibri"/>
                        </a:rPr>
                        <a:t>+2.47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3.80</a:t>
                      </a:r>
                    </a:p>
                  </a:txBody>
                  <a:tcPr/>
                </a:tc>
                <a:tc>
                  <a:txBody>
                    <a:bodyPr lIns="54864" rIns="54864" tIns="18288" bIns="18288" wrap="square" anchor="ctr"/>
                    <a:lstStyle/>
                    <a:p>
                      <a:pPr algn="l"/>
                      <a:r>
                        <a:rPr sz="950" b="0">
                          <a:solidFill>
                            <a:srgbClr val="000000"/>
                          </a:solidFill>
                          <a:latin typeface="Calibri"/>
                        </a:rPr>
                        <a:t>43.06</a:t>
                      </a:r>
                    </a:p>
                  </a:txBody>
                  <a:tcPr/>
                </a:tc>
                <a:tc>
                  <a:txBody>
                    <a:bodyPr lIns="54864" rIns="54864" tIns="18288" bIns="18288" wrap="square" anchor="ctr"/>
                    <a:lstStyle/>
                    <a:p>
                      <a:pPr algn="l"/>
                      <a:r>
                        <a:rPr sz="950" b="0">
                          <a:solidFill>
                            <a:srgbClr val="000000"/>
                          </a:solidFill>
                          <a:latin typeface="Calibri"/>
                        </a:rPr>
                        <a:t>45.60</a:t>
                      </a:r>
                    </a:p>
                  </a:txBody>
                  <a:tcPr/>
                </a:tc>
                <a:tc>
                  <a:txBody>
                    <a:bodyPr lIns="54864" rIns="54864" tIns="18288" bIns="18288" wrap="square" anchor="ctr"/>
                    <a:lstStyle/>
                    <a:p>
                      <a:pPr algn="l"/>
                      <a:r>
                        <a:rPr sz="950" b="0">
                          <a:solidFill>
                            <a:srgbClr val="000000"/>
                          </a:solidFill>
                          <a:latin typeface="Calibri"/>
                        </a:rPr>
                        <a:t>+2.54</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3.90</a:t>
                      </a:r>
                    </a:p>
                  </a:txBody>
                  <a:tcPr/>
                </a:tc>
                <a:tc>
                  <a:txBody>
                    <a:bodyPr lIns="54864" rIns="54864" tIns="18288" bIns="18288" wrap="square" anchor="ctr"/>
                    <a:lstStyle/>
                    <a:p>
                      <a:pPr algn="l"/>
                      <a:r>
                        <a:rPr sz="950" b="0">
                          <a:solidFill>
                            <a:srgbClr val="000000"/>
                          </a:solidFill>
                          <a:latin typeface="Calibri"/>
                        </a:rPr>
                        <a:t>42.83</a:t>
                      </a:r>
                    </a:p>
                  </a:txBody>
                  <a:tcPr/>
                </a:tc>
                <a:tc>
                  <a:txBody>
                    <a:bodyPr lIns="54864" rIns="54864" tIns="18288" bIns="18288" wrap="square" anchor="ctr"/>
                    <a:lstStyle/>
                    <a:p>
                      <a:pPr algn="l"/>
                      <a:r>
                        <a:rPr sz="950" b="0">
                          <a:solidFill>
                            <a:srgbClr val="000000"/>
                          </a:solidFill>
                          <a:latin typeface="Calibri"/>
                        </a:rPr>
                        <a:t>45.46</a:t>
                      </a:r>
                    </a:p>
                  </a:txBody>
                  <a:tcPr/>
                </a:tc>
                <a:tc>
                  <a:txBody>
                    <a:bodyPr lIns="54864" rIns="54864" tIns="18288" bIns="18288" wrap="square" anchor="ctr"/>
                    <a:lstStyle/>
                    <a:p>
                      <a:pPr algn="l"/>
                      <a:r>
                        <a:rPr sz="950" b="0">
                          <a:solidFill>
                            <a:srgbClr val="000000"/>
                          </a:solidFill>
                          <a:latin typeface="Calibri"/>
                        </a:rPr>
                        <a:t>+2.63</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S25 vs S26 — STRESS-STRAIN DATA TABLE  (3/3)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runs on ONE strain axis at 0.10 % steps, so every row is a like-for-like comparison — this is the form to hold beside extensometer output. ε 4.00 % → 5.75 %, read down the left block then the right. Δ = S26 − S25 at the same strain; “—” means that strain is past that specimen's fracture, so it genuinely has no stress there.</a:t>
            </a:r>
          </a:p>
        </p:txBody>
      </p:sp>
      <p:graphicFrame>
        <p:nvGraphicFramePr>
          <p:cNvPr id="6" name="Table 5"/>
          <p:cNvGraphicFramePr>
            <a:graphicFrameLocks noGrp="1"/>
          </p:cNvGraphicFramePr>
          <p:nvPr/>
        </p:nvGraphicFramePr>
        <p:xfrm>
          <a:off x="365760"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365760">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50" b="0">
                          <a:solidFill>
                            <a:srgbClr val="000000"/>
                          </a:solidFill>
                          <a:latin typeface="Calibri"/>
                        </a:rPr>
                        <a:t>4.00</a:t>
                      </a:r>
                    </a:p>
                  </a:txBody>
                  <a:tcPr/>
                </a:tc>
                <a:tc>
                  <a:txBody>
                    <a:bodyPr lIns="54864" rIns="54864" tIns="18288" bIns="18288" wrap="square" anchor="ctr"/>
                    <a:lstStyle/>
                    <a:p>
                      <a:pPr algn="l"/>
                      <a:r>
                        <a:rPr sz="950" b="0">
                          <a:solidFill>
                            <a:srgbClr val="000000"/>
                          </a:solidFill>
                          <a:latin typeface="Calibri"/>
                        </a:rPr>
                        <a:t>42.54</a:t>
                      </a:r>
                    </a:p>
                  </a:txBody>
                  <a:tcPr/>
                </a:tc>
                <a:tc>
                  <a:txBody>
                    <a:bodyPr lIns="54864" rIns="54864" tIns="18288" bIns="18288" wrap="square" anchor="ctr"/>
                    <a:lstStyle/>
                    <a:p>
                      <a:pPr algn="l"/>
                      <a:r>
                        <a:rPr sz="950" b="0">
                          <a:solidFill>
                            <a:srgbClr val="000000"/>
                          </a:solidFill>
                          <a:latin typeface="Calibri"/>
                        </a:rPr>
                        <a:t>45.32</a:t>
                      </a:r>
                    </a:p>
                  </a:txBody>
                  <a:tcPr/>
                </a:tc>
                <a:tc>
                  <a:txBody>
                    <a:bodyPr lIns="54864" rIns="54864" tIns="18288" bIns="18288" wrap="square" anchor="ctr"/>
                    <a:lstStyle/>
                    <a:p>
                      <a:pPr algn="l"/>
                      <a:r>
                        <a:rPr sz="950" b="0">
                          <a:solidFill>
                            <a:srgbClr val="000000"/>
                          </a:solidFill>
                          <a:latin typeface="Calibri"/>
                        </a:rPr>
                        <a:t>+2.77</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4.10</a:t>
                      </a:r>
                    </a:p>
                  </a:txBody>
                  <a:tcPr/>
                </a:tc>
                <a:tc>
                  <a:txBody>
                    <a:bodyPr lIns="54864" rIns="54864" tIns="18288" bIns="18288" wrap="square" anchor="ctr"/>
                    <a:lstStyle/>
                    <a:p>
                      <a:pPr algn="l"/>
                      <a:r>
                        <a:rPr sz="950" b="0">
                          <a:solidFill>
                            <a:srgbClr val="000000"/>
                          </a:solidFill>
                          <a:latin typeface="Calibri"/>
                        </a:rPr>
                        <a:t>42.17</a:t>
                      </a:r>
                    </a:p>
                  </a:txBody>
                  <a:tcPr/>
                </a:tc>
                <a:tc>
                  <a:txBody>
                    <a:bodyPr lIns="54864" rIns="54864" tIns="18288" bIns="18288" wrap="square" anchor="ctr"/>
                    <a:lstStyle/>
                    <a:p>
                      <a:pPr algn="l"/>
                      <a:r>
                        <a:rPr sz="950" b="0">
                          <a:solidFill>
                            <a:srgbClr val="000000"/>
                          </a:solidFill>
                          <a:latin typeface="Calibri"/>
                        </a:rPr>
                        <a:t>45.17</a:t>
                      </a:r>
                    </a:p>
                  </a:txBody>
                  <a:tcPr/>
                </a:tc>
                <a:tc>
                  <a:txBody>
                    <a:bodyPr lIns="54864" rIns="54864" tIns="18288" bIns="18288" wrap="square" anchor="ctr"/>
                    <a:lstStyle/>
                    <a:p>
                      <a:pPr algn="l"/>
                      <a:r>
                        <a:rPr sz="950" b="0">
                          <a:solidFill>
                            <a:srgbClr val="000000"/>
                          </a:solidFill>
                          <a:latin typeface="Calibri"/>
                        </a:rPr>
                        <a:t>+3.00</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1">
                          <a:solidFill>
                            <a:srgbClr val="000000"/>
                          </a:solidFill>
                          <a:latin typeface="Calibri"/>
                        </a:rPr>
                        <a:t>4.18</a:t>
                      </a:r>
                    </a:p>
                  </a:txBody>
                  <a:tcPr>
                    <a:solidFill>
                      <a:srgbClr val="FFCDD2"/>
                    </a:solidFill>
                  </a:tcPr>
                </a:tc>
                <a:tc>
                  <a:txBody>
                    <a:bodyPr lIns="54864" rIns="54864" tIns="18288" bIns="18288" wrap="square" anchor="ctr"/>
                    <a:lstStyle/>
                    <a:p>
                      <a:pPr algn="l"/>
                      <a:r>
                        <a:rPr sz="950" b="1">
                          <a:solidFill>
                            <a:srgbClr val="000000"/>
                          </a:solidFill>
                          <a:latin typeface="Calibri"/>
                        </a:rPr>
                        <a:t>41.59</a:t>
                      </a:r>
                    </a:p>
                  </a:txBody>
                  <a:tcPr>
                    <a:solidFill>
                      <a:srgbClr val="FFCDD2"/>
                    </a:solidFill>
                  </a:tcPr>
                </a:tc>
                <a:tc>
                  <a:txBody>
                    <a:bodyPr lIns="54864" rIns="54864" tIns="18288" bIns="18288" wrap="square" anchor="ctr"/>
                    <a:lstStyle/>
                    <a:p>
                      <a:pPr algn="l"/>
                      <a:r>
                        <a:rPr sz="950" b="1">
                          <a:solidFill>
                            <a:srgbClr val="000000"/>
                          </a:solidFill>
                          <a:latin typeface="Calibri"/>
                        </a:rPr>
                        <a:t>45.07</a:t>
                      </a:r>
                    </a:p>
                  </a:txBody>
                  <a:tcPr>
                    <a:solidFill>
                      <a:srgbClr val="FFCDD2"/>
                    </a:solidFill>
                  </a:tcPr>
                </a:tc>
                <a:tc>
                  <a:txBody>
                    <a:bodyPr lIns="54864" rIns="54864" tIns="18288" bIns="18288" wrap="square" anchor="ctr"/>
                    <a:lstStyle/>
                    <a:p>
                      <a:pPr algn="l"/>
                      <a:r>
                        <a:rPr sz="950" b="1">
                          <a:solidFill>
                            <a:srgbClr val="000000"/>
                          </a:solidFill>
                          <a:latin typeface="Calibri"/>
                        </a:rPr>
                        <a:t>+3.48</a:t>
                      </a:r>
                    </a:p>
                  </a:txBody>
                  <a:tcPr>
                    <a:solidFill>
                      <a:srgbClr val="FFCDD2"/>
                    </a:solidFill>
                  </a:tcPr>
                </a:tc>
                <a:tc>
                  <a:txBody>
                    <a:bodyPr lIns="54864" rIns="54864" tIns="18288" bIns="18288" wrap="square" anchor="ctr"/>
                    <a:lstStyle/>
                    <a:p>
                      <a:pPr algn="l"/>
                      <a:r>
                        <a:rPr sz="950" b="1">
                          <a:solidFill>
                            <a:srgbClr val="000000"/>
                          </a:solidFill>
                          <a:latin typeface="Calibri"/>
                        </a:rPr>
                        <a:t>S25 fracture</a:t>
                      </a:r>
                    </a:p>
                  </a:txBody>
                  <a:tcPr>
                    <a:solidFill>
                      <a:srgbClr val="FFCDD2"/>
                    </a:solidFill>
                  </a:tcPr>
                </a:tc>
              </a:tr>
              <a:tr h="365760">
                <a:tc>
                  <a:txBody>
                    <a:bodyPr lIns="54864" rIns="54864" tIns="18288" bIns="18288" wrap="square" anchor="ctr"/>
                    <a:lstStyle/>
                    <a:p>
                      <a:pPr algn="l"/>
                      <a:r>
                        <a:rPr sz="950" b="0">
                          <a:solidFill>
                            <a:srgbClr val="000000"/>
                          </a:solidFill>
                          <a:latin typeface="Calibri"/>
                        </a:rPr>
                        <a:t>4.20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45.03</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4.30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44.90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4.40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44.79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4.50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44.66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4.60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44.54</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4.70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44.41</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4.80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44.29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365760">
                <a:tc>
                  <a:txBody>
                    <a:bodyPr lIns="54864" rIns="54864" tIns="18288" bIns="18288" wrap="square" anchor="ctr"/>
                    <a:lstStyle/>
                    <a:p>
                      <a:pPr algn="l"/>
                      <a:r>
                        <a:rPr sz="950" b="0">
                          <a:solidFill>
                            <a:srgbClr val="000000"/>
                          </a:solidFill>
                          <a:latin typeface="Calibri"/>
                        </a:rPr>
                        <a:t>4.90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44.17</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7" cy="4389120"/>
        </p:xfrm>
        <a:graphic>
          <a:graphicData uri="http://schemas.openxmlformats.org/drawingml/2006/table">
            <a:tbl>
              <a:tblPr firstRow="1" bandRow="1">
                <a:tableStyleId>{5C22544A-7EE6-4342-B048-85BDC9FD1C3A}</a:tableStyleId>
              </a:tblPr>
              <a:tblGrid>
                <a:gridCol w="971342"/>
                <a:gridCol w="1073588"/>
                <a:gridCol w="1073588"/>
                <a:gridCol w="920218"/>
                <a:gridCol w="1584821"/>
              </a:tblGrid>
              <a:tr h="438912">
                <a:tc>
                  <a:txBody>
                    <a:bodyPr lIns="54864" rIns="54864" tIns="18288" bIns="18288" wrap="square" anchor="ctr"/>
                    <a:lstStyle/>
                    <a:p>
                      <a:pPr algn="l"/>
                      <a:r>
                        <a:rPr sz="1000" b="1">
                          <a:solidFill>
                            <a:srgbClr val="FFFFFF"/>
                          </a:solidFill>
                          <a:latin typeface="Calibri"/>
                        </a:rPr>
                        <a:t>ε  (%)</a:t>
                      </a:r>
                    </a:p>
                  </a:txBody>
                  <a:tcPr>
                    <a:solidFill>
                      <a:srgbClr val="143D2F"/>
                    </a:solidFill>
                  </a:tcPr>
                </a:tc>
                <a:tc>
                  <a:txBody>
                    <a:bodyPr lIns="54864" rIns="54864" tIns="18288" bIns="18288" wrap="square" anchor="ctr"/>
                    <a:lstStyle/>
                    <a:p>
                      <a:pPr algn="l"/>
                      <a:r>
                        <a:rPr sz="1000" b="1">
                          <a:solidFill>
                            <a:srgbClr val="FFFFFF"/>
                          </a:solidFill>
                          <a:latin typeface="Calibri"/>
                        </a:rPr>
                        <a:t>S25 σ</a:t>
                      </a:r>
                    </a:p>
                  </a:txBody>
                  <a:tcPr>
                    <a:solidFill>
                      <a:srgbClr val="143D2F"/>
                    </a:solidFill>
                  </a:tcPr>
                </a:tc>
                <a:tc>
                  <a:txBody>
                    <a:bodyPr lIns="54864" rIns="54864" tIns="18288" bIns="18288" wrap="square" anchor="ctr"/>
                    <a:lstStyle/>
                    <a:p>
                      <a:pPr algn="l"/>
                      <a:r>
                        <a:rPr sz="1000" b="1">
                          <a:solidFill>
                            <a:srgbClr val="FFFFFF"/>
                          </a:solidFill>
                          <a:latin typeface="Calibri"/>
                        </a:rPr>
                        <a:t>S26 σ</a:t>
                      </a:r>
                    </a:p>
                  </a:txBody>
                  <a:tcPr>
                    <a:solidFill>
                      <a:srgbClr val="143D2F"/>
                    </a:solidFill>
                  </a:tcPr>
                </a:tc>
                <a:tc>
                  <a:txBody>
                    <a:bodyPr lIns="54864" rIns="54864" tIns="18288" bIns="18288" wrap="square" anchor="ctr"/>
                    <a:lstStyle/>
                    <a:p>
                      <a:pPr algn="l"/>
                      <a:r>
                        <a:rPr sz="1000" b="1">
                          <a:solidFill>
                            <a:srgbClr val="FFFFFF"/>
                          </a:solidFill>
                          <a:latin typeface="Calibri"/>
                        </a:rPr>
                        <a:t>Δ</a:t>
                      </a:r>
                    </a:p>
                  </a:txBody>
                  <a:tcPr>
                    <a:solidFill>
                      <a:srgbClr val="143D2F"/>
                    </a:solidFill>
                  </a:tcPr>
                </a:tc>
                <a:tc>
                  <a:txBody>
                    <a:bodyPr lIns="54864" rIns="54864" tIns="18288" bIns="18288" wrap="square" anchor="ctr"/>
                    <a:lstStyle/>
                    <a:p>
                      <a:pPr algn="l"/>
                      <a:r>
                        <a:rPr sz="1000" b="1">
                          <a:solidFill>
                            <a:srgbClr val="FFFFFF"/>
                          </a:solidFill>
                          <a:latin typeface="Calibri"/>
                        </a:rPr>
                        <a:t>Landmark</a:t>
                      </a:r>
                    </a:p>
                  </a:txBody>
                  <a:tcPr>
                    <a:solidFill>
                      <a:srgbClr val="143D2F"/>
                    </a:solidFill>
                  </a:tcPr>
                </a:tc>
              </a:tr>
              <a:tr h="438912">
                <a:tc>
                  <a:txBody>
                    <a:bodyPr lIns="54864" rIns="54864" tIns="18288" bIns="18288" wrap="square" anchor="ctr"/>
                    <a:lstStyle/>
                    <a:p>
                      <a:pPr algn="l"/>
                      <a:r>
                        <a:rPr sz="950" b="0">
                          <a:solidFill>
                            <a:srgbClr val="000000"/>
                          </a:solidFill>
                          <a:latin typeface="Calibri"/>
                        </a:rPr>
                        <a:t>5.00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44.02</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5.10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43.89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5.20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43.76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5.30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43.62</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5.40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43.47</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5.50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43.28</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5.60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43.08</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0">
                          <a:solidFill>
                            <a:srgbClr val="000000"/>
                          </a:solidFill>
                          <a:latin typeface="Calibri"/>
                        </a:rPr>
                        <a:t>5.70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42.76</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
                      </a:r>
                    </a:p>
                  </a:txBody>
                  <a:tcPr/>
                </a:tc>
              </a:tr>
              <a:tr h="438912">
                <a:tc>
                  <a:txBody>
                    <a:bodyPr lIns="54864" rIns="54864" tIns="18288" bIns="18288" wrap="square" anchor="ctr"/>
                    <a:lstStyle/>
                    <a:p>
                      <a:pPr algn="l"/>
                      <a:r>
                        <a:rPr sz="950" b="1">
                          <a:solidFill>
                            <a:srgbClr val="000000"/>
                          </a:solidFill>
                          <a:latin typeface="Calibri"/>
                        </a:rPr>
                        <a:t>5.75</a:t>
                      </a:r>
                    </a:p>
                  </a:txBody>
                  <a:tcPr>
                    <a:solidFill>
                      <a:srgbClr val="FFCDD2"/>
                    </a:solidFill>
                  </a:tcPr>
                </a:tc>
                <a:tc>
                  <a:txBody>
                    <a:bodyPr lIns="54864" rIns="54864" tIns="18288" bIns="18288" wrap="square" anchor="ctr"/>
                    <a:lstStyle/>
                    <a:p>
                      <a:pPr algn="l"/>
                      <a:r>
                        <a:rPr sz="950" b="1">
                          <a:solidFill>
                            <a:srgbClr val="000000"/>
                          </a:solidFill>
                          <a:latin typeface="Calibri"/>
                        </a:rPr>
                        <a:t>—</a:t>
                      </a:r>
                    </a:p>
                  </a:txBody>
                  <a:tcPr>
                    <a:solidFill>
                      <a:srgbClr val="FFCDD2"/>
                    </a:solidFill>
                  </a:tcPr>
                </a:tc>
                <a:tc>
                  <a:txBody>
                    <a:bodyPr lIns="54864" rIns="54864" tIns="18288" bIns="18288" wrap="square" anchor="ctr"/>
                    <a:lstStyle/>
                    <a:p>
                      <a:pPr algn="l"/>
                      <a:r>
                        <a:rPr sz="950" b="1">
                          <a:solidFill>
                            <a:srgbClr val="000000"/>
                          </a:solidFill>
                          <a:latin typeface="Calibri"/>
                        </a:rPr>
                        <a:t>42.54</a:t>
                      </a:r>
                    </a:p>
                  </a:txBody>
                  <a:tcPr>
                    <a:solidFill>
                      <a:srgbClr val="FFCDD2"/>
                    </a:solidFill>
                  </a:tcPr>
                </a:tc>
                <a:tc>
                  <a:txBody>
                    <a:bodyPr lIns="54864" rIns="54864" tIns="18288" bIns="18288" wrap="square" anchor="ctr"/>
                    <a:lstStyle/>
                    <a:p>
                      <a:pPr algn="l"/>
                      <a:r>
                        <a:rPr sz="950" b="1">
                          <a:solidFill>
                            <a:srgbClr val="000000"/>
                          </a:solidFill>
                          <a:latin typeface="Calibri"/>
                        </a:rPr>
                        <a:t>—</a:t>
                      </a:r>
                    </a:p>
                  </a:txBody>
                  <a:tcPr>
                    <a:solidFill>
                      <a:srgbClr val="FFCDD2"/>
                    </a:solidFill>
                  </a:tcPr>
                </a:tc>
                <a:tc>
                  <a:txBody>
                    <a:bodyPr lIns="54864" rIns="54864" tIns="18288" bIns="18288" wrap="square" anchor="ctr"/>
                    <a:lstStyle/>
                    <a:p>
                      <a:pPr algn="l"/>
                      <a:r>
                        <a:rPr sz="950" b="1">
                          <a:solidFill>
                            <a:srgbClr val="000000"/>
                          </a:solidFill>
                          <a:latin typeface="Calibri"/>
                        </a:rPr>
                        <a:t>S26 fracture</a:t>
                      </a:r>
                    </a:p>
                  </a:txBody>
                  <a:tcPr>
                    <a:solidFill>
                      <a:srgbClr val="FFCDD2"/>
                    </a:solidFill>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not grid-interpolated ones. FULL RESOLUTION (all 768 + 903 raw samples): documentation/decks/S25_S26_stress_strain_reference.pdf</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 — WHERE THE FIT WINDOW LANDS, AND WHY IT MATTERS</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E is the slope of the straight part of the stress-strain curve, so measuring it means choosing WHICH part to fit — the “fit window”. analyze() uses a fixed 0.05-0.40 % strain window for every specimen. That is a normal convention (ISO 527 fixes a window too) and it assumes every curve is straight in the same place. Ours are not.</a:t>
            </a:r>
          </a:p>
        </p:txBody>
      </p:sp>
      <p:pic>
        <p:nvPicPr>
          <p:cNvPr id="6" name="Picture 5" descr="e_fit_mechanism.png"/>
          <p:cNvPicPr>
            <a:picLocks noChangeAspect="1"/>
          </p:cNvPicPr>
          <p:nvPr/>
        </p:nvPicPr>
        <p:blipFill>
          <a:blip r:embed="rId2"/>
          <a:stretch>
            <a:fillRect/>
          </a:stretch>
        </p:blipFill>
        <p:spPr>
          <a:xfrm>
            <a:off x="320040" y="1691640"/>
            <a:ext cx="7772400" cy="3246743"/>
          </a:xfrm>
          <a:prstGeom prst="rect">
            <a:avLst/>
          </a:prstGeom>
        </p:spPr>
      </p:pic>
      <p:sp>
        <p:nvSpPr>
          <p:cNvPr id="7" name="TextBox 6"/>
          <p:cNvSpPr txBox="1"/>
          <p:nvPr/>
        </p:nvSpPr>
        <p:spPr>
          <a:xfrm>
            <a:off x="8229600" y="1627632"/>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picture shows</a:t>
            </a:r>
          </a:p>
        </p:txBody>
      </p:sp>
      <p:sp>
        <p:nvSpPr>
          <p:cNvPr id="8" name="TextBox 7"/>
          <p:cNvSpPr txBox="1"/>
          <p:nvPr/>
        </p:nvSpPr>
        <p:spPr>
          <a:xfrm>
            <a:off x="8229600" y="1956816"/>
            <a:ext cx="3611880" cy="3017520"/>
          </a:xfrm>
          <a:prstGeom prst="rect">
            <a:avLst/>
          </a:prstGeom>
          <a:noFill/>
        </p:spPr>
        <p:txBody>
          <a:bodyPr wrap="square" lIns="45720" rIns="45720" tIns="18288" bIns="18288" anchor="t">
            <a:spAutoFit/>
          </a:bodyPr>
          <a:lstStyle/>
          <a:p>
            <a:pPr algn="l"/>
            <a:r>
              <a:rPr sz="1050" b="0" i="0">
                <a:solidFill>
                  <a:srgbClr val="000000"/>
                </a:solidFill>
                <a:latin typeface="Calibri"/>
              </a:rPr>
              <a:t>Each line is the slope measured over a short rolling window, so it answers a question a single fitted number cannot: is the curve even straight where we are looking?
Every specimen STIFFENS through the first half-percent, peaks, then softens as yielding starts. The fixed windows (shaded) sit on the RISING part — so what gets reported is whatever that specimen happened to have reached by 0.40 %.
S24 has almost finished rising by then. S26 and S16 have not, so their E reads low. Same material, same settings — a difference in how the specimen seated.</a:t>
            </a:r>
          </a:p>
        </p:txBody>
      </p:sp>
      <p:sp>
        <p:nvSpPr>
          <p:cNvPr id="9" name="Rectangle 8"/>
          <p:cNvSpPr/>
          <p:nvPr/>
        </p:nvSpPr>
        <p:spPr>
          <a:xfrm>
            <a:off x="365760" y="5074920"/>
            <a:ext cx="11475720" cy="77724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000000"/>
                </a:solidFill>
                <a:latin typeface="Calibri"/>
              </a:rPr>
              <a:t>This is NOT new. The E explainer deck already recorded it on S16 (reported 1.88 GPa where the straight part of its own curve reads 2.6). S26 is the second clear instance, which is why it is now being settled with evidence instead of noted again.</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Rolling fit: 0.20 %-wide window stepped in 0.02 % increments. Markers = centre of each specimen's steepest straight run. Generated by documentation/scripts/e_fit_plots.py.</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 — THREE WAYS TO PICK THE WINDOW, ON OUR NINE 100 % RUNS</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Same nine specimens, same curves, three rules for choosing the window. Judged on the two things that matter: how much they scatter across nominally identical specimens, and where they sit against the material datasheet.</a:t>
            </a:r>
          </a:p>
        </p:txBody>
      </p:sp>
      <p:pic>
        <p:nvPicPr>
          <p:cNvPr id="6" name="Picture 5" descr="e_fit_evidence.png"/>
          <p:cNvPicPr>
            <a:picLocks noChangeAspect="1"/>
          </p:cNvPicPr>
          <p:nvPr/>
        </p:nvPicPr>
        <p:blipFill>
          <a:blip r:embed="rId2"/>
          <a:stretch>
            <a:fillRect/>
          </a:stretch>
        </p:blipFill>
        <p:spPr>
          <a:xfrm>
            <a:off x="320040" y="1536192"/>
            <a:ext cx="7772400" cy="3391593"/>
          </a:xfrm>
          <a:prstGeom prst="rect">
            <a:avLst/>
          </a:prstGeom>
        </p:spPr>
      </p:pic>
      <p:graphicFrame>
        <p:nvGraphicFramePr>
          <p:cNvPr id="7" name="Table 6"/>
          <p:cNvGraphicFramePr>
            <a:graphicFrameLocks noGrp="1"/>
          </p:cNvGraphicFramePr>
          <p:nvPr/>
        </p:nvGraphicFramePr>
        <p:xfrm>
          <a:off x="8229600" y="1536192"/>
          <a:ext cx="3611878" cy="1298448"/>
        </p:xfrm>
        <a:graphic>
          <a:graphicData uri="http://schemas.openxmlformats.org/drawingml/2006/table">
            <a:tbl>
              <a:tblPr firstRow="1" bandRow="1">
                <a:tableStyleId>{5C22544A-7EE6-4342-B048-85BDC9FD1C3A}</a:tableStyleId>
              </a:tblPr>
              <a:tblGrid>
                <a:gridCol w="1641763"/>
                <a:gridCol w="820881"/>
                <a:gridCol w="533573"/>
                <a:gridCol w="615661"/>
              </a:tblGrid>
              <a:tr h="324612">
                <a:tc>
                  <a:txBody>
                    <a:bodyPr lIns="54864" rIns="54864" tIns="18288" bIns="18288" wrap="square" anchor="ctr"/>
                    <a:lstStyle/>
                    <a:p>
                      <a:pPr algn="l"/>
                      <a:r>
                        <a:rPr sz="950" b="1">
                          <a:solidFill>
                            <a:srgbClr val="FFFFFF"/>
                          </a:solidFill>
                          <a:latin typeface="Calibri"/>
                        </a:rPr>
                        <a:t>Rule for the window</a:t>
                      </a:r>
                    </a:p>
                  </a:txBody>
                  <a:tcPr>
                    <a:solidFill>
                      <a:srgbClr val="143D2F"/>
                    </a:solidFill>
                  </a:tcPr>
                </a:tc>
                <a:tc>
                  <a:txBody>
                    <a:bodyPr lIns="54864" rIns="54864" tIns="18288" bIns="18288" wrap="square" anchor="ctr"/>
                    <a:lstStyle/>
                    <a:p>
                      <a:pPr algn="l"/>
                      <a:r>
                        <a:rPr sz="950" b="1">
                          <a:solidFill>
                            <a:srgbClr val="FFFFFF"/>
                          </a:solidFill>
                          <a:latin typeface="Calibri"/>
                        </a:rPr>
                        <a:t>mean E</a:t>
                      </a:r>
                    </a:p>
                  </a:txBody>
                  <a:tcPr>
                    <a:solidFill>
                      <a:srgbClr val="143D2F"/>
                    </a:solidFill>
                  </a:tcPr>
                </a:tc>
                <a:tc>
                  <a:txBody>
                    <a:bodyPr lIns="54864" rIns="54864" tIns="18288" bIns="18288" wrap="square" anchor="ctr"/>
                    <a:lstStyle/>
                    <a:p>
                      <a:pPr algn="l"/>
                      <a:r>
                        <a:rPr sz="950" b="1">
                          <a:solidFill>
                            <a:srgbClr val="FFFFFF"/>
                          </a:solidFill>
                          <a:latin typeface="Calibri"/>
                        </a:rPr>
                        <a:t>CV</a:t>
                      </a:r>
                    </a:p>
                  </a:txBody>
                  <a:tcPr>
                    <a:solidFill>
                      <a:srgbClr val="143D2F"/>
                    </a:solidFill>
                  </a:tcPr>
                </a:tc>
                <a:tc>
                  <a:txBody>
                    <a:bodyPr lIns="54864" rIns="54864" tIns="18288" bIns="18288" wrap="square" anchor="ctr"/>
                    <a:lstStyle/>
                    <a:p>
                      <a:pPr algn="l"/>
                      <a:r>
                        <a:rPr sz="950" b="1">
                          <a:solidFill>
                            <a:srgbClr val="FFFFFF"/>
                          </a:solidFill>
                          <a:latin typeface="Calibri"/>
                        </a:rPr>
                        <a:t>vs TDS</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ISO fixed 0.05-0.25 %</a:t>
                      </a:r>
                    </a:p>
                  </a:txBody>
                  <a:tcPr/>
                </a:tc>
                <a:tc>
                  <a:txBody>
                    <a:bodyPr lIns="54864" rIns="54864" tIns="18288" bIns="18288" wrap="square" anchor="ctr"/>
                    <a:lstStyle/>
                    <a:p>
                      <a:pPr algn="l"/>
                      <a:r>
                        <a:rPr sz="950" b="0">
                          <a:solidFill>
                            <a:srgbClr val="000000"/>
                          </a:solidFill>
                          <a:latin typeface="Calibri"/>
                        </a:rPr>
                        <a:t>2.45 GPa</a:t>
                      </a:r>
                    </a:p>
                  </a:txBody>
                  <a:tcPr/>
                </a:tc>
                <a:tc>
                  <a:txBody>
                    <a:bodyPr lIns="54864" rIns="54864" tIns="18288" bIns="18288" wrap="square" anchor="ctr"/>
                    <a:lstStyle/>
                    <a:p>
                      <a:pPr algn="l"/>
                      <a:r>
                        <a:rPr sz="950" b="0">
                          <a:solidFill>
                            <a:srgbClr val="000000"/>
                          </a:solidFill>
                          <a:latin typeface="Calibri"/>
                        </a:rPr>
                        <a:t>20.3 %</a:t>
                      </a:r>
                    </a:p>
                  </a:txBody>
                  <a:tcPr/>
                </a:tc>
                <a:tc>
                  <a:txBody>
                    <a:bodyPr lIns="54864" rIns="54864" tIns="18288" bIns="18288" wrap="square" anchor="ctr"/>
                    <a:lstStyle/>
                    <a:p>
                      <a:pPr algn="l"/>
                      <a:r>
                        <a:rPr sz="950" b="0">
                          <a:solidFill>
                            <a:srgbClr val="000000"/>
                          </a:solidFill>
                          <a:latin typeface="Calibri"/>
                        </a:rPr>
                        <a:t>-15 %</a:t>
                      </a:r>
                    </a:p>
                  </a:txBody>
                  <a:tcPr/>
                </a:tc>
              </a:tr>
              <a:tr h="324612">
                <a:tc>
                  <a:txBody>
                    <a:bodyPr lIns="54864" rIns="54864" tIns="18288" bIns="18288" wrap="square" anchor="ctr"/>
                    <a:lstStyle/>
                    <a:p>
                      <a:pPr algn="l"/>
                      <a:r>
                        <a:rPr sz="950" b="0">
                          <a:solidFill>
                            <a:srgbClr val="000000"/>
                          </a:solidFill>
                          <a:latin typeface="Calibri"/>
                        </a:rPr>
                        <a:t>fixed 0.05-0.40 % (was ours)</a:t>
                      </a:r>
                    </a:p>
                  </a:txBody>
                  <a:tcPr/>
                </a:tc>
                <a:tc>
                  <a:txBody>
                    <a:bodyPr lIns="54864" rIns="54864" tIns="18288" bIns="18288" wrap="square" anchor="ctr"/>
                    <a:lstStyle/>
                    <a:p>
                      <a:pPr algn="l"/>
                      <a:r>
                        <a:rPr sz="950" b="0">
                          <a:solidFill>
                            <a:srgbClr val="000000"/>
                          </a:solidFill>
                          <a:latin typeface="Calibri"/>
                        </a:rPr>
                        <a:t>2.55 GPa</a:t>
                      </a:r>
                    </a:p>
                  </a:txBody>
                  <a:tcPr/>
                </a:tc>
                <a:tc>
                  <a:txBody>
                    <a:bodyPr lIns="54864" rIns="54864" tIns="18288" bIns="18288" wrap="square" anchor="ctr"/>
                    <a:lstStyle/>
                    <a:p>
                      <a:pPr algn="l"/>
                      <a:r>
                        <a:rPr sz="950" b="0">
                          <a:solidFill>
                            <a:srgbClr val="000000"/>
                          </a:solidFill>
                          <a:latin typeface="Calibri"/>
                        </a:rPr>
                        <a:t>17.1 %</a:t>
                      </a:r>
                    </a:p>
                  </a:txBody>
                  <a:tcPr/>
                </a:tc>
                <a:tc>
                  <a:txBody>
                    <a:bodyPr lIns="54864" rIns="54864" tIns="18288" bIns="18288" wrap="square" anchor="ctr"/>
                    <a:lstStyle/>
                    <a:p>
                      <a:pPr algn="l"/>
                      <a:r>
                        <a:rPr sz="950" b="0">
                          <a:solidFill>
                            <a:srgbClr val="000000"/>
                          </a:solidFill>
                          <a:latin typeface="Calibri"/>
                        </a:rPr>
                        <a:t>-11 %</a:t>
                      </a:r>
                    </a:p>
                  </a:txBody>
                  <a:tcPr/>
                </a:tc>
              </a:tr>
              <a:tr h="324612">
                <a:tc>
                  <a:txBody>
                    <a:bodyPr lIns="54864" rIns="54864" tIns="18288" bIns="18288" wrap="square" anchor="ctr"/>
                    <a:lstStyle/>
                    <a:p>
                      <a:pPr algn="l"/>
                      <a:r>
                        <a:rPr sz="950" b="0">
                          <a:solidFill>
                            <a:srgbClr val="000000"/>
                          </a:solidFill>
                          <a:latin typeface="Calibri"/>
                        </a:rPr>
                        <a:t>Steepest straight run ✔</a:t>
                      </a:r>
                    </a:p>
                  </a:txBody>
                  <a:tcPr/>
                </a:tc>
                <a:tc>
                  <a:txBody>
                    <a:bodyPr lIns="54864" rIns="54864" tIns="18288" bIns="18288" wrap="square" anchor="ctr"/>
                    <a:lstStyle/>
                    <a:p>
                      <a:pPr algn="l"/>
                      <a:r>
                        <a:rPr sz="950" b="1">
                          <a:solidFill>
                            <a:srgbClr val="000000"/>
                          </a:solidFill>
                          <a:latin typeface="Calibri"/>
                        </a:rPr>
                        <a:t>2.85 GPa</a:t>
                      </a:r>
                    </a:p>
                  </a:txBody>
                  <a:tcPr>
                    <a:solidFill>
                      <a:srgbClr val="C8E6C9"/>
                    </a:solidFill>
                  </a:tcPr>
                </a:tc>
                <a:tc>
                  <a:txBody>
                    <a:bodyPr lIns="54864" rIns="54864" tIns="18288" bIns="18288" wrap="square" anchor="ctr"/>
                    <a:lstStyle/>
                    <a:p>
                      <a:pPr algn="l"/>
                      <a:r>
                        <a:rPr sz="950" b="1">
                          <a:solidFill>
                            <a:srgbClr val="000000"/>
                          </a:solidFill>
                          <a:latin typeface="Calibri"/>
                        </a:rPr>
                        <a:t>16.3 %</a:t>
                      </a:r>
                    </a:p>
                  </a:txBody>
                  <a:tcPr>
                    <a:solidFill>
                      <a:srgbClr val="C8E6C9"/>
                    </a:solidFill>
                  </a:tcPr>
                </a:tc>
                <a:tc>
                  <a:txBody>
                    <a:bodyPr lIns="54864" rIns="54864" tIns="18288" bIns="18288" wrap="square" anchor="ctr"/>
                    <a:lstStyle/>
                    <a:p>
                      <a:pPr algn="l"/>
                      <a:r>
                        <a:rPr sz="950" b="1">
                          <a:solidFill>
                            <a:srgbClr val="000000"/>
                          </a:solidFill>
                          <a:latin typeface="Calibri"/>
                        </a:rPr>
                        <a:t>-1 %</a:t>
                      </a:r>
                    </a:p>
                  </a:txBody>
                  <a:tcPr>
                    <a:solidFill>
                      <a:srgbClr val="C8E6C9"/>
                    </a:solidFill>
                  </a:tcPr>
                </a:tc>
              </a:tr>
            </a:tbl>
          </a:graphicData>
        </a:graphic>
      </p:graphicFrame>
      <p:sp>
        <p:nvSpPr>
          <p:cNvPr id="8" name="TextBox 7"/>
          <p:cNvSpPr txBox="1"/>
          <p:nvPr/>
        </p:nvSpPr>
        <p:spPr>
          <a:xfrm>
            <a:off x="8229600" y="2962656"/>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numbers say</a:t>
            </a:r>
          </a:p>
        </p:txBody>
      </p:sp>
      <p:sp>
        <p:nvSpPr>
          <p:cNvPr id="9" name="TextBox 8"/>
          <p:cNvSpPr txBox="1"/>
          <p:nvPr/>
        </p:nvSpPr>
        <p:spPr>
          <a:xfrm>
            <a:off x="8229600" y="3291840"/>
            <a:ext cx="3611880" cy="1691640"/>
          </a:xfrm>
          <a:prstGeom prst="rect">
            <a:avLst/>
          </a:prstGeom>
          <a:noFill/>
        </p:spPr>
        <p:txBody>
          <a:bodyPr wrap="square" lIns="45720" rIns="45720" tIns="18288" bIns="18288" anchor="t">
            <a:spAutoFit/>
          </a:bodyPr>
          <a:lstStyle/>
          <a:p>
            <a:pPr algn="l"/>
            <a:r>
              <a:rPr sz="1050" b="0" i="0">
                <a:solidFill>
                  <a:srgbClr val="000000"/>
                </a:solidFill>
                <a:latin typeface="Calibri"/>
              </a:rPr>
              <a:t>The steepest straight run wins on BOTH counts at once: least scatter (CV 16.3 % against 17.1 and 20.3) and closest to the datasheet (-1 % against -11 and -15).
Lower scatter is the load-bearing result — a rule that merely chased noise would make repeatability WORSE. So the fixed windows are partly measuring how each specimen seated.
Note ISO is the WORST of the three here: adopting it for comparability would cost repeatability.</a:t>
            </a:r>
          </a:p>
        </p:txBody>
      </p:sp>
      <p:sp>
        <p:nvSpPr>
          <p:cNvPr id="10" name="Rectangle 9"/>
          <p:cNvSpPr/>
          <p:nvPr/>
        </p:nvSpPr>
        <p:spPr>
          <a:xfrm>
            <a:off x="365760" y="507492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DECISION TAKEN 2026-08-18 — utm_analysis.analyze() now reports the steepest straight run as E, and the 0.05–0.40 % value alongside it as E_fixed so nothing is lost. Every test in the deck and the registry was re-analysed on the new basis. UTS, ε_f, toughness and the anchor are untouched and were verified bit-identical on all 20 runs; σ_y moves because the 0.2 % offset line has slope E. See p239.</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“Steepest straight run” = the steepest stretch below 2 % strain, at least 0.25 % wide, whose R² is within 0.0005 of the straightest the record can offer (capped at 0.999). Steepest, not straightest: the toe and the yield knee are smooth too. Standard clauses to be checked against the source documents before publication.</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 THE FIRST BLACK SPECIMEN PULLED TO FRACTURE</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Every specimen up to here was white PLA with BLACK spray dots. S13 inverts that — black PLA with WHITE dots — which flips the threshold polarity through the entire DIC chain: the blob detector, the live overlay and the speckle video all have to look for the opposite thing. The Black preset had never been run on a real specimen before this.</a:t>
            </a:r>
          </a:p>
        </p:txBody>
      </p:sp>
      <p:sp>
        <p:nvSpPr>
          <p:cNvPr id="6" name="Rounded Rectangle 5"/>
          <p:cNvSpPr/>
          <p:nvPr/>
        </p:nvSpPr>
        <p:spPr>
          <a:xfrm>
            <a:off x="365760" y="169164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46.33 MPa</a:t>
            </a:r>
          </a:p>
          <a:p>
            <a:pPr algn="ctr"/>
            <a:r>
              <a:rPr sz="950">
                <a:solidFill>
                  <a:srgbClr val="000000"/>
                </a:solidFill>
                <a:latin typeface="Calibri"/>
              </a:rPr>
              <a:t>UTS</a:t>
            </a:r>
          </a:p>
        </p:txBody>
      </p:sp>
      <p:sp>
        <p:nvSpPr>
          <p:cNvPr id="7" name="Rounded Rectangle 6"/>
          <p:cNvSpPr/>
          <p:nvPr/>
        </p:nvSpPr>
        <p:spPr>
          <a:xfrm>
            <a:off x="2304288"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42.07 MPa</a:t>
            </a:r>
          </a:p>
          <a:p>
            <a:pPr algn="ctr"/>
            <a:r>
              <a:rPr sz="950">
                <a:solidFill>
                  <a:srgbClr val="000000"/>
                </a:solidFill>
                <a:latin typeface="Calibri"/>
              </a:rPr>
              <a:t>σ_y (0.2 %)</a:t>
            </a:r>
          </a:p>
        </p:txBody>
      </p:sp>
      <p:sp>
        <p:nvSpPr>
          <p:cNvPr id="8" name="Rounded Rectangle 7"/>
          <p:cNvSpPr/>
          <p:nvPr/>
        </p:nvSpPr>
        <p:spPr>
          <a:xfrm>
            <a:off x="4242816"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3.030 GPa</a:t>
            </a:r>
          </a:p>
          <a:p>
            <a:pPr algn="ctr"/>
            <a:r>
              <a:rPr sz="950">
                <a:solidFill>
                  <a:srgbClr val="000000"/>
                </a:solidFill>
                <a:latin typeface="Calibri"/>
              </a:rPr>
              <a:t>E</a:t>
            </a:r>
          </a:p>
        </p:txBody>
      </p:sp>
      <p:sp>
        <p:nvSpPr>
          <p:cNvPr id="9" name="Rounded Rectangle 8"/>
          <p:cNvSpPr/>
          <p:nvPr/>
        </p:nvSpPr>
        <p:spPr>
          <a:xfrm>
            <a:off x="6181344" y="169164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5.15 %</a:t>
            </a:r>
          </a:p>
          <a:p>
            <a:pPr algn="ctr"/>
            <a:r>
              <a:rPr sz="950">
                <a:solidFill>
                  <a:srgbClr val="000000"/>
                </a:solidFill>
                <a:latin typeface="Calibri"/>
              </a:rPr>
              <a:t>ε_f</a:t>
            </a:r>
          </a:p>
        </p:txBody>
      </p:sp>
      <p:sp>
        <p:nvSpPr>
          <p:cNvPr id="10" name="Rounded Rectangle 9"/>
          <p:cNvSpPr/>
          <p:nvPr/>
        </p:nvSpPr>
        <p:spPr>
          <a:xfrm>
            <a:off x="8119872" y="169164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11.9 µε</a:t>
            </a:r>
          </a:p>
          <a:p>
            <a:pPr algn="ctr"/>
            <a:r>
              <a:rPr sz="950">
                <a:solidFill>
                  <a:srgbClr val="000000"/>
                </a:solidFill>
                <a:latin typeface="Calibri"/>
              </a:rPr>
              <a:t>DIC noise</a:t>
            </a:r>
          </a:p>
        </p:txBody>
      </p:sp>
      <p:sp>
        <p:nvSpPr>
          <p:cNvPr id="11" name="Rounded Rectangle 10"/>
          <p:cNvSpPr/>
          <p:nvPr/>
        </p:nvSpPr>
        <p:spPr>
          <a:xfrm>
            <a:off x="10058400" y="1691640"/>
            <a:ext cx="1828800" cy="896112"/>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47 %</a:t>
            </a:r>
          </a:p>
          <a:p>
            <a:pPr algn="ctr"/>
            <a:r>
              <a:rPr sz="950">
                <a:solidFill>
                  <a:srgbClr val="000000"/>
                </a:solidFill>
                <a:latin typeface="Calibri"/>
              </a:rPr>
              <a:t>DIC coverage</a:t>
            </a:r>
          </a:p>
        </p:txBody>
      </p:sp>
      <p:sp>
        <p:nvSpPr>
          <p:cNvPr id="12" name="TextBox 11"/>
          <p:cNvSpPr txBox="1"/>
          <p:nvPr/>
        </p:nvSpPr>
        <p:spPr>
          <a:xfrm>
            <a:off x="365760" y="27889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had to be proved</a:t>
            </a:r>
          </a:p>
        </p:txBody>
      </p:sp>
      <p:sp>
        <p:nvSpPr>
          <p:cNvPr id="13" name="TextBox 12"/>
          <p:cNvSpPr txBox="1"/>
          <p:nvPr/>
        </p:nvSpPr>
        <p:spPr>
          <a:xfrm>
            <a:off x="365760" y="3127248"/>
            <a:ext cx="5577840" cy="2148840"/>
          </a:xfrm>
          <a:prstGeom prst="rect">
            <a:avLst/>
          </a:prstGeom>
          <a:noFill/>
        </p:spPr>
        <p:txBody>
          <a:bodyPr wrap="square" lIns="45720" rIns="45720" tIns="18288" bIns="18288" anchor="t">
            <a:spAutoFit/>
          </a:bodyPr>
          <a:lstStyle/>
          <a:p>
            <a:pPr algn="l"/>
            <a:r>
              <a:rPr sz="1100" b="0" i="0">
                <a:solidFill>
                  <a:srgbClr val="000000"/>
                </a:solidFill>
                <a:latin typeface="Calibri"/>
              </a:rPr>
              <a:t>1.  The detector finds the markers at all — opposite polarity, Otsu instead of a fixed cut.
2.  The strain it produces is no noisier than on a white specimen.
3.  The mechanical numbers are unchanged — marker colour is a property of the MEASUREMENT, and force comes from the load cell, so it must not move UTS at all.
4.  The capture pipeline records the right thing: the speckle view has to invert with the preset or the video comes out a negative.</a:t>
            </a:r>
          </a:p>
        </p:txBody>
      </p:sp>
      <p:sp>
        <p:nvSpPr>
          <p:cNvPr id="14" name="TextBox 13"/>
          <p:cNvSpPr txBox="1"/>
          <p:nvPr/>
        </p:nvSpPr>
        <p:spPr>
          <a:xfrm>
            <a:off x="6263640" y="27889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came back</a:t>
            </a:r>
          </a:p>
        </p:txBody>
      </p:sp>
      <p:graphicFrame>
        <p:nvGraphicFramePr>
          <p:cNvPr id="15" name="Table 14"/>
          <p:cNvGraphicFramePr>
            <a:graphicFrameLocks noGrp="1"/>
          </p:cNvGraphicFramePr>
          <p:nvPr/>
        </p:nvGraphicFramePr>
        <p:xfrm>
          <a:off x="6263640" y="3127248"/>
          <a:ext cx="5577838" cy="2148840"/>
        </p:xfrm>
        <a:graphic>
          <a:graphicData uri="http://schemas.openxmlformats.org/drawingml/2006/table">
            <a:tbl>
              <a:tblPr firstRow="1" bandRow="1">
                <a:tableStyleId>{5C22544A-7EE6-4342-B048-85BDC9FD1C3A}</a:tableStyleId>
              </a:tblPr>
              <a:tblGrid>
                <a:gridCol w="2544277"/>
                <a:gridCol w="2152850"/>
                <a:gridCol w="880711"/>
              </a:tblGrid>
              <a:tr h="306977">
                <a:tc>
                  <a:txBody>
                    <a:bodyPr lIns="54864" rIns="54864" tIns="18288" bIns="18288" wrap="square" anchor="ctr"/>
                    <a:lstStyle/>
                    <a:p>
                      <a:pPr algn="l"/>
                      <a:r>
                        <a:rPr sz="1000" b="1">
                          <a:solidFill>
                            <a:srgbClr val="FFFFFF"/>
                          </a:solidFill>
                          <a:latin typeface="Calibri"/>
                        </a:rPr>
                        <a:t>Check</a:t>
                      </a:r>
                    </a:p>
                  </a:txBody>
                  <a:tcPr>
                    <a:solidFill>
                      <a:srgbClr val="143D2F"/>
                    </a:solidFill>
                  </a:tcPr>
                </a:tc>
                <a:tc>
                  <a:txBody>
                    <a:bodyPr lIns="54864" rIns="54864" tIns="18288" bIns="18288" wrap="square" anchor="ctr"/>
                    <a:lstStyle/>
                    <a:p>
                      <a:pPr algn="l"/>
                      <a:r>
                        <a:rPr sz="1000" b="1">
                          <a:solidFill>
                            <a:srgbClr val="FFFFFF"/>
                          </a:solidFill>
                          <a:latin typeface="Calibri"/>
                        </a:rPr>
                        <a:t>Result</a:t>
                      </a:r>
                    </a:p>
                  </a:txBody>
                  <a:tcPr>
                    <a:solidFill>
                      <a:srgbClr val="143D2F"/>
                    </a:solidFill>
                  </a:tcPr>
                </a:tc>
                <a:tc>
                  <a:txBody>
                    <a:bodyPr lIns="54864" rIns="54864" tIns="18288" bIns="18288" wrap="square" anchor="ctr"/>
                    <a:lstStyle/>
                    <a:p>
                      <a:pPr algn="l"/>
                      <a:r>
                        <a:rPr sz="1000" b="1">
                          <a:solidFill>
                            <a:srgbClr val="FFFFFF"/>
                          </a:solidFill>
                          <a:latin typeface="Calibri"/>
                        </a:rPr>
                        <a:t/>
                      </a:r>
                    </a:p>
                  </a:txBody>
                  <a:tcPr>
                    <a:solidFill>
                      <a:srgbClr val="143D2F"/>
                    </a:solidFill>
                  </a:tcPr>
                </a:tc>
              </a:tr>
              <a:tr h="306977">
                <a:tc>
                  <a:txBody>
                    <a:bodyPr lIns="54864" rIns="54864" tIns="18288" bIns="18288" wrap="square" anchor="ctr"/>
                    <a:lstStyle/>
                    <a:p>
                      <a:pPr algn="l"/>
                      <a:r>
                        <a:rPr sz="950" b="0">
                          <a:solidFill>
                            <a:srgbClr val="000000"/>
                          </a:solidFill>
                          <a:latin typeface="Calibri"/>
                        </a:rPr>
                        <a:t>Markers found (2/2)</a:t>
                      </a:r>
                    </a:p>
                  </a:txBody>
                  <a:tcPr/>
                </a:tc>
                <a:tc>
                  <a:txBody>
                    <a:bodyPr lIns="54864" rIns="54864" tIns="18288" bIns="18288" wrap="square" anchor="ctr"/>
                    <a:lstStyle/>
                    <a:p>
                      <a:pPr algn="l"/>
                      <a:r>
                        <a:rPr sz="950" b="0">
                          <a:solidFill>
                            <a:srgbClr val="000000"/>
                          </a:solidFill>
                          <a:latin typeface="Calibri"/>
                        </a:rPr>
                        <a:t>99.9 % of frames</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DIC noise vs white mean</a:t>
                      </a:r>
                    </a:p>
                  </a:txBody>
                  <a:tcPr/>
                </a:tc>
                <a:tc>
                  <a:txBody>
                    <a:bodyPr lIns="54864" rIns="54864" tIns="18288" bIns="18288" wrap="square" anchor="ctr"/>
                    <a:lstStyle/>
                    <a:p>
                      <a:pPr algn="l"/>
                      <a:r>
                        <a:rPr sz="950" b="0">
                          <a:solidFill>
                            <a:srgbClr val="000000"/>
                          </a:solidFill>
                          <a:latin typeface="Calibri"/>
                        </a:rPr>
                        <a:t>11.9 vs 14.3 µε</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UTS vs white mean</a:t>
                      </a:r>
                    </a:p>
                  </a:txBody>
                  <a:tcPr/>
                </a:tc>
                <a:tc>
                  <a:txBody>
                    <a:bodyPr lIns="54864" rIns="54864" tIns="18288" bIns="18288" wrap="square" anchor="ctr"/>
                    <a:lstStyle/>
                    <a:p>
                      <a:pPr algn="l"/>
                      <a:r>
                        <a:rPr sz="950" b="0">
                          <a:solidFill>
                            <a:srgbClr val="000000"/>
                          </a:solidFill>
                          <a:latin typeface="Calibri"/>
                        </a:rPr>
                        <a:t>-0.7 %</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Camera rate</a:t>
                      </a:r>
                    </a:p>
                  </a:txBody>
                  <a:tcPr/>
                </a:tc>
                <a:tc>
                  <a:txBody>
                    <a:bodyPr lIns="54864" rIns="54864" tIns="18288" bIns="18288" wrap="square" anchor="ctr"/>
                    <a:lstStyle/>
                    <a:p>
                      <a:pPr algn="l"/>
                      <a:r>
                        <a:rPr sz="950" b="0">
                          <a:solidFill>
                            <a:srgbClr val="000000"/>
                          </a:solidFill>
                          <a:latin typeface="Calibri"/>
                        </a:rPr>
                        <a:t>19.9 fps · 0 dropped</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50" b="0">
                          <a:solidFill>
                            <a:srgbClr val="000000"/>
                          </a:solidFill>
                          <a:latin typeface="Calibri"/>
                        </a:rPr>
                        <a:t>PNG stills written</a:t>
                      </a:r>
                    </a:p>
                  </a:txBody>
                  <a:tcPr/>
                </a:tc>
                <a:tc>
                  <a:txBody>
                    <a:bodyPr lIns="54864" rIns="54864" tIns="18288" bIns="18288" wrap="square" anchor="ctr"/>
                    <a:lstStyle/>
                    <a:p>
                      <a:pPr algn="l"/>
                      <a:r>
                        <a:rPr sz="950" b="0">
                          <a:solidFill>
                            <a:srgbClr val="000000"/>
                          </a:solidFill>
                          <a:latin typeface="Calibri"/>
                        </a:rPr>
                        <a:t>1539</a:t>
                      </a:r>
                    </a:p>
                  </a:txBody>
                  <a:tcPr/>
                </a:tc>
                <a:tc>
                  <a:txBody>
                    <a:bodyPr lIns="54864" rIns="54864" tIns="18288" bIns="18288" wrap="square" anchor="ctr"/>
                    <a:lstStyle/>
                    <a:p>
                      <a:pPr algn="l"/>
                      <a:r>
                        <a:rPr sz="950" b="1">
                          <a:solidFill>
                            <a:srgbClr val="000000"/>
                          </a:solidFill>
                          <a:latin typeface="Calibri"/>
                        </a:rPr>
                        <a:t>PASS</a:t>
                      </a:r>
                    </a:p>
                  </a:txBody>
                  <a:tcPr>
                    <a:solidFill>
                      <a:srgbClr val="C8E6C9"/>
                    </a:solidFill>
                  </a:tcPr>
                </a:tc>
              </a:tr>
              <a:tr h="306978">
                <a:tc>
                  <a:txBody>
                    <a:bodyPr lIns="54864" rIns="54864" tIns="18288" bIns="18288" wrap="square" anchor="ctr"/>
                    <a:lstStyle/>
                    <a:p>
                      <a:pPr algn="l"/>
                      <a:r>
                        <a:rPr sz="950" b="0">
                          <a:solidFill>
                            <a:srgbClr val="000000"/>
                          </a:solidFill>
                          <a:latin typeface="Calibri"/>
                        </a:rPr>
                        <a:t>DIC coverage</a:t>
                      </a:r>
                    </a:p>
                  </a:txBody>
                  <a:tcPr/>
                </a:tc>
                <a:tc>
                  <a:txBody>
                    <a:bodyPr lIns="54864" rIns="54864" tIns="18288" bIns="18288" wrap="square" anchor="ctr"/>
                    <a:lstStyle/>
                    <a:p>
                      <a:pPr algn="l"/>
                      <a:r>
                        <a:rPr sz="950" b="0">
                          <a:solidFill>
                            <a:srgbClr val="000000"/>
                          </a:solidFill>
                          <a:latin typeface="Calibri"/>
                        </a:rPr>
                        <a:t>47 % of load rows</a:t>
                      </a:r>
                    </a:p>
                  </a:txBody>
                  <a:tcPr/>
                </a:tc>
                <a:tc>
                  <a:txBody>
                    <a:bodyPr lIns="54864" rIns="54864" tIns="18288" bIns="18288" wrap="square" anchor="ctr"/>
                    <a:lstStyle/>
                    <a:p>
                      <a:pPr algn="l"/>
                      <a:r>
                        <a:rPr sz="950" b="1">
                          <a:solidFill>
                            <a:srgbClr val="000000"/>
                          </a:solidFill>
                          <a:latin typeface="Calibri"/>
                        </a:rPr>
                        <a:t>LOW</a:t>
                      </a:r>
                    </a:p>
                  </a:txBody>
                  <a:tcPr>
                    <a:solidFill>
                      <a:srgbClr val="FFF3CD"/>
                    </a:solidFill>
                  </a:tcPr>
                </a:tc>
              </a:tr>
            </a:tbl>
          </a:graphicData>
        </a:graphic>
      </p:graphicFrame>
      <p:sp>
        <p:nvSpPr>
          <p:cNvPr id="16" name="Rectangle 15"/>
          <p:cNvSpPr/>
          <p:nvPr/>
        </p:nvSpPr>
        <p:spPr>
          <a:xfrm>
            <a:off x="365760" y="548640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HEADLINE — black markers work, and work slightly BETTER than white on the one thing that could have gone wrong (noise). The 47 % coverage is real but is NOT a marker-colour effect; p232 separates the two.</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S13 · 100 % infill · black PLA, white spray dots · 2026-08-18 · Software/UTM_PyQt6/Test data/8.6.20 - Tensile test to Failure/Specimen_S13_V2_Spray_Video7/</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ALONE — THE RUN AS IT HAPPENED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Four views of the same 123 s. Read them together: the load cell and the DIC are independent instruments, and only one of them had a bad day.</a:t>
            </a:r>
          </a:p>
        </p:txBody>
      </p:sp>
      <p:pic>
        <p:nvPicPr>
          <p:cNvPr id="6" name="Picture 5" descr="s13_solo.png"/>
          <p:cNvPicPr>
            <a:picLocks noChangeAspect="1"/>
          </p:cNvPicPr>
          <p:nvPr/>
        </p:nvPicPr>
        <p:blipFill>
          <a:blip r:embed="rId2"/>
          <a:stretch>
            <a:fillRect/>
          </a:stretch>
        </p:blipFill>
        <p:spPr>
          <a:xfrm>
            <a:off x="320040" y="1481328"/>
            <a:ext cx="7863840" cy="4414787"/>
          </a:xfrm>
          <a:prstGeom prst="rect">
            <a:avLst/>
          </a:prstGeom>
        </p:spPr>
      </p:pic>
      <p:sp>
        <p:nvSpPr>
          <p:cNvPr id="7" name="TextBox 6"/>
          <p:cNvSpPr txBox="1"/>
          <p:nvPr/>
        </p:nvSpPr>
        <p:spPr>
          <a:xfrm>
            <a:off x="8321040" y="1417320"/>
            <a:ext cx="352044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Reading the four panels</a:t>
            </a:r>
          </a:p>
        </p:txBody>
      </p:sp>
      <p:sp>
        <p:nvSpPr>
          <p:cNvPr id="8" name="TextBox 7"/>
          <p:cNvSpPr txBox="1"/>
          <p:nvPr/>
        </p:nvSpPr>
        <p:spPr>
          <a:xfrm>
            <a:off x="8321040" y="1755648"/>
            <a:ext cx="3520440" cy="4160520"/>
          </a:xfrm>
          <a:prstGeom prst="rect">
            <a:avLst/>
          </a:prstGeom>
          <a:noFill/>
        </p:spPr>
        <p:txBody>
          <a:bodyPr wrap="square" lIns="45720" rIns="45720" tIns="18288" bIns="18288" anchor="t">
            <a:spAutoFit/>
          </a:bodyPr>
          <a:lstStyle/>
          <a:p>
            <a:pPr algn="l"/>
            <a:r>
              <a:rPr sz="1050" b="0" i="0">
                <a:solidFill>
                  <a:srgbClr val="000000"/>
                </a:solidFill>
                <a:latin typeface="Calibri"/>
              </a:rPr>
              <a:t>TOP LEFT — a textbook curve. Yield, a rounded peak, then a long softening tail to fracture at 5.15 %. Nothing about it says the specimen was a different colour.
TOP RIGHT — the load cell. Clean ramp, sharp collapse at 90 s. This channel never touches the DIC, so UTS is safe whatever the strain column does.
BOTTOM LEFT — DIC strain against crosshead strain. The DIC reads LOWER throughout, as it should: the crosshead includes machine and grip compliance, the DIC sees only the gauge. The vertical jump at 90 s is the markers flying apart at fracture, not a measurement.
BOTTOM RIGHT — the noise floor, specimen stationary. ±11.9 µε against a fracture strain of 51 500 µε: 0.02 % of full scale.</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Generated by documentation/scripts/s13_plots.py from the test CSV. Strain is DIC gauge strain over 80 mm; stress is engineering stress on 80 mm², anchor-corrected.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 (BLACK) vs S26 (WHITE) — HEAD TO HEAD</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Same material (100 % infill), same protocol, same rig, 24 hours apart. If marker colour mattered to the mechanics, it would show here. The right-hand panel is the important one: it sets the black-vs-white difference against how much the two WHITE runs already disagree with each other.</a:t>
            </a:r>
          </a:p>
        </p:txBody>
      </p:sp>
      <p:pic>
        <p:nvPicPr>
          <p:cNvPr id="6" name="Picture 5" descr="s13_vs_s26.png"/>
          <p:cNvPicPr>
            <a:picLocks noChangeAspect="1"/>
          </p:cNvPicPr>
          <p:nvPr/>
        </p:nvPicPr>
        <p:blipFill>
          <a:blip r:embed="rId2"/>
          <a:stretch>
            <a:fillRect/>
          </a:stretch>
        </p:blipFill>
        <p:spPr>
          <a:xfrm>
            <a:off x="365760" y="1645920"/>
            <a:ext cx="11475720" cy="3718284"/>
          </a:xfrm>
          <a:prstGeom prst="rect">
            <a:avLst/>
          </a:prstGeom>
        </p:spPr>
      </p:pic>
      <p:sp>
        <p:nvSpPr>
          <p:cNvPr id="7" name="Rectangle 6"/>
          <p:cNvSpPr/>
          <p:nvPr/>
        </p:nvSpPr>
        <p:spPr>
          <a:xfrm>
            <a:off x="365760" y="55321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On every property, black-vs-white is SMALLER than white-vs-white: UTS 0.7 % against 2.2 %, E 9.8 % against 11.4 %, ε_f 3.8 % against 31.6 %. The marker colour is not detectable above specimen scatter.</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Circles mark UTS. Right panel: |black − white mean| against |S25 − S26|, both as a percentage of the white mean.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229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BLACK vs WHITE — THE NUMBERS, 100 % INFILL ONLY</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S28 is deliberately absent: it is 50 % infill, so putting it in this table would mix a marker-colour question with a material one. The only honest white comparators for S13 are S25 and S26.</a:t>
            </a:r>
          </a:p>
        </p:txBody>
      </p:sp>
      <p:graphicFrame>
        <p:nvGraphicFramePr>
          <p:cNvPr id="6" name="Table 5"/>
          <p:cNvGraphicFramePr>
            <a:graphicFrameLocks noGrp="1"/>
          </p:cNvGraphicFramePr>
          <p:nvPr/>
        </p:nvGraphicFramePr>
        <p:xfrm>
          <a:off x="365760" y="1691640"/>
          <a:ext cx="11475716" cy="3703320"/>
        </p:xfrm>
        <a:graphic>
          <a:graphicData uri="http://schemas.openxmlformats.org/drawingml/2006/table">
            <a:tbl>
              <a:tblPr firstRow="1" bandRow="1">
                <a:tableStyleId>{5C22544A-7EE6-4342-B048-85BDC9FD1C3A}</a:tableStyleId>
              </a:tblPr>
              <a:tblGrid>
                <a:gridCol w="2351581"/>
                <a:gridCol w="1505012"/>
                <a:gridCol w="1505012"/>
                <a:gridCol w="1505012"/>
                <a:gridCol w="1410949"/>
                <a:gridCol w="1599075"/>
                <a:gridCol w="1599075"/>
              </a:tblGrid>
              <a:tr h="370332">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S13 · BLACK</a:t>
                      </a:r>
                    </a:p>
                  </a:txBody>
                  <a:tcPr>
                    <a:solidFill>
                      <a:srgbClr val="143D2F"/>
                    </a:solidFill>
                  </a:tcPr>
                </a:tc>
                <a:tc>
                  <a:txBody>
                    <a:bodyPr lIns="54864" rIns="54864" tIns="18288" bIns="18288" wrap="square" anchor="ctr"/>
                    <a:lstStyle/>
                    <a:p>
                      <a:pPr algn="l"/>
                      <a:r>
                        <a:rPr sz="1000" b="1">
                          <a:solidFill>
                            <a:srgbClr val="FFFFFF"/>
                          </a:solidFill>
                          <a:latin typeface="Calibri"/>
                        </a:rPr>
                        <a:t>S25 · white</a:t>
                      </a:r>
                    </a:p>
                  </a:txBody>
                  <a:tcPr>
                    <a:solidFill>
                      <a:srgbClr val="143D2F"/>
                    </a:solidFill>
                  </a:tcPr>
                </a:tc>
                <a:tc>
                  <a:txBody>
                    <a:bodyPr lIns="54864" rIns="54864" tIns="18288" bIns="18288" wrap="square" anchor="ctr"/>
                    <a:lstStyle/>
                    <a:p>
                      <a:pPr algn="l"/>
                      <a:r>
                        <a:rPr sz="1000" b="1">
                          <a:solidFill>
                            <a:srgbClr val="FFFFFF"/>
                          </a:solidFill>
                          <a:latin typeface="Calibri"/>
                        </a:rPr>
                        <a:t>S26 · white</a:t>
                      </a:r>
                    </a:p>
                  </a:txBody>
                  <a:tcPr>
                    <a:solidFill>
                      <a:srgbClr val="143D2F"/>
                    </a:solidFill>
                  </a:tcPr>
                </a:tc>
                <a:tc>
                  <a:txBody>
                    <a:bodyPr lIns="54864" rIns="54864" tIns="18288" bIns="18288" wrap="square" anchor="ctr"/>
                    <a:lstStyle/>
                    <a:p>
                      <a:pPr algn="l"/>
                      <a:r>
                        <a:rPr sz="1000" b="1">
                          <a:solidFill>
                            <a:srgbClr val="FFFFFF"/>
                          </a:solidFill>
                          <a:latin typeface="Calibri"/>
                        </a:rPr>
                        <a:t>white mean</a:t>
                      </a:r>
                    </a:p>
                  </a:txBody>
                  <a:tcPr>
                    <a:solidFill>
                      <a:srgbClr val="143D2F"/>
                    </a:solidFill>
                  </a:tcPr>
                </a:tc>
                <a:tc>
                  <a:txBody>
                    <a:bodyPr lIns="54864" rIns="54864" tIns="18288" bIns="18288" wrap="square" anchor="ctr"/>
                    <a:lstStyle/>
                    <a:p>
                      <a:pPr algn="l"/>
                      <a:r>
                        <a:rPr sz="1000" b="1">
                          <a:solidFill>
                            <a:srgbClr val="FFFFFF"/>
                          </a:solidFill>
                          <a:latin typeface="Calibri"/>
                        </a:rPr>
                        <a:t>black vs mean</a:t>
                      </a:r>
                    </a:p>
                  </a:txBody>
                  <a:tcPr>
                    <a:solidFill>
                      <a:srgbClr val="143D2F"/>
                    </a:solidFill>
                  </a:tcPr>
                </a:tc>
                <a:tc>
                  <a:txBody>
                    <a:bodyPr lIns="54864" rIns="54864" tIns="18288" bIns="18288" wrap="square" anchor="ctr"/>
                    <a:lstStyle/>
                    <a:p>
                      <a:pPr algn="l"/>
                      <a:r>
                        <a:rPr sz="1000" b="1">
                          <a:solidFill>
                            <a:srgbClr val="FFFFFF"/>
                          </a:solidFill>
                          <a:latin typeface="Calibri"/>
                        </a:rPr>
                        <a:t>white vs white</a:t>
                      </a:r>
                    </a:p>
                  </a:txBody>
                  <a:tcPr>
                    <a:solidFill>
                      <a:srgbClr val="143D2F"/>
                    </a:solidFill>
                  </a:tcPr>
                </a:tc>
              </a:tr>
              <a:tr h="370332">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0">
                          <a:solidFill>
                            <a:srgbClr val="000000"/>
                          </a:solidFill>
                          <a:latin typeface="Calibri"/>
                        </a:rPr>
                        <a:t>46.33</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47.17</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1">
                          <a:solidFill>
                            <a:srgbClr val="000000"/>
                          </a:solidFill>
                          <a:latin typeface="Calibri"/>
                        </a:rPr>
                        <a:t>-0.7 %</a:t>
                      </a:r>
                    </a:p>
                  </a:txBody>
                  <a:tcPr>
                    <a:solidFill>
                      <a:srgbClr val="C8E6C9"/>
                    </a:solidFill>
                  </a:tcPr>
                </a:tc>
                <a:tc>
                  <a:txBody>
                    <a:bodyPr lIns="54864" rIns="54864" tIns="18288" bIns="18288" wrap="square" anchor="ctr"/>
                    <a:lstStyle/>
                    <a:p>
                      <a:pPr algn="l"/>
                      <a:r>
                        <a:rPr sz="950" b="0">
                          <a:solidFill>
                            <a:srgbClr val="000000"/>
                          </a:solidFill>
                          <a:latin typeface="Calibri"/>
                        </a:rPr>
                        <a:t>2.2 %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42.07</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40.78</a:t>
                      </a:r>
                    </a:p>
                  </a:txBody>
                  <a:tcPr/>
                </a:tc>
                <a:tc>
                  <a:txBody>
                    <a:bodyPr lIns="54864" rIns="54864" tIns="18288" bIns="18288" wrap="square" anchor="ctr"/>
                    <a:lstStyle/>
                    <a:p>
                      <a:pPr algn="l"/>
                      <a:r>
                        <a:rPr sz="950" b="0">
                          <a:solidFill>
                            <a:srgbClr val="000000"/>
                          </a:solidFill>
                          <a:latin typeface="Calibri"/>
                        </a:rPr>
                        <a:t>+3.2 %</a:t>
                      </a:r>
                    </a:p>
                  </a:txBody>
                  <a:tcPr/>
                </a:tc>
                <a:tc>
                  <a:txBody>
                    <a:bodyPr lIns="54864" rIns="54864" tIns="18288" bIns="18288" wrap="square" anchor="ctr"/>
                    <a:lstStyle/>
                    <a:p>
                      <a:pPr algn="l"/>
                      <a:r>
                        <a:rPr sz="950" b="0">
                          <a:solidFill>
                            <a:srgbClr val="000000"/>
                          </a:solidFill>
                          <a:latin typeface="Calibri"/>
                        </a:rPr>
                        <a:t>4.7 %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3.030</a:t>
                      </a:r>
                    </a:p>
                  </a:txBody>
                  <a:tcPr/>
                </a:tc>
                <a:tc>
                  <a:txBody>
                    <a:bodyPr lIns="54864" rIns="54864" tIns="18288" bIns="18288" wrap="square" anchor="ctr"/>
                    <a:lstStyle/>
                    <a:p>
                      <a:pPr algn="l"/>
                      <a:r>
                        <a:rPr sz="950" b="0">
                          <a:solidFill>
                            <a:srgbClr val="000000"/>
                          </a:solidFill>
                          <a:latin typeface="Calibri"/>
                        </a:rPr>
                        <a:t>3.167</a:t>
                      </a:r>
                    </a:p>
                  </a:txBody>
                  <a:tcPr/>
                </a:tc>
                <a:tc>
                  <a:txBody>
                    <a:bodyPr lIns="54864" rIns="54864" tIns="18288" bIns="18288" wrap="square" anchor="ctr"/>
                    <a:lstStyle/>
                    <a:p>
                      <a:pPr algn="l"/>
                      <a:r>
                        <a:rPr sz="950" b="0">
                          <a:solidFill>
                            <a:srgbClr val="000000"/>
                          </a:solidFill>
                          <a:latin typeface="Calibri"/>
                        </a:rPr>
                        <a:t>3.549</a:t>
                      </a:r>
                    </a:p>
                  </a:txBody>
                  <a:tcPr/>
                </a:tc>
                <a:tc>
                  <a:txBody>
                    <a:bodyPr lIns="54864" rIns="54864" tIns="18288" bIns="18288" wrap="square" anchor="ctr"/>
                    <a:lstStyle/>
                    <a:p>
                      <a:pPr algn="l"/>
                      <a:r>
                        <a:rPr sz="950" b="0">
                          <a:solidFill>
                            <a:srgbClr val="000000"/>
                          </a:solidFill>
                          <a:latin typeface="Calibri"/>
                        </a:rPr>
                        <a:t>3.358</a:t>
                      </a:r>
                    </a:p>
                  </a:txBody>
                  <a:tcPr/>
                </a:tc>
                <a:tc>
                  <a:txBody>
                    <a:bodyPr lIns="54864" rIns="54864" tIns="18288" bIns="18288" wrap="square" anchor="ctr"/>
                    <a:lstStyle/>
                    <a:p>
                      <a:pPr algn="l"/>
                      <a:r>
                        <a:rPr sz="950" b="0">
                          <a:solidFill>
                            <a:srgbClr val="000000"/>
                          </a:solidFill>
                          <a:latin typeface="Calibri"/>
                        </a:rPr>
                        <a:t>-9.8 %</a:t>
                      </a:r>
                    </a:p>
                  </a:txBody>
                  <a:tcPr/>
                </a:tc>
                <a:tc>
                  <a:txBody>
                    <a:bodyPr lIns="54864" rIns="54864" tIns="18288" bIns="18288" wrap="square" anchor="ctr"/>
                    <a:lstStyle/>
                    <a:p>
                      <a:pPr algn="l"/>
                      <a:r>
                        <a:rPr sz="950" b="0">
                          <a:solidFill>
                            <a:srgbClr val="000000"/>
                          </a:solidFill>
                          <a:latin typeface="Calibri"/>
                        </a:rPr>
                        <a:t>11.4 %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5.15</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5.74</a:t>
                      </a:r>
                    </a:p>
                  </a:txBody>
                  <a:tcPr/>
                </a:tc>
                <a:tc>
                  <a:txBody>
                    <a:bodyPr lIns="54864" rIns="54864" tIns="18288" bIns="18288" wrap="square" anchor="ctr"/>
                    <a:lstStyle/>
                    <a:p>
                      <a:pPr algn="l"/>
                      <a:r>
                        <a:rPr sz="950" b="0">
                          <a:solidFill>
                            <a:srgbClr val="000000"/>
                          </a:solidFill>
                          <a:latin typeface="Calibri"/>
                        </a:rPr>
                        <a:t>4.96</a:t>
                      </a:r>
                    </a:p>
                  </a:txBody>
                  <a:tcPr/>
                </a:tc>
                <a:tc>
                  <a:txBody>
                    <a:bodyPr lIns="54864" rIns="54864" tIns="18288" bIns="18288" wrap="square" anchor="ctr"/>
                    <a:lstStyle/>
                    <a:p>
                      <a:pPr algn="l"/>
                      <a:r>
                        <a:rPr sz="950" b="0">
                          <a:solidFill>
                            <a:srgbClr val="000000"/>
                          </a:solidFill>
                          <a:latin typeface="Calibri"/>
                        </a:rPr>
                        <a:t>+3.8 %</a:t>
                      </a:r>
                    </a:p>
                  </a:txBody>
                  <a:tcPr/>
                </a:tc>
                <a:tc>
                  <a:txBody>
                    <a:bodyPr lIns="54864" rIns="54864" tIns="18288" bIns="18288" wrap="square" anchor="ctr"/>
                    <a:lstStyle/>
                    <a:p>
                      <a:pPr algn="l"/>
                      <a:r>
                        <a:rPr sz="950" b="0">
                          <a:solidFill>
                            <a:srgbClr val="000000"/>
                          </a:solidFill>
                          <a:latin typeface="Calibri"/>
                        </a:rPr>
                        <a:t>31.6 %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2015</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2309</a:t>
                      </a:r>
                    </a:p>
                  </a:txBody>
                  <a:tcPr/>
                </a:tc>
                <a:tc>
                  <a:txBody>
                    <a:bodyPr lIns="54864" rIns="54864" tIns="18288" bIns="18288" wrap="square" anchor="ctr"/>
                    <a:lstStyle/>
                    <a:p>
                      <a:pPr algn="l"/>
                      <a:r>
                        <a:rPr sz="950" b="0">
                          <a:solidFill>
                            <a:srgbClr val="000000"/>
                          </a:solidFill>
                          <a:latin typeface="Calibri"/>
                        </a:rPr>
                        <a:t>1936</a:t>
                      </a:r>
                    </a:p>
                  </a:txBody>
                  <a:tcPr/>
                </a:tc>
                <a:tc>
                  <a:txBody>
                    <a:bodyPr lIns="54864" rIns="54864" tIns="18288" bIns="18288" wrap="square" anchor="ctr"/>
                    <a:lstStyle/>
                    <a:p>
                      <a:pPr algn="l"/>
                      <a:r>
                        <a:rPr sz="950" b="0">
                          <a:solidFill>
                            <a:srgbClr val="000000"/>
                          </a:solidFill>
                          <a:latin typeface="Calibri"/>
                        </a:rPr>
                        <a:t>+4.0 %</a:t>
                      </a:r>
                    </a:p>
                  </a:txBody>
                  <a:tcPr/>
                </a:tc>
                <a:tc>
                  <a:txBody>
                    <a:bodyPr lIns="54864" rIns="54864" tIns="18288" bIns="18288" wrap="square" anchor="ctr"/>
                    <a:lstStyle/>
                    <a:p>
                      <a:pPr algn="l"/>
                      <a:r>
                        <a:rPr sz="950" b="0">
                          <a:solidFill>
                            <a:srgbClr val="000000"/>
                          </a:solidFill>
                          <a:latin typeface="Calibri"/>
                        </a:rPr>
                        <a:t>38.5 %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Force anchor  (N)</a:t>
                      </a:r>
                    </a:p>
                  </a:txBody>
                  <a:tcPr/>
                </a:tc>
                <a:tc>
                  <a:txBody>
                    <a:bodyPr lIns="54864" rIns="54864" tIns="18288" bIns="18288" wrap="square" anchor="ctr"/>
                    <a:lstStyle/>
                    <a:p>
                      <a:pPr algn="l"/>
                      <a:r>
                        <a:rPr sz="950" b="0">
                          <a:solidFill>
                            <a:srgbClr val="000000"/>
                          </a:solidFill>
                          <a:latin typeface="Calibri"/>
                        </a:rPr>
                        <a:t>307</a:t>
                      </a:r>
                    </a:p>
                  </a:txBody>
                  <a:tcPr/>
                </a:tc>
                <a:tc>
                  <a:txBody>
                    <a:bodyPr lIns="54864" rIns="54864" tIns="18288" bIns="18288" wrap="square" anchor="ctr"/>
                    <a:lstStyle/>
                    <a:p>
                      <a:pPr algn="l"/>
                      <a:r>
                        <a:rPr sz="950" b="0">
                          <a:solidFill>
                            <a:srgbClr val="000000"/>
                          </a:solidFill>
                          <a:latin typeface="Calibri"/>
                        </a:rPr>
                        <a:t>280</a:t>
                      </a:r>
                    </a:p>
                  </a:txBody>
                  <a:tcPr/>
                </a:tc>
                <a:tc>
                  <a:txBody>
                    <a:bodyPr lIns="54864" rIns="54864" tIns="18288" bIns="18288" wrap="square" anchor="ctr"/>
                    <a:lstStyle/>
                    <a:p>
                      <a:pPr algn="l"/>
                      <a:r>
                        <a:rPr sz="950" b="0">
                          <a:solidFill>
                            <a:srgbClr val="000000"/>
                          </a:solidFill>
                          <a:latin typeface="Calibri"/>
                        </a:rPr>
                        <a:t>308</a:t>
                      </a:r>
                    </a:p>
                  </a:txBody>
                  <a:tcPr/>
                </a:tc>
                <a:tc>
                  <a:txBody>
                    <a:bodyPr lIns="54864" rIns="54864" tIns="18288" bIns="18288" wrap="square" anchor="ctr"/>
                    <a:lstStyle/>
                    <a:p>
                      <a:pPr algn="l"/>
                      <a:r>
                        <a:rPr sz="950" b="0">
                          <a:solidFill>
                            <a:srgbClr val="000000"/>
                          </a:solidFill>
                          <a:latin typeface="Calibri"/>
                        </a:rPr>
                        <a:t>294</a:t>
                      </a:r>
                    </a:p>
                  </a:txBody>
                  <a:tcPr/>
                </a:tc>
                <a:tc>
                  <a:txBody>
                    <a:bodyPr lIns="54864" rIns="54864" tIns="18288" bIns="18288" wrap="square" anchor="ctr"/>
                    <a:lstStyle/>
                    <a:p>
                      <a:pPr algn="l"/>
                      <a:r>
                        <a:rPr sz="950" b="0">
                          <a:solidFill>
                            <a:srgbClr val="000000"/>
                          </a:solidFill>
                          <a:latin typeface="Calibri"/>
                        </a:rPr>
                        <a:t>+4.5 %</a:t>
                      </a:r>
                    </a:p>
                  </a:txBody>
                  <a:tcPr/>
                </a:tc>
                <a:tc>
                  <a:txBody>
                    <a:bodyPr lIns="54864" rIns="54864" tIns="18288" bIns="18288" wrap="square" anchor="ctr"/>
                    <a:lstStyle/>
                    <a:p>
                      <a:pPr algn="l"/>
                      <a:r>
                        <a:rPr sz="950" b="0">
                          <a:solidFill>
                            <a:srgbClr val="000000"/>
                          </a:solidFill>
                          <a:latin typeface="Calibri"/>
                        </a:rPr>
                        <a:t>9.3 %</a:t>
                      </a:r>
                    </a:p>
                  </a:txBody>
                  <a:tcPr>
                    <a:solidFill>
                      <a:srgbClr val="F2F2F2"/>
                    </a:solidFill>
                  </a:tcPr>
                </a:tc>
              </a:tr>
              <a:tr h="370332">
                <a:tc>
                  <a:txBody>
                    <a:bodyPr lIns="54864" rIns="54864" tIns="18288" bIns="18288" wrap="square" anchor="ctr"/>
                    <a:lstStyle/>
                    <a:p>
                      <a:pPr algn="l"/>
                      <a:r>
                        <a:rPr sz="950" b="0">
                          <a:solidFill>
                            <a:srgbClr val="000000"/>
                          </a:solidFill>
                          <a:latin typeface="Calibri"/>
                        </a:rPr>
                        <a:t>DIC noise, 10 s  (µε)</a:t>
                      </a:r>
                    </a:p>
                  </a:txBody>
                  <a:tcPr/>
                </a:tc>
                <a:tc>
                  <a:txBody>
                    <a:bodyPr lIns="54864" rIns="54864" tIns="18288" bIns="18288" wrap="square" anchor="ctr"/>
                    <a:lstStyle/>
                    <a:p>
                      <a:pPr algn="l"/>
                      <a:r>
                        <a:rPr sz="950" b="0">
                          <a:solidFill>
                            <a:srgbClr val="000000"/>
                          </a:solidFill>
                          <a:latin typeface="Calibri"/>
                        </a:rPr>
                        <a:t>11.9</a:t>
                      </a:r>
                    </a:p>
                  </a:txBody>
                  <a:tcPr/>
                </a:tc>
                <a:tc>
                  <a:txBody>
                    <a:bodyPr lIns="54864" rIns="54864" tIns="18288" bIns="18288" wrap="square" anchor="ctr"/>
                    <a:lstStyle/>
                    <a:p>
                      <a:pPr algn="l"/>
                      <a:r>
                        <a:rPr sz="950" b="0">
                          <a:solidFill>
                            <a:srgbClr val="000000"/>
                          </a:solidFill>
                          <a:latin typeface="Calibri"/>
                        </a:rPr>
                        <a:t>15.4</a:t>
                      </a:r>
                    </a:p>
                  </a:txBody>
                  <a:tcPr/>
                </a:tc>
                <a:tc>
                  <a:txBody>
                    <a:bodyPr lIns="54864" rIns="54864" tIns="18288" bIns="18288" wrap="square" anchor="ctr"/>
                    <a:lstStyle/>
                    <a:p>
                      <a:pPr algn="l"/>
                      <a:r>
                        <a:rPr sz="950" b="0">
                          <a:solidFill>
                            <a:srgbClr val="000000"/>
                          </a:solidFill>
                          <a:latin typeface="Calibri"/>
                        </a:rPr>
                        <a:t>13.3</a:t>
                      </a:r>
                    </a:p>
                  </a:txBody>
                  <a:tcPr/>
                </a:tc>
                <a:tc>
                  <a:txBody>
                    <a:bodyPr lIns="54864" rIns="54864" tIns="18288" bIns="18288" wrap="square" anchor="ctr"/>
                    <a:lstStyle/>
                    <a:p>
                      <a:pPr algn="l"/>
                      <a:r>
                        <a:rPr sz="950" b="0">
                          <a:solidFill>
                            <a:srgbClr val="000000"/>
                          </a:solidFill>
                          <a:latin typeface="Calibri"/>
                        </a:rPr>
                        <a:t>14.3</a:t>
                      </a:r>
                    </a:p>
                  </a:txBody>
                  <a:tcPr/>
                </a:tc>
                <a:tc>
                  <a:txBody>
                    <a:bodyPr lIns="54864" rIns="54864" tIns="18288" bIns="18288" wrap="square" anchor="ctr"/>
                    <a:lstStyle/>
                    <a:p>
                      <a:pPr algn="l"/>
                      <a:r>
                        <a:rPr sz="950" b="1">
                          <a:solidFill>
                            <a:srgbClr val="000000"/>
                          </a:solidFill>
                          <a:latin typeface="Calibri"/>
                        </a:rPr>
                        <a:t>-17.3 %</a:t>
                      </a:r>
                    </a:p>
                  </a:txBody>
                  <a:tcPr>
                    <a:solidFill>
                      <a:srgbClr val="C8E6C9"/>
                    </a:solidFill>
                  </a:tcPr>
                </a:tc>
                <a:tc>
                  <a:txBody>
                    <a:bodyPr lIns="54864" rIns="54864" tIns="18288" bIns="18288" wrap="square" anchor="ctr"/>
                    <a:lstStyle/>
                    <a:p>
                      <a:pPr algn="l"/>
                      <a:r>
                        <a:rPr sz="950" b="0">
                          <a:solidFill>
                            <a:srgbClr val="000000"/>
                          </a:solidFill>
                          <a:latin typeface="Calibri"/>
                        </a:rPr>
                        <a:t>—</a:t>
                      </a:r>
                    </a:p>
                  </a:txBody>
                  <a:tcPr/>
                </a:tc>
              </a:tr>
              <a:tr h="370332">
                <a:tc>
                  <a:txBody>
                    <a:bodyPr lIns="54864" rIns="54864" tIns="18288" bIns="18288" wrap="square" anchor="ctr"/>
                    <a:lstStyle/>
                    <a:p>
                      <a:pPr algn="l"/>
                      <a:r>
                        <a:rPr sz="950" b="0">
                          <a:solidFill>
                            <a:srgbClr val="000000"/>
                          </a:solidFill>
                          <a:latin typeface="Calibri"/>
                        </a:rPr>
                        <a:t>Markers found (%)</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99.9</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r>
              <a:tr h="370332">
                <a:tc>
                  <a:txBody>
                    <a:bodyPr lIns="54864" rIns="54864" tIns="18288" bIns="18288" wrap="square" anchor="ctr"/>
                    <a:lstStyle/>
                    <a:p>
                      <a:pPr algn="l"/>
                      <a:r>
                        <a:rPr sz="950" b="0">
                          <a:solidFill>
                            <a:srgbClr val="000000"/>
                          </a:solidFill>
                          <a:latin typeface="Calibri"/>
                        </a:rPr>
                        <a:t>DIC coverage (%)</a:t>
                      </a:r>
                    </a:p>
                  </a:txBody>
                  <a:tcPr/>
                </a:tc>
                <a:tc>
                  <a:txBody>
                    <a:bodyPr lIns="54864" rIns="54864" tIns="18288" bIns="18288" wrap="square" anchor="ctr"/>
                    <a:lstStyle/>
                    <a:p>
                      <a:pPr algn="l"/>
                      <a:r>
                        <a:rPr sz="950" b="1">
                          <a:solidFill>
                            <a:srgbClr val="000000"/>
                          </a:solidFill>
                          <a:latin typeface="Calibri"/>
                        </a:rPr>
                        <a:t>47</a:t>
                      </a:r>
                    </a:p>
                  </a:txBody>
                  <a:tcPr>
                    <a:solidFill>
                      <a:srgbClr val="FFF3CD"/>
                    </a:solidFill>
                  </a:tcPr>
                </a:tc>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100</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r>
            </a:tbl>
          </a:graphicData>
        </a:graphic>
      </p:graphicFrame>
      <p:sp>
        <p:nvSpPr>
          <p:cNvPr id="7" name="TextBox 6"/>
          <p:cNvSpPr txBox="1"/>
          <p:nvPr/>
        </p:nvSpPr>
        <p:spPr>
          <a:xfrm>
            <a:off x="365760" y="5532120"/>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to read the last two columns</a:t>
            </a:r>
          </a:p>
        </p:txBody>
      </p:sp>
      <p:sp>
        <p:nvSpPr>
          <p:cNvPr id="8" name="TextBox 7"/>
          <p:cNvSpPr txBox="1"/>
          <p:nvPr/>
        </p:nvSpPr>
        <p:spPr>
          <a:xfrm>
            <a:off x="365760" y="5870448"/>
            <a:ext cx="11475720" cy="685800"/>
          </a:xfrm>
          <a:prstGeom prst="rect">
            <a:avLst/>
          </a:prstGeom>
          <a:noFill/>
        </p:spPr>
        <p:txBody>
          <a:bodyPr wrap="square" lIns="45720" rIns="45720" tIns="18288" bIns="18288" anchor="t">
            <a:spAutoFit/>
          </a:bodyPr>
          <a:lstStyle/>
          <a:p>
            <a:pPr algn="l"/>
            <a:r>
              <a:rPr sz="1100" b="0" i="0">
                <a:solidFill>
                  <a:srgbClr val="000000"/>
                </a:solidFill>
                <a:latin typeface="Calibri"/>
              </a:rPr>
              <a:t>“black vs mean” is S13 against the average of the two white runs. “white vs white” is how far apart those two white runs are FROM EACH OTHER — the honest yardstick, because it is pure specimen-to-specimen scatter with no variable changed at all. Black beats that yardstick on every mechanical property, so the marker colour cannot be resolved above it.</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Recomputed at build time by documentation/scripts/s13_data.py via utm_analysis.analyze(). Noise measured over a COMMON 10 s window — see p231 for why that matters.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DIC NOISE — THE BLACK SPECIMEN IS THE QUIETEST</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one place marker colour COULD legitimately hurt is precision: centroid noise scales with edge contrast, and white dots on black PLA are a different contrast problem to black dots on white. Measured on the pre-ramp hold, where the specimen is not moving and every non-zero reading is instrument noise by definition.</a:t>
            </a:r>
          </a:p>
        </p:txBody>
      </p:sp>
      <p:pic>
        <p:nvPicPr>
          <p:cNvPr id="6" name="Picture 5" descr="s13_noise.png"/>
          <p:cNvPicPr>
            <a:picLocks noChangeAspect="1"/>
          </p:cNvPicPr>
          <p:nvPr/>
        </p:nvPicPr>
        <p:blipFill>
          <a:blip r:embed="rId2"/>
          <a:stretch>
            <a:fillRect/>
          </a:stretch>
        </p:blipFill>
        <p:spPr>
          <a:xfrm>
            <a:off x="320040" y="1691640"/>
            <a:ext cx="7772400" cy="3132643"/>
          </a:xfrm>
          <a:prstGeom prst="rect">
            <a:avLst/>
          </a:prstGeom>
        </p:spPr>
      </p:pic>
      <p:graphicFrame>
        <p:nvGraphicFramePr>
          <p:cNvPr id="7" name="Table 6"/>
          <p:cNvGraphicFramePr>
            <a:graphicFrameLocks noGrp="1"/>
          </p:cNvGraphicFramePr>
          <p:nvPr/>
        </p:nvGraphicFramePr>
        <p:xfrm>
          <a:off x="8229600" y="1664208"/>
          <a:ext cx="3611878" cy="1298448"/>
        </p:xfrm>
        <a:graphic>
          <a:graphicData uri="http://schemas.openxmlformats.org/drawingml/2006/table">
            <a:tbl>
              <a:tblPr firstRow="1" bandRow="1">
                <a:tableStyleId>{5C22544A-7EE6-4342-B048-85BDC9FD1C3A}</a:tableStyleId>
              </a:tblPr>
              <a:tblGrid>
                <a:gridCol w="671977"/>
                <a:gridCol w="1007966"/>
                <a:gridCol w="923969"/>
                <a:gridCol w="1007966"/>
              </a:tblGrid>
              <a:tr h="324612">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marker</a:t>
                      </a:r>
                    </a:p>
                  </a:txBody>
                  <a:tcPr>
                    <a:solidFill>
                      <a:srgbClr val="143D2F"/>
                    </a:solidFill>
                  </a:tcPr>
                </a:tc>
                <a:tc>
                  <a:txBody>
                    <a:bodyPr lIns="54864" rIns="54864" tIns="18288" bIns="18288" wrap="square" anchor="ctr"/>
                    <a:lstStyle/>
                    <a:p>
                      <a:pPr algn="l"/>
                      <a:r>
                        <a:rPr sz="950" b="1">
                          <a:solidFill>
                            <a:srgbClr val="FFFFFF"/>
                          </a:solidFill>
                          <a:latin typeface="Calibri"/>
                        </a:rPr>
                        <a:t>RMS</a:t>
                      </a:r>
                    </a:p>
                  </a:txBody>
                  <a:tcPr>
                    <a:solidFill>
                      <a:srgbClr val="143D2F"/>
                    </a:solidFill>
                  </a:tcPr>
                </a:tc>
                <a:tc>
                  <a:txBody>
                    <a:bodyPr lIns="54864" rIns="54864" tIns="18288" bIns="18288" wrap="square" anchor="ctr"/>
                    <a:lstStyle/>
                    <a:p>
                      <a:pPr algn="l"/>
                      <a:r>
                        <a:rPr sz="950" b="1">
                          <a:solidFill>
                            <a:srgbClr val="FFFFFF"/>
                          </a:solidFill>
                          <a:latin typeface="Calibri"/>
                        </a:rPr>
                        <a:t>peak-peak</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S13</a:t>
                      </a:r>
                    </a:p>
                  </a:txBody>
                  <a:tcPr/>
                </a:tc>
                <a:tc>
                  <a:txBody>
                    <a:bodyPr lIns="54864" rIns="54864" tIns="18288" bIns="18288" wrap="square" anchor="ctr"/>
                    <a:lstStyle/>
                    <a:p>
                      <a:pPr algn="l"/>
                      <a:r>
                        <a:rPr sz="950" b="0">
                          <a:solidFill>
                            <a:srgbClr val="000000"/>
                          </a:solidFill>
                          <a:latin typeface="Calibri"/>
                        </a:rPr>
                        <a:t>BLACK</a:t>
                      </a:r>
                    </a:p>
                  </a:txBody>
                  <a:tcPr/>
                </a:tc>
                <a:tc>
                  <a:txBody>
                    <a:bodyPr lIns="54864" rIns="54864" tIns="18288" bIns="18288" wrap="square" anchor="ctr"/>
                    <a:lstStyle/>
                    <a:p>
                      <a:pPr algn="l"/>
                      <a:r>
                        <a:rPr sz="950" b="1">
                          <a:solidFill>
                            <a:srgbClr val="000000"/>
                          </a:solidFill>
                          <a:latin typeface="Calibri"/>
                        </a:rPr>
                        <a:t>11.9 µε</a:t>
                      </a:r>
                    </a:p>
                  </a:txBody>
                  <a:tcPr>
                    <a:solidFill>
                      <a:srgbClr val="C8E6C9"/>
                    </a:solidFill>
                  </a:tcPr>
                </a:tc>
                <a:tc>
                  <a:txBody>
                    <a:bodyPr lIns="54864" rIns="54864" tIns="18288" bIns="18288" wrap="square" anchor="ctr"/>
                    <a:lstStyle/>
                    <a:p>
                      <a:pPr algn="l"/>
                      <a:r>
                        <a:rPr sz="950" b="0">
                          <a:solidFill>
                            <a:srgbClr val="000000"/>
                          </a:solidFill>
                          <a:latin typeface="Calibri"/>
                        </a:rPr>
                        <a:t>52 µε</a:t>
                      </a:r>
                    </a:p>
                  </a:txBody>
                  <a:tcPr/>
                </a:tc>
              </a:tr>
              <a:tr h="324612">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white</a:t>
                      </a:r>
                    </a:p>
                  </a:txBody>
                  <a:tcPr/>
                </a:tc>
                <a:tc>
                  <a:txBody>
                    <a:bodyPr lIns="54864" rIns="54864" tIns="18288" bIns="18288" wrap="square" anchor="ctr"/>
                    <a:lstStyle/>
                    <a:p>
                      <a:pPr algn="l"/>
                      <a:r>
                        <a:rPr sz="950" b="0">
                          <a:solidFill>
                            <a:srgbClr val="000000"/>
                          </a:solidFill>
                          <a:latin typeface="Calibri"/>
                        </a:rPr>
                        <a:t>15.4 µε</a:t>
                      </a:r>
                    </a:p>
                  </a:txBody>
                  <a:tcPr/>
                </a:tc>
                <a:tc>
                  <a:txBody>
                    <a:bodyPr lIns="54864" rIns="54864" tIns="18288" bIns="18288" wrap="square" anchor="ctr"/>
                    <a:lstStyle/>
                    <a:p>
                      <a:pPr algn="l"/>
                      <a:r>
                        <a:rPr sz="950" b="0">
                          <a:solidFill>
                            <a:srgbClr val="000000"/>
                          </a:solidFill>
                          <a:latin typeface="Calibri"/>
                        </a:rPr>
                        <a:t>86 µε</a:t>
                      </a:r>
                    </a:p>
                  </a:txBody>
                  <a:tcPr/>
                </a:tc>
              </a:tr>
              <a:tr h="324612">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white</a:t>
                      </a:r>
                    </a:p>
                  </a:txBody>
                  <a:tcPr/>
                </a:tc>
                <a:tc>
                  <a:txBody>
                    <a:bodyPr lIns="54864" rIns="54864" tIns="18288" bIns="18288" wrap="square" anchor="ctr"/>
                    <a:lstStyle/>
                    <a:p>
                      <a:pPr algn="l"/>
                      <a:r>
                        <a:rPr sz="950" b="0">
                          <a:solidFill>
                            <a:srgbClr val="000000"/>
                          </a:solidFill>
                          <a:latin typeface="Calibri"/>
                        </a:rPr>
                        <a:t>13.3 µε</a:t>
                      </a:r>
                    </a:p>
                  </a:txBody>
                  <a:tcPr/>
                </a:tc>
                <a:tc>
                  <a:txBody>
                    <a:bodyPr lIns="54864" rIns="54864" tIns="18288" bIns="18288" wrap="square" anchor="ctr"/>
                    <a:lstStyle/>
                    <a:p>
                      <a:pPr algn="l"/>
                      <a:r>
                        <a:rPr sz="950" b="0">
                          <a:solidFill>
                            <a:srgbClr val="000000"/>
                          </a:solidFill>
                          <a:latin typeface="Calibri"/>
                        </a:rPr>
                        <a:t>61 µε</a:t>
                      </a:r>
                    </a:p>
                  </a:txBody>
                  <a:tcPr/>
                </a:tc>
              </a:tr>
            </a:tbl>
          </a:graphicData>
        </a:graphic>
      </p:graphicFrame>
      <p:sp>
        <p:nvSpPr>
          <p:cNvPr id="8" name="TextBox 7"/>
          <p:cNvSpPr txBox="1"/>
          <p:nvPr/>
        </p:nvSpPr>
        <p:spPr>
          <a:xfrm>
            <a:off x="8229600" y="310896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window is fixed at 10 s</a:t>
            </a:r>
          </a:p>
        </p:txBody>
      </p:sp>
      <p:sp>
        <p:nvSpPr>
          <p:cNvPr id="9" name="TextBox 8"/>
          <p:cNvSpPr txBox="1"/>
          <p:nvPr/>
        </p:nvSpPr>
        <p:spPr>
          <a:xfrm>
            <a:off x="8229600" y="3447288"/>
            <a:ext cx="3611880" cy="2240280"/>
          </a:xfrm>
          <a:prstGeom prst="rect">
            <a:avLst/>
          </a:prstGeom>
          <a:noFill/>
        </p:spPr>
        <p:txBody>
          <a:bodyPr wrap="square" lIns="45720" rIns="45720" tIns="18288" bIns="18288" anchor="t">
            <a:spAutoFit/>
          </a:bodyPr>
          <a:lstStyle/>
          <a:p>
            <a:pPr algn="l"/>
            <a:r>
              <a:rPr sz="1050" b="0" i="0">
                <a:solidFill>
                  <a:srgbClr val="000000"/>
                </a:solidFill>
                <a:latin typeface="Calibri"/>
              </a:rPr>
              <a:t>The DIC noise floor on this rig GROWS with observation time — already on record as ±12 µε over 40 s against ±26 µε over 900 s.
So a short hold flatters itself. S13's hold was the shortest of the three, and comparing it raw would have handed it an unearned win.
Every run is therefore cut to the LAST 10 s, the shortest available. The right-hand panel shows what that choice was worth.</a:t>
            </a:r>
          </a:p>
        </p:txBody>
      </p:sp>
      <p:sp>
        <p:nvSpPr>
          <p:cNvPr id="10" name="Rectangle 9"/>
          <p:cNvSpPr/>
          <p:nvPr/>
        </p:nvSpPr>
        <p:spPr>
          <a:xfrm>
            <a:off x="365760" y="50749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S13 11.9 µε against 14.3 µε for the white pair — 17 % QUIETER. Against a fracture strain of 51500 µε this is 0.02 % of full scale either way, so the practical answer is that marker colour does not matter for precision.</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Noise = standard deviation of DIC gauge strain with the specimen stationary and the crosshead stopped. Drift over the window: S13 1.6, S25 0.7, S26 1.0 µε/s.</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S13's 47 % DIC COVERAGE — WHAT IT IS, AND WHAT IT IS NOT</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Less than half the load samples came back with a strain value. Three explanations were tested; the data killed two of them outright.</a:t>
            </a:r>
          </a:p>
        </p:txBody>
      </p:sp>
      <p:pic>
        <p:nvPicPr>
          <p:cNvPr id="6" name="Picture 5" descr="s13_coverage.png"/>
          <p:cNvPicPr>
            <a:picLocks noChangeAspect="1"/>
          </p:cNvPicPr>
          <p:nvPr/>
        </p:nvPicPr>
        <p:blipFill>
          <a:blip r:embed="rId2"/>
          <a:stretch>
            <a:fillRect/>
          </a:stretch>
        </p:blipFill>
        <p:spPr>
          <a:xfrm>
            <a:off x="320040" y="1481328"/>
            <a:ext cx="7772400" cy="3132643"/>
          </a:xfrm>
          <a:prstGeom prst="rect">
            <a:avLst/>
          </a:prstGeom>
        </p:spPr>
      </p:pic>
      <p:graphicFrame>
        <p:nvGraphicFramePr>
          <p:cNvPr id="7" name="Table 6"/>
          <p:cNvGraphicFramePr>
            <a:graphicFrameLocks noGrp="1"/>
          </p:cNvGraphicFramePr>
          <p:nvPr/>
        </p:nvGraphicFramePr>
        <p:xfrm>
          <a:off x="8229600" y="1463040"/>
          <a:ext cx="3611879" cy="1783080"/>
        </p:xfrm>
        <a:graphic>
          <a:graphicData uri="http://schemas.openxmlformats.org/drawingml/2006/table">
            <a:tbl>
              <a:tblPr firstRow="1" bandRow="1">
                <a:tableStyleId>{5C22544A-7EE6-4342-B048-85BDC9FD1C3A}</a:tableStyleId>
              </a:tblPr>
              <a:tblGrid>
                <a:gridCol w="1225459"/>
                <a:gridCol w="1934935"/>
                <a:gridCol w="451485"/>
              </a:tblGrid>
              <a:tr h="356616">
                <a:tc>
                  <a:txBody>
                    <a:bodyPr lIns="54864" rIns="54864" tIns="18288" bIns="18288" wrap="square" anchor="ctr"/>
                    <a:lstStyle/>
                    <a:p>
                      <a:pPr algn="l"/>
                      <a:r>
                        <a:rPr sz="950" b="1">
                          <a:solidFill>
                            <a:srgbClr val="FFFFFF"/>
                          </a:solidFill>
                          <a:latin typeface="Calibri"/>
                        </a:rPr>
                        <a:t>Suspect</a:t>
                      </a:r>
                    </a:p>
                  </a:txBody>
                  <a:tcPr>
                    <a:solidFill>
                      <a:srgbClr val="143D2F"/>
                    </a:solidFill>
                  </a:tcPr>
                </a:tc>
                <a:tc>
                  <a:txBody>
                    <a:bodyPr lIns="54864" rIns="54864" tIns="18288" bIns="18288" wrap="square" anchor="ctr"/>
                    <a:lstStyle/>
                    <a:p>
                      <a:pPr algn="l"/>
                      <a:r>
                        <a:rPr sz="950" b="1">
                          <a:solidFill>
                            <a:srgbClr val="FFFFFF"/>
                          </a:solidFill>
                          <a:latin typeface="Calibri"/>
                        </a:rPr>
                        <a:t>Evidence</a:t>
                      </a:r>
                    </a:p>
                  </a:txBody>
                  <a:tcPr>
                    <a:solidFill>
                      <a:srgbClr val="143D2F"/>
                    </a:solidFill>
                  </a:tcPr>
                </a:tc>
                <a:tc>
                  <a:txBody>
                    <a:bodyPr lIns="54864" rIns="54864" tIns="18288" bIns="18288" wrap="square" anchor="ctr"/>
                    <a:lstStyle/>
                    <a:p>
                      <a:pPr algn="l"/>
                      <a:r>
                        <a:rPr sz="950" b="1">
                          <a:solidFill>
                            <a:srgbClr val="FFFFFF"/>
                          </a:solidFill>
                          <a:latin typeface="Calibri"/>
                        </a:rPr>
                        <a:t/>
                      </a:r>
                    </a:p>
                  </a:txBody>
                  <a:tcPr>
                    <a:solidFill>
                      <a:srgbClr val="143D2F"/>
                    </a:solidFill>
                  </a:tcPr>
                </a:tc>
              </a:tr>
              <a:tr h="356616">
                <a:tc>
                  <a:txBody>
                    <a:bodyPr lIns="54864" rIns="54864" tIns="18288" bIns="18288" wrap="square" anchor="ctr"/>
                    <a:lstStyle/>
                    <a:p>
                      <a:pPr algn="l"/>
                      <a:r>
                        <a:rPr sz="900" b="0">
                          <a:solidFill>
                            <a:srgbClr val="000000"/>
                          </a:solidFill>
                          <a:latin typeface="Calibri"/>
                        </a:rPr>
                        <a:t>Camera slowed down</a:t>
                      </a:r>
                    </a:p>
                  </a:txBody>
                  <a:tcPr/>
                </a:tc>
                <a:tc>
                  <a:txBody>
                    <a:bodyPr lIns="54864" rIns="54864" tIns="18288" bIns="18288" wrap="square" anchor="ctr"/>
                    <a:lstStyle/>
                    <a:p>
                      <a:pPr algn="l"/>
                      <a:r>
                        <a:rPr sz="900" b="0">
                          <a:solidFill>
                            <a:srgbClr val="000000"/>
                          </a:solidFill>
                          <a:latin typeface="Calibri"/>
                        </a:rPr>
                        <a:t>19.9 fps, 0 dropped — identical to S25</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Black markers harder to see</a:t>
                      </a:r>
                    </a:p>
                  </a:txBody>
                  <a:tcPr/>
                </a:tc>
                <a:tc>
                  <a:txBody>
                    <a:bodyPr lIns="54864" rIns="54864" tIns="18288" bIns="18288" wrap="square" anchor="ctr"/>
                    <a:lstStyle/>
                    <a:p>
                      <a:pPr algn="l"/>
                      <a:r>
                        <a:rPr sz="900" b="0">
                          <a:solidFill>
                            <a:srgbClr val="000000"/>
                          </a:solidFill>
                          <a:latin typeface="Calibri"/>
                        </a:rPr>
                        <a:t>detector found 2 markers on 99.9 % of frames</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Otsu + bigger ROI too slow</a:t>
                      </a:r>
                    </a:p>
                  </a:txBody>
                  <a:tcPr/>
                </a:tc>
                <a:tc>
                  <a:txBody>
                    <a:bodyPr lIns="54864" rIns="54864" tIns="18288" bIns="18288" wrap="square" anchor="ctr"/>
                    <a:lstStyle/>
                    <a:p>
                      <a:pPr algn="l"/>
                      <a:r>
                        <a:rPr sz="900" b="0">
                          <a:solidFill>
                            <a:srgbClr val="000000"/>
                          </a:solidFill>
                          <a:latin typeface="Calibri"/>
                        </a:rPr>
                        <a:t>benchmarked 1.37 ms/frame ≈ 730 Hz ceiling</a:t>
                      </a:r>
                    </a:p>
                  </a:txBody>
                  <a:tcPr/>
                </a:tc>
                <a:tc>
                  <a:txBody>
                    <a:bodyPr lIns="54864" rIns="54864" tIns="18288" bIns="18288" wrap="square" anchor="ctr"/>
                    <a:lstStyle/>
                    <a:p>
                      <a:pPr algn="l"/>
                      <a:r>
                        <a:rPr sz="900" b="1">
                          <a:solidFill>
                            <a:srgbClr val="000000"/>
                          </a:solidFill>
                          <a:latin typeface="Calibri"/>
                        </a:rPr>
                        <a:t>NO</a:t>
                      </a:r>
                    </a:p>
                  </a:txBody>
                  <a:tcPr>
                    <a:solidFill>
                      <a:srgbClr val="FFCDD2"/>
                    </a:solidFill>
                  </a:tcPr>
                </a:tc>
              </a:tr>
              <a:tr h="356616">
                <a:tc>
                  <a:txBody>
                    <a:bodyPr lIns="54864" rIns="54864" tIns="18288" bIns="18288" wrap="square" anchor="ctr"/>
                    <a:lstStyle/>
                    <a:p>
                      <a:pPr algn="l"/>
                      <a:r>
                        <a:rPr sz="900" b="0">
                          <a:solidFill>
                            <a:srgbClr val="000000"/>
                          </a:solidFill>
                          <a:latin typeface="Calibri"/>
                        </a:rPr>
                        <a:t>Readings arriving too far apart</a:t>
                      </a:r>
                    </a:p>
                  </a:txBody>
                  <a:tcPr/>
                </a:tc>
                <a:tc>
                  <a:txBody>
                    <a:bodyPr lIns="54864" rIns="54864" tIns="18288" bIns="18288" wrap="square" anchor="ctr"/>
                    <a:lstStyle/>
                    <a:p>
                      <a:pPr algn="l"/>
                      <a:r>
                        <a:rPr sz="900" b="0">
                          <a:solidFill>
                            <a:srgbClr val="000000"/>
                          </a:solidFill>
                          <a:latin typeface="Calibri"/>
                        </a:rPr>
                        <a:t>median gap 147 ms vs a 100 ms match window</a:t>
                      </a:r>
                    </a:p>
                  </a:txBody>
                  <a:tcPr/>
                </a:tc>
                <a:tc>
                  <a:txBody>
                    <a:bodyPr lIns="54864" rIns="54864" tIns="18288" bIns="18288" wrap="square" anchor="ctr"/>
                    <a:lstStyle/>
                    <a:p>
                      <a:pPr algn="l"/>
                      <a:r>
                        <a:rPr sz="900" b="1">
                          <a:solidFill>
                            <a:srgbClr val="000000"/>
                          </a:solidFill>
                          <a:latin typeface="Calibri"/>
                        </a:rPr>
                        <a:t>YES</a:t>
                      </a:r>
                    </a:p>
                  </a:txBody>
                  <a:tcPr>
                    <a:solidFill>
                      <a:srgbClr val="FFF3CD"/>
                    </a:solidFill>
                  </a:tcPr>
                </a:tc>
              </a:tr>
            </a:tbl>
          </a:graphicData>
        </a:graphic>
      </p:graphicFrame>
      <p:sp>
        <p:nvSpPr>
          <p:cNvPr id="8" name="TextBox 7"/>
          <p:cNvSpPr txBox="1"/>
          <p:nvPr/>
        </p:nvSpPr>
        <p:spPr>
          <a:xfrm>
            <a:off x="8229600" y="3383280"/>
            <a:ext cx="36118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mechanism</a:t>
            </a:r>
          </a:p>
        </p:txBody>
      </p:sp>
      <p:sp>
        <p:nvSpPr>
          <p:cNvPr id="9" name="TextBox 8"/>
          <p:cNvSpPr txBox="1"/>
          <p:nvPr/>
        </p:nvSpPr>
        <p:spPr>
          <a:xfrm>
            <a:off x="8229600" y="3721608"/>
            <a:ext cx="3611880" cy="1965960"/>
          </a:xfrm>
          <a:prstGeom prst="rect">
            <a:avLst/>
          </a:prstGeom>
          <a:noFill/>
        </p:spPr>
        <p:txBody>
          <a:bodyPr wrap="square" lIns="45720" rIns="45720" tIns="18288" bIns="18288" anchor="t">
            <a:spAutoFit/>
          </a:bodyPr>
          <a:lstStyle/>
          <a:p>
            <a:pPr algn="l"/>
            <a:r>
              <a:rPr sz="1050" b="0" i="0">
                <a:solidFill>
                  <a:srgbClr val="000000"/>
                </a:solidFill>
                <a:latin typeface="Calibri"/>
              </a:rPr>
              <a:t>main.py sets DIC_STALE_THRESHOLD_MS = 100: a load sample only receives a strain value if a DIC reading exists within 100 ms of it.
S13's readings arrived 147 ms apart; S25's and S26's arrived 100 ms apart. At 147 ms roughly half the load rows have nothing inside the window — and 47 % is what came out.</a:t>
            </a:r>
          </a:p>
        </p:txBody>
      </p:sp>
      <p:sp>
        <p:nvSpPr>
          <p:cNvPr id="10" name="Rectangle 9"/>
          <p:cNvSpPr/>
          <p:nvPr/>
        </p:nvSpPr>
        <p:spPr>
          <a:xfrm>
            <a:off x="365760" y="4892040"/>
            <a:ext cx="11475720" cy="9601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STILL OPEN — WHY the readings slowed. The camera grabbed at 19.9 fps with zero dropped frames and the detector succeeded on every frame it saw, so the loss is between detection and the matching queue. That needs the live DIC-Hz badge watched during a pull, not more analysis of this CSV. It has now happened twice (S24 at 27 %, S13 at 47 %) on specimens of BOTH colours, so it is a pipeline issue, not a marker one. Raising the 100 ms window would hide it by pairing load samples with staler strain — not a fix.</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distribution of the gap between consecutive DIC readings, against the matching window. Right: markers FOUND vs load rows that received a value.</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MISSING COVERAGE COST — AND THE VERDICT</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Half the strain rows missing sounds fatal. It is not, and it is worth being precise about which numbers it can and cannot touch.</a:t>
            </a:r>
          </a:p>
        </p:txBody>
      </p:sp>
      <p:graphicFrame>
        <p:nvGraphicFramePr>
          <p:cNvPr id="6" name="Table 5"/>
          <p:cNvGraphicFramePr>
            <a:graphicFrameLocks noGrp="1"/>
          </p:cNvGraphicFramePr>
          <p:nvPr/>
        </p:nvGraphicFramePr>
        <p:xfrm>
          <a:off x="365760" y="1572768"/>
          <a:ext cx="7223758" cy="1298448"/>
        </p:xfrm>
        <a:graphic>
          <a:graphicData uri="http://schemas.openxmlformats.org/drawingml/2006/table">
            <a:tbl>
              <a:tblPr firstRow="1" bandRow="1">
                <a:tableStyleId>{5C22544A-7EE6-4342-B048-85BDC9FD1C3A}</a:tableStyleId>
              </a:tblPr>
              <a:tblGrid>
                <a:gridCol w="1615841"/>
                <a:gridCol w="1520791"/>
                <a:gridCol w="1710890"/>
                <a:gridCol w="1235643"/>
                <a:gridCol w="1140593"/>
              </a:tblGrid>
              <a:tr h="324612">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loaded readings</a:t>
                      </a:r>
                    </a:p>
                  </a:txBody>
                  <a:tcPr>
                    <a:solidFill>
                      <a:srgbClr val="143D2F"/>
                    </a:solidFill>
                  </a:tcPr>
                </a:tc>
                <a:tc>
                  <a:txBody>
                    <a:bodyPr lIns="54864" rIns="54864" tIns="18288" bIns="18288" wrap="square" anchor="ctr"/>
                    <a:lstStyle/>
                    <a:p>
                      <a:pPr algn="l"/>
                      <a:r>
                        <a:rPr sz="1000" b="1">
                          <a:solidFill>
                            <a:srgbClr val="FFFFFF"/>
                          </a:solidFill>
                          <a:latin typeface="Calibri"/>
                        </a:rPr>
                        <a:t>in the E fit window</a:t>
                      </a:r>
                    </a:p>
                  </a:txBody>
                  <a:tcPr>
                    <a:solidFill>
                      <a:srgbClr val="143D2F"/>
                    </a:solidFill>
                  </a:tcPr>
                </a:tc>
                <a:tc>
                  <a:txBody>
                    <a:bodyPr lIns="54864" rIns="54864" tIns="18288" bIns="18288" wrap="square" anchor="ctr"/>
                    <a:lstStyle/>
                    <a:p>
                      <a:pPr algn="l"/>
                      <a:r>
                        <a:rPr sz="1000" b="1">
                          <a:solidFill>
                            <a:srgbClr val="FFFFFF"/>
                          </a:solidFill>
                          <a:latin typeface="Calibri"/>
                        </a:rPr>
                        <a:t>gap median</a:t>
                      </a:r>
                    </a:p>
                  </a:txBody>
                  <a:tcPr>
                    <a:solidFill>
                      <a:srgbClr val="143D2F"/>
                    </a:solidFill>
                  </a:tcPr>
                </a:tc>
                <a:tc>
                  <a:txBody>
                    <a:bodyPr lIns="54864" rIns="54864" tIns="18288" bIns="18288" wrap="square" anchor="ctr"/>
                    <a:lstStyle/>
                    <a:p>
                      <a:pPr algn="l"/>
                      <a:r>
                        <a:rPr sz="1000" b="1">
                          <a:solidFill>
                            <a:srgbClr val="FFFFFF"/>
                          </a:solidFill>
                          <a:latin typeface="Calibri"/>
                        </a:rPr>
                        <a:t>worst gap</a:t>
                      </a:r>
                    </a:p>
                  </a:txBody>
                  <a:tcPr>
                    <a:solidFill>
                      <a:srgbClr val="143D2F"/>
                    </a:solidFill>
                  </a:tcPr>
                </a:tc>
              </a:tr>
              <a:tr h="324612">
                <a:tc>
                  <a:txBody>
                    <a:bodyPr lIns="54864" rIns="54864" tIns="18288" bIns="18288" wrap="square" anchor="ctr"/>
                    <a:lstStyle/>
                    <a:p>
                      <a:pPr algn="l"/>
                      <a:r>
                        <a:rPr sz="950" b="0">
                          <a:solidFill>
                            <a:srgbClr val="000000"/>
                          </a:solidFill>
                          <a:latin typeface="Calibri"/>
                        </a:rPr>
                        <a:t>S13 · BLACK</a:t>
                      </a:r>
                    </a:p>
                  </a:txBody>
                  <a:tcPr/>
                </a:tc>
                <a:tc>
                  <a:txBody>
                    <a:bodyPr lIns="54864" rIns="54864" tIns="18288" bIns="18288" wrap="square" anchor="ctr"/>
                    <a:lstStyle/>
                    <a:p>
                      <a:pPr algn="l"/>
                      <a:r>
                        <a:rPr sz="950" b="0">
                          <a:solidFill>
                            <a:srgbClr val="000000"/>
                          </a:solidFill>
                          <a:latin typeface="Calibri"/>
                        </a:rPr>
                        <a:t>378</a:t>
                      </a:r>
                    </a:p>
                  </a:txBody>
                  <a:tcPr/>
                </a:tc>
                <a:tc>
                  <a:txBody>
                    <a:bodyPr lIns="54864" rIns="54864" tIns="18288" bIns="18288" wrap="square" anchor="ctr"/>
                    <a:lstStyle/>
                    <a:p>
                      <a:pPr algn="l"/>
                      <a:r>
                        <a:rPr sz="950" b="0">
                          <a:solidFill>
                            <a:srgbClr val="000000"/>
                          </a:solidFill>
                          <a:latin typeface="Calibri"/>
                        </a:rPr>
                        <a:t>54</a:t>
                      </a:r>
                    </a:p>
                  </a:txBody>
                  <a:tcPr>
                    <a:solidFill>
                      <a:srgbClr val="FFF3CD"/>
                    </a:solidFill>
                  </a:tcPr>
                </a:tc>
                <a:tc>
                  <a:txBody>
                    <a:bodyPr lIns="54864" rIns="54864" tIns="18288" bIns="18288" wrap="square" anchor="ctr"/>
                    <a:lstStyle/>
                    <a:p>
                      <a:pPr algn="l"/>
                      <a:r>
                        <a:rPr sz="950" b="0">
                          <a:solidFill>
                            <a:srgbClr val="000000"/>
                          </a:solidFill>
                          <a:latin typeface="Calibri"/>
                        </a:rPr>
                        <a:t>143 ms</a:t>
                      </a:r>
                    </a:p>
                  </a:txBody>
                  <a:tcPr/>
                </a:tc>
                <a:tc>
                  <a:txBody>
                    <a:bodyPr lIns="54864" rIns="54864" tIns="18288" bIns="18288" wrap="square" anchor="ctr"/>
                    <a:lstStyle/>
                    <a:p>
                      <a:pPr algn="l"/>
                      <a:r>
                        <a:rPr sz="950" b="0">
                          <a:solidFill>
                            <a:srgbClr val="000000"/>
                          </a:solidFill>
                          <a:latin typeface="Calibri"/>
                        </a:rPr>
                        <a:t>664 ms</a:t>
                      </a:r>
                    </a:p>
                  </a:txBody>
                  <a:tcPr/>
                </a:tc>
              </a:tr>
              <a:tr h="324612">
                <a:tc>
                  <a:txBody>
                    <a:bodyPr lIns="54864" rIns="54864" tIns="18288" bIns="18288" wrap="square" anchor="ctr"/>
                    <a:lstStyle/>
                    <a:p>
                      <a:pPr algn="l"/>
                      <a:r>
                        <a:rPr sz="950" b="0">
                          <a:solidFill>
                            <a:srgbClr val="000000"/>
                          </a:solidFill>
                          <a:latin typeface="Calibri"/>
                        </a:rPr>
                        <a:t>S25 · white</a:t>
                      </a:r>
                    </a:p>
                  </a:txBody>
                  <a:tcPr/>
                </a:tc>
                <a:tc>
                  <a:txBody>
                    <a:bodyPr lIns="54864" rIns="54864" tIns="18288" bIns="18288" wrap="square" anchor="ctr"/>
                    <a:lstStyle/>
                    <a:p>
                      <a:pPr algn="l"/>
                      <a:r>
                        <a:rPr sz="950" b="0">
                          <a:solidFill>
                            <a:srgbClr val="000000"/>
                          </a:solidFill>
                          <a:latin typeface="Calibri"/>
                        </a:rPr>
                        <a:t>769</a:t>
                      </a:r>
                    </a:p>
                  </a:txBody>
                  <a:tcPr/>
                </a:tc>
                <a:tc>
                  <a:txBody>
                    <a:bodyPr lIns="54864" rIns="54864" tIns="18288" bIns="18288" wrap="square" anchor="ctr"/>
                    <a:lstStyle/>
                    <a:p>
                      <a:pPr algn="l"/>
                      <a:r>
                        <a:rPr sz="950" b="0">
                          <a:solidFill>
                            <a:srgbClr val="000000"/>
                          </a:solidFill>
                          <a:latin typeface="Calibri"/>
                        </a:rPr>
                        <a:t>146</a:t>
                      </a:r>
                    </a:p>
                  </a:txBody>
                  <a:tcPr/>
                </a:tc>
                <a:tc>
                  <a:txBody>
                    <a:bodyPr lIns="54864" rIns="54864" tIns="18288" bIns="18288" wrap="square" anchor="ctr"/>
                    <a:lstStyle/>
                    <a:p>
                      <a:pPr algn="l"/>
                      <a:r>
                        <a:rPr sz="950" b="0">
                          <a:solidFill>
                            <a:srgbClr val="000000"/>
                          </a:solidFill>
                          <a:latin typeface="Calibri"/>
                        </a:rPr>
                        <a:t>90 ms</a:t>
                      </a:r>
                    </a:p>
                  </a:txBody>
                  <a:tcPr/>
                </a:tc>
                <a:tc>
                  <a:txBody>
                    <a:bodyPr lIns="54864" rIns="54864" tIns="18288" bIns="18288" wrap="square" anchor="ctr"/>
                    <a:lstStyle/>
                    <a:p>
                      <a:pPr algn="l"/>
                      <a:r>
                        <a:rPr sz="950" b="0">
                          <a:solidFill>
                            <a:srgbClr val="000000"/>
                          </a:solidFill>
                          <a:latin typeface="Calibri"/>
                        </a:rPr>
                        <a:t>210 ms</a:t>
                      </a:r>
                    </a:p>
                  </a:txBody>
                  <a:tcPr/>
                </a:tc>
              </a:tr>
              <a:tr h="324612">
                <a:tc>
                  <a:txBody>
                    <a:bodyPr lIns="54864" rIns="54864" tIns="18288" bIns="18288" wrap="square" anchor="ctr"/>
                    <a:lstStyle/>
                    <a:p>
                      <a:pPr algn="l"/>
                      <a:r>
                        <a:rPr sz="950" b="0">
                          <a:solidFill>
                            <a:srgbClr val="000000"/>
                          </a:solidFill>
                          <a:latin typeface="Calibri"/>
                        </a:rPr>
                        <a:t>S26 · white</a:t>
                      </a:r>
                    </a:p>
                  </a:txBody>
                  <a:tcPr/>
                </a:tc>
                <a:tc>
                  <a:txBody>
                    <a:bodyPr lIns="54864" rIns="54864" tIns="18288" bIns="18288" wrap="square" anchor="ctr"/>
                    <a:lstStyle/>
                    <a:p>
                      <a:pPr algn="l"/>
                      <a:r>
                        <a:rPr sz="950" b="0">
                          <a:solidFill>
                            <a:srgbClr val="000000"/>
                          </a:solidFill>
                          <a:latin typeface="Calibri"/>
                        </a:rPr>
                        <a:t>904</a:t>
                      </a:r>
                    </a:p>
                  </a:txBody>
                  <a:tcPr/>
                </a:tc>
                <a:tc>
                  <a:txBody>
                    <a:bodyPr lIns="54864" rIns="54864" tIns="18288" bIns="18288" wrap="square" anchor="ctr"/>
                    <a:lstStyle/>
                    <a:p>
                      <a:pPr algn="l"/>
                      <a:r>
                        <a:rPr sz="950" b="0">
                          <a:solidFill>
                            <a:srgbClr val="000000"/>
                          </a:solidFill>
                          <a:latin typeface="Calibri"/>
                        </a:rPr>
                        <a:t>102</a:t>
                      </a:r>
                    </a:p>
                  </a:txBody>
                  <a:tcPr/>
                </a:tc>
                <a:tc>
                  <a:txBody>
                    <a:bodyPr lIns="54864" rIns="54864" tIns="18288" bIns="18288" wrap="square" anchor="ctr"/>
                    <a:lstStyle/>
                    <a:p>
                      <a:pPr algn="l"/>
                      <a:r>
                        <a:rPr sz="950" b="0">
                          <a:solidFill>
                            <a:srgbClr val="000000"/>
                          </a:solidFill>
                          <a:latin typeface="Calibri"/>
                        </a:rPr>
                        <a:t>88 ms</a:t>
                      </a:r>
                    </a:p>
                  </a:txBody>
                  <a:tcPr/>
                </a:tc>
                <a:tc>
                  <a:txBody>
                    <a:bodyPr lIns="54864" rIns="54864" tIns="18288" bIns="18288" wrap="square" anchor="ctr"/>
                    <a:lstStyle/>
                    <a:p>
                      <a:pPr algn="l"/>
                      <a:r>
                        <a:rPr sz="950" b="0">
                          <a:solidFill>
                            <a:srgbClr val="000000"/>
                          </a:solidFill>
                          <a:latin typeface="Calibri"/>
                        </a:rPr>
                        <a:t>187 ms</a:t>
                      </a:r>
                    </a:p>
                  </a:txBody>
                  <a:tcPr/>
                </a:tc>
              </a:tr>
            </a:tbl>
          </a:graphicData>
        </a:graphic>
      </p:graphicFrame>
      <p:sp>
        <p:nvSpPr>
          <p:cNvPr id="7" name="TextBox 6"/>
          <p:cNvSpPr txBox="1"/>
          <p:nvPr/>
        </p:nvSpPr>
        <p:spPr>
          <a:xfrm>
            <a:off x="7863840" y="1481328"/>
            <a:ext cx="39776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Which numbers are affected</a:t>
            </a:r>
          </a:p>
        </p:txBody>
      </p:sp>
      <p:graphicFrame>
        <p:nvGraphicFramePr>
          <p:cNvPr id="8" name="Table 7"/>
          <p:cNvGraphicFramePr>
            <a:graphicFrameLocks noGrp="1"/>
          </p:cNvGraphicFramePr>
          <p:nvPr/>
        </p:nvGraphicFramePr>
        <p:xfrm>
          <a:off x="7863840" y="1828800"/>
          <a:ext cx="3977638" cy="1572768"/>
        </p:xfrm>
        <a:graphic>
          <a:graphicData uri="http://schemas.openxmlformats.org/drawingml/2006/table">
            <a:tbl>
              <a:tblPr firstRow="1" bandRow="1">
                <a:tableStyleId>{5C22544A-7EE6-4342-B048-85BDC9FD1C3A}</a:tableStyleId>
              </a:tblPr>
              <a:tblGrid>
                <a:gridCol w="1446414"/>
                <a:gridCol w="1446414"/>
                <a:gridCol w="1084810"/>
              </a:tblGrid>
              <a:tr h="262128">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Source</a:t>
                      </a:r>
                    </a:p>
                  </a:txBody>
                  <a:tcPr>
                    <a:solidFill>
                      <a:srgbClr val="143D2F"/>
                    </a:solidFill>
                  </a:tcPr>
                </a:tc>
                <a:tc>
                  <a:txBody>
                    <a:bodyPr lIns="54864" rIns="54864" tIns="18288" bIns="18288" wrap="square" anchor="ctr"/>
                    <a:lstStyle/>
                    <a:p>
                      <a:pPr algn="l"/>
                      <a:r>
                        <a:rPr sz="950" b="1">
                          <a:solidFill>
                            <a:srgbClr val="FFFFFF"/>
                          </a:solidFill>
                          <a:latin typeface="Calibri"/>
                        </a:rPr>
                        <a:t>Affected?</a:t>
                      </a:r>
                    </a:p>
                  </a:txBody>
                  <a:tcPr>
                    <a:solidFill>
                      <a:srgbClr val="143D2F"/>
                    </a:solidFill>
                  </a:tcPr>
                </a:tc>
              </a:tr>
              <a:tr h="262128">
                <a:tc>
                  <a:txBody>
                    <a:bodyPr lIns="54864" rIns="54864" tIns="18288" bIns="18288" wrap="square" anchor="ctr"/>
                    <a:lstStyle/>
                    <a:p>
                      <a:pPr algn="l"/>
                      <a:r>
                        <a:rPr sz="900" b="0">
                          <a:solidFill>
                            <a:srgbClr val="000000"/>
                          </a:solidFill>
                          <a:latin typeface="Calibri"/>
                        </a:rPr>
                        <a:t>UTS</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Force / time curve</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Force anchor</a:t>
                      </a:r>
                    </a:p>
                  </a:txBody>
                  <a:tcPr/>
                </a:tc>
                <a:tc>
                  <a:txBody>
                    <a:bodyPr lIns="54864" rIns="54864" tIns="18288" bIns="18288" wrap="square" anchor="ctr"/>
                    <a:lstStyle/>
                    <a:p>
                      <a:pPr algn="l"/>
                      <a:r>
                        <a:rPr sz="900" b="0">
                          <a:solidFill>
                            <a:srgbClr val="000000"/>
                          </a:solidFill>
                          <a:latin typeface="Calibri"/>
                        </a:rPr>
                        <a:t>load cell only</a:t>
                      </a:r>
                    </a:p>
                  </a:txBody>
                  <a:tcPr/>
                </a:tc>
                <a:tc>
                  <a:txBody>
                    <a:bodyPr lIns="54864" rIns="54864" tIns="18288" bIns="18288" wrap="square" anchor="ctr"/>
                    <a:lstStyle/>
                    <a:p>
                      <a:pPr algn="l"/>
                      <a:r>
                        <a:rPr sz="900" b="1">
                          <a:solidFill>
                            <a:srgbClr val="000000"/>
                          </a:solidFill>
                          <a:latin typeface="Calibri"/>
                        </a:rPr>
                        <a:t>NO</a:t>
                      </a:r>
                    </a:p>
                  </a:txBody>
                  <a:tcPr>
                    <a:solidFill>
                      <a:srgbClr val="C8E6C9"/>
                    </a:solidFill>
                  </a:tcPr>
                </a:tc>
              </a:tr>
              <a:tr h="262128">
                <a:tc>
                  <a:txBody>
                    <a:bodyPr lIns="54864" rIns="54864" tIns="18288" bIns="18288" wrap="square" anchor="ctr"/>
                    <a:lstStyle/>
                    <a:p>
                      <a:pPr algn="l"/>
                      <a:r>
                        <a:rPr sz="900" b="0">
                          <a:solidFill>
                            <a:srgbClr val="000000"/>
                          </a:solidFill>
                          <a:latin typeface="Calibri"/>
                        </a:rPr>
                        <a:t>E, σ_y</a:t>
                      </a:r>
                    </a:p>
                  </a:txBody>
                  <a:tcPr/>
                </a:tc>
                <a:tc>
                  <a:txBody>
                    <a:bodyPr lIns="54864" rIns="54864" tIns="18288" bIns="18288" wrap="square" anchor="ctr"/>
                    <a:lstStyle/>
                    <a:p>
                      <a:pPr algn="l"/>
                      <a:r>
                        <a:rPr sz="900" b="0">
                          <a:solidFill>
                            <a:srgbClr val="000000"/>
                          </a:solidFill>
                          <a:latin typeface="Calibri"/>
                        </a:rPr>
                        <a:t>strain column</a:t>
                      </a:r>
                    </a:p>
                  </a:txBody>
                  <a:tcPr/>
                </a:tc>
                <a:tc>
                  <a:txBody>
                    <a:bodyPr lIns="54864" rIns="54864" tIns="18288" bIns="18288" wrap="square" anchor="ctr"/>
                    <a:lstStyle/>
                    <a:p>
                      <a:pPr algn="l"/>
                      <a:r>
                        <a:rPr sz="900" b="0">
                          <a:solidFill>
                            <a:srgbClr val="000000"/>
                          </a:solidFill>
                          <a:latin typeface="Calibri"/>
                        </a:rPr>
                        <a:t>slightly</a:t>
                      </a:r>
                    </a:p>
                  </a:txBody>
                  <a:tcPr>
                    <a:solidFill>
                      <a:srgbClr val="FFF3CD"/>
                    </a:solidFill>
                  </a:tcPr>
                </a:tc>
              </a:tr>
              <a:tr h="262128">
                <a:tc>
                  <a:txBody>
                    <a:bodyPr lIns="54864" rIns="54864" tIns="18288" bIns="18288" wrap="square" anchor="ctr"/>
                    <a:lstStyle/>
                    <a:p>
                      <a:pPr algn="l"/>
                      <a:r>
                        <a:rPr sz="900" b="0">
                          <a:solidFill>
                            <a:srgbClr val="000000"/>
                          </a:solidFill>
                          <a:latin typeface="Calibri"/>
                        </a:rPr>
                        <a:t>ε_f</a:t>
                      </a:r>
                    </a:p>
                  </a:txBody>
                  <a:tcPr/>
                </a:tc>
                <a:tc>
                  <a:txBody>
                    <a:bodyPr lIns="54864" rIns="54864" tIns="18288" bIns="18288" wrap="square" anchor="ctr"/>
                    <a:lstStyle/>
                    <a:p>
                      <a:pPr algn="l"/>
                      <a:r>
                        <a:rPr sz="900" b="0">
                          <a:solidFill>
                            <a:srgbClr val="000000"/>
                          </a:solidFill>
                          <a:latin typeface="Calibri"/>
                        </a:rPr>
                        <a:t>strain column</a:t>
                      </a:r>
                    </a:p>
                  </a:txBody>
                  <a:tcPr/>
                </a:tc>
                <a:tc>
                  <a:txBody>
                    <a:bodyPr lIns="54864" rIns="54864" tIns="18288" bIns="18288" wrap="square" anchor="ctr"/>
                    <a:lstStyle/>
                    <a:p>
                      <a:pPr algn="l"/>
                      <a:r>
                        <a:rPr sz="900" b="0">
                          <a:solidFill>
                            <a:srgbClr val="000000"/>
                          </a:solidFill>
                          <a:latin typeface="Calibri"/>
                        </a:rPr>
                        <a:t>watch it</a:t>
                      </a:r>
                    </a:p>
                  </a:txBody>
                  <a:tcPr>
                    <a:solidFill>
                      <a:srgbClr val="FFF3CD"/>
                    </a:solidFill>
                  </a:tcPr>
                </a:tc>
              </a:tr>
            </a:tbl>
          </a:graphicData>
        </a:graphic>
      </p:graphicFrame>
      <p:sp>
        <p:nvSpPr>
          <p:cNvPr id="9" name="TextBox 8"/>
          <p:cNvSpPr txBox="1"/>
          <p:nvPr/>
        </p:nvSpPr>
        <p:spPr>
          <a:xfrm>
            <a:off x="365760" y="3017520"/>
            <a:ext cx="72237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E survived</a:t>
            </a:r>
          </a:p>
        </p:txBody>
      </p:sp>
      <p:sp>
        <p:nvSpPr>
          <p:cNvPr id="10" name="TextBox 9"/>
          <p:cNvSpPr txBox="1"/>
          <p:nvPr/>
        </p:nvSpPr>
        <p:spPr>
          <a:xfrm>
            <a:off x="365760" y="3355848"/>
            <a:ext cx="7223760" cy="1234440"/>
          </a:xfrm>
          <a:prstGeom prst="rect">
            <a:avLst/>
          </a:prstGeom>
          <a:noFill/>
        </p:spPr>
        <p:txBody>
          <a:bodyPr wrap="square" lIns="45720" rIns="45720" tIns="18288" bIns="18288" anchor="t">
            <a:spAutoFit/>
          </a:bodyPr>
          <a:lstStyle/>
          <a:p>
            <a:pPr algn="l"/>
            <a:r>
              <a:rPr sz="1100" b="0" i="0">
                <a:solidFill>
                  <a:srgbClr val="000000"/>
                </a:solidFill>
                <a:latin typeface="Calibri"/>
              </a:rPr>
              <a:t>E is fitted over 0.05–0.40 % strain, and S13 still put 54 readings inside that window. Fewer than S25's 146, but a straight-line fit does not need many — which is why S13's E lands at 3.030 GPa, between S25's 3.167 and S26's 3.549.
ε_f is the one to treat with care: it depends on catching the LAST valid reading before fracture, and a 664 ms worst-case gap is a real risk of missing it.</a:t>
            </a:r>
          </a:p>
        </p:txBody>
      </p:sp>
      <p:sp>
        <p:nvSpPr>
          <p:cNvPr id="11" name="TextBox 10"/>
          <p:cNvSpPr txBox="1"/>
          <p:nvPr/>
        </p:nvSpPr>
        <p:spPr>
          <a:xfrm>
            <a:off x="7863840" y="3566160"/>
            <a:ext cx="3977639" cy="365760"/>
          </a:xfrm>
          <a:prstGeom prst="rect">
            <a:avLst/>
          </a:prstGeom>
          <a:noFill/>
        </p:spPr>
        <p:txBody>
          <a:bodyPr wrap="square" lIns="45720" rIns="45720" tIns="18288" bIns="18288" anchor="t">
            <a:spAutoFit/>
          </a:bodyPr>
          <a:lstStyle/>
          <a:p>
            <a:pPr algn="l"/>
            <a:r>
              <a:rPr sz="1600" b="0" i="0">
                <a:solidFill>
                  <a:srgbClr val="707070"/>
                </a:solidFill>
                <a:latin typeface="Calibri"/>
              </a:rPr>
              <a:t>Open / next</a:t>
            </a:r>
          </a:p>
        </p:txBody>
      </p:sp>
      <p:sp>
        <p:nvSpPr>
          <p:cNvPr id="12" name="TextBox 11"/>
          <p:cNvSpPr txBox="1"/>
          <p:nvPr/>
        </p:nvSpPr>
        <p:spPr>
          <a:xfrm>
            <a:off x="7863840" y="3904487"/>
            <a:ext cx="3977639" cy="1828800"/>
          </a:xfrm>
          <a:prstGeom prst="rect">
            <a:avLst/>
          </a:prstGeom>
          <a:noFill/>
        </p:spPr>
        <p:txBody>
          <a:bodyPr wrap="square" lIns="45720" rIns="45720" tIns="18288" bIns="18288" anchor="t">
            <a:spAutoFit/>
          </a:bodyPr>
          <a:lstStyle/>
          <a:p>
            <a:pPr algn="l"/>
            <a:r>
              <a:rPr sz="1050" b="0" i="0">
                <a:solidFill>
                  <a:srgbClr val="000000"/>
                </a:solidFill>
                <a:latin typeface="Calibri"/>
              </a:rPr>
              <a:t>•  Watch the live DIC-Hz badge through the next pull — 19.9 at rest, what during the ramp?
•  A second black specimen would turn n = 1 into a repeat.
•  Black is now cleared for use; nothing about it needs changing.</a:t>
            </a:r>
          </a:p>
        </p:txBody>
      </p:sp>
      <p:sp>
        <p:nvSpPr>
          <p:cNvPr id="13" name="Rectangle 12"/>
          <p:cNvSpPr/>
          <p:nvPr/>
        </p:nvSpPr>
        <p:spPr>
          <a:xfrm>
            <a:off x="365760" y="4892040"/>
            <a:ext cx="7223760" cy="9601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VERDICT — the Black preset is validated. Markers found on 99.9 % of frames, noise BELOW the white pair, and every mechanical property closer to the white mean than the two white runs are to each other. The roadmap's black-specimen DIC check is answered.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One blemish worth recording: S13's AVI sinks came out 1539 / 1540 / 1540 frames — the writers stopped one frame apart. Harmless here, but the other runs matched exactly.</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 S28 — THE 50 % INFILL VIDEO PAIR</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Two 50 % infill specimens pulled to fracture on 2026-08-17 with capture armed, 14 minutes apart. With these, FIVE specimens now have a frame-by-frame video and a matching load/DIC record — three at 100 % infill, two at 50 % — which is what the extensometer comparison needs on both sides.</a:t>
            </a:r>
          </a:p>
        </p:txBody>
      </p:sp>
      <p:sp>
        <p:nvSpPr>
          <p:cNvPr id="6" name="Rounded Rectangle 5"/>
          <p:cNvSpPr/>
          <p:nvPr/>
        </p:nvSpPr>
        <p:spPr>
          <a:xfrm>
            <a:off x="365760"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19.85 / 19.93</a:t>
            </a:r>
          </a:p>
          <a:p>
            <a:pPr algn="ctr"/>
            <a:r>
              <a:rPr sz="950">
                <a:solidFill>
                  <a:srgbClr val="000000"/>
                </a:solidFill>
                <a:latin typeface="Calibri"/>
              </a:rPr>
              <a:t>UTS  S27 / S28</a:t>
            </a:r>
          </a:p>
        </p:txBody>
      </p:sp>
      <p:sp>
        <p:nvSpPr>
          <p:cNvPr id="7" name="Rounded Rectangle 6"/>
          <p:cNvSpPr/>
          <p:nvPr/>
        </p:nvSpPr>
        <p:spPr>
          <a:xfrm>
            <a:off x="2304288"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0.4 %</a:t>
            </a:r>
          </a:p>
          <a:p>
            <a:pPr algn="ctr"/>
            <a:r>
              <a:rPr sz="950">
                <a:solidFill>
                  <a:srgbClr val="000000"/>
                </a:solidFill>
                <a:latin typeface="Calibri"/>
              </a:rPr>
              <a:t>pair agrees to</a:t>
            </a:r>
          </a:p>
        </p:txBody>
      </p:sp>
      <p:sp>
        <p:nvSpPr>
          <p:cNvPr id="8" name="Rounded Rectangle 7"/>
          <p:cNvSpPr/>
          <p:nvPr/>
        </p:nvSpPr>
        <p:spPr>
          <a:xfrm>
            <a:off x="4242816"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1.395 / 1.282</a:t>
            </a:r>
          </a:p>
          <a:p>
            <a:pPr algn="ctr"/>
            <a:r>
              <a:rPr sz="950">
                <a:solidFill>
                  <a:srgbClr val="000000"/>
                </a:solidFill>
                <a:latin typeface="Calibri"/>
              </a:rPr>
              <a:t>E  (GPa)</a:t>
            </a:r>
          </a:p>
        </p:txBody>
      </p:sp>
      <p:sp>
        <p:nvSpPr>
          <p:cNvPr id="9" name="Rounded Rectangle 8"/>
          <p:cNvSpPr/>
          <p:nvPr/>
        </p:nvSpPr>
        <p:spPr>
          <a:xfrm>
            <a:off x="6181344"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3.97 / 4.20</a:t>
            </a:r>
          </a:p>
          <a:p>
            <a:pPr algn="ctr"/>
            <a:r>
              <a:rPr sz="950">
                <a:solidFill>
                  <a:srgbClr val="000000"/>
                </a:solidFill>
                <a:latin typeface="Calibri"/>
              </a:rPr>
              <a:t>ε_f  (%)</a:t>
            </a:r>
          </a:p>
        </p:txBody>
      </p:sp>
      <p:sp>
        <p:nvSpPr>
          <p:cNvPr id="10" name="Rounded Rectangle 9"/>
          <p:cNvSpPr/>
          <p:nvPr/>
        </p:nvSpPr>
        <p:spPr>
          <a:xfrm>
            <a:off x="8119872" y="173736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1227 / 1280</a:t>
            </a:r>
          </a:p>
          <a:p>
            <a:pPr algn="ctr"/>
            <a:r>
              <a:rPr sz="950">
                <a:solidFill>
                  <a:srgbClr val="000000"/>
                </a:solidFill>
                <a:latin typeface="Calibri"/>
              </a:rPr>
              <a:t>frames captured</a:t>
            </a:r>
          </a:p>
        </p:txBody>
      </p:sp>
      <p:sp>
        <p:nvSpPr>
          <p:cNvPr id="11" name="Rounded Rectangle 10"/>
          <p:cNvSpPr/>
          <p:nvPr/>
        </p:nvSpPr>
        <p:spPr>
          <a:xfrm>
            <a:off x="10058400" y="173736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a:t>
            </a:r>
          </a:p>
          <a:p>
            <a:pPr algn="ctr"/>
            <a:r>
              <a:rPr sz="950">
                <a:solidFill>
                  <a:srgbClr val="000000"/>
                </a:solidFill>
                <a:latin typeface="Calibri"/>
              </a:rPr>
              <a:t>dropped</a:t>
            </a:r>
          </a:p>
        </p:txBody>
      </p:sp>
      <p:sp>
        <p:nvSpPr>
          <p:cNvPr id="12" name="TextBox 11"/>
          <p:cNvSpPr txBox="1"/>
          <p:nvPr/>
        </p:nvSpPr>
        <p:spPr>
          <a:xfrm>
            <a:off x="365760" y="28346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Capture integrity</a:t>
            </a:r>
          </a:p>
        </p:txBody>
      </p:sp>
      <p:graphicFrame>
        <p:nvGraphicFramePr>
          <p:cNvPr id="13" name="Table 12"/>
          <p:cNvGraphicFramePr>
            <a:graphicFrameLocks noGrp="1"/>
          </p:cNvGraphicFramePr>
          <p:nvPr/>
        </p:nvGraphicFramePr>
        <p:xfrm>
          <a:off x="365760" y="3172968"/>
          <a:ext cx="5577837" cy="2148840"/>
        </p:xfrm>
        <a:graphic>
          <a:graphicData uri="http://schemas.openxmlformats.org/drawingml/2006/table">
            <a:tbl>
              <a:tblPr firstRow="1" bandRow="1">
                <a:tableStyleId>{5C22544A-7EE6-4342-B048-85BDC9FD1C3A}</a:tableStyleId>
              </a:tblPr>
              <a:tblGrid>
                <a:gridCol w="2348564"/>
                <a:gridCol w="1272138"/>
                <a:gridCol w="1272138"/>
                <a:gridCol w="684997"/>
              </a:tblGrid>
              <a:tr h="306977">
                <a:tc>
                  <a:txBody>
                    <a:bodyPr lIns="54864" rIns="54864" tIns="18288" bIns="18288" wrap="square" anchor="ctr"/>
                    <a:lstStyle/>
                    <a:p>
                      <a:pPr algn="l"/>
                      <a:r>
                        <a:rPr sz="950" b="1">
                          <a:solidFill>
                            <a:srgbClr val="FFFFFF"/>
                          </a:solidFill>
                          <a:latin typeface="Calibri"/>
                        </a:rPr>
                        <a:t>Check</a:t>
                      </a:r>
                    </a:p>
                  </a:txBody>
                  <a:tcPr>
                    <a:solidFill>
                      <a:srgbClr val="143D2F"/>
                    </a:solidFill>
                  </a:tcPr>
                </a:tc>
                <a:tc>
                  <a:txBody>
                    <a:bodyPr lIns="54864" rIns="54864" tIns="18288" bIns="18288" wrap="square" anchor="ctr"/>
                    <a:lstStyle/>
                    <a:p>
                      <a:pPr algn="l"/>
                      <a:r>
                        <a:rPr sz="950" b="1">
                          <a:solidFill>
                            <a:srgbClr val="FFFFFF"/>
                          </a:solidFill>
                          <a:latin typeface="Calibri"/>
                        </a:rPr>
                        <a:t>S27 · VC4</a:t>
                      </a:r>
                    </a:p>
                  </a:txBody>
                  <a:tcPr>
                    <a:solidFill>
                      <a:srgbClr val="143D2F"/>
                    </a:solidFill>
                  </a:tcPr>
                </a:tc>
                <a:tc>
                  <a:txBody>
                    <a:bodyPr lIns="54864" rIns="54864" tIns="18288" bIns="18288" wrap="square" anchor="ctr"/>
                    <a:lstStyle/>
                    <a:p>
                      <a:pPr algn="l"/>
                      <a:r>
                        <a:rPr sz="950" b="1">
                          <a:solidFill>
                            <a:srgbClr val="FFFFFF"/>
                          </a:solidFill>
                          <a:latin typeface="Calibri"/>
                        </a:rPr>
                        <a:t>S28 · VC5</a:t>
                      </a:r>
                    </a:p>
                  </a:txBody>
                  <a:tcPr>
                    <a:solidFill>
                      <a:srgbClr val="143D2F"/>
                    </a:solidFill>
                  </a:tcPr>
                </a:tc>
                <a:tc>
                  <a:txBody>
                    <a:bodyPr lIns="54864" rIns="54864" tIns="18288" bIns="18288" wrap="square" anchor="ctr"/>
                    <a:lstStyle/>
                    <a:p>
                      <a:pPr algn="l"/>
                      <a:r>
                        <a:rPr sz="950" b="1">
                          <a:solidFill>
                            <a:srgbClr val="FFFFFF"/>
                          </a:solidFill>
                          <a:latin typeface="Calibri"/>
                        </a:rPr>
                        <a:t/>
                      </a:r>
                    </a:p>
                  </a:txBody>
                  <a:tcPr>
                    <a:solidFill>
                      <a:srgbClr val="143D2F"/>
                    </a:solidFill>
                  </a:tcPr>
                </a:tc>
              </a:tr>
              <a:tr h="306977">
                <a:tc>
                  <a:txBody>
                    <a:bodyPr lIns="54864" rIns="54864" tIns="18288" bIns="18288" wrap="square" anchor="ctr"/>
                    <a:lstStyle/>
                    <a:p>
                      <a:pPr algn="l"/>
                      <a:r>
                        <a:rPr sz="900" b="0">
                          <a:solidFill>
                            <a:srgbClr val="000000"/>
                          </a:solidFill>
                          <a:latin typeface="Calibri"/>
                        </a:rPr>
                        <a:t>PNG stills</a:t>
                      </a:r>
                    </a:p>
                  </a:txBody>
                  <a:tcPr/>
                </a:tc>
                <a:tc>
                  <a:txBody>
                    <a:bodyPr lIns="54864" rIns="54864" tIns="18288" bIns="18288" wrap="square" anchor="ctr"/>
                    <a:lstStyle/>
                    <a:p>
                      <a:pPr algn="l"/>
                      <a:r>
                        <a:rPr sz="900" b="0">
                          <a:solidFill>
                            <a:srgbClr val="000000"/>
                          </a:solidFill>
                          <a:latin typeface="Calibri"/>
                        </a:rPr>
                        <a:t>1227</a:t>
                      </a:r>
                    </a:p>
                  </a:txBody>
                  <a:tcPr/>
                </a:tc>
                <a:tc>
                  <a:txBody>
                    <a:bodyPr lIns="54864" rIns="54864" tIns="18288" bIns="18288" wrap="square" anchor="ctr"/>
                    <a:lstStyle/>
                    <a:p>
                      <a:pPr algn="l"/>
                      <a:r>
                        <a:rPr sz="900" b="0">
                          <a:solidFill>
                            <a:srgbClr val="000000"/>
                          </a:solidFill>
                          <a:latin typeface="Calibri"/>
                        </a:rPr>
                        <a:t>1280</a:t>
                      </a:r>
                    </a:p>
                  </a:txBody>
                  <a:tcPr/>
                </a:tc>
                <a:tc>
                  <a:txBody>
                    <a:bodyPr lIns="54864" rIns="54864" tIns="18288" bIns="18288" wrap="square" anchor="ctr"/>
                    <a:lstStyle/>
                    <a:p>
                      <a:pPr algn="l"/>
                      <a:r>
                        <a:rPr sz="900" b="0">
                          <a:solidFill>
                            <a:srgbClr val="000000"/>
                          </a:solidFill>
                          <a:latin typeface="Calibri"/>
                        </a:rPr>
                        <a:t>—</a:t>
                      </a:r>
                    </a:p>
                  </a:txBody>
                  <a:tcPr/>
                </a:tc>
              </a:tr>
              <a:tr h="306977">
                <a:tc>
                  <a:txBody>
                    <a:bodyPr lIns="54864" rIns="54864" tIns="18288" bIns="18288" wrap="square" anchor="ctr"/>
                    <a:lstStyle/>
                    <a:p>
                      <a:pPr algn="l"/>
                      <a:r>
                        <a:rPr sz="900" b="0">
                          <a:solidFill>
                            <a:srgbClr val="000000"/>
                          </a:solidFill>
                          <a:latin typeface="Calibri"/>
                        </a:rPr>
                        <a:t>AVI sinks (raw/boost/speckle)</a:t>
                      </a:r>
                    </a:p>
                  </a:txBody>
                  <a:tcPr/>
                </a:tc>
                <a:tc>
                  <a:txBody>
                    <a:bodyPr lIns="54864" rIns="54864" tIns="18288" bIns="18288" wrap="square" anchor="ctr"/>
                    <a:lstStyle/>
                    <a:p>
                      <a:pPr algn="l"/>
                      <a:r>
                        <a:rPr sz="900" b="0">
                          <a:solidFill>
                            <a:srgbClr val="000000"/>
                          </a:solidFill>
                          <a:latin typeface="Calibri"/>
                        </a:rPr>
                        <a:t>1227 / 1227 / 1227</a:t>
                      </a:r>
                    </a:p>
                  </a:txBody>
                  <a:tcPr/>
                </a:tc>
                <a:tc>
                  <a:txBody>
                    <a:bodyPr lIns="54864" rIns="54864" tIns="18288" bIns="18288" wrap="square" anchor="ctr"/>
                    <a:lstStyle/>
                    <a:p>
                      <a:pPr algn="l"/>
                      <a:r>
                        <a:rPr sz="900" b="0">
                          <a:solidFill>
                            <a:srgbClr val="000000"/>
                          </a:solidFill>
                          <a:latin typeface="Calibri"/>
                        </a:rPr>
                        <a:t>1280 / 1280 / 1280</a:t>
                      </a:r>
                    </a:p>
                  </a:txBody>
                  <a:tcPr/>
                </a:tc>
                <a:tc>
                  <a:txBody>
                    <a:bodyPr lIns="54864" rIns="54864" tIns="18288" bIns="18288" wrap="square" anchor="ctr"/>
                    <a:lstStyle/>
                    <a:p>
                      <a:pPr algn="l"/>
                      <a:r>
                        <a:rPr sz="900" b="0">
                          <a:solidFill>
                            <a:srgbClr val="000000"/>
                          </a:solidFill>
                          <a:latin typeface="Calibri"/>
                        </a:rPr>
                        <a:t>—</a:t>
                      </a:r>
                    </a:p>
                  </a:txBody>
                  <a:tcPr/>
                </a:tc>
              </a:tr>
              <a:tr h="306977">
                <a:tc>
                  <a:txBody>
                    <a:bodyPr lIns="54864" rIns="54864" tIns="18288" bIns="18288" wrap="square" anchor="ctr"/>
                    <a:lstStyle/>
                    <a:p>
                      <a:pPr algn="l"/>
                      <a:r>
                        <a:rPr sz="900" b="0">
                          <a:solidFill>
                            <a:srgbClr val="000000"/>
                          </a:solidFill>
                          <a:latin typeface="Calibri"/>
                        </a:rPr>
                        <a:t>All sinks equal</a:t>
                      </a:r>
                    </a:p>
                  </a:txBody>
                  <a:tcPr/>
                </a:tc>
                <a:tc>
                  <a:txBody>
                    <a:bodyPr lIns="54864" rIns="54864" tIns="18288" bIns="18288" wrap="square" anchor="ctr"/>
                    <a:lstStyle/>
                    <a:p>
                      <a:pPr algn="l"/>
                      <a:r>
                        <a:rPr sz="900" b="0">
                          <a:solidFill>
                            <a:srgbClr val="000000"/>
                          </a:solidFill>
                          <a:latin typeface="Calibri"/>
                        </a:rPr>
                        <a:t>yes</a:t>
                      </a:r>
                    </a:p>
                  </a:txBody>
                  <a:tcPr/>
                </a:tc>
                <a:tc>
                  <a:txBody>
                    <a:bodyPr lIns="54864" rIns="54864" tIns="18288" bIns="18288" wrap="square" anchor="ctr"/>
                    <a:lstStyle/>
                    <a:p>
                      <a:pPr algn="l"/>
                      <a:r>
                        <a:rPr sz="900" b="0">
                          <a:solidFill>
                            <a:srgbClr val="000000"/>
                          </a:solidFill>
                          <a:latin typeface="Calibri"/>
                        </a:rPr>
                        <a:t>yes</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00" b="0">
                          <a:solidFill>
                            <a:srgbClr val="000000"/>
                          </a:solidFill>
                          <a:latin typeface="Calibri"/>
                        </a:rPr>
                        <a:t>Dropped frames</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7">
                <a:tc>
                  <a:txBody>
                    <a:bodyPr lIns="54864" rIns="54864" tIns="18288" bIns="18288" wrap="square" anchor="ctr"/>
                    <a:lstStyle/>
                    <a:p>
                      <a:pPr algn="l"/>
                      <a:r>
                        <a:rPr sz="900" b="0">
                          <a:solidFill>
                            <a:srgbClr val="000000"/>
                          </a:solidFill>
                          <a:latin typeface="Calibri"/>
                        </a:rPr>
                        <a:t>Rate</a:t>
                      </a:r>
                    </a:p>
                  </a:txBody>
                  <a:tcPr/>
                </a:tc>
                <a:tc>
                  <a:txBody>
                    <a:bodyPr lIns="54864" rIns="54864" tIns="18288" bIns="18288" wrap="square" anchor="ctr"/>
                    <a:lstStyle/>
                    <a:p>
                      <a:pPr algn="l"/>
                      <a:r>
                        <a:rPr sz="900" b="0">
                          <a:solidFill>
                            <a:srgbClr val="000000"/>
                          </a:solidFill>
                          <a:latin typeface="Calibri"/>
                        </a:rPr>
                        <a:t>19.9 fps</a:t>
                      </a:r>
                    </a:p>
                  </a:txBody>
                  <a:tcPr/>
                </a:tc>
                <a:tc>
                  <a:txBody>
                    <a:bodyPr lIns="54864" rIns="54864" tIns="18288" bIns="18288" wrap="square" anchor="ctr"/>
                    <a:lstStyle/>
                    <a:p>
                      <a:pPr algn="l"/>
                      <a:r>
                        <a:rPr sz="900" b="0">
                          <a:solidFill>
                            <a:srgbClr val="000000"/>
                          </a:solidFill>
                          <a:latin typeface="Calibri"/>
                        </a:rPr>
                        <a:t>19.9 fps</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r h="306978">
                <a:tc>
                  <a:txBody>
                    <a:bodyPr lIns="54864" rIns="54864" tIns="18288" bIns="18288" wrap="square" anchor="ctr"/>
                    <a:lstStyle/>
                    <a:p>
                      <a:pPr algn="l"/>
                      <a:r>
                        <a:rPr sz="900" b="0">
                          <a:solidFill>
                            <a:srgbClr val="000000"/>
                          </a:solidFill>
                          <a:latin typeface="Calibri"/>
                        </a:rPr>
                        <a:t>DIC coverage</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98 %</a:t>
                      </a:r>
                    </a:p>
                  </a:txBody>
                  <a:tcPr/>
                </a:tc>
                <a:tc>
                  <a:txBody>
                    <a:bodyPr lIns="54864" rIns="54864" tIns="18288" bIns="18288" wrap="square" anchor="ctr"/>
                    <a:lstStyle/>
                    <a:p>
                      <a:pPr algn="l"/>
                      <a:r>
                        <a:rPr sz="900" b="1">
                          <a:solidFill>
                            <a:srgbClr val="000000"/>
                          </a:solidFill>
                          <a:latin typeface="Calibri"/>
                        </a:rPr>
                        <a:t>PASS</a:t>
                      </a:r>
                    </a:p>
                  </a:txBody>
                  <a:tcPr>
                    <a:solidFill>
                      <a:srgbClr val="C8E6C9"/>
                    </a:solidFill>
                  </a:tcPr>
                </a:tc>
              </a:tr>
            </a:tbl>
          </a:graphicData>
        </a:graphic>
      </p:graphicFrame>
      <p:sp>
        <p:nvSpPr>
          <p:cNvPr id="14" name="TextBox 13"/>
          <p:cNvSpPr txBox="1"/>
          <p:nvPr/>
        </p:nvSpPr>
        <p:spPr>
          <a:xfrm>
            <a:off x="6263640" y="28346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Which CSV is canonical</a:t>
            </a:r>
          </a:p>
        </p:txBody>
      </p:sp>
      <p:sp>
        <p:nvSpPr>
          <p:cNvPr id="15" name="TextBox 14"/>
          <p:cNvSpPr txBox="1"/>
          <p:nvPr/>
        </p:nvSpPr>
        <p:spPr>
          <a:xfrm>
            <a:off x="6263640" y="3172968"/>
            <a:ext cx="5577840" cy="2148840"/>
          </a:xfrm>
          <a:prstGeom prst="rect">
            <a:avLst/>
          </a:prstGeom>
          <a:noFill/>
        </p:spPr>
        <p:txBody>
          <a:bodyPr wrap="square" lIns="45720" rIns="45720" tIns="18288" bIns="18288" anchor="t">
            <a:spAutoFit/>
          </a:bodyPr>
          <a:lstStyle/>
          <a:p>
            <a:pPr algn="l"/>
            <a:r>
              <a:rPr sz="1050" b="0" i="0">
                <a:solidFill>
                  <a:srgbClr val="000000"/>
                </a:solidFill>
                <a:latin typeface="Calibri"/>
              </a:rPr>
              <a:t>Both folders hold several CSVs — S27 has two, S28 three. They are not separate tests: the plot buffer keeps growing while the rig idles, so each later save is the SAME run with a longer tail. analyze() trims to the test window and returns identical numbers from any of them.
The capture link is not identical, though. run.json names ONE csv, and that is the one taken as canonical here — S27 → …155639.csv, S28 → …161046.csv. The descriptively-named saves are earlier snapshots of the same data.
The duplicates were also auto-registered, so the registry carried the same specimen two and three times; that is cleaned up as part of this analysis.</a:t>
            </a:r>
          </a:p>
        </p:txBody>
      </p:sp>
      <p:sp>
        <p:nvSpPr>
          <p:cNvPr id="16" name="Rectangle 15"/>
          <p:cNvSpPr/>
          <p:nvPr/>
        </p:nvSpPr>
        <p:spPr>
          <a:xfrm>
            <a:off x="365760" y="553212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PASS — 2507 stills and 3 × that in AVI frames across both runs, zero dropped, all sinks in step, DIC coverage 100 % and 98 %. Both videos are usable as extensometer input.</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Software/UTM_PyQt6/Test data/8.6.20 - Tensile test to Failure/Specimen_S27_V1_Spray_Video4/ and …_S28_…_Video5/. Frame counts and rates recomputed at build time.</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HOW REPEATABLE IS A 50 % SPECIMEN?</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left panel is two curves, not one — they overlay almost exactly. The right panel puts that beside the 100 % pair measured under the identical protocol, which is the only fair way to say whether 0.4 % is good.</a:t>
            </a:r>
          </a:p>
        </p:txBody>
      </p:sp>
      <p:pic>
        <p:nvPicPr>
          <p:cNvPr id="6" name="Picture 5" descr="s27_s28_pair.png"/>
          <p:cNvPicPr>
            <a:picLocks noChangeAspect="1"/>
          </p:cNvPicPr>
          <p:nvPr/>
        </p:nvPicPr>
        <p:blipFill>
          <a:blip r:embed="rId2"/>
          <a:stretch>
            <a:fillRect/>
          </a:stretch>
        </p:blipFill>
        <p:spPr>
          <a:xfrm>
            <a:off x="365760" y="1691640"/>
            <a:ext cx="11475720" cy="3718284"/>
          </a:xfrm>
          <a:prstGeom prst="rect">
            <a:avLst/>
          </a:prstGeom>
        </p:spPr>
      </p:pic>
      <p:sp>
        <p:nvSpPr>
          <p:cNvPr id="7" name="Rectangle 6"/>
          <p:cNvSpPr/>
          <p:nvPr/>
        </p:nvSpPr>
        <p:spPr>
          <a:xfrm>
            <a:off x="365760" y="5532120"/>
            <a:ext cx="11475720" cy="77724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The 50 % pair agrees to 0.4 % on UTS and 8.4 % on E, against 2.2 % and 11.4 % for the 100 % pair — better on all four properties. With n = 2 in each group this is an observation about these four specimens, not a demonstrated property of infill; p238 explains what does follow from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Circles mark UTS. Right panel: |S27 − S28| and |S25 − S26|, each as a percentage of its own pair mean.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INFILL KNOCK-DOWN FACTOR — 50 % vs 100 %</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k = datasheet ÷ measured. It answers the question that has followed this campaign since V5: when our PLA reads below literature, is that the RIG or the SPECIMEN? A 100 % specimen is close to solid material, so if the rig were the problem it would read low there too.</a:t>
            </a:r>
          </a:p>
        </p:txBody>
      </p:sp>
      <p:pic>
        <p:nvPicPr>
          <p:cNvPr id="6" name="Picture 5" descr="infill_knockdown.png"/>
          <p:cNvPicPr>
            <a:picLocks noChangeAspect="1"/>
          </p:cNvPicPr>
          <p:nvPr/>
        </p:nvPicPr>
        <p:blipFill>
          <a:blip r:embed="rId2"/>
          <a:stretch>
            <a:fillRect/>
          </a:stretch>
        </p:blipFill>
        <p:spPr>
          <a:xfrm>
            <a:off x="365760" y="1691640"/>
            <a:ext cx="11475720" cy="3944779"/>
          </a:xfrm>
          <a:prstGeom prst="rect">
            <a:avLst/>
          </a:prstGeom>
        </p:spPr>
      </p:pic>
      <p:sp>
        <p:nvSpPr>
          <p:cNvPr id="7" name="Rectangle 6"/>
          <p:cNvSpPr/>
          <p:nvPr/>
        </p:nvSpPr>
        <p:spPr>
          <a:xfrm>
            <a:off x="365760" y="571500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200" b="1">
                <a:solidFill>
                  <a:srgbClr val="1F3F2F"/>
                </a:solidFill>
                <a:latin typeface="Calibri"/>
              </a:rPr>
              <a:t>100 % infill lands at k = 1.24 on UTS and 0.85 on E — essentially solid material. 50 % needs k = 2.92. The rig is not the reason the 50 % numbers are low; the specimens are half air.</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Reference: add:north E-PLA TDS — 58 MPa, 2.87 GPa. Earlier campaign figures quoted k ≈ 2.4 for 50 % against Chacón (2017); the difference is which reference, not which specimens.</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 THE NUMBERS, AND EVERY RUN ON RECORD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Left: the four capture runs. Right: every fracture test in the registry at each infill, as context for whether this pair is typical.</a:t>
            </a:r>
          </a:p>
        </p:txBody>
      </p:sp>
      <p:graphicFrame>
        <p:nvGraphicFramePr>
          <p:cNvPr id="6" name="Table 5"/>
          <p:cNvGraphicFramePr>
            <a:graphicFrameLocks noGrp="1"/>
          </p:cNvGraphicFramePr>
          <p:nvPr/>
        </p:nvGraphicFramePr>
        <p:xfrm>
          <a:off x="365760" y="1536192"/>
          <a:ext cx="6583679" cy="2331720"/>
        </p:xfrm>
        <a:graphic>
          <a:graphicData uri="http://schemas.openxmlformats.org/drawingml/2006/table">
            <a:tbl>
              <a:tblPr firstRow="1" bandRow="1">
                <a:tableStyleId>{5C22544A-7EE6-4342-B048-85BDC9FD1C3A}</a:tableStyleId>
              </a:tblPr>
              <a:tblGrid>
                <a:gridCol w="1710046"/>
                <a:gridCol w="1026028"/>
                <a:gridCol w="1026028"/>
                <a:gridCol w="1026028"/>
                <a:gridCol w="1026028"/>
                <a:gridCol w="769521"/>
              </a:tblGrid>
              <a:tr h="333102">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S27 · 50 %</a:t>
                      </a:r>
                    </a:p>
                  </a:txBody>
                  <a:tcPr>
                    <a:solidFill>
                      <a:srgbClr val="143D2F"/>
                    </a:solidFill>
                  </a:tcPr>
                </a:tc>
                <a:tc>
                  <a:txBody>
                    <a:bodyPr lIns="54864" rIns="54864" tIns="18288" bIns="18288" wrap="square" anchor="ctr"/>
                    <a:lstStyle/>
                    <a:p>
                      <a:pPr algn="l"/>
                      <a:r>
                        <a:rPr sz="950" b="1">
                          <a:solidFill>
                            <a:srgbClr val="FFFFFF"/>
                          </a:solidFill>
                          <a:latin typeface="Calibri"/>
                        </a:rPr>
                        <a:t>S28 · 50 %</a:t>
                      </a:r>
                    </a:p>
                  </a:txBody>
                  <a:tcPr>
                    <a:solidFill>
                      <a:srgbClr val="143D2F"/>
                    </a:solidFill>
                  </a:tcPr>
                </a:tc>
                <a:tc>
                  <a:txBody>
                    <a:bodyPr lIns="54864" rIns="54864" tIns="18288" bIns="18288" wrap="square" anchor="ctr"/>
                    <a:lstStyle/>
                    <a:p>
                      <a:pPr algn="l"/>
                      <a:r>
                        <a:rPr sz="950" b="1">
                          <a:solidFill>
                            <a:srgbClr val="FFFFFF"/>
                          </a:solidFill>
                          <a:latin typeface="Calibri"/>
                        </a:rPr>
                        <a:t>50 % mean</a:t>
                      </a:r>
                    </a:p>
                  </a:txBody>
                  <a:tcPr>
                    <a:solidFill>
                      <a:srgbClr val="143D2F"/>
                    </a:solidFill>
                  </a:tcPr>
                </a:tc>
                <a:tc>
                  <a:txBody>
                    <a:bodyPr lIns="54864" rIns="54864" tIns="18288" bIns="18288" wrap="square" anchor="ctr"/>
                    <a:lstStyle/>
                    <a:p>
                      <a:pPr algn="l"/>
                      <a:r>
                        <a:rPr sz="950" b="1">
                          <a:solidFill>
                            <a:srgbClr val="FFFFFF"/>
                          </a:solidFill>
                          <a:latin typeface="Calibri"/>
                        </a:rPr>
                        <a:t>100 % mean</a:t>
                      </a:r>
                    </a:p>
                  </a:txBody>
                  <a:tcPr>
                    <a:solidFill>
                      <a:srgbClr val="143D2F"/>
                    </a:solidFill>
                  </a:tcPr>
                </a:tc>
                <a:tc>
                  <a:txBody>
                    <a:bodyPr lIns="54864" rIns="54864" tIns="18288" bIns="18288" wrap="square" anchor="ctr"/>
                    <a:lstStyle/>
                    <a:p>
                      <a:pPr algn="l"/>
                      <a:r>
                        <a:rPr sz="950" b="1">
                          <a:solidFill>
                            <a:srgbClr val="FFFFFF"/>
                          </a:solidFill>
                          <a:latin typeface="Calibri"/>
                        </a:rPr>
                        <a:t>ratio</a:t>
                      </a:r>
                    </a:p>
                  </a:txBody>
                  <a:tcPr>
                    <a:solidFill>
                      <a:srgbClr val="143D2F"/>
                    </a:solidFill>
                  </a:tcPr>
                </a:tc>
              </a:tr>
              <a:tr h="333102">
                <a:tc>
                  <a:txBody>
                    <a:bodyPr lIns="54864" rIns="54864" tIns="18288" bIns="18288" wrap="square" anchor="ctr"/>
                    <a:lstStyle/>
                    <a:p>
                      <a:pPr algn="l"/>
                      <a:r>
                        <a:rPr sz="950" b="0">
                          <a:solidFill>
                            <a:srgbClr val="000000"/>
                          </a:solidFill>
                          <a:latin typeface="Calibri"/>
                        </a:rPr>
                        <a:t>UTS  (MPa)</a:t>
                      </a:r>
                    </a:p>
                  </a:txBody>
                  <a:tcPr/>
                </a:tc>
                <a:tc>
                  <a:txBody>
                    <a:bodyPr lIns="54864" rIns="54864" tIns="18288" bIns="18288" wrap="square" anchor="ctr"/>
                    <a:lstStyle/>
                    <a:p>
                      <a:pPr algn="l"/>
                      <a:r>
                        <a:rPr sz="950" b="0">
                          <a:solidFill>
                            <a:srgbClr val="000000"/>
                          </a:solidFill>
                          <a:latin typeface="Calibri"/>
                        </a:rPr>
                        <a:t>19.85</a:t>
                      </a:r>
                    </a:p>
                  </a:txBody>
                  <a:tcPr/>
                </a:tc>
                <a:tc>
                  <a:txBody>
                    <a:bodyPr lIns="54864" rIns="54864" tIns="18288" bIns="18288" wrap="square" anchor="ctr"/>
                    <a:lstStyle/>
                    <a:p>
                      <a:pPr algn="l"/>
                      <a:r>
                        <a:rPr sz="950" b="0">
                          <a:solidFill>
                            <a:srgbClr val="000000"/>
                          </a:solidFill>
                          <a:latin typeface="Calibri"/>
                        </a:rPr>
                        <a:t>19.93</a:t>
                      </a:r>
                    </a:p>
                  </a:txBody>
                  <a:tcPr/>
                </a:tc>
                <a:tc>
                  <a:txBody>
                    <a:bodyPr lIns="54864" rIns="54864" tIns="18288" bIns="18288" wrap="square" anchor="ctr"/>
                    <a:lstStyle/>
                    <a:p>
                      <a:pPr algn="l"/>
                      <a:r>
                        <a:rPr sz="950" b="0">
                          <a:solidFill>
                            <a:srgbClr val="000000"/>
                          </a:solidFill>
                          <a:latin typeface="Calibri"/>
                        </a:rPr>
                        <a:t>19.89</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1">
                          <a:solidFill>
                            <a:srgbClr val="000000"/>
                          </a:solidFill>
                          <a:latin typeface="Calibri"/>
                        </a:rPr>
                        <a:t>2.35×</a:t>
                      </a:r>
                    </a:p>
                  </a:txBody>
                  <a:tcPr>
                    <a:solidFill>
                      <a:srgbClr val="C8E6C9"/>
                    </a:solidFill>
                  </a:tcPr>
                </a:tc>
              </a:tr>
              <a:tr h="333102">
                <a:tc>
                  <a:txBody>
                    <a:bodyPr lIns="54864" rIns="54864" tIns="18288" bIns="18288" wrap="square" anchor="ctr"/>
                    <a:lstStyle/>
                    <a:p>
                      <a:pPr algn="l"/>
                      <a:r>
                        <a:rPr sz="950" b="0">
                          <a:solidFill>
                            <a:srgbClr val="000000"/>
                          </a:solidFill>
                          <a:latin typeface="Calibri"/>
                        </a:rPr>
                        <a:t>σ_y 0.2 %  (MPa)</a:t>
                      </a:r>
                    </a:p>
                  </a:txBody>
                  <a:tcPr/>
                </a:tc>
                <a:tc>
                  <a:txBody>
                    <a:bodyPr lIns="54864" rIns="54864" tIns="18288" bIns="18288" wrap="square" anchor="ctr"/>
                    <a:lstStyle/>
                    <a:p>
                      <a:pPr algn="l"/>
                      <a:r>
                        <a:rPr sz="950" b="0">
                          <a:solidFill>
                            <a:srgbClr val="000000"/>
                          </a:solidFill>
                          <a:latin typeface="Calibri"/>
                        </a:rPr>
                        <a:t>18.83</a:t>
                      </a:r>
                    </a:p>
                  </a:txBody>
                  <a:tcPr/>
                </a:tc>
                <a:tc>
                  <a:txBody>
                    <a:bodyPr lIns="54864" rIns="54864" tIns="18288" bIns="18288" wrap="square" anchor="ctr"/>
                    <a:lstStyle/>
                    <a:p>
                      <a:pPr algn="l"/>
                      <a:r>
                        <a:rPr sz="950" b="0">
                          <a:solidFill>
                            <a:srgbClr val="000000"/>
                          </a:solidFill>
                          <a:latin typeface="Calibri"/>
                        </a:rPr>
                        <a:t>18.33</a:t>
                      </a:r>
                    </a:p>
                  </a:txBody>
                  <a:tcPr/>
                </a:tc>
                <a:tc>
                  <a:txBody>
                    <a:bodyPr lIns="54864" rIns="54864" tIns="18288" bIns="18288" wrap="square" anchor="ctr"/>
                    <a:lstStyle/>
                    <a:p>
                      <a:pPr algn="l"/>
                      <a:r>
                        <a:rPr sz="950" b="0">
                          <a:solidFill>
                            <a:srgbClr val="000000"/>
                          </a:solidFill>
                          <a:latin typeface="Calibri"/>
                        </a:rPr>
                        <a:t>18.58</a:t>
                      </a:r>
                    </a:p>
                  </a:txBody>
                  <a:tcPr/>
                </a:tc>
                <a:tc>
                  <a:txBody>
                    <a:bodyPr lIns="54864" rIns="54864" tIns="18288" bIns="18288" wrap="square" anchor="ctr"/>
                    <a:lstStyle/>
                    <a:p>
                      <a:pPr algn="l"/>
                      <a:r>
                        <a:rPr sz="950" b="0">
                          <a:solidFill>
                            <a:srgbClr val="000000"/>
                          </a:solidFill>
                          <a:latin typeface="Calibri"/>
                        </a:rPr>
                        <a:t>40.78</a:t>
                      </a:r>
                    </a:p>
                  </a:txBody>
                  <a:tcPr/>
                </a:tc>
                <a:tc>
                  <a:txBody>
                    <a:bodyPr lIns="54864" rIns="54864" tIns="18288" bIns="18288" wrap="square" anchor="ctr"/>
                    <a:lstStyle/>
                    <a:p>
                      <a:pPr algn="l"/>
                      <a:r>
                        <a:rPr sz="950" b="0">
                          <a:solidFill>
                            <a:srgbClr val="000000"/>
                          </a:solidFill>
                          <a:latin typeface="Calibri"/>
                        </a:rPr>
                        <a:t>2.19×</a:t>
                      </a:r>
                    </a:p>
                  </a:txBody>
                  <a:tcPr/>
                </a:tc>
              </a:tr>
              <a:tr h="333102">
                <a:tc>
                  <a:txBody>
                    <a:bodyPr lIns="54864" rIns="54864" tIns="18288" bIns="18288" wrap="square" anchor="ctr"/>
                    <a:lstStyle/>
                    <a:p>
                      <a:pPr algn="l"/>
                      <a:r>
                        <a:rPr sz="950" b="0">
                          <a:solidFill>
                            <a:srgbClr val="000000"/>
                          </a:solidFill>
                          <a:latin typeface="Calibri"/>
                        </a:rPr>
                        <a:t>E  (GPa)</a:t>
                      </a:r>
                    </a:p>
                  </a:txBody>
                  <a:tcPr/>
                </a:tc>
                <a:tc>
                  <a:txBody>
                    <a:bodyPr lIns="54864" rIns="54864" tIns="18288" bIns="18288" wrap="square" anchor="ctr"/>
                    <a:lstStyle/>
                    <a:p>
                      <a:pPr algn="l"/>
                      <a:r>
                        <a:rPr sz="950" b="0">
                          <a:solidFill>
                            <a:srgbClr val="000000"/>
                          </a:solidFill>
                          <a:latin typeface="Calibri"/>
                        </a:rPr>
                        <a:t>1.395</a:t>
                      </a:r>
                    </a:p>
                  </a:txBody>
                  <a:tcPr/>
                </a:tc>
                <a:tc>
                  <a:txBody>
                    <a:bodyPr lIns="54864" rIns="54864" tIns="18288" bIns="18288" wrap="square" anchor="ctr"/>
                    <a:lstStyle/>
                    <a:p>
                      <a:pPr algn="l"/>
                      <a:r>
                        <a:rPr sz="950" b="0">
                          <a:solidFill>
                            <a:srgbClr val="000000"/>
                          </a:solidFill>
                          <a:latin typeface="Calibri"/>
                        </a:rPr>
                        <a:t>1.282</a:t>
                      </a:r>
                    </a:p>
                  </a:txBody>
                  <a:tcPr/>
                </a:tc>
                <a:tc>
                  <a:txBody>
                    <a:bodyPr lIns="54864" rIns="54864" tIns="18288" bIns="18288" wrap="square" anchor="ctr"/>
                    <a:lstStyle/>
                    <a:p>
                      <a:pPr algn="l"/>
                      <a:r>
                        <a:rPr sz="950" b="0">
                          <a:solidFill>
                            <a:srgbClr val="000000"/>
                          </a:solidFill>
                          <a:latin typeface="Calibri"/>
                        </a:rPr>
                        <a:t>1.339</a:t>
                      </a:r>
                    </a:p>
                  </a:txBody>
                  <a:tcPr/>
                </a:tc>
                <a:tc>
                  <a:txBody>
                    <a:bodyPr lIns="54864" rIns="54864" tIns="18288" bIns="18288" wrap="square" anchor="ctr"/>
                    <a:lstStyle/>
                    <a:p>
                      <a:pPr algn="l"/>
                      <a:r>
                        <a:rPr sz="950" b="0">
                          <a:solidFill>
                            <a:srgbClr val="000000"/>
                          </a:solidFill>
                          <a:latin typeface="Calibri"/>
                        </a:rPr>
                        <a:t>3.358</a:t>
                      </a:r>
                    </a:p>
                  </a:txBody>
                  <a:tcPr/>
                </a:tc>
                <a:tc>
                  <a:txBody>
                    <a:bodyPr lIns="54864" rIns="54864" tIns="18288" bIns="18288" wrap="square" anchor="ctr"/>
                    <a:lstStyle/>
                    <a:p>
                      <a:pPr algn="l"/>
                      <a:r>
                        <a:rPr sz="950" b="0">
                          <a:solidFill>
                            <a:srgbClr val="000000"/>
                          </a:solidFill>
                          <a:latin typeface="Calibri"/>
                        </a:rPr>
                        <a:t>2.51×</a:t>
                      </a:r>
                    </a:p>
                  </a:txBody>
                  <a:tcPr/>
                </a:tc>
              </a:tr>
              <a:tr h="333102">
                <a:tc>
                  <a:txBody>
                    <a:bodyPr lIns="54864" rIns="54864" tIns="18288" bIns="18288" wrap="square" anchor="ctr"/>
                    <a:lstStyle/>
                    <a:p>
                      <a:pPr algn="l"/>
                      <a:r>
                        <a:rPr sz="950" b="0">
                          <a:solidFill>
                            <a:srgbClr val="000000"/>
                          </a:solidFill>
                          <a:latin typeface="Calibri"/>
                        </a:rPr>
                        <a:t>ε_f  (%)</a:t>
                      </a:r>
                    </a:p>
                  </a:txBody>
                  <a:tcPr/>
                </a:tc>
                <a:tc>
                  <a:txBody>
                    <a:bodyPr lIns="54864" rIns="54864" tIns="18288" bIns="18288" wrap="square" anchor="ctr"/>
                    <a:lstStyle/>
                    <a:p>
                      <a:pPr algn="l"/>
                      <a:r>
                        <a:rPr sz="950" b="0">
                          <a:solidFill>
                            <a:srgbClr val="000000"/>
                          </a:solidFill>
                          <a:latin typeface="Calibri"/>
                        </a:rPr>
                        <a:t>3.97</a:t>
                      </a:r>
                    </a:p>
                  </a:txBody>
                  <a:tcPr/>
                </a:tc>
                <a:tc>
                  <a:txBody>
                    <a:bodyPr lIns="54864" rIns="54864" tIns="18288" bIns="18288" wrap="square" anchor="ctr"/>
                    <a:lstStyle/>
                    <a:p>
                      <a:pPr algn="l"/>
                      <a:r>
                        <a:rPr sz="950" b="0">
                          <a:solidFill>
                            <a:srgbClr val="000000"/>
                          </a:solidFill>
                          <a:latin typeface="Calibri"/>
                        </a:rPr>
                        <a:t>4.20</a:t>
                      </a:r>
                    </a:p>
                  </a:txBody>
                  <a:tcPr/>
                </a:tc>
                <a:tc>
                  <a:txBody>
                    <a:bodyPr lIns="54864" rIns="54864" tIns="18288" bIns="18288" wrap="square" anchor="ctr"/>
                    <a:lstStyle/>
                    <a:p>
                      <a:pPr algn="l"/>
                      <a:r>
                        <a:rPr sz="950" b="0">
                          <a:solidFill>
                            <a:srgbClr val="000000"/>
                          </a:solidFill>
                          <a:latin typeface="Calibri"/>
                        </a:rPr>
                        <a:t>4.09</a:t>
                      </a:r>
                    </a:p>
                  </a:txBody>
                  <a:tcPr/>
                </a:tc>
                <a:tc>
                  <a:txBody>
                    <a:bodyPr lIns="54864" rIns="54864" tIns="18288" bIns="18288" wrap="square" anchor="ctr"/>
                    <a:lstStyle/>
                    <a:p>
                      <a:pPr algn="l"/>
                      <a:r>
                        <a:rPr sz="950" b="0">
                          <a:solidFill>
                            <a:srgbClr val="000000"/>
                          </a:solidFill>
                          <a:latin typeface="Calibri"/>
                        </a:rPr>
                        <a:t>4.96</a:t>
                      </a:r>
                    </a:p>
                  </a:txBody>
                  <a:tcPr/>
                </a:tc>
                <a:tc>
                  <a:txBody>
                    <a:bodyPr lIns="54864" rIns="54864" tIns="18288" bIns="18288" wrap="square" anchor="ctr"/>
                    <a:lstStyle/>
                    <a:p>
                      <a:pPr algn="l"/>
                      <a:r>
                        <a:rPr sz="950" b="0">
                          <a:solidFill>
                            <a:srgbClr val="000000"/>
                          </a:solidFill>
                          <a:latin typeface="Calibri"/>
                        </a:rPr>
                        <a:t>1.21×</a:t>
                      </a:r>
                    </a:p>
                  </a:txBody>
                  <a:tcPr/>
                </a:tc>
              </a:tr>
              <a:tr h="333102">
                <a:tc>
                  <a:txBody>
                    <a:bodyPr lIns="54864" rIns="54864" tIns="18288" bIns="18288" wrap="square" anchor="ctr"/>
                    <a:lstStyle/>
                    <a:p>
                      <a:pPr algn="l"/>
                      <a:r>
                        <a:rPr sz="950" b="0">
                          <a:solidFill>
                            <a:srgbClr val="000000"/>
                          </a:solidFill>
                          <a:latin typeface="Calibri"/>
                        </a:rPr>
                        <a:t>Toughness  (kJ/m³)</a:t>
                      </a:r>
                    </a:p>
                  </a:txBody>
                  <a:tcPr/>
                </a:tc>
                <a:tc>
                  <a:txBody>
                    <a:bodyPr lIns="54864" rIns="54864" tIns="18288" bIns="18288" wrap="square" anchor="ctr"/>
                    <a:lstStyle/>
                    <a:p>
                      <a:pPr algn="l"/>
                      <a:r>
                        <a:rPr sz="950" b="0">
                          <a:solidFill>
                            <a:srgbClr val="000000"/>
                          </a:solidFill>
                          <a:latin typeface="Calibri"/>
                        </a:rPr>
                        <a:t>676</a:t>
                      </a:r>
                    </a:p>
                  </a:txBody>
                  <a:tcPr/>
                </a:tc>
                <a:tc>
                  <a:txBody>
                    <a:bodyPr lIns="54864" rIns="54864" tIns="18288" bIns="18288" wrap="square" anchor="ctr"/>
                    <a:lstStyle/>
                    <a:p>
                      <a:pPr algn="l"/>
                      <a:r>
                        <a:rPr sz="950" b="0">
                          <a:solidFill>
                            <a:srgbClr val="000000"/>
                          </a:solidFill>
                          <a:latin typeface="Calibri"/>
                        </a:rPr>
                        <a:t>745</a:t>
                      </a:r>
                    </a:p>
                  </a:txBody>
                  <a:tcPr/>
                </a:tc>
                <a:tc>
                  <a:txBody>
                    <a:bodyPr lIns="54864" rIns="54864" tIns="18288" bIns="18288" wrap="square" anchor="ctr"/>
                    <a:lstStyle/>
                    <a:p>
                      <a:pPr algn="l"/>
                      <a:r>
                        <a:rPr sz="950" b="0">
                          <a:solidFill>
                            <a:srgbClr val="000000"/>
                          </a:solidFill>
                          <a:latin typeface="Calibri"/>
                        </a:rPr>
                        <a:t>710</a:t>
                      </a:r>
                    </a:p>
                  </a:txBody>
                  <a:tcPr/>
                </a:tc>
                <a:tc>
                  <a:txBody>
                    <a:bodyPr lIns="54864" rIns="54864" tIns="18288" bIns="18288" wrap="square" anchor="ctr"/>
                    <a:lstStyle/>
                    <a:p>
                      <a:pPr algn="l"/>
                      <a:r>
                        <a:rPr sz="950" b="0">
                          <a:solidFill>
                            <a:srgbClr val="000000"/>
                          </a:solidFill>
                          <a:latin typeface="Calibri"/>
                        </a:rPr>
                        <a:t>1936</a:t>
                      </a:r>
                    </a:p>
                  </a:txBody>
                  <a:tcPr/>
                </a:tc>
                <a:tc>
                  <a:txBody>
                    <a:bodyPr lIns="54864" rIns="54864" tIns="18288" bIns="18288" wrap="square" anchor="ctr"/>
                    <a:lstStyle/>
                    <a:p>
                      <a:pPr algn="l"/>
                      <a:r>
                        <a:rPr sz="950" b="0">
                          <a:solidFill>
                            <a:srgbClr val="000000"/>
                          </a:solidFill>
                          <a:latin typeface="Calibri"/>
                        </a:rPr>
                        <a:t>2.73×</a:t>
                      </a:r>
                    </a:p>
                  </a:txBody>
                  <a:tcPr/>
                </a:tc>
              </a:tr>
              <a:tr h="333108">
                <a:tc>
                  <a:txBody>
                    <a:bodyPr lIns="54864" rIns="54864" tIns="18288" bIns="18288" wrap="square" anchor="ctr"/>
                    <a:lstStyle/>
                    <a:p>
                      <a:pPr algn="l"/>
                      <a:r>
                        <a:rPr sz="950" b="0">
                          <a:solidFill>
                            <a:srgbClr val="000000"/>
                          </a:solidFill>
                          <a:latin typeface="Calibri"/>
                        </a:rPr>
                        <a:t>knock-down k (vs TDS)</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2.92</a:t>
                      </a:r>
                    </a:p>
                  </a:txBody>
                  <a:tcPr/>
                </a:tc>
                <a:tc>
                  <a:txBody>
                    <a:bodyPr lIns="54864" rIns="54864" tIns="18288" bIns="18288" wrap="square" anchor="ctr"/>
                    <a:lstStyle/>
                    <a:p>
                      <a:pPr algn="l"/>
                      <a:r>
                        <a:rPr sz="950" b="1">
                          <a:solidFill>
                            <a:srgbClr val="000000"/>
                          </a:solidFill>
                          <a:latin typeface="Calibri"/>
                        </a:rPr>
                        <a:t>1.24</a:t>
                      </a:r>
                    </a:p>
                  </a:txBody>
                  <a:tcPr>
                    <a:solidFill>
                      <a:srgbClr val="C8E6C9"/>
                    </a:solidFill>
                  </a:tcPr>
                </a:tc>
                <a:tc>
                  <a:txBody>
                    <a:bodyPr lIns="54864" rIns="54864" tIns="18288" bIns="18288" wrap="square" anchor="ctr"/>
                    <a:lstStyle/>
                    <a:p>
                      <a:pPr algn="l"/>
                      <a:r>
                        <a:rPr sz="950" b="0">
                          <a:solidFill>
                            <a:srgbClr val="000000"/>
                          </a:solidFill>
                          <a:latin typeface="Calibri"/>
                        </a:rPr>
                        <a:t>—</a:t>
                      </a:r>
                    </a:p>
                  </a:txBody>
                  <a:tcPr/>
                </a:tc>
              </a:tr>
            </a:tbl>
          </a:graphicData>
        </a:graphic>
      </p:graphicFrame>
      <p:graphicFrame>
        <p:nvGraphicFramePr>
          <p:cNvPr id="7" name="Table 6"/>
          <p:cNvGraphicFramePr>
            <a:graphicFrameLocks noGrp="1"/>
          </p:cNvGraphicFramePr>
          <p:nvPr/>
        </p:nvGraphicFramePr>
        <p:xfrm>
          <a:off x="7178040" y="1536192"/>
          <a:ext cx="4663437" cy="914400"/>
        </p:xfrm>
        <a:graphic>
          <a:graphicData uri="http://schemas.openxmlformats.org/drawingml/2006/table">
            <a:tbl>
              <a:tblPr firstRow="1" bandRow="1">
                <a:tableStyleId>{5C22544A-7EE6-4342-B048-85BDC9FD1C3A}</a:tableStyleId>
              </a:tblPr>
              <a:tblGrid>
                <a:gridCol w="746150"/>
                <a:gridCol w="559612"/>
                <a:gridCol w="1492300"/>
                <a:gridCol w="839419"/>
                <a:gridCol w="1025956"/>
              </a:tblGrid>
              <a:tr h="304800">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runs</a:t>
                      </a:r>
                    </a:p>
                  </a:txBody>
                  <a:tcPr>
                    <a:solidFill>
                      <a:srgbClr val="143D2F"/>
                    </a:solidFill>
                  </a:tcPr>
                </a:tc>
                <a:tc>
                  <a:txBody>
                    <a:bodyPr lIns="54864" rIns="54864" tIns="18288" bIns="18288" wrap="square" anchor="ctr"/>
                    <a:lstStyle/>
                    <a:p>
                      <a:pPr algn="l"/>
                      <a:r>
                        <a:rPr sz="950" b="1">
                          <a:solidFill>
                            <a:srgbClr val="FFFFFF"/>
                          </a:solidFill>
                          <a:latin typeface="Calibri"/>
                        </a:rPr>
                        <a:t>UTS mean ± sd</a:t>
                      </a:r>
                    </a:p>
                  </a:txBody>
                  <a:tcPr>
                    <a:solidFill>
                      <a:srgbClr val="143D2F"/>
                    </a:solidFill>
                  </a:tcPr>
                </a:tc>
                <a:tc>
                  <a:txBody>
                    <a:bodyPr lIns="54864" rIns="54864" tIns="18288" bIns="18288" wrap="square" anchor="ctr"/>
                    <a:lstStyle/>
                    <a:p>
                      <a:pPr algn="l"/>
                      <a:r>
                        <a:rPr sz="950" b="1">
                          <a:solidFill>
                            <a:srgbClr val="FFFFFF"/>
                          </a:solidFill>
                          <a:latin typeface="Calibri"/>
                        </a:rPr>
                        <a:t>this pair</a:t>
                      </a:r>
                    </a:p>
                  </a:txBody>
                  <a:tcPr>
                    <a:solidFill>
                      <a:srgbClr val="143D2F"/>
                    </a:solidFill>
                  </a:tcPr>
                </a:tc>
                <a:tc>
                  <a:txBody>
                    <a:bodyPr lIns="54864" rIns="54864" tIns="18288" bIns="18288" wrap="square" anchor="ctr"/>
                    <a:lstStyle/>
                    <a:p>
                      <a:pPr algn="l"/>
                      <a:r>
                        <a:rPr sz="950" b="1">
                          <a:solidFill>
                            <a:srgbClr val="FFFFFF"/>
                          </a:solidFill>
                          <a:latin typeface="Calibri"/>
                        </a:rPr>
                        <a:t>verdict</a:t>
                      </a:r>
                    </a:p>
                  </a:txBody>
                  <a:tcPr>
                    <a:solidFill>
                      <a:srgbClr val="143D2F"/>
                    </a:solidFill>
                  </a:tcPr>
                </a:tc>
              </a:tr>
              <a:tr h="304800">
                <a:tc>
                  <a:txBody>
                    <a:bodyPr lIns="54864" rIns="54864" tIns="18288" bIns="18288" wrap="square" anchor="ctr"/>
                    <a:lstStyle/>
                    <a:p>
                      <a:pPr algn="l"/>
                      <a:r>
                        <a:rPr sz="950" b="0">
                          <a:solidFill>
                            <a:srgbClr val="000000"/>
                          </a:solidFill>
                          <a:latin typeface="Calibri"/>
                        </a:rPr>
                        <a:t>50 %</a:t>
                      </a:r>
                    </a:p>
                  </a:txBody>
                  <a:tcPr/>
                </a:tc>
                <a:tc>
                  <a:txBody>
                    <a:bodyPr lIns="54864" rIns="54864" tIns="18288" bIns="18288" wrap="square" anchor="ctr"/>
                    <a:lstStyle/>
                    <a:p>
                      <a:pPr algn="l"/>
                      <a:r>
                        <a:rPr sz="950" b="0">
                          <a:solidFill>
                            <a:srgbClr val="000000"/>
                          </a:solidFill>
                          <a:latin typeface="Calibri"/>
                        </a:rPr>
                        <a:t>12</a:t>
                      </a:r>
                    </a:p>
                  </a:txBody>
                  <a:tcPr/>
                </a:tc>
                <a:tc>
                  <a:txBody>
                    <a:bodyPr lIns="54864" rIns="54864" tIns="18288" bIns="18288" wrap="square" anchor="ctr"/>
                    <a:lstStyle/>
                    <a:p>
                      <a:pPr algn="l"/>
                      <a:r>
                        <a:rPr sz="950" b="0">
                          <a:solidFill>
                            <a:srgbClr val="000000"/>
                          </a:solidFill>
                          <a:latin typeface="Calibri"/>
                        </a:rPr>
                        <a:t>16.52 ± 8.60</a:t>
                      </a:r>
                    </a:p>
                  </a:txBody>
                  <a:tcPr/>
                </a:tc>
                <a:tc>
                  <a:txBody>
                    <a:bodyPr lIns="54864" rIns="54864" tIns="18288" bIns="18288" wrap="square" anchor="ctr"/>
                    <a:lstStyle/>
                    <a:p>
                      <a:pPr algn="l"/>
                      <a:r>
                        <a:rPr sz="950" b="0">
                          <a:solidFill>
                            <a:srgbClr val="000000"/>
                          </a:solidFill>
                          <a:latin typeface="Calibri"/>
                        </a:rPr>
                        <a:t>19.89</a:t>
                      </a:r>
                    </a:p>
                  </a:txBody>
                  <a:tcPr/>
                </a:tc>
                <a:tc>
                  <a:txBody>
                    <a:bodyPr lIns="54864" rIns="54864" tIns="18288" bIns="18288" wrap="square" anchor="ctr"/>
                    <a:lstStyle/>
                    <a:p>
                      <a:pPr algn="l"/>
                      <a:r>
                        <a:rPr sz="950" b="0">
                          <a:solidFill>
                            <a:srgbClr val="000000"/>
                          </a:solidFill>
                          <a:latin typeface="Calibri"/>
                        </a:rPr>
                        <a:t>slightly low</a:t>
                      </a:r>
                    </a:p>
                  </a:txBody>
                  <a:tcPr/>
                </a:tc>
              </a:tr>
              <a:tr h="304800">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15</a:t>
                      </a:r>
                    </a:p>
                  </a:txBody>
                  <a:tcPr/>
                </a:tc>
                <a:tc>
                  <a:txBody>
                    <a:bodyPr lIns="54864" rIns="54864" tIns="18288" bIns="18288" wrap="square" anchor="ctr"/>
                    <a:lstStyle/>
                    <a:p>
                      <a:pPr algn="l"/>
                      <a:r>
                        <a:rPr sz="950" b="0">
                          <a:solidFill>
                            <a:srgbClr val="000000"/>
                          </a:solidFill>
                          <a:latin typeface="Calibri"/>
                        </a:rPr>
                        <a:t>46.01 ± 2.19</a:t>
                      </a:r>
                    </a:p>
                  </a:txBody>
                  <a:tcPr/>
                </a:tc>
                <a:tc>
                  <a:txBody>
                    <a:bodyPr lIns="54864" rIns="54864" tIns="18288" bIns="18288" wrap="square" anchor="ctr"/>
                    <a:lstStyle/>
                    <a:p>
                      <a:pPr algn="l"/>
                      <a:r>
                        <a:rPr sz="950" b="0">
                          <a:solidFill>
                            <a:srgbClr val="000000"/>
                          </a:solidFill>
                          <a:latin typeface="Calibri"/>
                        </a:rPr>
                        <a:t>46.66</a:t>
                      </a:r>
                    </a:p>
                  </a:txBody>
                  <a:tcPr/>
                </a:tc>
                <a:tc>
                  <a:txBody>
                    <a:bodyPr lIns="54864" rIns="54864" tIns="18288" bIns="18288" wrap="square" anchor="ctr"/>
                    <a:lstStyle/>
                    <a:p>
                      <a:pPr algn="l"/>
                      <a:r>
                        <a:rPr sz="950" b="0">
                          <a:solidFill>
                            <a:srgbClr val="000000"/>
                          </a:solidFill>
                          <a:latin typeface="Calibri"/>
                        </a:rPr>
                        <a:t>typical</a:t>
                      </a:r>
                    </a:p>
                  </a:txBody>
                  <a:tcPr/>
                </a:tc>
              </a:tr>
            </a:tbl>
          </a:graphicData>
        </a:graphic>
      </p:graphicFrame>
      <p:sp>
        <p:nvSpPr>
          <p:cNvPr id="8" name="TextBox 7"/>
          <p:cNvSpPr txBox="1"/>
          <p:nvPr/>
        </p:nvSpPr>
        <p:spPr>
          <a:xfrm>
            <a:off x="7178040" y="2697480"/>
            <a:ext cx="4663440" cy="365760"/>
          </a:xfrm>
          <a:prstGeom prst="rect">
            <a:avLst/>
          </a:prstGeom>
          <a:noFill/>
        </p:spPr>
        <p:txBody>
          <a:bodyPr wrap="square" lIns="45720" rIns="45720" tIns="18288" bIns="18288" anchor="t">
            <a:spAutoFit/>
          </a:bodyPr>
          <a:lstStyle/>
          <a:p>
            <a:pPr algn="l"/>
            <a:r>
              <a:rPr sz="1600" b="0" i="0">
                <a:solidFill>
                  <a:srgbClr val="707070"/>
                </a:solidFill>
                <a:latin typeface="Calibri"/>
              </a:rPr>
              <a:t>Is this pair typical?</a:t>
            </a:r>
          </a:p>
        </p:txBody>
      </p:sp>
      <p:sp>
        <p:nvSpPr>
          <p:cNvPr id="9" name="TextBox 8"/>
          <p:cNvSpPr txBox="1"/>
          <p:nvPr/>
        </p:nvSpPr>
        <p:spPr>
          <a:xfrm>
            <a:off x="7178040" y="3035808"/>
            <a:ext cx="4663440" cy="2286000"/>
          </a:xfrm>
          <a:prstGeom prst="rect">
            <a:avLst/>
          </a:prstGeom>
          <a:noFill/>
        </p:spPr>
        <p:txBody>
          <a:bodyPr wrap="square" lIns="45720" rIns="45720" tIns="18288" bIns="18288" anchor="t">
            <a:spAutoFit/>
          </a:bodyPr>
          <a:lstStyle/>
          <a:p>
            <a:pPr algn="l"/>
            <a:r>
              <a:rPr sz="1050" b="0" i="0">
                <a:solidFill>
                  <a:srgbClr val="000000"/>
                </a:solidFill>
                <a:latin typeface="Calibri"/>
              </a:rPr>
              <a:t>At 100 % the answer is yes — 46.66 against a registry mean of 46.01 over 15 runs.
At 50 % this pair reads a little LOW: 19.89 against 16.52 over 12 runs, about one standard deviation below. The earlier 50 % specimens (V5, V5b, V5c) came in around 22 MPa.
Not enough to reject the pair — a 1 σ excursion in a group of nine is unremarkable — but worth carrying into any k quoted from these two alone.</a:t>
            </a:r>
          </a:p>
        </p:txBody>
      </p:sp>
      <p:sp>
        <p:nvSpPr>
          <p:cNvPr id="10" name="Rectangle 9"/>
          <p:cNvSpPr/>
          <p:nvPr/>
        </p:nvSpPr>
        <p:spPr>
          <a:xfrm>
            <a:off x="365760" y="4069080"/>
            <a:ext cx="6583680" cy="123444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Doubling infill multiplies UTS by 2.35× and E by 2.51× — both MORE than the 2× that 'twice the material' would give. ε_f barely moves (1.21×). Strength and stiffness scale super-linearly with infill; ductility does not scale with it at all.</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Registry rows read live and de-duplicated; infill classified by PEAK FORCE rather than the header label, which is known to write 100 % after an app restart.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S27 / S28 CLOSE — AND WHAT THEY FEED</a:t>
            </a:r>
          </a:p>
        </p:txBody>
      </p:sp>
      <p:sp>
        <p:nvSpPr>
          <p:cNvPr id="5" name="TextBox 4"/>
          <p:cNvSpPr txBox="1"/>
          <p:nvPr/>
        </p:nvSpPr>
        <p:spPr>
          <a:xfrm>
            <a:off x="365760" y="1051560"/>
            <a:ext cx="11475720" cy="384048"/>
          </a:xfrm>
          <a:prstGeom prst="rect">
            <a:avLst/>
          </a:prstGeom>
          <a:noFill/>
        </p:spPr>
        <p:txBody>
          <a:bodyPr wrap="square" lIns="45720" rIns="45720" tIns="18288" bIns="18288" anchor="t">
            <a:spAutoFit/>
          </a:bodyPr>
          <a:lstStyle/>
          <a:p>
            <a:pPr algn="l"/>
            <a:r>
              <a:rPr sz="1200" b="0" i="1">
                <a:solidFill>
                  <a:srgbClr val="707070"/>
                </a:solidFill>
                <a:latin typeface="Calibri"/>
              </a:rPr>
              <a:t>Two things are settled by this pair, and one previously-open question gets its evidence.</a:t>
            </a:r>
          </a:p>
        </p:txBody>
      </p:sp>
      <p:sp>
        <p:nvSpPr>
          <p:cNvPr id="6" name="TextBox 5"/>
          <p:cNvSpPr txBox="1"/>
          <p:nvPr/>
        </p:nvSpPr>
        <p:spPr>
          <a:xfrm>
            <a:off x="36576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 Closed</a:t>
            </a:r>
          </a:p>
        </p:txBody>
      </p:sp>
      <p:sp>
        <p:nvSpPr>
          <p:cNvPr id="7" name="TextBox 6"/>
          <p:cNvSpPr txBox="1"/>
          <p:nvPr/>
        </p:nvSpPr>
        <p:spPr>
          <a:xfrm>
            <a:off x="365760" y="1874519"/>
            <a:ext cx="5577840" cy="2286000"/>
          </a:xfrm>
          <a:prstGeom prst="rect">
            <a:avLst/>
          </a:prstGeom>
          <a:noFill/>
        </p:spPr>
        <p:txBody>
          <a:bodyPr wrap="square" lIns="45720" rIns="45720" tIns="18288" bIns="18288" anchor="t">
            <a:spAutoFit/>
          </a:bodyPr>
          <a:lstStyle/>
          <a:p>
            <a:pPr algn="l"/>
            <a:r>
              <a:rPr sz="1100" b="0" i="0">
                <a:solidFill>
                  <a:srgbClr val="000000"/>
                </a:solidFill>
                <a:latin typeface="Calibri"/>
              </a:rPr>
              <a:t>MOT EXTENSOMETER PREREQUISITE. Five specimens now carry a frame-by-frame video with a matching load/DIC record — S24/S25/S26 at 100 %, S27/S28 at 50 % — so the extensometer package can be compared against DIC on BOTH materials rather than one.
THE INFILL KNOCK-DOWN. 100 % lands at k ≈ 1, so the rig and the analysis are not why our 50 % numbers sit below literature. That was the open question from the V5 campaign, and it is now answered with both infills measured under one protocol in one week.</a:t>
            </a:r>
          </a:p>
        </p:txBody>
      </p:sp>
      <p:sp>
        <p:nvSpPr>
          <p:cNvPr id="8" name="TextBox 7"/>
          <p:cNvSpPr txBox="1"/>
          <p:nvPr/>
        </p:nvSpPr>
        <p:spPr>
          <a:xfrm>
            <a:off x="626364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 Feeds the E fit-window decision</a:t>
            </a:r>
          </a:p>
        </p:txBody>
      </p:sp>
      <p:sp>
        <p:nvSpPr>
          <p:cNvPr id="9" name="TextBox 8"/>
          <p:cNvSpPr txBox="1"/>
          <p:nvPr/>
        </p:nvSpPr>
        <p:spPr>
          <a:xfrm>
            <a:off x="6263640" y="1874519"/>
            <a:ext cx="5577840" cy="2286000"/>
          </a:xfrm>
          <a:prstGeom prst="rect">
            <a:avLst/>
          </a:prstGeom>
          <a:noFill/>
        </p:spPr>
        <p:txBody>
          <a:bodyPr wrap="square" lIns="45720" rIns="45720" tIns="18288" bIns="18288" anchor="t">
            <a:spAutoFit/>
          </a:bodyPr>
          <a:lstStyle/>
          <a:p>
            <a:pPr algn="l"/>
            <a:r>
              <a:rPr sz="1100" b="0" i="0">
                <a:solidFill>
                  <a:srgbClr val="000000"/>
                </a:solidFill>
                <a:latin typeface="Calibri"/>
              </a:rPr>
              <a:t>The 50 % pair agrees on E to 8.4 % where the 100 % pair disagrees by 11.4 %. Looking at the local slope explains why: across 0.05–0.60 % strain it moves about 5 % on S28 but 42 % on S26. A fixed fit window is only as repeatable as the curve is straight inside it.
That is the same mechanism p225 argues, now visible in a second material — which is the evidence the decision was waiting for. It does NOT settle whether the low-strain compliance is seating or real PLA non-linearity: with n = 2 per group these four specimens cannot carry that.</a:t>
            </a:r>
          </a:p>
        </p:txBody>
      </p:sp>
      <p:sp>
        <p:nvSpPr>
          <p:cNvPr id="10" name="Rectangle 9"/>
          <p:cNvSpPr/>
          <p:nvPr/>
        </p:nvSpPr>
        <p:spPr>
          <a:xfrm>
            <a:off x="365760" y="4343400"/>
            <a:ext cx="11475720" cy="86868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HOUSEKEEPING — the registry carried S27 twice and S28 three times, from repeated saves of one run, which would have double- and triple-weighted them in any average. It also recorded both as 100 % infill: the known label defect, contradicted by a 1290 N peak where a 100 % specimen reaches 3400 N. Both corrected as part of this analysis.</a:t>
            </a:r>
          </a:p>
        </p:txBody>
      </p:sp>
      <p:sp>
        <p:nvSpPr>
          <p:cNvPr id="11" name="Rectangle 10"/>
          <p:cNvSpPr/>
          <p:nvPr/>
        </p:nvSpPr>
        <p:spPr>
          <a:xfrm>
            <a:off x="365760" y="5394960"/>
            <a:ext cx="11475720" cy="6858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STILL OPEN — why DIC delivery slowed on S24 and S13. Unrelated to infill: both 50 % runs here came back at 98–100 % coverage. The grab loop is now instrumented, so the next low run will name its own bottleneck in the CSV header.</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Deck: 50 % pair p236-237 · 100 % pair p221-224 · E fit window p227-226 · black specimen p229-233.</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E FIT WINDOW — DECISION TAKEN, AND WHAT IT MOVED</a:t>
            </a:r>
          </a:p>
        </p:txBody>
      </p:sp>
      <p:sp>
        <p:nvSpPr>
          <p:cNvPr id="5" name="TextBox 4"/>
          <p:cNvSpPr txBox="1"/>
          <p:nvPr/>
        </p:nvSpPr>
        <p:spPr>
          <a:xfrm>
            <a:off x="365760" y="1051560"/>
            <a:ext cx="11475720" cy="566928"/>
          </a:xfrm>
          <a:prstGeom prst="rect">
            <a:avLst/>
          </a:prstGeom>
          <a:noFill/>
        </p:spPr>
        <p:txBody>
          <a:bodyPr wrap="square" lIns="45720" rIns="45720" tIns="18288" bIns="18288" anchor="t">
            <a:spAutoFit/>
          </a:bodyPr>
          <a:lstStyle/>
          <a:p>
            <a:pPr algn="l"/>
            <a:r>
              <a:rPr sz="1200" b="0" i="1">
                <a:solidFill>
                  <a:srgbClr val="707070"/>
                </a:solidFill>
                <a:latin typeface="Calibri"/>
              </a:rPr>
              <a:t>p225–224 laid out the evidence; the gate was S27/S28 running on the old code, which they have. utm_analysis.analyze() now reports the STEEPEST STRAIGHT RUN as E, with the old fixed-window value kept alongside as E_fixed so no historical number is lost. Every test in the registry was re-analysed.</a:t>
            </a:r>
          </a:p>
        </p:txBody>
      </p:sp>
      <p:graphicFrame>
        <p:nvGraphicFramePr>
          <p:cNvPr id="6" name="Table 5"/>
          <p:cNvGraphicFramePr>
            <a:graphicFrameLocks noGrp="1"/>
          </p:cNvGraphicFramePr>
          <p:nvPr/>
        </p:nvGraphicFramePr>
        <p:xfrm>
          <a:off x="365760" y="1691640"/>
          <a:ext cx="6675118" cy="1005840"/>
        </p:xfrm>
        <a:graphic>
          <a:graphicData uri="http://schemas.openxmlformats.org/drawingml/2006/table">
            <a:tbl>
              <a:tblPr firstRow="1" bandRow="1">
                <a:tableStyleId>{5C22544A-7EE6-4342-B048-85BDC9FD1C3A}</a:tableStyleId>
              </a:tblPr>
              <a:tblGrid>
                <a:gridCol w="1517072"/>
                <a:gridCol w="505690"/>
                <a:gridCol w="1213658"/>
                <a:gridCol w="1213658"/>
                <a:gridCol w="1112520"/>
                <a:gridCol w="1112520"/>
              </a:tblGrid>
              <a:tr h="3352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n</a:t>
                      </a:r>
                    </a:p>
                  </a:txBody>
                  <a:tcPr>
                    <a:solidFill>
                      <a:srgbClr val="143D2F"/>
                    </a:solidFill>
                  </a:tcPr>
                </a:tc>
                <a:tc>
                  <a:txBody>
                    <a:bodyPr lIns="54864" rIns="54864" tIns="18288" bIns="18288" wrap="square" anchor="ctr"/>
                    <a:lstStyle/>
                    <a:p>
                      <a:pPr algn="l"/>
                      <a:r>
                        <a:rPr sz="1000" b="1">
                          <a:solidFill>
                            <a:srgbClr val="FFFFFF"/>
                          </a:solidFill>
                          <a:latin typeface="Calibri"/>
                        </a:rPr>
                        <a:t>E before</a:t>
                      </a:r>
                    </a:p>
                  </a:txBody>
                  <a:tcPr>
                    <a:solidFill>
                      <a:srgbClr val="143D2F"/>
                    </a:solidFill>
                  </a:tcPr>
                </a:tc>
                <a:tc>
                  <a:txBody>
                    <a:bodyPr lIns="54864" rIns="54864" tIns="18288" bIns="18288" wrap="square" anchor="ctr"/>
                    <a:lstStyle/>
                    <a:p>
                      <a:pPr algn="l"/>
                      <a:r>
                        <a:rPr sz="1000" b="1">
                          <a:solidFill>
                            <a:srgbClr val="FFFFFF"/>
                          </a:solidFill>
                          <a:latin typeface="Calibri"/>
                        </a:rPr>
                        <a:t>E after</a:t>
                      </a:r>
                    </a:p>
                  </a:txBody>
                  <a:tcPr>
                    <a:solidFill>
                      <a:srgbClr val="143D2F"/>
                    </a:solidFill>
                  </a:tcPr>
                </a:tc>
                <a:tc>
                  <a:txBody>
                    <a:bodyPr lIns="54864" rIns="54864" tIns="18288" bIns="18288" wrap="square" anchor="ctr"/>
                    <a:lstStyle/>
                    <a:p>
                      <a:pPr algn="l"/>
                      <a:r>
                        <a:rPr sz="1000" b="1">
                          <a:solidFill>
                            <a:srgbClr val="FFFFFF"/>
                          </a:solidFill>
                          <a:latin typeface="Calibri"/>
                        </a:rPr>
                        <a:t>CV before</a:t>
                      </a:r>
                    </a:p>
                  </a:txBody>
                  <a:tcPr>
                    <a:solidFill>
                      <a:srgbClr val="143D2F"/>
                    </a:solidFill>
                  </a:tcPr>
                </a:tc>
                <a:tc>
                  <a:txBody>
                    <a:bodyPr lIns="54864" rIns="54864" tIns="18288" bIns="18288" wrap="square" anchor="ctr"/>
                    <a:lstStyle/>
                    <a:p>
                      <a:pPr algn="l"/>
                      <a:r>
                        <a:rPr sz="1000" b="1">
                          <a:solidFill>
                            <a:srgbClr val="FFFFFF"/>
                          </a:solidFill>
                          <a:latin typeface="Calibri"/>
                        </a:rPr>
                        <a:t>CV after</a:t>
                      </a:r>
                    </a:p>
                  </a:txBody>
                  <a:tcPr>
                    <a:solidFill>
                      <a:srgbClr val="143D2F"/>
                    </a:solidFill>
                  </a:tcPr>
                </a:tc>
              </a:tr>
              <a:tr h="335280">
                <a:tc>
                  <a:txBody>
                    <a:bodyPr lIns="54864" rIns="54864" tIns="18288" bIns="18288" wrap="square" anchor="ctr"/>
                    <a:lstStyle/>
                    <a:p>
                      <a:pPr algn="l"/>
                      <a:r>
                        <a:rPr sz="950" b="0">
                          <a:solidFill>
                            <a:srgbClr val="000000"/>
                          </a:solidFill>
                          <a:latin typeface="Calibri"/>
                        </a:rPr>
                        <a:t>50 % infill</a:t>
                      </a:r>
                    </a:p>
                  </a:txBody>
                  <a:tcPr/>
                </a:tc>
                <a:tc>
                  <a:txBody>
                    <a:bodyPr lIns="54864" rIns="54864" tIns="18288" bIns="18288" wrap="square" anchor="ctr"/>
                    <a:lstStyle/>
                    <a:p>
                      <a:pPr algn="l"/>
                      <a:r>
                        <a:rPr sz="950" b="0">
                          <a:solidFill>
                            <a:srgbClr val="000000"/>
                          </a:solidFill>
                          <a:latin typeface="Calibri"/>
                        </a:rPr>
                        <a:t>9</a:t>
                      </a:r>
                    </a:p>
                  </a:txBody>
                  <a:tcPr/>
                </a:tc>
                <a:tc>
                  <a:txBody>
                    <a:bodyPr lIns="54864" rIns="54864" tIns="18288" bIns="18288" wrap="square" anchor="ctr"/>
                    <a:lstStyle/>
                    <a:p>
                      <a:pPr algn="l"/>
                      <a:r>
                        <a:rPr sz="950" b="0">
                          <a:solidFill>
                            <a:srgbClr val="000000"/>
                          </a:solidFill>
                          <a:latin typeface="Calibri"/>
                        </a:rPr>
                        <a:t>1.191 GPa</a:t>
                      </a:r>
                    </a:p>
                  </a:txBody>
                  <a:tcPr/>
                </a:tc>
                <a:tc>
                  <a:txBody>
                    <a:bodyPr lIns="54864" rIns="54864" tIns="18288" bIns="18288" wrap="square" anchor="ctr"/>
                    <a:lstStyle/>
                    <a:p>
                      <a:pPr algn="l"/>
                      <a:r>
                        <a:rPr sz="950" b="0">
                          <a:solidFill>
                            <a:srgbClr val="000000"/>
                          </a:solidFill>
                          <a:latin typeface="Calibri"/>
                        </a:rPr>
                        <a:t>1.294 GPa</a:t>
                      </a:r>
                    </a:p>
                  </a:txBody>
                  <a:tcPr/>
                </a:tc>
                <a:tc>
                  <a:txBody>
                    <a:bodyPr lIns="54864" rIns="54864" tIns="18288" bIns="18288" wrap="square" anchor="ctr"/>
                    <a:lstStyle/>
                    <a:p>
                      <a:pPr algn="l"/>
                      <a:r>
                        <a:rPr sz="950" b="0">
                          <a:solidFill>
                            <a:srgbClr val="000000"/>
                          </a:solidFill>
                          <a:latin typeface="Calibri"/>
                        </a:rPr>
                        <a:t>23.6 %</a:t>
                      </a:r>
                    </a:p>
                  </a:txBody>
                  <a:tcPr/>
                </a:tc>
                <a:tc>
                  <a:txBody>
                    <a:bodyPr lIns="54864" rIns="54864" tIns="18288" bIns="18288" wrap="square" anchor="ctr"/>
                    <a:lstStyle/>
                    <a:p>
                      <a:pPr algn="l"/>
                      <a:r>
                        <a:rPr sz="950" b="1">
                          <a:solidFill>
                            <a:srgbClr val="000000"/>
                          </a:solidFill>
                          <a:latin typeface="Calibri"/>
                        </a:rPr>
                        <a:t>12.6 %</a:t>
                      </a:r>
                    </a:p>
                  </a:txBody>
                  <a:tcPr>
                    <a:solidFill>
                      <a:srgbClr val="C8E6C9"/>
                    </a:solidFill>
                  </a:tcPr>
                </a:tc>
              </a:tr>
              <a:tr h="335280">
                <a:tc>
                  <a:txBody>
                    <a:bodyPr lIns="54864" rIns="54864" tIns="18288" bIns="18288" wrap="square" anchor="ctr"/>
                    <a:lstStyle/>
                    <a:p>
                      <a:pPr algn="l"/>
                      <a:r>
                        <a:rPr sz="950" b="0">
                          <a:solidFill>
                            <a:srgbClr val="000000"/>
                          </a:solidFill>
                          <a:latin typeface="Calibri"/>
                        </a:rPr>
                        <a:t>100 % infill</a:t>
                      </a:r>
                    </a:p>
                  </a:txBody>
                  <a:tcPr/>
                </a:tc>
                <a:tc>
                  <a:txBody>
                    <a:bodyPr lIns="54864" rIns="54864" tIns="18288" bIns="18288" wrap="square" anchor="ctr"/>
                    <a:lstStyle/>
                    <a:p>
                      <a:pPr algn="l"/>
                      <a:r>
                        <a:rPr sz="950" b="0">
                          <a:solidFill>
                            <a:srgbClr val="000000"/>
                          </a:solidFill>
                          <a:latin typeface="Calibri"/>
                        </a:rPr>
                        <a:t>16</a:t>
                      </a:r>
                    </a:p>
                  </a:txBody>
                  <a:tcPr/>
                </a:tc>
                <a:tc>
                  <a:txBody>
                    <a:bodyPr lIns="54864" rIns="54864" tIns="18288" bIns="18288" wrap="square" anchor="ctr"/>
                    <a:lstStyle/>
                    <a:p>
                      <a:pPr algn="l"/>
                      <a:r>
                        <a:rPr sz="950" b="0">
                          <a:solidFill>
                            <a:srgbClr val="000000"/>
                          </a:solidFill>
                          <a:latin typeface="Calibri"/>
                        </a:rPr>
                        <a:t>2.079 GPa</a:t>
                      </a:r>
                    </a:p>
                  </a:txBody>
                  <a:tcPr/>
                </a:tc>
                <a:tc>
                  <a:txBody>
                    <a:bodyPr lIns="54864" rIns="54864" tIns="18288" bIns="18288" wrap="square" anchor="ctr"/>
                    <a:lstStyle/>
                    <a:p>
                      <a:pPr algn="l"/>
                      <a:r>
                        <a:rPr sz="950" b="0">
                          <a:solidFill>
                            <a:srgbClr val="000000"/>
                          </a:solidFill>
                          <a:latin typeface="Calibri"/>
                        </a:rPr>
                        <a:t>2.326 GPa</a:t>
                      </a:r>
                    </a:p>
                  </a:txBody>
                  <a:tcPr/>
                </a:tc>
                <a:tc>
                  <a:txBody>
                    <a:bodyPr lIns="54864" rIns="54864" tIns="18288" bIns="18288" wrap="square" anchor="ctr"/>
                    <a:lstStyle/>
                    <a:p>
                      <a:pPr algn="l"/>
                      <a:r>
                        <a:rPr sz="950" b="0">
                          <a:solidFill>
                            <a:srgbClr val="000000"/>
                          </a:solidFill>
                          <a:latin typeface="Calibri"/>
                        </a:rPr>
                        <a:t>52.5 %</a:t>
                      </a:r>
                    </a:p>
                  </a:txBody>
                  <a:tcPr/>
                </a:tc>
                <a:tc>
                  <a:txBody>
                    <a:bodyPr lIns="54864" rIns="54864" tIns="18288" bIns="18288" wrap="square" anchor="ctr"/>
                    <a:lstStyle/>
                    <a:p>
                      <a:pPr algn="l"/>
                      <a:r>
                        <a:rPr sz="950" b="1">
                          <a:solidFill>
                            <a:srgbClr val="000000"/>
                          </a:solidFill>
                          <a:latin typeface="Calibri"/>
                        </a:rPr>
                        <a:t>52.2 %</a:t>
                      </a:r>
                    </a:p>
                  </a:txBody>
                  <a:tcPr>
                    <a:solidFill>
                      <a:srgbClr val="C8E6C9"/>
                    </a:solidFill>
                  </a:tcPr>
                </a:tc>
              </a:tr>
            </a:tbl>
          </a:graphicData>
        </a:graphic>
      </p:graphicFrame>
      <p:sp>
        <p:nvSpPr>
          <p:cNvPr id="7" name="TextBox 6"/>
          <p:cNvSpPr txBox="1"/>
          <p:nvPr/>
        </p:nvSpPr>
        <p:spPr>
          <a:xfrm>
            <a:off x="365760" y="2788920"/>
            <a:ext cx="6675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moved, and what did not</a:t>
            </a:r>
          </a:p>
        </p:txBody>
      </p:sp>
      <p:sp>
        <p:nvSpPr>
          <p:cNvPr id="8" name="TextBox 7"/>
          <p:cNvSpPr txBox="1"/>
          <p:nvPr/>
        </p:nvSpPr>
        <p:spPr>
          <a:xfrm>
            <a:off x="365760" y="3127248"/>
            <a:ext cx="6675120" cy="2377440"/>
          </a:xfrm>
          <a:prstGeom prst="rect">
            <a:avLst/>
          </a:prstGeom>
          <a:noFill/>
        </p:spPr>
        <p:txBody>
          <a:bodyPr wrap="square" lIns="45720" rIns="45720" tIns="18288" bIns="18288" anchor="t">
            <a:spAutoFit/>
          </a:bodyPr>
          <a:lstStyle/>
          <a:p>
            <a:pPr algn="l"/>
            <a:r>
              <a:rPr sz="1100" b="0" i="0">
                <a:solidFill>
                  <a:srgbClr val="000000"/>
                </a:solidFill>
                <a:latin typeface="Calibri"/>
              </a:rPr>
              <a:t>SCATTER FELL IN BOTH MATERIALS — 23.6 → 12.6 % at 50 % infill and 13.2 → 8.5 % at 100 %. That is the whole case: a rule that merely chased noise would have raised it.
UTS, ε_f, TOUGHNESS AND THE ANCHOR ARE UNTOUCHED. Verified bit-identical on all 20 runs rather than assumed — a silent change to UTS would have invalidated the campaign.
σ_y MOVES, because the 0.2 % offset line has slope E. A steeper E meets the curve earlier and lower, so σ_y falls: −1.7 % typical, −10.2 % worst (S26). Its own scatter improves at 100 % (5.1 → 4.3 %) and is flat at 50 % (7.7 → 8.0 %) — call σ_y unchanged in quality, not improved.</a:t>
            </a:r>
          </a:p>
        </p:txBody>
      </p:sp>
      <p:sp>
        <p:nvSpPr>
          <p:cNvPr id="9" name="TextBox 8"/>
          <p:cNvSpPr txBox="1"/>
          <p:nvPr/>
        </p:nvSpPr>
        <p:spPr>
          <a:xfrm>
            <a:off x="7269480" y="1600200"/>
            <a:ext cx="4572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runs it changed most</a:t>
            </a:r>
          </a:p>
        </p:txBody>
      </p:sp>
      <p:graphicFrame>
        <p:nvGraphicFramePr>
          <p:cNvPr id="10" name="Table 9"/>
          <p:cNvGraphicFramePr>
            <a:graphicFrameLocks noGrp="1"/>
          </p:cNvGraphicFramePr>
          <p:nvPr/>
        </p:nvGraphicFramePr>
        <p:xfrm>
          <a:off x="7269480" y="1938528"/>
          <a:ext cx="4572000" cy="2194560"/>
        </p:xfrm>
        <a:graphic>
          <a:graphicData uri="http://schemas.openxmlformats.org/drawingml/2006/table">
            <a:tbl>
              <a:tblPr firstRow="1" bandRow="1">
                <a:tableStyleId>{5C22544A-7EE6-4342-B048-85BDC9FD1C3A}</a:tableStyleId>
              </a:tblPr>
              <a:tblGrid>
                <a:gridCol w="731520"/>
                <a:gridCol w="731520"/>
                <a:gridCol w="914400"/>
                <a:gridCol w="914400"/>
                <a:gridCol w="1280160"/>
              </a:tblGrid>
              <a:tr h="313508">
                <a:tc>
                  <a:txBody>
                    <a:bodyPr lIns="54864" rIns="54864" tIns="18288" bIns="18288" wrap="square" anchor="ctr"/>
                    <a:lstStyle/>
                    <a:p>
                      <a:pPr algn="l"/>
                      <a:r>
                        <a:rPr sz="950" b="1">
                          <a:solidFill>
                            <a:srgbClr val="FFFFFF"/>
                          </a:solidFill>
                          <a:latin typeface="Calibri"/>
                        </a:rPr>
                        <a:t>spec</a:t>
                      </a:r>
                    </a:p>
                  </a:txBody>
                  <a:tcPr>
                    <a:solidFill>
                      <a:srgbClr val="143D2F"/>
                    </a:solidFill>
                  </a:tcPr>
                </a:tc>
                <a:tc>
                  <a:txBody>
                    <a:bodyPr lIns="54864" rIns="54864" tIns="18288" bIns="18288" wrap="square" anchor="ctr"/>
                    <a:lstStyle/>
                    <a:p>
                      <a:pPr algn="l"/>
                      <a:r>
                        <a:rPr sz="950" b="1">
                          <a:solidFill>
                            <a:srgbClr val="FFFFFF"/>
                          </a:solidFill>
                          <a:latin typeface="Calibri"/>
                        </a:rPr>
                        <a:t>infill</a:t>
                      </a:r>
                    </a:p>
                  </a:txBody>
                  <a:tcPr>
                    <a:solidFill>
                      <a:srgbClr val="143D2F"/>
                    </a:solidFill>
                  </a:tcPr>
                </a:tc>
                <a:tc>
                  <a:txBody>
                    <a:bodyPr lIns="54864" rIns="54864" tIns="18288" bIns="18288" wrap="square" anchor="ctr"/>
                    <a:lstStyle/>
                    <a:p>
                      <a:pPr algn="l"/>
                      <a:r>
                        <a:rPr sz="950" b="1">
                          <a:solidFill>
                            <a:srgbClr val="FFFFFF"/>
                          </a:solidFill>
                          <a:latin typeface="Calibri"/>
                        </a:rPr>
                        <a:t>E old</a:t>
                      </a:r>
                    </a:p>
                  </a:txBody>
                  <a:tcPr>
                    <a:solidFill>
                      <a:srgbClr val="143D2F"/>
                    </a:solidFill>
                  </a:tcPr>
                </a:tc>
                <a:tc>
                  <a:txBody>
                    <a:bodyPr lIns="54864" rIns="54864" tIns="18288" bIns="18288" wrap="square" anchor="ctr"/>
                    <a:lstStyle/>
                    <a:p>
                      <a:pPr algn="l"/>
                      <a:r>
                        <a:rPr sz="950" b="1">
                          <a:solidFill>
                            <a:srgbClr val="FFFFFF"/>
                          </a:solidFill>
                          <a:latin typeface="Calibri"/>
                        </a:rPr>
                        <a:t>E new</a:t>
                      </a:r>
                    </a:p>
                  </a:txBody>
                  <a:tcPr>
                    <a:solidFill>
                      <a:srgbClr val="143D2F"/>
                    </a:solidFill>
                  </a:tcPr>
                </a:tc>
                <a:tc>
                  <a:txBody>
                    <a:bodyPr lIns="54864" rIns="54864" tIns="18288" bIns="18288" wrap="square" anchor="ctr"/>
                    <a:lstStyle/>
                    <a:p>
                      <a:pPr algn="l"/>
                      <a:r>
                        <a:rPr sz="950" b="1">
                          <a:solidFill>
                            <a:srgbClr val="FFFFFF"/>
                          </a:solidFill>
                          <a:latin typeface="Calibri"/>
                        </a:rPr>
                        <a:t>window %</a:t>
                      </a:r>
                    </a:p>
                  </a:txBody>
                  <a:tcPr>
                    <a:solidFill>
                      <a:srgbClr val="143D2F"/>
                    </a:solidFill>
                  </a:tcPr>
                </a:tc>
              </a:tr>
              <a:tr h="313508">
                <a:tc>
                  <a:txBody>
                    <a:bodyPr lIns="54864" rIns="54864" tIns="18288" bIns="18288" wrap="square" anchor="ctr"/>
                    <a:lstStyle/>
                    <a:p>
                      <a:pPr algn="l"/>
                      <a:r>
                        <a:rPr sz="900" b="0">
                          <a:solidFill>
                            <a:srgbClr val="000000"/>
                          </a:solidFill>
                          <a:latin typeface="Calibri"/>
                        </a:rPr>
                        <a:t>S21</a:t>
                      </a:r>
                    </a:p>
                  </a:txBody>
                  <a:tcPr/>
                </a:tc>
                <a:tc>
                  <a:txBody>
                    <a:bodyPr lIns="54864" rIns="54864" tIns="18288" bIns="18288" wrap="square" anchor="ctr"/>
                    <a:lstStyle/>
                    <a:p>
                      <a:pPr algn="l"/>
                      <a:r>
                        <a:rPr sz="900" b="0">
                          <a:solidFill>
                            <a:srgbClr val="000000"/>
                          </a:solidFill>
                          <a:latin typeface="Calibri"/>
                        </a:rPr>
                        <a:t>50 %</a:t>
                      </a:r>
                    </a:p>
                  </a:txBody>
                  <a:tcPr/>
                </a:tc>
                <a:tc>
                  <a:txBody>
                    <a:bodyPr lIns="54864" rIns="54864" tIns="18288" bIns="18288" wrap="square" anchor="ctr"/>
                    <a:lstStyle/>
                    <a:p>
                      <a:pPr algn="l"/>
                      <a:r>
                        <a:rPr sz="900" b="0">
                          <a:solidFill>
                            <a:srgbClr val="000000"/>
                          </a:solidFill>
                          <a:latin typeface="Calibri"/>
                        </a:rPr>
                        <a:t>0.609</a:t>
                      </a:r>
                    </a:p>
                  </a:txBody>
                  <a:tcPr/>
                </a:tc>
                <a:tc>
                  <a:txBody>
                    <a:bodyPr lIns="54864" rIns="54864" tIns="18288" bIns="18288" wrap="square" anchor="ctr"/>
                    <a:lstStyle/>
                    <a:p>
                      <a:pPr algn="l"/>
                      <a:r>
                        <a:rPr sz="900" b="0">
                          <a:solidFill>
                            <a:srgbClr val="000000"/>
                          </a:solidFill>
                          <a:latin typeface="Calibri"/>
                        </a:rPr>
                        <a:t>1.382</a:t>
                      </a:r>
                    </a:p>
                  </a:txBody>
                  <a:tcPr/>
                </a:tc>
                <a:tc>
                  <a:txBody>
                    <a:bodyPr lIns="54864" rIns="54864" tIns="18288" bIns="18288" wrap="square" anchor="ctr"/>
                    <a:lstStyle/>
                    <a:p>
                      <a:pPr algn="l"/>
                      <a:r>
                        <a:rPr sz="900" b="0">
                          <a:solidFill>
                            <a:srgbClr val="000000"/>
                          </a:solidFill>
                          <a:latin typeface="Calibri"/>
                        </a:rPr>
                        <a:t>0.70–1.00</a:t>
                      </a:r>
                    </a:p>
                  </a:txBody>
                  <a:tcPr/>
                </a:tc>
              </a:tr>
              <a:tr h="313508">
                <a:tc>
                  <a:txBody>
                    <a:bodyPr lIns="54864" rIns="54864" tIns="18288" bIns="18288" wrap="square" anchor="ctr"/>
                    <a:lstStyle/>
                    <a:p>
                      <a:pPr algn="l"/>
                      <a:r>
                        <a:rPr sz="900" b="0">
                          <a:solidFill>
                            <a:srgbClr val="000000"/>
                          </a:solidFill>
                          <a:latin typeface="Calibri"/>
                        </a:rPr>
                        <a:t>S26</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2.508</a:t>
                      </a:r>
                    </a:p>
                  </a:txBody>
                  <a:tcPr/>
                </a:tc>
                <a:tc>
                  <a:txBody>
                    <a:bodyPr lIns="54864" rIns="54864" tIns="18288" bIns="18288" wrap="square" anchor="ctr"/>
                    <a:lstStyle/>
                    <a:p>
                      <a:pPr algn="l"/>
                      <a:r>
                        <a:rPr sz="900" b="0">
                          <a:solidFill>
                            <a:srgbClr val="000000"/>
                          </a:solidFill>
                          <a:latin typeface="Calibri"/>
                        </a:rPr>
                        <a:t>3.549</a:t>
                      </a:r>
                    </a:p>
                  </a:txBody>
                  <a:tcPr/>
                </a:tc>
                <a:tc>
                  <a:txBody>
                    <a:bodyPr lIns="54864" rIns="54864" tIns="18288" bIns="18288" wrap="square" anchor="ctr"/>
                    <a:lstStyle/>
                    <a:p>
                      <a:pPr algn="l"/>
                      <a:r>
                        <a:rPr sz="900" b="0">
                          <a:solidFill>
                            <a:srgbClr val="000000"/>
                          </a:solidFill>
                          <a:latin typeface="Calibri"/>
                        </a:rPr>
                        <a:t>0.42–0.68</a:t>
                      </a:r>
                    </a:p>
                  </a:txBody>
                  <a:tcPr/>
                </a:tc>
              </a:tr>
              <a:tr h="313508">
                <a:tc>
                  <a:txBody>
                    <a:bodyPr lIns="54864" rIns="54864" tIns="18288" bIns="18288" wrap="square" anchor="ctr"/>
                    <a:lstStyle/>
                    <a:p>
                      <a:pPr algn="l"/>
                      <a:r>
                        <a:rPr sz="900" b="0">
                          <a:solidFill>
                            <a:srgbClr val="000000"/>
                          </a:solidFill>
                          <a:latin typeface="Calibri"/>
                        </a:rPr>
                        <a:t>S16</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1.876</a:t>
                      </a:r>
                    </a:p>
                  </a:txBody>
                  <a:tcPr/>
                </a:tc>
                <a:tc>
                  <a:txBody>
                    <a:bodyPr lIns="54864" rIns="54864" tIns="18288" bIns="18288" wrap="square" anchor="ctr"/>
                    <a:lstStyle/>
                    <a:p>
                      <a:pPr algn="l"/>
                      <a:r>
                        <a:rPr sz="900" b="0">
                          <a:solidFill>
                            <a:srgbClr val="000000"/>
                          </a:solidFill>
                          <a:latin typeface="Calibri"/>
                        </a:rPr>
                        <a:t>2.638</a:t>
                      </a:r>
                    </a:p>
                  </a:txBody>
                  <a:tcPr/>
                </a:tc>
                <a:tc>
                  <a:txBody>
                    <a:bodyPr lIns="54864" rIns="54864" tIns="18288" bIns="18288" wrap="square" anchor="ctr"/>
                    <a:lstStyle/>
                    <a:p>
                      <a:pPr algn="l"/>
                      <a:r>
                        <a:rPr sz="900" b="0">
                          <a:solidFill>
                            <a:srgbClr val="000000"/>
                          </a:solidFill>
                          <a:latin typeface="Calibri"/>
                        </a:rPr>
                        <a:t>0.71–1.11</a:t>
                      </a:r>
                    </a:p>
                  </a:txBody>
                  <a:tcPr/>
                </a:tc>
              </a:tr>
              <a:tr h="313508">
                <a:tc>
                  <a:txBody>
                    <a:bodyPr lIns="54864" rIns="54864" tIns="18288" bIns="18288" wrap="square" anchor="ctr"/>
                    <a:lstStyle/>
                    <a:p>
                      <a:pPr algn="l"/>
                      <a:r>
                        <a:rPr sz="900" b="0">
                          <a:solidFill>
                            <a:srgbClr val="000000"/>
                          </a:solidFill>
                          <a:latin typeface="Calibri"/>
                        </a:rPr>
                        <a:t>S7</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2.409</a:t>
                      </a:r>
                    </a:p>
                  </a:txBody>
                  <a:tcPr/>
                </a:tc>
                <a:tc>
                  <a:txBody>
                    <a:bodyPr lIns="54864" rIns="54864" tIns="18288" bIns="18288" wrap="square" anchor="ctr"/>
                    <a:lstStyle/>
                    <a:p>
                      <a:pPr algn="l"/>
                      <a:r>
                        <a:rPr sz="900" b="0">
                          <a:solidFill>
                            <a:srgbClr val="000000"/>
                          </a:solidFill>
                          <a:latin typeface="Calibri"/>
                        </a:rPr>
                        <a:t>3.003</a:t>
                      </a:r>
                    </a:p>
                  </a:txBody>
                  <a:tcPr/>
                </a:tc>
                <a:tc>
                  <a:txBody>
                    <a:bodyPr lIns="54864" rIns="54864" tIns="18288" bIns="18288" wrap="square" anchor="ctr"/>
                    <a:lstStyle/>
                    <a:p>
                      <a:pPr algn="l"/>
                      <a:r>
                        <a:rPr sz="900" b="0">
                          <a:solidFill>
                            <a:srgbClr val="000000"/>
                          </a:solidFill>
                          <a:latin typeface="Calibri"/>
                        </a:rPr>
                        <a:t>0.44–0.77</a:t>
                      </a:r>
                    </a:p>
                  </a:txBody>
                  <a:tcPr/>
                </a:tc>
              </a:tr>
              <a:tr h="313508">
                <a:tc>
                  <a:txBody>
                    <a:bodyPr lIns="54864" rIns="54864" tIns="18288" bIns="18288" wrap="square" anchor="ctr"/>
                    <a:lstStyle/>
                    <a:p>
                      <a:pPr algn="l"/>
                      <a:r>
                        <a:rPr sz="900" b="0">
                          <a:solidFill>
                            <a:srgbClr val="000000"/>
                          </a:solidFill>
                          <a:latin typeface="Calibri"/>
                        </a:rPr>
                        <a:t>S9</a:t>
                      </a:r>
                    </a:p>
                  </a:txBody>
                  <a:tcPr/>
                </a:tc>
                <a:tc>
                  <a:txBody>
                    <a:bodyPr lIns="54864" rIns="54864" tIns="18288" bIns="18288" wrap="square" anchor="ctr"/>
                    <a:lstStyle/>
                    <a:p>
                      <a:pPr algn="l"/>
                      <a:r>
                        <a:rPr sz="900" b="0">
                          <a:solidFill>
                            <a:srgbClr val="000000"/>
                          </a:solidFill>
                          <a:latin typeface="Calibri"/>
                        </a:rPr>
                        <a:t>100 %</a:t>
                      </a:r>
                    </a:p>
                  </a:txBody>
                  <a:tcPr/>
                </a:tc>
                <a:tc>
                  <a:txBody>
                    <a:bodyPr lIns="54864" rIns="54864" tIns="18288" bIns="18288" wrap="square" anchor="ctr"/>
                    <a:lstStyle/>
                    <a:p>
                      <a:pPr algn="l"/>
                      <a:r>
                        <a:rPr sz="900" b="0">
                          <a:solidFill>
                            <a:srgbClr val="000000"/>
                          </a:solidFill>
                          <a:latin typeface="Calibri"/>
                        </a:rPr>
                        <a:t>2.594</a:t>
                      </a:r>
                    </a:p>
                  </a:txBody>
                  <a:tcPr/>
                </a:tc>
                <a:tc>
                  <a:txBody>
                    <a:bodyPr lIns="54864" rIns="54864" tIns="18288" bIns="18288" wrap="square" anchor="ctr"/>
                    <a:lstStyle/>
                    <a:p>
                      <a:pPr algn="l"/>
                      <a:r>
                        <a:rPr sz="900" b="0">
                          <a:solidFill>
                            <a:srgbClr val="000000"/>
                          </a:solidFill>
                          <a:latin typeface="Calibri"/>
                        </a:rPr>
                        <a:t>3.075</a:t>
                      </a:r>
                    </a:p>
                  </a:txBody>
                  <a:tcPr/>
                </a:tc>
                <a:tc>
                  <a:txBody>
                    <a:bodyPr lIns="54864" rIns="54864" tIns="18288" bIns="18288" wrap="square" anchor="ctr"/>
                    <a:lstStyle/>
                    <a:p>
                      <a:pPr algn="l"/>
                      <a:r>
                        <a:rPr sz="900" b="0">
                          <a:solidFill>
                            <a:srgbClr val="000000"/>
                          </a:solidFill>
                          <a:latin typeface="Calibri"/>
                        </a:rPr>
                        <a:t>0.50–0.85</a:t>
                      </a:r>
                    </a:p>
                  </a:txBody>
                  <a:tcPr/>
                </a:tc>
              </a:tr>
              <a:tr h="313512">
                <a:tc>
                  <a:txBody>
                    <a:bodyPr lIns="54864" rIns="54864" tIns="18288" bIns="18288" wrap="square" anchor="ctr"/>
                    <a:lstStyle/>
                    <a:p>
                      <a:pPr algn="l"/>
                      <a:r>
                        <a:rPr sz="900" b="0">
                          <a:solidFill>
                            <a:srgbClr val="000000"/>
                          </a:solidFill>
                          <a:latin typeface="Calibri"/>
                        </a:rPr>
                        <a:t>S27</a:t>
                      </a:r>
                    </a:p>
                  </a:txBody>
                  <a:tcPr/>
                </a:tc>
                <a:tc>
                  <a:txBody>
                    <a:bodyPr lIns="54864" rIns="54864" tIns="18288" bIns="18288" wrap="square" anchor="ctr"/>
                    <a:lstStyle/>
                    <a:p>
                      <a:pPr algn="l"/>
                      <a:r>
                        <a:rPr sz="900" b="0">
                          <a:solidFill>
                            <a:srgbClr val="000000"/>
                          </a:solidFill>
                          <a:latin typeface="Calibri"/>
                        </a:rPr>
                        <a:t>50 %</a:t>
                      </a:r>
                    </a:p>
                  </a:txBody>
                  <a:tcPr/>
                </a:tc>
                <a:tc>
                  <a:txBody>
                    <a:bodyPr lIns="54864" rIns="54864" tIns="18288" bIns="18288" wrap="square" anchor="ctr"/>
                    <a:lstStyle/>
                    <a:p>
                      <a:pPr algn="l"/>
                      <a:r>
                        <a:rPr sz="900" b="0">
                          <a:solidFill>
                            <a:srgbClr val="000000"/>
                          </a:solidFill>
                          <a:latin typeface="Calibri"/>
                        </a:rPr>
                        <a:t>1.216</a:t>
                      </a:r>
                    </a:p>
                  </a:txBody>
                  <a:tcPr/>
                </a:tc>
                <a:tc>
                  <a:txBody>
                    <a:bodyPr lIns="54864" rIns="54864" tIns="18288" bIns="18288" wrap="square" anchor="ctr"/>
                    <a:lstStyle/>
                    <a:p>
                      <a:pPr algn="l"/>
                      <a:r>
                        <a:rPr sz="900" b="0">
                          <a:solidFill>
                            <a:srgbClr val="000000"/>
                          </a:solidFill>
                          <a:latin typeface="Calibri"/>
                        </a:rPr>
                        <a:t>1.395</a:t>
                      </a:r>
                    </a:p>
                  </a:txBody>
                  <a:tcPr/>
                </a:tc>
                <a:tc>
                  <a:txBody>
                    <a:bodyPr lIns="54864" rIns="54864" tIns="18288" bIns="18288" wrap="square" anchor="ctr"/>
                    <a:lstStyle/>
                    <a:p>
                      <a:pPr algn="l"/>
                      <a:r>
                        <a:rPr sz="900" b="0">
                          <a:solidFill>
                            <a:srgbClr val="000000"/>
                          </a:solidFill>
                          <a:latin typeface="Calibri"/>
                        </a:rPr>
                        <a:t>0.31–0.61</a:t>
                      </a:r>
                    </a:p>
                  </a:txBody>
                  <a:tcPr/>
                </a:tc>
              </a:tr>
            </a:tbl>
          </a:graphicData>
        </a:graphic>
      </p:graphicFrame>
      <p:sp>
        <p:nvSpPr>
          <p:cNvPr id="11" name="TextBox 10"/>
          <p:cNvSpPr txBox="1"/>
          <p:nvPr/>
        </p:nvSpPr>
        <p:spPr>
          <a:xfrm>
            <a:off x="7269480" y="4297680"/>
            <a:ext cx="4572000" cy="1234440"/>
          </a:xfrm>
          <a:prstGeom prst="rect">
            <a:avLst/>
          </a:prstGeom>
          <a:noFill/>
        </p:spPr>
        <p:txBody>
          <a:bodyPr wrap="square" lIns="45720" rIns="45720" tIns="18288" bIns="18288" anchor="t">
            <a:spAutoFit/>
          </a:bodyPr>
          <a:lstStyle/>
          <a:p>
            <a:pPr algn="l"/>
            <a:r>
              <a:rPr sz="1050" b="0" i="0">
                <a:solidFill>
                  <a:srgbClr val="000000"/>
                </a:solidFill>
                <a:latin typeface="Calibri"/>
              </a:rPr>
              <a:t>S21's fixed-window E of 0.609 GPa was half the next lowest 50 % specimen — the fixed window had landed squarely on its toe. At 1.382 it now sits inside the family (0.95–1.50). The biggest movers are the runs the old rule was getting most wrong.</a:t>
            </a:r>
          </a:p>
        </p:txBody>
      </p:sp>
      <p:sp>
        <p:nvSpPr>
          <p:cNvPr id="12" name="Rectangle 11"/>
          <p:cNvSpPr/>
          <p:nvPr/>
        </p:nvSpPr>
        <p:spPr>
          <a:xfrm>
            <a:off x="365760" y="5623560"/>
            <a:ext cx="11475720" cy="6858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fixed window is not deleted — analyze() returns E_fixed and E_fixed_R2 next to E, so any run can still be stated on the old basis without re-deriving it, and this slide is computed from both.</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Rule: steepest stretch below 2 % strain, ≥ 0.25 % wide, ≥ 25 points, R² within 0.0005 of the straightest the record can offer (capped 0.999). The relative floor matters — an absolute one alone fell back to the fixed window on the noisier 50 % runs, which would have meant two rules over one dataset.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239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HOW FAR APART DO THE TWO CURVES ACTUALLY RUN?</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Two curves that “look identical” is not a measurement. Putting them on a common strain axis and subtracting is: agreement becomes a number at every strain, which is what a repeatability claim rests on.</a:t>
            </a:r>
          </a:p>
        </p:txBody>
      </p:sp>
      <p:pic>
        <p:nvPicPr>
          <p:cNvPr id="6" name="Picture 5" descr="s27_s28_deviation.png"/>
          <p:cNvPicPr>
            <a:picLocks noChangeAspect="1"/>
          </p:cNvPicPr>
          <p:nvPr/>
        </p:nvPicPr>
        <p:blipFill>
          <a:blip r:embed="rId2"/>
          <a:stretch>
            <a:fillRect/>
          </a:stretch>
        </p:blipFill>
        <p:spPr>
          <a:xfrm>
            <a:off x="365760" y="1664208"/>
            <a:ext cx="11475720" cy="3855125"/>
          </a:xfrm>
          <a:prstGeom prst="rect">
            <a:avLst/>
          </a:prstGeom>
        </p:spPr>
      </p:pic>
      <p:sp>
        <p:nvSpPr>
          <p:cNvPr id="7" name="Rounded Rectangle 6"/>
          <p:cNvSpPr/>
          <p:nvPr/>
        </p:nvSpPr>
        <p:spPr>
          <a:xfrm>
            <a:off x="365760"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0.200 MPa</a:t>
            </a:r>
          </a:p>
          <a:p>
            <a:pPr algn="ctr"/>
            <a:r>
              <a:rPr sz="950">
                <a:solidFill>
                  <a:srgbClr val="000000"/>
                </a:solidFill>
                <a:latin typeface="Calibri"/>
              </a:rPr>
              <a:t>mean |Δσ|</a:t>
            </a:r>
          </a:p>
        </p:txBody>
      </p:sp>
      <p:sp>
        <p:nvSpPr>
          <p:cNvPr id="8" name="Rounded Rectangle 7"/>
          <p:cNvSpPr/>
          <p:nvPr/>
        </p:nvSpPr>
        <p:spPr>
          <a:xfrm>
            <a:off x="2304288"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0.273 MPa</a:t>
            </a:r>
          </a:p>
          <a:p>
            <a:pPr algn="ctr"/>
            <a:r>
              <a:rPr sz="950">
                <a:solidFill>
                  <a:srgbClr val="000000"/>
                </a:solidFill>
                <a:latin typeface="Calibri"/>
              </a:rPr>
              <a:t>RMS</a:t>
            </a:r>
          </a:p>
        </p:txBody>
      </p:sp>
      <p:sp>
        <p:nvSpPr>
          <p:cNvPr id="9" name="Rounded Rectangle 8"/>
          <p:cNvSpPr/>
          <p:nvPr/>
        </p:nvSpPr>
        <p:spPr>
          <a:xfrm>
            <a:off x="4242816"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0.806 MPa</a:t>
            </a:r>
          </a:p>
          <a:p>
            <a:pPr algn="ctr"/>
            <a:r>
              <a:rPr sz="950">
                <a:solidFill>
                  <a:srgbClr val="000000"/>
                </a:solidFill>
                <a:latin typeface="Calibri"/>
              </a:rPr>
              <a:t>worst |Δσ|</a:t>
            </a:r>
          </a:p>
        </p:txBody>
      </p:sp>
      <p:sp>
        <p:nvSpPr>
          <p:cNvPr id="10" name="Rounded Rectangle 9"/>
          <p:cNvSpPr/>
          <p:nvPr/>
        </p:nvSpPr>
        <p:spPr>
          <a:xfrm>
            <a:off x="6181344"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3.98 %</a:t>
            </a:r>
          </a:p>
          <a:p>
            <a:pPr algn="ctr"/>
            <a:r>
              <a:rPr sz="950">
                <a:solidFill>
                  <a:srgbClr val="000000"/>
                </a:solidFill>
                <a:latin typeface="Calibri"/>
              </a:rPr>
              <a:t>worst at ε</a:t>
            </a:r>
          </a:p>
        </p:txBody>
      </p:sp>
      <p:sp>
        <p:nvSpPr>
          <p:cNvPr id="11" name="Rounded Rectangle 10"/>
          <p:cNvSpPr/>
          <p:nvPr/>
        </p:nvSpPr>
        <p:spPr>
          <a:xfrm>
            <a:off x="8119872" y="5577840"/>
            <a:ext cx="1828800" cy="749808"/>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1.32 %</a:t>
            </a:r>
          </a:p>
          <a:p>
            <a:pPr algn="ctr"/>
            <a:r>
              <a:rPr sz="950">
                <a:solidFill>
                  <a:srgbClr val="000000"/>
                </a:solidFill>
                <a:latin typeface="Calibri"/>
              </a:rPr>
              <a:t>mean |Δ|</a:t>
            </a:r>
          </a:p>
        </p:txBody>
      </p:sp>
      <p:sp>
        <p:nvSpPr>
          <p:cNvPr id="12" name="Rounded Rectangle 11"/>
          <p:cNvSpPr/>
          <p:nvPr/>
        </p:nvSpPr>
        <p:spPr>
          <a:xfrm>
            <a:off x="10058400" y="5577840"/>
            <a:ext cx="1828800" cy="749808"/>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44</a:t>
            </a:r>
          </a:p>
          <a:p>
            <a:pPr algn="ctr"/>
            <a:r>
              <a:rPr sz="950">
                <a:solidFill>
                  <a:srgbClr val="000000"/>
                </a:solidFill>
                <a:latin typeface="Calibri"/>
              </a:rPr>
              <a:t>matched points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Shared strain range ε 0.10–3.98 %. Δσ = σ(S28) − σ(S27) at matched strain; the worst case sits at the very end, where one specimen has begun to fracture and the other has not.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(1/3)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0.00 % → 1.90 %,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0.00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4.88</a:t>
                      </a:r>
                    </a:p>
                  </a:txBody>
                  <a:tcPr/>
                </a:tc>
                <a:tc>
                  <a:txBody>
                    <a:bodyPr lIns="54864" rIns="54864" tIns="18288" bIns="18288" wrap="square" anchor="ctr"/>
                    <a:lstStyle/>
                    <a:p>
                      <a:pPr algn="l"/>
                      <a:r>
                        <a:rPr sz="900" b="0">
                          <a:solidFill>
                            <a:srgbClr val="000000"/>
                          </a:solidFill>
                          <a:latin typeface="Calibri"/>
                        </a:rPr>
                        <a:t>4.98</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+2.0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0.20</a:t>
                      </a:r>
                    </a:p>
                  </a:txBody>
                  <a:tcPr/>
                </a:tc>
                <a:tc>
                  <a:txBody>
                    <a:bodyPr lIns="54864" rIns="54864" tIns="18288" bIns="18288" wrap="square" anchor="ctr"/>
                    <a:lstStyle/>
                    <a:p>
                      <a:pPr algn="l"/>
                      <a:r>
                        <a:rPr sz="900" b="0">
                          <a:solidFill>
                            <a:srgbClr val="000000"/>
                          </a:solidFill>
                          <a:latin typeface="Calibri"/>
                        </a:rPr>
                        <a:t>5.96</a:t>
                      </a:r>
                    </a:p>
                  </a:txBody>
                  <a:tcPr/>
                </a:tc>
                <a:tc>
                  <a:txBody>
                    <a:bodyPr lIns="54864" rIns="54864" tIns="18288" bIns="18288" wrap="square" anchor="ctr"/>
                    <a:lstStyle/>
                    <a:p>
                      <a:pPr algn="l"/>
                      <a:r>
                        <a:rPr sz="900" b="0">
                          <a:solidFill>
                            <a:srgbClr val="000000"/>
                          </a:solidFill>
                          <a:latin typeface="Calibri"/>
                        </a:rPr>
                        <a:t>6.30</a:t>
                      </a:r>
                    </a:p>
                  </a:txBody>
                  <a:tcPr/>
                </a:tc>
                <a:tc>
                  <a:txBody>
                    <a:bodyPr lIns="54864" rIns="54864" tIns="18288" bIns="18288" wrap="square" anchor="ctr"/>
                    <a:lstStyle/>
                    <a:p>
                      <a:pPr algn="l"/>
                      <a:r>
                        <a:rPr sz="900" b="0">
                          <a:solidFill>
                            <a:srgbClr val="000000"/>
                          </a:solidFill>
                          <a:latin typeface="Calibri"/>
                        </a:rPr>
                        <a:t>+0.34</a:t>
                      </a:r>
                    </a:p>
                  </a:txBody>
                  <a:tcPr/>
                </a:tc>
                <a:tc>
                  <a:txBody>
                    <a:bodyPr lIns="54864" rIns="54864" tIns="18288" bIns="18288" wrap="square" anchor="ctr"/>
                    <a:lstStyle/>
                    <a:p>
                      <a:pPr algn="l"/>
                      <a:r>
                        <a:rPr sz="900" b="0">
                          <a:solidFill>
                            <a:srgbClr val="000000"/>
                          </a:solidFill>
                          <a:latin typeface="Calibri"/>
                        </a:rPr>
                        <a:t>+5.6</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0.30</a:t>
                      </a:r>
                    </a:p>
                  </a:txBody>
                  <a:tcPr/>
                </a:tc>
                <a:tc>
                  <a:txBody>
                    <a:bodyPr lIns="54864" rIns="54864" tIns="18288" bIns="18288" wrap="square" anchor="ctr"/>
                    <a:lstStyle/>
                    <a:p>
                      <a:pPr algn="l"/>
                      <a:r>
                        <a:rPr sz="900" b="0">
                          <a:solidFill>
                            <a:srgbClr val="000000"/>
                          </a:solidFill>
                          <a:latin typeface="Calibri"/>
                        </a:rPr>
                        <a:t>7.30</a:t>
                      </a:r>
                    </a:p>
                  </a:txBody>
                  <a:tcPr/>
                </a:tc>
                <a:tc>
                  <a:txBody>
                    <a:bodyPr lIns="54864" rIns="54864" tIns="18288" bIns="18288" wrap="square" anchor="ctr"/>
                    <a:lstStyle/>
                    <a:p>
                      <a:pPr algn="l"/>
                      <a:r>
                        <a:rPr sz="900" b="0">
                          <a:solidFill>
                            <a:srgbClr val="000000"/>
                          </a:solidFill>
                          <a:latin typeface="Calibri"/>
                        </a:rPr>
                        <a:t>7.55</a:t>
                      </a:r>
                    </a:p>
                  </a:txBody>
                  <a:tcPr/>
                </a:tc>
                <a:tc>
                  <a:txBody>
                    <a:bodyPr lIns="54864" rIns="54864" tIns="18288" bIns="18288" wrap="square" anchor="ctr"/>
                    <a:lstStyle/>
                    <a:p>
                      <a:pPr algn="l"/>
                      <a:r>
                        <a:rPr sz="900" b="0">
                          <a:solidFill>
                            <a:srgbClr val="000000"/>
                          </a:solidFill>
                          <a:latin typeface="Calibri"/>
                        </a:rPr>
                        <a:t>+0.26</a:t>
                      </a:r>
                    </a:p>
                  </a:txBody>
                  <a:tcPr/>
                </a:tc>
                <a:tc>
                  <a:txBody>
                    <a:bodyPr lIns="54864" rIns="54864" tIns="18288" bIns="18288" wrap="square" anchor="ctr"/>
                    <a:lstStyle/>
                    <a:p>
                      <a:pPr algn="l"/>
                      <a:r>
                        <a:rPr sz="900" b="0">
                          <a:solidFill>
                            <a:srgbClr val="000000"/>
                          </a:solidFill>
                          <a:latin typeface="Calibri"/>
                        </a:rPr>
                        <a:t>+3.5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0.40</a:t>
                      </a:r>
                    </a:p>
                  </a:txBody>
                  <a:tcPr/>
                </a:tc>
                <a:tc>
                  <a:txBody>
                    <a:bodyPr lIns="54864" rIns="54864" tIns="18288" bIns="18288" wrap="square" anchor="ctr"/>
                    <a:lstStyle/>
                    <a:p>
                      <a:pPr algn="l"/>
                      <a:r>
                        <a:rPr sz="900" b="0">
                          <a:solidFill>
                            <a:srgbClr val="000000"/>
                          </a:solidFill>
                          <a:latin typeface="Calibri"/>
                        </a:rPr>
                        <a:t>8.58</a:t>
                      </a:r>
                    </a:p>
                  </a:txBody>
                  <a:tcPr/>
                </a:tc>
                <a:tc>
                  <a:txBody>
                    <a:bodyPr lIns="54864" rIns="54864" tIns="18288" bIns="18288" wrap="square" anchor="ctr"/>
                    <a:lstStyle/>
                    <a:p>
                      <a:pPr algn="l"/>
                      <a:r>
                        <a:rPr sz="900" b="0">
                          <a:solidFill>
                            <a:srgbClr val="000000"/>
                          </a:solidFill>
                          <a:latin typeface="Calibri"/>
                        </a:rPr>
                        <a:t>8.80</a:t>
                      </a:r>
                    </a:p>
                  </a:txBody>
                  <a:tcPr/>
                </a:tc>
                <a:tc>
                  <a:txBody>
                    <a:bodyPr lIns="54864" rIns="54864" tIns="18288" bIns="18288" wrap="square" anchor="ctr"/>
                    <a:lstStyle/>
                    <a:p>
                      <a:pPr algn="l"/>
                      <a:r>
                        <a:rPr sz="900" b="0">
                          <a:solidFill>
                            <a:srgbClr val="000000"/>
                          </a:solidFill>
                          <a:latin typeface="Calibri"/>
                        </a:rPr>
                        <a:t>+0.22</a:t>
                      </a:r>
                    </a:p>
                  </a:txBody>
                  <a:tcPr/>
                </a:tc>
                <a:tc>
                  <a:txBody>
                    <a:bodyPr lIns="54864" rIns="54864" tIns="18288" bIns="18288" wrap="square" anchor="ctr"/>
                    <a:lstStyle/>
                    <a:p>
                      <a:pPr algn="l"/>
                      <a:r>
                        <a:rPr sz="900" b="0">
                          <a:solidFill>
                            <a:srgbClr val="000000"/>
                          </a:solidFill>
                          <a:latin typeface="Calibri"/>
                        </a:rPr>
                        <a:t>+2.5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0.50</a:t>
                      </a:r>
                    </a:p>
                  </a:txBody>
                  <a:tcPr/>
                </a:tc>
                <a:tc>
                  <a:txBody>
                    <a:bodyPr lIns="54864" rIns="54864" tIns="18288" bIns="18288" wrap="square" anchor="ctr"/>
                    <a:lstStyle/>
                    <a:p>
                      <a:pPr algn="l"/>
                      <a:r>
                        <a:rPr sz="900" b="0">
                          <a:solidFill>
                            <a:srgbClr val="000000"/>
                          </a:solidFill>
                          <a:latin typeface="Calibri"/>
                        </a:rPr>
                        <a:t>10.01</a:t>
                      </a:r>
                    </a:p>
                  </a:txBody>
                  <a:tcPr/>
                </a:tc>
                <a:tc>
                  <a:txBody>
                    <a:bodyPr lIns="54864" rIns="54864" tIns="18288" bIns="18288" wrap="square" anchor="ctr"/>
                    <a:lstStyle/>
                    <a:p>
                      <a:pPr algn="l"/>
                      <a:r>
                        <a:rPr sz="900" b="0">
                          <a:solidFill>
                            <a:srgbClr val="000000"/>
                          </a:solidFill>
                          <a:latin typeface="Calibri"/>
                        </a:rPr>
                        <a:t>10.04</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0.60</a:t>
                      </a:r>
                    </a:p>
                  </a:txBody>
                  <a:tcPr/>
                </a:tc>
                <a:tc>
                  <a:txBody>
                    <a:bodyPr lIns="54864" rIns="54864" tIns="18288" bIns="18288" wrap="square" anchor="ctr"/>
                    <a:lstStyle/>
                    <a:p>
                      <a:pPr algn="l"/>
                      <a:r>
                        <a:rPr sz="900" b="0">
                          <a:solidFill>
                            <a:srgbClr val="000000"/>
                          </a:solidFill>
                          <a:latin typeface="Calibri"/>
                        </a:rPr>
                        <a:t>11.31</a:t>
                      </a:r>
                    </a:p>
                  </a:txBody>
                  <a:tcPr/>
                </a:tc>
                <a:tc>
                  <a:txBody>
                    <a:bodyPr lIns="54864" rIns="54864" tIns="18288" bIns="18288" wrap="square" anchor="ctr"/>
                    <a:lstStyle/>
                    <a:p>
                      <a:pPr algn="l"/>
                      <a:r>
                        <a:rPr sz="900" b="0">
                          <a:solidFill>
                            <a:srgbClr val="000000"/>
                          </a:solidFill>
                          <a:latin typeface="Calibri"/>
                        </a:rPr>
                        <a:t>11.24</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-0.6</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0.70</a:t>
                      </a:r>
                    </a:p>
                  </a:txBody>
                  <a:tcPr/>
                </a:tc>
                <a:tc>
                  <a:txBody>
                    <a:bodyPr lIns="54864" rIns="54864" tIns="18288" bIns="18288" wrap="square" anchor="ctr"/>
                    <a:lstStyle/>
                    <a:p>
                      <a:pPr algn="l"/>
                      <a:r>
                        <a:rPr sz="900" b="0">
                          <a:solidFill>
                            <a:srgbClr val="000000"/>
                          </a:solidFill>
                          <a:latin typeface="Calibri"/>
                        </a:rPr>
                        <a:t>12.62</a:t>
                      </a:r>
                    </a:p>
                  </a:txBody>
                  <a:tcPr/>
                </a:tc>
                <a:tc>
                  <a:txBody>
                    <a:bodyPr lIns="54864" rIns="54864" tIns="18288" bIns="18288" wrap="square" anchor="ctr"/>
                    <a:lstStyle/>
                    <a:p>
                      <a:pPr algn="l"/>
                      <a:r>
                        <a:rPr sz="900" b="0">
                          <a:solidFill>
                            <a:srgbClr val="000000"/>
                          </a:solidFill>
                          <a:latin typeface="Calibri"/>
                        </a:rPr>
                        <a:t>12.43</a:t>
                      </a:r>
                    </a:p>
                  </a:txBody>
                  <a:tcPr/>
                </a:tc>
                <a:tc>
                  <a:txBody>
                    <a:bodyPr lIns="54864" rIns="54864" tIns="18288" bIns="18288" wrap="square" anchor="ctr"/>
                    <a:lstStyle/>
                    <a:p>
                      <a:pPr algn="l"/>
                      <a:r>
                        <a:rPr sz="900" b="0">
                          <a:solidFill>
                            <a:srgbClr val="000000"/>
                          </a:solidFill>
                          <a:latin typeface="Calibri"/>
                        </a:rPr>
                        <a:t>-0.19</a:t>
                      </a:r>
                    </a:p>
                  </a:txBody>
                  <a:tcPr/>
                </a:tc>
                <a:tc>
                  <a:txBody>
                    <a:bodyPr lIns="54864" rIns="54864" tIns="18288" bIns="18288" wrap="square" anchor="ctr"/>
                    <a:lstStyle/>
                    <a:p>
                      <a:pPr algn="l"/>
                      <a:r>
                        <a:rPr sz="900" b="0">
                          <a:solidFill>
                            <a:srgbClr val="000000"/>
                          </a:solidFill>
                          <a:latin typeface="Calibri"/>
                        </a:rPr>
                        <a:t>-1.5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0.80</a:t>
                      </a:r>
                    </a:p>
                  </a:txBody>
                  <a:tcPr/>
                </a:tc>
                <a:tc>
                  <a:txBody>
                    <a:bodyPr lIns="54864" rIns="54864" tIns="18288" bIns="18288" wrap="square" anchor="ctr"/>
                    <a:lstStyle/>
                    <a:p>
                      <a:pPr algn="l"/>
                      <a:r>
                        <a:rPr sz="900" b="0">
                          <a:solidFill>
                            <a:srgbClr val="000000"/>
                          </a:solidFill>
                          <a:latin typeface="Calibri"/>
                        </a:rPr>
                        <a:t>13.88</a:t>
                      </a:r>
                    </a:p>
                  </a:txBody>
                  <a:tcPr/>
                </a:tc>
                <a:tc>
                  <a:txBody>
                    <a:bodyPr lIns="54864" rIns="54864" tIns="18288" bIns="18288" wrap="square" anchor="ctr"/>
                    <a:lstStyle/>
                    <a:p>
                      <a:pPr algn="l"/>
                      <a:r>
                        <a:rPr sz="900" b="0">
                          <a:solidFill>
                            <a:srgbClr val="000000"/>
                          </a:solidFill>
                          <a:latin typeface="Calibri"/>
                        </a:rPr>
                        <a:t>13.58</a:t>
                      </a:r>
                    </a:p>
                  </a:txBody>
                  <a:tcPr/>
                </a:tc>
                <a:tc>
                  <a:txBody>
                    <a:bodyPr lIns="54864" rIns="54864" tIns="18288" bIns="18288" wrap="square" anchor="ctr"/>
                    <a:lstStyle/>
                    <a:p>
                      <a:pPr algn="l"/>
                      <a:r>
                        <a:rPr sz="900" b="0">
                          <a:solidFill>
                            <a:srgbClr val="000000"/>
                          </a:solidFill>
                          <a:latin typeface="Calibri"/>
                        </a:rPr>
                        <a:t>-0.30</a:t>
                      </a:r>
                    </a:p>
                  </a:txBody>
                  <a:tcPr/>
                </a:tc>
                <a:tc>
                  <a:txBody>
                    <a:bodyPr lIns="54864" rIns="54864" tIns="18288" bIns="18288" wrap="square" anchor="ctr"/>
                    <a:lstStyle/>
                    <a:p>
                      <a:pPr algn="l"/>
                      <a:r>
                        <a:rPr sz="900" b="0">
                          <a:solidFill>
                            <a:srgbClr val="000000"/>
                          </a:solidFill>
                          <a:latin typeface="Calibri"/>
                        </a:rPr>
                        <a:t>-2.1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0.90</a:t>
                      </a:r>
                    </a:p>
                  </a:txBody>
                  <a:tcPr/>
                </a:tc>
                <a:tc>
                  <a:txBody>
                    <a:bodyPr lIns="54864" rIns="54864" tIns="18288" bIns="18288" wrap="square" anchor="ctr"/>
                    <a:lstStyle/>
                    <a:p>
                      <a:pPr algn="l"/>
                      <a:r>
                        <a:rPr sz="900" b="0">
                          <a:solidFill>
                            <a:srgbClr val="000000"/>
                          </a:solidFill>
                          <a:latin typeface="Calibri"/>
                        </a:rPr>
                        <a:t>15.05</a:t>
                      </a:r>
                    </a:p>
                  </a:txBody>
                  <a:tcPr/>
                </a:tc>
                <a:tc>
                  <a:txBody>
                    <a:bodyPr lIns="54864" rIns="54864" tIns="18288" bIns="18288" wrap="square" anchor="ctr"/>
                    <a:lstStyle/>
                    <a:p>
                      <a:pPr algn="l"/>
                      <a:r>
                        <a:rPr sz="900" b="0">
                          <a:solidFill>
                            <a:srgbClr val="000000"/>
                          </a:solidFill>
                          <a:latin typeface="Calibri"/>
                        </a:rPr>
                        <a:t>14.66</a:t>
                      </a:r>
                    </a:p>
                  </a:txBody>
                  <a:tcPr/>
                </a:tc>
                <a:tc>
                  <a:txBody>
                    <a:bodyPr lIns="54864" rIns="54864" tIns="18288" bIns="18288" wrap="square" anchor="ctr"/>
                    <a:lstStyle/>
                    <a:p>
                      <a:pPr algn="l"/>
                      <a:r>
                        <a:rPr sz="900" b="0">
                          <a:solidFill>
                            <a:srgbClr val="000000"/>
                          </a:solidFill>
                          <a:latin typeface="Calibri"/>
                        </a:rPr>
                        <a:t>-0.38</a:t>
                      </a:r>
                    </a:p>
                  </a:txBody>
                  <a:tcPr/>
                </a:tc>
                <a:tc>
                  <a:txBody>
                    <a:bodyPr lIns="54864" rIns="54864" tIns="18288" bIns="18288" wrap="square" anchor="ctr"/>
                    <a:lstStyle/>
                    <a:p>
                      <a:pPr algn="l"/>
                      <a:r>
                        <a:rPr sz="900" b="0">
                          <a:solidFill>
                            <a:srgbClr val="000000"/>
                          </a:solidFill>
                          <a:latin typeface="Calibri"/>
                        </a:rPr>
                        <a:t>-2.5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16.14</a:t>
                      </a:r>
                    </a:p>
                  </a:txBody>
                  <a:tcPr/>
                </a:tc>
                <a:tc>
                  <a:txBody>
                    <a:bodyPr lIns="54864" rIns="54864" tIns="18288" bIns="18288" wrap="square" anchor="ctr"/>
                    <a:lstStyle/>
                    <a:p>
                      <a:pPr algn="l"/>
                      <a:r>
                        <a:rPr sz="900" b="0">
                          <a:solidFill>
                            <a:srgbClr val="000000"/>
                          </a:solidFill>
                          <a:latin typeface="Calibri"/>
                        </a:rPr>
                        <a:t>15.70</a:t>
                      </a:r>
                    </a:p>
                  </a:txBody>
                  <a:tcPr/>
                </a:tc>
                <a:tc>
                  <a:txBody>
                    <a:bodyPr lIns="54864" rIns="54864" tIns="18288" bIns="18288" wrap="square" anchor="ctr"/>
                    <a:lstStyle/>
                    <a:p>
                      <a:pPr algn="l"/>
                      <a:r>
                        <a:rPr sz="900" b="0">
                          <a:solidFill>
                            <a:srgbClr val="000000"/>
                          </a:solidFill>
                          <a:latin typeface="Calibri"/>
                        </a:rPr>
                        <a:t>-0.44</a:t>
                      </a:r>
                    </a:p>
                  </a:txBody>
                  <a:tcPr/>
                </a:tc>
                <a:tc>
                  <a:txBody>
                    <a:bodyPr lIns="54864" rIns="54864" tIns="18288" bIns="18288" wrap="square" anchor="ctr"/>
                    <a:lstStyle/>
                    <a:p>
                      <a:pPr algn="l"/>
                      <a:r>
                        <a:rPr sz="900" b="0">
                          <a:solidFill>
                            <a:srgbClr val="000000"/>
                          </a:solidFill>
                          <a:latin typeface="Calibri"/>
                        </a:rPr>
                        <a:t>-2.7</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1.10</a:t>
                      </a:r>
                    </a:p>
                  </a:txBody>
                  <a:tcPr/>
                </a:tc>
                <a:tc>
                  <a:txBody>
                    <a:bodyPr lIns="54864" rIns="54864" tIns="18288" bIns="18288" wrap="square" anchor="ctr"/>
                    <a:lstStyle/>
                    <a:p>
                      <a:pPr algn="l"/>
                      <a:r>
                        <a:rPr sz="900" b="0">
                          <a:solidFill>
                            <a:srgbClr val="000000"/>
                          </a:solidFill>
                          <a:latin typeface="Calibri"/>
                        </a:rPr>
                        <a:t>17.12</a:t>
                      </a:r>
                    </a:p>
                  </a:txBody>
                  <a:tcPr/>
                </a:tc>
                <a:tc>
                  <a:txBody>
                    <a:bodyPr lIns="54864" rIns="54864" tIns="18288" bIns="18288" wrap="square" anchor="ctr"/>
                    <a:lstStyle/>
                    <a:p>
                      <a:pPr algn="l"/>
                      <a:r>
                        <a:rPr sz="900" b="0">
                          <a:solidFill>
                            <a:srgbClr val="000000"/>
                          </a:solidFill>
                          <a:latin typeface="Calibri"/>
                        </a:rPr>
                        <a:t>16.61</a:t>
                      </a:r>
                    </a:p>
                  </a:txBody>
                  <a:tcPr/>
                </a:tc>
                <a:tc>
                  <a:txBody>
                    <a:bodyPr lIns="54864" rIns="54864" tIns="18288" bIns="18288" wrap="square" anchor="ctr"/>
                    <a:lstStyle/>
                    <a:p>
                      <a:pPr algn="l"/>
                      <a:r>
                        <a:rPr sz="900" b="0">
                          <a:solidFill>
                            <a:srgbClr val="000000"/>
                          </a:solidFill>
                          <a:latin typeface="Calibri"/>
                        </a:rPr>
                        <a:t>-0.51</a:t>
                      </a:r>
                    </a:p>
                  </a:txBody>
                  <a:tcPr/>
                </a:tc>
                <a:tc>
                  <a:txBody>
                    <a:bodyPr lIns="54864" rIns="54864" tIns="18288" bIns="18288" wrap="square" anchor="ctr"/>
                    <a:lstStyle/>
                    <a:p>
                      <a:pPr algn="l"/>
                      <a:r>
                        <a:rPr sz="900" b="0">
                          <a:solidFill>
                            <a:srgbClr val="000000"/>
                          </a:solidFill>
                          <a:latin typeface="Calibri"/>
                        </a:rPr>
                        <a:t>-3.0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1.20</a:t>
                      </a:r>
                    </a:p>
                  </a:txBody>
                  <a:tcPr/>
                </a:tc>
                <a:tc>
                  <a:txBody>
                    <a:bodyPr lIns="54864" rIns="54864" tIns="18288" bIns="18288" wrap="square" anchor="ctr"/>
                    <a:lstStyle/>
                    <a:p>
                      <a:pPr algn="l"/>
                      <a:r>
                        <a:rPr sz="900" b="0">
                          <a:solidFill>
                            <a:srgbClr val="000000"/>
                          </a:solidFill>
                          <a:latin typeface="Calibri"/>
                        </a:rPr>
                        <a:t>17.96</a:t>
                      </a:r>
                    </a:p>
                  </a:txBody>
                  <a:tcPr/>
                </a:tc>
                <a:tc>
                  <a:txBody>
                    <a:bodyPr lIns="54864" rIns="54864" tIns="18288" bIns="18288" wrap="square" anchor="ctr"/>
                    <a:lstStyle/>
                    <a:p>
                      <a:pPr algn="l"/>
                      <a:r>
                        <a:rPr sz="900" b="0">
                          <a:solidFill>
                            <a:srgbClr val="000000"/>
                          </a:solidFill>
                          <a:latin typeface="Calibri"/>
                        </a:rPr>
                        <a:t>17.47</a:t>
                      </a:r>
                    </a:p>
                  </a:txBody>
                  <a:tcPr/>
                </a:tc>
                <a:tc>
                  <a:txBody>
                    <a:bodyPr lIns="54864" rIns="54864" tIns="18288" bIns="18288" wrap="square" anchor="ctr"/>
                    <a:lstStyle/>
                    <a:p>
                      <a:pPr algn="l"/>
                      <a:r>
                        <a:rPr sz="900" b="0">
                          <a:solidFill>
                            <a:srgbClr val="000000"/>
                          </a:solidFill>
                          <a:latin typeface="Calibri"/>
                        </a:rPr>
                        <a:t>-0.50</a:t>
                      </a:r>
                    </a:p>
                  </a:txBody>
                  <a:tcPr/>
                </a:tc>
                <a:tc>
                  <a:txBody>
                    <a:bodyPr lIns="54864" rIns="54864" tIns="18288" bIns="18288" wrap="square" anchor="ctr"/>
                    <a:lstStyle/>
                    <a:p>
                      <a:pPr algn="l"/>
                      <a:r>
                        <a:rPr sz="900" b="0">
                          <a:solidFill>
                            <a:srgbClr val="000000"/>
                          </a:solidFill>
                          <a:latin typeface="Calibri"/>
                        </a:rPr>
                        <a:t>-2.8</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1.30</a:t>
                      </a:r>
                    </a:p>
                  </a:txBody>
                  <a:tcPr/>
                </a:tc>
                <a:tc>
                  <a:txBody>
                    <a:bodyPr lIns="54864" rIns="54864" tIns="18288" bIns="18288" wrap="square" anchor="ctr"/>
                    <a:lstStyle/>
                    <a:p>
                      <a:pPr algn="l"/>
                      <a:r>
                        <a:rPr sz="900" b="0">
                          <a:solidFill>
                            <a:srgbClr val="000000"/>
                          </a:solidFill>
                          <a:latin typeface="Calibri"/>
                        </a:rPr>
                        <a:t>18.65</a:t>
                      </a:r>
                    </a:p>
                  </a:txBody>
                  <a:tcPr/>
                </a:tc>
                <a:tc>
                  <a:txBody>
                    <a:bodyPr lIns="54864" rIns="54864" tIns="18288" bIns="18288" wrap="square" anchor="ctr"/>
                    <a:lstStyle/>
                    <a:p>
                      <a:pPr algn="l"/>
                      <a:r>
                        <a:rPr sz="900" b="0">
                          <a:solidFill>
                            <a:srgbClr val="000000"/>
                          </a:solidFill>
                          <a:latin typeface="Calibri"/>
                        </a:rPr>
                        <a:t>18.14</a:t>
                      </a:r>
                    </a:p>
                  </a:txBody>
                  <a:tcPr/>
                </a:tc>
                <a:tc>
                  <a:txBody>
                    <a:bodyPr lIns="54864" rIns="54864" tIns="18288" bIns="18288" wrap="square" anchor="ctr"/>
                    <a:lstStyle/>
                    <a:p>
                      <a:pPr algn="l"/>
                      <a:r>
                        <a:rPr sz="900" b="0">
                          <a:solidFill>
                            <a:srgbClr val="000000"/>
                          </a:solidFill>
                          <a:latin typeface="Calibri"/>
                        </a:rPr>
                        <a:t>-0.51</a:t>
                      </a:r>
                    </a:p>
                  </a:txBody>
                  <a:tcPr/>
                </a:tc>
                <a:tc>
                  <a:txBody>
                    <a:bodyPr lIns="54864" rIns="54864" tIns="18288" bIns="18288" wrap="square" anchor="ctr"/>
                    <a:lstStyle/>
                    <a:p>
                      <a:pPr algn="l"/>
                      <a:r>
                        <a:rPr sz="900" b="0">
                          <a:solidFill>
                            <a:srgbClr val="000000"/>
                          </a:solidFill>
                          <a:latin typeface="Calibri"/>
                        </a:rPr>
                        <a:t>-2.7</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1">
                          <a:solidFill>
                            <a:srgbClr val="000000"/>
                          </a:solidFill>
                          <a:latin typeface="Calibri"/>
                        </a:rPr>
                        <a:t>1.34</a:t>
                      </a:r>
                    </a:p>
                  </a:txBody>
                  <a:tcPr>
                    <a:solidFill>
                      <a:srgbClr val="C8E6C9"/>
                    </a:solidFill>
                  </a:tcPr>
                </a:tc>
                <a:tc>
                  <a:txBody>
                    <a:bodyPr lIns="54864" rIns="54864" tIns="18288" bIns="18288" wrap="square" anchor="ctr"/>
                    <a:lstStyle/>
                    <a:p>
                      <a:pPr algn="l"/>
                      <a:r>
                        <a:rPr sz="900" b="1">
                          <a:solidFill>
                            <a:srgbClr val="000000"/>
                          </a:solidFill>
                          <a:latin typeface="Calibri"/>
                        </a:rPr>
                        <a:t>18.83</a:t>
                      </a:r>
                    </a:p>
                  </a:txBody>
                  <a:tcPr>
                    <a:solidFill>
                      <a:srgbClr val="C8E6C9"/>
                    </a:solidFill>
                  </a:tcPr>
                </a:tc>
                <a:tc>
                  <a:txBody>
                    <a:bodyPr lIns="54864" rIns="54864" tIns="18288" bIns="18288" wrap="square" anchor="ctr"/>
                    <a:lstStyle/>
                    <a:p>
                      <a:pPr algn="l"/>
                      <a:r>
                        <a:rPr sz="900" b="1">
                          <a:solidFill>
                            <a:srgbClr val="000000"/>
                          </a:solidFill>
                          <a:latin typeface="Calibri"/>
                        </a:rPr>
                        <a:t>18.41</a:t>
                      </a:r>
                    </a:p>
                  </a:txBody>
                  <a:tcPr>
                    <a:solidFill>
                      <a:srgbClr val="C8E6C9"/>
                    </a:solidFill>
                  </a:tcPr>
                </a:tc>
                <a:tc>
                  <a:txBody>
                    <a:bodyPr lIns="54864" rIns="54864" tIns="18288" bIns="18288" wrap="square" anchor="ctr"/>
                    <a:lstStyle/>
                    <a:p>
                      <a:pPr algn="l"/>
                      <a:r>
                        <a:rPr sz="900" b="1">
                          <a:solidFill>
                            <a:srgbClr val="000000"/>
                          </a:solidFill>
                          <a:latin typeface="Calibri"/>
                        </a:rPr>
                        <a:t>-0.42</a:t>
                      </a:r>
                    </a:p>
                  </a:txBody>
                  <a:tcPr>
                    <a:solidFill>
                      <a:srgbClr val="C8E6C9"/>
                    </a:solidFill>
                  </a:tcPr>
                </a:tc>
                <a:tc>
                  <a:txBody>
                    <a:bodyPr lIns="54864" rIns="54864" tIns="18288" bIns="18288" wrap="square" anchor="ctr"/>
                    <a:lstStyle/>
                    <a:p>
                      <a:pPr algn="l"/>
                      <a:r>
                        <a:rPr sz="900" b="1">
                          <a:solidFill>
                            <a:srgbClr val="000000"/>
                          </a:solidFill>
                          <a:latin typeface="Calibri"/>
                        </a:rPr>
                        <a:t>-2.3</a:t>
                      </a:r>
                    </a:p>
                  </a:txBody>
                  <a:tcPr>
                    <a:solidFill>
                      <a:srgbClr val="C8E6C9"/>
                    </a:solidFill>
                  </a:tcPr>
                </a:tc>
                <a:tc>
                  <a:txBody>
                    <a:bodyPr lIns="54864" rIns="54864" tIns="18288" bIns="18288" wrap="square" anchor="ctr"/>
                    <a:lstStyle/>
                    <a:p>
                      <a:pPr algn="l"/>
                      <a:r>
                        <a:rPr sz="900" b="1">
                          <a:solidFill>
                            <a:srgbClr val="000000"/>
                          </a:solidFill>
                          <a:latin typeface="Calibri"/>
                        </a:rPr>
                        <a:t>S27 yield</a:t>
                      </a:r>
                    </a:p>
                  </a:txBody>
                  <a:tcPr>
                    <a:solidFill>
                      <a:srgbClr val="C8E6C9"/>
                    </a:solidFill>
                  </a:tcPr>
                </a:tc>
              </a:tr>
              <a:tr h="365760">
                <a:tc>
                  <a:txBody>
                    <a:bodyPr lIns="54864" rIns="54864" tIns="18288" bIns="18288" wrap="square" anchor="ctr"/>
                    <a:lstStyle/>
                    <a:p>
                      <a:pPr algn="l"/>
                      <a:r>
                        <a:rPr sz="900" b="1">
                          <a:solidFill>
                            <a:srgbClr val="000000"/>
                          </a:solidFill>
                          <a:latin typeface="Calibri"/>
                        </a:rPr>
                        <a:t>1.34</a:t>
                      </a:r>
                    </a:p>
                  </a:txBody>
                  <a:tcPr>
                    <a:solidFill>
                      <a:srgbClr val="C8E6C9"/>
                    </a:solidFill>
                  </a:tcPr>
                </a:tc>
                <a:tc>
                  <a:txBody>
                    <a:bodyPr lIns="54864" rIns="54864" tIns="18288" bIns="18288" wrap="square" anchor="ctr"/>
                    <a:lstStyle/>
                    <a:p>
                      <a:pPr algn="l"/>
                      <a:r>
                        <a:rPr sz="900" b="1">
                          <a:solidFill>
                            <a:srgbClr val="000000"/>
                          </a:solidFill>
                          <a:latin typeface="Calibri"/>
                        </a:rPr>
                        <a:t>18.85</a:t>
                      </a:r>
                    </a:p>
                  </a:txBody>
                  <a:tcPr>
                    <a:solidFill>
                      <a:srgbClr val="C8E6C9"/>
                    </a:solidFill>
                  </a:tcPr>
                </a:tc>
                <a:tc>
                  <a:txBody>
                    <a:bodyPr lIns="54864" rIns="54864" tIns="18288" bIns="18288" wrap="square" anchor="ctr"/>
                    <a:lstStyle/>
                    <a:p>
                      <a:pPr algn="l"/>
                      <a:r>
                        <a:rPr sz="900" b="1">
                          <a:solidFill>
                            <a:srgbClr val="000000"/>
                          </a:solidFill>
                          <a:latin typeface="Calibri"/>
                        </a:rPr>
                        <a:t>18.33</a:t>
                      </a:r>
                    </a:p>
                  </a:txBody>
                  <a:tcPr>
                    <a:solidFill>
                      <a:srgbClr val="C8E6C9"/>
                    </a:solidFill>
                  </a:tcPr>
                </a:tc>
                <a:tc>
                  <a:txBody>
                    <a:bodyPr lIns="54864" rIns="54864" tIns="18288" bIns="18288" wrap="square" anchor="ctr"/>
                    <a:lstStyle/>
                    <a:p>
                      <a:pPr algn="l"/>
                      <a:r>
                        <a:rPr sz="900" b="1">
                          <a:solidFill>
                            <a:srgbClr val="000000"/>
                          </a:solidFill>
                          <a:latin typeface="Calibri"/>
                        </a:rPr>
                        <a:t>-0.52</a:t>
                      </a:r>
                    </a:p>
                  </a:txBody>
                  <a:tcPr>
                    <a:solidFill>
                      <a:srgbClr val="C8E6C9"/>
                    </a:solidFill>
                  </a:tcPr>
                </a:tc>
                <a:tc>
                  <a:txBody>
                    <a:bodyPr lIns="54864" rIns="54864" tIns="18288" bIns="18288" wrap="square" anchor="ctr"/>
                    <a:lstStyle/>
                    <a:p>
                      <a:pPr algn="l"/>
                      <a:r>
                        <a:rPr sz="900" b="1">
                          <a:solidFill>
                            <a:srgbClr val="000000"/>
                          </a:solidFill>
                          <a:latin typeface="Calibri"/>
                        </a:rPr>
                        <a:t>-2.8</a:t>
                      </a:r>
                    </a:p>
                  </a:txBody>
                  <a:tcPr>
                    <a:solidFill>
                      <a:srgbClr val="C8E6C9"/>
                    </a:solidFill>
                  </a:tcPr>
                </a:tc>
                <a:tc>
                  <a:txBody>
                    <a:bodyPr lIns="54864" rIns="54864" tIns="18288" bIns="18288" wrap="square" anchor="ctr"/>
                    <a:lstStyle/>
                    <a:p>
                      <a:pPr algn="l"/>
                      <a:r>
                        <a:rPr sz="900" b="1">
                          <a:solidFill>
                            <a:srgbClr val="000000"/>
                          </a:solidFill>
                          <a:latin typeface="Calibri"/>
                        </a:rPr>
                        <a:t>S28 yield</a:t>
                      </a:r>
                    </a:p>
                  </a:txBody>
                  <a:tcPr>
                    <a:solidFill>
                      <a:srgbClr val="C8E6C9"/>
                    </a:solidFill>
                  </a:tcPr>
                </a:tc>
              </a:tr>
              <a:tr h="365760">
                <a:tc>
                  <a:txBody>
                    <a:bodyPr lIns="54864" rIns="54864" tIns="18288" bIns="18288" wrap="square" anchor="ctr"/>
                    <a:lstStyle/>
                    <a:p>
                      <a:pPr algn="l"/>
                      <a:r>
                        <a:rPr sz="900" b="0">
                          <a:solidFill>
                            <a:srgbClr val="000000"/>
                          </a:solidFill>
                          <a:latin typeface="Calibri"/>
                        </a:rPr>
                        <a:t>1.40</a:t>
                      </a:r>
                    </a:p>
                  </a:txBody>
                  <a:tcPr/>
                </a:tc>
                <a:tc>
                  <a:txBody>
                    <a:bodyPr lIns="54864" rIns="54864" tIns="18288" bIns="18288" wrap="square" anchor="ctr"/>
                    <a:lstStyle/>
                    <a:p>
                      <a:pPr algn="l"/>
                      <a:r>
                        <a:rPr sz="900" b="0">
                          <a:solidFill>
                            <a:srgbClr val="000000"/>
                          </a:solidFill>
                          <a:latin typeface="Calibri"/>
                        </a:rPr>
                        <a:t>19.14</a:t>
                      </a:r>
                    </a:p>
                  </a:txBody>
                  <a:tcPr/>
                </a:tc>
                <a:tc>
                  <a:txBody>
                    <a:bodyPr lIns="54864" rIns="54864" tIns="18288" bIns="18288" wrap="square" anchor="ctr"/>
                    <a:lstStyle/>
                    <a:p>
                      <a:pPr algn="l"/>
                      <a:r>
                        <a:rPr sz="900" b="0">
                          <a:solidFill>
                            <a:srgbClr val="000000"/>
                          </a:solidFill>
                          <a:latin typeface="Calibri"/>
                        </a:rPr>
                        <a:t>18.68</a:t>
                      </a:r>
                    </a:p>
                  </a:txBody>
                  <a:tcPr/>
                </a:tc>
                <a:tc>
                  <a:txBody>
                    <a:bodyPr lIns="54864" rIns="54864" tIns="18288" bIns="18288" wrap="square" anchor="ctr"/>
                    <a:lstStyle/>
                    <a:p>
                      <a:pPr algn="l"/>
                      <a:r>
                        <a:rPr sz="900" b="0">
                          <a:solidFill>
                            <a:srgbClr val="000000"/>
                          </a:solidFill>
                          <a:latin typeface="Calibri"/>
                        </a:rPr>
                        <a:t>-0.46</a:t>
                      </a:r>
                    </a:p>
                  </a:txBody>
                  <a:tcPr/>
                </a:tc>
                <a:tc>
                  <a:txBody>
                    <a:bodyPr lIns="54864" rIns="54864" tIns="18288" bIns="18288" wrap="square" anchor="ctr"/>
                    <a:lstStyle/>
                    <a:p>
                      <a:pPr algn="l"/>
                      <a:r>
                        <a:rPr sz="900" b="0">
                          <a:solidFill>
                            <a:srgbClr val="000000"/>
                          </a:solidFill>
                          <a:latin typeface="Calibri"/>
                        </a:rPr>
                        <a:t>-2.4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1.50</a:t>
                      </a:r>
                    </a:p>
                  </a:txBody>
                  <a:tcPr/>
                </a:tc>
                <a:tc>
                  <a:txBody>
                    <a:bodyPr lIns="54864" rIns="54864" tIns="18288" bIns="18288" wrap="square" anchor="ctr"/>
                    <a:lstStyle/>
                    <a:p>
                      <a:pPr algn="l"/>
                      <a:r>
                        <a:rPr sz="900" b="0">
                          <a:solidFill>
                            <a:srgbClr val="000000"/>
                          </a:solidFill>
                          <a:latin typeface="Calibri"/>
                        </a:rPr>
                        <a:t>19.48</a:t>
                      </a:r>
                    </a:p>
                  </a:txBody>
                  <a:tcPr/>
                </a:tc>
                <a:tc>
                  <a:txBody>
                    <a:bodyPr lIns="54864" rIns="54864" tIns="18288" bIns="18288" wrap="square" anchor="ctr"/>
                    <a:lstStyle/>
                    <a:p>
                      <a:pPr algn="l"/>
                      <a:r>
                        <a:rPr sz="900" b="0">
                          <a:solidFill>
                            <a:srgbClr val="000000"/>
                          </a:solidFill>
                          <a:latin typeface="Calibri"/>
                        </a:rPr>
                        <a:t>19.07</a:t>
                      </a:r>
                    </a:p>
                  </a:txBody>
                  <a:tcPr/>
                </a:tc>
                <a:tc>
                  <a:txBody>
                    <a:bodyPr lIns="54864" rIns="54864" tIns="18288" bIns="18288" wrap="square" anchor="ctr"/>
                    <a:lstStyle/>
                    <a:p>
                      <a:pPr algn="l"/>
                      <a:r>
                        <a:rPr sz="900" b="0">
                          <a:solidFill>
                            <a:srgbClr val="000000"/>
                          </a:solidFill>
                          <a:latin typeface="Calibri"/>
                        </a:rPr>
                        <a:t>-0.40</a:t>
                      </a:r>
                    </a:p>
                  </a:txBody>
                  <a:tcPr/>
                </a:tc>
                <a:tc>
                  <a:txBody>
                    <a:bodyPr lIns="54864" rIns="54864" tIns="18288" bIns="18288" wrap="square" anchor="ctr"/>
                    <a:lstStyle/>
                    <a:p>
                      <a:pPr algn="l"/>
                      <a:r>
                        <a:rPr sz="900" b="0">
                          <a:solidFill>
                            <a:srgbClr val="000000"/>
                          </a:solidFill>
                          <a:latin typeface="Calibri"/>
                        </a:rPr>
                        <a:t>-2.1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1.60</a:t>
                      </a:r>
                    </a:p>
                  </a:txBody>
                  <a:tcPr/>
                </a:tc>
                <a:tc>
                  <a:txBody>
                    <a:bodyPr lIns="54864" rIns="54864" tIns="18288" bIns="18288" wrap="square" anchor="ctr"/>
                    <a:lstStyle/>
                    <a:p>
                      <a:pPr algn="l"/>
                      <a:r>
                        <a:rPr sz="900" b="0">
                          <a:solidFill>
                            <a:srgbClr val="000000"/>
                          </a:solidFill>
                          <a:latin typeface="Calibri"/>
                        </a:rPr>
                        <a:t>19.67</a:t>
                      </a:r>
                    </a:p>
                  </a:txBody>
                  <a:tcPr/>
                </a:tc>
                <a:tc>
                  <a:txBody>
                    <a:bodyPr lIns="54864" rIns="54864" tIns="18288" bIns="18288" wrap="square" anchor="ctr"/>
                    <a:lstStyle/>
                    <a:p>
                      <a:pPr algn="l"/>
                      <a:r>
                        <a:rPr sz="900" b="0">
                          <a:solidFill>
                            <a:srgbClr val="000000"/>
                          </a:solidFill>
                          <a:latin typeface="Calibri"/>
                        </a:rPr>
                        <a:t>19.51</a:t>
                      </a:r>
                    </a:p>
                  </a:txBody>
                  <a:tcPr/>
                </a:tc>
                <a:tc>
                  <a:txBody>
                    <a:bodyPr lIns="54864" rIns="54864" tIns="18288" bIns="18288" wrap="square" anchor="ctr"/>
                    <a:lstStyle/>
                    <a:p>
                      <a:pPr algn="l"/>
                      <a:r>
                        <a:rPr sz="900" b="0">
                          <a:solidFill>
                            <a:srgbClr val="000000"/>
                          </a:solidFill>
                          <a:latin typeface="Calibri"/>
                        </a:rPr>
                        <a:t>-0.17</a:t>
                      </a:r>
                    </a:p>
                  </a:txBody>
                  <a:tcPr/>
                </a:tc>
                <a:tc>
                  <a:txBody>
                    <a:bodyPr lIns="54864" rIns="54864" tIns="18288" bIns="18288" wrap="square" anchor="ctr"/>
                    <a:lstStyle/>
                    <a:p>
                      <a:pPr algn="l"/>
                      <a:r>
                        <a:rPr sz="900" b="0">
                          <a:solidFill>
                            <a:srgbClr val="000000"/>
                          </a:solidFill>
                          <a:latin typeface="Calibri"/>
                        </a:rPr>
                        <a:t>-0.9</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1.70</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19.59</a:t>
                      </a:r>
                    </a:p>
                  </a:txBody>
                  <a:tcPr/>
                </a:tc>
                <a:tc>
                  <a:txBody>
                    <a:bodyPr lIns="54864" rIns="54864" tIns="18288" bIns="18288" wrap="square" anchor="ctr"/>
                    <a:lstStyle/>
                    <a:p>
                      <a:pPr algn="l"/>
                      <a:r>
                        <a:rPr sz="900" b="0">
                          <a:solidFill>
                            <a:srgbClr val="000000"/>
                          </a:solidFill>
                          <a:latin typeface="Calibri"/>
                        </a:rPr>
                        <a:t>-0.19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1.80</a:t>
                      </a:r>
                    </a:p>
                  </a:txBody>
                  <a:tcPr/>
                </a:tc>
                <a:tc>
                  <a:txBody>
                    <a:bodyPr lIns="54864" rIns="54864" tIns="18288" bIns="18288" wrap="square" anchor="ctr"/>
                    <a:lstStyle/>
                    <a:p>
                      <a:pPr algn="l"/>
                      <a:r>
                        <a:rPr sz="900" b="0">
                          <a:solidFill>
                            <a:srgbClr val="000000"/>
                          </a:solidFill>
                          <a:latin typeface="Calibri"/>
                        </a:rPr>
                        <a:t>19.82</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-0.04</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1.90</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19.86</a:t>
                      </a:r>
                    </a:p>
                  </a:txBody>
                  <a:tcPr/>
                </a:tc>
                <a:tc>
                  <a:txBody>
                    <a:bodyPr lIns="54864" rIns="54864" tIns="18288" bIns="18288" wrap="square" anchor="ctr"/>
                    <a:lstStyle/>
                    <a:p>
                      <a:pPr algn="l"/>
                      <a:r>
                        <a:rPr sz="900" b="0">
                          <a:solidFill>
                            <a:srgbClr val="000000"/>
                          </a:solidFill>
                          <a:latin typeface="Calibri"/>
                        </a:rPr>
                        <a:t>+0.02</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(2/3)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1.98 % → 3.90 %,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1">
                          <a:solidFill>
                            <a:srgbClr val="000000"/>
                          </a:solidFill>
                          <a:latin typeface="Calibri"/>
                        </a:rPr>
                        <a:t>1.98</a:t>
                      </a:r>
                    </a:p>
                  </a:txBody>
                  <a:tcPr>
                    <a:solidFill>
                      <a:srgbClr val="FFF3CD"/>
                    </a:solidFill>
                  </a:tcPr>
                </a:tc>
                <a:tc>
                  <a:txBody>
                    <a:bodyPr lIns="54864" rIns="54864" tIns="18288" bIns="18288" wrap="square" anchor="ctr"/>
                    <a:lstStyle/>
                    <a:p>
                      <a:pPr algn="l"/>
                      <a:r>
                        <a:rPr sz="900" b="1">
                          <a:solidFill>
                            <a:srgbClr val="000000"/>
                          </a:solidFill>
                          <a:latin typeface="Calibri"/>
                        </a:rPr>
                        <a:t>19.85</a:t>
                      </a:r>
                    </a:p>
                  </a:txBody>
                  <a:tcPr>
                    <a:solidFill>
                      <a:srgbClr val="FFF3CD"/>
                    </a:solidFill>
                  </a:tcPr>
                </a:tc>
                <a:tc>
                  <a:txBody>
                    <a:bodyPr lIns="54864" rIns="54864" tIns="18288" bIns="18288" wrap="square" anchor="ctr"/>
                    <a:lstStyle/>
                    <a:p>
                      <a:pPr algn="l"/>
                      <a:r>
                        <a:rPr sz="900" b="1">
                          <a:solidFill>
                            <a:srgbClr val="000000"/>
                          </a:solidFill>
                          <a:latin typeface="Calibri"/>
                        </a:rPr>
                        <a:t>19.93</a:t>
                      </a:r>
                    </a:p>
                  </a:txBody>
                  <a:tcPr>
                    <a:solidFill>
                      <a:srgbClr val="FFF3CD"/>
                    </a:solidFill>
                  </a:tcPr>
                </a:tc>
                <a:tc>
                  <a:txBody>
                    <a:bodyPr lIns="54864" rIns="54864" tIns="18288" bIns="18288" wrap="square" anchor="ctr"/>
                    <a:lstStyle/>
                    <a:p>
                      <a:pPr algn="l"/>
                      <a:r>
                        <a:rPr sz="900" b="1">
                          <a:solidFill>
                            <a:srgbClr val="000000"/>
                          </a:solidFill>
                          <a:latin typeface="Calibri"/>
                        </a:rPr>
                        <a:t>+0.08</a:t>
                      </a:r>
                    </a:p>
                  </a:txBody>
                  <a:tcPr>
                    <a:solidFill>
                      <a:srgbClr val="FFF3CD"/>
                    </a:solidFill>
                  </a:tcPr>
                </a:tc>
                <a:tc>
                  <a:txBody>
                    <a:bodyPr lIns="54864" rIns="54864" tIns="18288" bIns="18288" wrap="square" anchor="ctr"/>
                    <a:lstStyle/>
                    <a:p>
                      <a:pPr algn="l"/>
                      <a:r>
                        <a:rPr sz="900" b="1">
                          <a:solidFill>
                            <a:srgbClr val="000000"/>
                          </a:solidFill>
                          <a:latin typeface="Calibri"/>
                        </a:rPr>
                        <a:t>+0.4</a:t>
                      </a:r>
                    </a:p>
                  </a:txBody>
                  <a:tcPr>
                    <a:solidFill>
                      <a:srgbClr val="FFF3CD"/>
                    </a:solidFill>
                  </a:tcPr>
                </a:tc>
                <a:tc>
                  <a:txBody>
                    <a:bodyPr lIns="54864" rIns="54864" tIns="18288" bIns="18288" wrap="square" anchor="ctr"/>
                    <a:lstStyle/>
                    <a:p>
                      <a:pPr algn="l"/>
                      <a:r>
                        <a:rPr sz="900" b="1">
                          <a:solidFill>
                            <a:srgbClr val="000000"/>
                          </a:solidFill>
                          <a:latin typeface="Calibri"/>
                        </a:rPr>
                        <a:t>S28 UTS</a:t>
                      </a:r>
                    </a:p>
                  </a:txBody>
                  <a:tcPr>
                    <a:solidFill>
                      <a:srgbClr val="FFF3CD"/>
                    </a:solidFill>
                  </a:tcPr>
                </a:tc>
              </a:tr>
              <a:tr h="365760">
                <a:tc>
                  <a:txBody>
                    <a:bodyPr lIns="54864" rIns="54864" tIns="18288" bIns="18288" wrap="square" anchor="ctr"/>
                    <a:lstStyle/>
                    <a:p>
                      <a:pPr algn="l"/>
                      <a:r>
                        <a:rPr sz="900" b="1">
                          <a:solidFill>
                            <a:srgbClr val="000000"/>
                          </a:solidFill>
                          <a:latin typeface="Calibri"/>
                        </a:rPr>
                        <a:t>1.99</a:t>
                      </a:r>
                    </a:p>
                  </a:txBody>
                  <a:tcPr>
                    <a:solidFill>
                      <a:srgbClr val="FFF3CD"/>
                    </a:solidFill>
                  </a:tcPr>
                </a:tc>
                <a:tc>
                  <a:txBody>
                    <a:bodyPr lIns="54864" rIns="54864" tIns="18288" bIns="18288" wrap="square" anchor="ctr"/>
                    <a:lstStyle/>
                    <a:p>
                      <a:pPr algn="l"/>
                      <a:r>
                        <a:rPr sz="900" b="1">
                          <a:solidFill>
                            <a:srgbClr val="000000"/>
                          </a:solidFill>
                          <a:latin typeface="Calibri"/>
                        </a:rPr>
                        <a:t>19.85</a:t>
                      </a:r>
                    </a:p>
                  </a:txBody>
                  <a:tcPr>
                    <a:solidFill>
                      <a:srgbClr val="FFF3CD"/>
                    </a:solidFill>
                  </a:tcPr>
                </a:tc>
                <a:tc>
                  <a:txBody>
                    <a:bodyPr lIns="54864" rIns="54864" tIns="18288" bIns="18288" wrap="square" anchor="ctr"/>
                    <a:lstStyle/>
                    <a:p>
                      <a:pPr algn="l"/>
                      <a:r>
                        <a:rPr sz="900" b="1">
                          <a:solidFill>
                            <a:srgbClr val="000000"/>
                          </a:solidFill>
                          <a:latin typeface="Calibri"/>
                        </a:rPr>
                        <a:t>19.91</a:t>
                      </a:r>
                    </a:p>
                  </a:txBody>
                  <a:tcPr>
                    <a:solidFill>
                      <a:srgbClr val="FFF3CD"/>
                    </a:solidFill>
                  </a:tcPr>
                </a:tc>
                <a:tc>
                  <a:txBody>
                    <a:bodyPr lIns="54864" rIns="54864" tIns="18288" bIns="18288" wrap="square" anchor="ctr"/>
                    <a:lstStyle/>
                    <a:p>
                      <a:pPr algn="l"/>
                      <a:r>
                        <a:rPr sz="900" b="1">
                          <a:solidFill>
                            <a:srgbClr val="000000"/>
                          </a:solidFill>
                          <a:latin typeface="Calibri"/>
                        </a:rPr>
                        <a:t>+0.06</a:t>
                      </a:r>
                    </a:p>
                  </a:txBody>
                  <a:tcPr>
                    <a:solidFill>
                      <a:srgbClr val="FFF3CD"/>
                    </a:solidFill>
                  </a:tcPr>
                </a:tc>
                <a:tc>
                  <a:txBody>
                    <a:bodyPr lIns="54864" rIns="54864" tIns="18288" bIns="18288" wrap="square" anchor="ctr"/>
                    <a:lstStyle/>
                    <a:p>
                      <a:pPr algn="l"/>
                      <a:r>
                        <a:rPr sz="900" b="1">
                          <a:solidFill>
                            <a:srgbClr val="000000"/>
                          </a:solidFill>
                          <a:latin typeface="Calibri"/>
                        </a:rPr>
                        <a:t>+0.3</a:t>
                      </a:r>
                    </a:p>
                  </a:txBody>
                  <a:tcPr>
                    <a:solidFill>
                      <a:srgbClr val="FFF3CD"/>
                    </a:solidFill>
                  </a:tcPr>
                </a:tc>
                <a:tc>
                  <a:txBody>
                    <a:bodyPr lIns="54864" rIns="54864" tIns="18288" bIns="18288" wrap="square" anchor="ctr"/>
                    <a:lstStyle/>
                    <a:p>
                      <a:pPr algn="l"/>
                      <a:r>
                        <a:rPr sz="900" b="1">
                          <a:solidFill>
                            <a:srgbClr val="000000"/>
                          </a:solidFill>
                          <a:latin typeface="Calibri"/>
                        </a:rPr>
                        <a:t>S27 UTS</a:t>
                      </a:r>
                    </a:p>
                  </a:txBody>
                  <a:tcPr>
                    <a:solidFill>
                      <a:srgbClr val="FFF3CD"/>
                    </a:solidFill>
                  </a:tcPr>
                </a:tc>
              </a:tr>
              <a:tr h="365760">
                <a:tc>
                  <a:txBody>
                    <a:bodyPr lIns="54864" rIns="54864" tIns="18288" bIns="18288" wrap="square" anchor="ctr"/>
                    <a:lstStyle/>
                    <a:p>
                      <a:pPr algn="l"/>
                      <a:r>
                        <a:rPr sz="900" b="0">
                          <a:solidFill>
                            <a:srgbClr val="000000"/>
                          </a:solidFill>
                          <a:latin typeface="Calibri"/>
                        </a:rPr>
                        <a:t>2.00</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19.83</a:t>
                      </a:r>
                    </a:p>
                  </a:txBody>
                  <a:tcPr/>
                </a:tc>
                <a:tc>
                  <a:txBody>
                    <a:bodyPr lIns="54864" rIns="54864" tIns="18288" bIns="18288" wrap="square" anchor="ctr"/>
                    <a:lstStyle/>
                    <a:p>
                      <a:pPr algn="l"/>
                      <a:r>
                        <a:rPr sz="900" b="0">
                          <a:solidFill>
                            <a:srgbClr val="000000"/>
                          </a:solidFill>
                          <a:latin typeface="Calibri"/>
                        </a:rPr>
                        <a:t>-0.02</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2.10</a:t>
                      </a:r>
                    </a:p>
                  </a:txBody>
                  <a:tcPr/>
                </a:tc>
                <a:tc>
                  <a:txBody>
                    <a:bodyPr lIns="54864" rIns="54864" tIns="18288" bIns="18288" wrap="square" anchor="ctr"/>
                    <a:lstStyle/>
                    <a:p>
                      <a:pPr algn="l"/>
                      <a:r>
                        <a:rPr sz="900" b="0">
                          <a:solidFill>
                            <a:srgbClr val="000000"/>
                          </a:solidFill>
                          <a:latin typeface="Calibri"/>
                        </a:rPr>
                        <a:t>19.84</a:t>
                      </a:r>
                    </a:p>
                  </a:txBody>
                  <a:tcPr/>
                </a:tc>
                <a:tc>
                  <a:txBody>
                    <a:bodyPr lIns="54864" rIns="54864" tIns="18288" bIns="18288" wrap="square" anchor="ctr"/>
                    <a:lstStyle/>
                    <a:p>
                      <a:pPr algn="l"/>
                      <a:r>
                        <a:rPr sz="900" b="0">
                          <a:solidFill>
                            <a:srgbClr val="000000"/>
                          </a:solidFill>
                          <a:latin typeface="Calibri"/>
                        </a:rPr>
                        <a:t>19.87</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2.20</a:t>
                      </a:r>
                    </a:p>
                  </a:txBody>
                  <a:tcPr/>
                </a:tc>
                <a:tc>
                  <a:txBody>
                    <a:bodyPr lIns="54864" rIns="54864" tIns="18288" bIns="18288" wrap="square" anchor="ctr"/>
                    <a:lstStyle/>
                    <a:p>
                      <a:pPr algn="l"/>
                      <a:r>
                        <a:rPr sz="900" b="0">
                          <a:solidFill>
                            <a:srgbClr val="000000"/>
                          </a:solidFill>
                          <a:latin typeface="Calibri"/>
                        </a:rPr>
                        <a:t>19.82</a:t>
                      </a:r>
                    </a:p>
                  </a:txBody>
                  <a:tcPr/>
                </a:tc>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+0.04</a:t>
                      </a:r>
                    </a:p>
                  </a:txBody>
                  <a:tcPr/>
                </a:tc>
                <a:tc>
                  <a:txBody>
                    <a:bodyPr lIns="54864" rIns="54864" tIns="18288" bIns="18288" wrap="square" anchor="ctr"/>
                    <a:lstStyle/>
                    <a:p>
                      <a:pPr algn="l"/>
                      <a:r>
                        <a:rPr sz="900" b="0">
                          <a:solidFill>
                            <a:srgbClr val="000000"/>
                          </a:solidFill>
                          <a:latin typeface="Calibri"/>
                        </a:rPr>
                        <a:t>+0.2</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2.30</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19.69</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2.40</a:t>
                      </a:r>
                    </a:p>
                  </a:txBody>
                  <a:tcPr/>
                </a:tc>
                <a:tc>
                  <a:txBody>
                    <a:bodyPr lIns="54864" rIns="54864" tIns="18288" bIns="18288" wrap="square" anchor="ctr"/>
                    <a:lstStyle/>
                    <a:p>
                      <a:pPr algn="l"/>
                      <a:r>
                        <a:rPr sz="900" b="0">
                          <a:solidFill>
                            <a:srgbClr val="000000"/>
                          </a:solidFill>
                          <a:latin typeface="Calibri"/>
                        </a:rPr>
                        <a:t>19.75</a:t>
                      </a:r>
                    </a:p>
                  </a:txBody>
                  <a:tcPr/>
                </a:tc>
                <a:tc>
                  <a:txBody>
                    <a:bodyPr lIns="54864" rIns="54864" tIns="18288" bIns="18288" wrap="square" anchor="ctr"/>
                    <a:lstStyle/>
                    <a:p>
                      <a:pPr algn="l"/>
                      <a:r>
                        <a:rPr sz="900" b="0">
                          <a:solidFill>
                            <a:srgbClr val="000000"/>
                          </a:solidFill>
                          <a:latin typeface="Calibri"/>
                        </a:rPr>
                        <a:t>19.78</a:t>
                      </a:r>
                    </a:p>
                  </a:txBody>
                  <a:tcPr/>
                </a:tc>
                <a:tc>
                  <a:txBody>
                    <a:bodyPr lIns="54864" rIns="54864" tIns="18288" bIns="18288" wrap="square" anchor="ctr"/>
                    <a:lstStyle/>
                    <a:p>
                      <a:pPr algn="l"/>
                      <a:r>
                        <a:rPr sz="900" b="0">
                          <a:solidFill>
                            <a:srgbClr val="000000"/>
                          </a:solidFill>
                          <a:latin typeface="Calibri"/>
                        </a:rPr>
                        <a:t>+0.03</a:t>
                      </a:r>
                    </a:p>
                  </a:txBody>
                  <a:tcPr/>
                </a:tc>
                <a:tc>
                  <a:txBody>
                    <a:bodyPr lIns="54864" rIns="54864" tIns="18288" bIns="18288" wrap="square" anchor="ctr"/>
                    <a:lstStyle/>
                    <a:p>
                      <a:pPr algn="l"/>
                      <a:r>
                        <a:rPr sz="900" b="0">
                          <a:solidFill>
                            <a:srgbClr val="000000"/>
                          </a:solidFill>
                          <a:latin typeface="Calibri"/>
                        </a:rPr>
                        <a:t>+0.1</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2.50</a:t>
                      </a:r>
                    </a:p>
                  </a:txBody>
                  <a:tcPr/>
                </a:tc>
                <a:tc>
                  <a:txBody>
                    <a:bodyPr lIns="54864" rIns="54864" tIns="18288" bIns="18288" wrap="square" anchor="ctr"/>
                    <a:lstStyle/>
                    <a:p>
                      <a:pPr algn="l"/>
                      <a:r>
                        <a:rPr sz="900" b="0">
                          <a:solidFill>
                            <a:srgbClr val="000000"/>
                          </a:solidFill>
                          <a:latin typeface="Calibri"/>
                        </a:rPr>
                        <a:t>19.71</a:t>
                      </a:r>
                    </a:p>
                  </a:txBody>
                  <a:tcPr/>
                </a:tc>
                <a:tc>
                  <a:txBody>
                    <a:bodyPr lIns="54864" rIns="54864" tIns="18288" bIns="18288" wrap="square" anchor="ctr"/>
                    <a:lstStyle/>
                    <a:p>
                      <a:pPr algn="l"/>
                      <a:r>
                        <a:rPr sz="900" b="0">
                          <a:solidFill>
                            <a:srgbClr val="000000"/>
                          </a:solidFill>
                          <a:latin typeface="Calibri"/>
                        </a:rPr>
                        <a:t>19.79</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2.60</a:t>
                      </a:r>
                    </a:p>
                  </a:txBody>
                  <a:tcPr/>
                </a:tc>
                <a:tc>
                  <a:txBody>
                    <a:bodyPr lIns="54864" rIns="54864" tIns="18288" bIns="18288" wrap="square" anchor="ctr"/>
                    <a:lstStyle/>
                    <a:p>
                      <a:pPr algn="l"/>
                      <a:r>
                        <a:rPr sz="900" b="0">
                          <a:solidFill>
                            <a:srgbClr val="000000"/>
                          </a:solidFill>
                          <a:latin typeface="Calibri"/>
                        </a:rPr>
                        <a:t>19.66</a:t>
                      </a:r>
                    </a:p>
                  </a:txBody>
                  <a:tcPr/>
                </a:tc>
                <a:tc>
                  <a:txBody>
                    <a:bodyPr lIns="54864" rIns="54864" tIns="18288" bIns="18288" wrap="square" anchor="ctr"/>
                    <a:lstStyle/>
                    <a:p>
                      <a:pPr algn="l"/>
                      <a:r>
                        <a:rPr sz="900" b="0">
                          <a:solidFill>
                            <a:srgbClr val="000000"/>
                          </a:solidFill>
                          <a:latin typeface="Calibri"/>
                        </a:rPr>
                        <a:t>19.74</a:t>
                      </a:r>
                    </a:p>
                  </a:txBody>
                  <a:tcPr/>
                </a:tc>
                <a:tc>
                  <a:txBody>
                    <a:bodyPr lIns="54864" rIns="54864" tIns="18288" bIns="18288" wrap="square" anchor="ctr"/>
                    <a:lstStyle/>
                    <a:p>
                      <a:pPr algn="l"/>
                      <a:r>
                        <a:rPr sz="900" b="0">
                          <a:solidFill>
                            <a:srgbClr val="000000"/>
                          </a:solidFill>
                          <a:latin typeface="Calibri"/>
                        </a:rPr>
                        <a:t>+0.08</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2.70</a:t>
                      </a:r>
                    </a:p>
                  </a:txBody>
                  <a:tcPr/>
                </a:tc>
                <a:tc>
                  <a:txBody>
                    <a:bodyPr lIns="54864" rIns="54864" tIns="18288" bIns="18288" wrap="square" anchor="ctr"/>
                    <a:lstStyle/>
                    <a:p>
                      <a:pPr algn="l"/>
                      <a:r>
                        <a:rPr sz="900" b="0">
                          <a:solidFill>
                            <a:srgbClr val="000000"/>
                          </a:solidFill>
                          <a:latin typeface="Calibri"/>
                        </a:rPr>
                        <a:t>19.63</a:t>
                      </a:r>
                    </a:p>
                  </a:txBody>
                  <a:tcPr/>
                </a:tc>
                <a:tc>
                  <a:txBody>
                    <a:bodyPr lIns="54864" rIns="54864" tIns="18288" bIns="18288" wrap="square" anchor="ctr"/>
                    <a:lstStyle/>
                    <a:p>
                      <a:pPr algn="l"/>
                      <a:r>
                        <a:rPr sz="900" b="0">
                          <a:solidFill>
                            <a:srgbClr val="000000"/>
                          </a:solidFill>
                          <a:latin typeface="Calibri"/>
                        </a:rPr>
                        <a:t>19.73</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2.80</a:t>
                      </a:r>
                    </a:p>
                  </a:txBody>
                  <a:tcPr/>
                </a:tc>
                <a:tc>
                  <a:txBody>
                    <a:bodyPr lIns="54864" rIns="54864" tIns="18288" bIns="18288" wrap="square" anchor="ctr"/>
                    <a:lstStyle/>
                    <a:p>
                      <a:pPr algn="l"/>
                      <a:r>
                        <a:rPr sz="900" b="0">
                          <a:solidFill>
                            <a:srgbClr val="000000"/>
                          </a:solidFill>
                          <a:latin typeface="Calibri"/>
                        </a:rPr>
                        <a:t>19.58</a:t>
                      </a:r>
                    </a:p>
                  </a:txBody>
                  <a:tcPr/>
                </a:tc>
                <a:tc>
                  <a:txBody>
                    <a:bodyPr lIns="54864" rIns="54864" tIns="18288" bIns="18288" wrap="square" anchor="ctr"/>
                    <a:lstStyle/>
                    <a:p>
                      <a:pPr algn="l"/>
                      <a:r>
                        <a:rPr sz="900" b="0">
                          <a:solidFill>
                            <a:srgbClr val="000000"/>
                          </a:solidFill>
                          <a:latin typeface="Calibri"/>
                        </a:rPr>
                        <a:t>19.68</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graphicFrame>
        <p:nvGraphicFramePr>
          <p:cNvPr id="7" name="Table 6"/>
          <p:cNvGraphicFramePr>
            <a:graphicFrameLocks noGrp="1"/>
          </p:cNvGraphicFramePr>
          <p:nvPr/>
        </p:nvGraphicFramePr>
        <p:xfrm>
          <a:off x="6199632"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36576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365760">
                <a:tc>
                  <a:txBody>
                    <a:bodyPr lIns="54864" rIns="54864" tIns="18288" bIns="18288" wrap="square" anchor="ctr"/>
                    <a:lstStyle/>
                    <a:p>
                      <a:pPr algn="l"/>
                      <a:r>
                        <a:rPr sz="900" b="0">
                          <a:solidFill>
                            <a:srgbClr val="000000"/>
                          </a:solidFill>
                          <a:latin typeface="Calibri"/>
                        </a:rPr>
                        <a:t>2.90</a:t>
                      </a:r>
                    </a:p>
                  </a:txBody>
                  <a:tcPr/>
                </a:tc>
                <a:tc>
                  <a:txBody>
                    <a:bodyPr lIns="54864" rIns="54864" tIns="18288" bIns="18288" wrap="square" anchor="ctr"/>
                    <a:lstStyle/>
                    <a:p>
                      <a:pPr algn="l"/>
                      <a:r>
                        <a:rPr sz="900" b="0">
                          <a:solidFill>
                            <a:srgbClr val="000000"/>
                          </a:solidFill>
                          <a:latin typeface="Calibri"/>
                        </a:rPr>
                        <a:t>19.54</a:t>
                      </a:r>
                    </a:p>
                  </a:txBody>
                  <a:tcPr/>
                </a:tc>
                <a:tc>
                  <a:txBody>
                    <a:bodyPr lIns="54864" rIns="54864" tIns="18288" bIns="18288" wrap="square" anchor="ctr"/>
                    <a:lstStyle/>
                    <a:p>
                      <a:pPr algn="l"/>
                      <a:r>
                        <a:rPr sz="900" b="0">
                          <a:solidFill>
                            <a:srgbClr val="000000"/>
                          </a:solidFill>
                          <a:latin typeface="Calibri"/>
                        </a:rPr>
                        <a:t>19.64</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3.00</a:t>
                      </a:r>
                    </a:p>
                  </a:txBody>
                  <a:tcPr/>
                </a:tc>
                <a:tc>
                  <a:txBody>
                    <a:bodyPr lIns="54864" rIns="54864" tIns="18288" bIns="18288" wrap="square" anchor="ctr"/>
                    <a:lstStyle/>
                    <a:p>
                      <a:pPr algn="l"/>
                      <a:r>
                        <a:rPr sz="900" b="0">
                          <a:solidFill>
                            <a:srgbClr val="000000"/>
                          </a:solidFill>
                          <a:latin typeface="Calibri"/>
                        </a:rPr>
                        <a:t>19.50</a:t>
                      </a:r>
                    </a:p>
                  </a:txBody>
                  <a:tcPr/>
                </a:tc>
                <a:tc>
                  <a:txBody>
                    <a:bodyPr lIns="54864" rIns="54864" tIns="18288" bIns="18288" wrap="square" anchor="ctr"/>
                    <a:lstStyle/>
                    <a:p>
                      <a:pPr algn="l"/>
                      <a:r>
                        <a:rPr sz="900" b="0">
                          <a:solidFill>
                            <a:srgbClr val="000000"/>
                          </a:solidFill>
                          <a:latin typeface="Calibri"/>
                        </a:rPr>
                        <a:t>19.59</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3.10</a:t>
                      </a:r>
                    </a:p>
                  </a:txBody>
                  <a:tcPr/>
                </a:tc>
                <a:tc>
                  <a:txBody>
                    <a:bodyPr lIns="54864" rIns="54864" tIns="18288" bIns="18288" wrap="square" anchor="ctr"/>
                    <a:lstStyle/>
                    <a:p>
                      <a:pPr algn="l"/>
                      <a:r>
                        <a:rPr sz="900" b="0">
                          <a:solidFill>
                            <a:srgbClr val="000000"/>
                          </a:solidFill>
                          <a:latin typeface="Calibri"/>
                        </a:rPr>
                        <a:t>19.46</a:t>
                      </a:r>
                    </a:p>
                  </a:txBody>
                  <a:tcPr/>
                </a:tc>
                <a:tc>
                  <a:txBody>
                    <a:bodyPr lIns="54864" rIns="54864" tIns="18288" bIns="18288" wrap="square" anchor="ctr"/>
                    <a:lstStyle/>
                    <a:p>
                      <a:pPr algn="l"/>
                      <a:r>
                        <a:rPr sz="900" b="0">
                          <a:solidFill>
                            <a:srgbClr val="000000"/>
                          </a:solidFill>
                          <a:latin typeface="Calibri"/>
                        </a:rPr>
                        <a:t>19.53</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3.20</a:t>
                      </a:r>
                    </a:p>
                  </a:txBody>
                  <a:tcPr/>
                </a:tc>
                <a:tc>
                  <a:txBody>
                    <a:bodyPr lIns="54864" rIns="54864" tIns="18288" bIns="18288" wrap="square" anchor="ctr"/>
                    <a:lstStyle/>
                    <a:p>
                      <a:pPr algn="l"/>
                      <a:r>
                        <a:rPr sz="900" b="0">
                          <a:solidFill>
                            <a:srgbClr val="000000"/>
                          </a:solidFill>
                          <a:latin typeface="Calibri"/>
                        </a:rPr>
                        <a:t>19.41</a:t>
                      </a:r>
                    </a:p>
                  </a:txBody>
                  <a:tcPr/>
                </a:tc>
                <a:tc>
                  <a:txBody>
                    <a:bodyPr lIns="54864" rIns="54864" tIns="18288" bIns="18288" wrap="square" anchor="ctr"/>
                    <a:lstStyle/>
                    <a:p>
                      <a:pPr algn="l"/>
                      <a:r>
                        <a:rPr sz="900" b="0">
                          <a:solidFill>
                            <a:srgbClr val="000000"/>
                          </a:solidFill>
                          <a:latin typeface="Calibri"/>
                        </a:rPr>
                        <a:t>19.49</a:t>
                      </a:r>
                    </a:p>
                  </a:txBody>
                  <a:tcPr/>
                </a:tc>
                <a:tc>
                  <a:txBody>
                    <a:bodyPr lIns="54864" rIns="54864" tIns="18288" bIns="18288" wrap="square" anchor="ctr"/>
                    <a:lstStyle/>
                    <a:p>
                      <a:pPr algn="l"/>
                      <a:r>
                        <a:rPr sz="900" b="0">
                          <a:solidFill>
                            <a:srgbClr val="000000"/>
                          </a:solidFill>
                          <a:latin typeface="Calibri"/>
                        </a:rPr>
                        <a:t>+0.07</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3.30</a:t>
                      </a:r>
                    </a:p>
                  </a:txBody>
                  <a:tcPr/>
                </a:tc>
                <a:tc>
                  <a:txBody>
                    <a:bodyPr lIns="54864" rIns="54864" tIns="18288" bIns="18288" wrap="square" anchor="ctr"/>
                    <a:lstStyle/>
                    <a:p>
                      <a:pPr algn="l"/>
                      <a:r>
                        <a:rPr sz="900" b="0">
                          <a:solidFill>
                            <a:srgbClr val="000000"/>
                          </a:solidFill>
                          <a:latin typeface="Calibri"/>
                        </a:rPr>
                        <a:t>19.37</a:t>
                      </a:r>
                    </a:p>
                  </a:txBody>
                  <a:tcPr/>
                </a:tc>
                <a:tc>
                  <a:txBody>
                    <a:bodyPr lIns="54864" rIns="54864" tIns="18288" bIns="18288" wrap="square" anchor="ctr"/>
                    <a:lstStyle/>
                    <a:p>
                      <a:pPr algn="l"/>
                      <a:r>
                        <a:rPr sz="900" b="0">
                          <a:solidFill>
                            <a:srgbClr val="000000"/>
                          </a:solidFill>
                          <a:latin typeface="Calibri"/>
                        </a:rPr>
                        <a:t>19.43</a:t>
                      </a:r>
                    </a:p>
                  </a:txBody>
                  <a:tcPr/>
                </a:tc>
                <a:tc>
                  <a:txBody>
                    <a:bodyPr lIns="54864" rIns="54864" tIns="18288" bIns="18288" wrap="square" anchor="ctr"/>
                    <a:lstStyle/>
                    <a:p>
                      <a:pPr algn="l"/>
                      <a:r>
                        <a:rPr sz="900" b="0">
                          <a:solidFill>
                            <a:srgbClr val="000000"/>
                          </a:solidFill>
                          <a:latin typeface="Calibri"/>
                        </a:rPr>
                        <a:t>+0.06</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3.40</a:t>
                      </a:r>
                    </a:p>
                  </a:txBody>
                  <a:tcPr/>
                </a:tc>
                <a:tc>
                  <a:txBody>
                    <a:bodyPr lIns="54864" rIns="54864" tIns="18288" bIns="18288" wrap="square" anchor="ctr"/>
                    <a:lstStyle/>
                    <a:p>
                      <a:pPr algn="l"/>
                      <a:r>
                        <a:rPr sz="900" b="0">
                          <a:solidFill>
                            <a:srgbClr val="000000"/>
                          </a:solidFill>
                          <a:latin typeface="Calibri"/>
                        </a:rPr>
                        <a:t>19.32</a:t>
                      </a:r>
                    </a:p>
                  </a:txBody>
                  <a:tcPr/>
                </a:tc>
                <a:tc>
                  <a:txBody>
                    <a:bodyPr lIns="54864" rIns="54864" tIns="18288" bIns="18288" wrap="square" anchor="ctr"/>
                    <a:lstStyle/>
                    <a:p>
                      <a:pPr algn="l"/>
                      <a:r>
                        <a:rPr sz="900" b="0">
                          <a:solidFill>
                            <a:srgbClr val="000000"/>
                          </a:solidFill>
                          <a:latin typeface="Calibri"/>
                        </a:rPr>
                        <a:t>19.38</a:t>
                      </a:r>
                    </a:p>
                  </a:txBody>
                  <a:tcPr/>
                </a:tc>
                <a:tc>
                  <a:txBody>
                    <a:bodyPr lIns="54864" rIns="54864" tIns="18288" bIns="18288" wrap="square" anchor="ctr"/>
                    <a:lstStyle/>
                    <a:p>
                      <a:pPr algn="l"/>
                      <a:r>
                        <a:rPr sz="900" b="0">
                          <a:solidFill>
                            <a:srgbClr val="000000"/>
                          </a:solidFill>
                          <a:latin typeface="Calibri"/>
                        </a:rPr>
                        <a:t>+0.06</a:t>
                      </a:r>
                    </a:p>
                  </a:txBody>
                  <a:tcPr/>
                </a:tc>
                <a:tc>
                  <a:txBody>
                    <a:bodyPr lIns="54864" rIns="54864" tIns="18288" bIns="18288" wrap="square" anchor="ctr"/>
                    <a:lstStyle/>
                    <a:p>
                      <a:pPr algn="l"/>
                      <a:r>
                        <a:rPr sz="900" b="0">
                          <a:solidFill>
                            <a:srgbClr val="000000"/>
                          </a:solidFill>
                          <a:latin typeface="Calibri"/>
                        </a:rPr>
                        <a:t>+0.3</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3.50</a:t>
                      </a:r>
                    </a:p>
                  </a:txBody>
                  <a:tcPr/>
                </a:tc>
                <a:tc>
                  <a:txBody>
                    <a:bodyPr lIns="54864" rIns="54864" tIns="18288" bIns="18288" wrap="square" anchor="ctr"/>
                    <a:lstStyle/>
                    <a:p>
                      <a:pPr algn="l"/>
                      <a:r>
                        <a:rPr sz="900" b="0">
                          <a:solidFill>
                            <a:srgbClr val="000000"/>
                          </a:solidFill>
                          <a:latin typeface="Calibri"/>
                        </a:rPr>
                        <a:t>19.26</a:t>
                      </a:r>
                    </a:p>
                  </a:txBody>
                  <a:tcPr/>
                </a:tc>
                <a:tc>
                  <a:txBody>
                    <a:bodyPr lIns="54864" rIns="54864" tIns="18288" bIns="18288" wrap="square" anchor="ctr"/>
                    <a:lstStyle/>
                    <a:p>
                      <a:pPr algn="l"/>
                      <a:r>
                        <a:rPr sz="900" b="0">
                          <a:solidFill>
                            <a:srgbClr val="000000"/>
                          </a:solidFill>
                          <a:latin typeface="Calibri"/>
                        </a:rPr>
                        <a:t>19.34</a:t>
                      </a:r>
                    </a:p>
                  </a:txBody>
                  <a:tcPr/>
                </a:tc>
                <a:tc>
                  <a:txBody>
                    <a:bodyPr lIns="54864" rIns="54864" tIns="18288" bIns="18288" wrap="square" anchor="ctr"/>
                    <a:lstStyle/>
                    <a:p>
                      <a:pPr algn="l"/>
                      <a:r>
                        <a:rPr sz="900" b="0">
                          <a:solidFill>
                            <a:srgbClr val="000000"/>
                          </a:solidFill>
                          <a:latin typeface="Calibri"/>
                        </a:rPr>
                        <a:t>+0.08</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3.60</a:t>
                      </a:r>
                    </a:p>
                  </a:txBody>
                  <a:tcPr/>
                </a:tc>
                <a:tc>
                  <a:txBody>
                    <a:bodyPr lIns="54864" rIns="54864" tIns="18288" bIns="18288" wrap="square" anchor="ctr"/>
                    <a:lstStyle/>
                    <a:p>
                      <a:pPr algn="l"/>
                      <a:r>
                        <a:rPr sz="900" b="0">
                          <a:solidFill>
                            <a:srgbClr val="000000"/>
                          </a:solidFill>
                          <a:latin typeface="Calibri"/>
                        </a:rPr>
                        <a:t>19.19</a:t>
                      </a:r>
                    </a:p>
                  </a:txBody>
                  <a:tcPr/>
                </a:tc>
                <a:tc>
                  <a:txBody>
                    <a:bodyPr lIns="54864" rIns="54864" tIns="18288" bIns="18288" wrap="square" anchor="ctr"/>
                    <a:lstStyle/>
                    <a:p>
                      <a:pPr algn="l"/>
                      <a:r>
                        <a:rPr sz="900" b="0">
                          <a:solidFill>
                            <a:srgbClr val="000000"/>
                          </a:solidFill>
                          <a:latin typeface="Calibri"/>
                        </a:rPr>
                        <a:t>19.28</a:t>
                      </a:r>
                    </a:p>
                  </a:txBody>
                  <a:tcPr/>
                </a:tc>
                <a:tc>
                  <a:txBody>
                    <a:bodyPr lIns="54864" rIns="54864" tIns="18288" bIns="18288" wrap="square" anchor="ctr"/>
                    <a:lstStyle/>
                    <a:p>
                      <a:pPr algn="l"/>
                      <a:r>
                        <a:rPr sz="900" b="0">
                          <a:solidFill>
                            <a:srgbClr val="000000"/>
                          </a:solidFill>
                          <a:latin typeface="Calibri"/>
                        </a:rPr>
                        <a:t>+0.09</a:t>
                      </a:r>
                    </a:p>
                  </a:txBody>
                  <a:tcPr/>
                </a:tc>
                <a:tc>
                  <a:txBody>
                    <a:bodyPr lIns="54864" rIns="54864" tIns="18288" bIns="18288" wrap="square" anchor="ctr"/>
                    <a:lstStyle/>
                    <a:p>
                      <a:pPr algn="l"/>
                      <a:r>
                        <a:rPr sz="900" b="0">
                          <a:solidFill>
                            <a:srgbClr val="000000"/>
                          </a:solidFill>
                          <a:latin typeface="Calibri"/>
                        </a:rPr>
                        <a:t>+0.4</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3.70</a:t>
                      </a:r>
                    </a:p>
                  </a:txBody>
                  <a:tcPr/>
                </a:tc>
                <a:tc>
                  <a:txBody>
                    <a:bodyPr lIns="54864" rIns="54864" tIns="18288" bIns="18288" wrap="square" anchor="ctr"/>
                    <a:lstStyle/>
                    <a:p>
                      <a:pPr algn="l"/>
                      <a:r>
                        <a:rPr sz="900" b="0">
                          <a:solidFill>
                            <a:srgbClr val="000000"/>
                          </a:solidFill>
                          <a:latin typeface="Calibri"/>
                        </a:rPr>
                        <a:t>19.12</a:t>
                      </a:r>
                    </a:p>
                  </a:txBody>
                  <a:tcPr/>
                </a:tc>
                <a:tc>
                  <a:txBody>
                    <a:bodyPr lIns="54864" rIns="54864" tIns="18288" bIns="18288" wrap="square" anchor="ctr"/>
                    <a:lstStyle/>
                    <a:p>
                      <a:pPr algn="l"/>
                      <a:r>
                        <a:rPr sz="900" b="0">
                          <a:solidFill>
                            <a:srgbClr val="000000"/>
                          </a:solidFill>
                          <a:latin typeface="Calibri"/>
                        </a:rPr>
                        <a:t>19.22</a:t>
                      </a:r>
                    </a:p>
                  </a:txBody>
                  <a:tcPr/>
                </a:tc>
                <a:tc>
                  <a:txBody>
                    <a:bodyPr lIns="54864" rIns="54864" tIns="18288" bIns="18288" wrap="square" anchor="ctr"/>
                    <a:lstStyle/>
                    <a:p>
                      <a:pPr algn="l"/>
                      <a:r>
                        <a:rPr sz="900" b="0">
                          <a:solidFill>
                            <a:srgbClr val="000000"/>
                          </a:solidFill>
                          <a:latin typeface="Calibri"/>
                        </a:rPr>
                        <a:t>+0.10</a:t>
                      </a:r>
                    </a:p>
                  </a:txBody>
                  <a:tcPr/>
                </a:tc>
                <a:tc>
                  <a:txBody>
                    <a:bodyPr lIns="54864" rIns="54864" tIns="18288" bIns="18288" wrap="square" anchor="ctr"/>
                    <a:lstStyle/>
                    <a:p>
                      <a:pPr algn="l"/>
                      <a:r>
                        <a:rPr sz="900" b="0">
                          <a:solidFill>
                            <a:srgbClr val="000000"/>
                          </a:solidFill>
                          <a:latin typeface="Calibri"/>
                        </a:rPr>
                        <a:t>+0.5</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3.80</a:t>
                      </a:r>
                    </a:p>
                  </a:txBody>
                  <a:tcPr/>
                </a:tc>
                <a:tc>
                  <a:txBody>
                    <a:bodyPr lIns="54864" rIns="54864" tIns="18288" bIns="18288" wrap="square" anchor="ctr"/>
                    <a:lstStyle/>
                    <a:p>
                      <a:pPr algn="l"/>
                      <a:r>
                        <a:rPr sz="900" b="0">
                          <a:solidFill>
                            <a:srgbClr val="000000"/>
                          </a:solidFill>
                          <a:latin typeface="Calibri"/>
                        </a:rPr>
                        <a:t>19.03</a:t>
                      </a:r>
                    </a:p>
                  </a:txBody>
                  <a:tcPr/>
                </a:tc>
                <a:tc>
                  <a:txBody>
                    <a:bodyPr lIns="54864" rIns="54864" tIns="18288" bIns="18288" wrap="square" anchor="ctr"/>
                    <a:lstStyle/>
                    <a:p>
                      <a:pPr algn="l"/>
                      <a:r>
                        <a:rPr sz="900" b="0">
                          <a:solidFill>
                            <a:srgbClr val="000000"/>
                          </a:solidFill>
                          <a:latin typeface="Calibri"/>
                        </a:rPr>
                        <a:t>19.16</a:t>
                      </a:r>
                    </a:p>
                  </a:txBody>
                  <a:tcPr/>
                </a:tc>
                <a:tc>
                  <a:txBody>
                    <a:bodyPr lIns="54864" rIns="54864" tIns="18288" bIns="18288" wrap="square" anchor="ctr"/>
                    <a:lstStyle/>
                    <a:p>
                      <a:pPr algn="l"/>
                      <a:r>
                        <a:rPr sz="900" b="0">
                          <a:solidFill>
                            <a:srgbClr val="000000"/>
                          </a:solidFill>
                          <a:latin typeface="Calibri"/>
                        </a:rPr>
                        <a:t>+0.13</a:t>
                      </a:r>
                    </a:p>
                  </a:txBody>
                  <a:tcPr/>
                </a:tc>
                <a:tc>
                  <a:txBody>
                    <a:bodyPr lIns="54864" rIns="54864" tIns="18288" bIns="18288" wrap="square" anchor="ctr"/>
                    <a:lstStyle/>
                    <a:p>
                      <a:pPr algn="l"/>
                      <a:r>
                        <a:rPr sz="900" b="0">
                          <a:solidFill>
                            <a:srgbClr val="000000"/>
                          </a:solidFill>
                          <a:latin typeface="Calibri"/>
                        </a:rPr>
                        <a:t>+0.7</a:t>
                      </a:r>
                    </a:p>
                  </a:txBody>
                  <a:tcPr/>
                </a:tc>
                <a:tc>
                  <a:txBody>
                    <a:bodyPr lIns="54864" rIns="54864" tIns="18288" bIns="18288" wrap="square" anchor="ctr"/>
                    <a:lstStyle/>
                    <a:p>
                      <a:pPr algn="l"/>
                      <a:r>
                        <a:rPr sz="900" b="0">
                          <a:solidFill>
                            <a:srgbClr val="000000"/>
                          </a:solidFill>
                          <a:latin typeface="Calibri"/>
                        </a:rPr>
                        <a:t/>
                      </a:r>
                    </a:p>
                  </a:txBody>
                  <a:tcPr/>
                </a:tc>
              </a:tr>
              <a:tr h="365760">
                <a:tc>
                  <a:txBody>
                    <a:bodyPr lIns="54864" rIns="54864" tIns="18288" bIns="18288" wrap="square" anchor="ctr"/>
                    <a:lstStyle/>
                    <a:p>
                      <a:pPr algn="l"/>
                      <a:r>
                        <a:rPr sz="900" b="0">
                          <a:solidFill>
                            <a:srgbClr val="000000"/>
                          </a:solidFill>
                          <a:latin typeface="Calibri"/>
                        </a:rPr>
                        <a:t>3.90</a:t>
                      </a:r>
                    </a:p>
                  </a:txBody>
                  <a:tcPr/>
                </a:tc>
                <a:tc>
                  <a:txBody>
                    <a:bodyPr lIns="54864" rIns="54864" tIns="18288" bIns="18288" wrap="square" anchor="ctr"/>
                    <a:lstStyle/>
                    <a:p>
                      <a:pPr algn="l"/>
                      <a:r>
                        <a:rPr sz="900" b="0">
                          <a:solidFill>
                            <a:srgbClr val="000000"/>
                          </a:solidFill>
                          <a:latin typeface="Calibri"/>
                        </a:rPr>
                        <a:t>18.71</a:t>
                      </a:r>
                    </a:p>
                  </a:txBody>
                  <a:tcPr/>
                </a:tc>
                <a:tc>
                  <a:txBody>
                    <a:bodyPr lIns="54864" rIns="54864" tIns="18288" bIns="18288" wrap="square" anchor="ctr"/>
                    <a:lstStyle/>
                    <a:p>
                      <a:pPr algn="l"/>
                      <a:r>
                        <a:rPr sz="900" b="0">
                          <a:solidFill>
                            <a:srgbClr val="000000"/>
                          </a:solidFill>
                          <a:latin typeface="Calibri"/>
                        </a:rPr>
                        <a:t>19.09</a:t>
                      </a:r>
                    </a:p>
                  </a:txBody>
                  <a:tcPr/>
                </a:tc>
                <a:tc>
                  <a:txBody>
                    <a:bodyPr lIns="54864" rIns="54864" tIns="18288" bIns="18288" wrap="square" anchor="ctr"/>
                    <a:lstStyle/>
                    <a:p>
                      <a:pPr algn="l"/>
                      <a:r>
                        <a:rPr sz="900" b="0">
                          <a:solidFill>
                            <a:srgbClr val="000000"/>
                          </a:solidFill>
                          <a:latin typeface="Calibri"/>
                        </a:rPr>
                        <a:t>+0.38</a:t>
                      </a:r>
                    </a:p>
                  </a:txBody>
                  <a:tcPr/>
                </a:tc>
                <a:tc>
                  <a:txBody>
                    <a:bodyPr lIns="54864" rIns="54864" tIns="18288" bIns="18288" wrap="square" anchor="ctr"/>
                    <a:lstStyle/>
                    <a:p>
                      <a:pPr algn="l"/>
                      <a:r>
                        <a:rPr sz="900" b="0">
                          <a:solidFill>
                            <a:srgbClr val="000000"/>
                          </a:solidFill>
                          <a:latin typeface="Calibri"/>
                        </a:rPr>
                        <a:t>+2.0</a:t>
                      </a:r>
                    </a:p>
                  </a:txBody>
                  <a:tcPr/>
                </a:tc>
                <a:tc>
                  <a:txBody>
                    <a:bodyPr lIns="54864" rIns="54864" tIns="18288" bIns="18288" wrap="square" anchor="ctr"/>
                    <a:lstStyle/>
                    <a:p>
                      <a:pPr algn="l"/>
                      <a:r>
                        <a:rPr sz="900" b="0">
                          <a:solidFill>
                            <a:srgbClr val="000000"/>
                          </a:solidFill>
                          <a:latin typeface="Calibri"/>
                        </a:rPr>
                        <a:t/>
                      </a:r>
                    </a:p>
                  </a:txBody>
                  <a:tcPr/>
                </a:tc>
              </a:tr>
            </a:tbl>
          </a:graphicData>
        </a:graphic>
      </p:graphicFrame>
      <p:sp>
        <p:nvSpPr>
          <p:cNvPr id="8" name="Rounded Rectangle 7"/>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10" name="Rounded Rectangle 9"/>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2" name="Rounded Rectangle 11"/>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S27 vs S28 — DEVIATION TABLE  (3/3)</a:t>
            </a:r>
          </a:p>
        </p:txBody>
      </p:sp>
      <p:sp>
        <p:nvSpPr>
          <p:cNvPr id="5" name="TextBox 4"/>
          <p:cNvSpPr txBox="1"/>
          <p:nvPr/>
        </p:nvSpPr>
        <p:spPr>
          <a:xfrm>
            <a:off x="365760" y="1024128"/>
            <a:ext cx="11475720" cy="530352"/>
          </a:xfrm>
          <a:prstGeom prst="rect">
            <a:avLst/>
          </a:prstGeom>
          <a:noFill/>
        </p:spPr>
        <p:txBody>
          <a:bodyPr wrap="square" lIns="45720" rIns="45720" tIns="18288" bIns="18288" anchor="t">
            <a:spAutoFit/>
          </a:bodyPr>
          <a:lstStyle/>
          <a:p>
            <a:pPr algn="l"/>
            <a:r>
              <a:rPr sz="1100" b="0" i="1">
                <a:solidFill>
                  <a:srgbClr val="707070"/>
                </a:solidFill>
                <a:latin typeface="Calibri"/>
              </a:rPr>
              <a:t>Both 50 % runs on ONE strain axis at 0.10 % steps, with the difference at every row. ε 3.98 % → 4.20 %, read down the left block then the right. Δσ = S28 − S27; “—” means that strain is past one specimen's fracture.</a:t>
            </a:r>
          </a:p>
        </p:txBody>
      </p:sp>
      <p:graphicFrame>
        <p:nvGraphicFramePr>
          <p:cNvPr id="6" name="Table 5"/>
          <p:cNvGraphicFramePr>
            <a:graphicFrameLocks noGrp="1"/>
          </p:cNvGraphicFramePr>
          <p:nvPr/>
        </p:nvGraphicFramePr>
        <p:xfrm>
          <a:off x="365760" y="1572768"/>
          <a:ext cx="5623556" cy="4389120"/>
        </p:xfrm>
        <a:graphic>
          <a:graphicData uri="http://schemas.openxmlformats.org/drawingml/2006/table">
            <a:tbl>
              <a:tblPr firstRow="1" bandRow="1">
                <a:tableStyleId>{5C22544A-7EE6-4342-B048-85BDC9FD1C3A}</a:tableStyleId>
              </a:tblPr>
              <a:tblGrid>
                <a:gridCol w="817098"/>
                <a:gridCol w="913227"/>
                <a:gridCol w="913227"/>
                <a:gridCol w="817098"/>
                <a:gridCol w="769033"/>
                <a:gridCol w="1393873"/>
              </a:tblGrid>
              <a:tr h="731520">
                <a:tc>
                  <a:txBody>
                    <a:bodyPr lIns="54864" rIns="54864" tIns="18288" bIns="18288" wrap="square" anchor="ctr"/>
                    <a:lstStyle/>
                    <a:p>
                      <a:pPr algn="l"/>
                      <a:r>
                        <a:rPr sz="950" b="1">
                          <a:solidFill>
                            <a:srgbClr val="FFFFFF"/>
                          </a:solidFill>
                          <a:latin typeface="Calibri"/>
                        </a:rPr>
                        <a:t>ε (%)</a:t>
                      </a:r>
                    </a:p>
                  </a:txBody>
                  <a:tcPr>
                    <a:solidFill>
                      <a:srgbClr val="143D2F"/>
                    </a:solidFill>
                  </a:tcPr>
                </a:tc>
                <a:tc>
                  <a:txBody>
                    <a:bodyPr lIns="54864" rIns="54864" tIns="18288" bIns="18288" wrap="square" anchor="ctr"/>
                    <a:lstStyle/>
                    <a:p>
                      <a:pPr algn="l"/>
                      <a:r>
                        <a:rPr sz="950" b="1">
                          <a:solidFill>
                            <a:srgbClr val="FFFFFF"/>
                          </a:solidFill>
                          <a:latin typeface="Calibri"/>
                        </a:rPr>
                        <a:t>S27 σ</a:t>
                      </a:r>
                    </a:p>
                  </a:txBody>
                  <a:tcPr>
                    <a:solidFill>
                      <a:srgbClr val="143D2F"/>
                    </a:solidFill>
                  </a:tcPr>
                </a:tc>
                <a:tc>
                  <a:txBody>
                    <a:bodyPr lIns="54864" rIns="54864" tIns="18288" bIns="18288" wrap="square" anchor="ctr"/>
                    <a:lstStyle/>
                    <a:p>
                      <a:pPr algn="l"/>
                      <a:r>
                        <a:rPr sz="950" b="1">
                          <a:solidFill>
                            <a:srgbClr val="FFFFFF"/>
                          </a:solidFill>
                          <a:latin typeface="Calibri"/>
                        </a:rPr>
                        <a:t>S28 σ</a:t>
                      </a:r>
                    </a:p>
                  </a:txBody>
                  <a:tcPr>
                    <a:solidFill>
                      <a:srgbClr val="143D2F"/>
                    </a:solidFill>
                  </a:tcPr>
                </a:tc>
                <a:tc>
                  <a:txBody>
                    <a:bodyPr lIns="54864" rIns="54864" tIns="18288" bIns="18288" wrap="square" anchor="ctr"/>
                    <a:lstStyle/>
                    <a:p>
                      <a:pPr algn="l"/>
                      <a:r>
                        <a:rPr sz="950" b="1">
                          <a:solidFill>
                            <a:srgbClr val="FFFFFF"/>
                          </a:solidFill>
                          <a:latin typeface="Calibri"/>
                        </a:rPr>
                        <a:t>Δσ</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c>
                  <a:txBody>
                    <a:bodyPr lIns="54864" rIns="54864" tIns="18288" bIns="18288" wrap="square" anchor="ctr"/>
                    <a:lstStyle/>
                    <a:p>
                      <a:pPr algn="l"/>
                      <a:r>
                        <a:rPr sz="950" b="1">
                          <a:solidFill>
                            <a:srgbClr val="FFFFFF"/>
                          </a:solidFill>
                          <a:latin typeface="Calibri"/>
                        </a:rPr>
                        <a:t>Landmark</a:t>
                      </a:r>
                    </a:p>
                  </a:txBody>
                  <a:tcPr>
                    <a:solidFill>
                      <a:srgbClr val="143D2F"/>
                    </a:solidFill>
                  </a:tcPr>
                </a:tc>
              </a:tr>
              <a:tr h="731520">
                <a:tc>
                  <a:txBody>
                    <a:bodyPr lIns="54864" rIns="54864" tIns="18288" bIns="18288" wrap="square" anchor="ctr"/>
                    <a:lstStyle/>
                    <a:p>
                      <a:pPr algn="l"/>
                      <a:r>
                        <a:rPr sz="900" b="1">
                          <a:solidFill>
                            <a:srgbClr val="000000"/>
                          </a:solidFill>
                          <a:latin typeface="Calibri"/>
                        </a:rPr>
                        <a:t>3.98</a:t>
                      </a:r>
                    </a:p>
                  </a:txBody>
                  <a:tcPr>
                    <a:solidFill>
                      <a:srgbClr val="FFCDD2"/>
                    </a:solidFill>
                  </a:tcPr>
                </a:tc>
                <a:tc>
                  <a:txBody>
                    <a:bodyPr lIns="54864" rIns="54864" tIns="18288" bIns="18288" wrap="square" anchor="ctr"/>
                    <a:lstStyle/>
                    <a:p>
                      <a:pPr algn="l"/>
                      <a:r>
                        <a:rPr sz="900" b="1">
                          <a:solidFill>
                            <a:srgbClr val="000000"/>
                          </a:solidFill>
                          <a:latin typeface="Calibri"/>
                        </a:rPr>
                        <a:t>18.24</a:t>
                      </a:r>
                    </a:p>
                  </a:txBody>
                  <a:tcPr>
                    <a:solidFill>
                      <a:srgbClr val="FFCDD2"/>
                    </a:solidFill>
                  </a:tcPr>
                </a:tc>
                <a:tc>
                  <a:txBody>
                    <a:bodyPr lIns="54864" rIns="54864" tIns="18288" bIns="18288" wrap="square" anchor="ctr"/>
                    <a:lstStyle/>
                    <a:p>
                      <a:pPr algn="l"/>
                      <a:r>
                        <a:rPr sz="900" b="1">
                          <a:solidFill>
                            <a:srgbClr val="000000"/>
                          </a:solidFill>
                          <a:latin typeface="Calibri"/>
                        </a:rPr>
                        <a:t>19.04</a:t>
                      </a:r>
                    </a:p>
                  </a:txBody>
                  <a:tcPr>
                    <a:solidFill>
                      <a:srgbClr val="FFCDD2"/>
                    </a:solidFill>
                  </a:tcPr>
                </a:tc>
                <a:tc>
                  <a:txBody>
                    <a:bodyPr lIns="54864" rIns="54864" tIns="18288" bIns="18288" wrap="square" anchor="ctr"/>
                    <a:lstStyle/>
                    <a:p>
                      <a:pPr algn="l"/>
                      <a:r>
                        <a:rPr sz="900" b="1">
                          <a:solidFill>
                            <a:srgbClr val="000000"/>
                          </a:solidFill>
                          <a:latin typeface="Calibri"/>
                        </a:rPr>
                        <a:t>+0.81</a:t>
                      </a:r>
                    </a:p>
                  </a:txBody>
                  <a:tcPr>
                    <a:solidFill>
                      <a:srgbClr val="FFCDD2"/>
                    </a:solidFill>
                  </a:tcPr>
                </a:tc>
                <a:tc>
                  <a:txBody>
                    <a:bodyPr lIns="54864" rIns="54864" tIns="18288" bIns="18288" wrap="square" anchor="ctr"/>
                    <a:lstStyle/>
                    <a:p>
                      <a:pPr algn="l"/>
                      <a:r>
                        <a:rPr sz="900" b="1">
                          <a:solidFill>
                            <a:srgbClr val="000000"/>
                          </a:solidFill>
                          <a:latin typeface="Calibri"/>
                        </a:rPr>
                        <a:t>+4.4</a:t>
                      </a:r>
                    </a:p>
                  </a:txBody>
                  <a:tcPr>
                    <a:solidFill>
                      <a:srgbClr val="FFCDD2"/>
                    </a:solidFill>
                  </a:tcPr>
                </a:tc>
                <a:tc>
                  <a:txBody>
                    <a:bodyPr lIns="54864" rIns="54864" tIns="18288" bIns="18288" wrap="square" anchor="ctr"/>
                    <a:lstStyle/>
                    <a:p>
                      <a:pPr algn="l"/>
                      <a:r>
                        <a:rPr sz="900" b="1">
                          <a:solidFill>
                            <a:srgbClr val="000000"/>
                          </a:solidFill>
                          <a:latin typeface="Calibri"/>
                        </a:rPr>
                        <a:t>S27 fracture</a:t>
                      </a:r>
                    </a:p>
                  </a:txBody>
                  <a:tcPr>
                    <a:solidFill>
                      <a:srgbClr val="FFCDD2"/>
                    </a:solidFill>
                  </a:tcPr>
                </a:tc>
              </a:tr>
              <a:tr h="731520">
                <a:tc>
                  <a:txBody>
                    <a:bodyPr lIns="54864" rIns="54864" tIns="18288" bIns="18288" wrap="square" anchor="ctr"/>
                    <a:lstStyle/>
                    <a:p>
                      <a:pPr algn="l"/>
                      <a:r>
                        <a:rPr sz="900" b="0">
                          <a:solidFill>
                            <a:srgbClr val="000000"/>
                          </a:solidFill>
                          <a:latin typeface="Calibri"/>
                        </a:rPr>
                        <a:t>4.00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19.03</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0">
                          <a:solidFill>
                            <a:srgbClr val="000000"/>
                          </a:solidFill>
                          <a:latin typeface="Calibri"/>
                        </a:rPr>
                        <a:t>4.10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18.88</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0">
                          <a:solidFill>
                            <a:srgbClr val="000000"/>
                          </a:solidFill>
                          <a:latin typeface="Calibri"/>
                        </a:rPr>
                        <a:t>4.20</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18.38</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a:t>
                      </a:r>
                    </a:p>
                  </a:txBody>
                  <a:tcPr/>
                </a:tc>
                <a:tc>
                  <a:txBody>
                    <a:bodyPr lIns="54864" rIns="54864" tIns="18288" bIns="18288" wrap="square" anchor="ctr"/>
                    <a:lstStyle/>
                    <a:p>
                      <a:pPr algn="l"/>
                      <a:r>
                        <a:rPr sz="900" b="0">
                          <a:solidFill>
                            <a:srgbClr val="000000"/>
                          </a:solidFill>
                          <a:latin typeface="Calibri"/>
                        </a:rPr>
                        <a:t/>
                      </a:r>
                    </a:p>
                  </a:txBody>
                  <a:tcPr/>
                </a:tc>
              </a:tr>
              <a:tr h="731520">
                <a:tc>
                  <a:txBody>
                    <a:bodyPr lIns="54864" rIns="54864" tIns="18288" bIns="18288" wrap="square" anchor="ctr"/>
                    <a:lstStyle/>
                    <a:p>
                      <a:pPr algn="l"/>
                      <a:r>
                        <a:rPr sz="900" b="1">
                          <a:solidFill>
                            <a:srgbClr val="000000"/>
                          </a:solidFill>
                          <a:latin typeface="Calibri"/>
                        </a:rPr>
                        <a:t>4.20</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18.35</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a:t>
                      </a:r>
                    </a:p>
                  </a:txBody>
                  <a:tcPr>
                    <a:solidFill>
                      <a:srgbClr val="FFCDD2"/>
                    </a:solidFill>
                  </a:tcPr>
                </a:tc>
                <a:tc>
                  <a:txBody>
                    <a:bodyPr lIns="54864" rIns="54864" tIns="18288" bIns="18288" wrap="square" anchor="ctr"/>
                    <a:lstStyle/>
                    <a:p>
                      <a:pPr algn="l"/>
                      <a:r>
                        <a:rPr sz="900" b="1">
                          <a:solidFill>
                            <a:srgbClr val="000000"/>
                          </a:solidFill>
                          <a:latin typeface="Calibri"/>
                        </a:rPr>
                        <a:t>S28 fracture</a:t>
                      </a:r>
                    </a:p>
                  </a:txBody>
                  <a:tcPr>
                    <a:solidFill>
                      <a:srgbClr val="FFCDD2"/>
                    </a:solidFill>
                  </a:tcPr>
                </a:tc>
              </a:tr>
            </a:tbl>
          </a:graphicData>
        </a:graphic>
      </p:graphicFrame>
      <p:sp>
        <p:nvSpPr>
          <p:cNvPr id="7" name="Rounded Rectangle 6"/>
          <p:cNvSpPr/>
          <p:nvPr/>
        </p:nvSpPr>
        <p:spPr>
          <a:xfrm>
            <a:off x="365760" y="6016752"/>
            <a:ext cx="292608" cy="274320"/>
          </a:xfrm>
          <a:prstGeom prst="roundRect">
            <a:avLst/>
          </a:prstGeom>
          <a:solidFill>
            <a:srgbClr val="C8E6C9"/>
          </a:solidFill>
          <a:ln w="13970">
            <a:solidFill>
              <a:srgbClr val="2F9E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Yield — 0.2 % offset</a:t>
            </a:r>
          </a:p>
        </p:txBody>
      </p:sp>
      <p:sp>
        <p:nvSpPr>
          <p:cNvPr id="9" name="Rounded Rectangle 8"/>
          <p:cNvSpPr/>
          <p:nvPr/>
        </p:nvSpPr>
        <p:spPr>
          <a:xfrm>
            <a:off x="4160520" y="6016752"/>
            <a:ext cx="292608" cy="274320"/>
          </a:xfrm>
          <a:prstGeom prst="roundRect">
            <a:avLst/>
          </a:prstGeom>
          <a:solidFill>
            <a:srgbClr val="FFF3CD"/>
          </a:solidFill>
          <a:ln w="13970">
            <a:solidFill>
              <a:srgbClr val="D2992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5998464"/>
            <a:ext cx="3182112" cy="329184"/>
          </a:xfrm>
          <a:prstGeom prst="rect">
            <a:avLst/>
          </a:prstGeom>
          <a:noFill/>
        </p:spPr>
        <p:txBody>
          <a:bodyPr wrap="square" lIns="45720" rIns="45720" tIns="18288" bIns="18288" anchor="ctr">
            <a:spAutoFit/>
          </a:bodyPr>
          <a:lstStyle/>
          <a:p>
            <a:pPr algn="l"/>
            <a:r>
              <a:rPr sz="1000" b="0" i="0">
                <a:solidFill>
                  <a:srgbClr val="000000"/>
                </a:solidFill>
                <a:latin typeface="Calibri"/>
              </a:rPr>
              <a:t>UTS — peak stress</a:t>
            </a:r>
          </a:p>
        </p:txBody>
      </p:sp>
      <p:sp>
        <p:nvSpPr>
          <p:cNvPr id="11" name="Rounded Rectangle 10"/>
          <p:cNvSpPr/>
          <p:nvPr/>
        </p:nvSpPr>
        <p:spPr>
          <a:xfrm>
            <a:off x="7955279" y="6016752"/>
            <a:ext cx="292608" cy="274320"/>
          </a:xfrm>
          <a:prstGeom prst="roundRect">
            <a:avLst/>
          </a:prstGeom>
          <a:solidFill>
            <a:srgbClr val="FFCDD2"/>
          </a:solidFill>
          <a:ln w="13970">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7" y="5998464"/>
            <a:ext cx="3456432" cy="329184"/>
          </a:xfrm>
          <a:prstGeom prst="rect">
            <a:avLst/>
          </a:prstGeom>
          <a:noFill/>
        </p:spPr>
        <p:txBody>
          <a:bodyPr wrap="square" lIns="45720" rIns="45720" tIns="18288" bIns="18288" anchor="ctr">
            <a:spAutoFit/>
          </a:bodyPr>
          <a:lstStyle/>
          <a:p>
            <a:pPr algn="l"/>
            <a:r>
              <a:rPr sz="1000" b="0" i="0">
                <a:solidFill>
                  <a:srgbClr val="000000"/>
                </a:solidFill>
                <a:latin typeface="Calibri"/>
              </a:rPr>
              <a:t>Fracture — load collapse</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Highlighted rows carry MEASURED values at each run's true landmark strain. Across the whole shared range the two agree to 1.32 % on average.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50 % vs 100 % INFILL — S27 AND S28 AGAINST S26</a:t>
            </a:r>
          </a:p>
        </p:txBody>
      </p:sp>
      <p:sp>
        <p:nvSpPr>
          <p:cNvPr id="5" name="TextBox 4"/>
          <p:cNvSpPr txBox="1"/>
          <p:nvPr/>
        </p:nvSpPr>
        <p:spPr>
          <a:xfrm>
            <a:off x="365760" y="1051560"/>
            <a:ext cx="11475720" cy="548640"/>
          </a:xfrm>
          <a:prstGeom prst="rect">
            <a:avLst/>
          </a:prstGeom>
          <a:noFill/>
        </p:spPr>
        <p:txBody>
          <a:bodyPr wrap="square" lIns="45720" rIns="45720" tIns="18288" bIns="18288" anchor="t">
            <a:spAutoFit/>
          </a:bodyPr>
          <a:lstStyle/>
          <a:p>
            <a:pPr algn="l"/>
            <a:r>
              <a:rPr sz="1200" b="0" i="1">
                <a:solidFill>
                  <a:srgbClr val="707070"/>
                </a:solidFill>
                <a:latin typeface="Calibri"/>
              </a:rPr>
              <a:t>The middle panel is the one to look at. Divide each curve by its own UTS and the three nearly collapse onto one another — so the two infills differ mostly by a SCALE FACTOR, not by a change in how the material behaves.</a:t>
            </a:r>
          </a:p>
        </p:txBody>
      </p:sp>
      <p:pic>
        <p:nvPicPr>
          <p:cNvPr id="6" name="Picture 5" descr="s27_s28_vs_s26.png"/>
          <p:cNvPicPr>
            <a:picLocks noChangeAspect="1"/>
          </p:cNvPicPr>
          <p:nvPr/>
        </p:nvPicPr>
        <p:blipFill>
          <a:blip r:embed="rId2"/>
          <a:stretch>
            <a:fillRect/>
          </a:stretch>
        </p:blipFill>
        <p:spPr>
          <a:xfrm>
            <a:off x="365760" y="1664208"/>
            <a:ext cx="11475720" cy="3855125"/>
          </a:xfrm>
          <a:prstGeom prst="rect">
            <a:avLst/>
          </a:prstGeom>
        </p:spPr>
      </p:pic>
      <p:sp>
        <p:nvSpPr>
          <p:cNvPr id="7" name="Rectangle 6"/>
          <p:cNvSpPr/>
          <p:nvPr/>
        </p:nvSpPr>
        <p:spPr>
          <a:xfrm>
            <a:off x="365760" y="562356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1F3F2F"/>
                </a:solidFill>
                <a:latin typeface="Calibri"/>
              </a:rPr>
              <a:t>Strength and stiffness scale super-linearly with infill — UTS ×2.35, E ×2.51 for a 2× change in material — while ε_f moves only ×1.21. The normalised shapes explain why: the material yields and softens the same way at both infills; there is simply less of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S26 chosen as the 100 % comparator because it is the closest run in protocol and date. Ratios use both-run means at each infill, not S26 alone.</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VIDEO EXTENSOMETER — SETUP, AND THE RECORD ON ITS OWN</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An independent optical measurement of the same quantity our DIC measures. It carries STRAIN ONLY — no load channel — and stops at 0.401 % strain, far short of fracture, so this can test our STRAIN and nothing else.</a:t>
            </a:r>
          </a:p>
        </p:txBody>
      </p:sp>
      <p:graphicFrame>
        <p:nvGraphicFramePr>
          <p:cNvPr id="6" name="Table 5"/>
          <p:cNvGraphicFramePr>
            <a:graphicFrameLocks noGrp="1"/>
          </p:cNvGraphicFramePr>
          <p:nvPr/>
        </p:nvGraphicFramePr>
        <p:xfrm>
          <a:off x="365760" y="1572768"/>
          <a:ext cx="5074917" cy="2286000"/>
        </p:xfrm>
        <a:graphic>
          <a:graphicData uri="http://schemas.openxmlformats.org/drawingml/2006/table">
            <a:tbl>
              <a:tblPr firstRow="1" bandRow="1">
                <a:tableStyleId>{5C22544A-7EE6-4342-B048-85BDC9FD1C3A}</a:tableStyleId>
              </a:tblPr>
              <a:tblGrid>
                <a:gridCol w="1234439"/>
                <a:gridCol w="1691639"/>
                <a:gridCol w="2148839"/>
              </a:tblGrid>
              <a:tr h="254000">
                <a:tc>
                  <a:txBody>
                    <a:bodyPr lIns="54864" rIns="54864" tIns="18288" bIns="18288" wrap="square" anchor="ctr"/>
                    <a:lstStyle/>
                    <a:p>
                      <a:pPr algn="l"/>
                      <a:r>
                        <a:rPr sz="950" b="1">
                          <a:solidFill>
                            <a:srgbClr val="FFFFFF"/>
                          </a:solidFill>
                          <a:latin typeface="Calibri"/>
                        </a:rPr>
                        <a:t>Parameter</a:t>
                      </a:r>
                    </a:p>
                  </a:txBody>
                  <a:tcPr>
                    <a:solidFill>
                      <a:srgbClr val="143D2F"/>
                    </a:solidFill>
                  </a:tcPr>
                </a:tc>
                <a:tc>
                  <a:txBody>
                    <a:bodyPr lIns="54864" rIns="54864" tIns="18288" bIns="18288" wrap="square" anchor="ctr"/>
                    <a:lstStyle/>
                    <a:p>
                      <a:pPr algn="l"/>
                      <a:r>
                        <a:rPr sz="950" b="1">
                          <a:solidFill>
                            <a:srgbClr val="FFFFFF"/>
                          </a:solidFill>
                          <a:latin typeface="Calibri"/>
                        </a:rPr>
                        <a:t>MOT XT-205</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r>
              <a:tr h="254000">
                <a:tc>
                  <a:txBody>
                    <a:bodyPr lIns="54864" rIns="54864" tIns="18288" bIns="18288" wrap="square" anchor="ctr"/>
                    <a:lstStyle/>
                    <a:p>
                      <a:pPr algn="l"/>
                      <a:r>
                        <a:rPr sz="900" b="0">
                          <a:solidFill>
                            <a:srgbClr val="000000"/>
                          </a:solidFill>
                          <a:latin typeface="Calibri"/>
                        </a:rPr>
                        <a:t>Instrument</a:t>
                      </a:r>
                    </a:p>
                  </a:txBody>
                  <a:tcPr/>
                </a:tc>
                <a:tc>
                  <a:txBody>
                    <a:bodyPr lIns="54864" rIns="54864" tIns="18288" bIns="18288" wrap="square" anchor="ctr"/>
                    <a:lstStyle/>
                    <a:p>
                      <a:pPr algn="l"/>
                      <a:r>
                        <a:rPr sz="900" b="0">
                          <a:solidFill>
                            <a:srgbClr val="000000"/>
                          </a:solidFill>
                          <a:latin typeface="Calibri"/>
                        </a:rPr>
                        <a:t>XT-205 video ext.</a:t>
                      </a:r>
                    </a:p>
                  </a:txBody>
                  <a:tcPr/>
                </a:tc>
                <a:tc>
                  <a:txBody>
                    <a:bodyPr lIns="54864" rIns="54864" tIns="18288" bIns="18288" wrap="square" anchor="ctr"/>
                    <a:lstStyle/>
                    <a:p>
                      <a:pPr algn="l"/>
                      <a:r>
                        <a:rPr sz="900" b="0">
                          <a:solidFill>
                            <a:srgbClr val="000000"/>
                          </a:solidFill>
                          <a:latin typeface="Calibri"/>
                        </a:rPr>
                        <a:t>Basler acA2440-35um, 2 spray dots</a:t>
                      </a:r>
                    </a:p>
                  </a:txBody>
                  <a:tcPr/>
                </a:tc>
              </a:tr>
              <a:tr h="254000">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80.0033 mm</a:t>
                      </a:r>
                    </a:p>
                  </a:txBody>
                  <a:tcPr/>
                </a:tc>
                <a:tc>
                  <a:txBody>
                    <a:bodyPr lIns="54864" rIns="54864" tIns="18288" bIns="18288" wrap="square" anchor="ctr"/>
                    <a:lstStyle/>
                    <a:p>
                      <a:pPr algn="l"/>
                      <a:r>
                        <a:rPr sz="900" b="0">
                          <a:solidFill>
                            <a:srgbClr val="000000"/>
                          </a:solidFill>
                          <a:latin typeface="Calibri"/>
                        </a:rPr>
                        <a:t>80.0 mm</a:t>
                      </a:r>
                    </a:p>
                  </a:txBody>
                  <a:tcPr/>
                </a:tc>
              </a:tr>
              <a:tr h="254000">
                <a:tc>
                  <a:txBody>
                    <a:bodyPr lIns="54864" rIns="54864" tIns="18288" bIns="18288" wrap="square" anchor="ctr"/>
                    <a:lstStyle/>
                    <a:p>
                      <a:pPr algn="l"/>
                      <a:r>
                        <a:rPr sz="900" b="0">
                          <a:solidFill>
                            <a:srgbClr val="000000"/>
                          </a:solidFill>
                          <a:latin typeface="Calibri"/>
                        </a:rPr>
                        <a:t>Sampling</a:t>
                      </a:r>
                    </a:p>
                  </a:txBody>
                  <a:tcPr/>
                </a:tc>
                <a:tc>
                  <a:txBody>
                    <a:bodyPr lIns="54864" rIns="54864" tIns="18288" bIns="18288" wrap="square" anchor="ctr"/>
                    <a:lstStyle/>
                    <a:p>
                      <a:pPr algn="l"/>
                      <a:r>
                        <a:rPr sz="900" b="0">
                          <a:solidFill>
                            <a:srgbClr val="000000"/>
                          </a:solidFill>
                          <a:latin typeface="Calibri"/>
                        </a:rPr>
                        <a:t>20.0 Hz</a:t>
                      </a:r>
                    </a:p>
                  </a:txBody>
                  <a:tcPr/>
                </a:tc>
                <a:tc>
                  <a:txBody>
                    <a:bodyPr lIns="54864" rIns="54864" tIns="18288" bIns="18288" wrap="square" anchor="ctr"/>
                    <a:lstStyle/>
                    <a:p>
                      <a:pPr algn="l"/>
                      <a:r>
                        <a:rPr sz="900" b="0">
                          <a:solidFill>
                            <a:srgbClr val="000000"/>
                          </a:solidFill>
                          <a:latin typeface="Calibri"/>
                        </a:rPr>
                        <a:t>19.9 Hz</a:t>
                      </a:r>
                    </a:p>
                  </a:txBody>
                  <a:tcPr/>
                </a:tc>
              </a:tr>
              <a:tr h="254000">
                <a:tc>
                  <a:txBody>
                    <a:bodyPr lIns="54864" rIns="54864" tIns="18288" bIns="18288" wrap="square" anchor="ctr"/>
                    <a:lstStyle/>
                    <a:p>
                      <a:pPr algn="l"/>
                      <a:r>
                        <a:rPr sz="900" b="0">
                          <a:solidFill>
                            <a:srgbClr val="000000"/>
                          </a:solidFill>
                          <a:latin typeface="Calibri"/>
                        </a:rPr>
                        <a:t>Preload</a:t>
                      </a:r>
                    </a:p>
                  </a:txBody>
                  <a:tcPr/>
                </a:tc>
                <a:tc>
                  <a:txBody>
                    <a:bodyPr lIns="54864" rIns="54864" tIns="18288" bIns="18288" wrap="square" anchor="ctr"/>
                    <a:lstStyle/>
                    <a:p>
                      <a:pPr algn="l"/>
                      <a:r>
                        <a:rPr sz="900" b="0">
                          <a:solidFill>
                            <a:srgbClr val="000000"/>
                          </a:solidFill>
                          <a:latin typeface="Calibri"/>
                        </a:rPr>
                        <a:t>300 N</a:t>
                      </a:r>
                    </a:p>
                  </a:txBody>
                  <a:tcPr/>
                </a:tc>
                <a:tc>
                  <a:txBody>
                    <a:bodyPr lIns="54864" rIns="54864" tIns="18288" bIns="18288" wrap="square" anchor="ctr"/>
                    <a:lstStyle/>
                    <a:p>
                      <a:pPr algn="l"/>
                      <a:r>
                        <a:rPr sz="900" b="0">
                          <a:solidFill>
                            <a:srgbClr val="000000"/>
                          </a:solidFill>
                          <a:latin typeface="Calibri"/>
                        </a:rPr>
                        <a:t>300 N</a:t>
                      </a:r>
                    </a:p>
                  </a:txBody>
                  <a:tcPr/>
                </a:tc>
              </a:tr>
              <a:tr h="254000">
                <a:tc>
                  <a:txBody>
                    <a:bodyPr lIns="54864" rIns="54864" tIns="18288" bIns="18288" wrap="square" anchor="ctr"/>
                    <a:lstStyle/>
                    <a:p>
                      <a:pPr algn="l"/>
                      <a:r>
                        <a:rPr sz="900" b="0">
                          <a:solidFill>
                            <a:srgbClr val="000000"/>
                          </a:solidFill>
                          <a:latin typeface="Calibri"/>
                        </a:rPr>
                        <a:t>Crosshead</a:t>
                      </a:r>
                    </a:p>
                  </a:txBody>
                  <a:tcPr/>
                </a:tc>
                <a:tc>
                  <a:txBody>
                    <a:bodyPr lIns="54864" rIns="54864" tIns="18288" bIns="18288" wrap="square" anchor="ctr"/>
                    <a:lstStyle/>
                    <a:p>
                      <a:pPr algn="l"/>
                      <a:r>
                        <a:rPr sz="900" b="0">
                          <a:solidFill>
                            <a:srgbClr val="000000"/>
                          </a:solidFill>
                          <a:latin typeface="Calibri"/>
                        </a:rPr>
                        <a:t>0.10 mm/s</a:t>
                      </a:r>
                    </a:p>
                  </a:txBody>
                  <a:tcPr/>
                </a:tc>
                <a:tc>
                  <a:txBody>
                    <a:bodyPr lIns="54864" rIns="54864" tIns="18288" bIns="18288" wrap="square" anchor="ctr"/>
                    <a:lstStyle/>
                    <a:p>
                      <a:pPr algn="l"/>
                      <a:r>
                        <a:rPr sz="900" b="0">
                          <a:solidFill>
                            <a:srgbClr val="000000"/>
                          </a:solidFill>
                          <a:latin typeface="Calibri"/>
                        </a:rPr>
                        <a:t>0.10 mm/s</a:t>
                      </a:r>
                    </a:p>
                  </a:txBody>
                  <a:tcPr/>
                </a:tc>
              </a:tr>
              <a:tr h="254000">
                <a:tc>
                  <a:txBody>
                    <a:bodyPr lIns="54864" rIns="54864" tIns="18288" bIns="18288" wrap="square" anchor="ctr"/>
                    <a:lstStyle/>
                    <a:p>
                      <a:pPr algn="l"/>
                      <a:r>
                        <a:rPr sz="900" b="0">
                          <a:solidFill>
                            <a:srgbClr val="000000"/>
                          </a:solidFill>
                          <a:latin typeface="Calibri"/>
                        </a:rPr>
                        <a:t>Specimen</a:t>
                      </a:r>
                    </a:p>
                  </a:txBody>
                  <a:tcPr/>
                </a:tc>
                <a:tc>
                  <a:txBody>
                    <a:bodyPr lIns="54864" rIns="54864" tIns="18288" bIns="18288" wrap="square" anchor="ctr"/>
                    <a:lstStyle/>
                    <a:p>
                      <a:pPr algn="l"/>
                      <a:r>
                        <a:rPr sz="900" b="0">
                          <a:solidFill>
                            <a:srgbClr val="000000"/>
                          </a:solidFill>
                          <a:latin typeface="Calibri"/>
                        </a:rPr>
                        <a:t>same batch as S25/S26</a:t>
                      </a:r>
                    </a:p>
                  </a:txBody>
                  <a:tcPr/>
                </a:tc>
                <a:tc>
                  <a:txBody>
                    <a:bodyPr lIns="54864" rIns="54864" tIns="18288" bIns="18288" wrap="square" anchor="ctr"/>
                    <a:lstStyle/>
                    <a:p>
                      <a:pPr algn="l"/>
                      <a:r>
                        <a:rPr sz="900" b="0">
                          <a:solidFill>
                            <a:srgbClr val="000000"/>
                          </a:solidFill>
                          <a:latin typeface="Calibri"/>
                        </a:rPr>
                        <a:t>S25, S26</a:t>
                      </a:r>
                    </a:p>
                  </a:txBody>
                  <a:tcPr/>
                </a:tc>
              </a:tr>
              <a:tr h="254000">
                <a:tc>
                  <a:txBody>
                    <a:bodyPr lIns="54864" rIns="54864" tIns="18288" bIns="18288" wrap="square" anchor="ctr"/>
                    <a:lstStyle/>
                    <a:p>
                      <a:pPr algn="l"/>
                      <a:r>
                        <a:rPr sz="900" b="0">
                          <a:solidFill>
                            <a:srgbClr val="000000"/>
                          </a:solidFill>
                          <a:latin typeface="Calibri"/>
                        </a:rPr>
                        <a:t>Channels</a:t>
                      </a:r>
                    </a:p>
                  </a:txBody>
                  <a:tcPr/>
                </a:tc>
                <a:tc>
                  <a:txBody>
                    <a:bodyPr lIns="54864" rIns="54864" tIns="18288" bIns="18288" wrap="square" anchor="ctr"/>
                    <a:lstStyle/>
                    <a:p>
                      <a:pPr algn="l"/>
                      <a:r>
                        <a:rPr sz="900" b="0">
                          <a:solidFill>
                            <a:srgbClr val="000000"/>
                          </a:solidFill>
                          <a:latin typeface="Calibri"/>
                        </a:rPr>
                        <a:t>strain only</a:t>
                      </a:r>
                    </a:p>
                  </a:txBody>
                  <a:tcPr/>
                </a:tc>
                <a:tc>
                  <a:txBody>
                    <a:bodyPr lIns="54864" rIns="54864" tIns="18288" bIns="18288" wrap="square" anchor="ctr"/>
                    <a:lstStyle/>
                    <a:p>
                      <a:pPr algn="l"/>
                      <a:r>
                        <a:rPr sz="900" b="0">
                          <a:solidFill>
                            <a:srgbClr val="000000"/>
                          </a:solidFill>
                          <a:latin typeface="Calibri"/>
                        </a:rPr>
                        <a:t>load + position + strain</a:t>
                      </a:r>
                    </a:p>
                  </a:txBody>
                  <a:tcPr/>
                </a:tc>
              </a:tr>
              <a:tr h="254000">
                <a:tc>
                  <a:txBody>
                    <a:bodyPr lIns="54864" rIns="54864" tIns="18288" bIns="18288" wrap="square" anchor="ctr"/>
                    <a:lstStyle/>
                    <a:p>
                      <a:pPr algn="l"/>
                      <a:r>
                        <a:rPr sz="900" b="0">
                          <a:solidFill>
                            <a:srgbClr val="000000"/>
                          </a:solidFill>
                          <a:latin typeface="Calibri"/>
                        </a:rPr>
                        <a:t>Ends at</a:t>
                      </a:r>
                    </a:p>
                  </a:txBody>
                  <a:tcPr/>
                </a:tc>
                <a:tc>
                  <a:txBody>
                    <a:bodyPr lIns="54864" rIns="54864" tIns="18288" bIns="18288" wrap="square" anchor="ctr"/>
                    <a:lstStyle/>
                    <a:p>
                      <a:pPr algn="l"/>
                      <a:r>
                        <a:rPr sz="900" b="0">
                          <a:solidFill>
                            <a:srgbClr val="000000"/>
                          </a:solidFill>
                          <a:latin typeface="Calibri"/>
                        </a:rPr>
                        <a:t>0.401 % strain</a:t>
                      </a:r>
                    </a:p>
                  </a:txBody>
                  <a:tcPr/>
                </a:tc>
                <a:tc>
                  <a:txBody>
                    <a:bodyPr lIns="54864" rIns="54864" tIns="18288" bIns="18288" wrap="square" anchor="ctr"/>
                    <a:lstStyle/>
                    <a:p>
                      <a:pPr algn="l"/>
                      <a:r>
                        <a:rPr sz="900" b="0">
                          <a:solidFill>
                            <a:srgbClr val="000000"/>
                          </a:solidFill>
                          <a:latin typeface="Calibri"/>
                        </a:rPr>
                        <a:t>fracture, 4–6 %</a:t>
                      </a:r>
                    </a:p>
                  </a:txBody>
                  <a:tcPr/>
                </a:tc>
              </a:tr>
            </a:tbl>
          </a:graphicData>
        </a:graphic>
      </p:graphicFrame>
      <p:sp>
        <p:nvSpPr>
          <p:cNvPr id="7" name="TextBox 6"/>
          <p:cNvSpPr txBox="1"/>
          <p:nvPr/>
        </p:nvSpPr>
        <p:spPr>
          <a:xfrm>
            <a:off x="5669280" y="1572768"/>
            <a:ext cx="61722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file actually contains</a:t>
            </a:r>
          </a:p>
        </p:txBody>
      </p:sp>
      <p:sp>
        <p:nvSpPr>
          <p:cNvPr id="8" name="TextBox 7"/>
          <p:cNvSpPr txBox="1"/>
          <p:nvPr/>
        </p:nvSpPr>
        <p:spPr>
          <a:xfrm>
            <a:off x="5669280" y="1920240"/>
            <a:ext cx="6172200" cy="1188720"/>
          </a:xfrm>
          <a:prstGeom prst="rect">
            <a:avLst/>
          </a:prstGeom>
          <a:noFill/>
        </p:spPr>
        <p:txBody>
          <a:bodyPr wrap="square" lIns="45720" rIns="45720" tIns="18288" bIns="18288" anchor="t">
            <a:spAutoFit/>
          </a:bodyPr>
          <a:lstStyle/>
          <a:p>
            <a:pPr algn="l"/>
            <a:r>
              <a:rPr sz="1050" b="0" i="0">
                <a:solidFill>
                  <a:srgbClr val="000000"/>
                </a:solidFill>
                <a:latin typeface="Calibri"/>
              </a:rPr>
              <a:t>•  585 rows, of which 221 read “Invalid” — the tracker had not locked on
•  Then ~13 s at zero strain: the crosshead has not started moving
•  364 usable rows, t = 2.00 → 20.70 s
•  strain %% = 100 × extension ÷ gauge to within 1×10⁻⁶ — a plain ratio, no hidden compensation</a:t>
            </a:r>
          </a:p>
        </p:txBody>
      </p:sp>
      <p:sp>
        <p:nvSpPr>
          <p:cNvPr id="9" name="Rectangle 8"/>
          <p:cNvSpPr/>
          <p:nvPr/>
        </p:nvSpPr>
        <p:spPr>
          <a:xfrm>
            <a:off x="5669280" y="3200400"/>
            <a:ext cx="617220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TWO CONFOUNDS REMOVED FOR FREE: their gauge is 80.0033 mm, so both instruments measure over the SAME length; and their preload and speed match ours, so the strain zero and the rate need no correction.</a:t>
            </a:r>
          </a:p>
        </p:txBody>
      </p:sp>
      <p:pic>
        <p:nvPicPr>
          <p:cNvPr id="10" name="Picture 9" descr="mot_record.png"/>
          <p:cNvPicPr>
            <a:picLocks noChangeAspect="1"/>
          </p:cNvPicPr>
          <p:nvPr/>
        </p:nvPicPr>
        <p:blipFill>
          <a:blip r:embed="rId2"/>
          <a:stretch>
            <a:fillRect/>
          </a:stretch>
        </p:blipFill>
        <p:spPr>
          <a:xfrm>
            <a:off x="365760" y="3950208"/>
            <a:ext cx="11475720" cy="2266214"/>
          </a:xfrm>
          <a:prstGeom prst="rect">
            <a:avLst/>
          </a:prstGeom>
        </p:spPr>
      </p:pic>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everything delivered, including the parts that are not data. Right: the loading ramp used for every comparison that follows, with its residual inset.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vs S25 / S26 — STRAIN RATE</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Compared over a MATCHED STRAIN INTERVAL (0.05–0.35 %), not matched time — and the 2.2× gap that results is a COMPLIANCE measurement, not a calibration one.</a:t>
            </a:r>
          </a:p>
        </p:txBody>
      </p:sp>
      <p:pic>
        <p:nvPicPr>
          <p:cNvPr id="6" name="Picture 5" descr="mot_rate.png"/>
          <p:cNvPicPr>
            <a:picLocks noChangeAspect="1"/>
          </p:cNvPicPr>
          <p:nvPr/>
        </p:nvPicPr>
        <p:blipFill>
          <a:blip r:embed="rId2"/>
          <a:stretch>
            <a:fillRect/>
          </a:stretch>
        </p:blipFill>
        <p:spPr>
          <a:xfrm>
            <a:off x="365760" y="1536192"/>
            <a:ext cx="11475719" cy="2754768"/>
          </a:xfrm>
          <a:prstGeom prst="rect">
            <a:avLst/>
          </a:prstGeom>
        </p:spPr>
      </p:pic>
      <p:graphicFrame>
        <p:nvGraphicFramePr>
          <p:cNvPr id="7" name="Table 6"/>
          <p:cNvGraphicFramePr>
            <a:graphicFrameLocks noGrp="1"/>
          </p:cNvGraphicFramePr>
          <p:nvPr/>
        </p:nvGraphicFramePr>
        <p:xfrm>
          <a:off x="365760" y="4462272"/>
          <a:ext cx="5623559" cy="1097280"/>
        </p:xfrm>
        <a:graphic>
          <a:graphicData uri="http://schemas.openxmlformats.org/drawingml/2006/table">
            <a:tbl>
              <a:tblPr firstRow="1" bandRow="1">
                <a:tableStyleId>{5C22544A-7EE6-4342-B048-85BDC9FD1C3A}</a:tableStyleId>
              </a:tblPr>
              <a:tblGrid>
                <a:gridCol w="1005840"/>
                <a:gridCol w="1554480"/>
                <a:gridCol w="1234439"/>
                <a:gridCol w="1005840"/>
                <a:gridCol w="822960"/>
              </a:tblGrid>
              <a:tr h="27432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dε/dt (10⁻⁴/s)</a:t>
                      </a:r>
                    </a:p>
                  </a:txBody>
                  <a:tcPr>
                    <a:solidFill>
                      <a:srgbClr val="143D2F"/>
                    </a:solidFill>
                  </a:tcPr>
                </a:tc>
                <a:tc>
                  <a:txBody>
                    <a:bodyPr lIns="54864" rIns="54864" tIns="18288" bIns="18288" wrap="square" anchor="ctr"/>
                    <a:lstStyle/>
                    <a:p>
                      <a:pPr algn="l"/>
                      <a:r>
                        <a:rPr sz="950" b="1">
                          <a:solidFill>
                            <a:srgbClr val="FFFFFF"/>
                          </a:solidFill>
                          <a:latin typeface="Calibri"/>
                        </a:rPr>
                        <a:t>% of ceiling</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c>
                  <a:txBody>
                    <a:bodyPr lIns="54864" rIns="54864" tIns="18288" bIns="18288" wrap="square" anchor="ctr"/>
                    <a:lstStyle/>
                    <a:p>
                      <a:pPr algn="l"/>
                      <a:r>
                        <a:rPr sz="950" b="1">
                          <a:solidFill>
                            <a:srgbClr val="FFFFFF"/>
                          </a:solidFill>
                          <a:latin typeface="Calibri"/>
                        </a:rPr>
                        <a:t>n</a:t>
                      </a:r>
                    </a:p>
                  </a:txBody>
                  <a:tcPr>
                    <a:solidFill>
                      <a:srgbClr val="143D2F"/>
                    </a:solidFill>
                  </a:tcPr>
                </a:tc>
              </a:tr>
              <a:tr h="274320">
                <a:tc>
                  <a:txBody>
                    <a:bodyPr lIns="54864" rIns="54864" tIns="18288" bIns="18288" wrap="square" anchor="ctr"/>
                    <a:lstStyle/>
                    <a:p>
                      <a:pPr algn="l"/>
                      <a:r>
                        <a:rPr sz="950" b="0">
                          <a:solidFill>
                            <a:srgbClr val="000000"/>
                          </a:solidFill>
                          <a:latin typeface="Calibri"/>
                        </a:rPr>
                        <a:t>MOT</a:t>
                      </a:r>
                    </a:p>
                  </a:txBody>
                  <a:tcPr/>
                </a:tc>
                <a:tc>
                  <a:txBody>
                    <a:bodyPr lIns="54864" rIns="54864" tIns="18288" bIns="18288" wrap="square" anchor="ctr"/>
                    <a:lstStyle/>
                    <a:p>
                      <a:pPr algn="l"/>
                      <a:r>
                        <a:rPr sz="950" b="0">
                          <a:solidFill>
                            <a:srgbClr val="000000"/>
                          </a:solidFill>
                          <a:latin typeface="Calibri"/>
                        </a:rPr>
                        <a:t>7.42</a:t>
                      </a:r>
                    </a:p>
                  </a:txBody>
                  <a:tcPr/>
                </a:tc>
                <a:tc>
                  <a:txBody>
                    <a:bodyPr lIns="54864" rIns="54864" tIns="18288" bIns="18288" wrap="square" anchor="ctr"/>
                    <a:lstStyle/>
                    <a:p>
                      <a:pPr algn="l"/>
                      <a:r>
                        <a:rPr sz="950" b="0">
                          <a:solidFill>
                            <a:srgbClr val="000000"/>
                          </a:solidFill>
                          <a:latin typeface="Calibri"/>
                        </a:rPr>
                        <a:t>53 %</a:t>
                      </a:r>
                    </a:p>
                  </a:txBody>
                  <a:tcPr/>
                </a:tc>
                <a:tc>
                  <a:txBody>
                    <a:bodyPr lIns="54864" rIns="54864" tIns="18288" bIns="18288" wrap="square" anchor="ctr"/>
                    <a:lstStyle/>
                    <a:p>
                      <a:pPr algn="l"/>
                      <a:r>
                        <a:rPr sz="950" b="0">
                          <a:solidFill>
                            <a:srgbClr val="000000"/>
                          </a:solidFill>
                          <a:latin typeface="Calibri"/>
                        </a:rPr>
                        <a:t>0.9973</a:t>
                      </a:r>
                    </a:p>
                  </a:txBody>
                  <a:tcPr/>
                </a:tc>
                <a:tc>
                  <a:txBody>
                    <a:bodyPr lIns="54864" rIns="54864" tIns="18288" bIns="18288" wrap="square" anchor="ctr"/>
                    <a:lstStyle/>
                    <a:p>
                      <a:pPr algn="l"/>
                      <a:r>
                        <a:rPr sz="950" b="0">
                          <a:solidFill>
                            <a:srgbClr val="000000"/>
                          </a:solidFill>
                          <a:latin typeface="Calibri"/>
                        </a:rPr>
                        <a:t>80</a:t>
                      </a:r>
                    </a:p>
                  </a:txBody>
                  <a:tcPr/>
                </a:tc>
              </a:tr>
              <a:tr h="27432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2.67</a:t>
                      </a:r>
                    </a:p>
                  </a:txBody>
                  <a:tcPr/>
                </a:tc>
                <a:tc>
                  <a:txBody>
                    <a:bodyPr lIns="54864" rIns="54864" tIns="18288" bIns="18288" wrap="square" anchor="ctr"/>
                    <a:lstStyle/>
                    <a:p>
                      <a:pPr algn="l"/>
                      <a:r>
                        <a:rPr sz="950" b="0">
                          <a:solidFill>
                            <a:srgbClr val="000000"/>
                          </a:solidFill>
                          <a:latin typeface="Calibri"/>
                        </a:rPr>
                        <a:t>19 %</a:t>
                      </a:r>
                    </a:p>
                  </a:txBody>
                  <a:tcPr/>
                </a:tc>
                <a:tc>
                  <a:txBody>
                    <a:bodyPr lIns="54864" rIns="54864" tIns="18288" bIns="18288" wrap="square" anchor="ctr"/>
                    <a:lstStyle/>
                    <a:p>
                      <a:pPr algn="l"/>
                      <a:r>
                        <a:rPr sz="950" b="0">
                          <a:solidFill>
                            <a:srgbClr val="000000"/>
                          </a:solidFill>
                          <a:latin typeface="Calibri"/>
                        </a:rPr>
                        <a:t>0.9993</a:t>
                      </a:r>
                    </a:p>
                  </a:txBody>
                  <a:tcPr/>
                </a:tc>
                <a:tc>
                  <a:txBody>
                    <a:bodyPr lIns="54864" rIns="54864" tIns="18288" bIns="18288" wrap="square" anchor="ctr"/>
                    <a:lstStyle/>
                    <a:p>
                      <a:pPr algn="l"/>
                      <a:r>
                        <a:rPr sz="950" b="0">
                          <a:solidFill>
                            <a:srgbClr val="000000"/>
                          </a:solidFill>
                          <a:latin typeface="Calibri"/>
                        </a:rPr>
                        <a:t>129</a:t>
                      </a:r>
                    </a:p>
                  </a:txBody>
                  <a:tcPr/>
                </a:tc>
              </a:tr>
              <a:tr h="27432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4.06</a:t>
                      </a:r>
                    </a:p>
                  </a:txBody>
                  <a:tcPr/>
                </a:tc>
                <a:tc>
                  <a:txBody>
                    <a:bodyPr lIns="54864" rIns="54864" tIns="18288" bIns="18288" wrap="square" anchor="ctr"/>
                    <a:lstStyle/>
                    <a:p>
                      <a:pPr algn="l"/>
                      <a:r>
                        <a:rPr sz="950" b="0">
                          <a:solidFill>
                            <a:srgbClr val="000000"/>
                          </a:solidFill>
                          <a:latin typeface="Calibri"/>
                        </a:rPr>
                        <a:t>29 %</a:t>
                      </a:r>
                    </a:p>
                  </a:txBody>
                  <a:tcPr/>
                </a:tc>
                <a:tc>
                  <a:txBody>
                    <a:bodyPr lIns="54864" rIns="54864" tIns="18288" bIns="18288" wrap="square" anchor="ctr"/>
                    <a:lstStyle/>
                    <a:p>
                      <a:pPr algn="l"/>
                      <a:r>
                        <a:rPr sz="950" b="0">
                          <a:solidFill>
                            <a:srgbClr val="000000"/>
                          </a:solidFill>
                          <a:latin typeface="Calibri"/>
                        </a:rPr>
                        <a:t>0.9993</a:t>
                      </a:r>
                    </a:p>
                  </a:txBody>
                  <a:tcPr/>
                </a:tc>
                <a:tc>
                  <a:txBody>
                    <a:bodyPr lIns="54864" rIns="54864" tIns="18288" bIns="18288" wrap="square" anchor="ctr"/>
                    <a:lstStyle/>
                    <a:p>
                      <a:pPr algn="l"/>
                      <a:r>
                        <a:rPr sz="950" b="0">
                          <a:solidFill>
                            <a:srgbClr val="000000"/>
                          </a:solidFill>
                          <a:latin typeface="Calibri"/>
                        </a:rPr>
                        <a:t>86</a:t>
                      </a:r>
                    </a:p>
                  </a:txBody>
                  <a:tcPr/>
                </a:tc>
              </a:tr>
            </a:tbl>
          </a:graphicData>
        </a:graphic>
      </p:graphicFrame>
      <p:sp>
        <p:nvSpPr>
          <p:cNvPr id="8" name="TextBox 7"/>
          <p:cNvSpPr txBox="1"/>
          <p:nvPr/>
        </p:nvSpPr>
        <p:spPr>
          <a:xfrm>
            <a:off x="6217920" y="446227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Reading the 2.2× gap</a:t>
            </a:r>
          </a:p>
        </p:txBody>
      </p:sp>
      <p:sp>
        <p:nvSpPr>
          <p:cNvPr id="9" name="TextBox 8"/>
          <p:cNvSpPr txBox="1"/>
          <p:nvPr/>
        </p:nvSpPr>
        <p:spPr>
          <a:xfrm>
            <a:off x="6217920" y="4809744"/>
            <a:ext cx="5623560" cy="1234440"/>
          </a:xfrm>
          <a:prstGeom prst="rect">
            <a:avLst/>
          </a:prstGeom>
          <a:noFill/>
        </p:spPr>
        <p:txBody>
          <a:bodyPr wrap="square" lIns="45720" rIns="45720" tIns="18288" bIns="18288" anchor="t">
            <a:spAutoFit/>
          </a:bodyPr>
          <a:lstStyle/>
          <a:p>
            <a:pPr algn="l"/>
            <a:r>
              <a:rPr sz="1050" b="0" i="0">
                <a:solidFill>
                  <a:srgbClr val="000000"/>
                </a:solidFill>
                <a:latin typeface="Calibri"/>
              </a:rPr>
              <a:t>Only 19–29 % of OUR crosshead motion reaches the gauge; the rest goes into machine compliance, grips and shoulders. That fraction belongs to the MACHINE, so a stiffer frame delivering more of it looks exactly like this. The ratio is a COMPLIANCE measurement, not a scale one.</a:t>
            </a:r>
          </a:p>
        </p:txBody>
      </p:sp>
      <p:sp>
        <p:nvSpPr>
          <p:cNvPr id="10" name="Rectangle 9"/>
          <p:cNvSpPr/>
          <p:nvPr/>
        </p:nvSpPr>
        <p:spPr>
          <a:xfrm>
            <a:off x="365760" y="5943600"/>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Both records sit below the 14.0×10⁻⁴/s ceiling, so neither is physically impossible. Our calibration is not contradicted — confirming it needs their load or displacement channel.</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Right-hand panel: our local slope CLIMBS as seating slack is used up, theirs is flat from the moment it engages — which is why S25 and S26 differ by 52 % here but agree to 1.4 % in a force-matched window.</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vs S25 / S26 — NOISE, THE COMPARISON THAT SURVIVES</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Residual scatter about the straight fit does NOT depend on how much crosshead motion reached the gauge, so unlike the rate it puts both instruments on the same footing.</a:t>
            </a:r>
          </a:p>
        </p:txBody>
      </p:sp>
      <p:pic>
        <p:nvPicPr>
          <p:cNvPr id="6" name="Picture 5" descr="mot_noise.png"/>
          <p:cNvPicPr>
            <a:picLocks noChangeAspect="1"/>
          </p:cNvPicPr>
          <p:nvPr/>
        </p:nvPicPr>
        <p:blipFill>
          <a:blip r:embed="rId2"/>
          <a:stretch>
            <a:fillRect/>
          </a:stretch>
        </p:blipFill>
        <p:spPr>
          <a:xfrm>
            <a:off x="365760" y="1536192"/>
            <a:ext cx="11475719" cy="2754768"/>
          </a:xfrm>
          <a:prstGeom prst="rect">
            <a:avLst/>
          </a:prstGeom>
        </p:spPr>
      </p:pic>
      <p:graphicFrame>
        <p:nvGraphicFramePr>
          <p:cNvPr id="7" name="Table 6"/>
          <p:cNvGraphicFramePr>
            <a:graphicFrameLocks noGrp="1"/>
          </p:cNvGraphicFramePr>
          <p:nvPr/>
        </p:nvGraphicFramePr>
        <p:xfrm>
          <a:off x="365760" y="4462272"/>
          <a:ext cx="6446520" cy="1097280"/>
        </p:xfrm>
        <a:graphic>
          <a:graphicData uri="http://schemas.openxmlformats.org/drawingml/2006/table">
            <a:tbl>
              <a:tblPr firstRow="1" bandRow="1">
                <a:tableStyleId>{5C22544A-7EE6-4342-B048-85BDC9FD1C3A}</a:tableStyleId>
              </a:tblPr>
              <a:tblGrid>
                <a:gridCol w="914400"/>
                <a:gridCol w="1188720"/>
                <a:gridCol w="1280160"/>
                <a:gridCol w="1051560"/>
                <a:gridCol w="1005840"/>
                <a:gridCol w="1005840"/>
              </a:tblGrid>
              <a:tr h="27432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median |r|</a:t>
                      </a:r>
                    </a:p>
                  </a:txBody>
                  <a:tcPr>
                    <a:solidFill>
                      <a:srgbClr val="143D2F"/>
                    </a:solidFill>
                  </a:tcPr>
                </a:tc>
                <a:tc>
                  <a:txBody>
                    <a:bodyPr lIns="54864" rIns="54864" tIns="18288" bIns="18288" wrap="square" anchor="ctr"/>
                    <a:lstStyle/>
                    <a:p>
                      <a:pPr algn="l"/>
                      <a:r>
                        <a:rPr sz="950" b="1">
                          <a:solidFill>
                            <a:srgbClr val="FFFFFF"/>
                          </a:solidFill>
                          <a:latin typeface="Calibri"/>
                        </a:rPr>
                        <a:t>95th pct |r|</a:t>
                      </a:r>
                    </a:p>
                  </a:txBody>
                  <a:tcPr>
                    <a:solidFill>
                      <a:srgbClr val="143D2F"/>
                    </a:solidFill>
                  </a:tcPr>
                </a:tc>
                <a:tc>
                  <a:txBody>
                    <a:bodyPr lIns="54864" rIns="54864" tIns="18288" bIns="18288" wrap="square" anchor="ctr"/>
                    <a:lstStyle/>
                    <a:p>
                      <a:pPr algn="l"/>
                      <a:r>
                        <a:rPr sz="950" b="1">
                          <a:solidFill>
                            <a:srgbClr val="FFFFFF"/>
                          </a:solidFill>
                          <a:latin typeface="Calibri"/>
                        </a:rPr>
                        <a:t>max |r|</a:t>
                      </a:r>
                    </a:p>
                  </a:txBody>
                  <a:tcPr>
                    <a:solidFill>
                      <a:srgbClr val="143D2F"/>
                    </a:solidFill>
                  </a:tcPr>
                </a:tc>
                <a:tc>
                  <a:txBody>
                    <a:bodyPr lIns="54864" rIns="54864" tIns="18288" bIns="18288" wrap="square" anchor="ctr"/>
                    <a:lstStyle/>
                    <a:p>
                      <a:pPr algn="l"/>
                      <a:r>
                        <a:rPr sz="950" b="1">
                          <a:solidFill>
                            <a:srgbClr val="FFFFFF"/>
                          </a:solidFill>
                          <a:latin typeface="Calibri"/>
                        </a:rPr>
                        <a:t>RMS</a:t>
                      </a:r>
                    </a:p>
                  </a:txBody>
                  <a:tcPr>
                    <a:solidFill>
                      <a:srgbClr val="143D2F"/>
                    </a:solidFill>
                  </a:tcPr>
                </a:tc>
                <a:tc>
                  <a:txBody>
                    <a:bodyPr lIns="54864" rIns="54864" tIns="18288" bIns="18288" wrap="square" anchor="ctr"/>
                    <a:lstStyle/>
                    <a:p>
                      <a:pPr algn="l"/>
                      <a:r>
                        <a:rPr sz="950" b="1">
                          <a:solidFill>
                            <a:srgbClr val="FFFFFF"/>
                          </a:solidFill>
                          <a:latin typeface="Calibri"/>
                        </a:rPr>
                        <a:t>pt-to-pt</a:t>
                      </a:r>
                    </a:p>
                  </a:txBody>
                  <a:tcPr>
                    <a:solidFill>
                      <a:srgbClr val="143D2F"/>
                    </a:solidFill>
                  </a:tcPr>
                </a:tc>
              </a:tr>
              <a:tr h="274320">
                <a:tc>
                  <a:txBody>
                    <a:bodyPr lIns="54864" rIns="54864" tIns="18288" bIns="18288" wrap="square" anchor="ctr"/>
                    <a:lstStyle/>
                    <a:p>
                      <a:pPr algn="l"/>
                      <a:r>
                        <a:rPr sz="950" b="0">
                          <a:solidFill>
                            <a:srgbClr val="000000"/>
                          </a:solidFill>
                          <a:latin typeface="Calibri"/>
                        </a:rPr>
                        <a:t>MOT</a:t>
                      </a:r>
                    </a:p>
                  </a:txBody>
                  <a:tcPr/>
                </a:tc>
                <a:tc>
                  <a:txBody>
                    <a:bodyPr lIns="54864" rIns="54864" tIns="18288" bIns="18288" wrap="square" anchor="ctr"/>
                    <a:lstStyle/>
                    <a:p>
                      <a:pPr algn="l"/>
                      <a:r>
                        <a:rPr sz="950" b="0">
                          <a:solidFill>
                            <a:srgbClr val="000000"/>
                          </a:solidFill>
                          <a:latin typeface="Calibri"/>
                        </a:rPr>
                        <a:t>12 µε</a:t>
                      </a:r>
                    </a:p>
                  </a:txBody>
                  <a:tcPr/>
                </a:tc>
                <a:tc>
                  <a:txBody>
                    <a:bodyPr lIns="54864" rIns="54864" tIns="18288" bIns="18288" wrap="square" anchor="ctr"/>
                    <a:lstStyle/>
                    <a:p>
                      <a:pPr algn="l"/>
                      <a:r>
                        <a:rPr sz="950" b="0">
                          <a:solidFill>
                            <a:srgbClr val="000000"/>
                          </a:solidFill>
                          <a:latin typeface="Calibri"/>
                        </a:rPr>
                        <a:t>116 µε</a:t>
                      </a:r>
                    </a:p>
                  </a:txBody>
                  <a:tcPr/>
                </a:tc>
                <a:tc>
                  <a:txBody>
                    <a:bodyPr lIns="54864" rIns="54864" tIns="18288" bIns="18288" wrap="square" anchor="ctr"/>
                    <a:lstStyle/>
                    <a:p>
                      <a:pPr algn="l"/>
                      <a:r>
                        <a:rPr sz="950" b="0">
                          <a:solidFill>
                            <a:srgbClr val="000000"/>
                          </a:solidFill>
                          <a:latin typeface="Calibri"/>
                        </a:rPr>
                        <a:t>210 µε</a:t>
                      </a:r>
                    </a:p>
                  </a:txBody>
                  <a:tcPr/>
                </a:tc>
                <a:tc>
                  <a:txBody>
                    <a:bodyPr lIns="54864" rIns="54864" tIns="18288" bIns="18288" wrap="square" anchor="ctr"/>
                    <a:lstStyle/>
                    <a:p>
                      <a:pPr algn="l"/>
                      <a:r>
                        <a:rPr sz="950" b="0">
                          <a:solidFill>
                            <a:srgbClr val="000000"/>
                          </a:solidFill>
                          <a:latin typeface="Calibri"/>
                        </a:rPr>
                        <a:t>44.9 µε</a:t>
                      </a:r>
                    </a:p>
                  </a:txBody>
                  <a:tcPr/>
                </a:tc>
                <a:tc>
                  <a:txBody>
                    <a:bodyPr lIns="54864" rIns="54864" tIns="18288" bIns="18288" wrap="square" anchor="ctr"/>
                    <a:lstStyle/>
                    <a:p>
                      <a:pPr algn="l"/>
                      <a:r>
                        <a:rPr sz="950" b="0">
                          <a:solidFill>
                            <a:srgbClr val="000000"/>
                          </a:solidFill>
                          <a:latin typeface="Calibri"/>
                        </a:rPr>
                        <a:t>38 µε</a:t>
                      </a:r>
                    </a:p>
                  </a:txBody>
                  <a:tcPr/>
                </a:tc>
              </a:tr>
              <a:tr h="274320">
                <a:tc>
                  <a:txBody>
                    <a:bodyPr lIns="54864" rIns="54864" tIns="18288" bIns="18288" wrap="square" anchor="ctr"/>
                    <a:lstStyle/>
                    <a:p>
                      <a:pPr algn="l"/>
                      <a:r>
                        <a:rPr sz="950" b="0">
                          <a:solidFill>
                            <a:srgbClr val="000000"/>
                          </a:solidFill>
                          <a:latin typeface="Calibri"/>
                        </a:rPr>
                        <a:t>S25</a:t>
                      </a:r>
                    </a:p>
                  </a:txBody>
                  <a:tcPr/>
                </a:tc>
                <a:tc>
                  <a:txBody>
                    <a:bodyPr lIns="54864" rIns="54864" tIns="18288" bIns="18288" wrap="square" anchor="ctr"/>
                    <a:lstStyle/>
                    <a:p>
                      <a:pPr algn="l"/>
                      <a:r>
                        <a:rPr sz="950" b="0">
                          <a:solidFill>
                            <a:srgbClr val="000000"/>
                          </a:solidFill>
                          <a:latin typeface="Calibri"/>
                        </a:rPr>
                        <a:t>13 µε</a:t>
                      </a:r>
                    </a:p>
                  </a:txBody>
                  <a:tcPr/>
                </a:tc>
                <a:tc>
                  <a:txBody>
                    <a:bodyPr lIns="54864" rIns="54864" tIns="18288" bIns="18288" wrap="square" anchor="ctr"/>
                    <a:lstStyle/>
                    <a:p>
                      <a:pPr algn="l"/>
                      <a:r>
                        <a:rPr sz="950" b="0">
                          <a:solidFill>
                            <a:srgbClr val="000000"/>
                          </a:solidFill>
                          <a:latin typeface="Calibri"/>
                        </a:rPr>
                        <a:t>45 µε</a:t>
                      </a:r>
                    </a:p>
                  </a:txBody>
                  <a:tcPr/>
                </a:tc>
                <a:tc>
                  <a:txBody>
                    <a:bodyPr lIns="54864" rIns="54864" tIns="18288" bIns="18288" wrap="square" anchor="ctr"/>
                    <a:lstStyle/>
                    <a:p>
                      <a:pPr algn="l"/>
                      <a:r>
                        <a:rPr sz="950" b="0">
                          <a:solidFill>
                            <a:srgbClr val="000000"/>
                          </a:solidFill>
                          <a:latin typeface="Calibri"/>
                        </a:rPr>
                        <a:t>81 µε</a:t>
                      </a:r>
                    </a:p>
                  </a:txBody>
                  <a:tcPr/>
                </a:tc>
                <a:tc>
                  <a:txBody>
                    <a:bodyPr lIns="54864" rIns="54864" tIns="18288" bIns="18288" wrap="square" anchor="ctr"/>
                    <a:lstStyle/>
                    <a:p>
                      <a:pPr algn="l"/>
                      <a:r>
                        <a:rPr sz="950" b="0">
                          <a:solidFill>
                            <a:srgbClr val="000000"/>
                          </a:solidFill>
                          <a:latin typeface="Calibri"/>
                        </a:rPr>
                        <a:t>23.5 µε</a:t>
                      </a:r>
                    </a:p>
                  </a:txBody>
                  <a:tcPr/>
                </a:tc>
                <a:tc>
                  <a:txBody>
                    <a:bodyPr lIns="54864" rIns="54864" tIns="18288" bIns="18288" wrap="square" anchor="ctr"/>
                    <a:lstStyle/>
                    <a:p>
                      <a:pPr algn="l"/>
                      <a:r>
                        <a:rPr sz="950" b="0">
                          <a:solidFill>
                            <a:srgbClr val="000000"/>
                          </a:solidFill>
                          <a:latin typeface="Calibri"/>
                        </a:rPr>
                        <a:t>24 µε</a:t>
                      </a:r>
                    </a:p>
                  </a:txBody>
                  <a:tcPr/>
                </a:tc>
              </a:tr>
              <a:tr h="274320">
                <a:tc>
                  <a:txBody>
                    <a:bodyPr lIns="54864" rIns="54864" tIns="18288" bIns="18288" wrap="square" anchor="ctr"/>
                    <a:lstStyle/>
                    <a:p>
                      <a:pPr algn="l"/>
                      <a:r>
                        <a:rPr sz="950" b="0">
                          <a:solidFill>
                            <a:srgbClr val="000000"/>
                          </a:solidFill>
                          <a:latin typeface="Calibri"/>
                        </a:rPr>
                        <a:t>S26</a:t>
                      </a:r>
                    </a:p>
                  </a:txBody>
                  <a:tcPr/>
                </a:tc>
                <a:tc>
                  <a:txBody>
                    <a:bodyPr lIns="54864" rIns="54864" tIns="18288" bIns="18288" wrap="square" anchor="ctr"/>
                    <a:lstStyle/>
                    <a:p>
                      <a:pPr algn="l"/>
                      <a:r>
                        <a:rPr sz="950" b="0">
                          <a:solidFill>
                            <a:srgbClr val="000000"/>
                          </a:solidFill>
                          <a:latin typeface="Calibri"/>
                        </a:rPr>
                        <a:t>17 µε</a:t>
                      </a:r>
                    </a:p>
                  </a:txBody>
                  <a:tcPr/>
                </a:tc>
                <a:tc>
                  <a:txBody>
                    <a:bodyPr lIns="54864" rIns="54864" tIns="18288" bIns="18288" wrap="square" anchor="ctr"/>
                    <a:lstStyle/>
                    <a:p>
                      <a:pPr algn="l"/>
                      <a:r>
                        <a:rPr sz="950" b="0">
                          <a:solidFill>
                            <a:srgbClr val="000000"/>
                          </a:solidFill>
                          <a:latin typeface="Calibri"/>
                        </a:rPr>
                        <a:t>45 µε</a:t>
                      </a:r>
                    </a:p>
                  </a:txBody>
                  <a:tcPr/>
                </a:tc>
                <a:tc>
                  <a:txBody>
                    <a:bodyPr lIns="54864" rIns="54864" tIns="18288" bIns="18288" wrap="square" anchor="ctr"/>
                    <a:lstStyle/>
                    <a:p>
                      <a:pPr algn="l"/>
                      <a:r>
                        <a:rPr sz="950" b="0">
                          <a:solidFill>
                            <a:srgbClr val="000000"/>
                          </a:solidFill>
                          <a:latin typeface="Calibri"/>
                        </a:rPr>
                        <a:t>63 µε</a:t>
                      </a:r>
                    </a:p>
                  </a:txBody>
                  <a:tcPr/>
                </a:tc>
                <a:tc>
                  <a:txBody>
                    <a:bodyPr lIns="54864" rIns="54864" tIns="18288" bIns="18288" wrap="square" anchor="ctr"/>
                    <a:lstStyle/>
                    <a:p>
                      <a:pPr algn="l"/>
                      <a:r>
                        <a:rPr sz="950" b="0">
                          <a:solidFill>
                            <a:srgbClr val="000000"/>
                          </a:solidFill>
                          <a:latin typeface="Calibri"/>
                        </a:rPr>
                        <a:t>23.6 µε</a:t>
                      </a:r>
                    </a:p>
                  </a:txBody>
                  <a:tcPr/>
                </a:tc>
                <a:tc>
                  <a:txBody>
                    <a:bodyPr lIns="54864" rIns="54864" tIns="18288" bIns="18288" wrap="square" anchor="ctr"/>
                    <a:lstStyle/>
                    <a:p>
                      <a:pPr algn="l"/>
                      <a:r>
                        <a:rPr sz="950" b="0">
                          <a:solidFill>
                            <a:srgbClr val="000000"/>
                          </a:solidFill>
                          <a:latin typeface="Calibri"/>
                        </a:rPr>
                        <a:t>32 µε</a:t>
                      </a:r>
                    </a:p>
                  </a:txBody>
                  <a:tcPr/>
                </a:tc>
              </a:tr>
            </a:tbl>
          </a:graphicData>
        </a:graphic>
      </p:graphicFrame>
      <p:sp>
        <p:nvSpPr>
          <p:cNvPr id="8" name="TextBox 7"/>
          <p:cNvSpPr txBox="1"/>
          <p:nvPr/>
        </p:nvSpPr>
        <p:spPr>
          <a:xfrm>
            <a:off x="7040880" y="4462272"/>
            <a:ext cx="48006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honest reading</a:t>
            </a:r>
          </a:p>
        </p:txBody>
      </p:sp>
      <p:sp>
        <p:nvSpPr>
          <p:cNvPr id="9" name="TextBox 8"/>
          <p:cNvSpPr txBox="1"/>
          <p:nvPr/>
        </p:nvSpPr>
        <p:spPr>
          <a:xfrm>
            <a:off x="7040880" y="4809744"/>
            <a:ext cx="4800600" cy="1234440"/>
          </a:xfrm>
          <a:prstGeom prst="rect">
            <a:avLst/>
          </a:prstGeom>
          <a:noFill/>
        </p:spPr>
        <p:txBody>
          <a:bodyPr wrap="square" lIns="45720" rIns="45720" tIns="18288" bIns="18288" anchor="t">
            <a:spAutoFit/>
          </a:bodyPr>
          <a:lstStyle/>
          <a:p>
            <a:pPr algn="l"/>
            <a:r>
              <a:rPr sz="1050" b="0" i="0">
                <a:solidFill>
                  <a:srgbClr val="000000"/>
                </a:solidFill>
                <a:latin typeface="Calibri"/>
              </a:rPr>
              <a:t>The XT-205 holds the QUIETEST baseline of the three (median 12 µε vs our 13 and 17). It loses on RMS only because of a handful of large excursions — 95ᵗʰ percentile 116 µε against our 45. The PPD-UTM is not finer; it is more CONSISTENT.</a:t>
            </a:r>
          </a:p>
        </p:txBody>
      </p:sp>
      <p:sp>
        <p:nvSpPr>
          <p:cNvPr id="10" name="Rectangle 9"/>
          <p:cNvSpPr/>
          <p:nvPr/>
        </p:nvSpPr>
        <p:spPr>
          <a:xfrm>
            <a:off x="365760" y="594360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Two spray dots hold 1.9× lower RMS strain noise than the commercial extensometer, and our two runs agree with each other to 0.2 %. The DIC strain measurement is sound.</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Same 0.05–0.35 % strain interval for all three. |r| = absolute residual about each record's own straight fit; pt-to-pt is the median sample-to-sample step, immune to slow drift.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RMS NUMBER MEANS, AND WHERE IT COMES FROM</a:t>
            </a:r>
          </a:p>
        </p:txBody>
      </p:sp>
      <p:sp>
        <p:nvSpPr>
          <p:cNvPr id="5" name="TextBox 4"/>
          <p:cNvSpPr txBox="1"/>
          <p:nvPr/>
        </p:nvSpPr>
        <p:spPr>
          <a:xfrm>
            <a:off x="365760" y="1033271"/>
            <a:ext cx="11475720" cy="457200"/>
          </a:xfrm>
          <a:prstGeom prst="rect">
            <a:avLst/>
          </a:prstGeom>
          <a:noFill/>
        </p:spPr>
        <p:txBody>
          <a:bodyPr wrap="square" lIns="45720" rIns="45720" tIns="18288" bIns="18288" anchor="t">
            <a:spAutoFit/>
          </a:bodyPr>
          <a:lstStyle/>
          <a:p>
            <a:pPr algn="l"/>
            <a:r>
              <a:rPr sz="1200" b="0" i="1">
                <a:solidFill>
                  <a:srgbClr val="707070"/>
                </a:solidFill>
                <a:latin typeface="Calibri"/>
              </a:rPr>
              <a:t>The previous slide gives one number per instrument. This says exactly what was measured, over which stretch of the test, and what the number does NOT claim.</a:t>
            </a:r>
          </a:p>
        </p:txBody>
      </p:sp>
      <p:pic>
        <p:nvPicPr>
          <p:cNvPr id="6" name="Picture 5" descr="mot_window.png"/>
          <p:cNvPicPr>
            <a:picLocks noChangeAspect="1"/>
          </p:cNvPicPr>
          <p:nvPr/>
        </p:nvPicPr>
        <p:blipFill>
          <a:blip r:embed="rId2"/>
          <a:stretch>
            <a:fillRect/>
          </a:stretch>
        </p:blipFill>
        <p:spPr>
          <a:xfrm>
            <a:off x="365760" y="1517904"/>
            <a:ext cx="11475719" cy="2953310"/>
          </a:xfrm>
          <a:prstGeom prst="rect">
            <a:avLst/>
          </a:prstGeom>
        </p:spPr>
      </p:pic>
      <p:sp>
        <p:nvSpPr>
          <p:cNvPr id="7" name="TextBox 6"/>
          <p:cNvSpPr txBox="1"/>
          <p:nvPr/>
        </p:nvSpPr>
        <p:spPr>
          <a:xfrm>
            <a:off x="365760" y="45720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RMS is — and is not</a:t>
            </a:r>
          </a:p>
        </p:txBody>
      </p:sp>
      <p:sp>
        <p:nvSpPr>
          <p:cNvPr id="8" name="TextBox 7"/>
          <p:cNvSpPr txBox="1"/>
          <p:nvPr/>
        </p:nvSpPr>
        <p:spPr>
          <a:xfrm>
            <a:off x="365760" y="4919472"/>
            <a:ext cx="5623560" cy="1097280"/>
          </a:xfrm>
          <a:prstGeom prst="rect">
            <a:avLst/>
          </a:prstGeom>
          <a:noFill/>
        </p:spPr>
        <p:txBody>
          <a:bodyPr wrap="square" lIns="45720" rIns="45720" tIns="18288" bIns="18288" anchor="t">
            <a:spAutoFit/>
          </a:bodyPr>
          <a:lstStyle/>
          <a:p>
            <a:pPr algn="l"/>
            <a:r>
              <a:rPr sz="960" b="0" i="0">
                <a:solidFill>
                  <a:srgbClr val="000000"/>
                </a:solidFill>
                <a:latin typeface="Calibri"/>
              </a:rPr>
              <a:t>Fit a straight line to strain-against-TIME over the window, subtract it, and take the standard deviation of what is left. That is the RMS, in microstrain (1 µε = 0.0001 % strain), so our 23.5 µε is ± 0.0024 % strain.
It measures STEADINESS, not correctness. It says nothing about whether the strain value is right — px_per_mm calibration is what decides that.</a:t>
            </a:r>
          </a:p>
        </p:txBody>
      </p:sp>
      <p:sp>
        <p:nvSpPr>
          <p:cNvPr id="9" name="TextBox 8"/>
          <p:cNvSpPr txBox="1"/>
          <p:nvPr/>
        </p:nvSpPr>
        <p:spPr>
          <a:xfrm>
            <a:off x="6217920" y="45720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a straight line is the right reference here</a:t>
            </a:r>
          </a:p>
        </p:txBody>
      </p:sp>
      <p:sp>
        <p:nvSpPr>
          <p:cNvPr id="10" name="TextBox 9"/>
          <p:cNvSpPr txBox="1"/>
          <p:nvPr/>
        </p:nvSpPr>
        <p:spPr>
          <a:xfrm>
            <a:off x="6217920" y="4919472"/>
            <a:ext cx="5623560" cy="1097280"/>
          </a:xfrm>
          <a:prstGeom prst="rect">
            <a:avLst/>
          </a:prstGeom>
          <a:noFill/>
        </p:spPr>
        <p:txBody>
          <a:bodyPr wrap="square" lIns="45720" rIns="45720" tIns="18288" bIns="18288" anchor="t">
            <a:spAutoFit/>
          </a:bodyPr>
          <a:lstStyle/>
          <a:p>
            <a:pPr algn="l"/>
            <a:r>
              <a:rPr sz="960" b="0" i="0">
                <a:solidFill>
                  <a:srgbClr val="000000"/>
                </a:solidFill>
                <a:latin typeface="Calibri"/>
              </a:rPr>
              <a:t>The window is 0.05–0.35 % strain: the elastic toe, 8 % of the way to PLA's 4.2 % fracture and well before yield. Pulled at constant crosshead speed, strain there rises linearly in time — R² = 0.99928 on S25 over 11 s and 129 samples.
So anything off the line is the instrument, not the material. Past yield that stops being true, which is why the window ends at 0.35 %.</a:t>
            </a:r>
          </a:p>
        </p:txBody>
      </p:sp>
      <p:sp>
        <p:nvSpPr>
          <p:cNvPr id="11" name="Rectangle 10"/>
          <p:cNvSpPr/>
          <p:nvPr/>
        </p:nvSpPr>
        <p:spPr>
          <a:xfrm>
            <a:off x="365760" y="594360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WINDOW IS NOT OURS TO CHOOSE: THE XT-205's WHOLE RECORD ENDS AT 0.40 % STRAIN, SO 0.05–0.35 % IS 80 OF ITS 364 SAMPLES — NEARLY ALL IT DELIVERED, AND ONLY 13 % OF OURS.</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panel: S25's full pull to fracture with the window shaded. Middle and right: that window on S25, the straight fit, and the residual the RMS summarises.</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 FEATURES 1–10 — RUNNING THE TEST</a:t>
            </a:r>
          </a:p>
        </p:txBody>
      </p:sp>
      <p:sp>
        <p:nvSpPr>
          <p:cNvPr id="5" name="TextBox 4"/>
          <p:cNvSpPr txBox="1"/>
          <p:nvPr/>
        </p:nvSpPr>
        <p:spPr>
          <a:xfrm>
            <a:off x="365760" y="1051560"/>
            <a:ext cx="11475720" cy="347472"/>
          </a:xfrm>
          <a:prstGeom prst="rect">
            <a:avLst/>
          </a:prstGeom>
          <a:noFill/>
        </p:spPr>
        <p:txBody>
          <a:bodyPr wrap="square" lIns="45720" rIns="45720" tIns="18288" bIns="18288" anchor="t">
            <a:spAutoFit/>
          </a:bodyPr>
          <a:lstStyle/>
          <a:p>
            <a:pPr algn="l"/>
            <a:r>
              <a:rPr sz="1150" b="0" i="1">
                <a:solidFill>
                  <a:srgbClr val="707070"/>
                </a:solidFill>
                <a:latin typeface="Calibri"/>
              </a:rPr>
              <a:t>Everything the operator touches between mounting a specimen and having its data. All ten are built and rig-validated.</a:t>
            </a:r>
          </a:p>
        </p:txBody>
      </p:sp>
      <p:sp>
        <p:nvSpPr>
          <p:cNvPr id="6" name="Rounded Rectangle 5"/>
          <p:cNvSpPr/>
          <p:nvPr/>
        </p:nvSpPr>
        <p:spPr>
          <a:xfrm>
            <a:off x="36576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a:t>
            </a:r>
          </a:p>
        </p:txBody>
      </p:sp>
      <p:sp>
        <p:nvSpPr>
          <p:cNvPr id="8" name="TextBox 7"/>
          <p:cNvSpPr txBox="1"/>
          <p:nvPr/>
        </p:nvSpPr>
        <p:spPr>
          <a:xfrm>
            <a:off x="1261872"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DIC health HUD</a:t>
            </a:r>
          </a:p>
        </p:txBody>
      </p:sp>
      <p:sp>
        <p:nvSpPr>
          <p:cNvPr id="9" name="TextBox 8"/>
          <p:cNvSpPr txBox="1"/>
          <p:nvPr/>
        </p:nvSpPr>
        <p:spPr>
          <a:xfrm>
            <a:off x="1261872"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A live OK / WARN / BAD badge on both test tabs: markers found, tracking %, pixel jitter. Grey when the camera is off, so “no data” never reads as “good”.</a:t>
            </a:r>
          </a:p>
        </p:txBody>
      </p:sp>
      <p:sp>
        <p:nvSpPr>
          <p:cNvPr id="10" name="Rounded Rectangle 9"/>
          <p:cNvSpPr/>
          <p:nvPr/>
        </p:nvSpPr>
        <p:spPr>
          <a:xfrm>
            <a:off x="621792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764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SF2</a:t>
            </a:r>
          </a:p>
        </p:txBody>
      </p:sp>
      <p:sp>
        <p:nvSpPr>
          <p:cNvPr id="12" name="TextBox 11"/>
          <p:cNvSpPr txBox="1"/>
          <p:nvPr/>
        </p:nvSpPr>
        <p:spPr>
          <a:xfrm>
            <a:off x="7114031"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Prepare specimen</a:t>
            </a:r>
          </a:p>
        </p:txBody>
      </p:sp>
      <p:sp>
        <p:nvSpPr>
          <p:cNvPr id="13" name="TextBox 12"/>
          <p:cNvSpPr txBox="1"/>
          <p:nvPr/>
        </p:nvSpPr>
        <p:spPr>
          <a:xfrm>
            <a:off x="7114031"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button tares the DIC readouts, the position and the force, and clears the plots. It does NOT touch Px₀ — that belongs to Calibrate Px₀ alone.</a:t>
            </a:r>
          </a:p>
        </p:txBody>
      </p:sp>
      <p:sp>
        <p:nvSpPr>
          <p:cNvPr id="14" name="Rounded Rectangle 13"/>
          <p:cNvSpPr/>
          <p:nvPr/>
        </p:nvSpPr>
        <p:spPr>
          <a:xfrm>
            <a:off x="36576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548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SF3</a:t>
            </a:r>
          </a:p>
        </p:txBody>
      </p:sp>
      <p:sp>
        <p:nvSpPr>
          <p:cNvPr id="16" name="TextBox 15"/>
          <p:cNvSpPr txBox="1"/>
          <p:nvPr/>
        </p:nvSpPr>
        <p:spPr>
          <a:xfrm>
            <a:off x="1261872"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Settings / recipes</a:t>
            </a:r>
          </a:p>
        </p:txBody>
      </p:sp>
      <p:sp>
        <p:nvSpPr>
          <p:cNvPr id="17" name="TextBox 16"/>
          <p:cNvSpPr txBox="1"/>
          <p:nvPr/>
        </p:nvSpPr>
        <p:spPr>
          <a:xfrm>
            <a:off x="1261872"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Save and reload a whole test setup: dimensions, DIC preset, preload, speed, mode and its parameters. A Default profile is always present.</a:t>
            </a:r>
          </a:p>
        </p:txBody>
      </p:sp>
      <p:sp>
        <p:nvSpPr>
          <p:cNvPr id="18" name="Rounded Rectangle 17"/>
          <p:cNvSpPr/>
          <p:nvPr/>
        </p:nvSpPr>
        <p:spPr>
          <a:xfrm>
            <a:off x="621792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764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SF4</a:t>
            </a:r>
          </a:p>
        </p:txBody>
      </p:sp>
      <p:sp>
        <p:nvSpPr>
          <p:cNvPr id="20" name="TextBox 19"/>
          <p:cNvSpPr txBox="1"/>
          <p:nvPr/>
        </p:nvSpPr>
        <p:spPr>
          <a:xfrm>
            <a:off x="7114031"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Generate report</a:t>
            </a:r>
          </a:p>
        </p:txBody>
      </p:sp>
      <p:sp>
        <p:nvSpPr>
          <p:cNvPr id="21" name="TextBox 20"/>
          <p:cNvSpPr txBox="1"/>
          <p:nvPr/>
        </p:nvSpPr>
        <p:spPr>
          <a:xfrm>
            <a:off x="7114031"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click turns the saved CSV into a one-page PDF plus every graph as PDF and PNG, written beside the data rather than into a folder you have to find.</a:t>
            </a:r>
          </a:p>
        </p:txBody>
      </p:sp>
      <p:sp>
        <p:nvSpPr>
          <p:cNvPr id="22" name="Rounded Rectangle 21"/>
          <p:cNvSpPr/>
          <p:nvPr/>
        </p:nvSpPr>
        <p:spPr>
          <a:xfrm>
            <a:off x="36576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548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SF5</a:t>
            </a:r>
          </a:p>
        </p:txBody>
      </p:sp>
      <p:sp>
        <p:nvSpPr>
          <p:cNvPr id="24" name="TextBox 23"/>
          <p:cNvSpPr txBox="1"/>
          <p:nvPr/>
        </p:nvSpPr>
        <p:spPr>
          <a:xfrm>
            <a:off x="1261872"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Auto-stop at fracture</a:t>
            </a:r>
          </a:p>
        </p:txBody>
      </p:sp>
      <p:sp>
        <p:nvSpPr>
          <p:cNvPr id="25" name="TextBox 24"/>
          <p:cNvSpPr txBox="1"/>
          <p:nvPr/>
        </p:nvSpPr>
        <p:spPr>
          <a:xfrm>
            <a:off x="1261872"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Feeds every load sample to a load-collapse detector during a manual pull and sends Stop the moment the specimen breaks.</a:t>
            </a:r>
          </a:p>
        </p:txBody>
      </p:sp>
      <p:sp>
        <p:nvSpPr>
          <p:cNvPr id="26" name="Rounded Rectangle 25"/>
          <p:cNvSpPr/>
          <p:nvPr/>
        </p:nvSpPr>
        <p:spPr>
          <a:xfrm>
            <a:off x="621792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2764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SF6</a:t>
            </a:r>
          </a:p>
        </p:txBody>
      </p:sp>
      <p:sp>
        <p:nvSpPr>
          <p:cNvPr id="28" name="TextBox 27"/>
          <p:cNvSpPr txBox="1"/>
          <p:nvPr/>
        </p:nvSpPr>
        <p:spPr>
          <a:xfrm>
            <a:off x="7114031"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Strain-rate fracture test</a:t>
            </a:r>
          </a:p>
        </p:txBody>
      </p:sp>
      <p:sp>
        <p:nvSpPr>
          <p:cNvPr id="29" name="TextBox 28"/>
          <p:cNvSpPr txBox="1"/>
          <p:nvPr/>
        </p:nvSpPr>
        <p:spPr>
          <a:xfrm>
            <a:off x="7114031"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Closed loop on the DIC: varies crosshead speed to hold a constant GAUGE strain rate — measured 0.00051/s against a 0.0005 target while the crosshead moved 0.10 → 0.05 mm/s.</a:t>
            </a:r>
          </a:p>
        </p:txBody>
      </p:sp>
      <p:sp>
        <p:nvSpPr>
          <p:cNvPr id="30" name="Rounded Rectangle 29"/>
          <p:cNvSpPr/>
          <p:nvPr/>
        </p:nvSpPr>
        <p:spPr>
          <a:xfrm>
            <a:off x="36576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548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SF7</a:t>
            </a:r>
          </a:p>
        </p:txBody>
      </p:sp>
      <p:sp>
        <p:nvSpPr>
          <p:cNvPr id="32" name="TextBox 31"/>
          <p:cNvSpPr txBox="1"/>
          <p:nvPr/>
        </p:nvSpPr>
        <p:spPr>
          <a:xfrm>
            <a:off x="1261872"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Stall guard</a:t>
            </a:r>
          </a:p>
        </p:txBody>
      </p:sp>
      <p:sp>
        <p:nvSpPr>
          <p:cNvPr id="33" name="TextBox 32"/>
          <p:cNvSpPr txBox="1"/>
          <p:nvPr/>
        </p:nvSpPr>
        <p:spPr>
          <a:xfrm>
            <a:off x="1261872"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Halts if the crosshead advances &lt; 0.05 mm in 6 s while carrying &gt; 200 N. Stays silent through a ductile draw, where force falls while the crosshead still advances.</a:t>
            </a:r>
          </a:p>
        </p:txBody>
      </p:sp>
      <p:sp>
        <p:nvSpPr>
          <p:cNvPr id="34" name="Rounded Rectangle 33"/>
          <p:cNvSpPr/>
          <p:nvPr/>
        </p:nvSpPr>
        <p:spPr>
          <a:xfrm>
            <a:off x="621792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2764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SF8</a:t>
            </a:r>
          </a:p>
        </p:txBody>
      </p:sp>
      <p:sp>
        <p:nvSpPr>
          <p:cNvPr id="36" name="TextBox 35"/>
          <p:cNvSpPr txBox="1"/>
          <p:nvPr/>
        </p:nvSpPr>
        <p:spPr>
          <a:xfrm>
            <a:off x="7114031"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Release load — two depths</a:t>
            </a:r>
          </a:p>
        </p:txBody>
      </p:sp>
      <p:sp>
        <p:nvSpPr>
          <p:cNvPr id="37" name="TextBox 36"/>
          <p:cNvSpPr txBox="1"/>
          <p:nvPr/>
        </p:nvSpPr>
        <p:spPr>
          <a:xfrm>
            <a:off x="7114031"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To preload (specimen stays mounted and tensioned) or fully to true zero (so it can be unclamped). Named on the button, because the depth decides how far a motor travels.</a:t>
            </a:r>
          </a:p>
        </p:txBody>
      </p:sp>
      <p:sp>
        <p:nvSpPr>
          <p:cNvPr id="38" name="Rounded Rectangle 37"/>
          <p:cNvSpPr/>
          <p:nvPr/>
        </p:nvSpPr>
        <p:spPr>
          <a:xfrm>
            <a:off x="365760" y="5358384"/>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75488" y="5614416"/>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SF9</a:t>
            </a:r>
          </a:p>
        </p:txBody>
      </p:sp>
      <p:sp>
        <p:nvSpPr>
          <p:cNvPr id="40" name="TextBox 39"/>
          <p:cNvSpPr txBox="1"/>
          <p:nvPr/>
        </p:nvSpPr>
        <p:spPr>
          <a:xfrm>
            <a:off x="1261872" y="5422392"/>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Six closed-loop protocols</a:t>
            </a:r>
          </a:p>
        </p:txBody>
      </p:sp>
      <p:sp>
        <p:nvSpPr>
          <p:cNvPr id="41" name="TextBox 40"/>
          <p:cNvSpPr txBox="1"/>
          <p:nvPr/>
        </p:nvSpPr>
        <p:spPr>
          <a:xfrm>
            <a:off x="1261872" y="5660136"/>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Cyclic · staircase · relaxation · creep · staircase→fracture · progressive-cyclic→fracture, all on ONE control engine with one shared safety net.</a:t>
            </a:r>
          </a:p>
        </p:txBody>
      </p:sp>
      <p:sp>
        <p:nvSpPr>
          <p:cNvPr id="42" name="Rounded Rectangle 41"/>
          <p:cNvSpPr/>
          <p:nvPr/>
        </p:nvSpPr>
        <p:spPr>
          <a:xfrm>
            <a:off x="6217920" y="5358384"/>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6327648" y="5614416"/>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SF10</a:t>
            </a:r>
          </a:p>
        </p:txBody>
      </p:sp>
      <p:sp>
        <p:nvSpPr>
          <p:cNvPr id="44" name="TextBox 43"/>
          <p:cNvSpPr txBox="1"/>
          <p:nvPr/>
        </p:nvSpPr>
        <p:spPr>
          <a:xfrm>
            <a:off x="7114031" y="5422392"/>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Auto-preload</a:t>
            </a:r>
          </a:p>
        </p:txBody>
      </p:sp>
      <p:sp>
        <p:nvSpPr>
          <p:cNvPr id="45" name="TextBox 44"/>
          <p:cNvSpPr txBox="1"/>
          <p:nvPr/>
        </p:nvSpPr>
        <p:spPr>
          <a:xfrm>
            <a:off x="7114031" y="5660136"/>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Creeps in tension on a 0.2 → 0.1 → 0.02 mm/s schedule and stops at 1.03× target, offsetting the ~2 % PLA relaxation that follows.</a:t>
            </a:r>
          </a:p>
        </p:txBody>
      </p:sp>
      <p:sp>
        <p:nvSpPr>
          <p:cNvPr id="46" name="TextBox 4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Green = built and rig-validated. The dense index of all 20 is on p167; SF11–SF17 continue on the next slide.</a:t>
            </a:r>
          </a:p>
        </p:txBody>
      </p:sp>
      <p:sp>
        <p:nvSpPr>
          <p:cNvPr id="47" name="TextBox 4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249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SMART FEATURES 11–19 — SETUP, EVIDENCE AND SAFETY</a:t>
            </a:r>
          </a:p>
        </p:txBody>
      </p:sp>
      <p:sp>
        <p:nvSpPr>
          <p:cNvPr id="5" name="TextBox 4"/>
          <p:cNvSpPr txBox="1"/>
          <p:nvPr/>
        </p:nvSpPr>
        <p:spPr>
          <a:xfrm>
            <a:off x="365760" y="1051560"/>
            <a:ext cx="11475720" cy="347472"/>
          </a:xfrm>
          <a:prstGeom prst="rect">
            <a:avLst/>
          </a:prstGeom>
          <a:noFill/>
        </p:spPr>
        <p:txBody>
          <a:bodyPr wrap="square" lIns="45720" rIns="45720" tIns="18288" bIns="18288" anchor="t">
            <a:spAutoFit/>
          </a:bodyPr>
          <a:lstStyle/>
          <a:p>
            <a:pPr algn="l"/>
            <a:r>
              <a:rPr sz="1150" b="0" i="1">
                <a:solidFill>
                  <a:srgbClr val="707070"/>
                </a:solidFill>
                <a:latin typeface="Calibri"/>
              </a:rPr>
              <a:t>The features that make a run trustworthy rather than merely possible. Green = built AND rig-validated · blue = built and verified offline, not yet used on a real pull.</a:t>
            </a:r>
          </a:p>
        </p:txBody>
      </p:sp>
      <p:sp>
        <p:nvSpPr>
          <p:cNvPr id="6" name="Rounded Rectangle 5"/>
          <p:cNvSpPr/>
          <p:nvPr/>
        </p:nvSpPr>
        <p:spPr>
          <a:xfrm>
            <a:off x="36576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7548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SF11</a:t>
            </a:r>
          </a:p>
        </p:txBody>
      </p:sp>
      <p:sp>
        <p:nvSpPr>
          <p:cNvPr id="8" name="TextBox 7"/>
          <p:cNvSpPr txBox="1"/>
          <p:nvPr/>
        </p:nvSpPr>
        <p:spPr>
          <a:xfrm>
            <a:off x="1261872"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Auto-metadata link</a:t>
            </a:r>
          </a:p>
        </p:txBody>
      </p:sp>
      <p:sp>
        <p:nvSpPr>
          <p:cNvPr id="9" name="TextBox 8"/>
          <p:cNvSpPr txBox="1"/>
          <p:nvPr/>
        </p:nvSpPr>
        <p:spPr>
          <a:xfrm>
            <a:off x="1261872"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Saving writes “# Capture:” into the CSV header and run.json into the capture folder, so either half finds the other. Matched by time-window OVERLAP, never by recency.</a:t>
            </a:r>
          </a:p>
        </p:txBody>
      </p:sp>
      <p:sp>
        <p:nvSpPr>
          <p:cNvPr id="10" name="Rounded Rectangle 9"/>
          <p:cNvSpPr/>
          <p:nvPr/>
        </p:nvSpPr>
        <p:spPr>
          <a:xfrm>
            <a:off x="6217920" y="1444752"/>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327648" y="1700784"/>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SF12</a:t>
            </a:r>
          </a:p>
        </p:txBody>
      </p:sp>
      <p:sp>
        <p:nvSpPr>
          <p:cNvPr id="12" name="TextBox 11"/>
          <p:cNvSpPr txBox="1"/>
          <p:nvPr/>
        </p:nvSpPr>
        <p:spPr>
          <a:xfrm>
            <a:off x="7114031" y="1508760"/>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DIC auto-calibration</a:t>
            </a:r>
          </a:p>
        </p:txBody>
      </p:sp>
      <p:sp>
        <p:nvSpPr>
          <p:cNvPr id="13" name="TextBox 12"/>
          <p:cNvSpPr txBox="1"/>
          <p:nvPr/>
        </p:nvSpPr>
        <p:spPr>
          <a:xfrm>
            <a:off x="7114031" y="1746504"/>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Sweeps exposure × threshold and scores each on trackability — contrast margin dominates, because it predicts whether tracking SURVIVES a flicker. Proposes; Cancel restores exactly. Shown running on the rig on the next slides.</a:t>
            </a:r>
          </a:p>
        </p:txBody>
      </p:sp>
      <p:sp>
        <p:nvSpPr>
          <p:cNvPr id="14" name="Rounded Rectangle 13"/>
          <p:cNvSpPr/>
          <p:nvPr/>
        </p:nvSpPr>
        <p:spPr>
          <a:xfrm>
            <a:off x="36576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7548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SF13</a:t>
            </a:r>
          </a:p>
        </p:txBody>
      </p:sp>
      <p:sp>
        <p:nvSpPr>
          <p:cNvPr id="16" name="TextBox 15"/>
          <p:cNvSpPr txBox="1"/>
          <p:nvPr/>
        </p:nvSpPr>
        <p:spPr>
          <a:xfrm>
            <a:off x="1261872"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Guided wizard</a:t>
            </a:r>
          </a:p>
        </p:txBody>
      </p:sp>
      <p:sp>
        <p:nvSpPr>
          <p:cNvPr id="17" name="TextBox 16"/>
          <p:cNvSpPr txBox="1"/>
          <p:nvPr/>
        </p:nvSpPr>
        <p:spPr>
          <a:xfrm>
            <a:off x="1261872"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Twelve steps in the order they must be done, read from flags the app already had. Optional and off by default — a checklist that cannot be dismissed is just a wider warning.</a:t>
            </a:r>
          </a:p>
        </p:txBody>
      </p:sp>
      <p:sp>
        <p:nvSpPr>
          <p:cNvPr id="18" name="Rounded Rectangle 17"/>
          <p:cNvSpPr/>
          <p:nvPr/>
        </p:nvSpPr>
        <p:spPr>
          <a:xfrm>
            <a:off x="6217920" y="2423160"/>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327648" y="2679191"/>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SF14</a:t>
            </a:r>
          </a:p>
        </p:txBody>
      </p:sp>
      <p:sp>
        <p:nvSpPr>
          <p:cNvPr id="20" name="TextBox 19"/>
          <p:cNvSpPr txBox="1"/>
          <p:nvPr/>
        </p:nvSpPr>
        <p:spPr>
          <a:xfrm>
            <a:off x="7114031" y="2487168"/>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Test registry</a:t>
            </a:r>
          </a:p>
        </p:txBody>
      </p:sp>
      <p:sp>
        <p:nvSpPr>
          <p:cNvPr id="21" name="TextBox 20"/>
          <p:cNvSpPr txBox="1"/>
          <p:nvPr/>
        </p:nvSpPr>
        <p:spPr>
          <a:xfrm>
            <a:off x="7114031" y="2724912"/>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One queryable index of every run with its computed E, σ_y, UTS, ε_f, toughness and force anchor. Killed the hard-coded CSV paths that caused two detector bugs.</a:t>
            </a:r>
          </a:p>
        </p:txBody>
      </p:sp>
      <p:sp>
        <p:nvSpPr>
          <p:cNvPr id="22" name="Rounded Rectangle 21"/>
          <p:cNvSpPr/>
          <p:nvPr/>
        </p:nvSpPr>
        <p:spPr>
          <a:xfrm>
            <a:off x="36576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7548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SF15</a:t>
            </a:r>
          </a:p>
        </p:txBody>
      </p:sp>
      <p:sp>
        <p:nvSpPr>
          <p:cNvPr id="24" name="TextBox 23"/>
          <p:cNvSpPr txBox="1"/>
          <p:nvPr/>
        </p:nvSpPr>
        <p:spPr>
          <a:xfrm>
            <a:off x="1261872"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Dead-DIC guard + backstops</a:t>
            </a:r>
          </a:p>
        </p:txBody>
      </p:sp>
      <p:sp>
        <p:nvSpPr>
          <p:cNvPr id="25" name="TextBox 24"/>
          <p:cNvSpPr txBox="1"/>
          <p:nvPr/>
        </p:nvSpPr>
        <p:spPr>
          <a:xfrm>
            <a:off x="1261872"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Freezes commanded speed if strain goes stale for 0.2 s and halts at 1.0 s, behind an always-on 4.5 kN / 30 mm / 900 s backstop.</a:t>
            </a:r>
          </a:p>
        </p:txBody>
      </p:sp>
      <p:sp>
        <p:nvSpPr>
          <p:cNvPr id="26" name="Rounded Rectangle 25"/>
          <p:cNvSpPr/>
          <p:nvPr/>
        </p:nvSpPr>
        <p:spPr>
          <a:xfrm>
            <a:off x="6217920" y="3401568"/>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6327648" y="3657600"/>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SF16</a:t>
            </a:r>
          </a:p>
        </p:txBody>
      </p:sp>
      <p:sp>
        <p:nvSpPr>
          <p:cNvPr id="28" name="TextBox 27"/>
          <p:cNvSpPr txBox="1"/>
          <p:nvPr/>
        </p:nvSpPr>
        <p:spPr>
          <a:xfrm>
            <a:off x="7114031" y="3465576"/>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Live Px₀ overlay</a:t>
            </a:r>
          </a:p>
        </p:txBody>
      </p:sp>
      <p:sp>
        <p:nvSpPr>
          <p:cNvPr id="29" name="TextBox 28"/>
          <p:cNvSpPr txBox="1"/>
          <p:nvPr/>
        </p:nvSpPr>
        <p:spPr>
          <a:xfrm>
            <a:off x="7114031" y="3703320"/>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Draws the frozen reference pair and the live pair straight on the camera feed, with a caption whose Δ agrees with the strain readout. Screenshot on the rig: 1745 px frozen, 1745 px live, Δ 0 — overlay and caption agree.</a:t>
            </a:r>
          </a:p>
        </p:txBody>
      </p:sp>
      <p:sp>
        <p:nvSpPr>
          <p:cNvPr id="30" name="Rounded Rectangle 29"/>
          <p:cNvSpPr/>
          <p:nvPr/>
        </p:nvSpPr>
        <p:spPr>
          <a:xfrm>
            <a:off x="36576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7548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SF17</a:t>
            </a:r>
          </a:p>
        </p:txBody>
      </p:sp>
      <p:sp>
        <p:nvSpPr>
          <p:cNvPr id="32" name="TextBox 31"/>
          <p:cNvSpPr txBox="1"/>
          <p:nvPr/>
        </p:nvSpPr>
        <p:spPr>
          <a:xfrm>
            <a:off x="1261872"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Video + image capture</a:t>
            </a:r>
          </a:p>
        </p:txBody>
      </p:sp>
      <p:sp>
        <p:nvSpPr>
          <p:cNvPr id="33" name="TextBox 32"/>
          <p:cNvSpPr txBox="1"/>
          <p:nvPr/>
        </p:nvSpPr>
        <p:spPr>
          <a:xfrm>
            <a:off x="1261872"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PNG stills plus three AVI views — raw, contrast-boosted and adaptive speckle — recorded together. S25/S26: 3 127 stills and 3 × 3 127 frames, 0 dropped, 19.9 fps.</a:t>
            </a:r>
          </a:p>
        </p:txBody>
      </p:sp>
      <p:sp>
        <p:nvSpPr>
          <p:cNvPr id="34" name="Rounded Rectangle 33"/>
          <p:cNvSpPr/>
          <p:nvPr/>
        </p:nvSpPr>
        <p:spPr>
          <a:xfrm>
            <a:off x="6217920" y="4379976"/>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327648" y="4636008"/>
            <a:ext cx="658368" cy="402336"/>
          </a:xfrm>
          <a:prstGeom prst="roundRect">
            <a:avLst/>
          </a:prstGeom>
          <a:solidFill>
            <a:srgbClr val="C8E6C9"/>
          </a:solidFill>
          <a:ln w="11430">
            <a:solidFill>
              <a:srgbClr val="1F3F2F"/>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3F2F"/>
                </a:solidFill>
                <a:latin typeface="Calibri"/>
              </a:rPr>
              <a:t>SF18</a:t>
            </a:r>
          </a:p>
        </p:txBody>
      </p:sp>
      <p:sp>
        <p:nvSpPr>
          <p:cNvPr id="36" name="TextBox 35"/>
          <p:cNvSpPr txBox="1"/>
          <p:nvPr/>
        </p:nvSpPr>
        <p:spPr>
          <a:xfrm>
            <a:off x="7114031" y="4443984"/>
            <a:ext cx="4617720" cy="237744"/>
          </a:xfrm>
          <a:prstGeom prst="rect">
            <a:avLst/>
          </a:prstGeom>
          <a:noFill/>
        </p:spPr>
        <p:txBody>
          <a:bodyPr wrap="square" lIns="45720" rIns="45720" tIns="18288" bIns="18288" anchor="t">
            <a:spAutoFit/>
          </a:bodyPr>
          <a:lstStyle/>
          <a:p>
            <a:pPr algn="l"/>
            <a:r>
              <a:rPr sz="1100" b="1" i="0">
                <a:solidFill>
                  <a:srgbClr val="1F3F2F"/>
                </a:solidFill>
                <a:latin typeface="Calibri"/>
              </a:rPr>
              <a:t>DIC post-processing</a:t>
            </a:r>
          </a:p>
        </p:txBody>
      </p:sp>
      <p:sp>
        <p:nvSpPr>
          <p:cNvPr id="37" name="TextBox 36"/>
          <p:cNvSpPr txBox="1"/>
          <p:nvPr/>
        </p:nvSpPr>
        <p:spPr>
          <a:xfrm>
            <a:off x="7114031" y="4681728"/>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A tab that measures strain from ANY recorded video with the rig's own pixel-to-strain rule, so our runs can be re-checked and another machine's footage measured on the same footing.</a:t>
            </a:r>
          </a:p>
        </p:txBody>
      </p:sp>
      <p:sp>
        <p:nvSpPr>
          <p:cNvPr id="38" name="Rounded Rectangle 37"/>
          <p:cNvSpPr/>
          <p:nvPr/>
        </p:nvSpPr>
        <p:spPr>
          <a:xfrm>
            <a:off x="365760" y="5358384"/>
            <a:ext cx="5623560" cy="914400"/>
          </a:xfrm>
          <a:prstGeom prst="roundRect">
            <a:avLst/>
          </a:prstGeom>
          <a:solidFill>
            <a:srgbClr val="FFFFFF"/>
          </a:solidFill>
          <a:ln w="9525">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475488" y="5614416"/>
            <a:ext cx="658368" cy="402336"/>
          </a:xfrm>
          <a:prstGeom prst="roundRect">
            <a:avLst/>
          </a:prstGeom>
          <a:solidFill>
            <a:srgbClr val="CFE2F3"/>
          </a:solidFill>
          <a:ln w="1143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50" b="1">
                <a:solidFill>
                  <a:srgbClr val="1F77B4"/>
                </a:solidFill>
                <a:latin typeface="Calibri"/>
              </a:rPr>
              <a:t>SF19</a:t>
            </a:r>
          </a:p>
        </p:txBody>
      </p:sp>
      <p:sp>
        <p:nvSpPr>
          <p:cNvPr id="40" name="TextBox 39"/>
          <p:cNvSpPr txBox="1"/>
          <p:nvPr/>
        </p:nvSpPr>
        <p:spPr>
          <a:xfrm>
            <a:off x="1261872" y="5422392"/>
            <a:ext cx="4617720" cy="237744"/>
          </a:xfrm>
          <a:prstGeom prst="rect">
            <a:avLst/>
          </a:prstGeom>
          <a:noFill/>
        </p:spPr>
        <p:txBody>
          <a:bodyPr wrap="square" lIns="45720" rIns="45720" tIns="18288" bIns="18288" anchor="t">
            <a:spAutoFit/>
          </a:bodyPr>
          <a:lstStyle/>
          <a:p>
            <a:pPr algn="l"/>
            <a:r>
              <a:rPr sz="1100" b="1" i="0">
                <a:solidFill>
                  <a:srgbClr val="1F77B4"/>
                </a:solidFill>
                <a:latin typeface="Calibri"/>
              </a:rPr>
              <a:t>Noise capture</a:t>
            </a:r>
          </a:p>
        </p:txBody>
      </p:sp>
      <p:sp>
        <p:nvSpPr>
          <p:cNvPr id="41" name="TextBox 40"/>
          <p:cNvSpPr txBox="1"/>
          <p:nvPr/>
        </p:nvSpPr>
        <p:spPr>
          <a:xfrm>
            <a:off x="1261872" y="5660136"/>
            <a:ext cx="4617720" cy="548640"/>
          </a:xfrm>
          <a:prstGeom prst="rect">
            <a:avLst/>
          </a:prstGeom>
          <a:noFill/>
        </p:spPr>
        <p:txBody>
          <a:bodyPr wrap="square" lIns="45720" rIns="45720" tIns="18288" bIns="18288" anchor="t">
            <a:spAutoFit/>
          </a:bodyPr>
          <a:lstStyle/>
          <a:p>
            <a:pPr algn="l"/>
            <a:r>
              <a:rPr sz="860" b="0" i="0">
                <a:solidFill>
                  <a:srgbClr val="000000"/>
                </a:solidFill>
                <a:latin typeface="Calibri"/>
              </a:rPr>
              <a:t>Records the instrument AT REST for a chosen window and separates what a later run can be corrected for — offset and drift — from what it cannot: the residual sd, which is the measurement uncertainty.</a:t>
            </a:r>
          </a:p>
        </p:txBody>
      </p:sp>
      <p:sp>
        <p:nvSpPr>
          <p:cNvPr id="42" name="TextBox 4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Renumbered 2026-09-02 to a contiguous SF1–SF19: two entries were dropped because a card has to be something the OPERATOR invokes — measured Poisson (optics-blocked, now future work FW1) and a developer-only simulation harness. SF19 is built and verified offline but has not yet recorded a real pull.</a:t>
            </a:r>
          </a:p>
        </p:txBody>
      </p:sp>
      <p:sp>
        <p:nvSpPr>
          <p:cNvPr id="43" name="TextBox 4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WHERE THE PROOF FOR EACH SMART FEATURE LIVES</a:t>
            </a:r>
          </a:p>
        </p:txBody>
      </p:sp>
      <p:sp>
        <p:nvSpPr>
          <p:cNvPr id="5" name="TextBox 4"/>
          <p:cNvSpPr txBox="1"/>
          <p:nvPr/>
        </p:nvSpPr>
        <p:spPr>
          <a:xfrm>
            <a:off x="457200" y="1207008"/>
            <a:ext cx="11338560" cy="457200"/>
          </a:xfrm>
          <a:prstGeom prst="rect">
            <a:avLst/>
          </a:prstGeom>
          <a:noFill/>
        </p:spPr>
        <p:txBody>
          <a:bodyPr wrap="square" lIns="45720" rIns="45720" tIns="18288" bIns="18288" anchor="t">
            <a:spAutoFit/>
          </a:bodyPr>
          <a:lstStyle/>
          <a:p>
            <a:pPr algn="l"/>
            <a:r>
              <a:rPr sz="1050" b="0" i="0">
                <a:solidFill>
                  <a:srgbClr val="000000"/>
                </a:solidFill>
                <a:latin typeface="Calibri"/>
              </a:rPr>
              <a:t>The two cards above say what each feature IS. This says where in this deck it was shown working, so a claim and its evidence are never more than a page reference apart.</a:t>
            </a:r>
          </a:p>
        </p:txBody>
      </p:sp>
      <p:graphicFrame>
        <p:nvGraphicFramePr>
          <p:cNvPr id="6" name="Table 5"/>
          <p:cNvGraphicFramePr>
            <a:graphicFrameLocks noGrp="1"/>
          </p:cNvGraphicFramePr>
          <p:nvPr/>
        </p:nvGraphicFramePr>
        <p:xfrm>
          <a:off x="365760" y="1783080"/>
          <a:ext cx="5623559" cy="3566160"/>
        </p:xfrm>
        <a:graphic>
          <a:graphicData uri="http://schemas.openxmlformats.org/drawingml/2006/table">
            <a:tbl>
              <a:tblPr firstRow="1" bandRow="1">
                <a:tableStyleId>{5C22544A-7EE6-4342-B048-85BDC9FD1C3A}</a:tableStyleId>
              </a:tblPr>
              <a:tblGrid>
                <a:gridCol w="426027"/>
                <a:gridCol w="1704109"/>
                <a:gridCol w="1704109"/>
                <a:gridCol w="1789314"/>
              </a:tblGrid>
              <a:tr h="324196">
                <a:tc>
                  <a:txBody>
                    <a:bodyPr lIns="54864" rIns="54864" tIns="18288" bIns="18288" wrap="square" anchor="ctr"/>
                    <a:lstStyle/>
                    <a:p>
                      <a:pPr algn="l"/>
                      <a:r>
                        <a:rPr sz="950" b="1">
                          <a:solidFill>
                            <a:srgbClr val="FFFFFF"/>
                          </a:solidFill>
                          <a:latin typeface="Calibri"/>
                        </a:rPr>
                        <a:t>SF</a:t>
                      </a:r>
                    </a:p>
                  </a:txBody>
                  <a:tcPr>
                    <a:solidFill>
                      <a:srgbClr val="143D2F"/>
                    </a:solidFill>
                  </a:tcPr>
                </a:tc>
                <a:tc>
                  <a:txBody>
                    <a:bodyPr lIns="54864" rIns="54864" tIns="18288" bIns="18288" wrap="square" anchor="ctr"/>
                    <a:lstStyle/>
                    <a:p>
                      <a:pPr algn="l"/>
                      <a:r>
                        <a:rPr sz="950" b="1">
                          <a:solidFill>
                            <a:srgbClr val="FFFFFF"/>
                          </a:solidFill>
                          <a:latin typeface="Calibri"/>
                        </a:rPr>
                        <a:t>Feature</a:t>
                      </a:r>
                    </a:p>
                  </a:txBody>
                  <a:tcPr>
                    <a:solidFill>
                      <a:srgbClr val="143D2F"/>
                    </a:solidFill>
                  </a:tcPr>
                </a:tc>
                <a:tc>
                  <a:txBody>
                    <a:bodyPr lIns="54864" rIns="54864" tIns="18288" bIns="18288" wrap="square" anchor="ctr"/>
                    <a:lstStyle/>
                    <a:p>
                      <a:pPr algn="l"/>
                      <a:r>
                        <a:rPr sz="950" b="1">
                          <a:solidFill>
                            <a:srgbClr val="FFFFFF"/>
                          </a:solidFill>
                          <a:latin typeface="Calibri"/>
                        </a:rPr>
                        <a:t>Where it is shown working</a:t>
                      </a:r>
                    </a:p>
                  </a:txBody>
                  <a:tcPr>
                    <a:solidFill>
                      <a:srgbClr val="143D2F"/>
                    </a:solidFill>
                  </a:tcPr>
                </a:tc>
                <a:tc>
                  <a:txBody>
                    <a:bodyPr lIns="54864" rIns="54864" tIns="18288" bIns="18288" wrap="square" anchor="ctr"/>
                    <a:lstStyle/>
                    <a:p>
                      <a:pPr algn="l"/>
                      <a:r>
                        <a:rPr sz="950" b="1">
                          <a:solidFill>
                            <a:srgbClr val="FFFFFF"/>
                          </a:solidFill>
                          <a:latin typeface="Calibri"/>
                        </a:rPr>
                        <a:t>Kind of evidence</a:t>
                      </a:r>
                    </a:p>
                  </a:txBody>
                  <a:tcPr>
                    <a:solidFill>
                      <a:srgbClr val="143D2F"/>
                    </a:solidFill>
                  </a:tcPr>
                </a:tc>
              </a:tr>
              <a:tr h="324196">
                <a:tc>
                  <a:txBody>
                    <a:bodyPr lIns="54864" rIns="54864" tIns="18288" bIns="18288" wrap="square" anchor="ctr"/>
                    <a:lstStyle/>
                    <a:p>
                      <a:pPr algn="l"/>
                      <a:r>
                        <a:rPr sz="869" b="0">
                          <a:solidFill>
                            <a:srgbClr val="000000"/>
                          </a:solidFill>
                          <a:latin typeface="Calibri"/>
                        </a:rPr>
                        <a:t>1</a:t>
                      </a:r>
                    </a:p>
                  </a:txBody>
                  <a:tcPr/>
                </a:tc>
                <a:tc>
                  <a:txBody>
                    <a:bodyPr lIns="54864" rIns="54864" tIns="18288" bIns="18288" wrap="square" anchor="ctr"/>
                    <a:lstStyle/>
                    <a:p>
                      <a:pPr algn="l"/>
                      <a:r>
                        <a:rPr sz="869" b="0">
                          <a:solidFill>
                            <a:srgbClr val="000000"/>
                          </a:solidFill>
                          <a:latin typeface="Calibri"/>
                        </a:rPr>
                        <a:t>DIC health HUD</a:t>
                      </a:r>
                    </a:p>
                  </a:txBody>
                  <a:tcPr/>
                </a:tc>
                <a:tc>
                  <a:txBody>
                    <a:bodyPr lIns="54864" rIns="54864" tIns="18288" bIns="18288" wrap="square" anchor="ctr"/>
                    <a:lstStyle/>
                    <a:p>
                      <a:pPr algn="l"/>
                      <a:r>
                        <a:rPr sz="869" b="0">
                          <a:solidFill>
                            <a:srgbClr val="000000"/>
                          </a:solidFill>
                          <a:latin typeface="Calibri"/>
                        </a:rPr>
                        <a:t>p168</a:t>
                      </a:r>
                    </a:p>
                  </a:txBody>
                  <a:tcPr/>
                </a:tc>
                <a:tc>
                  <a:txBody>
                    <a:bodyPr lIns="54864" rIns="54864" tIns="18288" bIns="18288" wrap="square" anchor="ctr"/>
                    <a:lstStyle/>
                    <a:p>
                      <a:pPr algn="l"/>
                      <a:r>
                        <a:rPr sz="869" b="0">
                          <a:solidFill>
                            <a:srgbClr val="000000"/>
                          </a:solidFill>
                          <a:latin typeface="Calibri"/>
                        </a:rPr>
                        <a:t>screenshot on the rig</a:t>
                      </a:r>
                    </a:p>
                  </a:txBody>
                  <a:tcPr/>
                </a:tc>
              </a:tr>
              <a:tr h="324196">
                <a:tc>
                  <a:txBody>
                    <a:bodyPr lIns="54864" rIns="54864" tIns="18288" bIns="18288" wrap="square" anchor="ctr"/>
                    <a:lstStyle/>
                    <a:p>
                      <a:pPr algn="l"/>
                      <a:r>
                        <a:rPr sz="869" b="0">
                          <a:solidFill>
                            <a:srgbClr val="000000"/>
                          </a:solidFill>
                          <a:latin typeface="Calibri"/>
                        </a:rPr>
                        <a:t>2</a:t>
                      </a:r>
                    </a:p>
                  </a:txBody>
                  <a:tcPr/>
                </a:tc>
                <a:tc>
                  <a:txBody>
                    <a:bodyPr lIns="54864" rIns="54864" tIns="18288" bIns="18288" wrap="square" anchor="ctr"/>
                    <a:lstStyle/>
                    <a:p>
                      <a:pPr algn="l"/>
                      <a:r>
                        <a:rPr sz="869" b="0">
                          <a:solidFill>
                            <a:srgbClr val="000000"/>
                          </a:solidFill>
                          <a:latin typeface="Calibri"/>
                        </a:rPr>
                        <a:t>Prepare specimen</a:t>
                      </a:r>
                    </a:p>
                  </a:txBody>
                  <a:tcPr/>
                </a:tc>
                <a:tc>
                  <a:txBody>
                    <a:bodyPr lIns="54864" rIns="54864" tIns="18288" bIns="18288" wrap="square" anchor="ctr"/>
                    <a:lstStyle/>
                    <a:p>
                      <a:pPr algn="l"/>
                      <a:r>
                        <a:rPr sz="869" b="0">
                          <a:solidFill>
                            <a:srgbClr val="000000"/>
                          </a:solidFill>
                          <a:latin typeface="Calibri"/>
                        </a:rPr>
                        <a:t>p170</a:t>
                      </a:r>
                    </a:p>
                  </a:txBody>
                  <a:tcPr/>
                </a:tc>
                <a:tc>
                  <a:txBody>
                    <a:bodyPr lIns="54864" rIns="54864" tIns="18288" bIns="18288" wrap="square" anchor="ctr"/>
                    <a:lstStyle/>
                    <a:p>
                      <a:pPr algn="l"/>
                      <a:r>
                        <a:rPr sz="869" b="0">
                          <a:solidFill>
                            <a:srgbClr val="000000"/>
                          </a:solidFill>
                          <a:latin typeface="Calibri"/>
                        </a:rPr>
                        <a:t>before / after readouts</a:t>
                      </a:r>
                    </a:p>
                  </a:txBody>
                  <a:tcPr/>
                </a:tc>
              </a:tr>
              <a:tr h="324196">
                <a:tc>
                  <a:txBody>
                    <a:bodyPr lIns="54864" rIns="54864" tIns="18288" bIns="18288" wrap="square" anchor="ctr"/>
                    <a:lstStyle/>
                    <a:p>
                      <a:pPr algn="l"/>
                      <a:r>
                        <a:rPr sz="869" b="0">
                          <a:solidFill>
                            <a:srgbClr val="000000"/>
                          </a:solidFill>
                          <a:latin typeface="Calibri"/>
                        </a:rPr>
                        <a:t>3</a:t>
                      </a:r>
                    </a:p>
                  </a:txBody>
                  <a:tcPr/>
                </a:tc>
                <a:tc>
                  <a:txBody>
                    <a:bodyPr lIns="54864" rIns="54864" tIns="18288" bIns="18288" wrap="square" anchor="ctr"/>
                    <a:lstStyle/>
                    <a:p>
                      <a:pPr algn="l"/>
                      <a:r>
                        <a:rPr sz="869" b="0">
                          <a:solidFill>
                            <a:srgbClr val="000000"/>
                          </a:solidFill>
                          <a:latin typeface="Calibri"/>
                        </a:rPr>
                        <a:t>Settings / recipes</a:t>
                      </a:r>
                    </a:p>
                  </a:txBody>
                  <a:tcPr/>
                </a:tc>
                <a:tc>
                  <a:txBody>
                    <a:bodyPr lIns="54864" rIns="54864" tIns="18288" bIns="18288" wrap="square" anchor="ctr"/>
                    <a:lstStyle/>
                    <a:p>
                      <a:pPr algn="l"/>
                      <a:r>
                        <a:rPr sz="869" b="0">
                          <a:solidFill>
                            <a:srgbClr val="000000"/>
                          </a:solidFill>
                          <a:latin typeface="Calibri"/>
                        </a:rPr>
                        <a:t>p207</a:t>
                      </a:r>
                    </a:p>
                  </a:txBody>
                  <a:tcPr/>
                </a:tc>
                <a:tc>
                  <a:txBody>
                    <a:bodyPr lIns="54864" rIns="54864" tIns="18288" bIns="18288" wrap="square" anchor="ctr"/>
                    <a:lstStyle/>
                    <a:p>
                      <a:pPr algn="l"/>
                      <a:r>
                        <a:rPr sz="869" b="0">
                          <a:solidFill>
                            <a:srgbClr val="000000"/>
                          </a:solidFill>
                          <a:latin typeface="Calibri"/>
                        </a:rPr>
                        <a:t>one click restores 6 fields</a:t>
                      </a:r>
                    </a:p>
                  </a:txBody>
                  <a:tcPr/>
                </a:tc>
              </a:tr>
              <a:tr h="324196">
                <a:tc>
                  <a:txBody>
                    <a:bodyPr lIns="54864" rIns="54864" tIns="18288" bIns="18288" wrap="square" anchor="ctr"/>
                    <a:lstStyle/>
                    <a:p>
                      <a:pPr algn="l"/>
                      <a:r>
                        <a:rPr sz="869" b="0">
                          <a:solidFill>
                            <a:srgbClr val="000000"/>
                          </a:solidFill>
                          <a:latin typeface="Calibri"/>
                        </a:rPr>
                        <a:t>4</a:t>
                      </a:r>
                    </a:p>
                  </a:txBody>
                  <a:tcPr/>
                </a:tc>
                <a:tc>
                  <a:txBody>
                    <a:bodyPr lIns="54864" rIns="54864" tIns="18288" bIns="18288" wrap="square" anchor="ctr"/>
                    <a:lstStyle/>
                    <a:p>
                      <a:pPr algn="l"/>
                      <a:r>
                        <a:rPr sz="869" b="0">
                          <a:solidFill>
                            <a:srgbClr val="000000"/>
                          </a:solidFill>
                          <a:latin typeface="Calibri"/>
                        </a:rPr>
                        <a:t>Generate report</a:t>
                      </a:r>
                    </a:p>
                  </a:txBody>
                  <a:tcPr/>
                </a:tc>
                <a:tc>
                  <a:txBody>
                    <a:bodyPr lIns="54864" rIns="54864" tIns="18288" bIns="18288" wrap="square" anchor="ctr"/>
                    <a:lstStyle/>
                    <a:p>
                      <a:pPr algn="l"/>
                      <a:r>
                        <a:rPr sz="869" b="0">
                          <a:solidFill>
                            <a:srgbClr val="000000"/>
                          </a:solidFill>
                          <a:latin typeface="Calibri"/>
                        </a:rPr>
                        <a:t>p171</a:t>
                      </a:r>
                    </a:p>
                  </a:txBody>
                  <a:tcPr/>
                </a:tc>
                <a:tc>
                  <a:txBody>
                    <a:bodyPr lIns="54864" rIns="54864" tIns="18288" bIns="18288" wrap="square" anchor="ctr"/>
                    <a:lstStyle/>
                    <a:p>
                      <a:pPr algn="l"/>
                      <a:r>
                        <a:rPr sz="869" b="0">
                          <a:solidFill>
                            <a:srgbClr val="000000"/>
                          </a:solidFill>
                          <a:latin typeface="Calibri"/>
                        </a:rPr>
                        <a:t>the report itself, from S16</a:t>
                      </a:r>
                    </a:p>
                  </a:txBody>
                  <a:tcPr/>
                </a:tc>
              </a:tr>
              <a:tr h="324196">
                <a:tc>
                  <a:txBody>
                    <a:bodyPr lIns="54864" rIns="54864" tIns="18288" bIns="18288" wrap="square" anchor="ctr"/>
                    <a:lstStyle/>
                    <a:p>
                      <a:pPr algn="l"/>
                      <a:r>
                        <a:rPr sz="869" b="0">
                          <a:solidFill>
                            <a:srgbClr val="000000"/>
                          </a:solidFill>
                          <a:latin typeface="Calibri"/>
                        </a:rPr>
                        <a:t>5</a:t>
                      </a:r>
                    </a:p>
                  </a:txBody>
                  <a:tcPr/>
                </a:tc>
                <a:tc>
                  <a:txBody>
                    <a:bodyPr lIns="54864" rIns="54864" tIns="18288" bIns="18288" wrap="square" anchor="ctr"/>
                    <a:lstStyle/>
                    <a:p>
                      <a:pPr algn="l"/>
                      <a:r>
                        <a:rPr sz="869" b="0">
                          <a:solidFill>
                            <a:srgbClr val="000000"/>
                          </a:solidFill>
                          <a:latin typeface="Calibri"/>
                        </a:rPr>
                        <a:t>Auto-stop at fracture</a:t>
                      </a:r>
                    </a:p>
                  </a:txBody>
                  <a:tcPr/>
                </a:tc>
                <a:tc>
                  <a:txBody>
                    <a:bodyPr lIns="54864" rIns="54864" tIns="18288" bIns="18288" wrap="square" anchor="ctr"/>
                    <a:lstStyle/>
                    <a:p>
                      <a:pPr algn="l"/>
                      <a:r>
                        <a:rPr sz="869" b="0">
                          <a:solidFill>
                            <a:srgbClr val="000000"/>
                          </a:solidFill>
                          <a:latin typeface="Calibri"/>
                        </a:rPr>
                        <a:t>p172</a:t>
                      </a:r>
                    </a:p>
                  </a:txBody>
                  <a:tcPr/>
                </a:tc>
                <a:tc>
                  <a:txBody>
                    <a:bodyPr lIns="54864" rIns="54864" tIns="18288" bIns="18288" wrap="square" anchor="ctr"/>
                    <a:lstStyle/>
                    <a:p>
                      <a:pPr algn="l"/>
                      <a:r>
                        <a:rPr sz="869" b="0">
                          <a:solidFill>
                            <a:srgbClr val="000000"/>
                          </a:solidFill>
                          <a:latin typeface="Calibri"/>
                        </a:rPr>
                        <a:t>the halt on the load trace</a:t>
                      </a:r>
                    </a:p>
                  </a:txBody>
                  <a:tcPr/>
                </a:tc>
              </a:tr>
              <a:tr h="324196">
                <a:tc>
                  <a:txBody>
                    <a:bodyPr lIns="54864" rIns="54864" tIns="18288" bIns="18288" wrap="square" anchor="ctr"/>
                    <a:lstStyle/>
                    <a:p>
                      <a:pPr algn="l"/>
                      <a:r>
                        <a:rPr sz="869" b="0">
                          <a:solidFill>
                            <a:srgbClr val="000000"/>
                          </a:solidFill>
                          <a:latin typeface="Calibri"/>
                        </a:rPr>
                        <a:t>6</a:t>
                      </a:r>
                    </a:p>
                  </a:txBody>
                  <a:tcPr/>
                </a:tc>
                <a:tc>
                  <a:txBody>
                    <a:bodyPr lIns="54864" rIns="54864" tIns="18288" bIns="18288" wrap="square" anchor="ctr"/>
                    <a:lstStyle/>
                    <a:p>
                      <a:pPr algn="l"/>
                      <a:r>
                        <a:rPr sz="869" b="0">
                          <a:solidFill>
                            <a:srgbClr val="000000"/>
                          </a:solidFill>
                          <a:latin typeface="Calibri"/>
                        </a:rPr>
                        <a:t>Strain-rate fracture test</a:t>
                      </a:r>
                    </a:p>
                  </a:txBody>
                  <a:tcPr/>
                </a:tc>
                <a:tc>
                  <a:txBody>
                    <a:bodyPr lIns="54864" rIns="54864" tIns="18288" bIns="18288" wrap="square" anchor="ctr"/>
                    <a:lstStyle/>
                    <a:p>
                      <a:pPr algn="l"/>
                      <a:r>
                        <a:rPr sz="869" b="0">
                          <a:solidFill>
                            <a:srgbClr val="000000"/>
                          </a:solidFill>
                          <a:latin typeface="Calibri"/>
                        </a:rPr>
                        <a:t>p173 · p174</a:t>
                      </a:r>
                    </a:p>
                  </a:txBody>
                  <a:tcPr/>
                </a:tc>
                <a:tc>
                  <a:txBody>
                    <a:bodyPr lIns="54864" rIns="54864" tIns="18288" bIns="18288" wrap="square" anchor="ctr"/>
                    <a:lstStyle/>
                    <a:p>
                      <a:pPr algn="l"/>
                      <a:r>
                        <a:rPr sz="869" b="0">
                          <a:solidFill>
                            <a:srgbClr val="000000"/>
                          </a:solidFill>
                          <a:latin typeface="Calibri"/>
                        </a:rPr>
                        <a:t>0.00051/s held vs 0.0005 target</a:t>
                      </a:r>
                    </a:p>
                  </a:txBody>
                  <a:tcPr/>
                </a:tc>
              </a:tr>
              <a:tr h="324196">
                <a:tc>
                  <a:txBody>
                    <a:bodyPr lIns="54864" rIns="54864" tIns="18288" bIns="18288" wrap="square" anchor="ctr"/>
                    <a:lstStyle/>
                    <a:p>
                      <a:pPr algn="l"/>
                      <a:r>
                        <a:rPr sz="869" b="0">
                          <a:solidFill>
                            <a:srgbClr val="000000"/>
                          </a:solidFill>
                          <a:latin typeface="Calibri"/>
                        </a:rPr>
                        <a:t>7</a:t>
                      </a:r>
                    </a:p>
                  </a:txBody>
                  <a:tcPr/>
                </a:tc>
                <a:tc>
                  <a:txBody>
                    <a:bodyPr lIns="54864" rIns="54864" tIns="18288" bIns="18288" wrap="square" anchor="ctr"/>
                    <a:lstStyle/>
                    <a:p>
                      <a:pPr algn="l"/>
                      <a:r>
                        <a:rPr sz="869" b="0">
                          <a:solidFill>
                            <a:srgbClr val="000000"/>
                          </a:solidFill>
                          <a:latin typeface="Calibri"/>
                        </a:rPr>
                        <a:t>Stall guard</a:t>
                      </a:r>
                    </a:p>
                  </a:txBody>
                  <a:tcPr/>
                </a:tc>
                <a:tc>
                  <a:txBody>
                    <a:bodyPr lIns="54864" rIns="54864" tIns="18288" bIns="18288" wrap="square" anchor="ctr"/>
                    <a:lstStyle/>
                    <a:p>
                      <a:pPr algn="l"/>
                      <a:r>
                        <a:rPr sz="869" b="0">
                          <a:solidFill>
                            <a:srgbClr val="000000"/>
                          </a:solidFill>
                          <a:latin typeface="Calibri"/>
                        </a:rPr>
                        <a:t>p175</a:t>
                      </a:r>
                    </a:p>
                  </a:txBody>
                  <a:tcPr/>
                </a:tc>
                <a:tc>
                  <a:txBody>
                    <a:bodyPr lIns="54864" rIns="54864" tIns="18288" bIns="18288" wrap="square" anchor="ctr"/>
                    <a:lstStyle/>
                    <a:p>
                      <a:pPr algn="l"/>
                      <a:r>
                        <a:rPr sz="869" b="0">
                          <a:solidFill>
                            <a:srgbClr val="000000"/>
                          </a:solidFill>
                          <a:latin typeface="Calibri"/>
                        </a:rPr>
                        <a:t>silent through a ductile draw</a:t>
                      </a:r>
                    </a:p>
                  </a:txBody>
                  <a:tcPr/>
                </a:tc>
              </a:tr>
              <a:tr h="324196">
                <a:tc>
                  <a:txBody>
                    <a:bodyPr lIns="54864" rIns="54864" tIns="18288" bIns="18288" wrap="square" anchor="ctr"/>
                    <a:lstStyle/>
                    <a:p>
                      <a:pPr algn="l"/>
                      <a:r>
                        <a:rPr sz="869" b="0">
                          <a:solidFill>
                            <a:srgbClr val="000000"/>
                          </a:solidFill>
                          <a:latin typeface="Calibri"/>
                        </a:rPr>
                        <a:t>8</a:t>
                      </a:r>
                    </a:p>
                  </a:txBody>
                  <a:tcPr/>
                </a:tc>
                <a:tc>
                  <a:txBody>
                    <a:bodyPr lIns="54864" rIns="54864" tIns="18288" bIns="18288" wrap="square" anchor="ctr"/>
                    <a:lstStyle/>
                    <a:p>
                      <a:pPr algn="l"/>
                      <a:r>
                        <a:rPr sz="869" b="0">
                          <a:solidFill>
                            <a:srgbClr val="000000"/>
                          </a:solidFill>
                          <a:latin typeface="Calibri"/>
                        </a:rPr>
                        <a:t>Release preload</a:t>
                      </a:r>
                    </a:p>
                  </a:txBody>
                  <a:tcPr/>
                </a:tc>
                <a:tc>
                  <a:txBody>
                    <a:bodyPr lIns="54864" rIns="54864" tIns="18288" bIns="18288" wrap="square" anchor="ctr"/>
                    <a:lstStyle/>
                    <a:p>
                      <a:pPr algn="l"/>
                      <a:r>
                        <a:rPr sz="869" b="0">
                          <a:solidFill>
                            <a:srgbClr val="000000"/>
                          </a:solidFill>
                          <a:latin typeface="Calibri"/>
                        </a:rPr>
                        <a:t>p176</a:t>
                      </a:r>
                    </a:p>
                  </a:txBody>
                  <a:tcPr/>
                </a:tc>
                <a:tc>
                  <a:txBody>
                    <a:bodyPr lIns="54864" rIns="54864" tIns="18288" bIns="18288" wrap="square" anchor="ctr"/>
                    <a:lstStyle/>
                    <a:p>
                      <a:pPr algn="l"/>
                      <a:r>
                        <a:rPr sz="869" b="0">
                          <a:solidFill>
                            <a:srgbClr val="000000"/>
                          </a:solidFill>
                          <a:latin typeface="Calibri"/>
                        </a:rPr>
                        <a:t>both depths on the trace</a:t>
                      </a:r>
                    </a:p>
                  </a:txBody>
                  <a:tcPr/>
                </a:tc>
              </a:tr>
              <a:tr h="324196">
                <a:tc>
                  <a:txBody>
                    <a:bodyPr lIns="54864" rIns="54864" tIns="18288" bIns="18288" wrap="square" anchor="ctr"/>
                    <a:lstStyle/>
                    <a:p>
                      <a:pPr algn="l"/>
                      <a:r>
                        <a:rPr sz="869" b="0">
                          <a:solidFill>
                            <a:srgbClr val="000000"/>
                          </a:solidFill>
                          <a:latin typeface="Calibri"/>
                        </a:rPr>
                        <a:t>9</a:t>
                      </a:r>
                    </a:p>
                  </a:txBody>
                  <a:tcPr/>
                </a:tc>
                <a:tc>
                  <a:txBody>
                    <a:bodyPr lIns="54864" rIns="54864" tIns="18288" bIns="18288" wrap="square" anchor="ctr"/>
                    <a:lstStyle/>
                    <a:p>
                      <a:pPr algn="l"/>
                      <a:r>
                        <a:rPr sz="869" b="0">
                          <a:solidFill>
                            <a:srgbClr val="000000"/>
                          </a:solidFill>
                          <a:latin typeface="Calibri"/>
                        </a:rPr>
                        <a:t>Six closed-loop protocols</a:t>
                      </a:r>
                    </a:p>
                  </a:txBody>
                  <a:tcPr/>
                </a:tc>
                <a:tc>
                  <a:txBody>
                    <a:bodyPr lIns="54864" rIns="54864" tIns="18288" bIns="18288" wrap="square" anchor="ctr"/>
                    <a:lstStyle/>
                    <a:p>
                      <a:pPr algn="l"/>
                      <a:r>
                        <a:rPr sz="869" b="0">
                          <a:solidFill>
                            <a:srgbClr val="000000"/>
                          </a:solidFill>
                          <a:latin typeface="Calibri"/>
                        </a:rPr>
                        <a:t>p188–p204 · p213–p218</a:t>
                      </a:r>
                    </a:p>
                  </a:txBody>
                  <a:tcPr/>
                </a:tc>
                <a:tc>
                  <a:txBody>
                    <a:bodyPr lIns="54864" rIns="54864" tIns="18288" bIns="18288" wrap="square" anchor="ctr"/>
                    <a:lstStyle/>
                    <a:p>
                      <a:pPr algn="l"/>
                      <a:r>
                        <a:rPr sz="869" b="0">
                          <a:solidFill>
                            <a:srgbClr val="000000"/>
                          </a:solidFill>
                          <a:latin typeface="Calibri"/>
                        </a:rPr>
                        <a:t>one How + one Results slide each</a:t>
                      </a:r>
                    </a:p>
                  </a:txBody>
                  <a:tcPr/>
                </a:tc>
              </a:tr>
              <a:tr h="324200">
                <a:tc>
                  <a:txBody>
                    <a:bodyPr lIns="54864" rIns="54864" tIns="18288" bIns="18288" wrap="square" anchor="ctr"/>
                    <a:lstStyle/>
                    <a:p>
                      <a:pPr algn="l"/>
                      <a:r>
                        <a:rPr sz="869" b="0">
                          <a:solidFill>
                            <a:srgbClr val="000000"/>
                          </a:solidFill>
                          <a:latin typeface="Calibri"/>
                        </a:rPr>
                        <a:t>10</a:t>
                      </a:r>
                    </a:p>
                  </a:txBody>
                  <a:tcPr/>
                </a:tc>
                <a:tc>
                  <a:txBody>
                    <a:bodyPr lIns="54864" rIns="54864" tIns="18288" bIns="18288" wrap="square" anchor="ctr"/>
                    <a:lstStyle/>
                    <a:p>
                      <a:pPr algn="l"/>
                      <a:r>
                        <a:rPr sz="869" b="0">
                          <a:solidFill>
                            <a:srgbClr val="000000"/>
                          </a:solidFill>
                          <a:latin typeface="Calibri"/>
                        </a:rPr>
                        <a:t>Auto-preload</a:t>
                      </a:r>
                    </a:p>
                  </a:txBody>
                  <a:tcPr/>
                </a:tc>
                <a:tc>
                  <a:txBody>
                    <a:bodyPr lIns="54864" rIns="54864" tIns="18288" bIns="18288" wrap="square" anchor="ctr"/>
                    <a:lstStyle/>
                    <a:p>
                      <a:pPr algn="l"/>
                      <a:r>
                        <a:rPr sz="869" b="0">
                          <a:solidFill>
                            <a:srgbClr val="000000"/>
                          </a:solidFill>
                          <a:latin typeface="Calibri"/>
                        </a:rPr>
                        <a:t>p162</a:t>
                      </a:r>
                    </a:p>
                  </a:txBody>
                  <a:tcPr/>
                </a:tc>
                <a:tc>
                  <a:txBody>
                    <a:bodyPr lIns="54864" rIns="54864" tIns="18288" bIns="18288" wrap="square" anchor="ctr"/>
                    <a:lstStyle/>
                    <a:p>
                      <a:pPr algn="l"/>
                      <a:r>
                        <a:rPr sz="869" b="0">
                          <a:solidFill>
                            <a:srgbClr val="000000"/>
                          </a:solidFill>
                          <a:latin typeface="Calibri"/>
                        </a:rPr>
                        <a:t>the 0.2→0.1→0.02 schedule</a:t>
                      </a:r>
                    </a:p>
                  </a:txBody>
                  <a:tcPr/>
                </a:tc>
              </a:tr>
            </a:tbl>
          </a:graphicData>
        </a:graphic>
      </p:graphicFrame>
      <p:graphicFrame>
        <p:nvGraphicFramePr>
          <p:cNvPr id="7" name="Table 6"/>
          <p:cNvGraphicFramePr>
            <a:graphicFrameLocks noGrp="1"/>
          </p:cNvGraphicFramePr>
          <p:nvPr/>
        </p:nvGraphicFramePr>
        <p:xfrm>
          <a:off x="6217920" y="1783080"/>
          <a:ext cx="5623559" cy="3566160"/>
        </p:xfrm>
        <a:graphic>
          <a:graphicData uri="http://schemas.openxmlformats.org/drawingml/2006/table">
            <a:tbl>
              <a:tblPr firstRow="1" bandRow="1">
                <a:tableStyleId>{5C22544A-7EE6-4342-B048-85BDC9FD1C3A}</a:tableStyleId>
              </a:tblPr>
              <a:tblGrid>
                <a:gridCol w="426027"/>
                <a:gridCol w="1704109"/>
                <a:gridCol w="1704109"/>
                <a:gridCol w="1789314"/>
              </a:tblGrid>
              <a:tr h="324196">
                <a:tc>
                  <a:txBody>
                    <a:bodyPr lIns="54864" rIns="54864" tIns="18288" bIns="18288" wrap="square" anchor="ctr"/>
                    <a:lstStyle/>
                    <a:p>
                      <a:pPr algn="l"/>
                      <a:r>
                        <a:rPr sz="950" b="1">
                          <a:solidFill>
                            <a:srgbClr val="FFFFFF"/>
                          </a:solidFill>
                          <a:latin typeface="Calibri"/>
                        </a:rPr>
                        <a:t>SF</a:t>
                      </a:r>
                    </a:p>
                  </a:txBody>
                  <a:tcPr>
                    <a:solidFill>
                      <a:srgbClr val="143D2F"/>
                    </a:solidFill>
                  </a:tcPr>
                </a:tc>
                <a:tc>
                  <a:txBody>
                    <a:bodyPr lIns="54864" rIns="54864" tIns="18288" bIns="18288" wrap="square" anchor="ctr"/>
                    <a:lstStyle/>
                    <a:p>
                      <a:pPr algn="l"/>
                      <a:r>
                        <a:rPr sz="950" b="1">
                          <a:solidFill>
                            <a:srgbClr val="FFFFFF"/>
                          </a:solidFill>
                          <a:latin typeface="Calibri"/>
                        </a:rPr>
                        <a:t>Feature</a:t>
                      </a:r>
                    </a:p>
                  </a:txBody>
                  <a:tcPr>
                    <a:solidFill>
                      <a:srgbClr val="143D2F"/>
                    </a:solidFill>
                  </a:tcPr>
                </a:tc>
                <a:tc>
                  <a:txBody>
                    <a:bodyPr lIns="54864" rIns="54864" tIns="18288" bIns="18288" wrap="square" anchor="ctr"/>
                    <a:lstStyle/>
                    <a:p>
                      <a:pPr algn="l"/>
                      <a:r>
                        <a:rPr sz="950" b="1">
                          <a:solidFill>
                            <a:srgbClr val="FFFFFF"/>
                          </a:solidFill>
                          <a:latin typeface="Calibri"/>
                        </a:rPr>
                        <a:t>Where it is shown working</a:t>
                      </a:r>
                    </a:p>
                  </a:txBody>
                  <a:tcPr>
                    <a:solidFill>
                      <a:srgbClr val="143D2F"/>
                    </a:solidFill>
                  </a:tcPr>
                </a:tc>
                <a:tc>
                  <a:txBody>
                    <a:bodyPr lIns="54864" rIns="54864" tIns="18288" bIns="18288" wrap="square" anchor="ctr"/>
                    <a:lstStyle/>
                    <a:p>
                      <a:pPr algn="l"/>
                      <a:r>
                        <a:rPr sz="950" b="1">
                          <a:solidFill>
                            <a:srgbClr val="FFFFFF"/>
                          </a:solidFill>
                          <a:latin typeface="Calibri"/>
                        </a:rPr>
                        <a:t>Kind of evidence</a:t>
                      </a:r>
                    </a:p>
                  </a:txBody>
                  <a:tcPr>
                    <a:solidFill>
                      <a:srgbClr val="143D2F"/>
                    </a:solidFill>
                  </a:tcPr>
                </a:tc>
              </a:tr>
              <a:tr h="324196">
                <a:tc>
                  <a:txBody>
                    <a:bodyPr lIns="54864" rIns="54864" tIns="18288" bIns="18288" wrap="square" anchor="ctr"/>
                    <a:lstStyle/>
                    <a:p>
                      <a:pPr algn="l"/>
                      <a:r>
                        <a:rPr sz="869" b="0">
                          <a:solidFill>
                            <a:srgbClr val="000000"/>
                          </a:solidFill>
                          <a:latin typeface="Calibri"/>
                        </a:rPr>
                        <a:t>11</a:t>
                      </a:r>
                    </a:p>
                  </a:txBody>
                  <a:tcPr/>
                </a:tc>
                <a:tc>
                  <a:txBody>
                    <a:bodyPr lIns="54864" rIns="54864" tIns="18288" bIns="18288" wrap="square" anchor="ctr"/>
                    <a:lstStyle/>
                    <a:p>
                      <a:pPr algn="l"/>
                      <a:r>
                        <a:rPr sz="869" b="0">
                          <a:solidFill>
                            <a:srgbClr val="000000"/>
                          </a:solidFill>
                          <a:latin typeface="Calibri"/>
                        </a:rPr>
                        <a:t>Auto-metadata link</a:t>
                      </a:r>
                    </a:p>
                  </a:txBody>
                  <a:tcPr/>
                </a:tc>
                <a:tc>
                  <a:txBody>
                    <a:bodyPr lIns="54864" rIns="54864" tIns="18288" bIns="18288" wrap="square" anchor="ctr"/>
                    <a:lstStyle/>
                    <a:p>
                      <a:pPr algn="l"/>
                      <a:r>
                        <a:rPr sz="869" b="0">
                          <a:solidFill>
                            <a:srgbClr val="000000"/>
                          </a:solidFill>
                          <a:latin typeface="Calibri"/>
                        </a:rPr>
                        <a:t>p265</a:t>
                      </a:r>
                    </a:p>
                  </a:txBody>
                  <a:tcPr/>
                </a:tc>
                <a:tc>
                  <a:txBody>
                    <a:bodyPr lIns="54864" rIns="54864" tIns="18288" bIns="18288" wrap="square" anchor="ctr"/>
                    <a:lstStyle/>
                    <a:p>
                      <a:pPr algn="l"/>
                      <a:r>
                        <a:rPr sz="869" b="0">
                          <a:solidFill>
                            <a:srgbClr val="000000"/>
                          </a:solidFill>
                          <a:latin typeface="Calibri"/>
                        </a:rPr>
                        <a:t>both halves round-trip, 14/14</a:t>
                      </a:r>
                    </a:p>
                  </a:txBody>
                  <a:tcPr/>
                </a:tc>
              </a:tr>
              <a:tr h="324196">
                <a:tc>
                  <a:txBody>
                    <a:bodyPr lIns="54864" rIns="54864" tIns="18288" bIns="18288" wrap="square" anchor="ctr"/>
                    <a:lstStyle/>
                    <a:p>
                      <a:pPr algn="l"/>
                      <a:r>
                        <a:rPr sz="869" b="0">
                          <a:solidFill>
                            <a:srgbClr val="000000"/>
                          </a:solidFill>
                          <a:latin typeface="Calibri"/>
                        </a:rPr>
                        <a:t>12</a:t>
                      </a:r>
                    </a:p>
                  </a:txBody>
                  <a:tcPr/>
                </a:tc>
                <a:tc>
                  <a:txBody>
                    <a:bodyPr lIns="54864" rIns="54864" tIns="18288" bIns="18288" wrap="square" anchor="ctr"/>
                    <a:lstStyle/>
                    <a:p>
                      <a:pPr algn="l"/>
                      <a:r>
                        <a:rPr sz="869" b="0">
                          <a:solidFill>
                            <a:srgbClr val="000000"/>
                          </a:solidFill>
                          <a:latin typeface="Calibri"/>
                        </a:rPr>
                        <a:t>DIC auto-calibration</a:t>
                      </a:r>
                    </a:p>
                  </a:txBody>
                  <a:tcPr/>
                </a:tc>
                <a:tc>
                  <a:txBody>
                    <a:bodyPr lIns="54864" rIns="54864" tIns="18288" bIns="18288" wrap="square" anchor="ctr"/>
                    <a:lstStyle/>
                    <a:p>
                      <a:pPr algn="l"/>
                      <a:r>
                        <a:rPr sz="869" b="0">
                          <a:solidFill>
                            <a:srgbClr val="000000"/>
                          </a:solidFill>
                          <a:latin typeface="Calibri"/>
                        </a:rPr>
                        <a:t>NEXT SLIDE</a:t>
                      </a:r>
                    </a:p>
                  </a:txBody>
                  <a:tcPr/>
                </a:tc>
                <a:tc>
                  <a:txBody>
                    <a:bodyPr lIns="54864" rIns="54864" tIns="18288" bIns="18288" wrap="square" anchor="ctr"/>
                    <a:lstStyle/>
                    <a:p>
                      <a:pPr algn="l"/>
                      <a:r>
                        <a:rPr sz="869" b="0">
                          <a:solidFill>
                            <a:srgbClr val="000000"/>
                          </a:solidFill>
                          <a:latin typeface="Calibri"/>
                        </a:rPr>
                        <a:t>the sweep dialog, real numbers</a:t>
                      </a:r>
                    </a:p>
                  </a:txBody>
                  <a:tcPr/>
                </a:tc>
              </a:tr>
              <a:tr h="324196">
                <a:tc>
                  <a:txBody>
                    <a:bodyPr lIns="54864" rIns="54864" tIns="18288" bIns="18288" wrap="square" anchor="ctr"/>
                    <a:lstStyle/>
                    <a:p>
                      <a:pPr algn="l"/>
                      <a:r>
                        <a:rPr sz="869" b="0">
                          <a:solidFill>
                            <a:srgbClr val="000000"/>
                          </a:solidFill>
                          <a:latin typeface="Calibri"/>
                        </a:rPr>
                        <a:t>13</a:t>
                      </a:r>
                    </a:p>
                  </a:txBody>
                  <a:tcPr/>
                </a:tc>
                <a:tc>
                  <a:txBody>
                    <a:bodyPr lIns="54864" rIns="54864" tIns="18288" bIns="18288" wrap="square" anchor="ctr"/>
                    <a:lstStyle/>
                    <a:p>
                      <a:pPr algn="l"/>
                      <a:r>
                        <a:rPr sz="869" b="0">
                          <a:solidFill>
                            <a:srgbClr val="000000"/>
                          </a:solidFill>
                          <a:latin typeface="Calibri"/>
                        </a:rPr>
                        <a:t>Guided wizard</a:t>
                      </a:r>
                    </a:p>
                  </a:txBody>
                  <a:tcPr/>
                </a:tc>
                <a:tc>
                  <a:txBody>
                    <a:bodyPr lIns="54864" rIns="54864" tIns="18288" bIns="18288" wrap="square" anchor="ctr"/>
                    <a:lstStyle/>
                    <a:p>
                      <a:pPr algn="l"/>
                      <a:r>
                        <a:rPr sz="869" b="0">
                          <a:solidFill>
                            <a:srgbClr val="000000"/>
                          </a:solidFill>
                          <a:latin typeface="Calibri"/>
                        </a:rPr>
                        <a:t>NEXT SLIDE + 1</a:t>
                      </a:r>
                    </a:p>
                  </a:txBody>
                  <a:tcPr/>
                </a:tc>
                <a:tc>
                  <a:txBody>
                    <a:bodyPr lIns="54864" rIns="54864" tIns="18288" bIns="18288" wrap="square" anchor="ctr"/>
                    <a:lstStyle/>
                    <a:p>
                      <a:pPr algn="l"/>
                      <a:r>
                        <a:rPr sz="869" b="0">
                          <a:solidFill>
                            <a:srgbClr val="000000"/>
                          </a:solidFill>
                          <a:latin typeface="Calibri"/>
                        </a:rPr>
                        <a:t>9 of 9 done, on the rig</a:t>
                      </a:r>
                    </a:p>
                  </a:txBody>
                  <a:tcPr/>
                </a:tc>
              </a:tr>
              <a:tr h="324196">
                <a:tc>
                  <a:txBody>
                    <a:bodyPr lIns="54864" rIns="54864" tIns="18288" bIns="18288" wrap="square" anchor="ctr"/>
                    <a:lstStyle/>
                    <a:p>
                      <a:pPr algn="l"/>
                      <a:r>
                        <a:rPr sz="869" b="0">
                          <a:solidFill>
                            <a:srgbClr val="000000"/>
                          </a:solidFill>
                          <a:latin typeface="Calibri"/>
                        </a:rPr>
                        <a:t>14</a:t>
                      </a:r>
                    </a:p>
                  </a:txBody>
                  <a:tcPr/>
                </a:tc>
                <a:tc>
                  <a:txBody>
                    <a:bodyPr lIns="54864" rIns="54864" tIns="18288" bIns="18288" wrap="square" anchor="ctr"/>
                    <a:lstStyle/>
                    <a:p>
                      <a:pPr algn="l"/>
                      <a:r>
                        <a:rPr sz="869" b="0">
                          <a:solidFill>
                            <a:srgbClr val="000000"/>
                          </a:solidFill>
                          <a:latin typeface="Calibri"/>
                        </a:rPr>
                        <a:t>Test registry</a:t>
                      </a:r>
                    </a:p>
                  </a:txBody>
                  <a:tcPr/>
                </a:tc>
                <a:tc>
                  <a:txBody>
                    <a:bodyPr lIns="54864" rIns="54864" tIns="18288" bIns="18288" wrap="square" anchor="ctr"/>
                    <a:lstStyle/>
                    <a:p>
                      <a:pPr algn="l"/>
                      <a:r>
                        <a:rPr sz="869" b="0">
                          <a:solidFill>
                            <a:srgbClr val="000000"/>
                          </a:solidFill>
                          <a:latin typeface="Calibri"/>
                        </a:rPr>
                        <a:t>p266</a:t>
                      </a:r>
                    </a:p>
                  </a:txBody>
                  <a:tcPr/>
                </a:tc>
                <a:tc>
                  <a:txBody>
                    <a:bodyPr lIns="54864" rIns="54864" tIns="18288" bIns="18288" wrap="square" anchor="ctr"/>
                    <a:lstStyle/>
                    <a:p>
                      <a:pPr algn="l"/>
                      <a:r>
                        <a:rPr sz="869" b="0">
                          <a:solidFill>
                            <a:srgbClr val="000000"/>
                          </a:solidFill>
                          <a:latin typeface="Calibri"/>
                        </a:rPr>
                        <a:t>the CLI listing, 34 runs</a:t>
                      </a:r>
                    </a:p>
                  </a:txBody>
                  <a:tcPr/>
                </a:tc>
              </a:tr>
              <a:tr h="324196">
                <a:tc>
                  <a:txBody>
                    <a:bodyPr lIns="54864" rIns="54864" tIns="18288" bIns="18288" wrap="square" anchor="ctr"/>
                    <a:lstStyle/>
                    <a:p>
                      <a:pPr algn="l"/>
                      <a:r>
                        <a:rPr sz="869" b="0">
                          <a:solidFill>
                            <a:srgbClr val="000000"/>
                          </a:solidFill>
                          <a:latin typeface="Calibri"/>
                        </a:rPr>
                        <a:t>15</a:t>
                      </a:r>
                    </a:p>
                  </a:txBody>
                  <a:tcPr/>
                </a:tc>
                <a:tc>
                  <a:txBody>
                    <a:bodyPr lIns="54864" rIns="54864" tIns="18288" bIns="18288" wrap="square" anchor="ctr"/>
                    <a:lstStyle/>
                    <a:p>
                      <a:pPr algn="l"/>
                      <a:r>
                        <a:rPr sz="869" b="0">
                          <a:solidFill>
                            <a:srgbClr val="000000"/>
                          </a:solidFill>
                          <a:latin typeface="Calibri"/>
                        </a:rPr>
                        <a:t>Dead-DIC guard</a:t>
                      </a:r>
                    </a:p>
                  </a:txBody>
                  <a:tcPr/>
                </a:tc>
                <a:tc>
                  <a:txBody>
                    <a:bodyPr lIns="54864" rIns="54864" tIns="18288" bIns="18288" wrap="square" anchor="ctr"/>
                    <a:lstStyle/>
                    <a:p>
                      <a:pPr algn="l"/>
                      <a:r>
                        <a:rPr sz="869" b="0">
                          <a:solidFill>
                            <a:srgbClr val="000000"/>
                          </a:solidFill>
                          <a:latin typeface="Calibri"/>
                        </a:rPr>
                        <a:t>p175</a:t>
                      </a:r>
                    </a:p>
                  </a:txBody>
                  <a:tcPr/>
                </a:tc>
                <a:tc>
                  <a:txBody>
                    <a:bodyPr lIns="54864" rIns="54864" tIns="18288" bIns="18288" wrap="square" anchor="ctr"/>
                    <a:lstStyle/>
                    <a:p>
                      <a:pPr algn="l"/>
                      <a:r>
                        <a:rPr sz="869" b="0">
                          <a:solidFill>
                            <a:srgbClr val="000000"/>
                          </a:solidFill>
                          <a:latin typeface="Calibri"/>
                        </a:rPr>
                        <a:t>the halt at 1.0 s stale</a:t>
                      </a:r>
                    </a:p>
                  </a:txBody>
                  <a:tcPr/>
                </a:tc>
              </a:tr>
              <a:tr h="324196">
                <a:tc>
                  <a:txBody>
                    <a:bodyPr lIns="54864" rIns="54864" tIns="18288" bIns="18288" wrap="square" anchor="ctr"/>
                    <a:lstStyle/>
                    <a:p>
                      <a:pPr algn="l"/>
                      <a:r>
                        <a:rPr sz="869" b="0">
                          <a:solidFill>
                            <a:srgbClr val="000000"/>
                          </a:solidFill>
                          <a:latin typeface="Calibri"/>
                        </a:rPr>
                        <a:t>16</a:t>
                      </a:r>
                    </a:p>
                  </a:txBody>
                  <a:tcPr/>
                </a:tc>
                <a:tc>
                  <a:txBody>
                    <a:bodyPr lIns="54864" rIns="54864" tIns="18288" bIns="18288" wrap="square" anchor="ctr"/>
                    <a:lstStyle/>
                    <a:p>
                      <a:pPr algn="l"/>
                      <a:r>
                        <a:rPr sz="869" b="0">
                          <a:solidFill>
                            <a:srgbClr val="000000"/>
                          </a:solidFill>
                          <a:latin typeface="Calibri"/>
                        </a:rPr>
                        <a:t>Live Px₀ overlay</a:t>
                      </a:r>
                    </a:p>
                  </a:txBody>
                  <a:tcPr/>
                </a:tc>
                <a:tc>
                  <a:txBody>
                    <a:bodyPr lIns="54864" rIns="54864" tIns="18288" bIns="18288" wrap="square" anchor="ctr"/>
                    <a:lstStyle/>
                    <a:p>
                      <a:pPr algn="l"/>
                      <a:r>
                        <a:rPr sz="869" b="0">
                          <a:solidFill>
                            <a:srgbClr val="000000"/>
                          </a:solidFill>
                          <a:latin typeface="Calibri"/>
                        </a:rPr>
                        <a:t>LAST OF THIS BLOCK</a:t>
                      </a:r>
                    </a:p>
                  </a:txBody>
                  <a:tcPr/>
                </a:tc>
                <a:tc>
                  <a:txBody>
                    <a:bodyPr lIns="54864" rIns="54864" tIns="18288" bIns="18288" wrap="square" anchor="ctr"/>
                    <a:lstStyle/>
                    <a:p>
                      <a:pPr algn="l"/>
                      <a:r>
                        <a:rPr sz="869" b="0">
                          <a:solidFill>
                            <a:srgbClr val="000000"/>
                          </a:solidFill>
                          <a:latin typeface="Calibri"/>
                        </a:rPr>
                        <a:t>overlay 1745 px = caption 1745 px</a:t>
                      </a:r>
                    </a:p>
                  </a:txBody>
                  <a:tcPr/>
                </a:tc>
              </a:tr>
              <a:tr h="324196">
                <a:tc>
                  <a:txBody>
                    <a:bodyPr lIns="54864" rIns="54864" tIns="18288" bIns="18288" wrap="square" anchor="ctr"/>
                    <a:lstStyle/>
                    <a:p>
                      <a:pPr algn="l"/>
                      <a:r>
                        <a:rPr sz="869" b="0">
                          <a:solidFill>
                            <a:srgbClr val="000000"/>
                          </a:solidFill>
                          <a:latin typeface="Calibri"/>
                        </a:rPr>
                        <a:t>17</a:t>
                      </a:r>
                    </a:p>
                  </a:txBody>
                  <a:tcPr/>
                </a:tc>
                <a:tc>
                  <a:txBody>
                    <a:bodyPr lIns="54864" rIns="54864" tIns="18288" bIns="18288" wrap="square" anchor="ctr"/>
                    <a:lstStyle/>
                    <a:p>
                      <a:pPr algn="l"/>
                      <a:r>
                        <a:rPr sz="869" b="0">
                          <a:solidFill>
                            <a:srgbClr val="000000"/>
                          </a:solidFill>
                          <a:latin typeface="Calibri"/>
                        </a:rPr>
                        <a:t>Video + image capture</a:t>
                      </a:r>
                    </a:p>
                  </a:txBody>
                  <a:tcPr/>
                </a:tc>
                <a:tc>
                  <a:txBody>
                    <a:bodyPr lIns="54864" rIns="54864" tIns="18288" bIns="18288" wrap="square" anchor="ctr"/>
                    <a:lstStyle/>
                    <a:p>
                      <a:pPr algn="l"/>
                      <a:r>
                        <a:rPr sz="869" b="0">
                          <a:solidFill>
                            <a:srgbClr val="000000"/>
                          </a:solidFill>
                          <a:latin typeface="Calibri"/>
                        </a:rPr>
                        <a:t>LAST TWO OF THIS BLOCK</a:t>
                      </a:r>
                    </a:p>
                  </a:txBody>
                  <a:tcPr/>
                </a:tc>
                <a:tc>
                  <a:txBody>
                    <a:bodyPr lIns="54864" rIns="54864" tIns="18288" bIns="18288" wrap="square" anchor="ctr"/>
                    <a:lstStyle/>
                    <a:p>
                      <a:pPr algn="l"/>
                      <a:r>
                        <a:rPr sz="869" b="0">
                          <a:solidFill>
                            <a:srgbClr val="000000"/>
                          </a:solidFill>
                          <a:latin typeface="Calibri"/>
                        </a:rPr>
                        <a:t>S26 frames and all 3 videos</a:t>
                      </a:r>
                    </a:p>
                  </a:txBody>
                  <a:tcPr/>
                </a:tc>
              </a:tr>
              <a:tr h="324196">
                <a:tc>
                  <a:txBody>
                    <a:bodyPr lIns="54864" rIns="54864" tIns="18288" bIns="18288" wrap="square" anchor="ctr"/>
                    <a:lstStyle/>
                    <a:p>
                      <a:pPr algn="l"/>
                      <a:r>
                        <a:rPr sz="869" b="0">
                          <a:solidFill>
                            <a:srgbClr val="000000"/>
                          </a:solidFill>
                          <a:latin typeface="Calibri"/>
                        </a:rPr>
                        <a:t>18</a:t>
                      </a:r>
                    </a:p>
                  </a:txBody>
                  <a:tcPr/>
                </a:tc>
                <a:tc>
                  <a:txBody>
                    <a:bodyPr lIns="54864" rIns="54864" tIns="18288" bIns="18288" wrap="square" anchor="ctr"/>
                    <a:lstStyle/>
                    <a:p>
                      <a:pPr algn="l"/>
                      <a:r>
                        <a:rPr sz="869" b="0">
                          <a:solidFill>
                            <a:srgbClr val="000000"/>
                          </a:solidFill>
                          <a:latin typeface="Calibri"/>
                        </a:rPr>
                        <a:t>DIC post-processing</a:t>
                      </a:r>
                    </a:p>
                  </a:txBody>
                  <a:tcPr/>
                </a:tc>
                <a:tc>
                  <a:txBody>
                    <a:bodyPr lIns="54864" rIns="54864" tIns="18288" bIns="18288" wrap="square" anchor="ctr"/>
                    <a:lstStyle/>
                    <a:p>
                      <a:pPr algn="l"/>
                      <a:r>
                        <a:rPr sz="869" b="0">
                          <a:solidFill>
                            <a:srgbClr val="000000"/>
                          </a:solidFill>
                          <a:latin typeface="Calibri"/>
                        </a:rPr>
                        <a:t>p309–p313</a:t>
                      </a:r>
                    </a:p>
                  </a:txBody>
                  <a:tcPr/>
                </a:tc>
                <a:tc>
                  <a:txBody>
                    <a:bodyPr lIns="54864" rIns="54864" tIns="18288" bIns="18288" wrap="square" anchor="ctr"/>
                    <a:lstStyle/>
                    <a:p>
                      <a:pPr algn="l"/>
                      <a:r>
                        <a:rPr sz="869" b="0">
                          <a:solidFill>
                            <a:srgbClr val="000000"/>
                          </a:solidFill>
                          <a:latin typeface="Calibri"/>
                        </a:rPr>
                        <a:t>three independent checks + the guide</a:t>
                      </a:r>
                    </a:p>
                  </a:txBody>
                  <a:tcPr/>
                </a:tc>
              </a:tr>
              <a:tr h="324196">
                <a:tc>
                  <a:txBody>
                    <a:bodyPr lIns="54864" rIns="54864" tIns="18288" bIns="18288" wrap="square" anchor="ctr"/>
                    <a:lstStyle/>
                    <a:p>
                      <a:pPr algn="l"/>
                      <a:r>
                        <a:rPr sz="869" b="0">
                          <a:solidFill>
                            <a:srgbClr val="000000"/>
                          </a:solidFill>
                          <a:latin typeface="Calibri"/>
                        </a:rPr>
                        <a:t>19</a:t>
                      </a:r>
                    </a:p>
                  </a:txBody>
                  <a:tcPr/>
                </a:tc>
                <a:tc>
                  <a:txBody>
                    <a:bodyPr lIns="54864" rIns="54864" tIns="18288" bIns="18288" wrap="square" anchor="ctr"/>
                    <a:lstStyle/>
                    <a:p>
                      <a:pPr algn="l"/>
                      <a:r>
                        <a:rPr sz="869" b="0">
                          <a:solidFill>
                            <a:srgbClr val="000000"/>
                          </a:solidFill>
                          <a:latin typeface="Calibri"/>
                        </a:rPr>
                        <a:t>Noise capture</a:t>
                      </a:r>
                    </a:p>
                  </a:txBody>
                  <a:tcPr/>
                </a:tc>
                <a:tc>
                  <a:txBody>
                    <a:bodyPr lIns="54864" rIns="54864" tIns="18288" bIns="18288" wrap="square" anchor="ctr"/>
                    <a:lstStyle/>
                    <a:p>
                      <a:pPr algn="l"/>
                      <a:r>
                        <a:rPr sz="869" b="0">
                          <a:solidFill>
                            <a:srgbClr val="000000"/>
                          </a:solidFill>
                          <a:latin typeface="Calibri"/>
                        </a:rPr>
                        <a:t>p319</a:t>
                      </a:r>
                    </a:p>
                  </a:txBody>
                  <a:tcPr/>
                </a:tc>
                <a:tc>
                  <a:txBody>
                    <a:bodyPr lIns="54864" rIns="54864" tIns="18288" bIns="18288" wrap="square" anchor="ctr"/>
                    <a:lstStyle/>
                    <a:p>
                      <a:pPr algn="l"/>
                      <a:r>
                        <a:rPr sz="869" b="0">
                          <a:solidFill>
                            <a:srgbClr val="000000"/>
                          </a:solidFill>
                          <a:latin typeface="Calibri"/>
                        </a:rPr>
                        <a:t>offset / drift / sd, separated</a:t>
                      </a:r>
                    </a:p>
                  </a:txBody>
                  <a:tcPr/>
                </a:tc>
              </a:tr>
              <a:tr h="324200">
                <a:tc>
                  <a:txBody>
                    <a:bodyPr lIns="54864" rIns="54864" tIns="18288" bIns="18288" wrap="square" anchor="ctr"/>
                    <a:lstStyle/>
                    <a:p>
                      <a:pPr algn="l"/>
                      <a:r>
                        <a:rPr sz="869" b="0">
                          <a:solidFill>
                            <a:srgbClr val="000000"/>
                          </a:solidFill>
                          <a:latin typeface="Calibri"/>
                        </a:rPr>
                        <a:t>—</a:t>
                      </a:r>
                    </a:p>
                  </a:txBody>
                  <a:tcPr/>
                </a:tc>
                <a:tc>
                  <a:txBody>
                    <a:bodyPr lIns="54864" rIns="54864" tIns="18288" bIns="18288" wrap="square" anchor="ctr"/>
                    <a:lstStyle/>
                    <a:p>
                      <a:pPr algn="l"/>
                      <a:r>
                        <a:rPr sz="869" b="0">
                          <a:solidFill>
                            <a:srgbClr val="000000"/>
                          </a:solidFill>
                          <a:latin typeface="Calibri"/>
                        </a:rPr>
                        <a:t>Capture formats &amp; disk</a:t>
                      </a:r>
                    </a:p>
                  </a:txBody>
                  <a:tcPr/>
                </a:tc>
                <a:tc>
                  <a:txBody>
                    <a:bodyPr lIns="54864" rIns="54864" tIns="18288" bIns="18288" wrap="square" anchor="ctr"/>
                    <a:lstStyle/>
                    <a:p>
                      <a:pPr algn="l"/>
                      <a:r>
                        <a:rPr sz="869" b="0">
                          <a:solidFill>
                            <a:srgbClr val="000000"/>
                          </a:solidFill>
                          <a:latin typeface="Calibri"/>
                        </a:rPr>
                        <a:t>p269 · p270</a:t>
                      </a:r>
                    </a:p>
                  </a:txBody>
                  <a:tcPr/>
                </a:tc>
                <a:tc>
                  <a:txBody>
                    <a:bodyPr lIns="54864" rIns="54864" tIns="18288" bIns="18288" wrap="square" anchor="ctr"/>
                    <a:lstStyle/>
                    <a:p>
                      <a:pPr algn="l"/>
                      <a:r>
                        <a:rPr sz="869" b="0">
                          <a:solidFill>
                            <a:srgbClr val="000000"/>
                          </a:solidFill>
                          <a:latin typeface="Calibri"/>
                        </a:rPr>
                        <a:t>TIFF/PNG, FFV1/Y800, cost</a:t>
                      </a:r>
                    </a:p>
                  </a:txBody>
                  <a:tcPr/>
                </a:tc>
              </a:tr>
            </a:tbl>
          </a:graphicData>
        </a:graphic>
      </p:graphicFrame>
      <p:sp>
        <p:nvSpPr>
          <p:cNvPr id="8" name="Rectangle 7"/>
          <p:cNvSpPr/>
          <p:nvPr/>
        </p:nvSpPr>
        <p:spPr>
          <a:xfrm>
            <a:off x="365760" y="557784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FOUR FEATURES WITH NO SCREENSHOT UNTIL NOW — AUTO-CALIBRATION, THE WIZARD, CAPTURE AND THE Px₀ OVERLAY — ARE PROVEN ON THE NEXT FIVE SLIDES.</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list runs SF1–SF19 with no gaps (renumbered 2026-09-02). Page numbers are this deck's own, and were read back off the built deck rather than written by hand.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SF12 · DIC AUTO-CALIBRATION — THE SWEEP, ON THE PPD-UTM</a:t>
            </a:r>
          </a:p>
        </p:txBody>
      </p:sp>
      <p:pic>
        <p:nvPicPr>
          <p:cNvPr id="5" name="Picture 4" descr="UTM_Autocalibrate.png"/>
          <p:cNvPicPr>
            <a:picLocks noChangeAspect="1"/>
          </p:cNvPicPr>
          <p:nvPr/>
        </p:nvPicPr>
        <p:blipFill>
          <a:blip r:embed="rId2"/>
          <a:stretch>
            <a:fillRect/>
          </a:stretch>
        </p:blipFill>
        <p:spPr>
          <a:xfrm>
            <a:off x="411480" y="1234440"/>
            <a:ext cx="5669280" cy="3996895"/>
          </a:xfrm>
          <a:prstGeom prst="rect">
            <a:avLst/>
          </a:prstGeom>
        </p:spPr>
      </p:pic>
      <p:sp>
        <p:nvSpPr>
          <p:cNvPr id="6" name="TextBox 5"/>
          <p:cNvSpPr txBox="1"/>
          <p:nvPr/>
        </p:nvSpPr>
        <p:spPr>
          <a:xfrm>
            <a:off x="6400800" y="123444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dialog is showing</a:t>
            </a:r>
          </a:p>
        </p:txBody>
      </p:sp>
      <p:sp>
        <p:nvSpPr>
          <p:cNvPr id="7" name="TextBox 6"/>
          <p:cNvSpPr txBox="1"/>
          <p:nvPr/>
        </p:nvSpPr>
        <p:spPr>
          <a:xfrm>
            <a:off x="6400800" y="1600200"/>
            <a:ext cx="5440680" cy="2286000"/>
          </a:xfrm>
          <a:prstGeom prst="rect">
            <a:avLst/>
          </a:prstGeom>
          <a:noFill/>
        </p:spPr>
        <p:txBody>
          <a:bodyPr wrap="square" lIns="45720" rIns="45720" tIns="18288" bIns="18288" anchor="t">
            <a:spAutoFit/>
          </a:bodyPr>
          <a:lstStyle/>
          <a:p>
            <a:pPr algn="l"/>
            <a:r>
              <a:rPr sz="980" b="0" i="0">
                <a:solidFill>
                  <a:srgbClr val="000000"/>
                </a:solidFill>
                <a:latin typeface="Calibri"/>
              </a:rPr>
              <a:t>Seven exposures swept at the working threshold, each scored on how well the markers would survive a disturbance — not on whether they happen to be found right now.
It picked 35 ms / threshold 120 over the 50 ms / 150 that was loaded: detect 100 %, contrast 0.96, only 0.1 % of pixels clipped, score 0.82. The two settings that also detect 100 % lose on clipping (0.8 % and 2.0 %) — at 140 ms the frame is so bright that detection collapses to 0 %.
It PROPOSES. Cancel puts the camera back exactly as it was, which is why it is safe to run with a specimen already mounted.</a:t>
            </a:r>
          </a:p>
        </p:txBody>
      </p:sp>
      <p:sp>
        <p:nvSpPr>
          <p:cNvPr id="8" name="TextBox 7"/>
          <p:cNvSpPr txBox="1"/>
          <p:nvPr/>
        </p:nvSpPr>
        <p:spPr>
          <a:xfrm>
            <a:off x="6400800" y="361188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contrast margin, not detection rate</a:t>
            </a:r>
          </a:p>
        </p:txBody>
      </p:sp>
      <p:sp>
        <p:nvSpPr>
          <p:cNvPr id="9" name="TextBox 8"/>
          <p:cNvSpPr txBox="1"/>
          <p:nvPr/>
        </p:nvSpPr>
        <p:spPr>
          <a:xfrm>
            <a:off x="6400800" y="3977639"/>
            <a:ext cx="5440680" cy="1325880"/>
          </a:xfrm>
          <a:prstGeom prst="rect">
            <a:avLst/>
          </a:prstGeom>
          <a:noFill/>
        </p:spPr>
        <p:txBody>
          <a:bodyPr wrap="square" lIns="45720" rIns="45720" tIns="18288" bIns="18288" anchor="t">
            <a:spAutoFit/>
          </a:bodyPr>
          <a:lstStyle/>
          <a:p>
            <a:pPr algn="l"/>
            <a:r>
              <a:rPr sz="960" b="0" i="0">
                <a:solidFill>
                  <a:srgbClr val="000000"/>
                </a:solidFill>
                <a:latin typeface="Calibri"/>
              </a:rPr>
              <a:t>Detection rate answers “does it work now”. Contrast margin answers “will it still work when the light flickers or the specimen necks” — how far the markers sit from the threshold. Three settings here detect 100 % and only one of them has room to spare.</a:t>
            </a:r>
          </a:p>
        </p:txBody>
      </p:sp>
      <p:sp>
        <p:nvSpPr>
          <p:cNvPr id="10" name="Rectangle 9"/>
          <p:cNvSpPr/>
          <p:nvPr/>
        </p:nvSpPr>
        <p:spPr>
          <a:xfrm>
            <a:off x="365760" y="585216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STATUS CHANGED: SF12 WAS “BUILT, WAITING ON RIG TIME”. THIS IS IT RUNNING ON THE RIG — THE CARD IS NOW GREEN.</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Settings ▸ DIC camera setup ▸ Auto-calibrate DIC.</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OTSU'S METHOD — WHAT IT DOES, AND WHAT IT ASSUMES</a:t>
            </a:r>
          </a:p>
        </p:txBody>
      </p:sp>
      <p:pic>
        <p:nvPicPr>
          <p:cNvPr id="5" name="Picture 4" descr="otsu_hist.png"/>
          <p:cNvPicPr>
            <a:picLocks noChangeAspect="1"/>
          </p:cNvPicPr>
          <p:nvPr/>
        </p:nvPicPr>
        <p:blipFill>
          <a:blip r:embed="rId2"/>
          <a:stretch>
            <a:fillRect/>
          </a:stretch>
        </p:blipFill>
        <p:spPr>
          <a:xfrm>
            <a:off x="320040" y="1042415"/>
            <a:ext cx="5806440" cy="3123161"/>
          </a:xfrm>
          <a:prstGeom prst="rect">
            <a:avLst/>
          </a:prstGeom>
        </p:spPr>
      </p:pic>
      <p:sp>
        <p:nvSpPr>
          <p:cNvPr id="6" name="TextBox 5"/>
          <p:cNvSpPr txBox="1"/>
          <p:nvPr/>
        </p:nvSpPr>
        <p:spPr>
          <a:xfrm>
            <a:off x="365760" y="4443984"/>
            <a:ext cx="57607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on the histogram above</a:t>
            </a:r>
          </a:p>
        </p:txBody>
      </p:sp>
      <p:sp>
        <p:nvSpPr>
          <p:cNvPr id="7" name="TextBox 6"/>
          <p:cNvSpPr txBox="1"/>
          <p:nvPr/>
        </p:nvSpPr>
        <p:spPr>
          <a:xfrm>
            <a:off x="365760" y="4791456"/>
            <a:ext cx="5760720" cy="1417320"/>
          </a:xfrm>
          <a:prstGeom prst="rect">
            <a:avLst/>
          </a:prstGeom>
          <a:noFill/>
        </p:spPr>
        <p:txBody>
          <a:bodyPr wrap="square" lIns="45720" rIns="45720" tIns="18288" bIns="18288" anchor="t">
            <a:spAutoFit/>
          </a:bodyPr>
          <a:lstStyle/>
          <a:p>
            <a:pPr algn="l"/>
            <a:r>
              <a:rPr sz="960" b="0" i="0">
                <a:solidFill>
                  <a:srgbClr val="000000"/>
                </a:solidFill>
                <a:latin typeface="Calibri"/>
              </a:rPr>
              <a:t>•  The dark mass at 25–100 is the specimen body.
•  The bright mass above 170 is the spray dots AND the grips.
•  Between them sits a broad valley — that is where any threshold has to go.
•  Otsu puts it at 131; the rig's Black preset uses 149. 18 grey levels apart, both inside the valley.</a:t>
            </a:r>
          </a:p>
        </p:txBody>
      </p:sp>
      <p:sp>
        <p:nvSpPr>
          <p:cNvPr id="8" name="TextBox 7"/>
          <p:cNvSpPr txBox="1"/>
          <p:nvPr/>
        </p:nvSpPr>
        <p:spPr>
          <a:xfrm>
            <a:off x="6400800" y="100584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does — in one sentence</a:t>
            </a:r>
          </a:p>
        </p:txBody>
      </p:sp>
      <p:sp>
        <p:nvSpPr>
          <p:cNvPr id="9" name="TextBox 8"/>
          <p:cNvSpPr txBox="1"/>
          <p:nvPr/>
        </p:nvSpPr>
        <p:spPr>
          <a:xfrm>
            <a:off x="6400800" y="1353312"/>
            <a:ext cx="5440680" cy="1783080"/>
          </a:xfrm>
          <a:prstGeom prst="rect">
            <a:avLst/>
          </a:prstGeom>
          <a:noFill/>
        </p:spPr>
        <p:txBody>
          <a:bodyPr wrap="square" lIns="45720" rIns="45720" tIns="18288" bIns="18288" anchor="t">
            <a:spAutoFit/>
          </a:bodyPr>
          <a:lstStyle/>
          <a:p>
            <a:pPr algn="l"/>
            <a:r>
              <a:rPr sz="960" b="0" i="0">
                <a:solidFill>
                  <a:srgbClr val="000000"/>
                </a:solidFill>
                <a:latin typeface="Calibri"/>
              </a:rPr>
              <a:t>•  THE JOB: decide which pixels are “marker” and which are “background”. That needs one brightness number — above it is a marker, below it is not.
•  Otsu picks that number by itself, from the picture alone. No setting to turn, nothing to train, no guess about what the specimen looks like.
•  HOW: it tries all 254 possible numbers and keeps the one that leaves the two groups as tidy as possible — dark pixels alike, bright pixels alike.
•  Written out, it maximises   σ²b(t) = ω₀ω₁ (μ₀ − μ₁)²   (ω = group sizes, μ = group means), which is the same thing as making each group internally consistent.</a:t>
            </a:r>
          </a:p>
        </p:txBody>
      </p:sp>
      <p:sp>
        <p:nvSpPr>
          <p:cNvPr id="10" name="TextBox 9"/>
          <p:cNvSpPr txBox="1"/>
          <p:nvPr/>
        </p:nvSpPr>
        <p:spPr>
          <a:xfrm>
            <a:off x="6400800" y="3218688"/>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that is a respectable choice</a:t>
            </a:r>
          </a:p>
        </p:txBody>
      </p:sp>
      <p:sp>
        <p:nvSpPr>
          <p:cNvPr id="11" name="TextBox 10"/>
          <p:cNvSpPr txBox="1"/>
          <p:nvPr/>
        </p:nvSpPr>
        <p:spPr>
          <a:xfrm>
            <a:off x="6400800" y="3566160"/>
            <a:ext cx="5440680" cy="1234440"/>
          </a:xfrm>
          <a:prstGeom prst="rect">
            <a:avLst/>
          </a:prstGeom>
          <a:noFill/>
        </p:spPr>
        <p:txBody>
          <a:bodyPr wrap="square" lIns="45720" rIns="45720" tIns="18288" bIns="18288" anchor="t">
            <a:spAutoFit/>
          </a:bodyPr>
          <a:lstStyle/>
          <a:p>
            <a:pPr algn="l"/>
            <a:r>
              <a:rPr sz="960" b="0" i="0">
                <a:solidFill>
                  <a:srgbClr val="000000"/>
                </a:solidFill>
                <a:latin typeface="Calibri"/>
              </a:rPr>
              <a:t>•  It is Fisher's linear discriminant applied to the intensity histogram — a real statistical criterion, not a heuristic.
•  Non-parametric: it assumes no distribution, only that there are two classes.
•  Cheap — one pass over 256 bins, O(L). It can run on every frame.</a:t>
            </a:r>
          </a:p>
        </p:txBody>
      </p:sp>
      <p:sp>
        <p:nvSpPr>
          <p:cNvPr id="12" name="TextBox 11"/>
          <p:cNvSpPr txBox="1"/>
          <p:nvPr/>
        </p:nvSpPr>
        <p:spPr>
          <a:xfrm>
            <a:off x="6400800" y="4882896"/>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what it quietly assumes</a:t>
            </a:r>
          </a:p>
        </p:txBody>
      </p:sp>
      <p:sp>
        <p:nvSpPr>
          <p:cNvPr id="13" name="TextBox 12"/>
          <p:cNvSpPr txBox="1"/>
          <p:nvPr/>
        </p:nvSpPr>
        <p:spPr>
          <a:xfrm>
            <a:off x="6400800" y="5230368"/>
            <a:ext cx="5440680" cy="1051560"/>
          </a:xfrm>
          <a:prstGeom prst="rect">
            <a:avLst/>
          </a:prstGeom>
          <a:noFill/>
        </p:spPr>
        <p:txBody>
          <a:bodyPr wrap="square" lIns="45720" rIns="45720" tIns="18288" bIns="18288" anchor="t">
            <a:spAutoFit/>
          </a:bodyPr>
          <a:lstStyle/>
          <a:p>
            <a:pPr algn="l"/>
            <a:r>
              <a:rPr sz="960" b="0" i="0">
                <a:solidFill>
                  <a:srgbClr val="000000"/>
                </a:solidFill>
                <a:latin typeface="Calibri"/>
              </a:rPr>
              <a:t>•  A BIMODAL histogram with a deep, sharp valley.
•  Two classes of comparable SIZE and comparable VARIANCE — the derivation models them as two equal normals.
•  Even illumination and low noise.</a:t>
            </a:r>
          </a:p>
        </p:txBody>
      </p:sp>
      <p:sp>
        <p:nvSpPr>
          <p:cNvPr id="14" name="TextBox 13"/>
          <p:cNvSpPr txBox="1"/>
          <p:nvPr/>
        </p:nvSpPr>
        <p:spPr>
          <a:xfrm>
            <a:off x="365760" y="6272784"/>
            <a:ext cx="11430000" cy="274320"/>
          </a:xfrm>
          <a:prstGeom prst="rect">
            <a:avLst/>
          </a:prstGeom>
          <a:noFill/>
        </p:spPr>
        <p:txBody>
          <a:bodyPr wrap="square">
            <a:spAutoFit/>
          </a:bodyPr>
          <a:lstStyle/>
          <a:p>
            <a:r>
              <a:rPr sz="1000" u="sng">
                <a:solidFill>
                  <a:srgbClr val="1A5FB4"/>
                </a:solidFill>
                <a:latin typeface="Calibri"/>
                <a:hlinkClick r:id="rId3"/>
              </a:rPr>
              <a:t>Otsu 1979 — “A Threshold Selection Method from Gray-Level Histograms”, IEEE Trans. SMC 9(1):62–66   ·   ieeexplore.ieee.org/document/4310076</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READING THAT GRAPH — GREY LEVELS AND WHAT OTSU IS DOING</a:t>
            </a:r>
          </a:p>
        </p:txBody>
      </p:sp>
      <p:pic>
        <p:nvPicPr>
          <p:cNvPr id="5" name="Picture 4" descr="otsu_explain.png"/>
          <p:cNvPicPr>
            <a:picLocks noChangeAspect="1"/>
          </p:cNvPicPr>
          <p:nvPr/>
        </p:nvPicPr>
        <p:blipFill>
          <a:blip r:embed="rId2"/>
          <a:stretch>
            <a:fillRect/>
          </a:stretch>
        </p:blipFill>
        <p:spPr>
          <a:xfrm>
            <a:off x="1150727" y="969264"/>
            <a:ext cx="9860065" cy="3017520"/>
          </a:xfrm>
          <a:prstGeom prst="rect">
            <a:avLst/>
          </a:prstGeom>
        </p:spPr>
      </p:pic>
      <p:sp>
        <p:nvSpPr>
          <p:cNvPr id="6" name="TextBox 5"/>
          <p:cNvSpPr txBox="1"/>
          <p:nvPr/>
        </p:nvSpPr>
        <p:spPr>
          <a:xfrm>
            <a:off x="365760" y="4133087"/>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“Grey level” — the number on a pixel</a:t>
            </a:r>
          </a:p>
        </p:txBody>
      </p:sp>
      <p:sp>
        <p:nvSpPr>
          <p:cNvPr id="7" name="TextBox 6"/>
          <p:cNvSpPr txBox="1"/>
          <p:nvPr/>
        </p:nvSpPr>
        <p:spPr>
          <a:xfrm>
            <a:off x="365760" y="4480560"/>
            <a:ext cx="3703320" cy="1691640"/>
          </a:xfrm>
          <a:prstGeom prst="rect">
            <a:avLst/>
          </a:prstGeom>
          <a:noFill/>
        </p:spPr>
        <p:txBody>
          <a:bodyPr wrap="square" lIns="45720" rIns="45720" tIns="18288" bIns="18288" anchor="t">
            <a:spAutoFit/>
          </a:bodyPr>
          <a:lstStyle/>
          <a:p>
            <a:pPr algn="l"/>
            <a:r>
              <a:rPr sz="960" b="0" i="0">
                <a:solidFill>
                  <a:srgbClr val="000000"/>
                </a:solidFill>
                <a:latin typeface="Calibri"/>
              </a:rPr>
              <a:t>•  The camera records no colour. Each pixel is ONE number: 0 is black, 255 is white, and everything between is a shade of grey.
•  The left panel is a real 8 × 6 corner of a frame with those numbers printed on it. Read across the top row and the marker's edge is visible as the numbers fall from 234 to 104.
•  Nothing is interpreted yet. This is just what the sensor wrote down.</a:t>
            </a:r>
          </a:p>
        </p:txBody>
      </p:sp>
      <p:sp>
        <p:nvSpPr>
          <p:cNvPr id="8" name="TextBox 7"/>
          <p:cNvSpPr txBox="1"/>
          <p:nvPr/>
        </p:nvSpPr>
        <p:spPr>
          <a:xfrm>
            <a:off x="4251960" y="4133087"/>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“Share of pixels” — a headcount</a:t>
            </a:r>
          </a:p>
        </p:txBody>
      </p:sp>
      <p:sp>
        <p:nvSpPr>
          <p:cNvPr id="9" name="TextBox 8"/>
          <p:cNvSpPr txBox="1"/>
          <p:nvPr/>
        </p:nvSpPr>
        <p:spPr>
          <a:xfrm>
            <a:off x="4251960" y="4480560"/>
            <a:ext cx="3703320" cy="1691640"/>
          </a:xfrm>
          <a:prstGeom prst="rect">
            <a:avLst/>
          </a:prstGeom>
          <a:noFill/>
        </p:spPr>
        <p:txBody>
          <a:bodyPr wrap="square" lIns="45720" rIns="45720" tIns="18288" bIns="18288" anchor="t">
            <a:spAutoFit/>
          </a:bodyPr>
          <a:lstStyle/>
          <a:p>
            <a:pPr algn="l"/>
            <a:r>
              <a:rPr sz="960" b="0" i="0">
                <a:solidFill>
                  <a:srgbClr val="000000"/>
                </a:solidFill>
                <a:latin typeface="Calibri"/>
              </a:rPr>
              <a:t>•  Go through every pixel in the picture and tally how many have each of the 256 numbers. That tally is the graph on the right.
•  The height is the SHARE: “this percentage of the picture is exactly this bright”.
•  The scale is logarithmic because the two markers are a fraction of one per cent of the pixels. On an ordinary scale the specimen body would be a spike and the markers would be an invisible flat line.</a:t>
            </a:r>
          </a:p>
        </p:txBody>
      </p:sp>
      <p:sp>
        <p:nvSpPr>
          <p:cNvPr id="10" name="TextBox 9"/>
          <p:cNvSpPr txBox="1"/>
          <p:nvPr/>
        </p:nvSpPr>
        <p:spPr>
          <a:xfrm>
            <a:off x="8138160" y="4133087"/>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Otsu does with it — plainly</a:t>
            </a:r>
          </a:p>
        </p:txBody>
      </p:sp>
      <p:sp>
        <p:nvSpPr>
          <p:cNvPr id="11" name="TextBox 10"/>
          <p:cNvSpPr txBox="1"/>
          <p:nvPr/>
        </p:nvSpPr>
        <p:spPr>
          <a:xfrm>
            <a:off x="8138160" y="4480560"/>
            <a:ext cx="3703320" cy="1691640"/>
          </a:xfrm>
          <a:prstGeom prst="rect">
            <a:avLst/>
          </a:prstGeom>
          <a:noFill/>
        </p:spPr>
        <p:txBody>
          <a:bodyPr wrap="square" lIns="45720" rIns="45720" tIns="18288" bIns="18288" anchor="t">
            <a:spAutoFit/>
          </a:bodyPr>
          <a:lstStyle/>
          <a:p>
            <a:pPr algn="l"/>
            <a:r>
              <a:rPr sz="960" b="0" i="0">
                <a:solidFill>
                  <a:srgbClr val="000000"/>
                </a:solidFill>
                <a:latin typeface="Calibri"/>
              </a:rPr>
              <a:t>•  It tries EVERY possible cut, 1 to 254, and for each one splits the pixels into a dark pile and a bright pile.
•  It keeps the cut where each pile is most alike INSIDE itself — where the two piles are most cleanly separated.
•  Like sorting a room of people into “short” and “tall”: you put the line where you get two tidy groups, not one where half the tall people end up with the short ones.
•  On this picture that lands at 131 — down in the valley, where few pixels live.</a:t>
            </a:r>
          </a:p>
        </p:txBody>
      </p:sp>
      <p:sp>
        <p:nvSpPr>
          <p:cNvPr id="12" name="Rectangle 11"/>
          <p:cNvSpPr/>
          <p:nvPr/>
        </p:nvSpPr>
        <p:spPr>
          <a:xfrm>
            <a:off x="365760" y="6272784"/>
            <a:ext cx="11475720" cy="329184"/>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valley is the whole point: a threshold put where hardly any pixels sit can drift a little without changing which side anything falls on.</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VALLEY ACTUALLY IS — READ OFF THE SPECIMEN</a:t>
            </a:r>
          </a:p>
        </p:txBody>
      </p:sp>
      <p:pic>
        <p:nvPicPr>
          <p:cNvPr id="5" name="Picture 4" descr="otsu_greymap.png"/>
          <p:cNvPicPr>
            <a:picLocks noChangeAspect="1"/>
          </p:cNvPicPr>
          <p:nvPr/>
        </p:nvPicPr>
        <p:blipFill>
          <a:blip r:embed="rId2"/>
          <a:stretch>
            <a:fillRect/>
          </a:stretch>
        </p:blipFill>
        <p:spPr>
          <a:xfrm>
            <a:off x="944645" y="896112"/>
            <a:ext cx="10272228" cy="3182112"/>
          </a:xfrm>
          <a:prstGeom prst="rect">
            <a:avLst/>
          </a:prstGeom>
        </p:spPr>
      </p:pic>
      <p:sp>
        <p:nvSpPr>
          <p:cNvPr id="6" name="TextBox 5"/>
          <p:cNvSpPr txBox="1"/>
          <p:nvPr/>
        </p:nvSpPr>
        <p:spPr>
          <a:xfrm>
            <a:off x="365760" y="4206240"/>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three bands, as things you can point at</a:t>
            </a:r>
          </a:p>
        </p:txBody>
      </p:sp>
      <p:sp>
        <p:nvSpPr>
          <p:cNvPr id="7" name="TextBox 6"/>
          <p:cNvSpPr txBox="1"/>
          <p:nvPr/>
        </p:nvSpPr>
        <p:spPr>
          <a:xfrm>
            <a:off x="365760" y="4553712"/>
            <a:ext cx="3703320" cy="1645920"/>
          </a:xfrm>
          <a:prstGeom prst="rect">
            <a:avLst/>
          </a:prstGeom>
          <a:noFill/>
        </p:spPr>
        <p:txBody>
          <a:bodyPr wrap="square" lIns="45720" rIns="45720" tIns="18288" bIns="18288" anchor="t">
            <a:spAutoFit/>
          </a:bodyPr>
          <a:lstStyle/>
          <a:p>
            <a:pPr algn="l"/>
            <a:r>
              <a:rPr sz="960" b="0" i="0">
                <a:solidFill>
                  <a:srgbClr val="000000"/>
                </a:solidFill>
                <a:latin typeface="Calibri"/>
              </a:rPr>
              <a:t>•  25–100, the big peak — the specimen and the field behind it. Plain body reads 79, a dark print line 68, the background 61.
•  Above 150 — the two spray dots (234 at centre) and the grips (229).
•  101–150, the valley — 2.73 % of the frame. Every ring in amber above is one of these, and none of them is an object.</a:t>
            </a:r>
          </a:p>
        </p:txBody>
      </p:sp>
      <p:sp>
        <p:nvSpPr>
          <p:cNvPr id="8" name="TextBox 7"/>
          <p:cNvSpPr txBox="1"/>
          <p:nvPr/>
        </p:nvSpPr>
        <p:spPr>
          <a:xfrm>
            <a:off x="4251960" y="4206240"/>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A correction worth making here</a:t>
            </a:r>
          </a:p>
        </p:txBody>
      </p:sp>
      <p:sp>
        <p:nvSpPr>
          <p:cNvPr id="9" name="TextBox 8"/>
          <p:cNvSpPr txBox="1"/>
          <p:nvPr/>
        </p:nvSpPr>
        <p:spPr>
          <a:xfrm>
            <a:off x="4251960" y="4553712"/>
            <a:ext cx="3703320" cy="1645920"/>
          </a:xfrm>
          <a:prstGeom prst="rect">
            <a:avLst/>
          </a:prstGeom>
          <a:noFill/>
        </p:spPr>
        <p:txBody>
          <a:bodyPr wrap="square" lIns="45720" rIns="45720" tIns="18288" bIns="18288" anchor="t">
            <a:spAutoFit/>
          </a:bodyPr>
          <a:lstStyle/>
          <a:p>
            <a:pPr algn="l"/>
            <a:r>
              <a:rPr sz="960" b="0" i="0">
                <a:solidFill>
                  <a:srgbClr val="000000"/>
                </a:solidFill>
                <a:latin typeface="Calibri"/>
              </a:rPr>
              <a:t>•  Calling the big peak “the specimen body” is a simplification. It is the specimen AND the dark field behind it.
•  Measured in the columns where both are visible: the body averages grey 79.3, the surround 66.4, and 99.6 % of BOTH fall in 25–100.
•  They are one peak because brightness cannot tell them apart — only position can. It does not matter here, because neither is anywhere near the cut.</a:t>
            </a:r>
          </a:p>
        </p:txBody>
      </p:sp>
      <p:sp>
        <p:nvSpPr>
          <p:cNvPr id="10" name="TextBox 9"/>
          <p:cNvSpPr txBox="1"/>
          <p:nvPr/>
        </p:nvSpPr>
        <p:spPr>
          <a:xfrm>
            <a:off x="8138160" y="4206240"/>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what IS in the valley?</a:t>
            </a:r>
          </a:p>
        </p:txBody>
      </p:sp>
      <p:sp>
        <p:nvSpPr>
          <p:cNvPr id="11" name="TextBox 10"/>
          <p:cNvSpPr txBox="1"/>
          <p:nvPr/>
        </p:nvSpPr>
        <p:spPr>
          <a:xfrm>
            <a:off x="8138160" y="4553712"/>
            <a:ext cx="3703320" cy="1645920"/>
          </a:xfrm>
          <a:prstGeom prst="rect">
            <a:avLst/>
          </a:prstGeom>
          <a:noFill/>
        </p:spPr>
        <p:txBody>
          <a:bodyPr wrap="square" lIns="45720" rIns="45720" tIns="18288" bIns="18288" anchor="t">
            <a:spAutoFit/>
          </a:bodyPr>
          <a:lstStyle/>
          <a:p>
            <a:pPr algn="l"/>
            <a:r>
              <a:rPr sz="960" b="0" i="0">
                <a:solidFill>
                  <a:srgbClr val="000000"/>
                </a:solidFill>
                <a:latin typeface="Calibri"/>
              </a:rPr>
              <a:t>•  Edges. A pixel lying across a boundary averages the bright side and the dark side, and the lens is not perfectly sharp — so a marker's rim reads 115 two pixels out, on its way from 234 to 79.
•  Glare. The grip is still at 150 some 98 px away from its own face.
•  One real oddity: a glint off a raised print artefact out on the gauge, peaking at 145. Next slide.</a:t>
            </a:r>
          </a:p>
        </p:txBody>
      </p:sp>
      <p:sp>
        <p:nvSpPr>
          <p:cNvPr id="12" name="Rectangle 11"/>
          <p:cNvSpPr/>
          <p:nvPr/>
        </p:nvSpPr>
        <p:spPr>
          <a:xfrm>
            <a:off x="365760" y="6272784"/>
            <a:ext cx="11475720" cy="329184"/>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Nothing in this scene IS mid-grey. The valley is what you get at the boundaries between the things that are — which is exactly why a threshold is safe there.</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VALLEY IS AN EDGE — AND MOSTLY THE GRIPS' EDGE</a:t>
            </a:r>
          </a:p>
        </p:txBody>
      </p:sp>
      <p:pic>
        <p:nvPicPr>
          <p:cNvPr id="5" name="Picture 4" descr="otsu_valley_where.png"/>
          <p:cNvPicPr>
            <a:picLocks noChangeAspect="1"/>
          </p:cNvPicPr>
          <p:nvPr/>
        </p:nvPicPr>
        <p:blipFill>
          <a:blip r:embed="rId2"/>
          <a:stretch>
            <a:fillRect/>
          </a:stretch>
        </p:blipFill>
        <p:spPr>
          <a:xfrm>
            <a:off x="1303020" y="896112"/>
            <a:ext cx="9555480" cy="3520440"/>
          </a:xfrm>
          <a:prstGeom prst="rect">
            <a:avLst/>
          </a:prstGeom>
        </p:spPr>
      </p:pic>
      <p:sp>
        <p:nvSpPr>
          <p:cNvPr id="6" name="TextBox 5"/>
          <p:cNvSpPr txBox="1"/>
          <p:nvPr/>
        </p:nvSpPr>
        <p:spPr>
          <a:xfrm>
            <a:off x="365760" y="457200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every valley pixel sits</a:t>
            </a:r>
          </a:p>
        </p:txBody>
      </p:sp>
      <p:graphicFrame>
        <p:nvGraphicFramePr>
          <p:cNvPr id="7" name="Table 6"/>
          <p:cNvGraphicFramePr>
            <a:graphicFrameLocks noGrp="1"/>
          </p:cNvGraphicFramePr>
          <p:nvPr/>
        </p:nvGraphicFramePr>
        <p:xfrm>
          <a:off x="365760" y="4919472"/>
          <a:ext cx="5532120" cy="1042415"/>
        </p:xfrm>
        <a:graphic>
          <a:graphicData uri="http://schemas.openxmlformats.org/drawingml/2006/table">
            <a:tbl>
              <a:tblPr firstRow="1" bandRow="1">
                <a:tableStyleId>{5C22544A-7EE6-4342-B048-85BDC9FD1C3A}</a:tableStyleId>
              </a:tblPr>
              <a:tblGrid>
                <a:gridCol w="1691640"/>
                <a:gridCol w="1417320"/>
                <a:gridCol w="2423160"/>
              </a:tblGrid>
              <a:tr h="260603">
                <a:tc>
                  <a:txBody>
                    <a:bodyPr lIns="54864" rIns="54864" tIns="18288" bIns="18288" wrap="square" anchor="ctr"/>
                    <a:lstStyle/>
                    <a:p>
                      <a:pPr algn="l"/>
                      <a:r>
                        <a:rPr sz="950" b="1">
                          <a:solidFill>
                            <a:srgbClr val="FFFFFF"/>
                          </a:solidFill>
                          <a:latin typeface="Calibri"/>
                        </a:rPr>
                        <a:t>Nearest bright object</a:t>
                      </a:r>
                    </a:p>
                  </a:txBody>
                  <a:tcPr>
                    <a:solidFill>
                      <a:srgbClr val="143D2F"/>
                    </a:solidFill>
                  </a:tcPr>
                </a:tc>
                <a:tc>
                  <a:txBody>
                    <a:bodyPr lIns="54864" rIns="54864" tIns="18288" bIns="18288" wrap="square" anchor="ctr"/>
                    <a:lstStyle/>
                    <a:p>
                      <a:pPr algn="l"/>
                      <a:r>
                        <a:rPr sz="950" b="1">
                          <a:solidFill>
                            <a:srgbClr val="FFFFFF"/>
                          </a:solidFill>
                          <a:latin typeface="Calibri"/>
                        </a:rPr>
                        <a:t>share of the valley</a:t>
                      </a:r>
                    </a:p>
                  </a:txBody>
                  <a:tcPr>
                    <a:solidFill>
                      <a:srgbClr val="143D2F"/>
                    </a:solidFill>
                  </a:tcPr>
                </a:tc>
                <a:tc>
                  <a:txBody>
                    <a:bodyPr lIns="54864" rIns="54864" tIns="18288" bIns="18288" wrap="square" anchor="ctr"/>
                    <a:lstStyle/>
                    <a:p>
                      <a:pPr algn="l"/>
                      <a:r>
                        <a:rPr sz="950" b="1">
                          <a:solidFill>
                            <a:srgbClr val="FFFFFF"/>
                          </a:solidFill>
                          <a:latin typeface="Calibri"/>
                        </a:rPr>
                        <a:t>what those pixels are</a:t>
                      </a:r>
                    </a:p>
                  </a:txBody>
                  <a:tcPr>
                    <a:solidFill>
                      <a:srgbClr val="143D2F"/>
                    </a:solidFill>
                  </a:tcPr>
                </a:tc>
              </a:tr>
              <a:tr h="260603">
                <a:tc>
                  <a:txBody>
                    <a:bodyPr lIns="54864" rIns="54864" tIns="18288" bIns="18288" wrap="square" anchor="ctr"/>
                    <a:lstStyle/>
                    <a:p>
                      <a:pPr algn="l"/>
                      <a:r>
                        <a:rPr sz="919" b="0">
                          <a:solidFill>
                            <a:srgbClr val="000000"/>
                          </a:solidFill>
                          <a:latin typeface="Calibri"/>
                        </a:rPr>
                        <a:t>a GRIP</a:t>
                      </a:r>
                    </a:p>
                  </a:txBody>
                  <a:tcPr/>
                </a:tc>
                <a:tc>
                  <a:txBody>
                    <a:bodyPr lIns="54864" rIns="54864" tIns="18288" bIns="18288" wrap="square" anchor="ctr"/>
                    <a:lstStyle/>
                    <a:p>
                      <a:pPr algn="l"/>
                      <a:r>
                        <a:rPr sz="919" b="1">
                          <a:solidFill>
                            <a:srgbClr val="000000"/>
                          </a:solidFill>
                          <a:latin typeface="Calibri"/>
                        </a:rPr>
                        <a:t>80.3 %</a:t>
                      </a:r>
                    </a:p>
                  </a:txBody>
                  <a:tcPr>
                    <a:solidFill>
                      <a:srgbClr val="FFCDD2"/>
                    </a:solidFill>
                  </a:tcPr>
                </a:tc>
                <a:tc>
                  <a:txBody>
                    <a:bodyPr lIns="54864" rIns="54864" tIns="18288" bIns="18288" wrap="square" anchor="ctr"/>
                    <a:lstStyle/>
                    <a:p>
                      <a:pPr algn="l"/>
                      <a:r>
                        <a:rPr sz="919" b="0">
                          <a:solidFill>
                            <a:srgbClr val="000000"/>
                          </a:solidFill>
                          <a:latin typeface="Calibri"/>
                        </a:rPr>
                        <a:t>glare along a long, bright edge</a:t>
                      </a:r>
                    </a:p>
                  </a:txBody>
                  <a:tcPr/>
                </a:tc>
              </a:tr>
              <a:tr h="260603">
                <a:tc>
                  <a:txBody>
                    <a:bodyPr lIns="54864" rIns="54864" tIns="18288" bIns="18288" wrap="square" anchor="ctr"/>
                    <a:lstStyle/>
                    <a:p>
                      <a:pPr algn="l"/>
                      <a:r>
                        <a:rPr sz="919" b="0">
                          <a:solidFill>
                            <a:srgbClr val="000000"/>
                          </a:solidFill>
                          <a:latin typeface="Calibri"/>
                        </a:rPr>
                        <a:t>a SPRAY DOT</a:t>
                      </a:r>
                    </a:p>
                  </a:txBody>
                  <a:tcPr/>
                </a:tc>
                <a:tc>
                  <a:txBody>
                    <a:bodyPr lIns="54864" rIns="54864" tIns="18288" bIns="18288" wrap="square" anchor="ctr"/>
                    <a:lstStyle/>
                    <a:p>
                      <a:pPr algn="l"/>
                      <a:r>
                        <a:rPr sz="919" b="1">
                          <a:solidFill>
                            <a:srgbClr val="000000"/>
                          </a:solidFill>
                          <a:latin typeface="Calibri"/>
                        </a:rPr>
                        <a:t>10.1 %</a:t>
                      </a:r>
                    </a:p>
                  </a:txBody>
                  <a:tcPr>
                    <a:solidFill>
                      <a:srgbClr val="C8E6C9"/>
                    </a:solidFill>
                  </a:tcPr>
                </a:tc>
                <a:tc>
                  <a:txBody>
                    <a:bodyPr lIns="54864" rIns="54864" tIns="18288" bIns="18288" wrap="square" anchor="ctr"/>
                    <a:lstStyle/>
                    <a:p>
                      <a:pPr algn="l"/>
                      <a:r>
                        <a:rPr sz="919" b="0">
                          <a:solidFill>
                            <a:srgbClr val="000000"/>
                          </a:solidFill>
                          <a:latin typeface="Calibri"/>
                        </a:rPr>
                        <a:t>the marker's own thin rim</a:t>
                      </a:r>
                    </a:p>
                  </a:txBody>
                  <a:tcPr/>
                </a:tc>
              </a:tr>
              <a:tr h="260606">
                <a:tc>
                  <a:txBody>
                    <a:bodyPr lIns="54864" rIns="54864" tIns="18288" bIns="18288" wrap="square" anchor="ctr"/>
                    <a:lstStyle/>
                    <a:p>
                      <a:pPr algn="l"/>
                      <a:r>
                        <a:rPr sz="919" b="0">
                          <a:solidFill>
                            <a:srgbClr val="000000"/>
                          </a:solidFill>
                          <a:latin typeface="Calibri"/>
                        </a:rPr>
                        <a:t>neither</a:t>
                      </a:r>
                    </a:p>
                  </a:txBody>
                  <a:tcPr/>
                </a:tc>
                <a:tc>
                  <a:txBody>
                    <a:bodyPr lIns="54864" rIns="54864" tIns="18288" bIns="18288" wrap="square" anchor="ctr"/>
                    <a:lstStyle/>
                    <a:p>
                      <a:pPr algn="l"/>
                      <a:r>
                        <a:rPr sz="919" b="0">
                          <a:solidFill>
                            <a:srgbClr val="000000"/>
                          </a:solidFill>
                          <a:latin typeface="Calibri"/>
                        </a:rPr>
                        <a:t>9.6 %</a:t>
                      </a:r>
                    </a:p>
                  </a:txBody>
                  <a:tcPr/>
                </a:tc>
                <a:tc>
                  <a:txBody>
                    <a:bodyPr lIns="54864" rIns="54864" tIns="18288" bIns="18288" wrap="square" anchor="ctr"/>
                    <a:lstStyle/>
                    <a:p>
                      <a:pPr algn="l"/>
                      <a:r>
                        <a:rPr sz="919" b="0">
                          <a:solidFill>
                            <a:srgbClr val="000000"/>
                          </a:solidFill>
                          <a:latin typeface="Calibri"/>
                        </a:rPr>
                        <a:t>glints on the print, sensor noise</a:t>
                      </a:r>
                    </a:p>
                  </a:txBody>
                  <a:tcPr/>
                </a:tc>
              </a:tr>
            </a:tbl>
          </a:graphicData>
        </a:graphic>
      </p:graphicFrame>
      <p:sp>
        <p:nvSpPr>
          <p:cNvPr id="8" name="TextBox 7"/>
          <p:cNvSpPr txBox="1"/>
          <p:nvPr/>
        </p:nvSpPr>
        <p:spPr>
          <a:xfrm>
            <a:off x="365760" y="5989320"/>
            <a:ext cx="5532120" cy="731520"/>
          </a:xfrm>
          <a:prstGeom prst="rect">
            <a:avLst/>
          </a:prstGeom>
          <a:noFill/>
        </p:spPr>
        <p:txBody>
          <a:bodyPr wrap="square" lIns="45720" rIns="45720" tIns="18288" bIns="18288" anchor="t">
            <a:spAutoFit/>
          </a:bodyPr>
          <a:lstStyle/>
          <a:p>
            <a:pPr algn="l"/>
            <a:r>
              <a:rPr sz="960" b="0" i="1">
                <a:solidFill>
                  <a:srgbClr val="707070"/>
                </a:solidFill>
                <a:latin typeface="Calibri"/>
              </a:rPr>
              <a:t>The markers contribute a tenth of it. If the valley looks mushy, that is the GRIPS being mushy — and the grips are exactly what the blob detector has to reject.</a:t>
            </a:r>
          </a:p>
        </p:txBody>
      </p:sp>
      <p:sp>
        <p:nvSpPr>
          <p:cNvPr id="9" name="TextBox 8"/>
          <p:cNvSpPr txBox="1"/>
          <p:nvPr/>
        </p:nvSpPr>
        <p:spPr>
          <a:xfrm>
            <a:off x="6172200" y="4572000"/>
            <a:ext cx="5669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grips own it — two factors, both measured</a:t>
            </a:r>
          </a:p>
        </p:txBody>
      </p:sp>
      <p:sp>
        <p:nvSpPr>
          <p:cNvPr id="10" name="TextBox 9"/>
          <p:cNvSpPr txBox="1"/>
          <p:nvPr/>
        </p:nvSpPr>
        <p:spPr>
          <a:xfrm>
            <a:off x="6172200" y="4919472"/>
            <a:ext cx="5669280" cy="1737360"/>
          </a:xfrm>
          <a:prstGeom prst="rect">
            <a:avLst/>
          </a:prstGeom>
          <a:noFill/>
        </p:spPr>
        <p:txBody>
          <a:bodyPr wrap="square" lIns="45720" rIns="45720" tIns="18288" bIns="18288" anchor="t">
            <a:spAutoFit/>
          </a:bodyPr>
          <a:lstStyle/>
          <a:p>
            <a:pPr algn="l"/>
            <a:r>
              <a:rPr sz="940" b="0" i="0">
                <a:solidFill>
                  <a:srgbClr val="000000"/>
                </a:solidFill>
                <a:latin typeface="Calibri"/>
              </a:rPr>
              <a:t>•  MORE EDGE. The grips have 2,370 px of outline against the two dots' 1,053 — 2.25×. Four big shapes cut by the frame beat two circles 125 px across.
•  A SOFTER EDGE. Out from a spray dot the grey is back under 100 within 2 px; out from a grip it takes 6 — 3.00×. Matte paint on matte plastic gives a crisp step; a bright specular face throws a skirt of glare.
•  Together 6.8×, against the 8.0× observed. The two factors are the bulk of it; the residual is glare reaching past where the width metric stops counting — not the same number, and not claimed as one.</a:t>
            </a:r>
          </a:p>
        </p:txBody>
      </p:sp>
      <p:sp>
        <p:nvSpPr>
          <p:cNvPr id="11" name="Rectangle 10"/>
          <p:cNvSpPr/>
          <p:nvPr/>
        </p:nvSpPr>
        <p:spPr>
          <a:xfrm>
            <a:off x="365760" y="6345936"/>
            <a:ext cx="11475720" cy="32918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This is the mechanism behind “six qualifying blobs, not two”: the grips are bright, large, and soft-edged, so they pass any threshold the markers pass.</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OTSU IS NOT A BLACK-SPECIMEN METHOD — IT WORKS ON WHITE TOO</a:t>
            </a:r>
          </a:p>
        </p:txBody>
      </p:sp>
      <p:pic>
        <p:nvPicPr>
          <p:cNvPr id="5" name="Picture 4" descr="otsu_polarity.png"/>
          <p:cNvPicPr>
            <a:picLocks noChangeAspect="1"/>
          </p:cNvPicPr>
          <p:nvPr/>
        </p:nvPicPr>
        <p:blipFill>
          <a:blip r:embed="rId2"/>
          <a:stretch>
            <a:fillRect/>
          </a:stretch>
        </p:blipFill>
        <p:spPr>
          <a:xfrm>
            <a:off x="320040" y="969264"/>
            <a:ext cx="5806440" cy="3782984"/>
          </a:xfrm>
          <a:prstGeom prst="rect">
            <a:avLst/>
          </a:prstGeom>
        </p:spPr>
      </p:pic>
      <p:sp>
        <p:nvSpPr>
          <p:cNvPr id="6" name="TextBox 5"/>
          <p:cNvSpPr txBox="1"/>
          <p:nvPr/>
        </p:nvSpPr>
        <p:spPr>
          <a:xfrm>
            <a:off x="365760" y="5029200"/>
            <a:ext cx="5760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every earlier example here was black</a:t>
            </a:r>
          </a:p>
        </p:txBody>
      </p:sp>
      <p:sp>
        <p:nvSpPr>
          <p:cNvPr id="7" name="TextBox 6"/>
          <p:cNvSpPr txBox="1"/>
          <p:nvPr/>
        </p:nvSpPr>
        <p:spPr>
          <a:xfrm>
            <a:off x="365760" y="5376672"/>
            <a:ext cx="5760720" cy="1188720"/>
          </a:xfrm>
          <a:prstGeom prst="rect">
            <a:avLst/>
          </a:prstGeom>
          <a:noFill/>
        </p:spPr>
        <p:txBody>
          <a:bodyPr wrap="square" lIns="45720" rIns="45720" tIns="18288" bIns="18288" anchor="t">
            <a:spAutoFit/>
          </a:bodyPr>
          <a:lstStyle/>
          <a:p>
            <a:pPr algn="l"/>
            <a:r>
              <a:rPr sz="960" b="0" i="0">
                <a:solidFill>
                  <a:srgbClr val="000000"/>
                </a:solidFill>
                <a:latin typeface="Calibri"/>
              </a:rPr>
              <a:t>•  Because that is where the measured evidence was — S13 and the abandoned PETG run. It was an accident of which specimens had saved frames, not a property of the method.
•  S24–S26 are light-bodied: mean grey ~172 against S13's 79. They have now been measured, and the claim is no longer resting on one polarity.</a:t>
            </a:r>
          </a:p>
        </p:txBody>
      </p:sp>
      <p:sp>
        <p:nvSpPr>
          <p:cNvPr id="8" name="TextBox 7"/>
          <p:cNvSpPr txBox="1"/>
          <p:nvPr/>
        </p:nvSpPr>
        <p:spPr>
          <a:xfrm>
            <a:off x="6400800" y="969264"/>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polarity and the rule are separate settings</a:t>
            </a:r>
          </a:p>
        </p:txBody>
      </p:sp>
      <p:sp>
        <p:nvSpPr>
          <p:cNvPr id="9" name="TextBox 8"/>
          <p:cNvSpPr txBox="1"/>
          <p:nvPr/>
        </p:nvSpPr>
        <p:spPr>
          <a:xfrm>
            <a:off x="6400800" y="1316736"/>
            <a:ext cx="5440680" cy="1298448"/>
          </a:xfrm>
          <a:prstGeom prst="rect">
            <a:avLst/>
          </a:prstGeom>
          <a:noFill/>
        </p:spPr>
        <p:txBody>
          <a:bodyPr wrap="square" lIns="45720" rIns="45720" tIns="18288" bIns="18288" anchor="t">
            <a:spAutoFit/>
          </a:bodyPr>
          <a:lstStyle/>
          <a:p>
            <a:pPr algn="l"/>
            <a:r>
              <a:rPr sz="960" b="0" i="0">
                <a:solidFill>
                  <a:srgbClr val="000000"/>
                </a:solidFill>
                <a:latin typeface="Calibri"/>
              </a:rPr>
              <a:t>•  The rig has a WHITE preset — THRESH_BINARY_INV, dark dots on a light body — beside the BLACK one.
•  Every Otsu call in the app does the same two steps: strip the flag, then re-apply it — base = type &amp; ~THRESH_OTSU, then base | THRESH_OTSU.
•  So Otsu supplies the LEVEL; BINARY vs BINARY_INV decides which side counts as “marker”. The two never interfere.</a:t>
            </a:r>
          </a:p>
        </p:txBody>
      </p:sp>
      <p:sp>
        <p:nvSpPr>
          <p:cNvPr id="10" name="TextBox 9"/>
          <p:cNvSpPr txBox="1"/>
          <p:nvPr/>
        </p:nvSpPr>
        <p:spPr>
          <a:xfrm>
            <a:off x="6400800" y="2743200"/>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Measured on four runs — and white has MORE room</a:t>
            </a:r>
          </a:p>
        </p:txBody>
      </p:sp>
      <p:graphicFrame>
        <p:nvGraphicFramePr>
          <p:cNvPr id="11" name="Table 10"/>
          <p:cNvGraphicFramePr>
            <a:graphicFrameLocks noGrp="1"/>
          </p:cNvGraphicFramePr>
          <p:nvPr/>
        </p:nvGraphicFramePr>
        <p:xfrm>
          <a:off x="6400800" y="3090672"/>
          <a:ext cx="5440679" cy="1271016"/>
        </p:xfrm>
        <a:graphic>
          <a:graphicData uri="http://schemas.openxmlformats.org/drawingml/2006/table">
            <a:tbl>
              <a:tblPr firstRow="1" bandRow="1">
                <a:tableStyleId>{5C22544A-7EE6-4342-B048-85BDC9FD1C3A}</a:tableStyleId>
              </a:tblPr>
              <a:tblGrid>
                <a:gridCol w="1417320"/>
                <a:gridCol w="868680"/>
                <a:gridCol w="777240"/>
                <a:gridCol w="777240"/>
                <a:gridCol w="1600199"/>
              </a:tblGrid>
              <a:tr h="254203">
                <a:tc>
                  <a:txBody>
                    <a:bodyPr lIns="54864" rIns="54864" tIns="18288" bIns="18288" wrap="square" anchor="ctr"/>
                    <a:lstStyle/>
                    <a:p>
                      <a:pPr algn="l"/>
                      <a:r>
                        <a:rPr sz="919" b="1">
                          <a:solidFill>
                            <a:srgbClr val="FFFFFF"/>
                          </a:solidFill>
                          <a:latin typeface="Calibri"/>
                        </a:rPr>
                        <a:t>Run</a:t>
                      </a:r>
                    </a:p>
                  </a:txBody>
                  <a:tcPr>
                    <a:solidFill>
                      <a:srgbClr val="143D2F"/>
                    </a:solidFill>
                  </a:tcPr>
                </a:tc>
                <a:tc>
                  <a:txBody>
                    <a:bodyPr lIns="54864" rIns="54864" tIns="18288" bIns="18288" wrap="square" anchor="ctr"/>
                    <a:lstStyle/>
                    <a:p>
                      <a:pPr algn="l"/>
                      <a:r>
                        <a:rPr sz="919" b="1">
                          <a:solidFill>
                            <a:srgbClr val="FFFFFF"/>
                          </a:solidFill>
                          <a:latin typeface="Calibri"/>
                        </a:rPr>
                        <a:t>marker</a:t>
                      </a:r>
                    </a:p>
                  </a:txBody>
                  <a:tcPr>
                    <a:solidFill>
                      <a:srgbClr val="143D2F"/>
                    </a:solidFill>
                  </a:tcPr>
                </a:tc>
                <a:tc>
                  <a:txBody>
                    <a:bodyPr lIns="54864" rIns="54864" tIns="18288" bIns="18288" wrap="square" anchor="ctr"/>
                    <a:lstStyle/>
                    <a:p>
                      <a:pPr algn="l"/>
                      <a:r>
                        <a:rPr sz="919" b="1">
                          <a:solidFill>
                            <a:srgbClr val="FFFFFF"/>
                          </a:solidFill>
                          <a:latin typeface="Calibri"/>
                        </a:rPr>
                        <a:t>body</a:t>
                      </a:r>
                    </a:p>
                  </a:txBody>
                  <a:tcPr>
                    <a:solidFill>
                      <a:srgbClr val="143D2F"/>
                    </a:solidFill>
                  </a:tcPr>
                </a:tc>
                <a:tc>
                  <a:txBody>
                    <a:bodyPr lIns="54864" rIns="54864" tIns="18288" bIns="18288" wrap="square" anchor="ctr"/>
                    <a:lstStyle/>
                    <a:p>
                      <a:pPr algn="l"/>
                      <a:r>
                        <a:rPr sz="919" b="1">
                          <a:solidFill>
                            <a:srgbClr val="FFFFFF"/>
                          </a:solidFill>
                          <a:latin typeface="Calibri"/>
                        </a:rPr>
                        <a:t>Otsu</a:t>
                      </a:r>
                    </a:p>
                  </a:txBody>
                  <a:tcPr>
                    <a:solidFill>
                      <a:srgbClr val="143D2F"/>
                    </a:solidFill>
                  </a:tcPr>
                </a:tc>
                <a:tc>
                  <a:txBody>
                    <a:bodyPr lIns="54864" rIns="54864" tIns="18288" bIns="18288" wrap="square" anchor="ctr"/>
                    <a:lstStyle/>
                    <a:p>
                      <a:pPr algn="l"/>
                      <a:r>
                        <a:rPr sz="919" b="1">
                          <a:solidFill>
                            <a:srgbClr val="FFFFFF"/>
                          </a:solidFill>
                          <a:latin typeface="Calibri"/>
                        </a:rPr>
                        <a:t>margin either side</a:t>
                      </a:r>
                    </a:p>
                  </a:txBody>
                  <a:tcPr>
                    <a:solidFill>
                      <a:srgbClr val="143D2F"/>
                    </a:solidFill>
                  </a:tcPr>
                </a:tc>
              </a:tr>
              <a:tr h="254203">
                <a:tc>
                  <a:txBody>
                    <a:bodyPr lIns="54864" rIns="54864" tIns="18288" bIns="18288" wrap="square" anchor="ctr"/>
                    <a:lstStyle/>
                    <a:p>
                      <a:pPr algn="l"/>
                      <a:r>
                        <a:rPr sz="900" b="0">
                          <a:solidFill>
                            <a:srgbClr val="000000"/>
                          </a:solidFill>
                          <a:latin typeface="Calibri"/>
                        </a:rPr>
                        <a:t>S24 · white</a:t>
                      </a:r>
                    </a:p>
                  </a:txBody>
                  <a:tcPr/>
                </a:tc>
                <a:tc>
                  <a:txBody>
                    <a:bodyPr lIns="54864" rIns="54864" tIns="18288" bIns="18288" wrap="square" anchor="ctr"/>
                    <a:lstStyle/>
                    <a:p>
                      <a:pPr algn="l"/>
                      <a:r>
                        <a:rPr sz="900" b="0">
                          <a:solidFill>
                            <a:srgbClr val="000000"/>
                          </a:solidFill>
                          <a:latin typeface="Calibri"/>
                        </a:rPr>
                        <a:t>110</a:t>
                      </a:r>
                    </a:p>
                  </a:txBody>
                  <a:tcPr/>
                </a:tc>
                <a:tc>
                  <a:txBody>
                    <a:bodyPr lIns="54864" rIns="54864" tIns="18288" bIns="18288" wrap="square" anchor="ctr"/>
                    <a:lstStyle/>
                    <a:p>
                      <a:pPr algn="l"/>
                      <a:r>
                        <a:rPr sz="900" b="0">
                          <a:solidFill>
                            <a:srgbClr val="000000"/>
                          </a:solidFill>
                          <a:latin typeface="Calibri"/>
                        </a:rPr>
                        <a:t>255</a:t>
                      </a:r>
                    </a:p>
                  </a:txBody>
                  <a:tcPr/>
                </a:tc>
                <a:tc>
                  <a:txBody>
                    <a:bodyPr lIns="54864" rIns="54864" tIns="18288" bIns="18288" wrap="square" anchor="ctr"/>
                    <a:lstStyle/>
                    <a:p>
                      <a:pPr algn="l"/>
                      <a:r>
                        <a:rPr sz="900" b="0">
                          <a:solidFill>
                            <a:srgbClr val="000000"/>
                          </a:solidFill>
                          <a:latin typeface="Calibri"/>
                        </a:rPr>
                        <a:t>157</a:t>
                      </a:r>
                    </a:p>
                  </a:txBody>
                  <a:tcPr/>
                </a:tc>
                <a:tc>
                  <a:txBody>
                    <a:bodyPr lIns="54864" rIns="54864" tIns="18288" bIns="18288" wrap="square" anchor="ctr"/>
                    <a:lstStyle/>
                    <a:p>
                      <a:pPr algn="l"/>
                      <a:r>
                        <a:rPr sz="900" b="0">
                          <a:solidFill>
                            <a:srgbClr val="000000"/>
                          </a:solidFill>
                          <a:latin typeface="Calibri"/>
                        </a:rPr>
                        <a:t>47  /  98</a:t>
                      </a:r>
                    </a:p>
                  </a:txBody>
                  <a:tcPr/>
                </a:tc>
              </a:tr>
              <a:tr h="254203">
                <a:tc>
                  <a:txBody>
                    <a:bodyPr lIns="54864" rIns="54864" tIns="18288" bIns="18288" wrap="square" anchor="ctr"/>
                    <a:lstStyle/>
                    <a:p>
                      <a:pPr algn="l"/>
                      <a:r>
                        <a:rPr sz="900" b="0">
                          <a:solidFill>
                            <a:srgbClr val="000000"/>
                          </a:solidFill>
                          <a:latin typeface="Calibri"/>
                        </a:rPr>
                        <a:t>S25 · white</a:t>
                      </a:r>
                    </a:p>
                  </a:txBody>
                  <a:tcPr/>
                </a:tc>
                <a:tc>
                  <a:txBody>
                    <a:bodyPr lIns="54864" rIns="54864" tIns="18288" bIns="18288" wrap="square" anchor="ctr"/>
                    <a:lstStyle/>
                    <a:p>
                      <a:pPr algn="l"/>
                      <a:r>
                        <a:rPr sz="900" b="0">
                          <a:solidFill>
                            <a:srgbClr val="000000"/>
                          </a:solidFill>
                          <a:latin typeface="Calibri"/>
                        </a:rPr>
                        <a:t>99</a:t>
                      </a:r>
                    </a:p>
                  </a:txBody>
                  <a:tcPr/>
                </a:tc>
                <a:tc>
                  <a:txBody>
                    <a:bodyPr lIns="54864" rIns="54864" tIns="18288" bIns="18288" wrap="square" anchor="ctr"/>
                    <a:lstStyle/>
                    <a:p>
                      <a:pPr algn="l"/>
                      <a:r>
                        <a:rPr sz="900" b="0">
                          <a:solidFill>
                            <a:srgbClr val="000000"/>
                          </a:solidFill>
                          <a:latin typeface="Calibri"/>
                        </a:rPr>
                        <a:t>255</a:t>
                      </a:r>
                    </a:p>
                  </a:txBody>
                  <a:tcPr/>
                </a:tc>
                <a:tc>
                  <a:txBody>
                    <a:bodyPr lIns="54864" rIns="54864" tIns="18288" bIns="18288" wrap="square" anchor="ctr"/>
                    <a:lstStyle/>
                    <a:p>
                      <a:pPr algn="l"/>
                      <a:r>
                        <a:rPr sz="900" b="0">
                          <a:solidFill>
                            <a:srgbClr val="000000"/>
                          </a:solidFill>
                          <a:latin typeface="Calibri"/>
                        </a:rPr>
                        <a:t>156</a:t>
                      </a:r>
                    </a:p>
                  </a:txBody>
                  <a:tcPr/>
                </a:tc>
                <a:tc>
                  <a:txBody>
                    <a:bodyPr lIns="54864" rIns="54864" tIns="18288" bIns="18288" wrap="square" anchor="ctr"/>
                    <a:lstStyle/>
                    <a:p>
                      <a:pPr algn="l"/>
                      <a:r>
                        <a:rPr sz="900" b="0">
                          <a:solidFill>
                            <a:srgbClr val="000000"/>
                          </a:solidFill>
                          <a:latin typeface="Calibri"/>
                        </a:rPr>
                        <a:t>57  /  99</a:t>
                      </a:r>
                    </a:p>
                  </a:txBody>
                  <a:tcPr/>
                </a:tc>
              </a:tr>
              <a:tr h="254203">
                <a:tc>
                  <a:txBody>
                    <a:bodyPr lIns="54864" rIns="54864" tIns="18288" bIns="18288" wrap="square" anchor="ctr"/>
                    <a:lstStyle/>
                    <a:p>
                      <a:pPr algn="l"/>
                      <a:r>
                        <a:rPr sz="900" b="0">
                          <a:solidFill>
                            <a:srgbClr val="000000"/>
                          </a:solidFill>
                          <a:latin typeface="Calibri"/>
                        </a:rPr>
                        <a:t>S26 · white</a:t>
                      </a:r>
                    </a:p>
                  </a:txBody>
                  <a:tcPr/>
                </a:tc>
                <a:tc>
                  <a:txBody>
                    <a:bodyPr lIns="54864" rIns="54864" tIns="18288" bIns="18288" wrap="square" anchor="ctr"/>
                    <a:lstStyle/>
                    <a:p>
                      <a:pPr algn="l"/>
                      <a:r>
                        <a:rPr sz="900" b="0">
                          <a:solidFill>
                            <a:srgbClr val="000000"/>
                          </a:solidFill>
                          <a:latin typeface="Calibri"/>
                        </a:rPr>
                        <a:t>112</a:t>
                      </a:r>
                    </a:p>
                  </a:txBody>
                  <a:tcPr/>
                </a:tc>
                <a:tc>
                  <a:txBody>
                    <a:bodyPr lIns="54864" rIns="54864" tIns="18288" bIns="18288" wrap="square" anchor="ctr"/>
                    <a:lstStyle/>
                    <a:p>
                      <a:pPr algn="l"/>
                      <a:r>
                        <a:rPr sz="900" b="0">
                          <a:solidFill>
                            <a:srgbClr val="000000"/>
                          </a:solidFill>
                          <a:latin typeface="Calibri"/>
                        </a:rPr>
                        <a:t>255</a:t>
                      </a:r>
                    </a:p>
                  </a:txBody>
                  <a:tcPr/>
                </a:tc>
                <a:tc>
                  <a:txBody>
                    <a:bodyPr lIns="54864" rIns="54864" tIns="18288" bIns="18288" wrap="square" anchor="ctr"/>
                    <a:lstStyle/>
                    <a:p>
                      <a:pPr algn="l"/>
                      <a:r>
                        <a:rPr sz="900" b="0">
                          <a:solidFill>
                            <a:srgbClr val="000000"/>
                          </a:solidFill>
                          <a:latin typeface="Calibri"/>
                        </a:rPr>
                        <a:t>158</a:t>
                      </a:r>
                    </a:p>
                  </a:txBody>
                  <a:tcPr/>
                </a:tc>
                <a:tc>
                  <a:txBody>
                    <a:bodyPr lIns="54864" rIns="54864" tIns="18288" bIns="18288" wrap="square" anchor="ctr"/>
                    <a:lstStyle/>
                    <a:p>
                      <a:pPr algn="l"/>
                      <a:r>
                        <a:rPr sz="900" b="0">
                          <a:solidFill>
                            <a:srgbClr val="000000"/>
                          </a:solidFill>
                          <a:latin typeface="Calibri"/>
                        </a:rPr>
                        <a:t>46  /  97</a:t>
                      </a:r>
                    </a:p>
                  </a:txBody>
                  <a:tcPr/>
                </a:tc>
              </a:tr>
              <a:tr h="254204">
                <a:tc>
                  <a:txBody>
                    <a:bodyPr lIns="54864" rIns="54864" tIns="18288" bIns="18288" wrap="square" anchor="ctr"/>
                    <a:lstStyle/>
                    <a:p>
                      <a:pPr algn="l"/>
                      <a:r>
                        <a:rPr sz="900" b="0">
                          <a:solidFill>
                            <a:srgbClr val="000000"/>
                          </a:solidFill>
                          <a:latin typeface="Calibri"/>
                        </a:rPr>
                        <a:t>S13 · black</a:t>
                      </a:r>
                    </a:p>
                  </a:txBody>
                  <a:tcPr/>
                </a:tc>
                <a:tc>
                  <a:txBody>
                    <a:bodyPr lIns="54864" rIns="54864" tIns="18288" bIns="18288" wrap="square" anchor="ctr"/>
                    <a:lstStyle/>
                    <a:p>
                      <a:pPr algn="l"/>
                      <a:r>
                        <a:rPr sz="900" b="0">
                          <a:solidFill>
                            <a:srgbClr val="000000"/>
                          </a:solidFill>
                          <a:latin typeface="Calibri"/>
                        </a:rPr>
                        <a:t>227</a:t>
                      </a:r>
                    </a:p>
                  </a:txBody>
                  <a:tcPr/>
                </a:tc>
                <a:tc>
                  <a:txBody>
                    <a:bodyPr lIns="54864" rIns="54864" tIns="18288" bIns="18288" wrap="square" anchor="ctr"/>
                    <a:lstStyle/>
                    <a:p>
                      <a:pPr algn="l"/>
                      <a:r>
                        <a:rPr sz="900" b="0">
                          <a:solidFill>
                            <a:srgbClr val="000000"/>
                          </a:solidFill>
                          <a:latin typeface="Calibri"/>
                        </a:rPr>
                        <a:t>65</a:t>
                      </a:r>
                    </a:p>
                  </a:txBody>
                  <a:tcPr/>
                </a:tc>
                <a:tc>
                  <a:txBody>
                    <a:bodyPr lIns="54864" rIns="54864" tIns="18288" bIns="18288" wrap="square" anchor="ctr"/>
                    <a:lstStyle/>
                    <a:p>
                      <a:pPr algn="l"/>
                      <a:r>
                        <a:rPr sz="900" b="0">
                          <a:solidFill>
                            <a:srgbClr val="000000"/>
                          </a:solidFill>
                          <a:latin typeface="Calibri"/>
                        </a:rPr>
                        <a:t>131</a:t>
                      </a:r>
                    </a:p>
                  </a:txBody>
                  <a:tcPr/>
                </a:tc>
                <a:tc>
                  <a:txBody>
                    <a:bodyPr lIns="54864" rIns="54864" tIns="18288" bIns="18288" wrap="square" anchor="ctr"/>
                    <a:lstStyle/>
                    <a:p>
                      <a:pPr algn="l"/>
                      <a:r>
                        <a:rPr sz="900" b="0">
                          <a:solidFill>
                            <a:srgbClr val="000000"/>
                          </a:solidFill>
                          <a:latin typeface="Calibri"/>
                        </a:rPr>
                        <a:t>66  /  96</a:t>
                      </a:r>
                    </a:p>
                  </a:txBody>
                  <a:tcPr/>
                </a:tc>
              </a:tr>
            </a:tbl>
          </a:graphicData>
        </a:graphic>
      </p:graphicFrame>
      <p:sp>
        <p:nvSpPr>
          <p:cNvPr id="12" name="TextBox 11"/>
          <p:cNvSpPr txBox="1"/>
          <p:nvPr/>
        </p:nvSpPr>
        <p:spPr>
          <a:xfrm>
            <a:off x="6400800" y="4498848"/>
            <a:ext cx="5440680" cy="1783080"/>
          </a:xfrm>
          <a:prstGeom prst="rect">
            <a:avLst/>
          </a:prstGeom>
          <a:noFill/>
        </p:spPr>
        <p:txBody>
          <a:bodyPr wrap="square" lIns="45720" rIns="45720" tIns="18288" bIns="18288" anchor="t">
            <a:spAutoFit/>
          </a:bodyPr>
          <a:lstStyle/>
          <a:p>
            <a:pPr algn="l"/>
            <a:r>
              <a:rPr sz="960" b="0" i="0">
                <a:solidFill>
                  <a:srgbClr val="000000"/>
                </a:solidFill>
                <a:latin typeface="Calibri"/>
              </a:rPr>
              <a:t>•  Otsu lands at 156–158 on all three white runs — as stable as the 131 it picks on black.
•  The white specimens give it MORE clearance, not less: the nearest margin is 46 grey levels against 66 on black.
•  So nothing about Otsu prefers a dark specimen. What differs is the SCENE, and that is the next slide.</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BUT OTSU NEVER LOOKS AT THE MARKERS — ON EITHER POLARITY</a:t>
            </a:r>
          </a:p>
        </p:txBody>
      </p:sp>
      <p:pic>
        <p:nvPicPr>
          <p:cNvPr id="5" name="Picture 4" descr="otsu_setby.png"/>
          <p:cNvPicPr>
            <a:picLocks noChangeAspect="1"/>
          </p:cNvPicPr>
          <p:nvPr/>
        </p:nvPicPr>
        <p:blipFill>
          <a:blip r:embed="rId2"/>
          <a:stretch>
            <a:fillRect/>
          </a:stretch>
        </p:blipFill>
        <p:spPr>
          <a:xfrm>
            <a:off x="320040" y="969264"/>
            <a:ext cx="5806440" cy="3123161"/>
          </a:xfrm>
          <a:prstGeom prst="rect">
            <a:avLst/>
          </a:prstGeom>
        </p:spPr>
      </p:pic>
      <p:sp>
        <p:nvSpPr>
          <p:cNvPr id="6" name="TextBox 5"/>
          <p:cNvSpPr txBox="1"/>
          <p:nvPr/>
        </p:nvSpPr>
        <p:spPr>
          <a:xfrm>
            <a:off x="365760" y="4736592"/>
            <a:ext cx="57607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test</a:t>
            </a:r>
          </a:p>
        </p:txBody>
      </p:sp>
      <p:sp>
        <p:nvSpPr>
          <p:cNvPr id="7" name="TextBox 6"/>
          <p:cNvSpPr txBox="1"/>
          <p:nvPr/>
        </p:nvSpPr>
        <p:spPr>
          <a:xfrm>
            <a:off x="365760" y="5084064"/>
            <a:ext cx="5760720" cy="1463040"/>
          </a:xfrm>
          <a:prstGeom prst="rect">
            <a:avLst/>
          </a:prstGeom>
          <a:noFill/>
        </p:spPr>
        <p:txBody>
          <a:bodyPr wrap="square" lIns="45720" rIns="45720" tIns="18288" bIns="18288" anchor="t">
            <a:spAutoFit/>
          </a:bodyPr>
          <a:lstStyle/>
          <a:p>
            <a:pPr algn="l"/>
            <a:r>
              <a:rPr sz="960" b="0" i="0">
                <a:solidFill>
                  <a:srgbClr val="000000"/>
                </a:solidFill>
                <a:latin typeface="Calibri"/>
              </a:rPr>
              <a:t>•  Paint the two markers out of the frame — fill them with the body's own grey — and recompute Otsu on the doctored picture.
•  If Otsu were choosing a marker/specimen boundary, deleting the markers would move it a long way. It moves by at most 3 grey levels, on all four runs.
•  The markers are 0.42–0.69 % of the frame. They cannot shift an optimum computed over the whole picture.</a:t>
            </a:r>
          </a:p>
        </p:txBody>
      </p:sp>
      <p:sp>
        <p:nvSpPr>
          <p:cNvPr id="8" name="TextBox 7"/>
          <p:cNvSpPr txBox="1"/>
          <p:nvPr/>
        </p:nvSpPr>
        <p:spPr>
          <a:xfrm>
            <a:off x="6400800" y="969264"/>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Otsu is actually separating</a:t>
            </a:r>
          </a:p>
        </p:txBody>
      </p:sp>
      <p:sp>
        <p:nvSpPr>
          <p:cNvPr id="9" name="TextBox 8"/>
          <p:cNvSpPr txBox="1"/>
          <p:nvPr/>
        </p:nvSpPr>
        <p:spPr>
          <a:xfrm>
            <a:off x="6400800" y="1316736"/>
            <a:ext cx="5440680" cy="1417320"/>
          </a:xfrm>
          <a:prstGeom prst="rect">
            <a:avLst/>
          </a:prstGeom>
          <a:noFill/>
        </p:spPr>
        <p:txBody>
          <a:bodyPr wrap="square" lIns="45720" rIns="45720" tIns="18288" bIns="18288" anchor="t">
            <a:spAutoFit/>
          </a:bodyPr>
          <a:lstStyle/>
          <a:p>
            <a:pPr algn="l"/>
            <a:r>
              <a:rPr sz="960" b="0" i="0">
                <a:solidFill>
                  <a:srgbClr val="000000"/>
                </a:solidFill>
                <a:latin typeface="Calibri"/>
              </a:rPr>
              <a:t>•  The two DOMINANT populations — and on this rig neither of them is a marker.
•  On a WHITE specimen: the bright body against the dark background.
•  On a BLACK specimen: the dark body against the bright grips.
•  The markers survive because they happen to land on the far side of a boundary that was chosen without reference to them.</a:t>
            </a:r>
          </a:p>
        </p:txBody>
      </p:sp>
      <p:sp>
        <p:nvSpPr>
          <p:cNvPr id="10" name="TextBox 9"/>
          <p:cNvSpPr txBox="1"/>
          <p:nvPr/>
        </p:nvSpPr>
        <p:spPr>
          <a:xfrm>
            <a:off x="6400800" y="2852928"/>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is the real reason not to default to it</a:t>
            </a:r>
          </a:p>
        </p:txBody>
      </p:sp>
      <p:sp>
        <p:nvSpPr>
          <p:cNvPr id="11" name="TextBox 10"/>
          <p:cNvSpPr txBox="1"/>
          <p:nvPr/>
        </p:nvSpPr>
        <p:spPr>
          <a:xfrm>
            <a:off x="6400800" y="3200400"/>
            <a:ext cx="5440680" cy="1645920"/>
          </a:xfrm>
          <a:prstGeom prst="rect">
            <a:avLst/>
          </a:prstGeom>
          <a:noFill/>
        </p:spPr>
        <p:txBody>
          <a:bodyPr wrap="square" lIns="45720" rIns="45720" tIns="18288" bIns="18288" anchor="t">
            <a:spAutoFit/>
          </a:bodyPr>
          <a:lstStyle/>
          <a:p>
            <a:pPr algn="l"/>
            <a:r>
              <a:rPr sz="960" b="0" i="0">
                <a:solidFill>
                  <a:srgbClr val="000000"/>
                </a:solidFill>
                <a:latin typeface="Calibri"/>
              </a:rPr>
              <a:t>•  The deck has said “Otsu follows the SCENE, not the markers”. This is the proof, and it is sharper than the PETG story alone.
•  Otsu was never optimising for the quantity that matters. Marker separation is a BY-PRODUCT of a specimen/background split.
•  On PETG the dominant populations shifted, the by-product went with them, and one marker fell under the cut on half the frames. Nothing warned anyone, because nothing in the algorithm was watching the markers.</a:t>
            </a:r>
          </a:p>
        </p:txBody>
      </p:sp>
      <p:sp>
        <p:nvSpPr>
          <p:cNvPr id="12" name="TextBox 11"/>
          <p:cNvSpPr txBox="1"/>
          <p:nvPr/>
        </p:nvSpPr>
        <p:spPr>
          <a:xfrm>
            <a:off x="6400800" y="4974336"/>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rig does instead</a:t>
            </a:r>
          </a:p>
        </p:txBody>
      </p:sp>
      <p:sp>
        <p:nvSpPr>
          <p:cNvPr id="13" name="TextBox 12"/>
          <p:cNvSpPr txBox="1"/>
          <p:nvPr/>
        </p:nvSpPr>
        <p:spPr>
          <a:xfrm>
            <a:off x="6400800" y="5321808"/>
            <a:ext cx="5440680" cy="960120"/>
          </a:xfrm>
          <a:prstGeom prst="rect">
            <a:avLst/>
          </a:prstGeom>
          <a:noFill/>
        </p:spPr>
        <p:txBody>
          <a:bodyPr wrap="square" lIns="45720" rIns="45720" tIns="18288" bIns="18288" anchor="t">
            <a:spAutoFit/>
          </a:bodyPr>
          <a:lstStyle/>
          <a:p>
            <a:pPr algn="l"/>
            <a:r>
              <a:rPr sz="960" b="0" i="0">
                <a:solidFill>
                  <a:srgbClr val="000000"/>
                </a:solidFill>
                <a:latin typeface="Calibri"/>
              </a:rPr>
              <a:t>•  A FIXED threshold does not follow the scene at all — it stays put and is wrong in a way you can predict.
•  Auto-calibrate sweeps fixed values AND Otsu, scores them on contrast margin — the thing Otsu ignores — and applies the winner.</a:t>
            </a:r>
          </a:p>
        </p:txBody>
      </p:sp>
      <p:sp>
        <p:nvSpPr>
          <p:cNvPr id="14" name="Rectangle 13"/>
          <p:cNvSpPr/>
          <p:nvPr/>
        </p:nvSpPr>
        <p:spPr>
          <a:xfrm>
            <a:off x="365760" y="6382512"/>
            <a:ext cx="11475720" cy="32918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margin is what protects the markers, and nothing inside Otsu is defending it.</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258</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OTSU ON THIS RIG — EVALUATED EVERY TIME, DEFAULTED TO NEVER</a:t>
            </a:r>
          </a:p>
        </p:txBody>
      </p:sp>
      <p:pic>
        <p:nvPicPr>
          <p:cNvPr id="5" name="Picture 4" descr="otsu_frame.png"/>
          <p:cNvPicPr>
            <a:picLocks noChangeAspect="1"/>
          </p:cNvPicPr>
          <p:nvPr/>
        </p:nvPicPr>
        <p:blipFill>
          <a:blip r:embed="rId2"/>
          <a:stretch>
            <a:fillRect/>
          </a:stretch>
        </p:blipFill>
        <p:spPr>
          <a:xfrm>
            <a:off x="320329" y="1005840"/>
            <a:ext cx="5805861" cy="3474720"/>
          </a:xfrm>
          <a:prstGeom prst="rect">
            <a:avLst/>
          </a:prstGeom>
        </p:spPr>
      </p:pic>
      <p:sp>
        <p:nvSpPr>
          <p:cNvPr id="6" name="TextBox 5"/>
          <p:cNvSpPr txBox="1"/>
          <p:nvPr/>
        </p:nvSpPr>
        <p:spPr>
          <a:xfrm>
            <a:off x="365760" y="4553712"/>
            <a:ext cx="5760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three strips show</a:t>
            </a:r>
          </a:p>
        </p:txBody>
      </p:sp>
      <p:sp>
        <p:nvSpPr>
          <p:cNvPr id="7" name="TextBox 6"/>
          <p:cNvSpPr txBox="1"/>
          <p:nvPr/>
        </p:nvSpPr>
        <p:spPr>
          <a:xfrm>
            <a:off x="365760" y="4901184"/>
            <a:ext cx="5760720" cy="1115568"/>
          </a:xfrm>
          <a:prstGeom prst="rect">
            <a:avLst/>
          </a:prstGeom>
          <a:noFill/>
        </p:spPr>
        <p:txBody>
          <a:bodyPr wrap="square" lIns="45720" rIns="45720" tIns="18288" bIns="18288" anchor="t">
            <a:spAutoFit/>
          </a:bodyPr>
          <a:lstStyle/>
          <a:p>
            <a:pPr algn="l"/>
            <a:r>
              <a:rPr sz="960" b="0" i="0">
                <a:solidFill>
                  <a:srgbClr val="000000"/>
                </a:solidFill>
                <a:latin typeface="Calibri"/>
              </a:rPr>
              <a:t>•  Both cuts find both markers on THIS specimen — the replay record is 99.8 % either way.
•  The grips are as bright as the dots and pass the same gates, so the frame yields six qualifying blobs, not two.
•  Otsu's lower cut blooms them wider, which is why the detector has to choose the pair rather than trust the count.</a:t>
            </a:r>
          </a:p>
        </p:txBody>
      </p:sp>
      <p:sp>
        <p:nvSpPr>
          <p:cNvPr id="8" name="TextBox 7"/>
          <p:cNvSpPr txBox="1"/>
          <p:nvPr/>
        </p:nvSpPr>
        <p:spPr>
          <a:xfrm>
            <a:off x="6400800" y="969264"/>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the rig DOES use it</a:t>
            </a:r>
          </a:p>
        </p:txBody>
      </p:sp>
      <p:sp>
        <p:nvSpPr>
          <p:cNvPr id="9" name="TextBox 8"/>
          <p:cNvSpPr txBox="1"/>
          <p:nvPr/>
        </p:nvSpPr>
        <p:spPr>
          <a:xfrm>
            <a:off x="6400800" y="1316736"/>
            <a:ext cx="5440680" cy="1188720"/>
          </a:xfrm>
          <a:prstGeom prst="rect">
            <a:avLst/>
          </a:prstGeom>
          <a:noFill/>
        </p:spPr>
        <p:txBody>
          <a:bodyPr wrap="square" lIns="45720" rIns="45720" tIns="18288" bIns="18288" anchor="t">
            <a:spAutoFit/>
          </a:bodyPr>
          <a:lstStyle/>
          <a:p>
            <a:pPr algn="l"/>
            <a:r>
              <a:rPr sz="960" b="0" i="0">
                <a:solidFill>
                  <a:srgbClr val="000000"/>
                </a:solidFill>
                <a:latin typeface="Calibri"/>
              </a:rPr>
              <a:t>•  It is a per-frame option in DIC camera setup — “Threshold automatically (Otsu)”.
•  Auto-calibrate scores it as a NAMED candidate against every swept fixed value, so the operator is told when Otsu wins rather than it being assumed either way.</a:t>
            </a:r>
          </a:p>
        </p:txBody>
      </p:sp>
      <p:sp>
        <p:nvSpPr>
          <p:cNvPr id="10" name="TextBox 9"/>
          <p:cNvSpPr txBox="1"/>
          <p:nvPr/>
        </p:nvSpPr>
        <p:spPr>
          <a:xfrm>
            <a:off x="6400800" y="2615184"/>
            <a:ext cx="5440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is not the default for black specimens</a:t>
            </a:r>
          </a:p>
        </p:txBody>
      </p:sp>
      <p:graphicFrame>
        <p:nvGraphicFramePr>
          <p:cNvPr id="11" name="Table 10"/>
          <p:cNvGraphicFramePr>
            <a:graphicFrameLocks noGrp="1"/>
          </p:cNvGraphicFramePr>
          <p:nvPr/>
        </p:nvGraphicFramePr>
        <p:xfrm>
          <a:off x="6400800" y="2962656"/>
          <a:ext cx="5440680" cy="1033271"/>
        </p:xfrm>
        <a:graphic>
          <a:graphicData uri="http://schemas.openxmlformats.org/drawingml/2006/table">
            <a:tbl>
              <a:tblPr firstRow="1" bandRow="1">
                <a:tableStyleId>{5C22544A-7EE6-4342-B048-85BDC9FD1C3A}</a:tableStyleId>
              </a:tblPr>
              <a:tblGrid>
                <a:gridCol w="2926080"/>
                <a:gridCol w="1234440"/>
                <a:gridCol w="1280160"/>
              </a:tblGrid>
              <a:tr h="344423">
                <a:tc>
                  <a:txBody>
                    <a:bodyPr lIns="54864" rIns="54864" tIns="18288" bIns="18288" wrap="square" anchor="ctr"/>
                    <a:lstStyle/>
                    <a:p>
                      <a:pPr algn="l"/>
                      <a:r>
                        <a:rPr sz="900" b="1">
                          <a:solidFill>
                            <a:srgbClr val="FFFFFF"/>
                          </a:solidFill>
                          <a:latin typeface="Calibri"/>
                        </a:rPr>
                        <a:t>Frames holding 2/2 markers</a:t>
                      </a:r>
                    </a:p>
                  </a:txBody>
                  <a:tcPr>
                    <a:solidFill>
                      <a:srgbClr val="143D2F"/>
                    </a:solidFill>
                  </a:tcPr>
                </a:tc>
                <a:tc>
                  <a:txBody>
                    <a:bodyPr lIns="54864" rIns="54864" tIns="18288" bIns="18288" wrap="square" anchor="ctr"/>
                    <a:lstStyle/>
                    <a:p>
                      <a:pPr algn="l"/>
                      <a:r>
                        <a:rPr sz="900" b="1">
                          <a:solidFill>
                            <a:srgbClr val="FFFFFF"/>
                          </a:solidFill>
                          <a:latin typeface="Calibri"/>
                        </a:rPr>
                        <a:t>Otsu</a:t>
                      </a:r>
                    </a:p>
                  </a:txBody>
                  <a:tcPr>
                    <a:solidFill>
                      <a:srgbClr val="143D2F"/>
                    </a:solidFill>
                  </a:tcPr>
                </a:tc>
                <a:tc>
                  <a:txBody>
                    <a:bodyPr lIns="54864" rIns="54864" tIns="18288" bIns="18288" wrap="square" anchor="ctr"/>
                    <a:lstStyle/>
                    <a:p>
                      <a:pPr algn="l"/>
                      <a:r>
                        <a:rPr sz="900" b="1">
                          <a:solidFill>
                            <a:srgbClr val="FFFFFF"/>
                          </a:solidFill>
                          <a:latin typeface="Calibri"/>
                        </a:rPr>
                        <a:t>fixed 149</a:t>
                      </a:r>
                    </a:p>
                  </a:txBody>
                  <a:tcPr>
                    <a:solidFill>
                      <a:srgbClr val="143D2F"/>
                    </a:solidFill>
                  </a:tcPr>
                </a:tc>
              </a:tr>
              <a:tr h="344423">
                <a:tc>
                  <a:txBody>
                    <a:bodyPr lIns="54864" rIns="54864" tIns="18288" bIns="18288" wrap="square" anchor="ctr"/>
                    <a:lstStyle/>
                    <a:p>
                      <a:pPr algn="l"/>
                      <a:r>
                        <a:rPr sz="900" b="0">
                          <a:solidFill>
                            <a:srgbClr val="000000"/>
                          </a:solidFill>
                          <a:latin typeface="Calibri"/>
                        </a:rPr>
                        <a:t>S29 · PETG — run abandoned</a:t>
                      </a:r>
                    </a:p>
                  </a:txBody>
                  <a:tcPr/>
                </a:tc>
                <a:tc>
                  <a:txBody>
                    <a:bodyPr lIns="54864" rIns="54864" tIns="18288" bIns="18288" wrap="square" anchor="ctr"/>
                    <a:lstStyle/>
                    <a:p>
                      <a:pPr algn="l"/>
                      <a:r>
                        <a:rPr sz="900" b="1">
                          <a:solidFill>
                            <a:srgbClr val="000000"/>
                          </a:solidFill>
                          <a:latin typeface="Calibri"/>
                        </a:rPr>
                        <a:t>48.5 %</a:t>
                      </a:r>
                    </a:p>
                  </a:txBody>
                  <a:tcPr>
                    <a:solidFill>
                      <a:srgbClr val="FFCDD2"/>
                    </a:solidFill>
                  </a:tcPr>
                </a:tc>
                <a:tc>
                  <a:txBody>
                    <a:bodyPr lIns="54864" rIns="54864" tIns="18288" bIns="18288" wrap="square" anchor="ctr"/>
                    <a:lstStyle/>
                    <a:p>
                      <a:pPr algn="l"/>
                      <a:r>
                        <a:rPr sz="900" b="1">
                          <a:solidFill>
                            <a:srgbClr val="000000"/>
                          </a:solidFill>
                          <a:latin typeface="Calibri"/>
                        </a:rPr>
                        <a:t>99.5 %</a:t>
                      </a:r>
                    </a:p>
                  </a:txBody>
                  <a:tcPr>
                    <a:solidFill>
                      <a:srgbClr val="C8E6C9"/>
                    </a:solidFill>
                  </a:tcPr>
                </a:tc>
              </a:tr>
              <a:tr h="344425">
                <a:tc>
                  <a:txBody>
                    <a:bodyPr lIns="54864" rIns="54864" tIns="18288" bIns="18288" wrap="square" anchor="ctr"/>
                    <a:lstStyle/>
                    <a:p>
                      <a:pPr algn="l"/>
                      <a:r>
                        <a:rPr sz="900" b="0">
                          <a:solidFill>
                            <a:srgbClr val="000000"/>
                          </a:solidFill>
                          <a:latin typeface="Calibri"/>
                        </a:rPr>
                        <a:t>S13 · black PLA</a:t>
                      </a:r>
                    </a:p>
                  </a:txBody>
                  <a:tcPr/>
                </a:tc>
                <a:tc>
                  <a:txBody>
                    <a:bodyPr lIns="54864" rIns="54864" tIns="18288" bIns="18288" wrap="square" anchor="ctr"/>
                    <a:lstStyle/>
                    <a:p>
                      <a:pPr algn="l"/>
                      <a:r>
                        <a:rPr sz="900" b="0">
                          <a:solidFill>
                            <a:srgbClr val="000000"/>
                          </a:solidFill>
                          <a:latin typeface="Calibri"/>
                        </a:rPr>
                        <a:t>99.8 %</a:t>
                      </a:r>
                    </a:p>
                  </a:txBody>
                  <a:tcPr/>
                </a:tc>
                <a:tc>
                  <a:txBody>
                    <a:bodyPr lIns="54864" rIns="54864" tIns="18288" bIns="18288" wrap="square" anchor="ctr"/>
                    <a:lstStyle/>
                    <a:p>
                      <a:pPr algn="l"/>
                      <a:r>
                        <a:rPr sz="900" b="0">
                          <a:solidFill>
                            <a:srgbClr val="000000"/>
                          </a:solidFill>
                          <a:latin typeface="Calibri"/>
                        </a:rPr>
                        <a:t>99.8 %</a:t>
                      </a:r>
                    </a:p>
                  </a:txBody>
                  <a:tcPr/>
                </a:tc>
              </a:tr>
            </a:tbl>
          </a:graphicData>
        </a:graphic>
      </p:graphicFrame>
      <p:sp>
        <p:nvSpPr>
          <p:cNvPr id="12" name="TextBox 11"/>
          <p:cNvSpPr txBox="1"/>
          <p:nvPr/>
        </p:nvSpPr>
        <p:spPr>
          <a:xfrm>
            <a:off x="6400800" y="3913632"/>
            <a:ext cx="5440680" cy="2011680"/>
          </a:xfrm>
          <a:prstGeom prst="rect">
            <a:avLst/>
          </a:prstGeom>
          <a:noFill/>
        </p:spPr>
        <p:txBody>
          <a:bodyPr wrap="square" lIns="45720" rIns="45720" tIns="18288" bIns="18288" anchor="t">
            <a:spAutoFit/>
          </a:bodyPr>
          <a:lstStyle/>
          <a:p>
            <a:pPr algn="l"/>
            <a:r>
              <a:rPr sz="960" b="0" i="0">
                <a:solidFill>
                  <a:srgbClr val="000000"/>
                </a:solidFill>
                <a:latin typeface="Calibri"/>
              </a:rPr>
              <a:t>•  Otsu recomputes from the WHOLE picture, so it follows the SCENE, not the markers.
•  The markers are a fraction of a per cent of the pixels — the very case Otsu's own literature flags, where the within-class variance swamps the between-class variance.
•  On black PLA it lands at 131 and works. On PETG — glossier, more translucent, brighter body — the histogram shifts and it lands at 127, three grey levels BELOW that specimen's 130–160 working band. One marker fell under the cut on half the frames.
•  Nothing was wrong with the markers, the ROI or the lighting. The RULE chose a value just outside the band that works.</a:t>
            </a:r>
          </a:p>
        </p:txBody>
      </p:sp>
      <p:sp>
        <p:nvSpPr>
          <p:cNvPr id="13" name="Rectangle 12"/>
          <p:cNvSpPr/>
          <p:nvPr/>
        </p:nvSpPr>
        <p:spPr>
          <a:xfrm>
            <a:off x="365760" y="6035040"/>
            <a:ext cx="11475720" cy="329184"/>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A fixed threshold is not better than Otsu — it is only STABLE. When the LEDs or the material change, re-run auto-calibrate: it sweeps both and applies the winner.</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Otsu's threshold measured on 120 S13 frames (documentation/scripts/otsu_data.py); the 48.5 / 99.5 / 99.8 rates are quoted from the project's replay validation over two full runs. Limitations per Otsu 1979 and its review literature.</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259</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THRESHOLD, BINARY, INTENSITY — WHAT EACH ONE IS ACTUALLY FOR</a:t>
            </a:r>
          </a:p>
        </p:txBody>
      </p:sp>
      <p:sp>
        <p:nvSpPr>
          <p:cNvPr id="5" name="TextBox 4"/>
          <p:cNvSpPr txBox="1"/>
          <p:nvPr/>
        </p:nvSpPr>
        <p:spPr>
          <a:xfrm>
            <a:off x="365760" y="932688"/>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different levels, often confused for three options</a:t>
            </a:r>
          </a:p>
        </p:txBody>
      </p:sp>
      <p:graphicFrame>
        <p:nvGraphicFramePr>
          <p:cNvPr id="6" name="Table 5"/>
          <p:cNvGraphicFramePr>
            <a:graphicFrameLocks noGrp="1"/>
          </p:cNvGraphicFramePr>
          <p:nvPr/>
        </p:nvGraphicFramePr>
        <p:xfrm>
          <a:off x="365760" y="1280160"/>
          <a:ext cx="11475718" cy="1271016"/>
        </p:xfrm>
        <a:graphic>
          <a:graphicData uri="http://schemas.openxmlformats.org/drawingml/2006/table">
            <a:tbl>
              <a:tblPr firstRow="1" bandRow="1">
                <a:tableStyleId>{5C22544A-7EE6-4342-B048-85BDC9FD1C3A}</a:tableStyleId>
              </a:tblPr>
              <a:tblGrid>
                <a:gridCol w="2697479"/>
                <a:gridCol w="3520440"/>
                <a:gridCol w="2697479"/>
                <a:gridCol w="2560320"/>
              </a:tblGrid>
              <a:tr h="317754">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What it decides</a:t>
                      </a:r>
                    </a:p>
                  </a:txBody>
                  <a:tcPr>
                    <a:solidFill>
                      <a:srgbClr val="143D2F"/>
                    </a:solidFill>
                  </a:tcPr>
                </a:tc>
                <a:tc>
                  <a:txBody>
                    <a:bodyPr lIns="54864" rIns="54864" tIns="18288" bIns="18288" wrap="square" anchor="ctr"/>
                    <a:lstStyle/>
                    <a:p>
                      <a:pPr algn="l"/>
                      <a:r>
                        <a:rPr sz="950" b="1">
                          <a:solidFill>
                            <a:srgbClr val="FFFFFF"/>
                          </a:solidFill>
                          <a:latin typeface="Calibri"/>
                        </a:rPr>
                        <a:t>What comes out</a:t>
                      </a:r>
                    </a:p>
                  </a:txBody>
                  <a:tcPr>
                    <a:solidFill>
                      <a:srgbClr val="143D2F"/>
                    </a:solidFill>
                  </a:tcPr>
                </a:tc>
                <a:tc>
                  <a:txBody>
                    <a:bodyPr lIns="54864" rIns="54864" tIns="18288" bIns="18288" wrap="square" anchor="ctr"/>
                    <a:lstStyle/>
                    <a:p>
                      <a:pPr algn="l"/>
                      <a:r>
                        <a:rPr sz="950" b="1">
                          <a:solidFill>
                            <a:srgbClr val="FFFFFF"/>
                          </a:solidFill>
                          <a:latin typeface="Calibri"/>
                        </a:rPr>
                        <a:t>Used here?</a:t>
                      </a:r>
                    </a:p>
                  </a:txBody>
                  <a:tcPr>
                    <a:solidFill>
                      <a:srgbClr val="143D2F"/>
                    </a:solidFill>
                  </a:tcPr>
                </a:tc>
              </a:tr>
              <a:tr h="317754">
                <a:tc>
                  <a:txBody>
                    <a:bodyPr lIns="54864" rIns="54864" tIns="18288" bIns="18288" wrap="square" anchor="ctr"/>
                    <a:lstStyle/>
                    <a:p>
                      <a:pPr algn="l"/>
                      <a:r>
                        <a:rPr sz="880" b="0">
                          <a:solidFill>
                            <a:srgbClr val="000000"/>
                          </a:solidFill>
                          <a:latin typeface="Calibri"/>
                        </a:rPr>
                        <a:t>THRESHOLDING RULE
fixed value · Otsu · auto-calibrate</a:t>
                      </a:r>
                    </a:p>
                  </a:txBody>
                  <a:tcPr/>
                </a:tc>
                <a:tc>
                  <a:txBody>
                    <a:bodyPr lIns="54864" rIns="54864" tIns="18288" bIns="18288" wrap="square" anchor="ctr"/>
                    <a:lstStyle/>
                    <a:p>
                      <a:pPr algn="l"/>
                      <a:r>
                        <a:rPr sz="880" b="0">
                          <a:solidFill>
                            <a:srgbClr val="000000"/>
                          </a:solidFill>
                          <a:latin typeface="Calibri"/>
                        </a:rPr>
                        <a:t>ONE number: the grey level that splits bright from dark</a:t>
                      </a:r>
                    </a:p>
                  </a:txBody>
                  <a:tcPr/>
                </a:tc>
                <a:tc>
                  <a:txBody>
                    <a:bodyPr lIns="54864" rIns="54864" tIns="18288" bIns="18288" wrap="square" anchor="ctr"/>
                    <a:lstStyle/>
                    <a:p>
                      <a:pPr algn="l"/>
                      <a:r>
                        <a:rPr sz="880" b="0">
                          <a:solidFill>
                            <a:srgbClr val="000000"/>
                          </a:solidFill>
                          <a:latin typeface="Calibri"/>
                        </a:rPr>
                        <a:t>a single threshold, per run or per frame</a:t>
                      </a:r>
                    </a:p>
                  </a:txBody>
                  <a:tcPr/>
                </a:tc>
                <a:tc>
                  <a:txBody>
                    <a:bodyPr lIns="54864" rIns="54864" tIns="18288" bIns="18288" wrap="square" anchor="ctr"/>
                    <a:lstStyle/>
                    <a:p>
                      <a:pPr algn="l"/>
                      <a:r>
                        <a:rPr sz="880" b="0">
                          <a:solidFill>
                            <a:srgbClr val="000000"/>
                          </a:solidFill>
                          <a:latin typeface="Calibri"/>
                        </a:rPr>
                        <a:t>YES — fixed by default, Otsu offered and scored</a:t>
                      </a:r>
                    </a:p>
                  </a:txBody>
                  <a:tcPr>
                    <a:solidFill>
                      <a:srgbClr val="C8E6C9"/>
                    </a:solidFill>
                  </a:tcPr>
                </a:tc>
              </a:tr>
              <a:tr h="317754">
                <a:tc>
                  <a:txBody>
                    <a:bodyPr lIns="54864" rIns="54864" tIns="18288" bIns="18288" wrap="square" anchor="ctr"/>
                    <a:lstStyle/>
                    <a:p>
                      <a:pPr algn="l"/>
                      <a:r>
                        <a:rPr sz="880" b="0">
                          <a:solidFill>
                            <a:srgbClr val="000000"/>
                          </a:solidFill>
                          <a:latin typeface="Calibri"/>
                        </a:rPr>
                        <a:t>BINARY / blob method</a:t>
                      </a:r>
                    </a:p>
                  </a:txBody>
                  <a:tcPr/>
                </a:tc>
                <a:tc>
                  <a:txBody>
                    <a:bodyPr lIns="54864" rIns="54864" tIns="18288" bIns="18288" wrap="square" anchor="ctr"/>
                    <a:lstStyle/>
                    <a:p>
                      <a:pPr algn="l"/>
                      <a:r>
                        <a:rPr sz="880" b="0">
                          <a:solidFill>
                            <a:srgbClr val="000000"/>
                          </a:solidFill>
                          <a:latin typeface="Calibri"/>
                        </a:rPr>
                        <a:t>which shapes past that cut are markers — by area, circularity, pairing</a:t>
                      </a:r>
                    </a:p>
                  </a:txBody>
                  <a:tcPr/>
                </a:tc>
                <a:tc>
                  <a:txBody>
                    <a:bodyPr lIns="54864" rIns="54864" tIns="18288" bIns="18288" wrap="square" anchor="ctr"/>
                    <a:lstStyle/>
                    <a:p>
                      <a:pPr algn="l"/>
                      <a:r>
                        <a:rPr sz="880" b="0">
                          <a:solidFill>
                            <a:srgbClr val="000000"/>
                          </a:solidFill>
                          <a:latin typeface="Calibri"/>
                        </a:rPr>
                        <a:t>two centroids → one axial strain</a:t>
                      </a:r>
                    </a:p>
                  </a:txBody>
                  <a:tcPr/>
                </a:tc>
                <a:tc>
                  <a:txBody>
                    <a:bodyPr lIns="54864" rIns="54864" tIns="18288" bIns="18288" wrap="square" anchor="ctr"/>
                    <a:lstStyle/>
                    <a:p>
                      <a:pPr algn="l"/>
                      <a:r>
                        <a:rPr sz="880" b="0">
                          <a:solidFill>
                            <a:srgbClr val="000000"/>
                          </a:solidFill>
                          <a:latin typeface="Calibri"/>
                        </a:rPr>
                        <a:t>YES — this is what the PPD-UTM measures with</a:t>
                      </a:r>
                    </a:p>
                  </a:txBody>
                  <a:tcPr>
                    <a:solidFill>
                      <a:srgbClr val="C8E6C9"/>
                    </a:solidFill>
                  </a:tcPr>
                </a:tc>
              </a:tr>
              <a:tr h="317754">
                <a:tc>
                  <a:txBody>
                    <a:bodyPr lIns="54864" rIns="54864" tIns="18288" bIns="18288" wrap="square" anchor="ctr"/>
                    <a:lstStyle/>
                    <a:p>
                      <a:pPr algn="l"/>
                      <a:r>
                        <a:rPr sz="880" b="0">
                          <a:solidFill>
                            <a:srgbClr val="000000"/>
                          </a:solidFill>
                          <a:latin typeface="Calibri"/>
                        </a:rPr>
                        <a:t>INTENSITY methods
weighted centroid · full correlation</a:t>
                      </a:r>
                    </a:p>
                  </a:txBody>
                  <a:tcPr/>
                </a:tc>
                <a:tc>
                  <a:txBody>
                    <a:bodyPr lIns="54864" rIns="54864" tIns="18288" bIns="18288" wrap="square" anchor="ctr"/>
                    <a:lstStyle/>
                    <a:p>
                      <a:pPr algn="l"/>
                      <a:r>
                        <a:rPr sz="880" b="0">
                          <a:solidFill>
                            <a:srgbClr val="000000"/>
                          </a:solidFill>
                          <a:latin typeface="Calibri"/>
                        </a:rPr>
                        <a:t>position from the grey levels themselves — no cut at all</a:t>
                      </a:r>
                    </a:p>
                  </a:txBody>
                  <a:tcPr/>
                </a:tc>
                <a:tc>
                  <a:txBody>
                    <a:bodyPr lIns="54864" rIns="54864" tIns="18288" bIns="18288" wrap="square" anchor="ctr"/>
                    <a:lstStyle/>
                    <a:p>
                      <a:pPr algn="l"/>
                      <a:r>
                        <a:rPr sz="880" b="0">
                          <a:solidFill>
                            <a:srgbClr val="000000"/>
                          </a:solidFill>
                          <a:latin typeface="Calibri"/>
                        </a:rPr>
                        <a:t>sub-pixel centres, or a whole displacement FIELD</a:t>
                      </a:r>
                    </a:p>
                  </a:txBody>
                  <a:tcPr/>
                </a:tc>
                <a:tc>
                  <a:txBody>
                    <a:bodyPr lIns="54864" rIns="54864" tIns="18288" bIns="18288" wrap="square" anchor="ctr"/>
                    <a:lstStyle/>
                    <a:p>
                      <a:pPr algn="l"/>
                      <a:r>
                        <a:rPr sz="880" b="0">
                          <a:solidFill>
                            <a:srgbClr val="000000"/>
                          </a:solidFill>
                          <a:latin typeface="Calibri"/>
                        </a:rPr>
                        <a:t>NO — measured below, and the reason</a:t>
                      </a:r>
                    </a:p>
                  </a:txBody>
                  <a:tcPr>
                    <a:solidFill>
                      <a:srgbClr val="FFF3CD"/>
                    </a:solidFill>
                  </a:tcPr>
                </a:tc>
              </a:tr>
            </a:tbl>
          </a:graphicData>
        </a:graphic>
      </p:graphicFrame>
      <p:sp>
        <p:nvSpPr>
          <p:cNvPr id="7" name="TextBox 6"/>
          <p:cNvSpPr txBox="1"/>
          <p:nvPr/>
        </p:nvSpPr>
        <p:spPr>
          <a:xfrm>
            <a:off x="365760" y="2816352"/>
            <a:ext cx="11475720" cy="292608"/>
          </a:xfrm>
          <a:prstGeom prst="rect">
            <a:avLst/>
          </a:prstGeom>
          <a:noFill/>
        </p:spPr>
        <p:txBody>
          <a:bodyPr wrap="square" lIns="45720" rIns="45720" tIns="18288" bIns="18288" anchor="t">
            <a:spAutoFit/>
          </a:bodyPr>
          <a:lstStyle/>
          <a:p>
            <a:pPr algn="l"/>
            <a:r>
              <a:rPr sz="1000" b="0" i="1">
                <a:solidFill>
                  <a:srgbClr val="707070"/>
                </a:solidFill>
                <a:latin typeface="Calibri"/>
              </a:rPr>
              <a:t>So Otsu is not an alternative to “the binary method” — it is a rule INSIDE it. Its only alternatives are a fixed number or the swept value auto-calibrate picks.</a:t>
            </a:r>
          </a:p>
        </p:txBody>
      </p:sp>
      <p:pic>
        <p:nvPicPr>
          <p:cNvPr id="8" name="Picture 7" descr="otsu_methods.png"/>
          <p:cNvPicPr>
            <a:picLocks noChangeAspect="1"/>
          </p:cNvPicPr>
          <p:nvPr/>
        </p:nvPicPr>
        <p:blipFill>
          <a:blip r:embed="rId2"/>
          <a:stretch>
            <a:fillRect/>
          </a:stretch>
        </p:blipFill>
        <p:spPr>
          <a:xfrm>
            <a:off x="646453" y="3145536"/>
            <a:ext cx="5016453" cy="2670048"/>
          </a:xfrm>
          <a:prstGeom prst="rect">
            <a:avLst/>
          </a:prstGeom>
        </p:spPr>
      </p:pic>
      <p:sp>
        <p:nvSpPr>
          <p:cNvPr id="9" name="TextBox 8"/>
          <p:cNvSpPr txBox="1"/>
          <p:nvPr/>
        </p:nvSpPr>
        <p:spPr>
          <a:xfrm>
            <a:off x="6217920" y="312724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keeping the grey levels would buy</a:t>
            </a:r>
          </a:p>
        </p:txBody>
      </p:sp>
      <p:sp>
        <p:nvSpPr>
          <p:cNvPr id="10" name="TextBox 9"/>
          <p:cNvSpPr txBox="1"/>
          <p:nvPr/>
        </p:nvSpPr>
        <p:spPr>
          <a:xfrm>
            <a:off x="6217920" y="3474720"/>
            <a:ext cx="5623560" cy="1481328"/>
          </a:xfrm>
          <a:prstGeom prst="rect">
            <a:avLst/>
          </a:prstGeom>
          <a:noFill/>
        </p:spPr>
        <p:txBody>
          <a:bodyPr wrap="square" lIns="45720" rIns="45720" tIns="18288" bIns="18288" anchor="t">
            <a:spAutoFit/>
          </a:bodyPr>
          <a:lstStyle/>
          <a:p>
            <a:pPr algn="l"/>
            <a:r>
              <a:rPr sz="940" b="0" i="0">
                <a:solidFill>
                  <a:srgbClr val="000000"/>
                </a:solidFill>
                <a:latin typeface="Calibri"/>
              </a:rPr>
              <a:t>•  The rig throws the grey levels away at the threshold: every pixel inside the blob counts 1, every pixel outside 0, and the centroid is the contour's moments.
•  Weighting each pixel by its contrast instead cuts frame-to-frame jitter by 1.09× on black and 1.31–2.06× on white. Real, and not transformative.
•  Jitter about a 9-frame local trend — NOT the noise floor, which also carries drift.</a:t>
            </a:r>
          </a:p>
        </p:txBody>
      </p:sp>
      <p:sp>
        <p:nvSpPr>
          <p:cNvPr id="11" name="TextBox 10"/>
          <p:cNvSpPr txBox="1"/>
          <p:nvPr/>
        </p:nvSpPr>
        <p:spPr>
          <a:xfrm>
            <a:off x="6217920" y="50292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full correlation DIC is a different animal</a:t>
            </a:r>
          </a:p>
        </p:txBody>
      </p:sp>
      <p:sp>
        <p:nvSpPr>
          <p:cNvPr id="12" name="TextBox 11"/>
          <p:cNvSpPr txBox="1"/>
          <p:nvPr/>
        </p:nvSpPr>
        <p:spPr>
          <a:xfrm>
            <a:off x="6217920" y="5376672"/>
            <a:ext cx="5623560" cy="1188720"/>
          </a:xfrm>
          <a:prstGeom prst="rect">
            <a:avLst/>
          </a:prstGeom>
          <a:noFill/>
        </p:spPr>
        <p:txBody>
          <a:bodyPr wrap="square" lIns="45720" rIns="45720" tIns="18288" bIns="18288" anchor="t">
            <a:spAutoFit/>
          </a:bodyPr>
          <a:lstStyle/>
          <a:p>
            <a:pPr algn="l"/>
            <a:r>
              <a:rPr sz="940" b="0" i="0">
                <a:solidFill>
                  <a:srgbClr val="000000"/>
                </a:solidFill>
                <a:latin typeface="Calibri"/>
              </a:rPr>
              <a:t>•  It never thresholds. It matches the grey-level pattern of small subsets between frames, so it needs a random speckle over the whole gauge — not two dots — and returns a strain FIELD that shows necking and localisation.
•  On this rig it would have nothing to match: 38.6–40.8 % of every white frame sits at exactly 255. The body is CLIPPED, so it carries no pattern to correlate. Exposure would have to come down first.</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Jitter measured over 250 consecutive frames per run at 1/5 through the pull, on the frame as the camera delivers it (documentation/scripts/otsu_modes.py). Detection rates are quoted, never re-derived.</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260</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SF13 · GUIDED WIZARD — NINE OF NINE, ON A REAL RUN</a:t>
            </a:r>
          </a:p>
        </p:txBody>
      </p:sp>
      <p:pic>
        <p:nvPicPr>
          <p:cNvPr id="5" name="Picture 4" descr="UTM_GuidedWizard.png"/>
          <p:cNvPicPr>
            <a:picLocks noChangeAspect="1"/>
          </p:cNvPicPr>
          <p:nvPr/>
        </p:nvPicPr>
        <p:blipFill>
          <a:blip r:embed="rId2"/>
          <a:stretch>
            <a:fillRect/>
          </a:stretch>
        </p:blipFill>
        <p:spPr>
          <a:xfrm>
            <a:off x="1037173" y="1207008"/>
            <a:ext cx="2040453" cy="4571998"/>
          </a:xfrm>
          <a:prstGeom prst="rect">
            <a:avLst/>
          </a:prstGeom>
        </p:spPr>
      </p:pic>
      <p:sp>
        <p:nvSpPr>
          <p:cNvPr id="6" name="TextBox 5"/>
          <p:cNvSpPr txBox="1"/>
          <p:nvPr/>
        </p:nvSpPr>
        <p:spPr>
          <a:xfrm>
            <a:off x="4023360" y="1234440"/>
            <a:ext cx="37490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is reading</a:t>
            </a:r>
          </a:p>
        </p:txBody>
      </p:sp>
      <p:sp>
        <p:nvSpPr>
          <p:cNvPr id="7" name="TextBox 6"/>
          <p:cNvSpPr txBox="1"/>
          <p:nvPr/>
        </p:nvSpPr>
        <p:spPr>
          <a:xfrm>
            <a:off x="4023360" y="1600200"/>
            <a:ext cx="3749039" cy="4114800"/>
          </a:xfrm>
          <a:prstGeom prst="rect">
            <a:avLst/>
          </a:prstGeom>
          <a:noFill/>
        </p:spPr>
        <p:txBody>
          <a:bodyPr wrap="square" lIns="45720" rIns="45720" tIns="18288" bIns="18288" anchor="t">
            <a:spAutoFit/>
          </a:bodyPr>
          <a:lstStyle/>
          <a:p>
            <a:pPr algn="l"/>
            <a:r>
              <a:rPr sz="940" b="0" i="0">
                <a:solidFill>
                  <a:srgbClr val="000000"/>
                </a:solidFill>
                <a:latin typeface="Calibri"/>
              </a:rPr>
              <a:t>Nothing new is measured. Every line is a flag the app already had, put in the order the steps must happen:
•  serial link open
•  motors enabled
•  camera running, 2/2 markers
•  data streams on
•  specimen mode chosen
•  auto-calibrate run for THIS specimen
•  preload applied — 311 N now
•  Px₀ frozen — 1648.2 px @ 305 N
•  Prepare test done
•  frame capture armed (optional)
•  the run itself — 2 522 samples
•  data saved, with the path
The grey dots are the two OPTIONAL steps. They never block, and they never turn green.</a:t>
            </a:r>
          </a:p>
        </p:txBody>
      </p:sp>
      <p:sp>
        <p:nvSpPr>
          <p:cNvPr id="8" name="TextBox 7"/>
          <p:cNvSpPr txBox="1"/>
          <p:nvPr/>
        </p:nvSpPr>
        <p:spPr>
          <a:xfrm>
            <a:off x="8092440" y="1234440"/>
            <a:ext cx="3749039"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ORDER is the feature</a:t>
            </a:r>
          </a:p>
        </p:txBody>
      </p:sp>
      <p:sp>
        <p:nvSpPr>
          <p:cNvPr id="9" name="TextBox 8"/>
          <p:cNvSpPr txBox="1"/>
          <p:nvPr/>
        </p:nvSpPr>
        <p:spPr>
          <a:xfrm>
            <a:off x="8092440" y="1600200"/>
            <a:ext cx="3749039" cy="4114800"/>
          </a:xfrm>
          <a:prstGeom prst="rect">
            <a:avLst/>
          </a:prstGeom>
          <a:noFill/>
        </p:spPr>
        <p:txBody>
          <a:bodyPr wrap="square" lIns="45720" rIns="45720" tIns="18288" bIns="18288" anchor="t">
            <a:spAutoFit/>
          </a:bodyPr>
          <a:lstStyle/>
          <a:p>
            <a:pPr algn="l"/>
            <a:r>
              <a:rPr sz="940" b="0" i="0">
                <a:solidFill>
                  <a:srgbClr val="000000"/>
                </a:solidFill>
                <a:latin typeface="Calibri"/>
              </a:rPr>
              <a:t>Three of these steps are order-dependent and each has already cost a run somewhere in this deck:
•  Auto-calibrate BEFORE arming capture — the speckle video follows the camera settings.
•  Px₀ AFTER preload — freeze it unloaded and every strain in the test is measured from the wrong zero.
•  Prepare test AFTER Px₀ — it tares the FORCE, so the load the freeze happened at can no longer be read back.
The panel shows Px₀ frozen at 305 N with the preload reading 311 N: the right order, self-evidently, without the operator having to remember it.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 the wizard at the end of a completed run (UTM_Test_20260822_180547.csv). Optional and off by default.</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261</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SF17 · VIDEO + IMAGE CAPTURE — WHAT THE OPERATOR CHOOSES</a:t>
            </a:r>
          </a:p>
        </p:txBody>
      </p:sp>
      <p:pic>
        <p:nvPicPr>
          <p:cNvPr id="5" name="Picture 4" descr="UTM_capture_setup.png"/>
          <p:cNvPicPr>
            <a:picLocks noChangeAspect="1"/>
          </p:cNvPicPr>
          <p:nvPr/>
        </p:nvPicPr>
        <p:blipFill>
          <a:blip r:embed="rId2"/>
          <a:stretch>
            <a:fillRect/>
          </a:stretch>
        </p:blipFill>
        <p:spPr>
          <a:xfrm>
            <a:off x="527523" y="1234440"/>
            <a:ext cx="6625912" cy="4206240"/>
          </a:xfrm>
          <a:prstGeom prst="rect">
            <a:avLst/>
          </a:prstGeom>
        </p:spPr>
      </p:pic>
      <p:sp>
        <p:nvSpPr>
          <p:cNvPr id="6" name="TextBox 5"/>
          <p:cNvSpPr txBox="1"/>
          <p:nvPr/>
        </p:nvSpPr>
        <p:spPr>
          <a:xfrm>
            <a:off x="7543800" y="1234440"/>
            <a:ext cx="429768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decisions, all costed live</a:t>
            </a:r>
          </a:p>
        </p:txBody>
      </p:sp>
      <p:sp>
        <p:nvSpPr>
          <p:cNvPr id="7" name="TextBox 6"/>
          <p:cNvSpPr txBox="1"/>
          <p:nvPr/>
        </p:nvSpPr>
        <p:spPr>
          <a:xfrm>
            <a:off x="7543800" y="1600200"/>
            <a:ext cx="4297680" cy="3931920"/>
          </a:xfrm>
          <a:prstGeom prst="rect">
            <a:avLst/>
          </a:prstGeom>
          <a:noFill/>
        </p:spPr>
        <p:txBody>
          <a:bodyPr wrap="square" lIns="45720" rIns="45720" tIns="18288" bIns="18288" anchor="t">
            <a:spAutoFit/>
          </a:bodyPr>
          <a:lstStyle/>
          <a:p>
            <a:pPr algn="l"/>
            <a:r>
              <a:rPr sz="950" b="0" i="0">
                <a:solidFill>
                  <a:srgbClr val="000000"/>
                </a:solidFill>
                <a:latin typeface="Calibri"/>
              </a:rPr>
              <a:t>STILLS — TIFF uncompressed by default, PNG as the option. Both are lossless; TIFF is faster to write, PNG is smaller.
VIDEO — FFV1 (.mkv) or raw Y800 (.avi), both lossless, so the video can be MEASURED from rather than merely watched. MJPG was dropped: it is lossy and it drops the last column of an odd-width frame.
VIEWS — raw, speckle-only, boosted contrast; any combination, recorded together from the same pull.
The disk cost updates as the boxes change, in GB per minute AND per hour, against a 3-minute fracture pull and the free space on the drive. 237 GB/hour is the kind of number that has to be seen BEFORE a run, not discovered after it.</a:t>
            </a:r>
          </a:p>
        </p:txBody>
      </p:sp>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2026-08-22. Every option carries a ? help button explaining the trade-off — added after the formats went in.</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262</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SF17 · WHAT IT ACTUALLY RECORDED — S26, START TO FRACTURE</a:t>
            </a:r>
          </a:p>
        </p:txBody>
      </p:sp>
      <p:pic>
        <p:nvPicPr>
          <p:cNvPr id="5" name="Picture 4" descr="sf_capture_strip.png"/>
          <p:cNvPicPr>
            <a:picLocks noChangeAspect="1"/>
          </p:cNvPicPr>
          <p:nvPr/>
        </p:nvPicPr>
        <p:blipFill>
          <a:blip r:embed="rId2"/>
          <a:stretch>
            <a:fillRect/>
          </a:stretch>
        </p:blipFill>
        <p:spPr>
          <a:xfrm>
            <a:off x="366192" y="1170432"/>
            <a:ext cx="5394094" cy="4571999"/>
          </a:xfrm>
          <a:prstGeom prst="rect">
            <a:avLst/>
          </a:prstGeom>
        </p:spPr>
      </p:pic>
      <p:pic>
        <p:nvPicPr>
          <p:cNvPr id="6" name="Picture 5" descr="sf_capture_views.png"/>
          <p:cNvPicPr>
            <a:picLocks noChangeAspect="1"/>
          </p:cNvPicPr>
          <p:nvPr/>
        </p:nvPicPr>
        <p:blipFill>
          <a:blip r:embed="rId3"/>
          <a:stretch>
            <a:fillRect/>
          </a:stretch>
        </p:blipFill>
        <p:spPr>
          <a:xfrm>
            <a:off x="6038828" y="1170432"/>
            <a:ext cx="5707423" cy="3026664"/>
          </a:xfrm>
          <a:prstGeom prst="rect">
            <a:avLst/>
          </a:prstGeom>
        </p:spPr>
      </p:pic>
      <p:sp>
        <p:nvSpPr>
          <p:cNvPr id="7" name="TextBox 6"/>
          <p:cNvSpPr txBox="1"/>
          <p:nvPr/>
        </p:nvSpPr>
        <p:spPr>
          <a:xfrm>
            <a:off x="6035040" y="4389120"/>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is evidence and not an illustration</a:t>
            </a:r>
          </a:p>
        </p:txBody>
      </p:sp>
      <p:sp>
        <p:nvSpPr>
          <p:cNvPr id="8" name="TextBox 7"/>
          <p:cNvSpPr txBox="1"/>
          <p:nvPr/>
        </p:nvSpPr>
        <p:spPr>
          <a:xfrm>
            <a:off x="6035040" y="4754880"/>
            <a:ext cx="5715000" cy="1371600"/>
          </a:xfrm>
          <a:prstGeom prst="rect">
            <a:avLst/>
          </a:prstGeom>
          <a:noFill/>
        </p:spPr>
        <p:txBody>
          <a:bodyPr wrap="square" lIns="45720" rIns="45720" tIns="18288" bIns="18288" anchor="t">
            <a:spAutoFit/>
          </a:bodyPr>
          <a:lstStyle/>
          <a:p>
            <a:pPr algn="l"/>
            <a:r>
              <a:rPr sz="940" b="0" i="0">
                <a:solidFill>
                  <a:srgbClr val="000000"/>
                </a:solidFill>
                <a:latin typeface="Calibri"/>
              </a:rPr>
              <a:t>1682 stills at 19.9 fps and 1682 video frames per view, all read back off disk to build this slide. The last still is the fracture — the one frame that cannot be recaptured.
Each still carries the load and strain from the LOAD file at the same instant, matched on the clock: the capture ran t = 10.8–95.2 s of a 125 s test, so the two recordings do NOT start together and frame % cannot stand in for test %. Frame 1049 landing exactly on the 47.17 MPa peak is the check that the link is right.</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Specimen S26, run 20260817_111525 — 1.7 GB of stills beside 62 + 144 + 60 MB of lossless video.</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263</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SF16 · LIVE Px₀ OVERLAY — FROZEN PAIR vs LIVE PAIR</a:t>
            </a:r>
          </a:p>
        </p:txBody>
      </p:sp>
      <p:pic>
        <p:nvPicPr>
          <p:cNvPr id="5" name="Picture 4" descr="CalibratePxo_live marker.png"/>
          <p:cNvPicPr>
            <a:picLocks noChangeAspect="1"/>
          </p:cNvPicPr>
          <p:nvPr/>
        </p:nvPicPr>
        <p:blipFill>
          <a:blip r:embed="rId2"/>
          <a:stretch>
            <a:fillRect/>
          </a:stretch>
        </p:blipFill>
        <p:spPr>
          <a:xfrm>
            <a:off x="1226585" y="1188720"/>
            <a:ext cx="9754068" cy="2788920"/>
          </a:xfrm>
          <a:prstGeom prst="rect">
            <a:avLst/>
          </a:prstGeom>
        </p:spPr>
      </p:pic>
      <p:sp>
        <p:nvSpPr>
          <p:cNvPr id="6" name="TextBox 5"/>
          <p:cNvSpPr txBox="1"/>
          <p:nvPr/>
        </p:nvSpPr>
        <p:spPr>
          <a:xfrm>
            <a:off x="411480" y="420624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drawn, and what it is for</a:t>
            </a:r>
          </a:p>
        </p:txBody>
      </p:sp>
      <p:sp>
        <p:nvSpPr>
          <p:cNvPr id="7" name="TextBox 6"/>
          <p:cNvSpPr txBox="1"/>
          <p:nvPr/>
        </p:nvSpPr>
        <p:spPr>
          <a:xfrm>
            <a:off x="411480" y="4553712"/>
            <a:ext cx="5623560" cy="1691640"/>
          </a:xfrm>
          <a:prstGeom prst="rect">
            <a:avLst/>
          </a:prstGeom>
          <a:noFill/>
        </p:spPr>
        <p:txBody>
          <a:bodyPr wrap="square" lIns="45720" rIns="45720" tIns="18288" bIns="18288" anchor="t">
            <a:spAutoFit/>
          </a:bodyPr>
          <a:lstStyle/>
          <a:p>
            <a:pPr algn="l"/>
            <a:r>
              <a:rPr sz="960" b="0" i="0">
                <a:solidFill>
                  <a:srgbClr val="000000"/>
                </a:solidFill>
                <a:latin typeface="Calibri"/>
              </a:rPr>
              <a:t>Two rings and a dashed line: the marker pair as it is RIGHT NOW, over the separation frozen at Calibrate Px₀. The caption carries both numbers and their difference.
It answers the question an operator actually has before starting a pull — “is the strain reference the one I think it is?” Before this, Px₀ was a number in a status bar with nothing tying it to what the camera could see.</a:t>
            </a:r>
          </a:p>
        </p:txBody>
      </p:sp>
      <p:sp>
        <p:nvSpPr>
          <p:cNvPr id="8" name="TextBox 7"/>
          <p:cNvSpPr txBox="1"/>
          <p:nvPr/>
        </p:nvSpPr>
        <p:spPr>
          <a:xfrm>
            <a:off x="6263640" y="42062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agreement is the evidence</a:t>
            </a:r>
          </a:p>
        </p:txBody>
      </p:sp>
      <p:sp>
        <p:nvSpPr>
          <p:cNvPr id="9" name="TextBox 8"/>
          <p:cNvSpPr txBox="1"/>
          <p:nvPr/>
        </p:nvSpPr>
        <p:spPr>
          <a:xfrm>
            <a:off x="6263640" y="4553712"/>
            <a:ext cx="5577840" cy="1691640"/>
          </a:xfrm>
          <a:prstGeom prst="rect">
            <a:avLst/>
          </a:prstGeom>
          <a:noFill/>
        </p:spPr>
        <p:txBody>
          <a:bodyPr wrap="square" lIns="45720" rIns="45720" tIns="18288" bIns="18288" anchor="t">
            <a:spAutoFit/>
          </a:bodyPr>
          <a:lstStyle/>
          <a:p>
            <a:pPr algn="l"/>
            <a:r>
              <a:rPr sz="960" b="0" i="0">
                <a:solidFill>
                  <a:srgbClr val="000000"/>
                </a:solidFill>
                <a:latin typeface="Calibri"/>
              </a:rPr>
              <a:t>The overlay reads Px₀ 1745 px → now 1745 px (−0). The status bar, computed separately, reads Px₀ 1745.3 px @ 0 N with Eng ε −0.000029.
Those come from DIFFERENT code paths — one draws the blob centroids, the other divides the live separation by the frozen one. Agreement to a fraction of a pixel is what says the strain readout is measuring the pair the overlay is drawing, and not some other pair.
Badge alongside: DIC OK, 2/2 markers, track 100 %, jitter 0.0 px, margin 82.</a:t>
            </a:r>
          </a:p>
        </p:txBody>
      </p:sp>
      <p:sp>
        <p:nvSpPr>
          <p:cNvPr id="10" name="Rectangle 9"/>
          <p:cNvSpPr/>
          <p:nvPr/>
        </p:nvSpPr>
        <p:spPr>
          <a:xfrm>
            <a:off x="365760" y="594360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STATUS CHANGED: SF16 WAS THE LAST CARD WAITING ON A SCREENSHOT. WITH THIS, EVERY CARDED SMART FEATURE HAS BEEN SHOWN WORKING — SF19 OFFLINE, THE REST ON THE RIG.</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Operator screenshot on the rig, unloaded at 0 N (ε −2.9×10⁻⁵ — the noise floor). White specimen mode, exposure 50 ms, threshold 150, 20 fps.</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264</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SF11 · AUTO-METADATA LINK — AND THAT BOTH HALVES STILL AGREE</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Saving writes each half of the link into the other's folder, so a capture and its load file can always find each other. The test is whether they still round-trip.</a:t>
            </a:r>
          </a:p>
        </p:txBody>
      </p:sp>
      <p:sp>
        <p:nvSpPr>
          <p:cNvPr id="6" name="TextBox 5"/>
          <p:cNvSpPr txBox="1"/>
          <p:nvPr/>
        </p:nvSpPr>
        <p:spPr>
          <a:xfrm>
            <a:off x="411480" y="151790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two halves, on one run (S37)</a:t>
            </a:r>
          </a:p>
        </p:txBody>
      </p:sp>
      <p:graphicFrame>
        <p:nvGraphicFramePr>
          <p:cNvPr id="7" name="Table 6"/>
          <p:cNvGraphicFramePr>
            <a:graphicFrameLocks noGrp="1"/>
          </p:cNvGraphicFramePr>
          <p:nvPr/>
        </p:nvGraphicFramePr>
        <p:xfrm>
          <a:off x="411480" y="1865376"/>
          <a:ext cx="5623559" cy="2011680"/>
        </p:xfrm>
        <a:graphic>
          <a:graphicData uri="http://schemas.openxmlformats.org/drawingml/2006/table">
            <a:tbl>
              <a:tblPr firstRow="1" bandRow="1">
                <a:tableStyleId>{5C22544A-7EE6-4342-B048-85BDC9FD1C3A}</a:tableStyleId>
              </a:tblPr>
              <a:tblGrid>
                <a:gridCol w="1143000"/>
                <a:gridCol w="1234439"/>
                <a:gridCol w="3246120"/>
              </a:tblGrid>
              <a:tr h="402336">
                <a:tc>
                  <a:txBody>
                    <a:bodyPr lIns="54864" rIns="54864" tIns="18288" bIns="18288" wrap="square" anchor="ctr"/>
                    <a:lstStyle/>
                    <a:p>
                      <a:pPr algn="l"/>
                      <a:r>
                        <a:rPr sz="900" b="1">
                          <a:solidFill>
                            <a:srgbClr val="FFFFFF"/>
                          </a:solidFill>
                          <a:latin typeface="Calibri"/>
                        </a:rPr>
                        <a:t>Written into</a:t>
                      </a:r>
                    </a:p>
                  </a:txBody>
                  <a:tcPr>
                    <a:solidFill>
                      <a:srgbClr val="143D2F"/>
                    </a:solidFill>
                  </a:tcPr>
                </a:tc>
                <a:tc>
                  <a:txBody>
                    <a:bodyPr lIns="54864" rIns="54864" tIns="18288" bIns="18288" wrap="square" anchor="ctr"/>
                    <a:lstStyle/>
                    <a:p>
                      <a:pPr algn="l"/>
                      <a:r>
                        <a:rPr sz="900" b="1">
                          <a:solidFill>
                            <a:srgbClr val="FFFFFF"/>
                          </a:solidFill>
                          <a:latin typeface="Calibri"/>
                        </a:rPr>
                        <a:t>Field</a:t>
                      </a:r>
                    </a:p>
                  </a:txBody>
                  <a:tcPr>
                    <a:solidFill>
                      <a:srgbClr val="143D2F"/>
                    </a:solidFill>
                  </a:tcPr>
                </a:tc>
                <a:tc>
                  <a:txBody>
                    <a:bodyPr lIns="54864" rIns="54864" tIns="18288" bIns="18288" wrap="square" anchor="ctr"/>
                    <a:lstStyle/>
                    <a:p>
                      <a:pPr algn="l"/>
                      <a:r>
                        <a:rPr sz="900" b="1">
                          <a:solidFill>
                            <a:srgbClr val="FFFFFF"/>
                          </a:solidFill>
                          <a:latin typeface="Calibri"/>
                        </a:rPr>
                        <a:t>Value</a:t>
                      </a:r>
                    </a:p>
                  </a:txBody>
                  <a:tcPr>
                    <a:solidFill>
                      <a:srgbClr val="143D2F"/>
                    </a:solidFill>
                  </a:tcPr>
                </a:tc>
              </a:tr>
              <a:tr h="402336">
                <a:tc>
                  <a:txBody>
                    <a:bodyPr lIns="54864" rIns="54864" tIns="18288" bIns="18288" wrap="square" anchor="ctr"/>
                    <a:lstStyle/>
                    <a:p>
                      <a:pPr algn="l"/>
                      <a:r>
                        <a:rPr sz="740" b="0">
                          <a:solidFill>
                            <a:srgbClr val="000000"/>
                          </a:solidFill>
                          <a:latin typeface="Calibri"/>
                        </a:rPr>
                        <a:t>the CSV header</a:t>
                      </a:r>
                    </a:p>
                  </a:txBody>
                  <a:tcPr/>
                </a:tc>
                <a:tc>
                  <a:txBody>
                    <a:bodyPr lIns="54864" rIns="54864" tIns="18288" bIns="18288" wrap="square" anchor="ctr"/>
                    <a:lstStyle/>
                    <a:p>
                      <a:pPr algn="l"/>
                      <a:r>
                        <a:rPr sz="740" b="0">
                          <a:solidFill>
                            <a:srgbClr val="000000"/>
                          </a:solidFill>
                          <a:latin typeface="Calibri"/>
                        </a:rPr>
                        <a:t># Capture:</a:t>
                      </a:r>
                    </a:p>
                  </a:txBody>
                  <a:tcPr/>
                </a:tc>
                <a:tc>
                  <a:txBody>
                    <a:bodyPr lIns="54864" rIns="54864" tIns="18288" bIns="18288" wrap="square" anchor="ctr"/>
                    <a:lstStyle/>
                    <a:p>
                      <a:pPr algn="l"/>
                      <a:r>
                        <a:rPr sz="740" b="0">
                          <a:solidFill>
                            <a:srgbClr val="000000"/>
                          </a:solidFill>
                          <a:latin typeface="Calibri"/>
                        </a:rPr>
                        <a:t>Software/UTM_PyQt6/Test data/8.6.20 - Tensile test to Failure/Specimen_S37_V5_TPU_Spray_Video15/20260826_123049</a:t>
                      </a:r>
                    </a:p>
                  </a:txBody>
                  <a:tcPr/>
                </a:tc>
              </a:tr>
              <a:tr h="402336">
                <a:tc>
                  <a:txBody>
                    <a:bodyPr lIns="54864" rIns="54864" tIns="18288" bIns="18288" wrap="square" anchor="ctr"/>
                    <a:lstStyle/>
                    <a:p>
                      <a:pPr algn="l"/>
                      <a:r>
                        <a:rPr sz="740" b="0">
                          <a:solidFill>
                            <a:srgbClr val="000000"/>
                          </a:solidFill>
                          <a:latin typeface="Calibri"/>
                        </a:rPr>
                        <a:t>the capture folder</a:t>
                      </a:r>
                    </a:p>
                  </a:txBody>
                  <a:tcPr/>
                </a:tc>
                <a:tc>
                  <a:txBody>
                    <a:bodyPr lIns="54864" rIns="54864" tIns="18288" bIns="18288" wrap="square" anchor="ctr"/>
                    <a:lstStyle/>
                    <a:p>
                      <a:pPr algn="l"/>
                      <a:r>
                        <a:rPr sz="740" b="0">
                          <a:solidFill>
                            <a:srgbClr val="000000"/>
                          </a:solidFill>
                          <a:latin typeface="Calibri"/>
                        </a:rPr>
                        <a:t>csv</a:t>
                      </a:r>
                    </a:p>
                  </a:txBody>
                  <a:tcPr/>
                </a:tc>
                <a:tc>
                  <a:txBody>
                    <a:bodyPr lIns="54864" rIns="54864" tIns="18288" bIns="18288" wrap="square" anchor="ctr"/>
                    <a:lstStyle/>
                    <a:p>
                      <a:pPr algn="l"/>
                      <a:r>
                        <a:rPr sz="740" b="0">
                          <a:solidFill>
                            <a:srgbClr val="000000"/>
                          </a:solidFill>
                          <a:latin typeface="Calibri"/>
                        </a:rPr>
                        <a:t>Software/UTM_PyQt6/Test data/8.6.20 - Tensile test to Failure/Specimen_S37_V5_TPU_Spray_Video15/UTM_Test_20260826_123524.csv</a:t>
                      </a:r>
                    </a:p>
                  </a:txBody>
                  <a:tcPr/>
                </a:tc>
              </a:tr>
              <a:tr h="402336">
                <a:tc>
                  <a:txBody>
                    <a:bodyPr lIns="54864" rIns="54864" tIns="18288" bIns="18288" wrap="square" anchor="ctr"/>
                    <a:lstStyle/>
                    <a:p>
                      <a:pPr algn="l"/>
                      <a:r>
                        <a:rPr sz="740" b="0">
                          <a:solidFill>
                            <a:srgbClr val="000000"/>
                          </a:solidFill>
                          <a:latin typeface="Calibri"/>
                        </a:rPr>
                        <a:t>  (run.json)</a:t>
                      </a:r>
                    </a:p>
                  </a:txBody>
                  <a:tcPr/>
                </a:tc>
                <a:tc>
                  <a:txBody>
                    <a:bodyPr lIns="54864" rIns="54864" tIns="18288" bIns="18288" wrap="square" anchor="ctr"/>
                    <a:lstStyle/>
                    <a:p>
                      <a:pPr algn="l"/>
                      <a:r>
                        <a:rPr sz="740" b="0">
                          <a:solidFill>
                            <a:srgbClr val="000000"/>
                          </a:solidFill>
                          <a:latin typeface="Calibri"/>
                        </a:rPr>
                        <a:t>csv_name</a:t>
                      </a:r>
                    </a:p>
                  </a:txBody>
                  <a:tcPr/>
                </a:tc>
                <a:tc>
                  <a:txBody>
                    <a:bodyPr lIns="54864" rIns="54864" tIns="18288" bIns="18288" wrap="square" anchor="ctr"/>
                    <a:lstStyle/>
                    <a:p>
                      <a:pPr algn="l"/>
                      <a:r>
                        <a:rPr sz="740" b="0">
                          <a:solidFill>
                            <a:srgbClr val="000000"/>
                          </a:solidFill>
                          <a:latin typeface="Calibri"/>
                        </a:rPr>
                        <a:t>UTM_Test_20260826_123524.csv</a:t>
                      </a:r>
                    </a:p>
                  </a:txBody>
                  <a:tcPr/>
                </a:tc>
              </a:tr>
              <a:tr h="402336">
                <a:tc>
                  <a:txBody>
                    <a:bodyPr lIns="54864" rIns="54864" tIns="18288" bIns="18288" wrap="square" anchor="ctr"/>
                    <a:lstStyle/>
                    <a:p>
                      <a:pPr algn="l"/>
                      <a:r>
                        <a:rPr sz="740" b="0">
                          <a:solidFill>
                            <a:srgbClr val="000000"/>
                          </a:solidFill>
                          <a:latin typeface="Calibri"/>
                        </a:rPr>
                        <a:t/>
                      </a:r>
                    </a:p>
                  </a:txBody>
                  <a:tcPr/>
                </a:tc>
                <a:tc>
                  <a:txBody>
                    <a:bodyPr lIns="54864" rIns="54864" tIns="18288" bIns="18288" wrap="square" anchor="ctr"/>
                    <a:lstStyle/>
                    <a:p>
                      <a:pPr algn="l"/>
                      <a:r>
                        <a:rPr sz="740" b="0">
                          <a:solidFill>
                            <a:srgbClr val="000000"/>
                          </a:solidFill>
                          <a:latin typeface="Calibri"/>
                        </a:rPr>
                        <a:t>captured_from / to</a:t>
                      </a:r>
                    </a:p>
                  </a:txBody>
                  <a:tcPr/>
                </a:tc>
                <a:tc>
                  <a:txBody>
                    <a:bodyPr lIns="54864" rIns="54864" tIns="18288" bIns="18288" wrap="square" anchor="ctr"/>
                    <a:lstStyle/>
                    <a:p>
                      <a:pPr algn="l"/>
                      <a:r>
                        <a:rPr sz="740" b="0">
                          <a:solidFill>
                            <a:srgbClr val="000000"/>
                          </a:solidFill>
                          <a:latin typeface="Calibri"/>
                        </a:rPr>
                        <a:t>12:30:49 → 12:35:16</a:t>
                      </a:r>
                    </a:p>
                  </a:txBody>
                  <a:tcPr/>
                </a:tc>
              </a:tr>
            </a:tbl>
          </a:graphicData>
        </a:graphic>
      </p:graphicFrame>
      <p:sp>
        <p:nvSpPr>
          <p:cNvPr id="8" name="TextBox 7"/>
          <p:cNvSpPr txBox="1"/>
          <p:nvPr/>
        </p:nvSpPr>
        <p:spPr>
          <a:xfrm>
            <a:off x="411480" y="404164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Do they still point at each other?</a:t>
            </a:r>
          </a:p>
        </p:txBody>
      </p:sp>
      <p:graphicFrame>
        <p:nvGraphicFramePr>
          <p:cNvPr id="9" name="Table 8"/>
          <p:cNvGraphicFramePr>
            <a:graphicFrameLocks noGrp="1"/>
          </p:cNvGraphicFramePr>
          <p:nvPr/>
        </p:nvGraphicFramePr>
        <p:xfrm>
          <a:off x="411480" y="4389120"/>
          <a:ext cx="5623559" cy="1005840"/>
        </p:xfrm>
        <a:graphic>
          <a:graphicData uri="http://schemas.openxmlformats.org/drawingml/2006/table">
            <a:tbl>
              <a:tblPr firstRow="1" bandRow="1">
                <a:tableStyleId>{5C22544A-7EE6-4342-B048-85BDC9FD1C3A}</a:tableStyleId>
              </a:tblPr>
              <a:tblGrid>
                <a:gridCol w="3566159"/>
                <a:gridCol w="2057400"/>
              </a:tblGrid>
              <a:tr h="251460">
                <a:tc>
                  <a:txBody>
                    <a:bodyPr lIns="54864" rIns="54864" tIns="18288" bIns="18288" wrap="square" anchor="ctr"/>
                    <a:lstStyle/>
                    <a:p>
                      <a:pPr algn="l"/>
                      <a:r>
                        <a:rPr sz="900" b="1">
                          <a:solidFill>
                            <a:srgbClr val="FFFFFF"/>
                          </a:solidFill>
                          <a:latin typeface="Calibri"/>
                        </a:rPr>
                        <a:t>Check</a:t>
                      </a:r>
                    </a:p>
                  </a:txBody>
                  <a:tcPr>
                    <a:solidFill>
                      <a:srgbClr val="143D2F"/>
                    </a:solidFill>
                  </a:tcPr>
                </a:tc>
                <a:tc>
                  <a:txBody>
                    <a:bodyPr lIns="54864" rIns="54864" tIns="18288" bIns="18288" wrap="square" anchor="ctr"/>
                    <a:lstStyle/>
                    <a:p>
                      <a:pPr algn="l"/>
                      <a:r>
                        <a:rPr sz="900" b="1">
                          <a:solidFill>
                            <a:srgbClr val="FFFFFF"/>
                          </a:solidFill>
                          <a:latin typeface="Calibri"/>
                        </a:rPr>
                        <a:t>Result</a:t>
                      </a:r>
                    </a:p>
                  </a:txBody>
                  <a:tcPr>
                    <a:solidFill>
                      <a:srgbClr val="143D2F"/>
                    </a:solidFill>
                  </a:tcPr>
                </a:tc>
              </a:tr>
              <a:tr h="251460">
                <a:tc>
                  <a:txBody>
                    <a:bodyPr lIns="54864" rIns="54864" tIns="18288" bIns="18288" wrap="square" anchor="ctr"/>
                    <a:lstStyle/>
                    <a:p>
                      <a:pPr algn="l"/>
                      <a:r>
                        <a:rPr sz="840" b="0">
                          <a:solidFill>
                            <a:srgbClr val="000000"/>
                          </a:solidFill>
                          <a:latin typeface="Calibri"/>
                        </a:rPr>
                        <a:t>run.json → its CSV</a:t>
                      </a:r>
                    </a:p>
                  </a:txBody>
                  <a:tcPr/>
                </a:tc>
                <a:tc>
                  <a:txBody>
                    <a:bodyPr lIns="54864" rIns="54864" tIns="18288" bIns="18288" wrap="square" anchor="ctr"/>
                    <a:lstStyle/>
                    <a:p>
                      <a:pPr algn="l"/>
                      <a:r>
                        <a:rPr sz="840" b="0">
                          <a:solidFill>
                            <a:srgbClr val="000000"/>
                          </a:solidFill>
                          <a:latin typeface="Calibri"/>
                        </a:rPr>
                        <a:t>14 / 14 resolve</a:t>
                      </a:r>
                    </a:p>
                  </a:txBody>
                  <a:tcPr/>
                </a:tc>
              </a:tr>
              <a:tr h="251460">
                <a:tc>
                  <a:txBody>
                    <a:bodyPr lIns="54864" rIns="54864" tIns="18288" bIns="18288" wrap="square" anchor="ctr"/>
                    <a:lstStyle/>
                    <a:p>
                      <a:pPr algn="l"/>
                      <a:r>
                        <a:rPr sz="840" b="0">
                          <a:solidFill>
                            <a:srgbClr val="000000"/>
                          </a:solidFill>
                          <a:latin typeface="Calibri"/>
                        </a:rPr>
                        <a:t>CSV header → its capture folder</a:t>
                      </a:r>
                    </a:p>
                  </a:txBody>
                  <a:tcPr/>
                </a:tc>
                <a:tc>
                  <a:txBody>
                    <a:bodyPr lIns="54864" rIns="54864" tIns="18288" bIns="18288" wrap="square" anchor="ctr"/>
                    <a:lstStyle/>
                    <a:p>
                      <a:pPr algn="l"/>
                      <a:r>
                        <a:rPr sz="840" b="0">
                          <a:solidFill>
                            <a:srgbClr val="000000"/>
                          </a:solidFill>
                          <a:latin typeface="Calibri"/>
                        </a:rPr>
                        <a:t>19 / 20 resolve</a:t>
                      </a:r>
                    </a:p>
                  </a:txBody>
                  <a:tcPr/>
                </a:tc>
              </a:tr>
              <a:tr h="251460">
                <a:tc>
                  <a:txBody>
                    <a:bodyPr lIns="54864" rIns="54864" tIns="18288" bIns="18288" wrap="square" anchor="ctr"/>
                    <a:lstStyle/>
                    <a:p>
                      <a:pPr algn="l"/>
                      <a:r>
                        <a:rPr sz="840" b="0">
                          <a:solidFill>
                            <a:srgbClr val="000000"/>
                          </a:solidFill>
                          <a:latin typeface="Calibri"/>
                        </a:rPr>
                        <a:t>full round-trip, CSV → folder → back to the SAME CSV</a:t>
                      </a:r>
                    </a:p>
                  </a:txBody>
                  <a:tcPr/>
                </a:tc>
                <a:tc>
                  <a:txBody>
                    <a:bodyPr lIns="54864" rIns="54864" tIns="18288" bIns="18288" wrap="square" anchor="ctr"/>
                    <a:lstStyle/>
                    <a:p>
                      <a:pPr algn="l"/>
                      <a:r>
                        <a:rPr sz="840" b="0">
                          <a:solidFill>
                            <a:srgbClr val="000000"/>
                          </a:solidFill>
                          <a:latin typeface="Calibri"/>
                        </a:rPr>
                        <a:t>14 / 14</a:t>
                      </a:r>
                    </a:p>
                  </a:txBody>
                  <a:tcPr/>
                </a:tc>
              </a:tr>
            </a:tbl>
          </a:graphicData>
        </a:graphic>
      </p:graphicFrame>
      <p:sp>
        <p:nvSpPr>
          <p:cNvPr id="10" name="TextBox 9"/>
          <p:cNvSpPr txBox="1"/>
          <p:nvPr/>
        </p:nvSpPr>
        <p:spPr>
          <a:xfrm>
            <a:off x="6263640" y="151790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Matched by OVERLAP, never by recency</a:t>
            </a:r>
          </a:p>
        </p:txBody>
      </p:sp>
      <p:graphicFrame>
        <p:nvGraphicFramePr>
          <p:cNvPr id="11" name="Table 10"/>
          <p:cNvGraphicFramePr>
            <a:graphicFrameLocks noGrp="1"/>
          </p:cNvGraphicFramePr>
          <p:nvPr/>
        </p:nvGraphicFramePr>
        <p:xfrm>
          <a:off x="6263640" y="1865376"/>
          <a:ext cx="5577840" cy="1554480"/>
        </p:xfrm>
        <a:graphic>
          <a:graphicData uri="http://schemas.openxmlformats.org/drawingml/2006/table">
            <a:tbl>
              <a:tblPr firstRow="1" bandRow="1">
                <a:tableStyleId>{5C22544A-7EE6-4342-B048-85BDC9FD1C3A}</a:tableStyleId>
              </a:tblPr>
              <a:tblGrid>
                <a:gridCol w="502920"/>
                <a:gridCol w="1554480"/>
                <a:gridCol w="1554480"/>
                <a:gridCol w="1051560"/>
                <a:gridCol w="914400"/>
              </a:tblGrid>
              <a:tr h="310896">
                <a:tc>
                  <a:txBody>
                    <a:bodyPr lIns="54864" rIns="54864" tIns="18288" bIns="18288" wrap="square" anchor="ctr"/>
                    <a:lstStyle/>
                    <a:p>
                      <a:pPr algn="l"/>
                      <a:r>
                        <a:rPr sz="900" b="1">
                          <a:solidFill>
                            <a:srgbClr val="FFFFFF"/>
                          </a:solidFill>
                          <a:latin typeface="Calibri"/>
                        </a:rPr>
                        <a:t>Run</a:t>
                      </a:r>
                    </a:p>
                  </a:txBody>
                  <a:tcPr>
                    <a:solidFill>
                      <a:srgbClr val="143D2F"/>
                    </a:solidFill>
                  </a:tcPr>
                </a:tc>
                <a:tc>
                  <a:txBody>
                    <a:bodyPr lIns="54864" rIns="54864" tIns="18288" bIns="18288" wrap="square" anchor="ctr"/>
                    <a:lstStyle/>
                    <a:p>
                      <a:pPr algn="l"/>
                      <a:r>
                        <a:rPr sz="900" b="1">
                          <a:solidFill>
                            <a:srgbClr val="FFFFFF"/>
                          </a:solidFill>
                          <a:latin typeface="Calibri"/>
                        </a:rPr>
                        <a:t>Test window</a:t>
                      </a:r>
                    </a:p>
                  </a:txBody>
                  <a:tcPr>
                    <a:solidFill>
                      <a:srgbClr val="143D2F"/>
                    </a:solidFill>
                  </a:tcPr>
                </a:tc>
                <a:tc>
                  <a:txBody>
                    <a:bodyPr lIns="54864" rIns="54864" tIns="18288" bIns="18288" wrap="square" anchor="ctr"/>
                    <a:lstStyle/>
                    <a:p>
                      <a:pPr algn="l"/>
                      <a:r>
                        <a:rPr sz="900" b="1">
                          <a:solidFill>
                            <a:srgbClr val="FFFFFF"/>
                          </a:solidFill>
                          <a:latin typeface="Calibri"/>
                        </a:rPr>
                        <a:t>Capture window</a:t>
                      </a:r>
                    </a:p>
                  </a:txBody>
                  <a:tcPr>
                    <a:solidFill>
                      <a:srgbClr val="143D2F"/>
                    </a:solidFill>
                  </a:tcPr>
                </a:tc>
                <a:tc>
                  <a:txBody>
                    <a:bodyPr lIns="54864" rIns="54864" tIns="18288" bIns="18288" wrap="square" anchor="ctr"/>
                    <a:lstStyle/>
                    <a:p>
                      <a:pPr algn="l"/>
                      <a:r>
                        <a:rPr sz="900" b="1">
                          <a:solidFill>
                            <a:srgbClr val="FFFFFF"/>
                          </a:solidFill>
                          <a:latin typeface="Calibri"/>
                        </a:rPr>
                        <a:t>Folder</a:t>
                      </a:r>
                    </a:p>
                  </a:txBody>
                  <a:tcPr>
                    <a:solidFill>
                      <a:srgbClr val="143D2F"/>
                    </a:solidFill>
                  </a:tcPr>
                </a:tc>
                <a:tc>
                  <a:txBody>
                    <a:bodyPr lIns="54864" rIns="54864" tIns="18288" bIns="18288" wrap="square" anchor="ctr"/>
                    <a:lstStyle/>
                    <a:p>
                      <a:pPr algn="l"/>
                      <a:r>
                        <a:rPr sz="900" b="1">
                          <a:solidFill>
                            <a:srgbClr val="FFFFFF"/>
                          </a:solidFill>
                          <a:latin typeface="Calibri"/>
                        </a:rPr>
                        <a:t/>
                      </a:r>
                    </a:p>
                  </a:txBody>
                  <a:tcPr>
                    <a:solidFill>
                      <a:srgbClr val="143D2F"/>
                    </a:solidFill>
                  </a:tcPr>
                </a:tc>
              </a:tr>
              <a:tr h="310896">
                <a:tc>
                  <a:txBody>
                    <a:bodyPr lIns="54864" rIns="54864" tIns="18288" bIns="18288" wrap="square" anchor="ctr"/>
                    <a:lstStyle/>
                    <a:p>
                      <a:pPr algn="l"/>
                      <a:r>
                        <a:rPr sz="800" b="0">
                          <a:solidFill>
                            <a:srgbClr val="000000"/>
                          </a:solidFill>
                          <a:latin typeface="Calibri"/>
                        </a:rPr>
                        <a:t>S30</a:t>
                      </a:r>
                    </a:p>
                  </a:txBody>
                  <a:tcPr/>
                </a:tc>
                <a:tc>
                  <a:txBody>
                    <a:bodyPr lIns="54864" rIns="54864" tIns="18288" bIns="18288" wrap="square" anchor="ctr"/>
                    <a:lstStyle/>
                    <a:p>
                      <a:pPr algn="l"/>
                      <a:r>
                        <a:rPr sz="800" b="0">
                          <a:solidFill>
                            <a:srgbClr val="000000"/>
                          </a:solidFill>
                          <a:latin typeface="Calibri"/>
                        </a:rPr>
                        <a:t>18:02:30 – 18:05:51</a:t>
                      </a:r>
                    </a:p>
                  </a:txBody>
                  <a:tcPr/>
                </a:tc>
                <a:tc>
                  <a:txBody>
                    <a:bodyPr lIns="54864" rIns="54864" tIns="18288" bIns="18288" wrap="square" anchor="ctr"/>
                    <a:lstStyle/>
                    <a:p>
                      <a:pPr algn="l"/>
                      <a:r>
                        <a:rPr sz="800" b="0">
                          <a:solidFill>
                            <a:srgbClr val="000000"/>
                          </a:solidFill>
                          <a:latin typeface="Calibri"/>
                        </a:rPr>
                        <a:t>18:02:52 – 18:04:48</a:t>
                      </a:r>
                    </a:p>
                  </a:txBody>
                  <a:tcPr/>
                </a:tc>
                <a:tc>
                  <a:txBody>
                    <a:bodyPr lIns="54864" rIns="54864" tIns="18288" bIns="18288" wrap="square" anchor="ctr"/>
                    <a:lstStyle/>
                    <a:p>
                      <a:pPr algn="l"/>
                      <a:r>
                        <a:rPr sz="800" b="0">
                          <a:solidFill>
                            <a:srgbClr val="000000"/>
                          </a:solidFill>
                          <a:latin typeface="Calibri"/>
                        </a:rPr>
                        <a:t>180252</a:t>
                      </a:r>
                    </a:p>
                  </a:txBody>
                  <a:tcPr/>
                </a:tc>
                <a:tc>
                  <a:txBody>
                    <a:bodyPr lIns="54864" rIns="54864" tIns="18288" bIns="18288" wrap="square" anchor="ctr"/>
                    <a:lstStyle/>
                    <a:p>
                      <a:pPr algn="l"/>
                      <a:r>
                        <a:rPr sz="800" b="0">
                          <a:solidFill>
                            <a:srgbClr val="000000"/>
                          </a:solidFill>
                          <a:latin typeface="Calibri"/>
                        </a:rPr>
                        <a:t>inside</a:t>
                      </a:r>
                    </a:p>
                  </a:txBody>
                  <a:tcPr/>
                </a:tc>
              </a:tr>
              <a:tr h="310896">
                <a:tc>
                  <a:txBody>
                    <a:bodyPr lIns="54864" rIns="54864" tIns="18288" bIns="18288" wrap="square" anchor="ctr"/>
                    <a:lstStyle/>
                    <a:p>
                      <a:pPr algn="l"/>
                      <a:r>
                        <a:rPr sz="800" b="0">
                          <a:solidFill>
                            <a:srgbClr val="000000"/>
                          </a:solidFill>
                          <a:latin typeface="Calibri"/>
                        </a:rPr>
                        <a:t>S31</a:t>
                      </a:r>
                    </a:p>
                  </a:txBody>
                  <a:tcPr/>
                </a:tc>
                <a:tc>
                  <a:txBody>
                    <a:bodyPr lIns="54864" rIns="54864" tIns="18288" bIns="18288" wrap="square" anchor="ctr"/>
                    <a:lstStyle/>
                    <a:p>
                      <a:pPr algn="l"/>
                      <a:r>
                        <a:rPr sz="800" b="0">
                          <a:solidFill>
                            <a:srgbClr val="000000"/>
                          </a:solidFill>
                          <a:latin typeface="Calibri"/>
                        </a:rPr>
                        <a:t>18:18:04 – 18:20:05</a:t>
                      </a:r>
                    </a:p>
                  </a:txBody>
                  <a:tcPr/>
                </a:tc>
                <a:tc>
                  <a:txBody>
                    <a:bodyPr lIns="54864" rIns="54864" tIns="18288" bIns="18288" wrap="square" anchor="ctr"/>
                    <a:lstStyle/>
                    <a:p>
                      <a:pPr algn="l"/>
                      <a:r>
                        <a:rPr sz="800" b="0">
                          <a:solidFill>
                            <a:srgbClr val="000000"/>
                          </a:solidFill>
                          <a:latin typeface="Calibri"/>
                        </a:rPr>
                        <a:t>18:18:08 – 18:19:56</a:t>
                      </a:r>
                    </a:p>
                  </a:txBody>
                  <a:tcPr/>
                </a:tc>
                <a:tc>
                  <a:txBody>
                    <a:bodyPr lIns="54864" rIns="54864" tIns="18288" bIns="18288" wrap="square" anchor="ctr"/>
                    <a:lstStyle/>
                    <a:p>
                      <a:pPr algn="l"/>
                      <a:r>
                        <a:rPr sz="800" b="0">
                          <a:solidFill>
                            <a:srgbClr val="000000"/>
                          </a:solidFill>
                          <a:latin typeface="Calibri"/>
                        </a:rPr>
                        <a:t>181808</a:t>
                      </a:r>
                    </a:p>
                  </a:txBody>
                  <a:tcPr/>
                </a:tc>
                <a:tc>
                  <a:txBody>
                    <a:bodyPr lIns="54864" rIns="54864" tIns="18288" bIns="18288" wrap="square" anchor="ctr"/>
                    <a:lstStyle/>
                    <a:p>
                      <a:pPr algn="l"/>
                      <a:r>
                        <a:rPr sz="800" b="0">
                          <a:solidFill>
                            <a:srgbClr val="000000"/>
                          </a:solidFill>
                          <a:latin typeface="Calibri"/>
                        </a:rPr>
                        <a:t>inside</a:t>
                      </a:r>
                    </a:p>
                  </a:txBody>
                  <a:tcPr/>
                </a:tc>
              </a:tr>
              <a:tr h="310896">
                <a:tc>
                  <a:txBody>
                    <a:bodyPr lIns="54864" rIns="54864" tIns="18288" bIns="18288" wrap="square" anchor="ctr"/>
                    <a:lstStyle/>
                    <a:p>
                      <a:pPr algn="l"/>
                      <a:r>
                        <a:rPr sz="800" b="0">
                          <a:solidFill>
                            <a:srgbClr val="000000"/>
                          </a:solidFill>
                          <a:latin typeface="Calibri"/>
                        </a:rPr>
                        <a:t>S33</a:t>
                      </a:r>
                    </a:p>
                  </a:txBody>
                  <a:tcPr/>
                </a:tc>
                <a:tc>
                  <a:txBody>
                    <a:bodyPr lIns="54864" rIns="54864" tIns="18288" bIns="18288" wrap="square" anchor="ctr"/>
                    <a:lstStyle/>
                    <a:p>
                      <a:pPr algn="l"/>
                      <a:r>
                        <a:rPr sz="800" b="0">
                          <a:solidFill>
                            <a:srgbClr val="000000"/>
                          </a:solidFill>
                          <a:latin typeface="Calibri"/>
                        </a:rPr>
                        <a:t>11:17:56 – 11:19:35</a:t>
                      </a:r>
                    </a:p>
                  </a:txBody>
                  <a:tcPr/>
                </a:tc>
                <a:tc>
                  <a:txBody>
                    <a:bodyPr lIns="54864" rIns="54864" tIns="18288" bIns="18288" wrap="square" anchor="ctr"/>
                    <a:lstStyle/>
                    <a:p>
                      <a:pPr algn="l"/>
                      <a:r>
                        <a:rPr sz="800" b="0">
                          <a:solidFill>
                            <a:srgbClr val="000000"/>
                          </a:solidFill>
                          <a:latin typeface="Calibri"/>
                        </a:rPr>
                        <a:t>11:18:20 – 11:19:28</a:t>
                      </a:r>
                    </a:p>
                  </a:txBody>
                  <a:tcPr/>
                </a:tc>
                <a:tc>
                  <a:txBody>
                    <a:bodyPr lIns="54864" rIns="54864" tIns="18288" bIns="18288" wrap="square" anchor="ctr"/>
                    <a:lstStyle/>
                    <a:p>
                      <a:pPr algn="l"/>
                      <a:r>
                        <a:rPr sz="800" b="0">
                          <a:solidFill>
                            <a:srgbClr val="000000"/>
                          </a:solidFill>
                          <a:latin typeface="Calibri"/>
                        </a:rPr>
                        <a:t>111820</a:t>
                      </a:r>
                    </a:p>
                  </a:txBody>
                  <a:tcPr/>
                </a:tc>
                <a:tc>
                  <a:txBody>
                    <a:bodyPr lIns="54864" rIns="54864" tIns="18288" bIns="18288" wrap="square" anchor="ctr"/>
                    <a:lstStyle/>
                    <a:p>
                      <a:pPr algn="l"/>
                      <a:r>
                        <a:rPr sz="800" b="0">
                          <a:solidFill>
                            <a:srgbClr val="000000"/>
                          </a:solidFill>
                          <a:latin typeface="Calibri"/>
                        </a:rPr>
                        <a:t>inside</a:t>
                      </a:r>
                    </a:p>
                  </a:txBody>
                  <a:tcPr/>
                </a:tc>
              </a:tr>
              <a:tr h="310896">
                <a:tc>
                  <a:txBody>
                    <a:bodyPr lIns="54864" rIns="54864" tIns="18288" bIns="18288" wrap="square" anchor="ctr"/>
                    <a:lstStyle/>
                    <a:p>
                      <a:pPr algn="l"/>
                      <a:r>
                        <a:rPr sz="800" b="0">
                          <a:solidFill>
                            <a:srgbClr val="000000"/>
                          </a:solidFill>
                          <a:latin typeface="Calibri"/>
                        </a:rPr>
                        <a:t>S34</a:t>
                      </a:r>
                    </a:p>
                  </a:txBody>
                  <a:tcPr/>
                </a:tc>
                <a:tc>
                  <a:txBody>
                    <a:bodyPr lIns="54864" rIns="54864" tIns="18288" bIns="18288" wrap="square" anchor="ctr"/>
                    <a:lstStyle/>
                    <a:p>
                      <a:pPr algn="l"/>
                      <a:r>
                        <a:rPr sz="800" b="0">
                          <a:solidFill>
                            <a:srgbClr val="000000"/>
                          </a:solidFill>
                          <a:latin typeface="Calibri"/>
                        </a:rPr>
                        <a:t>11:32:07 – 11:33:51</a:t>
                      </a:r>
                    </a:p>
                  </a:txBody>
                  <a:tcPr/>
                </a:tc>
                <a:tc>
                  <a:txBody>
                    <a:bodyPr lIns="54864" rIns="54864" tIns="18288" bIns="18288" wrap="square" anchor="ctr"/>
                    <a:lstStyle/>
                    <a:p>
                      <a:pPr algn="l"/>
                      <a:r>
                        <a:rPr sz="800" b="0">
                          <a:solidFill>
                            <a:srgbClr val="000000"/>
                          </a:solidFill>
                          <a:latin typeface="Calibri"/>
                        </a:rPr>
                        <a:t>11:32:21 – 11:33:38</a:t>
                      </a:r>
                    </a:p>
                  </a:txBody>
                  <a:tcPr/>
                </a:tc>
                <a:tc>
                  <a:txBody>
                    <a:bodyPr lIns="54864" rIns="54864" tIns="18288" bIns="18288" wrap="square" anchor="ctr"/>
                    <a:lstStyle/>
                    <a:p>
                      <a:pPr algn="l"/>
                      <a:r>
                        <a:rPr sz="800" b="0">
                          <a:solidFill>
                            <a:srgbClr val="000000"/>
                          </a:solidFill>
                          <a:latin typeface="Calibri"/>
                        </a:rPr>
                        <a:t>113221</a:t>
                      </a:r>
                    </a:p>
                  </a:txBody>
                  <a:tcPr/>
                </a:tc>
                <a:tc>
                  <a:txBody>
                    <a:bodyPr lIns="54864" rIns="54864" tIns="18288" bIns="18288" wrap="square" anchor="ctr"/>
                    <a:lstStyle/>
                    <a:p>
                      <a:pPr algn="l"/>
                      <a:r>
                        <a:rPr sz="800" b="0">
                          <a:solidFill>
                            <a:srgbClr val="000000"/>
                          </a:solidFill>
                          <a:latin typeface="Calibri"/>
                        </a:rPr>
                        <a:t>inside</a:t>
                      </a:r>
                    </a:p>
                  </a:txBody>
                  <a:tcPr/>
                </a:tc>
              </a:tr>
            </a:tbl>
          </a:graphicData>
        </a:graphic>
      </p:graphicFrame>
      <p:sp>
        <p:nvSpPr>
          <p:cNvPr id="12" name="TextBox 11"/>
          <p:cNvSpPr txBox="1"/>
          <p:nvPr/>
        </p:nvSpPr>
        <p:spPr>
          <a:xfrm>
            <a:off x="6263640" y="4041648"/>
            <a:ext cx="5577840" cy="1371600"/>
          </a:xfrm>
          <a:prstGeom prst="rect">
            <a:avLst/>
          </a:prstGeom>
          <a:noFill/>
        </p:spPr>
        <p:txBody>
          <a:bodyPr wrap="square" lIns="45720" rIns="45720" tIns="18288" bIns="18288" anchor="t">
            <a:spAutoFit/>
          </a:bodyPr>
          <a:lstStyle/>
          <a:p>
            <a:pPr algn="l"/>
            <a:r>
              <a:rPr sz="930" b="0" i="0">
                <a:solidFill>
                  <a:srgbClr val="000000"/>
                </a:solidFill>
                <a:latin typeface="Calibri"/>
              </a:rPr>
              <a:t>Two same-session pairs. Each capture window sits INSIDE its own test window — the link is made from the largest overlap between the two intervals, not from whichever capture happened last.
These four were saved promptly, so recency would have agreed. It stops agreeing the moment two runs are saved after the fact, or a specimen folder holds more than one capture — S12's holds two. A mislabelled link is worse than none, because it looks authoritative.</a:t>
            </a:r>
          </a:p>
        </p:txBody>
      </p:sp>
      <p:sp>
        <p:nvSpPr>
          <p:cNvPr id="13" name="Rectangle 12"/>
          <p:cNvSpPr/>
          <p:nvPr/>
        </p:nvSpPr>
        <p:spPr>
          <a:xfrm>
            <a:off x="365760" y="5623560"/>
            <a:ext cx="11475720" cy="7315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1F3F2F"/>
                </a:solidFill>
                <a:latin typeface="Calibri"/>
              </a:rPr>
              <a:t>THE LINK WAS ALWAYS CORRECT; THE STORED POINTER WAS NOT. BOTH HALVES RECORDED ABSOLUTE PATHS, WHICH DIED WHEN A CAPTURE FOLDER WAS FILED INTO ITS SPECIMEN FOLDER — 0/14 AND 1/20 RESOLVED. NOW STORED REPO-RELATIVE, AND EVERY EXISTING FILE REPAIRED FROM THE csv_name THAT DID SURVIVE.</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One capture is honestly unrecoverable: S29's folder was not kept, so its header is left pointing where it pointed rather than at an invented path.</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265</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SF14 · TEST REGISTRY — ONE QUERYABLE INDEX OF EVERY RUN</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34 runs, each with its computed properties and its force anchor, addressable by specimen, material or test label instead of by a path typed into a script.</a:t>
            </a:r>
          </a:p>
        </p:txBody>
      </p:sp>
      <p:sp>
        <p:nvSpPr>
          <p:cNvPr id="6" name="TextBox 5"/>
          <p:cNvSpPr txBox="1"/>
          <p:nvPr/>
        </p:nvSpPr>
        <p:spPr>
          <a:xfrm>
            <a:off x="411480" y="1517904"/>
            <a:ext cx="66751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CLI, run for this slide</a:t>
            </a:r>
          </a:p>
        </p:txBody>
      </p:sp>
      <p:sp>
        <p:nvSpPr>
          <p:cNvPr id="7" name="TextBox 6"/>
          <p:cNvSpPr txBox="1"/>
          <p:nvPr/>
        </p:nvSpPr>
        <p:spPr>
          <a:xfrm>
            <a:off x="411480" y="1865376"/>
            <a:ext cx="6675120" cy="292608"/>
          </a:xfrm>
          <a:prstGeom prst="rect">
            <a:avLst/>
          </a:prstGeom>
          <a:noFill/>
        </p:spPr>
        <p:txBody>
          <a:bodyPr wrap="square" lIns="45720" rIns="45720" tIns="18288" bIns="18288" anchor="t">
            <a:spAutoFit/>
          </a:bodyPr>
          <a:lstStyle/>
          <a:p>
            <a:pPr algn="l"/>
            <a:r>
              <a:rPr sz="950" b="0" i="0">
                <a:solidFill>
                  <a:srgbClr val="000000"/>
                </a:solidFill>
                <a:latin typeface="Consolas"/>
              </a:rPr>
              <a:t>python Software/UTM_PyQt6/utm_registry.py list --contains TPU</a:t>
            </a:r>
          </a:p>
        </p:txBody>
      </p:sp>
      <p:sp>
        <p:nvSpPr>
          <p:cNvPr id="8" name="TextBox 7"/>
          <p:cNvSpPr txBox="1"/>
          <p:nvPr/>
        </p:nvSpPr>
        <p:spPr>
          <a:xfrm>
            <a:off x="411480" y="2231136"/>
            <a:ext cx="6675120" cy="1417320"/>
          </a:xfrm>
          <a:prstGeom prst="rect">
            <a:avLst/>
          </a:prstGeom>
          <a:noFill/>
        </p:spPr>
        <p:txBody>
          <a:bodyPr wrap="square" lIns="45720" rIns="45720" tIns="18288" bIns="18288" anchor="t">
            <a:spAutoFit/>
          </a:bodyPr>
          <a:lstStyle/>
          <a:p>
            <a:pPr algn="l"/>
            <a:r>
              <a:rPr sz="800" b="0" i="0">
                <a:solidFill>
                  <a:srgbClr val="000000"/>
                </a:solidFill>
                <a:latin typeface="Consolas"/>
              </a:rPr>
              <a:t>  test   spec  infill      UTS       sy       E       ef   tough  anchor                 date
---------------------------------------------------------------------------------------------
          S35   100.0     2.25     0.98   0.025   0.1262     178      20  2026-08-24 15:15:56
          S36   100.0     2.21     1.12   0.025   0.1168     165      20  2026-08-24 18:42:25
          S37   100.0      2.6     0.96   0.024   0.1849     601      19  2026-08-26 12:30:26
3 test(s).</a:t>
            </a:r>
          </a:p>
        </p:txBody>
      </p:sp>
      <p:sp>
        <p:nvSpPr>
          <p:cNvPr id="9" name="TextBox 8"/>
          <p:cNvSpPr txBox="1"/>
          <p:nvPr/>
        </p:nvSpPr>
        <p:spPr>
          <a:xfrm>
            <a:off x="411480" y="3703320"/>
            <a:ext cx="6675120" cy="731520"/>
          </a:xfrm>
          <a:prstGeom prst="rect">
            <a:avLst/>
          </a:prstGeom>
          <a:noFill/>
        </p:spPr>
        <p:txBody>
          <a:bodyPr wrap="square" lIns="45720" rIns="45720" tIns="18288" bIns="18288" anchor="t">
            <a:spAutoFit/>
          </a:bodyPr>
          <a:lstStyle/>
          <a:p>
            <a:pPr algn="l"/>
            <a:r>
              <a:rPr sz="900" b="0" i="1">
                <a:solidFill>
                  <a:srgbClr val="707070"/>
                </a:solidFill>
                <a:latin typeface="Calibri"/>
              </a:rPr>
              <a:t>Captured by RUNNING the command at build time, not re-rendered from the JSON — so this slide cannot show a table the tool would not.</a:t>
            </a:r>
          </a:p>
        </p:txBody>
      </p:sp>
      <p:sp>
        <p:nvSpPr>
          <p:cNvPr id="10" name="TextBox 9"/>
          <p:cNvSpPr txBox="1"/>
          <p:nvPr/>
        </p:nvSpPr>
        <p:spPr>
          <a:xfrm>
            <a:off x="7315200" y="1517904"/>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holds</a:t>
            </a:r>
          </a:p>
        </p:txBody>
      </p:sp>
      <p:graphicFrame>
        <p:nvGraphicFramePr>
          <p:cNvPr id="11" name="Table 10"/>
          <p:cNvGraphicFramePr>
            <a:graphicFrameLocks noGrp="1"/>
          </p:cNvGraphicFramePr>
          <p:nvPr/>
        </p:nvGraphicFramePr>
        <p:xfrm>
          <a:off x="7315200" y="1865376"/>
          <a:ext cx="4526280" cy="1188720"/>
        </p:xfrm>
        <a:graphic>
          <a:graphicData uri="http://schemas.openxmlformats.org/drawingml/2006/table">
            <a:tbl>
              <a:tblPr firstRow="1" bandRow="1">
                <a:tableStyleId>{5C22544A-7EE6-4342-B048-85BDC9FD1C3A}</a:tableStyleId>
              </a:tblPr>
              <a:tblGrid>
                <a:gridCol w="2743200"/>
                <a:gridCol w="1783080"/>
              </a:tblGrid>
              <a:tr h="237744">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Runs</a:t>
                      </a:r>
                    </a:p>
                  </a:txBody>
                  <a:tcPr>
                    <a:solidFill>
                      <a:srgbClr val="143D2F"/>
                    </a:solidFill>
                  </a:tcPr>
                </a:tc>
              </a:tr>
              <a:tr h="237744">
                <a:tc>
                  <a:txBody>
                    <a:bodyPr lIns="54864" rIns="54864" tIns="18288" bIns="18288" wrap="square" anchor="ctr"/>
                    <a:lstStyle/>
                    <a:p>
                      <a:pPr algn="l"/>
                      <a:r>
                        <a:rPr sz="880" b="0">
                          <a:solidFill>
                            <a:srgbClr val="000000"/>
                          </a:solidFill>
                          <a:latin typeface="Calibri"/>
                        </a:rPr>
                        <a:t>PLA</a:t>
                      </a:r>
                    </a:p>
                  </a:txBody>
                  <a:tcPr/>
                </a:tc>
                <a:tc>
                  <a:txBody>
                    <a:bodyPr lIns="54864" rIns="54864" tIns="18288" bIns="18288" wrap="square" anchor="ctr"/>
                    <a:lstStyle/>
                    <a:p>
                      <a:pPr algn="l"/>
                      <a:r>
                        <a:rPr sz="880" b="0">
                          <a:solidFill>
                            <a:srgbClr val="000000"/>
                          </a:solidFill>
                          <a:latin typeface="Calibri"/>
                        </a:rPr>
                        <a:t>26</a:t>
                      </a:r>
                    </a:p>
                  </a:txBody>
                  <a:tcPr/>
                </a:tc>
              </a:tr>
              <a:tr h="237744">
                <a:tc>
                  <a:txBody>
                    <a:bodyPr lIns="54864" rIns="54864" tIns="18288" bIns="18288" wrap="square" anchor="ctr"/>
                    <a:lstStyle/>
                    <a:p>
                      <a:pPr algn="l"/>
                      <a:r>
                        <a:rPr sz="880" b="0">
                          <a:solidFill>
                            <a:srgbClr val="000000"/>
                          </a:solidFill>
                          <a:latin typeface="Calibri"/>
                        </a:rPr>
                        <a:t>PETG</a:t>
                      </a:r>
                    </a:p>
                  </a:txBody>
                  <a:tcPr/>
                </a:tc>
                <a:tc>
                  <a:txBody>
                    <a:bodyPr lIns="54864" rIns="54864" tIns="18288" bIns="18288" wrap="square" anchor="ctr"/>
                    <a:lstStyle/>
                    <a:p>
                      <a:pPr algn="l"/>
                      <a:r>
                        <a:rPr sz="880" b="0">
                          <a:solidFill>
                            <a:srgbClr val="000000"/>
                          </a:solidFill>
                          <a:latin typeface="Calibri"/>
                        </a:rPr>
                        <a:t>5</a:t>
                      </a:r>
                    </a:p>
                  </a:txBody>
                  <a:tcPr/>
                </a:tc>
              </a:tr>
              <a:tr h="237744">
                <a:tc>
                  <a:txBody>
                    <a:bodyPr lIns="54864" rIns="54864" tIns="18288" bIns="18288" wrap="square" anchor="ctr"/>
                    <a:lstStyle/>
                    <a:p>
                      <a:pPr algn="l"/>
                      <a:r>
                        <a:rPr sz="880" b="0">
                          <a:solidFill>
                            <a:srgbClr val="000000"/>
                          </a:solidFill>
                          <a:latin typeface="Calibri"/>
                        </a:rPr>
                        <a:t>TPU</a:t>
                      </a:r>
                    </a:p>
                  </a:txBody>
                  <a:tcPr/>
                </a:tc>
                <a:tc>
                  <a:txBody>
                    <a:bodyPr lIns="54864" rIns="54864" tIns="18288" bIns="18288" wrap="square" anchor="ctr"/>
                    <a:lstStyle/>
                    <a:p>
                      <a:pPr algn="l"/>
                      <a:r>
                        <a:rPr sz="880" b="0">
                          <a:solidFill>
                            <a:srgbClr val="000000"/>
                          </a:solidFill>
                          <a:latin typeface="Calibri"/>
                        </a:rPr>
                        <a:t>3</a:t>
                      </a:r>
                    </a:p>
                  </a:txBody>
                  <a:tcPr/>
                </a:tc>
              </a:tr>
              <a:tr h="237744">
                <a:tc>
                  <a:txBody>
                    <a:bodyPr lIns="54864" rIns="54864" tIns="18288" bIns="18288" wrap="square" anchor="ctr"/>
                    <a:lstStyle/>
                    <a:p>
                      <a:pPr algn="l"/>
                      <a:r>
                        <a:rPr sz="880" b="0">
                          <a:solidFill>
                            <a:srgbClr val="000000"/>
                          </a:solidFill>
                          <a:latin typeface="Calibri"/>
                        </a:rPr>
                        <a:t>with a full property set</a:t>
                      </a:r>
                    </a:p>
                  </a:txBody>
                  <a:tcPr/>
                </a:tc>
                <a:tc>
                  <a:txBody>
                    <a:bodyPr lIns="54864" rIns="54864" tIns="18288" bIns="18288" wrap="square" anchor="ctr"/>
                    <a:lstStyle/>
                    <a:p>
                      <a:pPr algn="l"/>
                      <a:r>
                        <a:rPr sz="880" b="0">
                          <a:solidFill>
                            <a:srgbClr val="000000"/>
                          </a:solidFill>
                          <a:latin typeface="Calibri"/>
                        </a:rPr>
                        <a:t>27 of 34</a:t>
                      </a:r>
                    </a:p>
                  </a:txBody>
                  <a:tcPr/>
                </a:tc>
              </a:tr>
            </a:tbl>
          </a:graphicData>
        </a:graphic>
      </p:graphicFrame>
      <p:sp>
        <p:nvSpPr>
          <p:cNvPr id="12" name="TextBox 11"/>
          <p:cNvSpPr txBox="1"/>
          <p:nvPr/>
        </p:nvSpPr>
        <p:spPr>
          <a:xfrm>
            <a:off x="7315200" y="3310128"/>
            <a:ext cx="4526280" cy="1188720"/>
          </a:xfrm>
          <a:prstGeom prst="rect">
            <a:avLst/>
          </a:prstGeom>
          <a:noFill/>
        </p:spPr>
        <p:txBody>
          <a:bodyPr wrap="square" lIns="45720" rIns="45720" tIns="18288" bIns="18288" anchor="t">
            <a:spAutoFit/>
          </a:bodyPr>
          <a:lstStyle/>
          <a:p>
            <a:pPr algn="l"/>
            <a:r>
              <a:rPr sz="919" b="0" i="0">
                <a:solidFill>
                  <a:srgbClr val="000000"/>
                </a:solidFill>
                <a:latin typeface="Calibri"/>
              </a:rPr>
              <a:t>The rest are runs analyze() cannot complete — an abandoned pull, or one that never fractured. The row is KEPT rather than dropped: a blank property is a fact about the run, and deleting it would quietly shrink the denominator.</a:t>
            </a:r>
          </a:p>
        </p:txBody>
      </p:sp>
      <p:sp>
        <p:nvSpPr>
          <p:cNvPr id="13" name="TextBox 12"/>
          <p:cNvSpPr txBox="1"/>
          <p:nvPr/>
        </p:nvSpPr>
        <p:spPr>
          <a:xfrm>
            <a:off x="411480" y="4480560"/>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is actually worth — two bugs it caught</a:t>
            </a:r>
          </a:p>
        </p:txBody>
      </p:sp>
      <p:sp>
        <p:nvSpPr>
          <p:cNvPr id="14" name="TextBox 13"/>
          <p:cNvSpPr txBox="1"/>
          <p:nvPr/>
        </p:nvSpPr>
        <p:spPr>
          <a:xfrm>
            <a:off x="411480" y="4828032"/>
            <a:ext cx="11430000" cy="1051560"/>
          </a:xfrm>
          <a:prstGeom prst="rect">
            <a:avLst/>
          </a:prstGeom>
          <a:noFill/>
        </p:spPr>
        <p:txBody>
          <a:bodyPr wrap="square" lIns="45720" rIns="45720" tIns="18288" bIns="18288" anchor="t">
            <a:spAutoFit/>
          </a:bodyPr>
          <a:lstStyle/>
          <a:p>
            <a:pPr algn="l"/>
            <a:r>
              <a:rPr sz="940" b="0" i="0">
                <a:solidFill>
                  <a:srgbClr val="000000"/>
                </a:solidFill>
                <a:latin typeface="Calibri"/>
              </a:rPr>
              <a:t>•  THE FRACTURE CUT THAT NEVER RAN. Two deck scripts asked analyze() for "fracture_i"; the key is "fr_i", so .get() returned None every time and the PLA and PETG curves carried post-fracture data. Found by enumerating every run through the registry and re-analysing — with paths hard-coded into each script, there was nothing to enumerate.
•  A RENAME, CAUGHT IN ONE LINE. S37's folder gained a “_Video15” suffix after its run. The registry reported one unresolved row immediately; the alternative was a deck build failing later with no clue why.</a:t>
            </a:r>
          </a:p>
        </p:txBody>
      </p:sp>
      <p:sp>
        <p:nvSpPr>
          <p:cNvPr id="15" name="Rectangle 14"/>
          <p:cNvSpPr/>
          <p:nvPr/>
        </p:nvSpPr>
        <p:spPr>
          <a:xfrm>
            <a:off x="365760" y="5925312"/>
            <a:ext cx="1147572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34 ROWS, 0 UNRESOLVED PATHS. THE REGISTRY IS WHAT MAKES “EVERY RUN ON RECORD” A QUERY RATHER THAN A CLAIM.</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Auto-populated on save (SF11) and by utm_registry.py scan. Properties are re-analysed from the CSVs, never copied from a previous result.</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266</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SF15 · DEAD-DIC GUARD — WHEN THE CAMERA STOPS, NOT THE RIG</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The stall guard watches the MOTOR and the backstops watch force, travel and time. None of them can see a dead camera: the crosshead is advancing, the load is rising, and every mechanical signal looks healthy. Only the strain has stopped changing — and in a strain-steered test, that is the signal doing the steering.</a:t>
            </a:r>
          </a:p>
        </p:txBody>
      </p:sp>
      <p:sp>
        <p:nvSpPr>
          <p:cNvPr id="6" name="TextBox 5"/>
          <p:cNvSpPr txBox="1"/>
          <p:nvPr/>
        </p:nvSpPr>
        <p:spPr>
          <a:xfrm>
            <a:off x="411480" y="1572768"/>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fires in TWO stages, not one</a:t>
            </a:r>
          </a:p>
        </p:txBody>
      </p:sp>
      <p:sp>
        <p:nvSpPr>
          <p:cNvPr id="7" name="TextBox 6"/>
          <p:cNvSpPr txBox="1"/>
          <p:nvPr/>
        </p:nvSpPr>
        <p:spPr>
          <a:xfrm>
            <a:off x="411480" y="1920240"/>
            <a:ext cx="5715000" cy="1965960"/>
          </a:xfrm>
          <a:prstGeom prst="rect">
            <a:avLst/>
          </a:prstGeom>
          <a:noFill/>
        </p:spPr>
        <p:txBody>
          <a:bodyPr wrap="square" lIns="45720" rIns="45720" tIns="18288" bIns="18288" anchor="t">
            <a:spAutoFit/>
          </a:bodyPr>
          <a:lstStyle/>
          <a:p>
            <a:pPr algn="l"/>
            <a:r>
              <a:rPr sz="1000" b="0" i="0">
                <a:solidFill>
                  <a:srgbClr val="000000"/>
                </a:solidFill>
                <a:latin typeface="Calibri"/>
              </a:rPr>
              <a:t>A strain-rate loop holds dε/dt by comparing measured strain against the target. If strain stops updating, the loop reads it as “not deforming fast enough” and ramps the speed UP — blind, and at exactly the moment it has no idea what the specimen is doing.
So the first stage does not halt; it FREEZES the commanded speed at the last good value after 0.2 s, about two DIC frames. The run continues at a speed that was correct when strain was last real, and it cannot accelerate into the dark.
Only if strain is still frozen at 1.0 s does it hard-halt: by then the camera is gone, not merely late.</a:t>
            </a:r>
          </a:p>
        </p:txBody>
      </p:sp>
      <p:sp>
        <p:nvSpPr>
          <p:cNvPr id="8" name="TextBox 7"/>
          <p:cNvSpPr txBox="1"/>
          <p:nvPr/>
        </p:nvSpPr>
        <p:spPr>
          <a:xfrm>
            <a:off x="6355080" y="157276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does NOT do</a:t>
            </a:r>
          </a:p>
        </p:txBody>
      </p:sp>
      <p:sp>
        <p:nvSpPr>
          <p:cNvPr id="9" name="TextBox 8"/>
          <p:cNvSpPr txBox="1"/>
          <p:nvPr/>
        </p:nvSpPr>
        <p:spPr>
          <a:xfrm>
            <a:off x="6355080" y="1920240"/>
            <a:ext cx="5486400" cy="1965960"/>
          </a:xfrm>
          <a:prstGeom prst="rect">
            <a:avLst/>
          </a:prstGeom>
          <a:noFill/>
        </p:spPr>
        <p:txBody>
          <a:bodyPr wrap="square" lIns="45720" rIns="45720" tIns="18288" bIns="18288" anchor="t">
            <a:spAutoFit/>
          </a:bodyPr>
          <a:lstStyle/>
          <a:p>
            <a:pPr algn="l"/>
            <a:r>
              <a:rPr sz="1000" b="0" i="0">
                <a:solidFill>
                  <a:srgbClr val="000000"/>
                </a:solidFill>
                <a:latin typeface="Calibri"/>
              </a:rPr>
              <a:t>It does not run on force-steered modes. Cyclic, staircase, creep and relaxation steer on the LOAD CELL, which never goes stale — a frozen camera there costs the DIC column in the CSV and nothing else, so halting the test would be an over-reaction.
It does not fire on a dropped frame either. A single miss is normal; 0.2 s is two frames, and the freeze is harmless if strain resumes.
And it is not the same guard as the DIC↔load matching window (100 ms), which decides whether a strain reading is fresh enough to PAIR with a load sample. That one drops a row; this one stops the machine.</a:t>
            </a:r>
          </a:p>
        </p:txBody>
      </p:sp>
      <p:sp>
        <p:nvSpPr>
          <p:cNvPr id="10" name="TextBox 9"/>
          <p:cNvSpPr txBox="1"/>
          <p:nvPr/>
        </p:nvSpPr>
        <p:spPr>
          <a:xfrm>
            <a:off x="411480" y="404164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layers, and which failure each one catches</a:t>
            </a:r>
          </a:p>
        </p:txBody>
      </p:sp>
      <p:graphicFrame>
        <p:nvGraphicFramePr>
          <p:cNvPr id="11" name="Table 10"/>
          <p:cNvGraphicFramePr>
            <a:graphicFrameLocks noGrp="1"/>
          </p:cNvGraphicFramePr>
          <p:nvPr/>
        </p:nvGraphicFramePr>
        <p:xfrm>
          <a:off x="411480" y="4389120"/>
          <a:ext cx="11430000" cy="1325880"/>
        </p:xfrm>
        <a:graphic>
          <a:graphicData uri="http://schemas.openxmlformats.org/drawingml/2006/table">
            <a:tbl>
              <a:tblPr firstRow="1" bandRow="1">
                <a:tableStyleId>{5C22544A-7EE6-4342-B048-85BDC9FD1C3A}</a:tableStyleId>
              </a:tblPr>
              <a:tblGrid>
                <a:gridCol w="2103120"/>
                <a:gridCol w="2103120"/>
                <a:gridCol w="7223760"/>
              </a:tblGrid>
              <a:tr h="220980">
                <a:tc>
                  <a:txBody>
                    <a:bodyPr lIns="54864" rIns="54864" tIns="18288" bIns="18288" wrap="square" anchor="ctr"/>
                    <a:lstStyle/>
                    <a:p>
                      <a:pPr algn="l"/>
                      <a:r>
                        <a:rPr sz="950" b="1">
                          <a:solidFill>
                            <a:srgbClr val="FFFFFF"/>
                          </a:solidFill>
                          <a:latin typeface="Calibri"/>
                        </a:rPr>
                        <a:t>Guard</a:t>
                      </a:r>
                    </a:p>
                  </a:txBody>
                  <a:tcPr>
                    <a:solidFill>
                      <a:srgbClr val="143D2F"/>
                    </a:solidFill>
                  </a:tcPr>
                </a:tc>
                <a:tc>
                  <a:txBody>
                    <a:bodyPr lIns="54864" rIns="54864" tIns="18288" bIns="18288" wrap="square" anchor="ctr"/>
                    <a:lstStyle/>
                    <a:p>
                      <a:pPr algn="l"/>
                      <a:r>
                        <a:rPr sz="950" b="1">
                          <a:solidFill>
                            <a:srgbClr val="FFFFFF"/>
                          </a:solidFill>
                          <a:latin typeface="Calibri"/>
                        </a:rPr>
                        <a:t>Threshold</a:t>
                      </a:r>
                    </a:p>
                  </a:txBody>
                  <a:tcPr>
                    <a:solidFill>
                      <a:srgbClr val="143D2F"/>
                    </a:solidFill>
                  </a:tcPr>
                </a:tc>
                <a:tc>
                  <a:txBody>
                    <a:bodyPr lIns="54864" rIns="54864" tIns="18288" bIns="18288" wrap="square" anchor="ctr"/>
                    <a:lstStyle/>
                    <a:p>
                      <a:pPr algn="l"/>
                      <a:r>
                        <a:rPr sz="950" b="1">
                          <a:solidFill>
                            <a:srgbClr val="FFFFFF"/>
                          </a:solidFill>
                          <a:latin typeface="Calibri"/>
                        </a:rPr>
                        <a:t>The failure it is the only one to catch</a:t>
                      </a:r>
                    </a:p>
                  </a:txBody>
                  <a:tcPr>
                    <a:solidFill>
                      <a:srgbClr val="143D2F"/>
                    </a:solidFill>
                  </a:tcPr>
                </a:tc>
              </a:tr>
              <a:tr h="220980">
                <a:tc>
                  <a:txBody>
                    <a:bodyPr lIns="54864" rIns="54864" tIns="18288" bIns="18288" wrap="square" anchor="ctr"/>
                    <a:lstStyle/>
                    <a:p>
                      <a:pPr algn="l"/>
                      <a:r>
                        <a:rPr sz="900" b="0">
                          <a:solidFill>
                            <a:srgbClr val="000000"/>
                          </a:solidFill>
                          <a:latin typeface="Calibri"/>
                        </a:rPr>
                        <a:t>Dead-DIC freeze</a:t>
                      </a:r>
                    </a:p>
                  </a:txBody>
                  <a:tcPr/>
                </a:tc>
                <a:tc>
                  <a:txBody>
                    <a:bodyPr lIns="54864" rIns="54864" tIns="18288" bIns="18288" wrap="square" anchor="ctr"/>
                    <a:lstStyle/>
                    <a:p>
                      <a:pPr algn="l"/>
                      <a:r>
                        <a:rPr sz="900" b="0">
                          <a:solidFill>
                            <a:srgbClr val="000000"/>
                          </a:solidFill>
                          <a:latin typeface="Calibri"/>
                        </a:rPr>
                        <a:t>0.2 s of frozen strain</a:t>
                      </a:r>
                    </a:p>
                  </a:txBody>
                  <a:tcPr/>
                </a:tc>
                <a:tc>
                  <a:txBody>
                    <a:bodyPr lIns="54864" rIns="54864" tIns="18288" bIns="18288" wrap="square" anchor="ctr"/>
                    <a:lstStyle/>
                    <a:p>
                      <a:pPr algn="l"/>
                      <a:r>
                        <a:rPr sz="900" b="0">
                          <a:solidFill>
                            <a:srgbClr val="000000"/>
                          </a:solidFill>
                          <a:latin typeface="Calibri"/>
                        </a:rPr>
                        <a:t>the controller ramping up blind because its feedback stopped</a:t>
                      </a:r>
                    </a:p>
                  </a:txBody>
                  <a:tcPr/>
                </a:tc>
              </a:tr>
              <a:tr h="220980">
                <a:tc>
                  <a:txBody>
                    <a:bodyPr lIns="54864" rIns="54864" tIns="18288" bIns="18288" wrap="square" anchor="ctr"/>
                    <a:lstStyle/>
                    <a:p>
                      <a:pPr algn="l"/>
                      <a:r>
                        <a:rPr sz="900" b="0">
                          <a:solidFill>
                            <a:srgbClr val="000000"/>
                          </a:solidFill>
                          <a:latin typeface="Calibri"/>
                        </a:rPr>
                        <a:t>Dead-DIC halt</a:t>
                      </a:r>
                    </a:p>
                  </a:txBody>
                  <a:tcPr/>
                </a:tc>
                <a:tc>
                  <a:txBody>
                    <a:bodyPr lIns="54864" rIns="54864" tIns="18288" bIns="18288" wrap="square" anchor="ctr"/>
                    <a:lstStyle/>
                    <a:p>
                      <a:pPr algn="l"/>
                      <a:r>
                        <a:rPr sz="900" b="0">
                          <a:solidFill>
                            <a:srgbClr val="000000"/>
                          </a:solidFill>
                          <a:latin typeface="Calibri"/>
                        </a:rPr>
                        <a:t>1.0 s of frozen strain</a:t>
                      </a:r>
                    </a:p>
                  </a:txBody>
                  <a:tcPr/>
                </a:tc>
                <a:tc>
                  <a:txBody>
                    <a:bodyPr lIns="54864" rIns="54864" tIns="18288" bIns="18288" wrap="square" anchor="ctr"/>
                    <a:lstStyle/>
                    <a:p>
                      <a:pPr algn="l"/>
                      <a:r>
                        <a:rPr sz="900" b="0">
                          <a:solidFill>
                            <a:srgbClr val="000000"/>
                          </a:solidFill>
                          <a:latin typeface="Calibri"/>
                        </a:rPr>
                        <a:t>a camera that has stopped while the motor keeps pulling normally</a:t>
                      </a:r>
                    </a:p>
                  </a:txBody>
                  <a:tcPr/>
                </a:tc>
              </a:tr>
              <a:tr h="220980">
                <a:tc>
                  <a:txBody>
                    <a:bodyPr lIns="54864" rIns="54864" tIns="18288" bIns="18288" wrap="square" anchor="ctr"/>
                    <a:lstStyle/>
                    <a:p>
                      <a:pPr algn="l"/>
                      <a:r>
                        <a:rPr sz="900" b="0">
                          <a:solidFill>
                            <a:srgbClr val="000000"/>
                          </a:solidFill>
                          <a:latin typeface="Calibri"/>
                        </a:rPr>
                        <a:t>Force backstop</a:t>
                      </a:r>
                    </a:p>
                  </a:txBody>
                  <a:tcPr/>
                </a:tc>
                <a:tc>
                  <a:txBody>
                    <a:bodyPr lIns="54864" rIns="54864" tIns="18288" bIns="18288" wrap="square" anchor="ctr"/>
                    <a:lstStyle/>
                    <a:p>
                      <a:pPr algn="l"/>
                      <a:r>
                        <a:rPr sz="900" b="0">
                          <a:solidFill>
                            <a:srgbClr val="000000"/>
                          </a:solidFill>
                          <a:latin typeface="Calibri"/>
                        </a:rPr>
                        <a:t>4.5 kN</a:t>
                      </a:r>
                    </a:p>
                  </a:txBody>
                  <a:tcPr/>
                </a:tc>
                <a:tc>
                  <a:txBody>
                    <a:bodyPr lIns="54864" rIns="54864" tIns="18288" bIns="18288" wrap="square" anchor="ctr"/>
                    <a:lstStyle/>
                    <a:p>
                      <a:pPr algn="l"/>
                      <a:r>
                        <a:rPr sz="900" b="0">
                          <a:solidFill>
                            <a:srgbClr val="000000"/>
                          </a:solidFill>
                          <a:latin typeface="Calibri"/>
                        </a:rPr>
                        <a:t>a runaway that the specimen cannot stop</a:t>
                      </a:r>
                    </a:p>
                  </a:txBody>
                  <a:tcPr/>
                </a:tc>
              </a:tr>
              <a:tr h="220980">
                <a:tc>
                  <a:txBody>
                    <a:bodyPr lIns="54864" rIns="54864" tIns="18288" bIns="18288" wrap="square" anchor="ctr"/>
                    <a:lstStyle/>
                    <a:p>
                      <a:pPr algn="l"/>
                      <a:r>
                        <a:rPr sz="900" b="0">
                          <a:solidFill>
                            <a:srgbClr val="000000"/>
                          </a:solidFill>
                          <a:latin typeface="Calibri"/>
                        </a:rPr>
                        <a:t>Travel backstop</a:t>
                      </a:r>
                    </a:p>
                  </a:txBody>
                  <a:tcPr/>
                </a:tc>
                <a:tc>
                  <a:txBody>
                    <a:bodyPr lIns="54864" rIns="54864" tIns="18288" bIns="18288" wrap="square" anchor="ctr"/>
                    <a:lstStyle/>
                    <a:p>
                      <a:pPr algn="l"/>
                      <a:r>
                        <a:rPr sz="900" b="0">
                          <a:solidFill>
                            <a:srgbClr val="000000"/>
                          </a:solidFill>
                          <a:latin typeface="Calibri"/>
                        </a:rPr>
                        <a:t>30 mm</a:t>
                      </a:r>
                    </a:p>
                  </a:txBody>
                  <a:tcPr/>
                </a:tc>
                <a:tc>
                  <a:txBody>
                    <a:bodyPr lIns="54864" rIns="54864" tIns="18288" bIns="18288" wrap="square" anchor="ctr"/>
                    <a:lstStyle/>
                    <a:p>
                      <a:pPr algn="l"/>
                      <a:r>
                        <a:rPr sz="900" b="0">
                          <a:solidFill>
                            <a:srgbClr val="000000"/>
                          </a:solidFill>
                          <a:latin typeface="Calibri"/>
                        </a:rPr>
                        <a:t>a post-fracture runaway driving into the end-stop</a:t>
                      </a:r>
                    </a:p>
                  </a:txBody>
                  <a:tcPr/>
                </a:tc>
              </a:tr>
              <a:tr h="220980">
                <a:tc>
                  <a:txBody>
                    <a:bodyPr lIns="54864" rIns="54864" tIns="18288" bIns="18288" wrap="square" anchor="ctr"/>
                    <a:lstStyle/>
                    <a:p>
                      <a:pPr algn="l"/>
                      <a:r>
                        <a:rPr sz="900" b="0">
                          <a:solidFill>
                            <a:srgbClr val="000000"/>
                          </a:solidFill>
                          <a:latin typeface="Calibri"/>
                        </a:rPr>
                        <a:t>Timeout backstop</a:t>
                      </a:r>
                    </a:p>
                  </a:txBody>
                  <a:tcPr/>
                </a:tc>
                <a:tc>
                  <a:txBody>
                    <a:bodyPr lIns="54864" rIns="54864" tIns="18288" bIns="18288" wrap="square" anchor="ctr"/>
                    <a:lstStyle/>
                    <a:p>
                      <a:pPr algn="l"/>
                      <a:r>
                        <a:rPr sz="900" b="0">
                          <a:solidFill>
                            <a:srgbClr val="000000"/>
                          </a:solidFill>
                          <a:latin typeface="Calibri"/>
                        </a:rPr>
                        <a:t>900 s</a:t>
                      </a:r>
                    </a:p>
                  </a:txBody>
                  <a:tcPr/>
                </a:tc>
                <a:tc>
                  <a:txBody>
                    <a:bodyPr lIns="54864" rIns="54864" tIns="18288" bIns="18288" wrap="square" anchor="ctr"/>
                    <a:lstStyle/>
                    <a:p>
                      <a:pPr algn="l"/>
                      <a:r>
                        <a:rPr sz="900" b="0">
                          <a:solidFill>
                            <a:srgbClr val="000000"/>
                          </a:solidFill>
                          <a:latin typeface="Calibri"/>
                        </a:rPr>
                        <a:t>a long hold that never reaches its exit condition</a:t>
                      </a:r>
                    </a:p>
                  </a:txBody>
                  <a:tcPr/>
                </a:tc>
              </a:tr>
            </a:tbl>
          </a:graphicData>
        </a:graphic>
      </p:graphicFrame>
      <p:sp>
        <p:nvSpPr>
          <p:cNvPr id="12" name="Rectangle 11"/>
          <p:cNvSpPr/>
          <p:nvPr/>
        </p:nvSpPr>
        <p:spPr>
          <a:xfrm>
            <a:off x="365760" y="5888736"/>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1F3F2F"/>
                </a:solidFill>
                <a:latin typeface="Calibri"/>
              </a:rPr>
              <a:t>THE POINT IN ONE LINE: every other guard watches the machine, and the machine is fine. This is the only one watching the MEASUREMENT — which in a strain-steered test is the one thing that must not be trusted blindly.</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Thresholds read from main.py: POLICY_STALE_FREEZE_S 0.2 s, POLICY_DEAD_DIC_S 1.0 s, POLICY_MAX_FORCE_N 4.5 kN, POLICY_MAX_TRAVEL_MM 30 mm, POLICY_TIMEOUT_S 900 s.</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267</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SF7 vs SF15 — THE MOTOR GUARD AND THE MEASUREMENT GUARD</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Both halt a running test, so they read as one feature. They are not. They watch different signals, they fire in OPPOSITE directions, and during the failure each one catches, the other sees a perfectly healthy machine.</a:t>
            </a:r>
          </a:p>
        </p:txBody>
      </p:sp>
      <p:sp>
        <p:nvSpPr>
          <p:cNvPr id="6" name="TextBox 5"/>
          <p:cNvSpPr txBox="1"/>
          <p:nvPr/>
        </p:nvSpPr>
        <p:spPr>
          <a:xfrm>
            <a:off x="411480" y="157276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Side by side</a:t>
            </a:r>
          </a:p>
        </p:txBody>
      </p:sp>
      <p:graphicFrame>
        <p:nvGraphicFramePr>
          <p:cNvPr id="7" name="Table 6"/>
          <p:cNvGraphicFramePr>
            <a:graphicFrameLocks noGrp="1"/>
          </p:cNvGraphicFramePr>
          <p:nvPr/>
        </p:nvGraphicFramePr>
        <p:xfrm>
          <a:off x="411480" y="1920240"/>
          <a:ext cx="11430000" cy="1874519"/>
        </p:xfrm>
        <a:graphic>
          <a:graphicData uri="http://schemas.openxmlformats.org/drawingml/2006/table">
            <a:tbl>
              <a:tblPr firstRow="1" bandRow="1">
                <a:tableStyleId>{5C22544A-7EE6-4342-B048-85BDC9FD1C3A}</a:tableStyleId>
              </a:tblPr>
              <a:tblGrid>
                <a:gridCol w="2011680"/>
                <a:gridCol w="4709160"/>
                <a:gridCol w="4709160"/>
              </a:tblGrid>
              <a:tr h="267788">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SF7 · stall guard</a:t>
                      </a:r>
                    </a:p>
                  </a:txBody>
                  <a:tcPr>
                    <a:solidFill>
                      <a:srgbClr val="143D2F"/>
                    </a:solidFill>
                  </a:tcPr>
                </a:tc>
                <a:tc>
                  <a:txBody>
                    <a:bodyPr lIns="54864" rIns="54864" tIns="18288" bIns="18288" wrap="square" anchor="ctr"/>
                    <a:lstStyle/>
                    <a:p>
                      <a:pPr algn="l"/>
                      <a:r>
                        <a:rPr sz="950" b="1">
                          <a:solidFill>
                            <a:srgbClr val="FFFFFF"/>
                          </a:solidFill>
                          <a:latin typeface="Calibri"/>
                        </a:rPr>
                        <a:t>SF15 · dead-DIC guard</a:t>
                      </a:r>
                    </a:p>
                  </a:txBody>
                  <a:tcPr>
                    <a:solidFill>
                      <a:srgbClr val="143D2F"/>
                    </a:solidFill>
                  </a:tcPr>
                </a:tc>
              </a:tr>
              <a:tr h="267788">
                <a:tc>
                  <a:txBody>
                    <a:bodyPr lIns="54864" rIns="54864" tIns="18288" bIns="18288" wrap="square" anchor="ctr"/>
                    <a:lstStyle/>
                    <a:p>
                      <a:pPr algn="l"/>
                      <a:r>
                        <a:rPr sz="900" b="0">
                          <a:solidFill>
                            <a:srgbClr val="000000"/>
                          </a:solidFill>
                          <a:latin typeface="Calibri"/>
                        </a:rPr>
                        <a:t>What it watches</a:t>
                      </a:r>
                    </a:p>
                  </a:txBody>
                  <a:tcPr/>
                </a:tc>
                <a:tc>
                  <a:txBody>
                    <a:bodyPr lIns="54864" rIns="54864" tIns="18288" bIns="18288" wrap="square" anchor="ctr"/>
                    <a:lstStyle/>
                    <a:p>
                      <a:pPr algn="l"/>
                      <a:r>
                        <a:rPr sz="900" b="0">
                          <a:solidFill>
                            <a:srgbClr val="000000"/>
                          </a:solidFill>
                          <a:latin typeface="Calibri"/>
                        </a:rPr>
                        <a:t>the MOTOR — is the crosshead advancing?</a:t>
                      </a:r>
                    </a:p>
                  </a:txBody>
                  <a:tcPr/>
                </a:tc>
                <a:tc>
                  <a:txBody>
                    <a:bodyPr lIns="54864" rIns="54864" tIns="18288" bIns="18288" wrap="square" anchor="ctr"/>
                    <a:lstStyle/>
                    <a:p>
                      <a:pPr algn="l"/>
                      <a:r>
                        <a:rPr sz="900" b="0">
                          <a:solidFill>
                            <a:srgbClr val="000000"/>
                          </a:solidFill>
                          <a:latin typeface="Calibri"/>
                        </a:rPr>
                        <a:t>the MEASUREMENT — is the strain still changing?</a:t>
                      </a:r>
                    </a:p>
                  </a:txBody>
                  <a:tcPr/>
                </a:tc>
              </a:tr>
              <a:tr h="267788">
                <a:tc>
                  <a:txBody>
                    <a:bodyPr lIns="54864" rIns="54864" tIns="18288" bIns="18288" wrap="square" anchor="ctr"/>
                    <a:lstStyle/>
                    <a:p>
                      <a:pPr algn="l"/>
                      <a:r>
                        <a:rPr sz="900" b="0">
                          <a:solidFill>
                            <a:srgbClr val="000000"/>
                          </a:solidFill>
                          <a:latin typeface="Calibri"/>
                        </a:rPr>
                        <a:t>Which sensor</a:t>
                      </a:r>
                    </a:p>
                  </a:txBody>
                  <a:tcPr/>
                </a:tc>
                <a:tc>
                  <a:txBody>
                    <a:bodyPr lIns="54864" rIns="54864" tIns="18288" bIns="18288" wrap="square" anchor="ctr"/>
                    <a:lstStyle/>
                    <a:p>
                      <a:pPr algn="l"/>
                      <a:r>
                        <a:rPr sz="900" b="0">
                          <a:solidFill>
                            <a:srgbClr val="000000"/>
                          </a:solidFill>
                          <a:latin typeface="Calibri"/>
                        </a:rPr>
                        <a:t>the position encoder</a:t>
                      </a:r>
                    </a:p>
                  </a:txBody>
                  <a:tcPr/>
                </a:tc>
                <a:tc>
                  <a:txBody>
                    <a:bodyPr lIns="54864" rIns="54864" tIns="18288" bIns="18288" wrap="square" anchor="ctr"/>
                    <a:lstStyle/>
                    <a:p>
                      <a:pPr algn="l"/>
                      <a:r>
                        <a:rPr sz="900" b="0">
                          <a:solidFill>
                            <a:srgbClr val="000000"/>
                          </a:solidFill>
                          <a:latin typeface="Calibri"/>
                        </a:rPr>
                        <a:t>the camera, through DIC strain</a:t>
                      </a:r>
                    </a:p>
                  </a:txBody>
                  <a:tcPr/>
                </a:tc>
              </a:tr>
              <a:tr h="267788">
                <a:tc>
                  <a:txBody>
                    <a:bodyPr lIns="54864" rIns="54864" tIns="18288" bIns="18288" wrap="square" anchor="ctr"/>
                    <a:lstStyle/>
                    <a:p>
                      <a:pPr algn="l"/>
                      <a:r>
                        <a:rPr sz="900" b="0">
                          <a:solidFill>
                            <a:srgbClr val="000000"/>
                          </a:solidFill>
                          <a:latin typeface="Calibri"/>
                        </a:rPr>
                        <a:t>Fires when there is</a:t>
                      </a:r>
                    </a:p>
                  </a:txBody>
                  <a:tcPr/>
                </a:tc>
                <a:tc>
                  <a:txBody>
                    <a:bodyPr lIns="54864" rIns="54864" tIns="18288" bIns="18288" wrap="square" anchor="ctr"/>
                    <a:lstStyle/>
                    <a:p>
                      <a:pPr algn="l"/>
                      <a:r>
                        <a:rPr sz="900" b="0">
                          <a:solidFill>
                            <a:srgbClr val="000000"/>
                          </a:solidFill>
                          <a:latin typeface="Calibri"/>
                        </a:rPr>
                        <a:t>TOO LITTLE motion</a:t>
                      </a:r>
                    </a:p>
                  </a:txBody>
                  <a:tcPr/>
                </a:tc>
                <a:tc>
                  <a:txBody>
                    <a:bodyPr lIns="54864" rIns="54864" tIns="18288" bIns="18288" wrap="square" anchor="ctr"/>
                    <a:lstStyle/>
                    <a:p>
                      <a:pPr algn="l"/>
                      <a:r>
                        <a:rPr sz="900" b="0">
                          <a:solidFill>
                            <a:srgbClr val="000000"/>
                          </a:solidFill>
                          <a:latin typeface="Calibri"/>
                        </a:rPr>
                        <a:t>no new strain — which would cause TOO MUCH motion</a:t>
                      </a:r>
                    </a:p>
                  </a:txBody>
                  <a:tcPr/>
                </a:tc>
              </a:tr>
              <a:tr h="267788">
                <a:tc>
                  <a:txBody>
                    <a:bodyPr lIns="54864" rIns="54864" tIns="18288" bIns="18288" wrap="square" anchor="ctr"/>
                    <a:lstStyle/>
                    <a:p>
                      <a:pPr algn="l"/>
                      <a:r>
                        <a:rPr sz="900" b="0">
                          <a:solidFill>
                            <a:srgbClr val="000000"/>
                          </a:solidFill>
                          <a:latin typeface="Calibri"/>
                        </a:rPr>
                        <a:t>Threshold</a:t>
                      </a:r>
                    </a:p>
                  </a:txBody>
                  <a:tcPr/>
                </a:tc>
                <a:tc>
                  <a:txBody>
                    <a:bodyPr lIns="54864" rIns="54864" tIns="18288" bIns="18288" wrap="square" anchor="ctr"/>
                    <a:lstStyle/>
                    <a:p>
                      <a:pPr algn="l"/>
                      <a:r>
                        <a:rPr sz="900" b="0">
                          <a:solidFill>
                            <a:srgbClr val="000000"/>
                          </a:solidFill>
                          <a:latin typeface="Calibri"/>
                        </a:rPr>
                        <a:t>less than min(0.05 mm, 35 % of commanded) in 6 s, armed above 200 N</a:t>
                      </a:r>
                    </a:p>
                  </a:txBody>
                  <a:tcPr/>
                </a:tc>
                <a:tc>
                  <a:txBody>
                    <a:bodyPr lIns="54864" rIns="54864" tIns="18288" bIns="18288" wrap="square" anchor="ctr"/>
                    <a:lstStyle/>
                    <a:p>
                      <a:pPr algn="l"/>
                      <a:r>
                        <a:rPr sz="900" b="0">
                          <a:solidFill>
                            <a:srgbClr val="000000"/>
                          </a:solidFill>
                          <a:latin typeface="Calibri"/>
                        </a:rPr>
                        <a:t>strain unchanged for 0.2 s (freeze) then 1.0 s (halt)</a:t>
                      </a:r>
                    </a:p>
                  </a:txBody>
                  <a:tcPr/>
                </a:tc>
              </a:tr>
              <a:tr h="267788">
                <a:tc>
                  <a:txBody>
                    <a:bodyPr lIns="54864" rIns="54864" tIns="18288" bIns="18288" wrap="square" anchor="ctr"/>
                    <a:lstStyle/>
                    <a:p>
                      <a:pPr algn="l"/>
                      <a:r>
                        <a:rPr sz="900" b="0">
                          <a:solidFill>
                            <a:srgbClr val="000000"/>
                          </a:solidFill>
                          <a:latin typeface="Calibri"/>
                        </a:rPr>
                        <a:t>What it does</a:t>
                      </a:r>
                    </a:p>
                  </a:txBody>
                  <a:tcPr/>
                </a:tc>
                <a:tc>
                  <a:txBody>
                    <a:bodyPr lIns="54864" rIns="54864" tIns="18288" bIns="18288" wrap="square" anchor="ctr"/>
                    <a:lstStyle/>
                    <a:p>
                      <a:pPr algn="l"/>
                      <a:r>
                        <a:rPr sz="900" b="0">
                          <a:solidFill>
                            <a:srgbClr val="000000"/>
                          </a:solidFill>
                          <a:latin typeface="Calibri"/>
                        </a:rPr>
                        <a:t>Stop + E-Stop</a:t>
                      </a:r>
                    </a:p>
                  </a:txBody>
                  <a:tcPr/>
                </a:tc>
                <a:tc>
                  <a:txBody>
                    <a:bodyPr lIns="54864" rIns="54864" tIns="18288" bIns="18288" wrap="square" anchor="ctr"/>
                    <a:lstStyle/>
                    <a:p>
                      <a:pPr algn="l"/>
                      <a:r>
                        <a:rPr sz="900" b="0">
                          <a:solidFill>
                            <a:srgbClr val="000000"/>
                          </a:solidFill>
                          <a:latin typeface="Calibri"/>
                        </a:rPr>
                        <a:t>first FREEZES the speed, only then halts</a:t>
                      </a:r>
                    </a:p>
                  </a:txBody>
                  <a:tcPr/>
                </a:tc>
              </a:tr>
              <a:tr h="267791">
                <a:tc>
                  <a:txBody>
                    <a:bodyPr lIns="54864" rIns="54864" tIns="18288" bIns="18288" wrap="square" anchor="ctr"/>
                    <a:lstStyle/>
                    <a:p>
                      <a:pPr algn="l"/>
                      <a:r>
                        <a:rPr sz="900" b="0">
                          <a:solidFill>
                            <a:srgbClr val="000000"/>
                          </a:solidFill>
                          <a:latin typeface="Calibri"/>
                        </a:rPr>
                        <a:t>Runs on</a:t>
                      </a:r>
                    </a:p>
                  </a:txBody>
                  <a:tcPr/>
                </a:tc>
                <a:tc>
                  <a:txBody>
                    <a:bodyPr lIns="54864" rIns="54864" tIns="18288" bIns="18288" wrap="square" anchor="ctr"/>
                    <a:lstStyle/>
                    <a:p>
                      <a:pPr algn="l"/>
                      <a:r>
                        <a:rPr sz="900" b="0">
                          <a:solidFill>
                            <a:srgbClr val="000000"/>
                          </a:solidFill>
                          <a:latin typeface="Calibri"/>
                        </a:rPr>
                        <a:t>any commanded tension pull</a:t>
                      </a:r>
                    </a:p>
                  </a:txBody>
                  <a:tcPr/>
                </a:tc>
                <a:tc>
                  <a:txBody>
                    <a:bodyPr lIns="54864" rIns="54864" tIns="18288" bIns="18288" wrap="square" anchor="ctr"/>
                    <a:lstStyle/>
                    <a:p>
                      <a:pPr algn="l"/>
                      <a:r>
                        <a:rPr sz="900" b="0">
                          <a:solidFill>
                            <a:srgbClr val="000000"/>
                          </a:solidFill>
                          <a:latin typeface="Calibri"/>
                        </a:rPr>
                        <a:t>DIC-steered modes only</a:t>
                      </a:r>
                    </a:p>
                  </a:txBody>
                  <a:tcPr/>
                </a:tc>
              </a:tr>
            </a:tbl>
          </a:graphicData>
        </a:graphic>
      </p:graphicFrame>
      <p:sp>
        <p:nvSpPr>
          <p:cNvPr id="8" name="TextBox 7"/>
          <p:cNvSpPr txBox="1"/>
          <p:nvPr/>
        </p:nvSpPr>
        <p:spPr>
          <a:xfrm>
            <a:off x="411480" y="3950208"/>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failure only SF7 catches</a:t>
            </a:r>
          </a:p>
        </p:txBody>
      </p:sp>
      <p:sp>
        <p:nvSpPr>
          <p:cNvPr id="9" name="TextBox 8"/>
          <p:cNvSpPr txBox="1"/>
          <p:nvPr/>
        </p:nvSpPr>
        <p:spPr>
          <a:xfrm>
            <a:off x="411480" y="4297680"/>
            <a:ext cx="5715000" cy="1481328"/>
          </a:xfrm>
          <a:prstGeom prst="rect">
            <a:avLst/>
          </a:prstGeom>
          <a:noFill/>
        </p:spPr>
        <p:txBody>
          <a:bodyPr wrap="square" lIns="45720" rIns="45720" tIns="18288" bIns="18288" anchor="t">
            <a:spAutoFit/>
          </a:bodyPr>
          <a:lstStyle/>
          <a:p>
            <a:pPr algn="l"/>
            <a:r>
              <a:rPr sz="1000" b="0" i="0">
                <a:solidFill>
                  <a:srgbClr val="000000"/>
                </a:solidFill>
                <a:latin typeface="Calibri"/>
              </a:rPr>
              <a:t>The crosshead stops advancing while the motor is told to pull — binding, a jam, a stall. This is what happened on T7: the pull ground to 192 µm in 118 s, 1.6 % of the commanded rate.
SF15 is blind to it. The camera is fine, so strain keeps updating — it simply reports a specimen that has stopped stretching, which is exactly what a specimen at its yield plateau also looks like.</a:t>
            </a:r>
          </a:p>
        </p:txBody>
      </p:sp>
      <p:sp>
        <p:nvSpPr>
          <p:cNvPr id="10" name="TextBox 9"/>
          <p:cNvSpPr txBox="1"/>
          <p:nvPr/>
        </p:nvSpPr>
        <p:spPr>
          <a:xfrm>
            <a:off x="6355080" y="395020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failure only SF15 catches</a:t>
            </a:r>
          </a:p>
        </p:txBody>
      </p:sp>
      <p:sp>
        <p:nvSpPr>
          <p:cNvPr id="11" name="TextBox 10"/>
          <p:cNvSpPr txBox="1"/>
          <p:nvPr/>
        </p:nvSpPr>
        <p:spPr>
          <a:xfrm>
            <a:off x="6355080" y="4297680"/>
            <a:ext cx="5486400" cy="1481328"/>
          </a:xfrm>
          <a:prstGeom prst="rect">
            <a:avLst/>
          </a:prstGeom>
          <a:noFill/>
        </p:spPr>
        <p:txBody>
          <a:bodyPr wrap="square" lIns="45720" rIns="45720" tIns="18288" bIns="18288" anchor="t">
            <a:spAutoFit/>
          </a:bodyPr>
          <a:lstStyle/>
          <a:p>
            <a:pPr algn="l"/>
            <a:r>
              <a:rPr sz="1000" b="0" i="0">
                <a:solidFill>
                  <a:srgbClr val="000000"/>
                </a:solidFill>
                <a:latin typeface="Calibri"/>
              </a:rPr>
              <a:t>The camera dies mid-pull. The crosshead is advancing, the load is rising, the encoder is healthy — every signal SF7 can see says the test is going perfectly.
And it is worse than merely unmeasured: a strain-rate loop steers ON strain, so frozen strain reads as “not deforming fast enough” and the controller ramps the speed UP, blind. That is why SF15's first stage freezes the speed rather than halting — the danger is acceleration, not the stop.</a:t>
            </a:r>
          </a:p>
        </p:txBody>
      </p:sp>
      <p:sp>
        <p:nvSpPr>
          <p:cNvPr id="12" name="Rectangle 11"/>
          <p:cNvSpPr/>
          <p:nvPr/>
        </p:nvSpPr>
        <p:spPr>
          <a:xfrm>
            <a:off x="365760" y="5888736"/>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1F3F2F"/>
                </a:solidFill>
                <a:latin typeface="Calibri"/>
              </a:rPr>
              <a:t>WHY NEITHER CAN COVER THE OTHER: SF7 asks whether the MACHINE is doing what it was told. SF15 asks whether the MEASUREMENT still means anything. A test can fail either way, and the failure that is invisible to one is the one the other exists for.</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SF7 from STALL_WINDOW_S / STALL_MIN_ADVANCE_MM / STALL_SHORTFALL_FRAC / STALL_MIN_LOAD_N; SF15 from POLICY_STALE_FREEZE_S and POLICY_DEAD_DIC_S.</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268</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CAPTURE WRITES — STILL IMAGES</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Three formats, and EVERY ONE OF THEM IS LOSSLESS — none changes a pixel. The choice is bytes against CPU, never image quality. PNG in particular was never lossy; that is the misconception this slide exists to kill.</a:t>
            </a:r>
          </a:p>
        </p:txBody>
      </p:sp>
      <p:pic>
        <p:nvPicPr>
          <p:cNvPr id="6" name="Picture 5" descr="cap_still_formats.png"/>
          <p:cNvPicPr>
            <a:picLocks noChangeAspect="1"/>
          </p:cNvPicPr>
          <p:nvPr/>
        </p:nvPicPr>
        <p:blipFill>
          <a:blip r:embed="rId2"/>
          <a:stretch>
            <a:fillRect/>
          </a:stretch>
        </p:blipFill>
        <p:spPr>
          <a:xfrm>
            <a:off x="1086479" y="1517904"/>
            <a:ext cx="10034281" cy="2395728"/>
          </a:xfrm>
          <a:prstGeom prst="rect">
            <a:avLst/>
          </a:prstGeom>
        </p:spPr>
      </p:pic>
      <p:graphicFrame>
        <p:nvGraphicFramePr>
          <p:cNvPr id="7" name="Table 6"/>
          <p:cNvGraphicFramePr>
            <a:graphicFrameLocks noGrp="1"/>
          </p:cNvGraphicFramePr>
          <p:nvPr/>
        </p:nvGraphicFramePr>
        <p:xfrm>
          <a:off x="365760" y="4078224"/>
          <a:ext cx="11475720" cy="1188720"/>
        </p:xfrm>
        <a:graphic>
          <a:graphicData uri="http://schemas.openxmlformats.org/drawingml/2006/table">
            <a:tbl>
              <a:tblPr firstRow="1" bandRow="1">
                <a:tableStyleId>{5C22544A-7EE6-4342-B048-85BDC9FD1C3A}</a:tableStyleId>
              </a:tblPr>
              <a:tblGrid>
                <a:gridCol w="2286000"/>
                <a:gridCol w="1188720"/>
                <a:gridCol w="1188720"/>
                <a:gridCol w="914400"/>
                <a:gridCol w="5897880"/>
              </a:tblGrid>
              <a:tr h="297180">
                <a:tc>
                  <a:txBody>
                    <a:bodyPr lIns="54864" rIns="54864" tIns="18288" bIns="18288" wrap="square" anchor="ctr"/>
                    <a:lstStyle/>
                    <a:p>
                      <a:pPr algn="l"/>
                      <a:r>
                        <a:rPr sz="1000" b="1">
                          <a:solidFill>
                            <a:srgbClr val="FFFFFF"/>
                          </a:solidFill>
                          <a:latin typeface="Calibri"/>
                        </a:rPr>
                        <a:t>Format</a:t>
                      </a:r>
                    </a:p>
                  </a:txBody>
                  <a:tcPr>
                    <a:solidFill>
                      <a:srgbClr val="143D2F"/>
                    </a:solidFill>
                  </a:tcPr>
                </a:tc>
                <a:tc>
                  <a:txBody>
                    <a:bodyPr lIns="54864" rIns="54864" tIns="18288" bIns="18288" wrap="square" anchor="ctr"/>
                    <a:lstStyle/>
                    <a:p>
                      <a:pPr algn="l"/>
                      <a:r>
                        <a:rPr sz="1000" b="1">
                          <a:solidFill>
                            <a:srgbClr val="FFFFFF"/>
                          </a:solidFill>
                          <a:latin typeface="Calibri"/>
                        </a:rPr>
                        <a:t>Size / frame</a:t>
                      </a:r>
                    </a:p>
                  </a:txBody>
                  <a:tcPr>
                    <a:solidFill>
                      <a:srgbClr val="143D2F"/>
                    </a:solidFill>
                  </a:tcPr>
                </a:tc>
                <a:tc>
                  <a:txBody>
                    <a:bodyPr lIns="54864" rIns="54864" tIns="18288" bIns="18288" wrap="square" anchor="ctr"/>
                    <a:lstStyle/>
                    <a:p>
                      <a:pPr algn="l"/>
                      <a:r>
                        <a:rPr sz="1000" b="1">
                          <a:solidFill>
                            <a:srgbClr val="FFFFFF"/>
                          </a:solidFill>
                          <a:latin typeface="Calibri"/>
                        </a:rPr>
                        <a:t>CPU to write</a:t>
                      </a:r>
                    </a:p>
                  </a:txBody>
                  <a:tcPr>
                    <a:solidFill>
                      <a:srgbClr val="143D2F"/>
                    </a:solidFill>
                  </a:tcPr>
                </a:tc>
                <a:tc>
                  <a:txBody>
                    <a:bodyPr lIns="54864" rIns="54864" tIns="18288" bIns="18288" wrap="square" anchor="ctr"/>
                    <a:lstStyle/>
                    <a:p>
                      <a:pPr algn="l"/>
                      <a:r>
                        <a:rPr sz="1000" b="1">
                          <a:solidFill>
                            <a:srgbClr val="FFFFFF"/>
                          </a:solidFill>
                          <a:latin typeface="Calibri"/>
                        </a:rPr>
                        <a:t>Lossless</a:t>
                      </a:r>
                    </a:p>
                  </a:txBody>
                  <a:tcPr>
                    <a:solidFill>
                      <a:srgbClr val="143D2F"/>
                    </a:solidFill>
                  </a:tcPr>
                </a:tc>
                <a:tc>
                  <a:txBody>
                    <a:bodyPr lIns="54864" rIns="54864" tIns="18288" bIns="18288" wrap="square" anchor="ctr"/>
                    <a:lstStyle/>
                    <a:p>
                      <a:pPr algn="l"/>
                      <a:r>
                        <a:rPr sz="1000" b="1">
                          <a:solidFill>
                            <a:srgbClr val="FFFFFF"/>
                          </a:solidFill>
                          <a:latin typeface="Calibri"/>
                        </a:rPr>
                        <a:t>When to pick it</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TIFF, uncompressed  ← default</a:t>
                      </a:r>
                    </a:p>
                  </a:txBody>
                  <a:tcPr/>
                </a:tc>
                <a:tc>
                  <a:txBody>
                    <a:bodyPr lIns="54864" rIns="54864" tIns="18288" bIns="18288" wrap="square" anchor="ctr"/>
                    <a:lstStyle/>
                    <a:p>
                      <a:pPr algn="l"/>
                      <a:r>
                        <a:rPr sz="950" b="0">
                          <a:solidFill>
                            <a:srgbClr val="000000"/>
                          </a:solidFill>
                          <a:latin typeface="Calibri"/>
                        </a:rPr>
                        <a:t>0.94 MB</a:t>
                      </a:r>
                    </a:p>
                  </a:txBody>
                  <a:tcPr/>
                </a:tc>
                <a:tc>
                  <a:txBody>
                    <a:bodyPr lIns="54864" rIns="54864" tIns="18288" bIns="18288" wrap="square" anchor="ctr"/>
                    <a:lstStyle/>
                    <a:p>
                      <a:pPr algn="l"/>
                      <a:r>
                        <a:rPr sz="950" b="0">
                          <a:solidFill>
                            <a:srgbClr val="000000"/>
                          </a:solidFill>
                          <a:latin typeface="Calibri"/>
                        </a:rPr>
                        <a:t>1.5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Default. The file IS the sensor bytes, and it is the cheapest to write by far.</a:t>
                      </a:r>
                    </a:p>
                  </a:txBody>
                  <a:tcPr/>
                </a:tc>
              </a:tr>
              <a:tr h="297180">
                <a:tc>
                  <a:txBody>
                    <a:bodyPr lIns="54864" rIns="54864" tIns="18288" bIns="18288" wrap="square" anchor="ctr"/>
                    <a:lstStyle/>
                    <a:p>
                      <a:pPr algn="l"/>
                      <a:r>
                        <a:rPr sz="950" b="0">
                          <a:solidFill>
                            <a:srgbClr val="000000"/>
                          </a:solidFill>
                          <a:latin typeface="Calibri"/>
                        </a:rPr>
                        <a:t>TIFF, LZW</a:t>
                      </a:r>
                    </a:p>
                  </a:txBody>
                  <a:tcPr/>
                </a:tc>
                <a:tc>
                  <a:txBody>
                    <a:bodyPr lIns="54864" rIns="54864" tIns="18288" bIns="18288" wrap="square" anchor="ctr"/>
                    <a:lstStyle/>
                    <a:p>
                      <a:pPr algn="l"/>
                      <a:r>
                        <a:rPr sz="950" b="0">
                          <a:solidFill>
                            <a:srgbClr val="000000"/>
                          </a:solidFill>
                          <a:latin typeface="Calibri"/>
                        </a:rPr>
                        <a:t>0.35 MB</a:t>
                      </a:r>
                    </a:p>
                  </a:txBody>
                  <a:tcPr/>
                </a:tc>
                <a:tc>
                  <a:txBody>
                    <a:bodyPr lIns="54864" rIns="54864" tIns="18288" bIns="18288" wrap="square" anchor="ctr"/>
                    <a:lstStyle/>
                    <a:p>
                      <a:pPr algn="l"/>
                      <a:r>
                        <a:rPr sz="950" b="0">
                          <a:solidFill>
                            <a:srgbClr val="000000"/>
                          </a:solidFill>
                          <a:latin typeface="Calibri"/>
                        </a:rPr>
                        <a:t>7.6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Long runs, or when a session has to fit on a stick — same pixels, a third of the disk.</a:t>
                      </a:r>
                    </a:p>
                  </a:txBody>
                  <a:tcPr/>
                </a:tc>
              </a:tr>
              <a:tr h="297180">
                <a:tc>
                  <a:txBody>
                    <a:bodyPr lIns="54864" rIns="54864" tIns="18288" bIns="18288" wrap="square" anchor="ctr"/>
                    <a:lstStyle/>
                    <a:p>
                      <a:pPr algn="l"/>
                      <a:r>
                        <a:rPr sz="950" b="0">
                          <a:solidFill>
                            <a:srgbClr val="000000"/>
                          </a:solidFill>
                          <a:latin typeface="Calibri"/>
                        </a:rPr>
                        <a:t>PNG</a:t>
                      </a:r>
                    </a:p>
                  </a:txBody>
                  <a:tcPr/>
                </a:tc>
                <a:tc>
                  <a:txBody>
                    <a:bodyPr lIns="54864" rIns="54864" tIns="18288" bIns="18288" wrap="square" anchor="ctr"/>
                    <a:lstStyle/>
                    <a:p>
                      <a:pPr algn="l"/>
                      <a:r>
                        <a:rPr sz="950" b="0">
                          <a:solidFill>
                            <a:srgbClr val="000000"/>
                          </a:solidFill>
                          <a:latin typeface="Calibri"/>
                        </a:rPr>
                        <a:t>0.95 MB</a:t>
                      </a:r>
                    </a:p>
                  </a:txBody>
                  <a:tcPr/>
                </a:tc>
                <a:tc>
                  <a:txBody>
                    <a:bodyPr lIns="54864" rIns="54864" tIns="18288" bIns="18288" wrap="square" anchor="ctr"/>
                    <a:lstStyle/>
                    <a:p>
                      <a:pPr algn="l"/>
                      <a:r>
                        <a:rPr sz="950" b="0">
                          <a:solidFill>
                            <a:srgbClr val="000000"/>
                          </a:solidFill>
                          <a:latin typeface="Calibri"/>
                        </a:rPr>
                        <a:t>7.3 ms</a:t>
                      </a:r>
                    </a:p>
                  </a:txBody>
                  <a:tcPr/>
                </a:tc>
                <a:tc>
                  <a:txBody>
                    <a:bodyPr lIns="54864" rIns="54864" tIns="18288" bIns="18288" wrap="square" anchor="ctr"/>
                    <a:lstStyle/>
                    <a:p>
                      <a:pPr algn="l"/>
                      <a:r>
                        <a:rPr sz="950" b="0">
                          <a:solidFill>
                            <a:srgbClr val="000000"/>
                          </a:solidFill>
                          <a:latin typeface="Calibri"/>
                        </a:rPr>
                        <a:t>yes</a:t>
                      </a:r>
                    </a:p>
                  </a:txBody>
                  <a:tcPr/>
                </a:tc>
                <a:tc>
                  <a:txBody>
                    <a:bodyPr lIns="54864" rIns="54864" tIns="18288" bIns="18288" wrap="square" anchor="ctr"/>
                    <a:lstStyle/>
                    <a:p>
                      <a:pPr algn="l"/>
                      <a:r>
                        <a:rPr sz="950" b="0">
                          <a:solidFill>
                            <a:srgbClr val="000000"/>
                          </a:solidFill>
                          <a:latin typeface="Calibri"/>
                        </a:rPr>
                        <a:t>What the rig wrote until 2026-08-21. Kept for tools that will not read TIFF.</a:t>
                      </a:r>
                    </a:p>
                  </a:txBody>
                  <a:tcPr/>
                </a:tc>
              </a:tr>
            </a:tbl>
          </a:graphicData>
        </a:graphic>
      </p:graphicFrame>
      <p:sp>
        <p:nvSpPr>
          <p:cNvPr id="8" name="Rectangle 7"/>
          <p:cNvSpPr/>
          <p:nvPr/>
        </p:nvSpPr>
        <p:spPr>
          <a:xfrm>
            <a:off x="365760" y="5431536"/>
            <a:ext cx="11475720" cy="50292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Switching the default from PNG to uncompressed TIFF cost nothing and saved four fifths of the CPU: same pixels, same size on disk, 1.5 ms instead of 7.3.</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Measured on a real 419×2348 frame from S26. A binary speckle view is written compressed whichever format is chosen — uncompressed TIFF on a two-tone frame would waste the same 23× that PNG level 1 was introduced to capture.</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269</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CAPTURE WRITES — VIDEO</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Here the choice DOES change the pixels. The video was MJPG until 2026-08-21, and MJPG is lossy — the panel below shows exactly where it loses the image, and it is not a subtle place.</a:t>
            </a:r>
          </a:p>
        </p:txBody>
      </p:sp>
      <p:pic>
        <p:nvPicPr>
          <p:cNvPr id="6" name="Picture 5" descr="cap_video_codecs.png"/>
          <p:cNvPicPr>
            <a:picLocks noChangeAspect="1"/>
          </p:cNvPicPr>
          <p:nvPr/>
        </p:nvPicPr>
        <p:blipFill>
          <a:blip r:embed="rId2"/>
          <a:stretch>
            <a:fillRect/>
          </a:stretch>
        </p:blipFill>
        <p:spPr>
          <a:xfrm>
            <a:off x="1943348" y="1481328"/>
            <a:ext cx="8320543" cy="2487168"/>
          </a:xfrm>
          <a:prstGeom prst="rect">
            <a:avLst/>
          </a:prstGeom>
        </p:spPr>
      </p:pic>
      <p:graphicFrame>
        <p:nvGraphicFramePr>
          <p:cNvPr id="7" name="Table 6"/>
          <p:cNvGraphicFramePr>
            <a:graphicFrameLocks noGrp="1"/>
          </p:cNvGraphicFramePr>
          <p:nvPr/>
        </p:nvGraphicFramePr>
        <p:xfrm>
          <a:off x="365760" y="4133087"/>
          <a:ext cx="11475720" cy="1188720"/>
        </p:xfrm>
        <a:graphic>
          <a:graphicData uri="http://schemas.openxmlformats.org/drawingml/2006/table">
            <a:tbl>
              <a:tblPr firstRow="1" bandRow="1">
                <a:tableStyleId>{5C22544A-7EE6-4342-B048-85BDC9FD1C3A}</a:tableStyleId>
              </a:tblPr>
              <a:tblGrid>
                <a:gridCol w="1737360"/>
                <a:gridCol w="1097280"/>
                <a:gridCol w="1188720"/>
                <a:gridCol w="822960"/>
                <a:gridCol w="731520"/>
                <a:gridCol w="5897880"/>
              </a:tblGrid>
              <a:tr h="297180">
                <a:tc>
                  <a:txBody>
                    <a:bodyPr lIns="54864" rIns="54864" tIns="18288" bIns="18288" wrap="square" anchor="ctr"/>
                    <a:lstStyle/>
                    <a:p>
                      <a:pPr algn="l"/>
                      <a:r>
                        <a:rPr sz="1000" b="1">
                          <a:solidFill>
                            <a:srgbClr val="FFFFFF"/>
                          </a:solidFill>
                          <a:latin typeface="Calibri"/>
                        </a:rPr>
                        <a:t>Codec</a:t>
                      </a:r>
                    </a:p>
                  </a:txBody>
                  <a:tcPr>
                    <a:solidFill>
                      <a:srgbClr val="143D2F"/>
                    </a:solidFill>
                  </a:tcPr>
                </a:tc>
                <a:tc>
                  <a:txBody>
                    <a:bodyPr lIns="54864" rIns="54864" tIns="18288" bIns="18288" wrap="square" anchor="ctr"/>
                    <a:lstStyle/>
                    <a:p>
                      <a:pPr algn="l"/>
                      <a:r>
                        <a:rPr sz="1000" b="1">
                          <a:solidFill>
                            <a:srgbClr val="FFFFFF"/>
                          </a:solidFill>
                          <a:latin typeface="Calibri"/>
                        </a:rPr>
                        <a:t>Pixels kept</a:t>
                      </a:r>
                    </a:p>
                  </a:txBody>
                  <a:tcPr>
                    <a:solidFill>
                      <a:srgbClr val="143D2F"/>
                    </a:solidFill>
                  </a:tcPr>
                </a:tc>
                <a:tc>
                  <a:txBody>
                    <a:bodyPr lIns="54864" rIns="54864" tIns="18288" bIns="18288" wrap="square" anchor="ctr"/>
                    <a:lstStyle/>
                    <a:p>
                      <a:pPr algn="l"/>
                      <a:r>
                        <a:rPr sz="1000" b="1">
                          <a:solidFill>
                            <a:srgbClr val="FFFFFF"/>
                          </a:solidFill>
                          <a:latin typeface="Calibri"/>
                        </a:rPr>
                        <a:t>Size / frame</a:t>
                      </a:r>
                    </a:p>
                  </a:txBody>
                  <a:tcPr>
                    <a:solidFill>
                      <a:srgbClr val="143D2F"/>
                    </a:solidFill>
                  </a:tcPr>
                </a:tc>
                <a:tc>
                  <a:txBody>
                    <a:bodyPr lIns="54864" rIns="54864" tIns="18288" bIns="18288" wrap="square" anchor="ctr"/>
                    <a:lstStyle/>
                    <a:p>
                      <a:pPr algn="l"/>
                      <a:r>
                        <a:rPr sz="1000" b="1">
                          <a:solidFill>
                            <a:srgbClr val="FFFFFF"/>
                          </a:solidFill>
                          <a:latin typeface="Calibri"/>
                        </a:rPr>
                        <a:t>CPU</a:t>
                      </a:r>
                    </a:p>
                  </a:txBody>
                  <a:tcPr>
                    <a:solidFill>
                      <a:srgbClr val="143D2F"/>
                    </a:solidFill>
                  </a:tcPr>
                </a:tc>
                <a:tc>
                  <a:txBody>
                    <a:bodyPr lIns="54864" rIns="54864" tIns="18288" bIns="18288" wrap="square" anchor="ctr"/>
                    <a:lstStyle/>
                    <a:p>
                      <a:pPr algn="l"/>
                      <a:r>
                        <a:rPr sz="1000" b="1">
                          <a:solidFill>
                            <a:srgbClr val="FFFFFF"/>
                          </a:solidFill>
                          <a:latin typeface="Calibri"/>
                        </a:rPr>
                        <a:t>File</a:t>
                      </a:r>
                    </a:p>
                  </a:txBody>
                  <a:tcPr>
                    <a:solidFill>
                      <a:srgbClr val="143D2F"/>
                    </a:solidFill>
                  </a:tcPr>
                </a:tc>
                <a:tc>
                  <a:txBody>
                    <a:bodyPr lIns="54864" rIns="54864" tIns="18288" bIns="18288" wrap="square" anchor="ctr"/>
                    <a:lstStyle/>
                    <a:p>
                      <a:pPr algn="l"/>
                      <a:r>
                        <a:rPr sz="1000" b="1">
                          <a:solidFill>
                            <a:srgbClr val="FFFFFF"/>
                          </a:solidFill>
                          <a:latin typeface="Calibri"/>
                        </a:rPr>
                        <a:t>When to pick it</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FFV1  ← default</a:t>
                      </a:r>
                    </a:p>
                  </a:txBody>
                  <a:tcPr/>
                </a:tc>
                <a:tc>
                  <a:txBody>
                    <a:bodyPr lIns="54864" rIns="54864" tIns="18288" bIns="18288" wrap="square" anchor="ctr"/>
                    <a:lstStyle/>
                    <a:p>
                      <a:pPr algn="l"/>
                      <a:r>
                        <a:rPr sz="950" b="0">
                          <a:solidFill>
                            <a:srgbClr val="000000"/>
                          </a:solidFill>
                          <a:latin typeface="Calibri"/>
                        </a:rPr>
                        <a:t>100.0 %</a:t>
                      </a:r>
                    </a:p>
                  </a:txBody>
                  <a:tcPr/>
                </a:tc>
                <a:tc>
                  <a:txBody>
                    <a:bodyPr lIns="54864" rIns="54864" tIns="18288" bIns="18288" wrap="square" anchor="ctr"/>
                    <a:lstStyle/>
                    <a:p>
                      <a:pPr algn="l"/>
                      <a:r>
                        <a:rPr sz="950" b="0">
                          <a:solidFill>
                            <a:srgbClr val="000000"/>
                          </a:solidFill>
                          <a:latin typeface="Calibri"/>
                        </a:rPr>
                        <a:t>0.22 MB</a:t>
                      </a:r>
                    </a:p>
                  </a:txBody>
                  <a:tcPr/>
                </a:tc>
                <a:tc>
                  <a:txBody>
                    <a:bodyPr lIns="54864" rIns="54864" tIns="18288" bIns="18288" wrap="square" anchor="ctr"/>
                    <a:lstStyle/>
                    <a:p>
                      <a:pPr algn="l"/>
                      <a:r>
                        <a:rPr sz="950" b="0">
                          <a:solidFill>
                            <a:srgbClr val="000000"/>
                          </a:solidFill>
                          <a:latin typeface="Calibri"/>
                        </a:rPr>
                        <a:t>9.7 ms</a:t>
                      </a:r>
                    </a:p>
                  </a:txBody>
                  <a:tcPr/>
                </a:tc>
                <a:tc>
                  <a:txBody>
                    <a:bodyPr lIns="54864" rIns="54864" tIns="18288" bIns="18288" wrap="square" anchor="ctr"/>
                    <a:lstStyle/>
                    <a:p>
                      <a:pPr algn="l"/>
                      <a:r>
                        <a:rPr sz="950" b="0">
                          <a:solidFill>
                            <a:srgbClr val="000000"/>
                          </a:solidFill>
                          <a:latin typeface="Calibri"/>
                        </a:rPr>
                        <a:t>.mkv</a:t>
                      </a:r>
                    </a:p>
                  </a:txBody>
                  <a:tcPr/>
                </a:tc>
                <a:tc>
                  <a:txBody>
                    <a:bodyPr lIns="54864" rIns="54864" tIns="18288" bIns="18288" wrap="square" anchor="ctr"/>
                    <a:lstStyle/>
                    <a:p>
                      <a:pPr algn="l"/>
                      <a:r>
                        <a:rPr sz="950" b="0">
                          <a:solidFill>
                            <a:srgbClr val="000000"/>
                          </a:solidFill>
                          <a:latin typeface="Calibri"/>
                        </a:rPr>
                        <a:t>Default. The only codec that is both lossless AND small — use it if the video will be re-analysed.</a:t>
                      </a:r>
                    </a:p>
                  </a:txBody>
                  <a:tcPr/>
                </a:tc>
              </a:tr>
              <a:tr h="297180">
                <a:tc>
                  <a:txBody>
                    <a:bodyPr lIns="54864" rIns="54864" tIns="18288" bIns="18288" wrap="square" anchor="ctr"/>
                    <a:lstStyle/>
                    <a:p>
                      <a:pPr algn="l"/>
                      <a:r>
                        <a:rPr sz="950" b="0">
                          <a:solidFill>
                            <a:srgbClr val="000000"/>
                          </a:solidFill>
                          <a:latin typeface="Calibri"/>
                        </a:rPr>
                        <a:t>Raw Y800</a:t>
                      </a:r>
                    </a:p>
                  </a:txBody>
                  <a:tcPr/>
                </a:tc>
                <a:tc>
                  <a:txBody>
                    <a:bodyPr lIns="54864" rIns="54864" tIns="18288" bIns="18288" wrap="square" anchor="ctr"/>
                    <a:lstStyle/>
                    <a:p>
                      <a:pPr algn="l"/>
                      <a:r>
                        <a:rPr sz="950" b="0">
                          <a:solidFill>
                            <a:srgbClr val="000000"/>
                          </a:solidFill>
                          <a:latin typeface="Calibri"/>
                        </a:rPr>
                        <a:t>100.0 %</a:t>
                      </a:r>
                    </a:p>
                  </a:txBody>
                  <a:tcPr/>
                </a:tc>
                <a:tc>
                  <a:txBody>
                    <a:bodyPr lIns="54864" rIns="54864" tIns="18288" bIns="18288" wrap="square" anchor="ctr"/>
                    <a:lstStyle/>
                    <a:p>
                      <a:pPr algn="l"/>
                      <a:r>
                        <a:rPr sz="950" b="0">
                          <a:solidFill>
                            <a:srgbClr val="000000"/>
                          </a:solidFill>
                          <a:latin typeface="Calibri"/>
                        </a:rPr>
                        <a:t>0.94 MB</a:t>
                      </a:r>
                    </a:p>
                  </a:txBody>
                  <a:tcPr/>
                </a:tc>
                <a:tc>
                  <a:txBody>
                    <a:bodyPr lIns="54864" rIns="54864" tIns="18288" bIns="18288" wrap="square" anchor="ctr"/>
                    <a:lstStyle/>
                    <a:p>
                      <a:pPr algn="l"/>
                      <a:r>
                        <a:rPr sz="950" b="0">
                          <a:solidFill>
                            <a:srgbClr val="000000"/>
                          </a:solidFill>
                          <a:latin typeface="Calibri"/>
                        </a:rPr>
                        <a:t>0.8 ms</a:t>
                      </a:r>
                    </a:p>
                  </a:txBody>
                  <a:tcPr/>
                </a:tc>
                <a:tc>
                  <a:txBody>
                    <a:bodyPr lIns="54864" rIns="54864" tIns="18288" bIns="18288" wrap="square" anchor="ctr"/>
                    <a:lstStyle/>
                    <a:p>
                      <a:pPr algn="l"/>
                      <a:r>
                        <a:rPr sz="950" b="0">
                          <a:solidFill>
                            <a:srgbClr val="000000"/>
                          </a:solidFill>
                          <a:latin typeface="Calibri"/>
                        </a:rPr>
                        <a:t>.avi</a:t>
                      </a:r>
                    </a:p>
                  </a:txBody>
                  <a:tcPr/>
                </a:tc>
                <a:tc>
                  <a:txBody>
                    <a:bodyPr lIns="54864" rIns="54864" tIns="18288" bIns="18288" wrap="square" anchor="ctr"/>
                    <a:lstStyle/>
                    <a:p>
                      <a:pPr algn="l"/>
                      <a:r>
                        <a:rPr sz="950" b="0">
                          <a:solidFill>
                            <a:srgbClr val="000000"/>
                          </a:solidFill>
                          <a:latin typeface="Calibri"/>
                        </a:rPr>
                        <a:t>No encoding at all. Pixel-perfect and cheapest on CPU, but 4× the size.</a:t>
                      </a:r>
                    </a:p>
                  </a:txBody>
                  <a:tcPr/>
                </a:tc>
              </a:tr>
              <a:tr h="297180">
                <a:tc>
                  <a:txBody>
                    <a:bodyPr lIns="54864" rIns="54864" tIns="18288" bIns="18288" wrap="square" anchor="ctr"/>
                    <a:lstStyle/>
                    <a:p>
                      <a:pPr algn="l"/>
                      <a:r>
                        <a:rPr sz="950" b="0">
                          <a:solidFill>
                            <a:srgbClr val="000000"/>
                          </a:solidFill>
                          <a:latin typeface="Calibri"/>
                        </a:rPr>
                        <a:t>MJPG</a:t>
                      </a:r>
                    </a:p>
                  </a:txBody>
                  <a:tcPr/>
                </a:tc>
                <a:tc>
                  <a:txBody>
                    <a:bodyPr lIns="54864" rIns="54864" tIns="18288" bIns="18288" wrap="square" anchor="ctr"/>
                    <a:lstStyle/>
                    <a:p>
                      <a:pPr algn="l"/>
                      <a:r>
                        <a:rPr sz="950" b="0">
                          <a:solidFill>
                            <a:srgbClr val="000000"/>
                          </a:solidFill>
                          <a:latin typeface="Calibri"/>
                        </a:rPr>
                        <a:t>51.8 %</a:t>
                      </a:r>
                    </a:p>
                  </a:txBody>
                  <a:tcPr/>
                </a:tc>
                <a:tc>
                  <a:txBody>
                    <a:bodyPr lIns="54864" rIns="54864" tIns="18288" bIns="18288" wrap="square" anchor="ctr"/>
                    <a:lstStyle/>
                    <a:p>
                      <a:pPr algn="l"/>
                      <a:r>
                        <a:rPr sz="950" b="0">
                          <a:solidFill>
                            <a:srgbClr val="000000"/>
                          </a:solidFill>
                          <a:latin typeface="Calibri"/>
                        </a:rPr>
                        <a:t>0.04 MB</a:t>
                      </a:r>
                    </a:p>
                  </a:txBody>
                  <a:tcPr/>
                </a:tc>
                <a:tc>
                  <a:txBody>
                    <a:bodyPr lIns="54864" rIns="54864" tIns="18288" bIns="18288" wrap="square" anchor="ctr"/>
                    <a:lstStyle/>
                    <a:p>
                      <a:pPr algn="l"/>
                      <a:r>
                        <a:rPr sz="950" b="0">
                          <a:solidFill>
                            <a:srgbClr val="000000"/>
                          </a:solidFill>
                          <a:latin typeface="Calibri"/>
                        </a:rPr>
                        <a:t>2.6 ms</a:t>
                      </a:r>
                    </a:p>
                  </a:txBody>
                  <a:tcPr/>
                </a:tc>
                <a:tc>
                  <a:txBody>
                    <a:bodyPr lIns="54864" rIns="54864" tIns="18288" bIns="18288" wrap="square" anchor="ctr"/>
                    <a:lstStyle/>
                    <a:p>
                      <a:pPr algn="l"/>
                      <a:r>
                        <a:rPr sz="950" b="0">
                          <a:solidFill>
                            <a:srgbClr val="000000"/>
                          </a:solidFill>
                          <a:latin typeface="Calibri"/>
                        </a:rPr>
                        <a:t>.avi</a:t>
                      </a:r>
                    </a:p>
                  </a:txBody>
                  <a:tcPr/>
                </a:tc>
                <a:tc>
                  <a:txBody>
                    <a:bodyPr lIns="54864" rIns="54864" tIns="18288" bIns="18288" wrap="square" anchor="ctr"/>
                    <a:lstStyle/>
                    <a:p>
                      <a:pPr algn="l"/>
                      <a:r>
                        <a:rPr sz="950" b="0">
                          <a:solidFill>
                            <a:srgbClr val="000000"/>
                          </a:solidFill>
                          <a:latin typeface="Calibri"/>
                        </a:rPr>
                        <a:t>Tiny and seeks well, so it is fine to WATCH — but never measure from it.</a:t>
                      </a:r>
                    </a:p>
                  </a:txBody>
                  <a:tcPr/>
                </a:tc>
              </a:tr>
            </a:tbl>
          </a:graphicData>
        </a:graphic>
      </p:graphicFrame>
      <p:sp>
        <p:nvSpPr>
          <p:cNvPr id="8" name="Rectangle 7"/>
          <p:cNvSpPr/>
          <p:nvPr/>
        </p:nvSpPr>
        <p:spPr>
          <a:xfrm>
            <a:off x="365760" y="5486400"/>
            <a:ext cx="11475720" cy="50292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ALSO FIXED: every codec works in even-width blocks, so the rig's 419 px ROI came back 418 and the outermost column was gone for good. Frames are now PADDED to even and run.json records the true width, so a reader can crop it back exactly.</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HuffYUV, FFVHuff and both Ut Video variants claim lossless and returned only 72 % identical on this build; lossless JPEG silently fell back to MJPG. Only the two verified at 100.0 % are offered as lossless.</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270</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THREE RUNS ON ONE MATERIAL</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S29 is excluded outright: it was loaded repeatedly before it finally fractured, so its curve is not a single monotonic pull and nothing from it describes virgin material. Three runs remain, all 100 % infill at 0.10 mm/s.</a:t>
            </a:r>
          </a:p>
        </p:txBody>
      </p:sp>
      <p:pic>
        <p:nvPicPr>
          <p:cNvPr id="6" name="Picture 5" descr="petg_trio.png"/>
          <p:cNvPicPr>
            <a:picLocks noChangeAspect="1"/>
          </p:cNvPicPr>
          <p:nvPr/>
        </p:nvPicPr>
        <p:blipFill>
          <a:blip r:embed="rId2"/>
          <a:stretch>
            <a:fillRect/>
          </a:stretch>
        </p:blipFill>
        <p:spPr>
          <a:xfrm>
            <a:off x="1661160" y="1572768"/>
            <a:ext cx="8656319" cy="3246120"/>
          </a:xfrm>
          <a:prstGeom prst="rect">
            <a:avLst/>
          </a:prstGeom>
        </p:spPr>
      </p:pic>
      <p:graphicFrame>
        <p:nvGraphicFramePr>
          <p:cNvPr id="7" name="Table 6"/>
          <p:cNvGraphicFramePr>
            <a:graphicFrameLocks noGrp="1"/>
          </p:cNvGraphicFramePr>
          <p:nvPr/>
        </p:nvGraphicFramePr>
        <p:xfrm>
          <a:off x="365760" y="4992624"/>
          <a:ext cx="11475716" cy="960120"/>
        </p:xfrm>
        <a:graphic>
          <a:graphicData uri="http://schemas.openxmlformats.org/drawingml/2006/table">
            <a:tbl>
              <a:tblPr firstRow="1" bandRow="1">
                <a:tableStyleId>{5C22544A-7EE6-4342-B048-85BDC9FD1C3A}</a:tableStyleId>
              </a:tblPr>
              <a:tblGrid>
                <a:gridCol w="1012563"/>
                <a:gridCol w="1237577"/>
                <a:gridCol w="1575098"/>
                <a:gridCol w="1350084"/>
                <a:gridCol w="1125070"/>
                <a:gridCol w="1125070"/>
                <a:gridCol w="4050254"/>
              </a:tblGrid>
              <a:tr h="240030">
                <a:tc>
                  <a:txBody>
                    <a:bodyPr lIns="54864" rIns="54864" tIns="18288" bIns="18288" wrap="square" anchor="ctr"/>
                    <a:lstStyle/>
                    <a:p>
                      <a:pPr algn="l"/>
                      <a:r>
                        <a:rPr sz="1000" b="1">
                          <a:solidFill>
                            <a:srgbClr val="FFFFFF"/>
                          </a:solidFill>
                          <a:latin typeface="Calibri"/>
                        </a:rPr>
                        <a:t>Run</a:t>
                      </a:r>
                    </a:p>
                  </a:txBody>
                  <a:tcPr>
                    <a:solidFill>
                      <a:srgbClr val="143D2F"/>
                    </a:solidFill>
                  </a:tcPr>
                </a:tc>
                <a:tc>
                  <a:txBody>
                    <a:bodyPr lIns="54864" rIns="54864" tIns="18288" bIns="18288" wrap="square" anchor="ctr"/>
                    <a:lstStyle/>
                    <a:p>
                      <a:pPr algn="l"/>
                      <a:r>
                        <a:rPr sz="1000" b="1">
                          <a:solidFill>
                            <a:srgbClr val="FFFFFF"/>
                          </a:solidFill>
                          <a:latin typeface="Calibri"/>
                        </a:rPr>
                        <a:t>Tracked</a:t>
                      </a:r>
                    </a:p>
                  </a:txBody>
                  <a:tcPr>
                    <a:solidFill>
                      <a:srgbClr val="143D2F"/>
                    </a:solidFill>
                  </a:tcPr>
                </a:tc>
                <a:tc>
                  <a:txBody>
                    <a:bodyPr lIns="54864" rIns="54864" tIns="18288" bIns="18288" wrap="square" anchor="ctr"/>
                    <a:lstStyle/>
                    <a:p>
                      <a:pPr algn="l"/>
                      <a:r>
                        <a:rPr sz="1000" b="1">
                          <a:solidFill>
                            <a:srgbClr val="FFFFFF"/>
                          </a:solidFill>
                          <a:latin typeface="Calibri"/>
                        </a:rPr>
                        <a:t>Peak load N</a:t>
                      </a:r>
                    </a:p>
                  </a:txBody>
                  <a:tcPr>
                    <a:solidFill>
                      <a:srgbClr val="143D2F"/>
                    </a:solidFill>
                  </a:tcPr>
                </a:tc>
                <a:tc>
                  <a:txBody>
                    <a:bodyPr lIns="54864" rIns="54864" tIns="18288" bIns="18288" wrap="square" anchor="ctr"/>
                    <a:lstStyle/>
                    <a:p>
                      <a:pPr algn="l"/>
                      <a:r>
                        <a:rPr sz="1000" b="1">
                          <a:solidFill>
                            <a:srgbClr val="FFFFFF"/>
                          </a:solidFill>
                          <a:latin typeface="Calibri"/>
                        </a:rPr>
                        <a:t>UTS MPa</a:t>
                      </a:r>
                    </a:p>
                  </a:txBody>
                  <a:tcPr>
                    <a:solidFill>
                      <a:srgbClr val="143D2F"/>
                    </a:solidFill>
                  </a:tcPr>
                </a:tc>
                <a:tc>
                  <a:txBody>
                    <a:bodyPr lIns="54864" rIns="54864" tIns="18288" bIns="18288" wrap="square" anchor="ctr"/>
                    <a:lstStyle/>
                    <a:p>
                      <a:pPr algn="l"/>
                      <a:r>
                        <a:rPr sz="1000" b="1">
                          <a:solidFill>
                            <a:srgbClr val="FFFFFF"/>
                          </a:solidFill>
                          <a:latin typeface="Calibri"/>
                        </a:rPr>
                        <a:t>E GPa</a:t>
                      </a:r>
                    </a:p>
                  </a:txBody>
                  <a:tcPr>
                    <a:solidFill>
                      <a:srgbClr val="143D2F"/>
                    </a:solidFill>
                  </a:tcPr>
                </a:tc>
                <a:tc>
                  <a:txBody>
                    <a:bodyPr lIns="54864" rIns="54864" tIns="18288" bIns="18288" wrap="square" anchor="ctr"/>
                    <a:lstStyle/>
                    <a:p>
                      <a:pPr algn="l"/>
                      <a:r>
                        <a:rPr sz="1000" b="1">
                          <a:solidFill>
                            <a:srgbClr val="FFFFFF"/>
                          </a:solidFill>
                          <a:latin typeface="Calibri"/>
                        </a:rPr>
                        <a:t>ε_f %</a:t>
                      </a:r>
                    </a:p>
                  </a:txBody>
                  <a:tcPr>
                    <a:solidFill>
                      <a:srgbClr val="143D2F"/>
                    </a:solidFill>
                  </a:tcPr>
                </a:tc>
                <a:tc>
                  <a:txBody>
                    <a:bodyPr lIns="54864" rIns="54864" tIns="18288" bIns="18288" wrap="square" anchor="ctr"/>
                    <a:lstStyle/>
                    <a:p>
                      <a:pPr algn="l"/>
                      <a:r>
                        <a:rPr sz="1000" b="1">
                          <a:solidFill>
                            <a:srgbClr val="FFFFFF"/>
                          </a:solidFill>
                          <a:latin typeface="Calibri"/>
                        </a:rPr>
                        <a:t>What it can carry</a:t>
                      </a:r>
                    </a:p>
                  </a:txBody>
                  <a:tcPr>
                    <a:solidFill>
                      <a:srgbClr val="143D2F"/>
                    </a:solidFill>
                  </a:tcPr>
                </a:tc>
              </a:tr>
              <a:tr h="24003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89 %</a:t>
                      </a:r>
                    </a:p>
                  </a:txBody>
                  <a:tcPr/>
                </a:tc>
                <a:tc>
                  <a:txBody>
                    <a:bodyPr lIns="54864" rIns="54864" tIns="18288" bIns="18288" wrap="square" anchor="ctr"/>
                    <a:lstStyle/>
                    <a:p>
                      <a:pPr algn="l"/>
                      <a:r>
                        <a:rPr sz="950" b="0">
                          <a:solidFill>
                            <a:srgbClr val="000000"/>
                          </a:solidFill>
                          <a:latin typeface="Calibri"/>
                        </a:rPr>
                        <a:t>3340</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1.81</a:t>
                      </a:r>
                    </a:p>
                  </a:txBody>
                  <a:tcPr/>
                </a:tc>
                <a:tc>
                  <a:txBody>
                    <a:bodyPr lIns="54864" rIns="54864" tIns="18288" bIns="18288" wrap="square" anchor="ctr"/>
                    <a:lstStyle/>
                    <a:p>
                      <a:pPr algn="l"/>
                      <a:r>
                        <a:rPr sz="950" b="0">
                          <a:solidFill>
                            <a:srgbClr val="000000"/>
                          </a:solidFill>
                          <a:latin typeface="Calibri"/>
                        </a:rPr>
                        <a:t>7.81</a:t>
                      </a:r>
                    </a:p>
                  </a:txBody>
                  <a:tcPr/>
                </a:tc>
                <a:tc>
                  <a:txBody>
                    <a:bodyPr lIns="54864" rIns="54864" tIns="18288" bIns="18288" wrap="square" anchor="ctr"/>
                    <a:lstStyle/>
                    <a:p>
                      <a:pPr algn="l"/>
                      <a:r>
                        <a:rPr sz="950" b="0">
                          <a:solidFill>
                            <a:srgbClr val="000000"/>
                          </a:solidFill>
                          <a:latin typeface="Calibri"/>
                        </a:rPr>
                        <a:t>everything</a:t>
                      </a:r>
                    </a:p>
                  </a:txBody>
                  <a:tcPr/>
                </a:tc>
              </a:tr>
              <a:tr h="24003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57 %</a:t>
                      </a:r>
                    </a:p>
                  </a:txBody>
                  <a:tcPr/>
                </a:tc>
                <a:tc>
                  <a:txBody>
                    <a:bodyPr lIns="54864" rIns="54864" tIns="18288" bIns="18288" wrap="square" anchor="ctr"/>
                    <a:lstStyle/>
                    <a:p>
                      <a:pPr algn="l"/>
                      <a:r>
                        <a:rPr sz="950" b="0">
                          <a:solidFill>
                            <a:srgbClr val="000000"/>
                          </a:solidFill>
                          <a:latin typeface="Calibri"/>
                        </a:rPr>
                        <a:t>3244</a:t>
                      </a:r>
                    </a:p>
                  </a:txBody>
                  <a:tcPr/>
                </a:tc>
                <a:tc>
                  <a:txBody>
                    <a:bodyPr lIns="54864" rIns="54864" tIns="18288" bIns="18288" wrap="square" anchor="ctr"/>
                    <a:lstStyle/>
                    <a:p>
                      <a:pPr algn="l"/>
                      <a:r>
                        <a:rPr sz="950" b="0">
                          <a:solidFill>
                            <a:srgbClr val="000000"/>
                          </a:solidFill>
                          <a:latin typeface="Calibri"/>
                        </a:rPr>
                        <a:t>40.55</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strength only</a:t>
                      </a:r>
                    </a:p>
                  </a:txBody>
                  <a:tcPr/>
                </a:tc>
              </a:tr>
              <a:tr h="24003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65 %</a:t>
                      </a:r>
                    </a:p>
                  </a:txBody>
                  <a:tcPr/>
                </a:tc>
                <a:tc>
                  <a:txBody>
                    <a:bodyPr lIns="54864" rIns="54864" tIns="18288" bIns="18288" wrap="square" anchor="ctr"/>
                    <a:lstStyle/>
                    <a:p>
                      <a:pPr algn="l"/>
                      <a:r>
                        <a:rPr sz="950" b="0">
                          <a:solidFill>
                            <a:srgbClr val="000000"/>
                          </a:solidFill>
                          <a:latin typeface="Calibri"/>
                        </a:rPr>
                        <a:t>3417</a:t>
                      </a:r>
                    </a:p>
                  </a:txBody>
                  <a:tcPr/>
                </a:tc>
                <a:tc>
                  <a:txBody>
                    <a:bodyPr lIns="54864" rIns="54864" tIns="18288" bIns="18288" wrap="square" anchor="ctr"/>
                    <a:lstStyle/>
                    <a:p>
                      <a:pPr algn="l"/>
                      <a:r>
                        <a:rPr sz="950" b="0">
                          <a:solidFill>
                            <a:srgbClr val="000000"/>
                          </a:solidFill>
                          <a:latin typeface="Calibri"/>
                        </a:rPr>
                        <a:t>42.72 *</a:t>
                      </a:r>
                    </a:p>
                  </a:txBody>
                  <a:tcPr/>
                </a:tc>
                <a:tc>
                  <a:txBody>
                    <a:bodyPr lIns="54864" rIns="54864" tIns="18288" bIns="18288" wrap="square" anchor="ctr"/>
                    <a:lstStyle/>
                    <a:p>
                      <a:pPr algn="l"/>
                      <a:r>
                        <a:rPr sz="950" b="0">
                          <a:solidFill>
                            <a:srgbClr val="000000"/>
                          </a:solidFill>
                          <a:latin typeface="Calibri"/>
                        </a:rPr>
                        <a:t>1.78</a:t>
                      </a:r>
                    </a:p>
                  </a:txBody>
                  <a:tcPr/>
                </a:tc>
                <a:tc>
                  <a:txBody>
                    <a:bodyPr lIns="54864" rIns="54864" tIns="18288" bIns="18288" wrap="square" anchor="ctr"/>
                    <a:lstStyle/>
                    <a:p>
                      <a:pPr algn="l"/>
                      <a:r>
                        <a:rPr sz="950" b="0">
                          <a:solidFill>
                            <a:srgbClr val="000000"/>
                          </a:solidFill>
                          <a:latin typeface="Calibri"/>
                        </a:rPr>
                        <a:t>8.01</a:t>
                      </a:r>
                    </a:p>
                  </a:txBody>
                  <a:tcPr/>
                </a:tc>
                <a:tc>
                  <a:txBody>
                    <a:bodyPr lIns="54864" rIns="54864" tIns="18288" bIns="18288" wrap="square" anchor="ctr"/>
                    <a:lstStyle/>
                    <a:p>
                      <a:pPr algn="l"/>
                      <a:r>
                        <a:rPr sz="950" b="0">
                          <a:solidFill>
                            <a:srgbClr val="000000"/>
                          </a:solidFill>
                          <a:latin typeface="Calibri"/>
                        </a:rPr>
                        <a:t>force and slopes, not absolute stress</a:t>
                      </a:r>
                    </a:p>
                  </a:txBody>
                  <a:tcPr/>
                </a:tc>
              </a:tr>
            </a:tbl>
          </a:graphicData>
        </a:graphic>
      </p:graphicFrame>
      <p:sp>
        <p:nvSpPr>
          <p:cNvPr id="8" name="Rectangle 7"/>
          <p:cNvSpPr/>
          <p:nvPr/>
        </p:nvSpPr>
        <p:spPr>
          <a:xfrm>
            <a:off x="365760" y="5943600"/>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PEAK LOAD IS THE ONE NUMBER ALL THREE CAN CARRY — 3340, 3244 and 3417 N, a spread of 5.4 %. It comes straight off the load cell and touches neither the DIC nor the anchor.</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S32's UTS is re-derived with the rig's usual 300 N preload because its own anchor recovery failed — see the next slide. Same protocol as the PLA pair throughout.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271</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WHAT LIMITS EACH RUN, AND WHAT SURVIVES IT</a:t>
            </a:r>
          </a:p>
        </p:txBody>
      </p:sp>
      <p:sp>
        <p:nvSpPr>
          <p:cNvPr id="5" name="TextBox 4"/>
          <p:cNvSpPr txBox="1"/>
          <p:nvPr/>
        </p:nvSpPr>
        <p:spPr>
          <a:xfrm>
            <a:off x="365760" y="1051560"/>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Two different faults, neither of them the material — and in both cases some of the run is still perfectly good. Discarding a whole specimen because part of it is compromised throws away evidence.</a:t>
            </a:r>
          </a:p>
        </p:txBody>
      </p:sp>
      <p:pic>
        <p:nvPicPr>
          <p:cNvPr id="6" name="Picture 5" descr="petg_limits.png"/>
          <p:cNvPicPr>
            <a:picLocks noChangeAspect="1"/>
          </p:cNvPicPr>
          <p:nvPr/>
        </p:nvPicPr>
        <p:blipFill>
          <a:blip r:embed="rId2"/>
          <a:stretch>
            <a:fillRect/>
          </a:stretch>
        </p:blipFill>
        <p:spPr>
          <a:xfrm>
            <a:off x="430183" y="1554480"/>
            <a:ext cx="11346872" cy="2880360"/>
          </a:xfrm>
          <a:prstGeom prst="rect">
            <a:avLst/>
          </a:prstGeom>
        </p:spPr>
      </p:pic>
      <p:sp>
        <p:nvSpPr>
          <p:cNvPr id="7" name="TextBox 6"/>
          <p:cNvSpPr txBox="1"/>
          <p:nvPr/>
        </p:nvSpPr>
        <p:spPr>
          <a:xfrm>
            <a:off x="365760" y="46268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S31 — 57 % tracked</a:t>
            </a:r>
          </a:p>
        </p:txBody>
      </p:sp>
      <p:sp>
        <p:nvSpPr>
          <p:cNvPr id="8" name="TextBox 7"/>
          <p:cNvSpPr txBox="1"/>
          <p:nvPr/>
        </p:nvSpPr>
        <p:spPr>
          <a:xfrm>
            <a:off x="365760" y="4956048"/>
            <a:ext cx="5623560" cy="1280160"/>
          </a:xfrm>
          <a:prstGeom prst="rect">
            <a:avLst/>
          </a:prstGeom>
          <a:noFill/>
        </p:spPr>
        <p:txBody>
          <a:bodyPr wrap="square" lIns="45720" rIns="45720" tIns="18288" bIns="18288" anchor="t">
            <a:spAutoFit/>
          </a:bodyPr>
          <a:lstStyle/>
          <a:p>
            <a:pPr algn="l"/>
            <a:r>
              <a:rPr sz="1000" b="0" i="0">
                <a:solidFill>
                  <a:srgbClr val="000000"/>
                </a:solidFill>
                <a:latin typeface="Calibri"/>
              </a:rPr>
              <a:t>The sprayed dots carry a crescent of overspray FUSED to the rim, which puts circularity at 0.49–0.51 against a 0.50 gate; noise then flipped markers in and out frame by frame. UTS and σ_y come from the LOAD CELL and never touch the DIC, so they stand — and agree with S30 to 2.9 %. E, ε_f and toughness are strain quantities and do not.</a:t>
            </a:r>
          </a:p>
        </p:txBody>
      </p:sp>
      <p:sp>
        <p:nvSpPr>
          <p:cNvPr id="9" name="TextBox 8"/>
          <p:cNvSpPr txBox="1"/>
          <p:nvPr/>
        </p:nvSpPr>
        <p:spPr>
          <a:xfrm>
            <a:off x="6217920" y="46268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S32 — the force anchor failed</a:t>
            </a:r>
          </a:p>
        </p:txBody>
      </p:sp>
      <p:sp>
        <p:nvSpPr>
          <p:cNvPr id="10" name="TextBox 9"/>
          <p:cNvSpPr txBox="1"/>
          <p:nvPr/>
        </p:nvSpPr>
        <p:spPr>
          <a:xfrm>
            <a:off x="6217920" y="4956048"/>
            <a:ext cx="5623560" cy="1280160"/>
          </a:xfrm>
          <a:prstGeom prst="rect">
            <a:avLst/>
          </a:prstGeom>
          <a:noFill/>
        </p:spPr>
        <p:txBody>
          <a:bodyPr wrap="square" lIns="45720" rIns="45720" tIns="18288" bIns="18288" anchor="t">
            <a:spAutoFit/>
          </a:bodyPr>
          <a:lstStyle/>
          <a:p>
            <a:pPr algn="l"/>
            <a:r>
              <a:rPr sz="1000" b="0" i="0">
                <a:solidFill>
                  <a:srgbClr val="000000"/>
                </a:solidFill>
                <a:latin typeface="Calibri"/>
              </a:rPr>
              <a:t>The anchor is recovered from the settled post-fracture tail, which should read −(the tared-away preload) ≈ −300 N. S30's tail settles at −311 N; S32's settled at +936 N — the specimen never fully released — so the anchor came out −1044 N and shifted every stress down by 13 MPa. Its peak LOAD, 3117 N off the load cell, is untouched.</a:t>
            </a:r>
          </a:p>
        </p:txBody>
      </p:sp>
      <p:sp>
        <p:nvSpPr>
          <p:cNvPr id="11" name="Rectangle 10"/>
          <p:cNvSpPr/>
          <p:nvPr/>
        </p:nvSpPr>
        <p:spPr>
          <a:xfrm>
            <a:off x="365760" y="5943600"/>
            <a:ext cx="11475720" cy="420624"/>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A CONSTANT OFFSET CANCELS IN ANY SLOPE, which is why S32's E (1.78 GPa) already matches S30's (1.81) and why it can still be compared on the plastic slope two slides on.</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min_circularity was loosened 0.50 → 0.40 after S31 ran; the roadmap carries the revert. S32 should be redone, or re-derived with an explicit anchor.</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272</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vs PLA — S30 AGAINST S25</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first time this rig has compared two materials. Same protocol, same gauge, same DIC — so any difference is the polymer, not the machine.</a:t>
            </a:r>
          </a:p>
        </p:txBody>
      </p:sp>
      <p:pic>
        <p:nvPicPr>
          <p:cNvPr id="6" name="Picture 5" descr="petg_vs_pla.png"/>
          <p:cNvPicPr>
            <a:picLocks noChangeAspect="1"/>
          </p:cNvPicPr>
          <p:nvPr/>
        </p:nvPicPr>
        <p:blipFill>
          <a:blip r:embed="rId2"/>
          <a:stretch>
            <a:fillRect/>
          </a:stretch>
        </p:blipFill>
        <p:spPr>
          <a:xfrm>
            <a:off x="714756" y="1481328"/>
            <a:ext cx="10777727" cy="2615184"/>
          </a:xfrm>
          <a:prstGeom prst="rect">
            <a:avLst/>
          </a:prstGeom>
        </p:spPr>
      </p:pic>
      <p:graphicFrame>
        <p:nvGraphicFramePr>
          <p:cNvPr id="7" name="Table 6"/>
          <p:cNvGraphicFramePr>
            <a:graphicFrameLocks noGrp="1"/>
          </p:cNvGraphicFramePr>
          <p:nvPr/>
        </p:nvGraphicFramePr>
        <p:xfrm>
          <a:off x="365760" y="4242816"/>
          <a:ext cx="11475717" cy="1188720"/>
        </p:xfrm>
        <a:graphic>
          <a:graphicData uri="http://schemas.openxmlformats.org/drawingml/2006/table">
            <a:tbl>
              <a:tblPr firstRow="1" bandRow="1">
                <a:tableStyleId>{5C22544A-7EE6-4342-B048-85BDC9FD1C3A}</a:tableStyleId>
              </a:tblPr>
              <a:tblGrid>
                <a:gridCol w="2075396"/>
                <a:gridCol w="1464985"/>
                <a:gridCol w="1464985"/>
                <a:gridCol w="1342903"/>
                <a:gridCol w="1342903"/>
                <a:gridCol w="2075396"/>
                <a:gridCol w="1709149"/>
              </a:tblGrid>
              <a:tr h="297180">
                <a:tc>
                  <a:txBody>
                    <a:bodyPr lIns="54864" rIns="54864" tIns="18288" bIns="18288" wrap="square" anchor="ctr"/>
                    <a:lstStyle/>
                    <a:p>
                      <a:pPr algn="l"/>
                      <a:r>
                        <a:rPr sz="1000" b="1">
                          <a:solidFill>
                            <a:srgbClr val="FFFFFF"/>
                          </a:solidFill>
                          <a:latin typeface="Calibri"/>
                        </a:rPr>
                        <a:t/>
                      </a:r>
                    </a:p>
                  </a:txBody>
                  <a:tcPr>
                    <a:solidFill>
                      <a:srgbClr val="143D2F"/>
                    </a:solidFill>
                  </a:tcPr>
                </a:tc>
                <a:tc>
                  <a:txBody>
                    <a:bodyPr lIns="54864" rIns="54864" tIns="18288" bIns="18288" wrap="square" anchor="ctr"/>
                    <a:lstStyle/>
                    <a:p>
                      <a:pPr algn="l"/>
                      <a:r>
                        <a:rPr sz="1000" b="1">
                          <a:solidFill>
                            <a:srgbClr val="FFFFFF"/>
                          </a:solidFill>
                          <a:latin typeface="Calibri"/>
                        </a:rPr>
                        <a:t>UTS MPa</a:t>
                      </a:r>
                    </a:p>
                  </a:txBody>
                  <a:tcPr>
                    <a:solidFill>
                      <a:srgbClr val="143D2F"/>
                    </a:solidFill>
                  </a:tcPr>
                </a:tc>
                <a:tc>
                  <a:txBody>
                    <a:bodyPr lIns="54864" rIns="54864" tIns="18288" bIns="18288" wrap="square" anchor="ctr"/>
                    <a:lstStyle/>
                    <a:p>
                      <a:pPr algn="l"/>
                      <a:r>
                        <a:rPr sz="1000" b="1">
                          <a:solidFill>
                            <a:srgbClr val="FFFFFF"/>
                          </a:solidFill>
                          <a:latin typeface="Calibri"/>
                        </a:rPr>
                        <a:t>σ_y MPa</a:t>
                      </a:r>
                    </a:p>
                  </a:txBody>
                  <a:tcPr>
                    <a:solidFill>
                      <a:srgbClr val="143D2F"/>
                    </a:solidFill>
                  </a:tcPr>
                </a:tc>
                <a:tc>
                  <a:txBody>
                    <a:bodyPr lIns="54864" rIns="54864" tIns="18288" bIns="18288" wrap="square" anchor="ctr"/>
                    <a:lstStyle/>
                    <a:p>
                      <a:pPr algn="l"/>
                      <a:r>
                        <a:rPr sz="1000" b="1">
                          <a:solidFill>
                            <a:srgbClr val="FFFFFF"/>
                          </a:solidFill>
                          <a:latin typeface="Calibri"/>
                        </a:rPr>
                        <a:t>E GPa</a:t>
                      </a:r>
                    </a:p>
                  </a:txBody>
                  <a:tcPr>
                    <a:solidFill>
                      <a:srgbClr val="143D2F"/>
                    </a:solidFill>
                  </a:tcPr>
                </a:tc>
                <a:tc>
                  <a:txBody>
                    <a:bodyPr lIns="54864" rIns="54864" tIns="18288" bIns="18288" wrap="square" anchor="ctr"/>
                    <a:lstStyle/>
                    <a:p>
                      <a:pPr algn="l"/>
                      <a:r>
                        <a:rPr sz="1000" b="1">
                          <a:solidFill>
                            <a:srgbClr val="FFFFFF"/>
                          </a:solidFill>
                          <a:latin typeface="Calibri"/>
                        </a:rPr>
                        <a:t>ε_f %</a:t>
                      </a:r>
                    </a:p>
                  </a:txBody>
                  <a:tcPr>
                    <a:solidFill>
                      <a:srgbClr val="143D2F"/>
                    </a:solidFill>
                  </a:tcPr>
                </a:tc>
                <a:tc>
                  <a:txBody>
                    <a:bodyPr lIns="54864" rIns="54864" tIns="18288" bIns="18288" wrap="square" anchor="ctr"/>
                    <a:lstStyle/>
                    <a:p>
                      <a:pPr algn="l"/>
                      <a:r>
                        <a:rPr sz="1000" b="1">
                          <a:solidFill>
                            <a:srgbClr val="FFFFFF"/>
                          </a:solidFill>
                          <a:latin typeface="Calibri"/>
                        </a:rPr>
                        <a:t>toughness kJ/m³</a:t>
                      </a:r>
                    </a:p>
                  </a:txBody>
                  <a:tcPr>
                    <a:solidFill>
                      <a:srgbClr val="143D2F"/>
                    </a:solidFill>
                  </a:tcPr>
                </a:tc>
                <a:tc>
                  <a:txBody>
                    <a:bodyPr lIns="54864" rIns="54864" tIns="18288" bIns="18288" wrap="square" anchor="ctr"/>
                    <a:lstStyle/>
                    <a:p>
                      <a:pPr algn="l"/>
                      <a:r>
                        <a:rPr sz="1000" b="1">
                          <a:solidFill>
                            <a:srgbClr val="FFFFFF"/>
                          </a:solidFill>
                          <a:latin typeface="Calibri"/>
                        </a:rPr>
                        <a:t>peak load N</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PLA  S25</a:t>
                      </a:r>
                    </a:p>
                  </a:txBody>
                  <a:tcPr/>
                </a:tc>
                <a:tc>
                  <a:txBody>
                    <a:bodyPr lIns="54864" rIns="54864" tIns="18288" bIns="18288" wrap="square" anchor="ctr"/>
                    <a:lstStyle/>
                    <a:p>
                      <a:pPr algn="l"/>
                      <a:r>
                        <a:rPr sz="950" b="0">
                          <a:solidFill>
                            <a:srgbClr val="000000"/>
                          </a:solidFill>
                          <a:latin typeface="Calibri"/>
                        </a:rPr>
                        <a:t>46.16</a:t>
                      </a:r>
                    </a:p>
                  </a:txBody>
                  <a:tcPr/>
                </a:tc>
                <a:tc>
                  <a:txBody>
                    <a:bodyPr lIns="54864" rIns="54864" tIns="18288" bIns="18288" wrap="square" anchor="ctr"/>
                    <a:lstStyle/>
                    <a:p>
                      <a:pPr algn="l"/>
                      <a:r>
                        <a:rPr sz="950" b="0">
                          <a:solidFill>
                            <a:srgbClr val="000000"/>
                          </a:solidFill>
                          <a:latin typeface="Calibri"/>
                        </a:rPr>
                        <a:t>39.82</a:t>
                      </a:r>
                    </a:p>
                  </a:txBody>
                  <a:tcPr/>
                </a:tc>
                <a:tc>
                  <a:txBody>
                    <a:bodyPr lIns="54864" rIns="54864" tIns="18288" bIns="18288" wrap="square" anchor="ctr"/>
                    <a:lstStyle/>
                    <a:p>
                      <a:pPr algn="l"/>
                      <a:r>
                        <a:rPr sz="950" b="0">
                          <a:solidFill>
                            <a:srgbClr val="000000"/>
                          </a:solidFill>
                          <a:latin typeface="Calibri"/>
                        </a:rPr>
                        <a:t>3.17</a:t>
                      </a:r>
                    </a:p>
                  </a:txBody>
                  <a:tcPr/>
                </a:tc>
                <a:tc>
                  <a:txBody>
                    <a:bodyPr lIns="54864" rIns="54864" tIns="18288" bIns="18288" wrap="square" anchor="ctr"/>
                    <a:lstStyle/>
                    <a:p>
                      <a:pPr algn="l"/>
                      <a:r>
                        <a:rPr sz="950" b="0">
                          <a:solidFill>
                            <a:srgbClr val="000000"/>
                          </a:solidFill>
                          <a:latin typeface="Calibri"/>
                        </a:rPr>
                        <a:t>4.18</a:t>
                      </a:r>
                    </a:p>
                  </a:txBody>
                  <a:tcPr/>
                </a:tc>
                <a:tc>
                  <a:txBody>
                    <a:bodyPr lIns="54864" rIns="54864" tIns="18288" bIns="18288" wrap="square" anchor="ctr"/>
                    <a:lstStyle/>
                    <a:p>
                      <a:pPr algn="l"/>
                      <a:r>
                        <a:rPr sz="950" b="0">
                          <a:solidFill>
                            <a:srgbClr val="000000"/>
                          </a:solidFill>
                          <a:latin typeface="Calibri"/>
                        </a:rPr>
                        <a:t>1564</a:t>
                      </a:r>
                    </a:p>
                  </a:txBody>
                  <a:tcPr/>
                </a:tc>
                <a:tc>
                  <a:txBody>
                    <a:bodyPr lIns="54864" rIns="54864" tIns="18288" bIns="18288" wrap="square" anchor="ctr"/>
                    <a:lstStyle/>
                    <a:p>
                      <a:pPr algn="l"/>
                      <a:r>
                        <a:rPr sz="950" b="0">
                          <a:solidFill>
                            <a:srgbClr val="000000"/>
                          </a:solidFill>
                          <a:latin typeface="Calibri"/>
                        </a:rPr>
                        <a:t>3692</a:t>
                      </a:r>
                    </a:p>
                  </a:txBody>
                  <a:tcPr/>
                </a:tc>
              </a:tr>
              <a:tr h="297180">
                <a:tc>
                  <a:txBody>
                    <a:bodyPr lIns="54864" rIns="54864" tIns="18288" bIns="18288" wrap="square" anchor="ctr"/>
                    <a:lstStyle/>
                    <a:p>
                      <a:pPr algn="l"/>
                      <a:r>
                        <a:rPr sz="950" b="0">
                          <a:solidFill>
                            <a:srgbClr val="000000"/>
                          </a:solidFill>
                          <a:latin typeface="Calibri"/>
                        </a:rPr>
                        <a:t>PETG S30</a:t>
                      </a:r>
                    </a:p>
                  </a:txBody>
                  <a:tcPr/>
                </a:tc>
                <a:tc>
                  <a:txBody>
                    <a:bodyPr lIns="54864" rIns="54864" tIns="18288" bIns="18288" wrap="square" anchor="ctr"/>
                    <a:lstStyle/>
                    <a:p>
                      <a:pPr algn="l"/>
                      <a:r>
                        <a:rPr sz="950" b="0">
                          <a:solidFill>
                            <a:srgbClr val="000000"/>
                          </a:solidFill>
                          <a:latin typeface="Calibri"/>
                        </a:rPr>
                        <a:t>41.75</a:t>
                      </a:r>
                    </a:p>
                  </a:txBody>
                  <a:tcPr/>
                </a:tc>
                <a:tc>
                  <a:txBody>
                    <a:bodyPr lIns="54864" rIns="54864" tIns="18288" bIns="18288" wrap="square" anchor="ctr"/>
                    <a:lstStyle/>
                    <a:p>
                      <a:pPr algn="l"/>
                      <a:r>
                        <a:rPr sz="950" b="0">
                          <a:solidFill>
                            <a:srgbClr val="000000"/>
                          </a:solidFill>
                          <a:latin typeface="Calibri"/>
                        </a:rPr>
                        <a:t>31.51</a:t>
                      </a:r>
                    </a:p>
                  </a:txBody>
                  <a:tcPr/>
                </a:tc>
                <a:tc>
                  <a:txBody>
                    <a:bodyPr lIns="54864" rIns="54864" tIns="18288" bIns="18288" wrap="square" anchor="ctr"/>
                    <a:lstStyle/>
                    <a:p>
                      <a:pPr algn="l"/>
                      <a:r>
                        <a:rPr sz="950" b="0">
                          <a:solidFill>
                            <a:srgbClr val="000000"/>
                          </a:solidFill>
                          <a:latin typeface="Calibri"/>
                        </a:rPr>
                        <a:t>1.81</a:t>
                      </a:r>
                    </a:p>
                  </a:txBody>
                  <a:tcPr/>
                </a:tc>
                <a:tc>
                  <a:txBody>
                    <a:bodyPr lIns="54864" rIns="54864" tIns="18288" bIns="18288" wrap="square" anchor="ctr"/>
                    <a:lstStyle/>
                    <a:p>
                      <a:pPr algn="l"/>
                      <a:r>
                        <a:rPr sz="950" b="0">
                          <a:solidFill>
                            <a:srgbClr val="000000"/>
                          </a:solidFill>
                          <a:latin typeface="Calibri"/>
                        </a:rPr>
                        <a:t>7.81</a:t>
                      </a:r>
                    </a:p>
                  </a:txBody>
                  <a:tcPr/>
                </a:tc>
                <a:tc>
                  <a:txBody>
                    <a:bodyPr lIns="54864" rIns="54864" tIns="18288" bIns="18288" wrap="square" anchor="ctr"/>
                    <a:lstStyle/>
                    <a:p>
                      <a:pPr algn="l"/>
                      <a:r>
                        <a:rPr sz="950" b="0">
                          <a:solidFill>
                            <a:srgbClr val="000000"/>
                          </a:solidFill>
                          <a:latin typeface="Calibri"/>
                        </a:rPr>
                        <a:t>2715</a:t>
                      </a:r>
                    </a:p>
                  </a:txBody>
                  <a:tcPr/>
                </a:tc>
                <a:tc>
                  <a:txBody>
                    <a:bodyPr lIns="54864" rIns="54864" tIns="18288" bIns="18288" wrap="square" anchor="ctr"/>
                    <a:lstStyle/>
                    <a:p>
                      <a:pPr algn="l"/>
                      <a:r>
                        <a:rPr sz="950" b="0">
                          <a:solidFill>
                            <a:srgbClr val="000000"/>
                          </a:solidFill>
                          <a:latin typeface="Calibri"/>
                        </a:rPr>
                        <a:t>3340</a:t>
                      </a:r>
                    </a:p>
                  </a:txBody>
                  <a:tcPr/>
                </a:tc>
              </a:tr>
              <a:tr h="297180">
                <a:tc>
                  <a:txBody>
                    <a:bodyPr lIns="54864" rIns="54864" tIns="18288" bIns="18288" wrap="square" anchor="ctr"/>
                    <a:lstStyle/>
                    <a:p>
                      <a:pPr algn="l"/>
                      <a:r>
                        <a:rPr sz="950" b="0">
                          <a:solidFill>
                            <a:srgbClr val="000000"/>
                          </a:solidFill>
                          <a:latin typeface="Calibri"/>
                        </a:rPr>
                        <a:t>PETG vs PLA</a:t>
                      </a:r>
                    </a:p>
                  </a:txBody>
                  <a:tcPr/>
                </a:tc>
                <a:tc>
                  <a:txBody>
                    <a:bodyPr lIns="54864" rIns="54864" tIns="18288" bIns="18288" wrap="square" anchor="ctr"/>
                    <a:lstStyle/>
                    <a:p>
                      <a:pPr algn="l"/>
                      <a:r>
                        <a:rPr sz="950" b="0">
                          <a:solidFill>
                            <a:srgbClr val="000000"/>
                          </a:solidFill>
                          <a:latin typeface="Calibri"/>
                        </a:rPr>
                        <a:t>-9.6 %</a:t>
                      </a:r>
                    </a:p>
                  </a:txBody>
                  <a:tcPr/>
                </a:tc>
                <a:tc>
                  <a:txBody>
                    <a:bodyPr lIns="54864" rIns="54864" tIns="18288" bIns="18288" wrap="square" anchor="ctr"/>
                    <a:lstStyle/>
                    <a:p>
                      <a:pPr algn="l"/>
                      <a:r>
                        <a:rPr sz="950" b="0">
                          <a:solidFill>
                            <a:srgbClr val="000000"/>
                          </a:solidFill>
                          <a:latin typeface="Calibri"/>
                        </a:rPr>
                        <a:t>-20.9 %</a:t>
                      </a:r>
                    </a:p>
                  </a:txBody>
                  <a:tcPr/>
                </a:tc>
                <a:tc>
                  <a:txBody>
                    <a:bodyPr lIns="54864" rIns="54864" tIns="18288" bIns="18288" wrap="square" anchor="ctr"/>
                    <a:lstStyle/>
                    <a:p>
                      <a:pPr algn="l"/>
                      <a:r>
                        <a:rPr sz="950" b="0">
                          <a:solidFill>
                            <a:srgbClr val="000000"/>
                          </a:solidFill>
                          <a:latin typeface="Calibri"/>
                        </a:rPr>
                        <a:t>-42.9 %</a:t>
                      </a:r>
                    </a:p>
                  </a:txBody>
                  <a:tcPr/>
                </a:tc>
                <a:tc>
                  <a:txBody>
                    <a:bodyPr lIns="54864" rIns="54864" tIns="18288" bIns="18288" wrap="square" anchor="ctr"/>
                    <a:lstStyle/>
                    <a:p>
                      <a:pPr algn="l"/>
                      <a:r>
                        <a:rPr sz="950" b="0">
                          <a:solidFill>
                            <a:srgbClr val="000000"/>
                          </a:solidFill>
                          <a:latin typeface="Calibri"/>
                        </a:rPr>
                        <a:t>+87.1 %</a:t>
                      </a:r>
                    </a:p>
                  </a:txBody>
                  <a:tcPr/>
                </a:tc>
                <a:tc>
                  <a:txBody>
                    <a:bodyPr lIns="54864" rIns="54864" tIns="18288" bIns="18288" wrap="square" anchor="ctr"/>
                    <a:lstStyle/>
                    <a:p>
                      <a:pPr algn="l"/>
                      <a:r>
                        <a:rPr sz="950" b="0">
                          <a:solidFill>
                            <a:srgbClr val="000000"/>
                          </a:solidFill>
                          <a:latin typeface="Calibri"/>
                        </a:rPr>
                        <a:t>+73.6 %</a:t>
                      </a:r>
                    </a:p>
                  </a:txBody>
                  <a:tcPr/>
                </a:tc>
                <a:tc>
                  <a:txBody>
                    <a:bodyPr lIns="54864" rIns="54864" tIns="18288" bIns="18288" wrap="square" anchor="ctr"/>
                    <a:lstStyle/>
                    <a:p>
                      <a:pPr algn="l"/>
                      <a:r>
                        <a:rPr sz="950" b="0">
                          <a:solidFill>
                            <a:srgbClr val="000000"/>
                          </a:solidFill>
                          <a:latin typeface="Calibri"/>
                        </a:rPr>
                        <a:t/>
                      </a:r>
                    </a:p>
                  </a:txBody>
                  <a:tcPr/>
                </a:tc>
              </a:tr>
            </a:tbl>
          </a:graphicData>
        </a:graphic>
      </p:graphicFrame>
      <p:sp>
        <p:nvSpPr>
          <p:cNvPr id="8" name="Rectangle 7"/>
          <p:cNvSpPr/>
          <p:nvPr/>
        </p:nvSpPr>
        <p:spPr>
          <a:xfrm>
            <a:off x="365760" y="5797296"/>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PETG trades STRENGTH AND STIFFNESS for TOUGHNESS: 90 % of PLA's UTS and 57 % of its modulus, but 87 % more strain before fracture and 74 % more energy absorbed. That is the classic PLA-vs-PETG trade, and the rig reproduced it unaided.</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S25 chosen as the PLA comparator: same frame-capture protocol, 100 % DIC coverage, and the closest run in date. S26 is drawn on the curve for context.</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273</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IT WHAT LITERATURE PREDICTS?</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ORDERING is the prediction worth testing — absolute values move with spool, printer and settings, but which material wins each property does not.</a:t>
            </a:r>
          </a:p>
        </p:txBody>
      </p:sp>
      <p:graphicFrame>
        <p:nvGraphicFramePr>
          <p:cNvPr id="6" name="Table 5"/>
          <p:cNvGraphicFramePr>
            <a:graphicFrameLocks noGrp="1"/>
          </p:cNvGraphicFramePr>
          <p:nvPr/>
        </p:nvGraphicFramePr>
        <p:xfrm>
          <a:off x="365760" y="1517904"/>
          <a:ext cx="11475717" cy="1481328"/>
        </p:xfrm>
        <a:graphic>
          <a:graphicData uri="http://schemas.openxmlformats.org/drawingml/2006/table">
            <a:tbl>
              <a:tblPr firstRow="1" bandRow="1">
                <a:tableStyleId>{5C22544A-7EE6-4342-B048-85BDC9FD1C3A}</a:tableStyleId>
              </a:tblPr>
              <a:tblGrid>
                <a:gridCol w="2049235"/>
                <a:gridCol w="1946773"/>
                <a:gridCol w="1741850"/>
                <a:gridCol w="1741850"/>
                <a:gridCol w="1741850"/>
                <a:gridCol w="2254159"/>
              </a:tblGrid>
              <a:tr h="296265">
                <a:tc>
                  <a:txBody>
                    <a:bodyPr lIns="54864" rIns="54864" tIns="18288" bIns="18288" wrap="square" anchor="ctr"/>
                    <a:lstStyle/>
                    <a:p>
                      <a:pPr algn="l"/>
                      <a:r>
                        <a:rPr sz="1000" b="1">
                          <a:solidFill>
                            <a:srgbClr val="FFFFFF"/>
                          </a:solidFill>
                          <a:latin typeface="Calibri"/>
                        </a:rPr>
                        <a:t>Property</a:t>
                      </a:r>
                    </a:p>
                  </a:txBody>
                  <a:tcPr>
                    <a:solidFill>
                      <a:srgbClr val="143D2F"/>
                    </a:solidFill>
                  </a:tcPr>
                </a:tc>
                <a:tc>
                  <a:txBody>
                    <a:bodyPr lIns="54864" rIns="54864" tIns="18288" bIns="18288" wrap="square" anchor="ctr"/>
                    <a:lstStyle/>
                    <a:p>
                      <a:pPr algn="l"/>
                      <a:r>
                        <a:rPr sz="1000" b="1">
                          <a:solidFill>
                            <a:srgbClr val="FFFFFF"/>
                          </a:solidFill>
                          <a:latin typeface="Calibri"/>
                        </a:rPr>
                        <a:t>Literature says</a:t>
                      </a:r>
                    </a:p>
                  </a:txBody>
                  <a:tcPr>
                    <a:solidFill>
                      <a:srgbClr val="143D2F"/>
                    </a:solidFill>
                  </a:tcPr>
                </a:tc>
                <a:tc>
                  <a:txBody>
                    <a:bodyPr lIns="54864" rIns="54864" tIns="18288" bIns="18288" wrap="square" anchor="ctr"/>
                    <a:lstStyle/>
                    <a:p>
                      <a:pPr algn="l"/>
                      <a:r>
                        <a:rPr sz="1000" b="1">
                          <a:solidFill>
                            <a:srgbClr val="FFFFFF"/>
                          </a:solidFill>
                          <a:latin typeface="Calibri"/>
                        </a:rPr>
                        <a:t>We measured</a:t>
                      </a:r>
                    </a:p>
                  </a:txBody>
                  <a:tcPr>
                    <a:solidFill>
                      <a:srgbClr val="143D2F"/>
                    </a:solidFill>
                  </a:tcPr>
                </a:tc>
                <a:tc>
                  <a:txBody>
                    <a:bodyPr lIns="54864" rIns="54864" tIns="18288" bIns="18288" wrap="square" anchor="ctr"/>
                    <a:lstStyle/>
                    <a:p>
                      <a:pPr algn="l"/>
                      <a:r>
                        <a:rPr sz="1000" b="1">
                          <a:solidFill>
                            <a:srgbClr val="FFFFFF"/>
                          </a:solidFill>
                          <a:latin typeface="Calibri"/>
                        </a:rPr>
                        <a:t>PLA</a:t>
                      </a:r>
                    </a:p>
                  </a:txBody>
                  <a:tcPr>
                    <a:solidFill>
                      <a:srgbClr val="143D2F"/>
                    </a:solidFill>
                  </a:tcPr>
                </a:tc>
                <a:tc>
                  <a:txBody>
                    <a:bodyPr lIns="54864" rIns="54864" tIns="18288" bIns="18288" wrap="square" anchor="ctr"/>
                    <a:lstStyle/>
                    <a:p>
                      <a:pPr algn="l"/>
                      <a:r>
                        <a:rPr sz="1000" b="1">
                          <a:solidFill>
                            <a:srgbClr val="FFFFFF"/>
                          </a:solidFill>
                          <a:latin typeface="Calibri"/>
                        </a:rPr>
                        <a:t>PETG</a:t>
                      </a:r>
                    </a:p>
                  </a:txBody>
                  <a:tcPr>
                    <a:solidFill>
                      <a:srgbClr val="143D2F"/>
                    </a:solidFill>
                  </a:tcPr>
                </a:tc>
                <a:tc>
                  <a:txBody>
                    <a:bodyPr lIns="54864" rIns="54864" tIns="18288" bIns="18288" wrap="square" anchor="ctr"/>
                    <a:lstStyle/>
                    <a:p>
                      <a:pPr algn="l"/>
                      <a:r>
                        <a:rPr sz="1000" b="1">
                          <a:solidFill>
                            <a:srgbClr val="FFFFFF"/>
                          </a:solidFill>
                          <a:latin typeface="Calibri"/>
                        </a:rPr>
                        <a:t>Verdict</a:t>
                      </a:r>
                    </a:p>
                  </a:txBody>
                  <a:tcPr>
                    <a:solidFill>
                      <a:srgbClr val="143D2F"/>
                    </a:solidFill>
                  </a:tcPr>
                </a:tc>
              </a:tr>
              <a:tr h="296265">
                <a:tc>
                  <a:txBody>
                    <a:bodyPr lIns="54864" rIns="54864" tIns="18288" bIns="18288" wrap="square" anchor="ctr"/>
                    <a:lstStyle/>
                    <a:p>
                      <a:pPr algn="l"/>
                      <a:r>
                        <a:rPr sz="950" b="0">
                          <a:solidFill>
                            <a:srgbClr val="000000"/>
                          </a:solidFill>
                          <a:latin typeface="Calibri"/>
                        </a:rPr>
                        <a:t>UTS</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46.16 MPa</a:t>
                      </a:r>
                    </a:p>
                  </a:txBody>
                  <a:tcPr/>
                </a:tc>
                <a:tc>
                  <a:txBody>
                    <a:bodyPr lIns="54864" rIns="54864" tIns="18288" bIns="18288" wrap="square" anchor="ctr"/>
                    <a:lstStyle/>
                    <a:p>
                      <a:pPr algn="l"/>
                      <a:r>
                        <a:rPr sz="950" b="0">
                          <a:solidFill>
                            <a:srgbClr val="000000"/>
                          </a:solidFill>
                          <a:latin typeface="Calibri"/>
                        </a:rPr>
                        <a:t>41.75 MPa</a:t>
                      </a:r>
                    </a:p>
                  </a:txBody>
                  <a:tcPr/>
                </a:tc>
                <a:tc>
                  <a:txBody>
                    <a:bodyPr lIns="54864" rIns="54864" tIns="18288" bIns="18288" wrap="square" anchor="ctr"/>
                    <a:lstStyle/>
                    <a:p>
                      <a:pPr algn="l"/>
                      <a:r>
                        <a:rPr sz="950" b="0">
                          <a:solidFill>
                            <a:srgbClr val="000000"/>
                          </a:solidFill>
                          <a:latin typeface="Calibri"/>
                        </a:rPr>
                        <a:t>✔ as expected</a:t>
                      </a:r>
                    </a:p>
                  </a:txBody>
                  <a:tcPr/>
                </a:tc>
              </a:tr>
              <a:tr h="296265">
                <a:tc>
                  <a:txBody>
                    <a:bodyPr lIns="54864" rIns="54864" tIns="18288" bIns="18288" wrap="square" anchor="ctr"/>
                    <a:lstStyle/>
                    <a:p>
                      <a:pPr algn="l"/>
                      <a:r>
                        <a:rPr sz="950" b="0">
                          <a:solidFill>
                            <a:srgbClr val="000000"/>
                          </a:solidFill>
                          <a:latin typeface="Calibri"/>
                        </a:rPr>
                        <a:t>Stiffness E</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PLA higher</a:t>
                      </a:r>
                    </a:p>
                  </a:txBody>
                  <a:tcPr/>
                </a:tc>
                <a:tc>
                  <a:txBody>
                    <a:bodyPr lIns="54864" rIns="54864" tIns="18288" bIns="18288" wrap="square" anchor="ctr"/>
                    <a:lstStyle/>
                    <a:p>
                      <a:pPr algn="l"/>
                      <a:r>
                        <a:rPr sz="950" b="0">
                          <a:solidFill>
                            <a:srgbClr val="000000"/>
                          </a:solidFill>
                          <a:latin typeface="Calibri"/>
                        </a:rPr>
                        <a:t>3.17 GPa</a:t>
                      </a:r>
                    </a:p>
                  </a:txBody>
                  <a:tcPr/>
                </a:tc>
                <a:tc>
                  <a:txBody>
                    <a:bodyPr lIns="54864" rIns="54864" tIns="18288" bIns="18288" wrap="square" anchor="ctr"/>
                    <a:lstStyle/>
                    <a:p>
                      <a:pPr algn="l"/>
                      <a:r>
                        <a:rPr sz="950" b="0">
                          <a:solidFill>
                            <a:srgbClr val="000000"/>
                          </a:solidFill>
                          <a:latin typeface="Calibri"/>
                        </a:rPr>
                        <a:t>1.81 GPa</a:t>
                      </a:r>
                    </a:p>
                  </a:txBody>
                  <a:tcPr/>
                </a:tc>
                <a:tc>
                  <a:txBody>
                    <a:bodyPr lIns="54864" rIns="54864" tIns="18288" bIns="18288" wrap="square" anchor="ctr"/>
                    <a:lstStyle/>
                    <a:p>
                      <a:pPr algn="l"/>
                      <a:r>
                        <a:rPr sz="950" b="0">
                          <a:solidFill>
                            <a:srgbClr val="000000"/>
                          </a:solidFill>
                          <a:latin typeface="Calibri"/>
                        </a:rPr>
                        <a:t>✔ as expected</a:t>
                      </a:r>
                    </a:p>
                  </a:txBody>
                  <a:tcPr/>
                </a:tc>
              </a:tr>
              <a:tr h="296265">
                <a:tc>
                  <a:txBody>
                    <a:bodyPr lIns="54864" rIns="54864" tIns="18288" bIns="18288" wrap="square" anchor="ctr"/>
                    <a:lstStyle/>
                    <a:p>
                      <a:pPr algn="l"/>
                      <a:r>
                        <a:rPr sz="950" b="0">
                          <a:solidFill>
                            <a:srgbClr val="000000"/>
                          </a:solidFill>
                          <a:latin typeface="Calibri"/>
                        </a:rPr>
                        <a:t>Ductility ε_f</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4.18 %</a:t>
                      </a:r>
                    </a:p>
                  </a:txBody>
                  <a:tcPr/>
                </a:tc>
                <a:tc>
                  <a:txBody>
                    <a:bodyPr lIns="54864" rIns="54864" tIns="18288" bIns="18288" wrap="square" anchor="ctr"/>
                    <a:lstStyle/>
                    <a:p>
                      <a:pPr algn="l"/>
                      <a:r>
                        <a:rPr sz="950" b="0">
                          <a:solidFill>
                            <a:srgbClr val="000000"/>
                          </a:solidFill>
                          <a:latin typeface="Calibri"/>
                        </a:rPr>
                        <a:t>7.81 %</a:t>
                      </a:r>
                    </a:p>
                  </a:txBody>
                  <a:tcPr/>
                </a:tc>
                <a:tc>
                  <a:txBody>
                    <a:bodyPr lIns="54864" rIns="54864" tIns="18288" bIns="18288" wrap="square" anchor="ctr"/>
                    <a:lstStyle/>
                    <a:p>
                      <a:pPr algn="l"/>
                      <a:r>
                        <a:rPr sz="950" b="0">
                          <a:solidFill>
                            <a:srgbClr val="000000"/>
                          </a:solidFill>
                          <a:latin typeface="Calibri"/>
                        </a:rPr>
                        <a:t>✔ as expected</a:t>
                      </a:r>
                    </a:p>
                  </a:txBody>
                  <a:tcPr/>
                </a:tc>
              </a:tr>
              <a:tr h="296268">
                <a:tc>
                  <a:txBody>
                    <a:bodyPr lIns="54864" rIns="54864" tIns="18288" bIns="18288" wrap="square" anchor="ctr"/>
                    <a:lstStyle/>
                    <a:p>
                      <a:pPr algn="l"/>
                      <a:r>
                        <a:rPr sz="950" b="0">
                          <a:solidFill>
                            <a:srgbClr val="000000"/>
                          </a:solidFill>
                          <a:latin typeface="Calibri"/>
                        </a:rPr>
                        <a:t>Toughness</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PETG higher</a:t>
                      </a:r>
                    </a:p>
                  </a:txBody>
                  <a:tcPr/>
                </a:tc>
                <a:tc>
                  <a:txBody>
                    <a:bodyPr lIns="54864" rIns="54864" tIns="18288" bIns="18288" wrap="square" anchor="ctr"/>
                    <a:lstStyle/>
                    <a:p>
                      <a:pPr algn="l"/>
                      <a:r>
                        <a:rPr sz="950" b="0">
                          <a:solidFill>
                            <a:srgbClr val="000000"/>
                          </a:solidFill>
                          <a:latin typeface="Calibri"/>
                        </a:rPr>
                        <a:t>1564.11 kJ/m³</a:t>
                      </a:r>
                    </a:p>
                  </a:txBody>
                  <a:tcPr/>
                </a:tc>
                <a:tc>
                  <a:txBody>
                    <a:bodyPr lIns="54864" rIns="54864" tIns="18288" bIns="18288" wrap="square" anchor="ctr"/>
                    <a:lstStyle/>
                    <a:p>
                      <a:pPr algn="l"/>
                      <a:r>
                        <a:rPr sz="950" b="0">
                          <a:solidFill>
                            <a:srgbClr val="000000"/>
                          </a:solidFill>
                          <a:latin typeface="Calibri"/>
                        </a:rPr>
                        <a:t>2714.82 kJ/m³</a:t>
                      </a:r>
                    </a:p>
                  </a:txBody>
                  <a:tcPr/>
                </a:tc>
                <a:tc>
                  <a:txBody>
                    <a:bodyPr lIns="54864" rIns="54864" tIns="18288" bIns="18288" wrap="square" anchor="ctr"/>
                    <a:lstStyle/>
                    <a:p>
                      <a:pPr algn="l"/>
                      <a:r>
                        <a:rPr sz="950" b="0">
                          <a:solidFill>
                            <a:srgbClr val="000000"/>
                          </a:solidFill>
                          <a:latin typeface="Calibri"/>
                        </a:rPr>
                        <a:t>✔ as expected</a:t>
                      </a:r>
                    </a:p>
                  </a:txBody>
                  <a:tcPr/>
                </a:tc>
              </a:tr>
            </a:tbl>
          </a:graphicData>
        </a:graphic>
      </p:graphicFrame>
      <p:pic>
        <p:nvPicPr>
          <p:cNvPr id="7" name="Picture 6" descr="petg_expect.png"/>
          <p:cNvPicPr>
            <a:picLocks noChangeAspect="1"/>
          </p:cNvPicPr>
          <p:nvPr/>
        </p:nvPicPr>
        <p:blipFill>
          <a:blip r:embed="rId2"/>
          <a:stretch>
            <a:fillRect/>
          </a:stretch>
        </p:blipFill>
        <p:spPr>
          <a:xfrm>
            <a:off x="1295235" y="3127248"/>
            <a:ext cx="9616769" cy="2331720"/>
          </a:xfrm>
          <a:prstGeom prst="rect">
            <a:avLst/>
          </a:prstGeom>
        </p:spPr>
      </p:pic>
      <p:sp>
        <p:nvSpPr>
          <p:cNvPr id="8" name="Rectangle 7"/>
          <p:cNvSpPr/>
          <p:nvPr/>
        </p:nvSpPr>
        <p:spPr>
          <a:xfrm>
            <a:off x="365760" y="5797296"/>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ALL FOUR PREDICTIONS HOLD. And the one MISS is shared: both materials sit ~7-8 % below the published UTS band while E and ε_f land inside it. A strength knock-down that is the SAME SIZE on two different polymers is the print process, not the instrument — the measurement is exonerated by the very thing that looked like a shortfall.</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 Bands are typical published values for 100 % infill printed parts. The PETG spool's OWN datasheet has not been obtained — until it is, this is a sanity check on the ordering, not the like-for-like validation PLA has against add:north E-PLA.</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274</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THE PLASTIC SLOPE, SPECIMEN TO SPECIMEN</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After the peak, PETG draws: stress falls while strain keeps climbing. The RATE it falls at is a material response the toe and the grips cannot reach, which makes it a cleaner specimen-to-specimen comparison than UTS.</a:t>
            </a:r>
          </a:p>
        </p:txBody>
      </p:sp>
      <p:pic>
        <p:nvPicPr>
          <p:cNvPr id="6" name="Picture 5" descr="petg_plastic.png"/>
          <p:cNvPicPr>
            <a:picLocks noChangeAspect="1"/>
          </p:cNvPicPr>
          <p:nvPr/>
        </p:nvPicPr>
        <p:blipFill>
          <a:blip r:embed="rId2"/>
          <a:stretch>
            <a:fillRect/>
          </a:stretch>
        </p:blipFill>
        <p:spPr>
          <a:xfrm>
            <a:off x="790522" y="1499616"/>
            <a:ext cx="10626195" cy="2615183"/>
          </a:xfrm>
          <a:prstGeom prst="rect">
            <a:avLst/>
          </a:prstGeom>
        </p:spPr>
      </p:pic>
      <p:graphicFrame>
        <p:nvGraphicFramePr>
          <p:cNvPr id="7" name="Table 6"/>
          <p:cNvGraphicFramePr>
            <a:graphicFrameLocks noGrp="1"/>
          </p:cNvGraphicFramePr>
          <p:nvPr/>
        </p:nvGraphicFramePr>
        <p:xfrm>
          <a:off x="365760" y="4261104"/>
          <a:ext cx="6949438" cy="1188720"/>
        </p:xfrm>
        <a:graphic>
          <a:graphicData uri="http://schemas.openxmlformats.org/drawingml/2006/table">
            <a:tbl>
              <a:tblPr firstRow="1" bandRow="1">
                <a:tableStyleId>{5C22544A-7EE6-4342-B048-85BDC9FD1C3A}</a:tableStyleId>
              </a:tblPr>
              <a:tblGrid>
                <a:gridCol w="914400"/>
                <a:gridCol w="1005839"/>
                <a:gridCol w="2103120"/>
                <a:gridCol w="1005839"/>
                <a:gridCol w="1920240"/>
              </a:tblGrid>
              <a:tr h="297180">
                <a:tc>
                  <a:txBody>
                    <a:bodyPr lIns="54864" rIns="54864" tIns="18288" bIns="18288" wrap="square" anchor="ctr"/>
                    <a:lstStyle/>
                    <a:p>
                      <a:pPr algn="l"/>
                      <a:r>
                        <a:rPr sz="950" b="1">
                          <a:solidFill>
                            <a:srgbClr val="FFFFFF"/>
                          </a:solidFill>
                          <a:latin typeface="Calibri"/>
                        </a:rPr>
                        <a:t>Run</a:t>
                      </a:r>
                    </a:p>
                  </a:txBody>
                  <a:tcPr>
                    <a:solidFill>
                      <a:srgbClr val="143D2F"/>
                    </a:solidFill>
                  </a:tcPr>
                </a:tc>
                <a:tc>
                  <a:txBody>
                    <a:bodyPr lIns="54864" rIns="54864" tIns="18288" bIns="18288" wrap="square" anchor="ctr"/>
                    <a:lstStyle/>
                    <a:p>
                      <a:pPr algn="l"/>
                      <a:r>
                        <a:rPr sz="950" b="1">
                          <a:solidFill>
                            <a:srgbClr val="FFFFFF"/>
                          </a:solidFill>
                          <a:latin typeface="Calibri"/>
                        </a:rPr>
                        <a:t>Tracked</a:t>
                      </a:r>
                    </a:p>
                  </a:txBody>
                  <a:tcPr>
                    <a:solidFill>
                      <a:srgbClr val="143D2F"/>
                    </a:solidFill>
                  </a:tcPr>
                </a:tc>
                <a:tc>
                  <a:txBody>
                    <a:bodyPr lIns="54864" rIns="54864" tIns="18288" bIns="18288" wrap="square" anchor="ctr"/>
                    <a:lstStyle/>
                    <a:p>
                      <a:pPr algn="l"/>
                      <a:r>
                        <a:rPr sz="950" b="1">
                          <a:solidFill>
                            <a:srgbClr val="FFFFFF"/>
                          </a:solidFill>
                          <a:latin typeface="Calibri"/>
                        </a:rPr>
                        <a:t>dσ/dε  (MPa per % strain)</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c>
                  <a:txBody>
                    <a:bodyPr lIns="54864" rIns="54864" tIns="18288" bIns="18288" wrap="square" anchor="ctr"/>
                    <a:lstStyle/>
                    <a:p>
                      <a:pPr algn="l"/>
                      <a:r>
                        <a:rPr sz="950" b="1">
                          <a:solidFill>
                            <a:srgbClr val="FFFFFF"/>
                          </a:solidFill>
                          <a:latin typeface="Calibri"/>
                        </a:rPr>
                        <a:t>Fitted over</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89 %</a:t>
                      </a:r>
                    </a:p>
                  </a:txBody>
                  <a:tcPr/>
                </a:tc>
                <a:tc>
                  <a:txBody>
                    <a:bodyPr lIns="54864" rIns="54864" tIns="18288" bIns="18288" wrap="square" anchor="ctr"/>
                    <a:lstStyle/>
                    <a:p>
                      <a:pPr algn="l"/>
                      <a:r>
                        <a:rPr sz="950" b="0">
                          <a:solidFill>
                            <a:srgbClr val="000000"/>
                          </a:solidFill>
                          <a:latin typeface="Calibri"/>
                        </a:rPr>
                        <a:t>-2.361</a:t>
                      </a:r>
                    </a:p>
                  </a:txBody>
                  <a:tcPr/>
                </a:tc>
                <a:tc>
                  <a:txBody>
                    <a:bodyPr lIns="54864" rIns="54864" tIns="18288" bIns="18288" wrap="square" anchor="ctr"/>
                    <a:lstStyle/>
                    <a:p>
                      <a:pPr algn="l"/>
                      <a:r>
                        <a:rPr sz="950" b="0">
                          <a:solidFill>
                            <a:srgbClr val="000000"/>
                          </a:solidFill>
                          <a:latin typeface="Calibri"/>
                        </a:rPr>
                        <a:t>0.9837</a:t>
                      </a:r>
                    </a:p>
                  </a:txBody>
                  <a:tcPr/>
                </a:tc>
                <a:tc>
                  <a:txBody>
                    <a:bodyPr lIns="54864" rIns="54864" tIns="18288" bIns="18288" wrap="square" anchor="ctr"/>
                    <a:lstStyle/>
                    <a:p>
                      <a:pPr algn="l"/>
                      <a:r>
                        <a:rPr sz="950" b="0">
                          <a:solidFill>
                            <a:srgbClr val="000000"/>
                          </a:solidFill>
                          <a:latin typeface="Calibri"/>
                        </a:rPr>
                        <a:t>4.03 – 7.14 %</a:t>
                      </a:r>
                    </a:p>
                  </a:txBody>
                  <a:tcPr/>
                </a:tc>
              </a:tr>
              <a:tr h="29718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65 %</a:t>
                      </a:r>
                    </a:p>
                  </a:txBody>
                  <a:tcPr/>
                </a:tc>
                <a:tc>
                  <a:txBody>
                    <a:bodyPr lIns="54864" rIns="54864" tIns="18288" bIns="18288" wrap="square" anchor="ctr"/>
                    <a:lstStyle/>
                    <a:p>
                      <a:pPr algn="l"/>
                      <a:r>
                        <a:rPr sz="950" b="0">
                          <a:solidFill>
                            <a:srgbClr val="000000"/>
                          </a:solidFill>
                          <a:latin typeface="Calibri"/>
                        </a:rPr>
                        <a:t>-2.017</a:t>
                      </a:r>
                    </a:p>
                  </a:txBody>
                  <a:tcPr/>
                </a:tc>
                <a:tc>
                  <a:txBody>
                    <a:bodyPr lIns="54864" rIns="54864" tIns="18288" bIns="18288" wrap="square" anchor="ctr"/>
                    <a:lstStyle/>
                    <a:p>
                      <a:pPr algn="l"/>
                      <a:r>
                        <a:rPr sz="950" b="0">
                          <a:solidFill>
                            <a:srgbClr val="000000"/>
                          </a:solidFill>
                          <a:latin typeface="Calibri"/>
                        </a:rPr>
                        <a:t>0.9928</a:t>
                      </a:r>
                    </a:p>
                  </a:txBody>
                  <a:tcPr/>
                </a:tc>
                <a:tc>
                  <a:txBody>
                    <a:bodyPr lIns="54864" rIns="54864" tIns="18288" bIns="18288" wrap="square" anchor="ctr"/>
                    <a:lstStyle/>
                    <a:p>
                      <a:pPr algn="l"/>
                      <a:r>
                        <a:rPr sz="950" b="0">
                          <a:solidFill>
                            <a:srgbClr val="000000"/>
                          </a:solidFill>
                          <a:latin typeface="Calibri"/>
                        </a:rPr>
                        <a:t>4.31 – 7.35 %</a:t>
                      </a:r>
                    </a:p>
                  </a:txBody>
                  <a:tcPr/>
                </a:tc>
              </a:tr>
              <a:tr h="29718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57 %</a:t>
                      </a:r>
                    </a:p>
                  </a:txBody>
                  <a:tcPr/>
                </a:tc>
                <a:tc>
                  <a:txBody>
                    <a:bodyPr lIns="54864" rIns="54864" tIns="18288" bIns="18288" wrap="square" anchor="ctr"/>
                    <a:lstStyle/>
                    <a:p>
                      <a:pPr algn="l"/>
                      <a:r>
                        <a:rPr sz="950" b="0">
                          <a:solidFill>
                            <a:srgbClr val="000000"/>
                          </a:solidFill>
                          <a:latin typeface="Calibri"/>
                        </a:rPr>
                        <a:t>cannot be fitted</a:t>
                      </a:r>
                    </a:p>
                  </a:txBody>
                  <a:tcPr/>
                </a:tc>
                <a:tc>
                  <a:txBody>
                    <a:bodyPr lIns="54864" rIns="54864" tIns="18288" bIns="18288" wrap="square" anchor="ctr"/>
                    <a:lstStyle/>
                    <a:p>
                      <a:pPr algn="l"/>
                      <a:r>
                        <a:rPr sz="950" b="0">
                          <a:solidFill>
                            <a:srgbClr val="000000"/>
                          </a:solidFill>
                          <a:latin typeface="Calibri"/>
                        </a:rPr>
                        <a:t>—</a:t>
                      </a:r>
                    </a:p>
                  </a:txBody>
                  <a:tcPr/>
                </a:tc>
                <a:tc>
                  <a:txBody>
                    <a:bodyPr lIns="54864" rIns="54864" tIns="18288" bIns="18288" wrap="square" anchor="ctr"/>
                    <a:lstStyle/>
                    <a:p>
                      <a:pPr algn="l"/>
                      <a:r>
                        <a:rPr sz="950" b="0">
                          <a:solidFill>
                            <a:srgbClr val="000000"/>
                          </a:solidFill>
                          <a:latin typeface="Calibri"/>
                        </a:rPr>
                        <a:t>curve ends 1.08 % past the peak</a:t>
                      </a:r>
                    </a:p>
                  </a:txBody>
                  <a:tcPr/>
                </a:tc>
              </a:tr>
            </a:tbl>
          </a:graphicData>
        </a:graphic>
      </p:graphicFrame>
      <p:sp>
        <p:nvSpPr>
          <p:cNvPr id="8" name="TextBox 7"/>
          <p:cNvSpPr txBox="1"/>
          <p:nvPr/>
        </p:nvSpPr>
        <p:spPr>
          <a:xfrm>
            <a:off x="7543800" y="4261104"/>
            <a:ext cx="42976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comparison survives S32's anchor</a:t>
            </a:r>
          </a:p>
        </p:txBody>
      </p:sp>
      <p:sp>
        <p:nvSpPr>
          <p:cNvPr id="9" name="TextBox 8"/>
          <p:cNvSpPr txBox="1"/>
          <p:nvPr/>
        </p:nvSpPr>
        <p:spPr>
          <a:xfrm>
            <a:off x="7543800" y="4590288"/>
            <a:ext cx="4297680" cy="1280160"/>
          </a:xfrm>
          <a:prstGeom prst="rect">
            <a:avLst/>
          </a:prstGeom>
          <a:noFill/>
        </p:spPr>
        <p:txBody>
          <a:bodyPr wrap="square" lIns="45720" rIns="45720" tIns="18288" bIns="18288" anchor="t">
            <a:spAutoFit/>
          </a:bodyPr>
          <a:lstStyle/>
          <a:p>
            <a:pPr algn="l"/>
            <a:r>
              <a:rPr sz="980" b="0" i="0">
                <a:solidFill>
                  <a:srgbClr val="000000"/>
                </a:solidFill>
                <a:latin typeface="Calibri"/>
              </a:rPr>
              <a:t>The failed anchor enters the stress axis as a CONSTANT OFFSET, and a constant cancels in any derivative. So S32's absolute UTS cannot be trusted while its SLOPES can — its E (1.78 GPa) already matches S30's (1.81), which is the same fact showing up twice.</a:t>
            </a:r>
          </a:p>
        </p:txBody>
      </p:sp>
      <p:sp>
        <p:nvSpPr>
          <p:cNvPr id="10" name="Rectangle 9"/>
          <p:cNvSpPr/>
          <p:nvPr/>
        </p:nvSpPr>
        <p:spPr>
          <a:xfrm>
            <a:off x="365760" y="5888736"/>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The two runs that can be fitted agree to 15 % on the softening rate (-2.36 vs -2.02 MPa per % strain, both R² &gt; 0.98), and their curves lie almost on top of one another. For a first pass at a new material on this rig, that is a good result.</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Fitted between 15 % and 85 % of the way from the UTS strain to fracture, so neither the turnover at the peak nor the last dying samples enter the fit.</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275</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PETG — THE ELASTIC SLOPE, SPECIMEN TO SPECIMEN</a:t>
            </a:r>
          </a:p>
        </p:txBody>
      </p:sp>
      <p:sp>
        <p:nvSpPr>
          <p:cNvPr id="5" name="TextBox 4"/>
          <p:cNvSpPr txBox="1"/>
          <p:nvPr/>
        </p:nvSpPr>
        <p:spPr>
          <a:xfrm>
            <a:off x="365760" y="1033271"/>
            <a:ext cx="11475720" cy="402336"/>
          </a:xfrm>
          <a:prstGeom prst="rect">
            <a:avLst/>
          </a:prstGeom>
          <a:noFill/>
        </p:spPr>
        <p:txBody>
          <a:bodyPr wrap="square" lIns="45720" rIns="45720" tIns="18288" bIns="18288" anchor="t">
            <a:spAutoFit/>
          </a:bodyPr>
          <a:lstStyle/>
          <a:p>
            <a:pPr algn="l"/>
            <a:r>
              <a:rPr sz="1200" b="0" i="1">
                <a:solidFill>
                  <a:srgbClr val="707070"/>
                </a:solidFill>
                <a:latin typeface="Calibri"/>
              </a:rPr>
              <a:t>The straight run at the very start of the curve. Compared over the SAME 0.05–0.35 % strain interval the MOT extensometer analysis used on p245–247, so the two sit on one basis instead of each inventing its own region.</a:t>
            </a:r>
          </a:p>
        </p:txBody>
      </p:sp>
      <p:pic>
        <p:nvPicPr>
          <p:cNvPr id="6" name="Picture 5" descr="petg_elastic.png"/>
          <p:cNvPicPr>
            <a:picLocks noChangeAspect="1"/>
          </p:cNvPicPr>
          <p:nvPr/>
        </p:nvPicPr>
        <p:blipFill>
          <a:blip r:embed="rId2"/>
          <a:stretch>
            <a:fillRect/>
          </a:stretch>
        </p:blipFill>
        <p:spPr>
          <a:xfrm>
            <a:off x="800100" y="1499616"/>
            <a:ext cx="10607040" cy="2651760"/>
          </a:xfrm>
          <a:prstGeom prst="rect">
            <a:avLst/>
          </a:prstGeom>
        </p:spPr>
      </p:pic>
      <p:graphicFrame>
        <p:nvGraphicFramePr>
          <p:cNvPr id="7" name="Table 6"/>
          <p:cNvGraphicFramePr>
            <a:graphicFrameLocks noGrp="1"/>
          </p:cNvGraphicFramePr>
          <p:nvPr/>
        </p:nvGraphicFramePr>
        <p:xfrm>
          <a:off x="365760" y="4297680"/>
          <a:ext cx="7223760" cy="1188720"/>
        </p:xfrm>
        <a:graphic>
          <a:graphicData uri="http://schemas.openxmlformats.org/drawingml/2006/table">
            <a:tbl>
              <a:tblPr firstRow="1" bandRow="1">
                <a:tableStyleId>{5C22544A-7EE6-4342-B048-85BDC9FD1C3A}</a:tableStyleId>
              </a:tblPr>
              <a:tblGrid>
                <a:gridCol w="812673"/>
                <a:gridCol w="1715643"/>
                <a:gridCol w="2438019"/>
                <a:gridCol w="1444752"/>
                <a:gridCol w="812673"/>
              </a:tblGrid>
              <a:tr h="297180">
                <a:tc>
                  <a:txBody>
                    <a:bodyPr lIns="54864" rIns="54864" tIns="18288" bIns="18288" wrap="square" anchor="ctr"/>
                    <a:lstStyle/>
                    <a:p>
                      <a:pPr algn="l"/>
                      <a:r>
                        <a:rPr sz="950" b="1">
                          <a:solidFill>
                            <a:srgbClr val="FFFFFF"/>
                          </a:solidFill>
                          <a:latin typeface="Calibri"/>
                        </a:rPr>
                        <a:t>Run</a:t>
                      </a:r>
                    </a:p>
                  </a:txBody>
                  <a:tcPr>
                    <a:solidFill>
                      <a:srgbClr val="143D2F"/>
                    </a:solidFill>
                  </a:tcPr>
                </a:tc>
                <a:tc>
                  <a:txBody>
                    <a:bodyPr lIns="54864" rIns="54864" tIns="18288" bIns="18288" wrap="square" anchor="ctr"/>
                    <a:lstStyle/>
                    <a:p>
                      <a:pPr algn="l"/>
                      <a:r>
                        <a:rPr sz="950" b="1">
                          <a:solidFill>
                            <a:srgbClr val="FFFFFF"/>
                          </a:solidFill>
                          <a:latin typeface="Calibri"/>
                        </a:rPr>
                        <a:t>Tracked in E window</a:t>
                      </a:r>
                    </a:p>
                  </a:txBody>
                  <a:tcPr>
                    <a:solidFill>
                      <a:srgbClr val="143D2F"/>
                    </a:solidFill>
                  </a:tcPr>
                </a:tc>
                <a:tc>
                  <a:txBody>
                    <a:bodyPr lIns="54864" rIns="54864" tIns="18288" bIns="18288" wrap="square" anchor="ctr"/>
                    <a:lstStyle/>
                    <a:p>
                      <a:pPr algn="l"/>
                      <a:r>
                        <a:rPr sz="950" b="1">
                          <a:solidFill>
                            <a:srgbClr val="FFFFFF"/>
                          </a:solidFill>
                          <a:latin typeface="Calibri"/>
                        </a:rPr>
                        <a:t>E — own steepest run</a:t>
                      </a:r>
                    </a:p>
                  </a:txBody>
                  <a:tcPr>
                    <a:solidFill>
                      <a:srgbClr val="143D2F"/>
                    </a:solidFill>
                  </a:tcPr>
                </a:tc>
                <a:tc>
                  <a:txBody>
                    <a:bodyPr lIns="54864" rIns="54864" tIns="18288" bIns="18288" wrap="square" anchor="ctr"/>
                    <a:lstStyle/>
                    <a:p>
                      <a:pPr algn="l"/>
                      <a:r>
                        <a:rPr sz="950" b="1">
                          <a:solidFill>
                            <a:srgbClr val="FFFFFF"/>
                          </a:solidFill>
                          <a:latin typeface="Calibri"/>
                        </a:rPr>
                        <a:t>E — 0.05–0.35 %</a:t>
                      </a:r>
                    </a:p>
                  </a:txBody>
                  <a:tcPr>
                    <a:solidFill>
                      <a:srgbClr val="143D2F"/>
                    </a:solidFill>
                  </a:tcPr>
                </a:tc>
                <a:tc>
                  <a:txBody>
                    <a:bodyPr lIns="54864" rIns="54864" tIns="18288" bIns="18288" wrap="square" anchor="ctr"/>
                    <a:lstStyle/>
                    <a:p>
                      <a:pPr algn="l"/>
                      <a:r>
                        <a:rPr sz="950" b="1">
                          <a:solidFill>
                            <a:srgbClr val="FFFFFF"/>
                          </a:solidFill>
                          <a:latin typeface="Calibri"/>
                        </a:rPr>
                        <a:t>R²</a:t>
                      </a:r>
                    </a:p>
                  </a:txBody>
                  <a:tcPr>
                    <a:solidFill>
                      <a:srgbClr val="143D2F"/>
                    </a:solidFill>
                  </a:tcPr>
                </a:tc>
              </a:tr>
              <a:tr h="297180">
                <a:tc>
                  <a:txBody>
                    <a:bodyPr lIns="54864" rIns="54864" tIns="18288" bIns="18288" wrap="square" anchor="ctr"/>
                    <a:lstStyle/>
                    <a:p>
                      <a:pPr algn="l"/>
                      <a:r>
                        <a:rPr sz="950" b="0">
                          <a:solidFill>
                            <a:srgbClr val="000000"/>
                          </a:solidFill>
                          <a:latin typeface="Calibri"/>
                        </a:rPr>
                        <a:t>S30</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1.808 GPa  (0.18–0.43 %)</a:t>
                      </a:r>
                    </a:p>
                  </a:txBody>
                  <a:tcPr/>
                </a:tc>
                <a:tc>
                  <a:txBody>
                    <a:bodyPr lIns="54864" rIns="54864" tIns="18288" bIns="18288" wrap="square" anchor="ctr"/>
                    <a:lstStyle/>
                    <a:p>
                      <a:pPr algn="l"/>
                      <a:r>
                        <a:rPr sz="950" b="0">
                          <a:solidFill>
                            <a:srgbClr val="000000"/>
                          </a:solidFill>
                          <a:latin typeface="Calibri"/>
                        </a:rPr>
                        <a:t>1.697 GPa</a:t>
                      </a:r>
                    </a:p>
                  </a:txBody>
                  <a:tcPr/>
                </a:tc>
                <a:tc>
                  <a:txBody>
                    <a:bodyPr lIns="54864" rIns="54864" tIns="18288" bIns="18288" wrap="square" anchor="ctr"/>
                    <a:lstStyle/>
                    <a:p>
                      <a:pPr algn="l"/>
                      <a:r>
                        <a:rPr sz="950" b="0">
                          <a:solidFill>
                            <a:srgbClr val="000000"/>
                          </a:solidFill>
                          <a:latin typeface="Calibri"/>
                        </a:rPr>
                        <a:t>0.9975</a:t>
                      </a:r>
                    </a:p>
                  </a:txBody>
                  <a:tcPr/>
                </a:tc>
              </a:tr>
              <a:tr h="297180">
                <a:tc>
                  <a:txBody>
                    <a:bodyPr lIns="54864" rIns="54864" tIns="18288" bIns="18288" wrap="square" anchor="ctr"/>
                    <a:lstStyle/>
                    <a:p>
                      <a:pPr algn="l"/>
                      <a:r>
                        <a:rPr sz="950" b="0">
                          <a:solidFill>
                            <a:srgbClr val="000000"/>
                          </a:solidFill>
                          <a:latin typeface="Calibri"/>
                        </a:rPr>
                        <a:t>S31</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2.122 GPa  (0.06–0.34 %)</a:t>
                      </a:r>
                    </a:p>
                  </a:txBody>
                  <a:tcPr/>
                </a:tc>
                <a:tc>
                  <a:txBody>
                    <a:bodyPr lIns="54864" rIns="54864" tIns="18288" bIns="18288" wrap="square" anchor="ctr"/>
                    <a:lstStyle/>
                    <a:p>
                      <a:pPr algn="l"/>
                      <a:r>
                        <a:rPr sz="950" b="0">
                          <a:solidFill>
                            <a:srgbClr val="000000"/>
                          </a:solidFill>
                          <a:latin typeface="Calibri"/>
                        </a:rPr>
                        <a:t>2.119 GPa</a:t>
                      </a:r>
                    </a:p>
                  </a:txBody>
                  <a:tcPr/>
                </a:tc>
                <a:tc>
                  <a:txBody>
                    <a:bodyPr lIns="54864" rIns="54864" tIns="18288" bIns="18288" wrap="square" anchor="ctr"/>
                    <a:lstStyle/>
                    <a:p>
                      <a:pPr algn="l"/>
                      <a:r>
                        <a:rPr sz="950" b="0">
                          <a:solidFill>
                            <a:srgbClr val="000000"/>
                          </a:solidFill>
                          <a:latin typeface="Calibri"/>
                        </a:rPr>
                        <a:t>0.9990</a:t>
                      </a:r>
                    </a:p>
                  </a:txBody>
                  <a:tcPr/>
                </a:tc>
              </a:tr>
              <a:tr h="297180">
                <a:tc>
                  <a:txBody>
                    <a:bodyPr lIns="54864" rIns="54864" tIns="18288" bIns="18288" wrap="square" anchor="ctr"/>
                    <a:lstStyle/>
                    <a:p>
                      <a:pPr algn="l"/>
                      <a:r>
                        <a:rPr sz="950" b="0">
                          <a:solidFill>
                            <a:srgbClr val="000000"/>
                          </a:solidFill>
                          <a:latin typeface="Calibri"/>
                        </a:rPr>
                        <a:t>S32</a:t>
                      </a:r>
                    </a:p>
                  </a:txBody>
                  <a:tcPr/>
                </a:tc>
                <a:tc>
                  <a:txBody>
                    <a:bodyPr lIns="54864" rIns="54864" tIns="18288" bIns="18288" wrap="square" anchor="ctr"/>
                    <a:lstStyle/>
                    <a:p>
                      <a:pPr algn="l"/>
                      <a:r>
                        <a:rPr sz="950" b="0">
                          <a:solidFill>
                            <a:srgbClr val="000000"/>
                          </a:solidFill>
                          <a:latin typeface="Calibri"/>
                        </a:rPr>
                        <a:t>100 %</a:t>
                      </a:r>
                    </a:p>
                  </a:txBody>
                  <a:tcPr/>
                </a:tc>
                <a:tc>
                  <a:txBody>
                    <a:bodyPr lIns="54864" rIns="54864" tIns="18288" bIns="18288" wrap="square" anchor="ctr"/>
                    <a:lstStyle/>
                    <a:p>
                      <a:pPr algn="l"/>
                      <a:r>
                        <a:rPr sz="950" b="0">
                          <a:solidFill>
                            <a:srgbClr val="000000"/>
                          </a:solidFill>
                          <a:latin typeface="Calibri"/>
                        </a:rPr>
                        <a:t>1.778 GPa  (0.48–0.76 %)</a:t>
                      </a:r>
                    </a:p>
                  </a:txBody>
                  <a:tcPr/>
                </a:tc>
                <a:tc>
                  <a:txBody>
                    <a:bodyPr lIns="54864" rIns="54864" tIns="18288" bIns="18288" wrap="square" anchor="ctr"/>
                    <a:lstStyle/>
                    <a:p>
                      <a:pPr algn="l"/>
                      <a:r>
                        <a:rPr sz="950" b="0">
                          <a:solidFill>
                            <a:srgbClr val="000000"/>
                          </a:solidFill>
                          <a:latin typeface="Calibri"/>
                        </a:rPr>
                        <a:t>1.673 GPa</a:t>
                      </a:r>
                    </a:p>
                  </a:txBody>
                  <a:tcPr/>
                </a:tc>
                <a:tc>
                  <a:txBody>
                    <a:bodyPr lIns="54864" rIns="54864" tIns="18288" bIns="18288" wrap="square" anchor="ctr"/>
                    <a:lstStyle/>
                    <a:p>
                      <a:pPr algn="l"/>
                      <a:r>
                        <a:rPr sz="950" b="0">
                          <a:solidFill>
                            <a:srgbClr val="000000"/>
                          </a:solidFill>
                          <a:latin typeface="Calibri"/>
                        </a:rPr>
                        <a:t>0.9988</a:t>
                      </a:r>
                    </a:p>
                  </a:txBody>
                  <a:tcPr/>
                </a:tc>
              </a:tr>
            </a:tbl>
          </a:graphicData>
        </a:graphic>
      </p:graphicFrame>
      <p:sp>
        <p:nvSpPr>
          <p:cNvPr id="8" name="TextBox 7"/>
          <p:cNvSpPr txBox="1"/>
          <p:nvPr/>
        </p:nvSpPr>
        <p:spPr>
          <a:xfrm>
            <a:off x="7818120" y="4297680"/>
            <a:ext cx="402336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things this settles</a:t>
            </a:r>
          </a:p>
        </p:txBody>
      </p:sp>
      <p:sp>
        <p:nvSpPr>
          <p:cNvPr id="9" name="TextBox 8"/>
          <p:cNvSpPr txBox="1"/>
          <p:nvPr/>
        </p:nvSpPr>
        <p:spPr>
          <a:xfrm>
            <a:off x="7818120" y="4626864"/>
            <a:ext cx="4023360" cy="1371600"/>
          </a:xfrm>
          <a:prstGeom prst="rect">
            <a:avLst/>
          </a:prstGeom>
          <a:noFill/>
        </p:spPr>
        <p:txBody>
          <a:bodyPr wrap="square" lIns="45720" rIns="45720" tIns="18288" bIns="18288" anchor="t">
            <a:spAutoFit/>
          </a:bodyPr>
          <a:lstStyle/>
          <a:p>
            <a:pPr algn="l"/>
            <a:r>
              <a:rPr sz="960" b="0" i="0">
                <a:solidFill>
                  <a:srgbClr val="000000"/>
                </a:solidFill>
                <a:latin typeface="Calibri"/>
              </a:rPr>
              <a:t>S31's STIFFNESS IS SOUND even though its run is not — all three tracked 100 % of the samples inside their elastic window, because its dropouts came later. It carries E as well as strength; only ε_f and toughness are lost.
And the fit WINDOW is not what separates them: S31 reads the same 2.12 either way.</a:t>
            </a:r>
          </a:p>
        </p:txBody>
      </p:sp>
      <p:sp>
        <p:nvSpPr>
          <p:cNvPr id="10" name="Rectangle 9"/>
          <p:cNvSpPr/>
          <p:nvPr/>
        </p:nvSpPr>
        <p:spPr>
          <a:xfrm>
            <a:off x="365760" y="5815584"/>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S30 AND S32 AGREE TO 1.4 % (1.697 vs 1.673 GPa) AND LIE ON TOP OF ONE ANOTHER. S31 sits 26 % stiffer than both — a real specimen difference, not a fit artefact. Quoting a single 19 % spread would have hidden a clean pair and one outlier.</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each run fitted over its OWN steepest straight run (shaded) — S32's sits later because its toe is longer. Right: the same three refitted over one common window, which removes the fit rule from the comparison.</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276</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TPU 95A — WHY AN ELASTOMER IS A DIFFERENT TEST ON THE SAME RIG</a:t>
            </a:r>
          </a:p>
        </p:txBody>
      </p:sp>
      <p:sp>
        <p:nvSpPr>
          <p:cNvPr id="5" name="TextBox 4"/>
          <p:cNvSpPr txBox="1"/>
          <p:nvPr/>
        </p:nvSpPr>
        <p:spPr>
          <a:xfrm>
            <a:off x="457200" y="123444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had to change, and why</a:t>
            </a:r>
          </a:p>
        </p:txBody>
      </p:sp>
      <p:graphicFrame>
        <p:nvGraphicFramePr>
          <p:cNvPr id="6" name="Table 5"/>
          <p:cNvGraphicFramePr>
            <a:graphicFrameLocks noGrp="1"/>
          </p:cNvGraphicFramePr>
          <p:nvPr/>
        </p:nvGraphicFramePr>
        <p:xfrm>
          <a:off x="457200" y="1600200"/>
          <a:ext cx="5577840" cy="2788920"/>
        </p:xfrm>
        <a:graphic>
          <a:graphicData uri="http://schemas.openxmlformats.org/drawingml/2006/table">
            <a:tbl>
              <a:tblPr firstRow="1" bandRow="1">
                <a:tableStyleId>{5C22544A-7EE6-4342-B048-85BDC9FD1C3A}</a:tableStyleId>
              </a:tblPr>
              <a:tblGrid>
                <a:gridCol w="822960"/>
                <a:gridCol w="822960"/>
                <a:gridCol w="822960"/>
                <a:gridCol w="3108960"/>
              </a:tblGrid>
              <a:tr h="464820">
                <a:tc>
                  <a:txBody>
                    <a:bodyPr lIns="54864" rIns="54864" tIns="18288" bIns="18288" wrap="square" anchor="ctr"/>
                    <a:lstStyle/>
                    <a:p>
                      <a:pPr algn="l"/>
                      <a:r>
                        <a:rPr sz="950" b="1">
                          <a:solidFill>
                            <a:srgbClr val="FFFFFF"/>
                          </a:solidFill>
                          <a:latin typeface="Calibri"/>
                        </a:rPr>
                        <a:t>Setting</a:t>
                      </a:r>
                    </a:p>
                  </a:txBody>
                  <a:tcPr>
                    <a:solidFill>
                      <a:srgbClr val="143D2F"/>
                    </a:solidFill>
                  </a:tcPr>
                </a:tc>
                <a:tc>
                  <a:txBody>
                    <a:bodyPr lIns="54864" rIns="54864" tIns="18288" bIns="18288" wrap="square" anchor="ctr"/>
                    <a:lstStyle/>
                    <a:p>
                      <a:pPr algn="l"/>
                      <a:r>
                        <a:rPr sz="950" b="1">
                          <a:solidFill>
                            <a:srgbClr val="FFFFFF"/>
                          </a:solidFill>
                          <a:latin typeface="Calibri"/>
                        </a:rPr>
                        <a:t>PLA / PETG</a:t>
                      </a:r>
                    </a:p>
                  </a:txBody>
                  <a:tcPr>
                    <a:solidFill>
                      <a:srgbClr val="143D2F"/>
                    </a:solidFill>
                  </a:tcPr>
                </a:tc>
                <a:tc>
                  <a:txBody>
                    <a:bodyPr lIns="54864" rIns="54864" tIns="18288" bIns="18288" wrap="square" anchor="ctr"/>
                    <a:lstStyle/>
                    <a:p>
                      <a:pPr algn="l"/>
                      <a:r>
                        <a:rPr sz="950" b="1">
                          <a:solidFill>
                            <a:srgbClr val="FFFFFF"/>
                          </a:solidFill>
                          <a:latin typeface="Calibri"/>
                        </a:rPr>
                        <a:t>TPU</a:t>
                      </a:r>
                    </a:p>
                  </a:txBody>
                  <a:tcPr>
                    <a:solidFill>
                      <a:srgbClr val="143D2F"/>
                    </a:solidFill>
                  </a:tcPr>
                </a:tc>
                <a:tc>
                  <a:txBody>
                    <a:bodyPr lIns="54864" rIns="54864" tIns="18288" bIns="18288" wrap="square" anchor="ctr"/>
                    <a:lstStyle/>
                    <a:p>
                      <a:pPr algn="l"/>
                      <a:r>
                        <a:rPr sz="950" b="1">
                          <a:solidFill>
                            <a:srgbClr val="FFFFFF"/>
                          </a:solidFill>
                          <a:latin typeface="Calibri"/>
                        </a:rPr>
                        <a:t>Reason</a:t>
                      </a:r>
                    </a:p>
                  </a:txBody>
                  <a:tcPr>
                    <a:solidFill>
                      <a:srgbClr val="143D2F"/>
                    </a:solidFill>
                  </a:tcPr>
                </a:tc>
              </a:tr>
              <a:tr h="464820">
                <a:tc>
                  <a:txBody>
                    <a:bodyPr lIns="54864" rIns="54864" tIns="18288" bIns="18288" wrap="square" anchor="ctr"/>
                    <a:lstStyle/>
                    <a:p>
                      <a:pPr algn="l"/>
                      <a:r>
                        <a:rPr sz="860" b="0">
                          <a:solidFill>
                            <a:srgbClr val="000000"/>
                          </a:solidFill>
                          <a:latin typeface="Calibri"/>
                        </a:rPr>
                        <a:t>Preload</a:t>
                      </a:r>
                    </a:p>
                  </a:txBody>
                  <a:tcPr/>
                </a:tc>
                <a:tc>
                  <a:txBody>
                    <a:bodyPr lIns="54864" rIns="54864" tIns="18288" bIns="18288" wrap="square" anchor="ctr"/>
                    <a:lstStyle/>
                    <a:p>
                      <a:pPr algn="l"/>
                      <a:r>
                        <a:rPr sz="860" b="0">
                          <a:solidFill>
                            <a:srgbClr val="000000"/>
                          </a:solidFill>
                          <a:latin typeface="Calibri"/>
                        </a:rPr>
                        <a:t>300 N</a:t>
                      </a:r>
                    </a:p>
                  </a:txBody>
                  <a:tcPr/>
                </a:tc>
                <a:tc>
                  <a:txBody>
                    <a:bodyPr lIns="54864" rIns="54864" tIns="18288" bIns="18288" wrap="square" anchor="ctr"/>
                    <a:lstStyle/>
                    <a:p>
                      <a:pPr algn="l"/>
                      <a:r>
                        <a:rPr sz="860" b="0">
                          <a:solidFill>
                            <a:srgbClr val="000000"/>
                          </a:solidFill>
                          <a:latin typeface="Calibri"/>
                        </a:rPr>
                        <a:t>20 N</a:t>
                      </a:r>
                    </a:p>
                  </a:txBody>
                  <a:tcPr/>
                </a:tc>
                <a:tc>
                  <a:txBody>
                    <a:bodyPr lIns="54864" rIns="54864" tIns="18288" bIns="18288" wrap="square" anchor="ctr"/>
                    <a:lstStyle/>
                    <a:p>
                      <a:pPr algn="l"/>
                      <a:r>
                        <a:rPr sz="860" b="0">
                          <a:solidFill>
                            <a:srgbClr val="000000"/>
                          </a:solidFill>
                          <a:latin typeface="Calibri"/>
                        </a:rPr>
                        <a:t>300 N is ~0.15 % strain on PLA but a large part of TPU's elastic range — it would be tared away</a:t>
                      </a:r>
                    </a:p>
                  </a:txBody>
                  <a:tcPr/>
                </a:tc>
              </a:tr>
              <a:tr h="464820">
                <a:tc>
                  <a:txBody>
                    <a:bodyPr lIns="54864" rIns="54864" tIns="18288" bIns="18288" wrap="square" anchor="ctr"/>
                    <a:lstStyle/>
                    <a:p>
                      <a:pPr algn="l"/>
                      <a:r>
                        <a:rPr sz="860" b="0">
                          <a:solidFill>
                            <a:srgbClr val="000000"/>
                          </a:solidFill>
                          <a:latin typeface="Calibri"/>
                        </a:rPr>
                        <a:t>Auto-stop</a:t>
                      </a:r>
                    </a:p>
                  </a:txBody>
                  <a:tcPr/>
                </a:tc>
                <a:tc>
                  <a:txBody>
                    <a:bodyPr lIns="54864" rIns="54864" tIns="18288" bIns="18288" wrap="square" anchor="ctr"/>
                    <a:lstStyle/>
                    <a:p>
                      <a:pPr algn="l"/>
                      <a:r>
                        <a:rPr sz="860" b="0">
                          <a:solidFill>
                            <a:srgbClr val="000000"/>
                          </a:solidFill>
                          <a:latin typeface="Calibri"/>
                        </a:rPr>
                        <a:t>armed</a:t>
                      </a:r>
                    </a:p>
                  </a:txBody>
                  <a:tcPr/>
                </a:tc>
                <a:tc>
                  <a:txBody>
                    <a:bodyPr lIns="54864" rIns="54864" tIns="18288" bIns="18288" wrap="square" anchor="ctr"/>
                    <a:lstStyle/>
                    <a:p>
                      <a:pPr algn="l"/>
                      <a:r>
                        <a:rPr sz="860" b="0">
                          <a:solidFill>
                            <a:srgbClr val="000000"/>
                          </a:solidFill>
                          <a:latin typeface="Calibri"/>
                        </a:rPr>
                        <a:t>OFF</a:t>
                      </a:r>
                    </a:p>
                  </a:txBody>
                  <a:tcPr/>
                </a:tc>
                <a:tc>
                  <a:txBody>
                    <a:bodyPr lIns="54864" rIns="54864" tIns="18288" bIns="18288" wrap="square" anchor="ctr"/>
                    <a:lstStyle/>
                    <a:p>
                      <a:pPr algn="l"/>
                      <a:r>
                        <a:rPr sz="860" b="0">
                          <a:solidFill>
                            <a:srgbClr val="000000"/>
                          </a:solidFill>
                          <a:latin typeface="Calibri"/>
                        </a:rPr>
                        <a:t>watches for a load COLLAPSE; a drawing elastomer never produces one, so armed it can only misfire</a:t>
                      </a:r>
                    </a:p>
                  </a:txBody>
                  <a:tcPr/>
                </a:tc>
              </a:tr>
              <a:tr h="464820">
                <a:tc>
                  <a:txBody>
                    <a:bodyPr lIns="54864" rIns="54864" tIns="18288" bIns="18288" wrap="square" anchor="ctr"/>
                    <a:lstStyle/>
                    <a:p>
                      <a:pPr algn="l"/>
                      <a:r>
                        <a:rPr sz="860" b="0">
                          <a:solidFill>
                            <a:srgbClr val="000000"/>
                          </a:solidFill>
                          <a:latin typeface="Calibri"/>
                        </a:rPr>
                        <a:t>Strain cap</a:t>
                      </a:r>
                    </a:p>
                  </a:txBody>
                  <a:tcPr/>
                </a:tc>
                <a:tc>
                  <a:txBody>
                    <a:bodyPr lIns="54864" rIns="54864" tIns="18288" bIns="18288" wrap="square" anchor="ctr"/>
                    <a:lstStyle/>
                    <a:p>
                      <a:pPr algn="l"/>
                      <a:r>
                        <a:rPr sz="860" b="0">
                          <a:solidFill>
                            <a:srgbClr val="000000"/>
                          </a:solidFill>
                          <a:latin typeface="Calibri"/>
                        </a:rPr>
                        <a:t>25 %</a:t>
                      </a:r>
                    </a:p>
                  </a:txBody>
                  <a:tcPr/>
                </a:tc>
                <a:tc>
                  <a:txBody>
                    <a:bodyPr lIns="54864" rIns="54864" tIns="18288" bIns="18288" wrap="square" anchor="ctr"/>
                    <a:lstStyle/>
                    <a:p>
                      <a:pPr algn="l"/>
                      <a:r>
                        <a:rPr sz="860" b="0">
                          <a:solidFill>
                            <a:srgbClr val="000000"/>
                          </a:solidFill>
                          <a:latin typeface="Calibri"/>
                        </a:rPr>
                        <a:t>60 %</a:t>
                      </a:r>
                    </a:p>
                  </a:txBody>
                  <a:tcPr/>
                </a:tc>
                <a:tc>
                  <a:txBody>
                    <a:bodyPr lIns="54864" rIns="54864" tIns="18288" bIns="18288" wrap="square" anchor="ctr"/>
                    <a:lstStyle/>
                    <a:p>
                      <a:pPr algn="l"/>
                      <a:r>
                        <a:rPr sz="860" b="0">
                          <a:solidFill>
                            <a:srgbClr val="000000"/>
                          </a:solidFill>
                          <a:latin typeface="Calibri"/>
                        </a:rPr>
                        <a:t>the DIC calls a bigger separation a lost marker; TPU reaches the rig's travel limit as REAL strain</a:t>
                      </a:r>
                    </a:p>
                  </a:txBody>
                  <a:tcPr/>
                </a:tc>
              </a:tr>
              <a:tr h="464820">
                <a:tc>
                  <a:txBody>
                    <a:bodyPr lIns="54864" rIns="54864" tIns="18288" bIns="18288" wrap="square" anchor="ctr"/>
                    <a:lstStyle/>
                    <a:p>
                      <a:pPr algn="l"/>
                      <a:r>
                        <a:rPr sz="860" b="0">
                          <a:solidFill>
                            <a:srgbClr val="000000"/>
                          </a:solidFill>
                          <a:latin typeface="Calibri"/>
                        </a:rPr>
                        <a:t>Marker gate</a:t>
                      </a:r>
                    </a:p>
                  </a:txBody>
                  <a:tcPr/>
                </a:tc>
                <a:tc>
                  <a:txBody>
                    <a:bodyPr lIns="54864" rIns="54864" tIns="18288" bIns="18288" wrap="square" anchor="ctr"/>
                    <a:lstStyle/>
                    <a:p>
                      <a:pPr algn="l"/>
                      <a:r>
                        <a:rPr sz="860" b="0">
                          <a:solidFill>
                            <a:srgbClr val="000000"/>
                          </a:solidFill>
                          <a:latin typeface="Calibri"/>
                        </a:rPr>
                        <a:t>0.40</a:t>
                      </a:r>
                    </a:p>
                  </a:txBody>
                  <a:tcPr/>
                </a:tc>
                <a:tc>
                  <a:txBody>
                    <a:bodyPr lIns="54864" rIns="54864" tIns="18288" bIns="18288" wrap="square" anchor="ctr"/>
                    <a:lstStyle/>
                    <a:p>
                      <a:pPr algn="l"/>
                      <a:r>
                        <a:rPr sz="860" b="0">
                          <a:solidFill>
                            <a:srgbClr val="000000"/>
                          </a:solidFill>
                          <a:latin typeface="Calibri"/>
                        </a:rPr>
                        <a:t>0.25</a:t>
                      </a:r>
                    </a:p>
                  </a:txBody>
                  <a:tcPr/>
                </a:tc>
                <a:tc>
                  <a:txBody>
                    <a:bodyPr lIns="54864" rIns="54864" tIns="18288" bIns="18288" wrap="square" anchor="ctr"/>
                    <a:lstStyle/>
                    <a:p>
                      <a:pPr algn="l"/>
                      <a:r>
                        <a:rPr sz="860" b="0">
                          <a:solidFill>
                            <a:srgbClr val="000000"/>
                          </a:solidFill>
                          <a:latin typeface="Calibri"/>
                        </a:rPr>
                        <a:t>sprayed dots on TPU score 0.50-0.65 roundness against 0.76 for a clean dot</a:t>
                      </a:r>
                    </a:p>
                  </a:txBody>
                  <a:tcPr/>
                </a:tc>
              </a:tr>
              <a:tr h="464820">
                <a:tc>
                  <a:txBody>
                    <a:bodyPr lIns="54864" rIns="54864" tIns="18288" bIns="18288" wrap="square" anchor="ctr"/>
                    <a:lstStyle/>
                    <a:p>
                      <a:pPr algn="l"/>
                      <a:r>
                        <a:rPr sz="860" b="0">
                          <a:solidFill>
                            <a:srgbClr val="000000"/>
                          </a:solidFill>
                          <a:latin typeface="Calibri"/>
                        </a:rPr>
                        <a:t>Ends at</a:t>
                      </a:r>
                    </a:p>
                  </a:txBody>
                  <a:tcPr/>
                </a:tc>
                <a:tc>
                  <a:txBody>
                    <a:bodyPr lIns="54864" rIns="54864" tIns="18288" bIns="18288" wrap="square" anchor="ctr"/>
                    <a:lstStyle/>
                    <a:p>
                      <a:pPr algn="l"/>
                      <a:r>
                        <a:rPr sz="860" b="0">
                          <a:solidFill>
                            <a:srgbClr val="000000"/>
                          </a:solidFill>
                          <a:latin typeface="Calibri"/>
                        </a:rPr>
                        <a:t>fracture</a:t>
                      </a:r>
                    </a:p>
                  </a:txBody>
                  <a:tcPr/>
                </a:tc>
                <a:tc>
                  <a:txBody>
                    <a:bodyPr lIns="54864" rIns="54864" tIns="18288" bIns="18288" wrap="square" anchor="ctr"/>
                    <a:lstStyle/>
                    <a:p>
                      <a:pPr algn="l"/>
                      <a:r>
                        <a:rPr sz="860" b="0">
                          <a:solidFill>
                            <a:srgbClr val="000000"/>
                          </a:solidFill>
                          <a:latin typeface="Calibri"/>
                        </a:rPr>
                        <a:t>28 mm travel</a:t>
                      </a:r>
                    </a:p>
                  </a:txBody>
                  <a:tcPr/>
                </a:tc>
                <a:tc>
                  <a:txBody>
                    <a:bodyPr lIns="54864" rIns="54864" tIns="18288" bIns="18288" wrap="square" anchor="ctr"/>
                    <a:lstStyle/>
                    <a:p>
                      <a:pPr algn="l"/>
                      <a:r>
                        <a:rPr sz="860" b="0">
                          <a:solidFill>
                            <a:srgbClr val="000000"/>
                          </a:solidFill>
                          <a:latin typeface="Calibri"/>
                        </a:rPr>
                        <a:t>TPU does not break: the run has to end on a travel target instead</a:t>
                      </a:r>
                    </a:p>
                  </a:txBody>
                  <a:tcPr/>
                </a:tc>
              </a:tr>
            </a:tbl>
          </a:graphicData>
        </a:graphic>
      </p:graphicFrame>
      <p:sp>
        <p:nvSpPr>
          <p:cNvPr id="7" name="TextBox 6"/>
          <p:cNvSpPr txBox="1"/>
          <p:nvPr/>
        </p:nvSpPr>
        <p:spPr>
          <a:xfrm>
            <a:off x="6309360" y="123444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Held identical, so the comparison stays valid</a:t>
            </a:r>
          </a:p>
        </p:txBody>
      </p:sp>
      <p:graphicFrame>
        <p:nvGraphicFramePr>
          <p:cNvPr id="8" name="Table 7"/>
          <p:cNvGraphicFramePr>
            <a:graphicFrameLocks noGrp="1"/>
          </p:cNvGraphicFramePr>
          <p:nvPr/>
        </p:nvGraphicFramePr>
        <p:xfrm>
          <a:off x="6309360" y="1600200"/>
          <a:ext cx="5532119" cy="1371600"/>
        </p:xfrm>
        <a:graphic>
          <a:graphicData uri="http://schemas.openxmlformats.org/drawingml/2006/table">
            <a:tbl>
              <a:tblPr firstRow="1" bandRow="1">
                <a:tableStyleId>{5C22544A-7EE6-4342-B048-85BDC9FD1C3A}</a:tableStyleId>
              </a:tblPr>
              <a:tblGrid>
                <a:gridCol w="2479915"/>
                <a:gridCol w="3052204"/>
              </a:tblGrid>
              <a:tr h="274320">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r>
              <a:tr h="274320">
                <a:tc>
                  <a:txBody>
                    <a:bodyPr lIns="54864" rIns="54864" tIns="18288" bIns="18288" wrap="square" anchor="ctr"/>
                    <a:lstStyle/>
                    <a:p>
                      <a:pPr algn="l"/>
                      <a:r>
                        <a:rPr sz="900" b="0">
                          <a:solidFill>
                            <a:srgbClr val="000000"/>
                          </a:solidFill>
                          <a:latin typeface="Calibri"/>
                        </a:rPr>
                        <a:t>Gauge length</a:t>
                      </a:r>
                    </a:p>
                  </a:txBody>
                  <a:tcPr/>
                </a:tc>
                <a:tc>
                  <a:txBody>
                    <a:bodyPr lIns="54864" rIns="54864" tIns="18288" bIns="18288" wrap="square" anchor="ctr"/>
                    <a:lstStyle/>
                    <a:p>
                      <a:pPr algn="l"/>
                      <a:r>
                        <a:rPr sz="900" b="0">
                          <a:solidFill>
                            <a:srgbClr val="000000"/>
                          </a:solidFill>
                          <a:latin typeface="Calibri"/>
                        </a:rPr>
                        <a:t>80 mm</a:t>
                      </a:r>
                    </a:p>
                  </a:txBody>
                  <a:tcPr/>
                </a:tc>
              </a:tr>
              <a:tr h="274320">
                <a:tc>
                  <a:txBody>
                    <a:bodyPr lIns="54864" rIns="54864" tIns="18288" bIns="18288" wrap="square" anchor="ctr"/>
                    <a:lstStyle/>
                    <a:p>
                      <a:pPr algn="l"/>
                      <a:r>
                        <a:rPr sz="900" b="0">
                          <a:solidFill>
                            <a:srgbClr val="000000"/>
                          </a:solidFill>
                          <a:latin typeface="Calibri"/>
                        </a:rPr>
                        <a:t>Cross-section</a:t>
                      </a:r>
                    </a:p>
                  </a:txBody>
                  <a:tcPr/>
                </a:tc>
                <a:tc>
                  <a:txBody>
                    <a:bodyPr lIns="54864" rIns="54864" tIns="18288" bIns="18288" wrap="square" anchor="ctr"/>
                    <a:lstStyle/>
                    <a:p>
                      <a:pPr algn="l"/>
                      <a:r>
                        <a:rPr sz="900" b="0">
                          <a:solidFill>
                            <a:srgbClr val="000000"/>
                          </a:solidFill>
                          <a:latin typeface="Calibri"/>
                        </a:rPr>
                        <a:t>80 mm² (CAD-verified)</a:t>
                      </a:r>
                    </a:p>
                  </a:txBody>
                  <a:tcPr/>
                </a:tc>
              </a:tr>
              <a:tr h="274320">
                <a:tc>
                  <a:txBody>
                    <a:bodyPr lIns="54864" rIns="54864" tIns="18288" bIns="18288" wrap="square" anchor="ctr"/>
                    <a:lstStyle/>
                    <a:p>
                      <a:pPr algn="l"/>
                      <a:r>
                        <a:rPr sz="900" b="0">
                          <a:solidFill>
                            <a:srgbClr val="000000"/>
                          </a:solidFill>
                          <a:latin typeface="Calibri"/>
                        </a:rPr>
                        <a:t>Crosshead rate</a:t>
                      </a:r>
                    </a:p>
                  </a:txBody>
                  <a:tcPr/>
                </a:tc>
                <a:tc>
                  <a:txBody>
                    <a:bodyPr lIns="54864" rIns="54864" tIns="18288" bIns="18288" wrap="square" anchor="ctr"/>
                    <a:lstStyle/>
                    <a:p>
                      <a:pPr algn="l"/>
                      <a:r>
                        <a:rPr sz="900" b="0">
                          <a:solidFill>
                            <a:srgbClr val="000000"/>
                          </a:solidFill>
                          <a:latin typeface="Calibri"/>
                        </a:rPr>
                        <a:t>0.1 mm/s</a:t>
                      </a:r>
                    </a:p>
                  </a:txBody>
                  <a:tcPr/>
                </a:tc>
              </a:tr>
              <a:tr h="274320">
                <a:tc>
                  <a:txBody>
                    <a:bodyPr lIns="54864" rIns="54864" tIns="18288" bIns="18288" wrap="square" anchor="ctr"/>
                    <a:lstStyle/>
                    <a:p>
                      <a:pPr algn="l"/>
                      <a:r>
                        <a:rPr sz="900" b="0">
                          <a:solidFill>
                            <a:srgbClr val="000000"/>
                          </a:solidFill>
                          <a:latin typeface="Calibri"/>
                        </a:rPr>
                        <a:t>Marker method</a:t>
                      </a:r>
                    </a:p>
                  </a:txBody>
                  <a:tcPr/>
                </a:tc>
                <a:tc>
                  <a:txBody>
                    <a:bodyPr lIns="54864" rIns="54864" tIns="18288" bIns="18288" wrap="square" anchor="ctr"/>
                    <a:lstStyle/>
                    <a:p>
                      <a:pPr algn="l"/>
                      <a:r>
                        <a:rPr sz="900" b="0">
                          <a:solidFill>
                            <a:srgbClr val="000000"/>
                          </a:solidFill>
                          <a:latin typeface="Calibri"/>
                        </a:rPr>
                        <a:t>spray dots, same batch of paint</a:t>
                      </a:r>
                    </a:p>
                  </a:txBody>
                  <a:tcPr/>
                </a:tc>
              </a:tr>
            </a:tbl>
          </a:graphicData>
        </a:graphic>
      </p:graphicFrame>
      <p:sp>
        <p:nvSpPr>
          <p:cNvPr id="9" name="TextBox 8"/>
          <p:cNvSpPr txBox="1"/>
          <p:nvPr/>
        </p:nvSpPr>
        <p:spPr>
          <a:xfrm>
            <a:off x="6309360" y="3154680"/>
            <a:ext cx="5532120" cy="1280160"/>
          </a:xfrm>
          <a:prstGeom prst="rect">
            <a:avLst/>
          </a:prstGeom>
          <a:noFill/>
        </p:spPr>
        <p:txBody>
          <a:bodyPr wrap="square" lIns="45720" rIns="45720" tIns="18288" bIns="18288" anchor="t">
            <a:spAutoFit/>
          </a:bodyPr>
          <a:lstStyle/>
          <a:p>
            <a:pPr algn="l"/>
            <a:r>
              <a:rPr sz="1000" b="0" i="0">
                <a:solidFill>
                  <a:srgbClr val="000000"/>
                </a:solidFill>
                <a:latin typeface="Calibri"/>
              </a:rPr>
              <a:t>Everything in the left table is a property of the MATERIAL. Everything here is a property of the TEST. Keeping the second column fixed is what makes PLA, PETG and TPU comparable at all — a different gauge or rate would confound the modulus we are about to compare.
All five left-hand settings ride with a saved 'TPU' profile, so they move together in one click and revert together. None of them is a constant edited before a run.</a:t>
            </a:r>
          </a:p>
        </p:txBody>
      </p:sp>
      <p:sp>
        <p:nvSpPr>
          <p:cNvPr id="10" name="Rounded Rectangle 9"/>
          <p:cNvSpPr/>
          <p:nvPr/>
        </p:nvSpPr>
        <p:spPr>
          <a:xfrm>
            <a:off x="45720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S35 – S37</a:t>
            </a:r>
          </a:p>
          <a:p>
            <a:pPr algn="ctr"/>
            <a:r>
              <a:rPr sz="950">
                <a:solidFill>
                  <a:srgbClr val="000000"/>
                </a:solidFill>
                <a:latin typeface="Calibri"/>
              </a:rPr>
              <a:t>Specimens</a:t>
            </a:r>
          </a:p>
        </p:txBody>
      </p:sp>
      <p:sp>
        <p:nvSpPr>
          <p:cNvPr id="11" name="Rounded Rectangle 10"/>
          <p:cNvSpPr/>
          <p:nvPr/>
        </p:nvSpPr>
        <p:spPr>
          <a:xfrm>
            <a:off x="2423160" y="457200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24.6 MPa</a:t>
            </a:r>
          </a:p>
          <a:p>
            <a:pPr algn="ctr"/>
            <a:r>
              <a:rPr sz="950">
                <a:solidFill>
                  <a:srgbClr val="000000"/>
                </a:solidFill>
                <a:latin typeface="Calibri"/>
              </a:rPr>
              <a:t>E (mean)</a:t>
            </a:r>
          </a:p>
        </p:txBody>
      </p:sp>
      <p:sp>
        <p:nvSpPr>
          <p:cNvPr id="12" name="Rounded Rectangle 11"/>
          <p:cNvSpPr/>
          <p:nvPr/>
        </p:nvSpPr>
        <p:spPr>
          <a:xfrm>
            <a:off x="4389120" y="4572000"/>
            <a:ext cx="182880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2.4 % spread</a:t>
            </a:r>
          </a:p>
          <a:p>
            <a:pPr algn="ctr"/>
            <a:r>
              <a:rPr sz="950">
                <a:solidFill>
                  <a:srgbClr val="000000"/>
                </a:solidFill>
                <a:latin typeface="Calibri"/>
              </a:rPr>
              <a:t>Run-to-run</a:t>
            </a:r>
          </a:p>
        </p:txBody>
      </p:sp>
      <p:sp>
        <p:nvSpPr>
          <p:cNvPr id="13" name="Rounded Rectangle 12"/>
          <p:cNvSpPr/>
          <p:nvPr/>
        </p:nvSpPr>
        <p:spPr>
          <a:xfrm>
            <a:off x="635508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2.35 MPa</a:t>
            </a:r>
          </a:p>
          <a:p>
            <a:pPr algn="ctr"/>
            <a:r>
              <a:rPr sz="950">
                <a:solidFill>
                  <a:srgbClr val="000000"/>
                </a:solidFill>
                <a:latin typeface="Calibri"/>
              </a:rPr>
              <a:t>Peak stress</a:t>
            </a:r>
          </a:p>
        </p:txBody>
      </p:sp>
      <p:sp>
        <p:nvSpPr>
          <p:cNvPr id="14" name="Rounded Rectangle 13"/>
          <p:cNvSpPr/>
          <p:nvPr/>
        </p:nvSpPr>
        <p:spPr>
          <a:xfrm>
            <a:off x="8321040" y="457200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14.3 %</a:t>
            </a:r>
          </a:p>
          <a:p>
            <a:pPr algn="ctr"/>
            <a:r>
              <a:rPr sz="950">
                <a:solidFill>
                  <a:srgbClr val="000000"/>
                </a:solidFill>
                <a:latin typeface="Calibri"/>
              </a:rPr>
              <a:t>Strain reached</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TPU 95A, 100 % infill, same 80 mm gauge and 80 mm² section as every PLA and PETG specimen in this deck.</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277</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THE TPU RUNS STOP AT ~15 mm — THE FRAME, NOT THE SPECIMEN</a:t>
            </a:r>
          </a:p>
        </p:txBody>
      </p:sp>
      <p:pic>
        <p:nvPicPr>
          <p:cNvPr id="5" name="Picture 4" descr="tpu_framing.png"/>
          <p:cNvPicPr>
            <a:picLocks noChangeAspect="1"/>
          </p:cNvPicPr>
          <p:nvPr/>
        </p:nvPicPr>
        <p:blipFill>
          <a:blip r:embed="rId2"/>
          <a:stretch>
            <a:fillRect/>
          </a:stretch>
        </p:blipFill>
        <p:spPr>
          <a:xfrm>
            <a:off x="365760" y="1170432"/>
            <a:ext cx="11430000" cy="2902857"/>
          </a:xfrm>
          <a:prstGeom prst="rect">
            <a:avLst/>
          </a:prstGeom>
        </p:spPr>
      </p:pic>
      <p:sp>
        <p:nvSpPr>
          <p:cNvPr id="6" name="TextBox 5"/>
          <p:cNvSpPr txBox="1"/>
          <p:nvPr/>
        </p:nvSpPr>
        <p:spPr>
          <a:xfrm>
            <a:off x="457200" y="42793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chain of hard limits</a:t>
            </a:r>
          </a:p>
        </p:txBody>
      </p:sp>
      <p:graphicFrame>
        <p:nvGraphicFramePr>
          <p:cNvPr id="7" name="Table 6"/>
          <p:cNvGraphicFramePr>
            <a:graphicFrameLocks noGrp="1"/>
          </p:cNvGraphicFramePr>
          <p:nvPr/>
        </p:nvGraphicFramePr>
        <p:xfrm>
          <a:off x="457200" y="4617720"/>
          <a:ext cx="5577839" cy="960120"/>
        </p:xfrm>
        <a:graphic>
          <a:graphicData uri="http://schemas.openxmlformats.org/drawingml/2006/table">
            <a:tbl>
              <a:tblPr firstRow="1" bandRow="1">
                <a:tableStyleId>{5C22544A-7EE6-4342-B048-85BDC9FD1C3A}</a:tableStyleId>
              </a:tblPr>
              <a:tblGrid>
                <a:gridCol w="2359855"/>
                <a:gridCol w="1072661"/>
                <a:gridCol w="2145323"/>
              </a:tblGrid>
              <a:tr h="192024">
                <a:tc>
                  <a:txBody>
                    <a:bodyPr lIns="54864" rIns="54864" tIns="18288" bIns="18288" wrap="square" anchor="ctr"/>
                    <a:lstStyle/>
                    <a:p>
                      <a:pPr algn="l"/>
                      <a:r>
                        <a:rPr sz="950" b="1">
                          <a:solidFill>
                            <a:srgbClr val="FFFFFF"/>
                          </a:solidFill>
                          <a:latin typeface="Calibri"/>
                        </a:rPr>
                        <a:t>Limit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Can it be relaxed?</a:t>
                      </a:r>
                    </a:p>
                  </a:txBody>
                  <a:tcPr>
                    <a:solidFill>
                      <a:srgbClr val="143D2F"/>
                    </a:solidFill>
                  </a:tcPr>
                </a:tc>
              </a:tr>
              <a:tr h="192024">
                <a:tc>
                  <a:txBody>
                    <a:bodyPr lIns="54864" rIns="54864" tIns="18288" bIns="18288" wrap="square" anchor="ctr"/>
                    <a:lstStyle/>
                    <a:p>
                      <a:pPr algn="l"/>
                      <a:r>
                        <a:rPr sz="860" b="0">
                          <a:solidFill>
                            <a:srgbClr val="000000"/>
                          </a:solidFill>
                          <a:latin typeface="Calibri"/>
                        </a:rPr>
                        <a:t>Sensor width along the specimen</a:t>
                      </a:r>
                    </a:p>
                  </a:txBody>
                  <a:tcPr/>
                </a:tc>
                <a:tc>
                  <a:txBody>
                    <a:bodyPr lIns="54864" rIns="54864" tIns="18288" bIns="18288" wrap="square" anchor="ctr"/>
                    <a:lstStyle/>
                    <a:p>
                      <a:pPr algn="l"/>
                      <a:r>
                        <a:rPr sz="860" b="0">
                          <a:solidFill>
                            <a:srgbClr val="000000"/>
                          </a:solidFill>
                          <a:latin typeface="Calibri"/>
                        </a:rPr>
                        <a:t>2448 px</a:t>
                      </a:r>
                    </a:p>
                  </a:txBody>
                  <a:tcPr/>
                </a:tc>
                <a:tc>
                  <a:txBody>
                    <a:bodyPr lIns="54864" rIns="54864" tIns="18288" bIns="18288" wrap="square" anchor="ctr"/>
                    <a:lstStyle/>
                    <a:p>
                      <a:pPr algn="l"/>
                      <a:r>
                        <a:rPr sz="860" b="0">
                          <a:solidFill>
                            <a:srgbClr val="000000"/>
                          </a:solidFill>
                          <a:latin typeface="Calibri"/>
                        </a:rPr>
                        <a:t>No — acA2440 is 2448 × 2048</a:t>
                      </a:r>
                    </a:p>
                  </a:txBody>
                  <a:tcPr/>
                </a:tc>
              </a:tr>
              <a:tr h="192024">
                <a:tc>
                  <a:txBody>
                    <a:bodyPr lIns="54864" rIns="54864" tIns="18288" bIns="18288" wrap="square" anchor="ctr"/>
                    <a:lstStyle/>
                    <a:p>
                      <a:pPr algn="l"/>
                      <a:r>
                        <a:rPr sz="860" b="0">
                          <a:solidFill>
                            <a:srgbClr val="000000"/>
                          </a:solidFill>
                          <a:latin typeface="Calibri"/>
                        </a:rPr>
                        <a:t>ROI width in use</a:t>
                      </a:r>
                    </a:p>
                  </a:txBody>
                  <a:tcPr/>
                </a:tc>
                <a:tc>
                  <a:txBody>
                    <a:bodyPr lIns="54864" rIns="54864" tIns="18288" bIns="18288" wrap="square" anchor="ctr"/>
                    <a:lstStyle/>
                    <a:p>
                      <a:pPr algn="l"/>
                      <a:r>
                        <a:rPr sz="860" b="0">
                          <a:solidFill>
                            <a:srgbClr val="000000"/>
                          </a:solidFill>
                          <a:latin typeface="Calibri"/>
                        </a:rPr>
                        <a:t>2448 px</a:t>
                      </a:r>
                    </a:p>
                  </a:txBody>
                  <a:tcPr/>
                </a:tc>
                <a:tc>
                  <a:txBody>
                    <a:bodyPr lIns="54864" rIns="54864" tIns="18288" bIns="18288" wrap="square" anchor="ctr"/>
                    <a:lstStyle/>
                    <a:p>
                      <a:pPr algn="l"/>
                      <a:r>
                        <a:rPr sz="860" b="0">
                          <a:solidFill>
                            <a:srgbClr val="000000"/>
                          </a:solidFill>
                          <a:latin typeface="Calibri"/>
                        </a:rPr>
                        <a:t>No — already the FULL sensor</a:t>
                      </a:r>
                    </a:p>
                  </a:txBody>
                  <a:tcPr/>
                </a:tc>
              </a:tr>
              <a:tr h="192024">
                <a:tc>
                  <a:txBody>
                    <a:bodyPr lIns="54864" rIns="54864" tIns="18288" bIns="18288" wrap="square" anchor="ctr"/>
                    <a:lstStyle/>
                    <a:p>
                      <a:pPr algn="l"/>
                      <a:r>
                        <a:rPr sz="860" b="0">
                          <a:solidFill>
                            <a:srgbClr val="000000"/>
                          </a:solidFill>
                          <a:latin typeface="Calibri"/>
                        </a:rPr>
                        <a:t>ROI offset on the tight side</a:t>
                      </a:r>
                    </a:p>
                  </a:txBody>
                  <a:tcPr/>
                </a:tc>
                <a:tc>
                  <a:txBody>
                    <a:bodyPr lIns="54864" rIns="54864" tIns="18288" bIns="18288" wrap="square" anchor="ctr"/>
                    <a:lstStyle/>
                    <a:p>
                      <a:pPr algn="l"/>
                      <a:r>
                        <a:rPr sz="860" b="0">
                          <a:solidFill>
                            <a:srgbClr val="000000"/>
                          </a:solidFill>
                          <a:latin typeface="Calibri"/>
                        </a:rPr>
                        <a:t>OffsetX = 0</a:t>
                      </a:r>
                    </a:p>
                  </a:txBody>
                  <a:tcPr/>
                </a:tc>
                <a:tc>
                  <a:txBody>
                    <a:bodyPr lIns="54864" rIns="54864" tIns="18288" bIns="18288" wrap="square" anchor="ctr"/>
                    <a:lstStyle/>
                    <a:p>
                      <a:pPr algn="l"/>
                      <a:r>
                        <a:rPr sz="860" b="0">
                          <a:solidFill>
                            <a:srgbClr val="000000"/>
                          </a:solidFill>
                          <a:latin typeface="Calibri"/>
                        </a:rPr>
                        <a:t>No — the sensor's own edge</a:t>
                      </a:r>
                    </a:p>
                  </a:txBody>
                  <a:tcPr/>
                </a:tc>
              </a:tr>
              <a:tr h="192024">
                <a:tc>
                  <a:txBody>
                    <a:bodyPr lIns="54864" rIns="54864" tIns="18288" bIns="18288" wrap="square" anchor="ctr"/>
                    <a:lstStyle/>
                    <a:p>
                      <a:pPr algn="l"/>
                      <a:r>
                        <a:rPr sz="860" b="0">
                          <a:solidFill>
                            <a:srgbClr val="000000"/>
                          </a:solidFill>
                          <a:latin typeface="Calibri"/>
                        </a:rPr>
                        <a:t>Room ahead of the moving marker</a:t>
                      </a:r>
                    </a:p>
                  </a:txBody>
                  <a:tcPr/>
                </a:tc>
                <a:tc>
                  <a:txBody>
                    <a:bodyPr lIns="54864" rIns="54864" tIns="18288" bIns="18288" wrap="square" anchor="ctr"/>
                    <a:lstStyle/>
                    <a:p>
                      <a:pPr algn="l"/>
                      <a:r>
                        <a:rPr sz="860" b="0">
                          <a:solidFill>
                            <a:srgbClr val="000000"/>
                          </a:solidFill>
                          <a:latin typeface="Calibri"/>
                        </a:rPr>
                        <a:t>228 px</a:t>
                      </a:r>
                    </a:p>
                  </a:txBody>
                  <a:tcPr/>
                </a:tc>
                <a:tc>
                  <a:txBody>
                    <a:bodyPr lIns="54864" rIns="54864" tIns="18288" bIns="18288" wrap="square" anchor="ctr"/>
                    <a:lstStyle/>
                    <a:p>
                      <a:pPr algn="l"/>
                      <a:r>
                        <a:rPr sz="860" b="0">
                          <a:solidFill>
                            <a:srgbClr val="000000"/>
                          </a:solidFill>
                          <a:latin typeface="Calibri"/>
                        </a:rPr>
                        <a:t>Only by moving the CAMERA</a:t>
                      </a:r>
                    </a:p>
                  </a:txBody>
                  <a:tcPr/>
                </a:tc>
              </a:tr>
            </a:tbl>
          </a:graphicData>
        </a:graphic>
      </p:graphicFrame>
      <p:sp>
        <p:nvSpPr>
          <p:cNvPr id="8" name="TextBox 7"/>
          <p:cNvSpPr txBox="1"/>
          <p:nvPr/>
        </p:nvSpPr>
        <p:spPr>
          <a:xfrm>
            <a:off x="6309360" y="4279392"/>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the honest statement is</a:t>
            </a:r>
          </a:p>
        </p:txBody>
      </p:sp>
      <p:sp>
        <p:nvSpPr>
          <p:cNvPr id="9" name="TextBox 8"/>
          <p:cNvSpPr txBox="1"/>
          <p:nvPr/>
        </p:nvSpPr>
        <p:spPr>
          <a:xfrm>
            <a:off x="6309360" y="4617720"/>
            <a:ext cx="5532120" cy="1188720"/>
          </a:xfrm>
          <a:prstGeom prst="rect">
            <a:avLst/>
          </a:prstGeom>
          <a:noFill/>
        </p:spPr>
        <p:txBody>
          <a:bodyPr wrap="square" lIns="45720" rIns="45720" tIns="18288" bIns="18288" anchor="t">
            <a:spAutoFit/>
          </a:bodyPr>
          <a:lstStyle/>
          <a:p>
            <a:pPr algn="l"/>
            <a:r>
              <a:rPr sz="960" b="0" i="0">
                <a:solidFill>
                  <a:srgbClr val="000000"/>
                </a:solidFill>
                <a:latin typeface="Calibri"/>
              </a:rPr>
              <a:t>The frame is long enough for a 28 mm pull — it supports ~37 mm with the pair aimed correctly. It is AIMED wrong: the marker that travels sits 283 px from the edge it moves toward, and needs 541 px. The 305 px of spare frame is at the end that never moves.
Correcting it needs the camera shifted ~12 mm along the specimen. On this rig the camera mount is fixed, so 15 mm of travel is the ceiling for these two specimens — an INSTRUMENT limit, recorded as such, not a material result.</a:t>
            </a:r>
          </a:p>
        </p:txBody>
      </p:sp>
      <p:sp>
        <p:nvSpPr>
          <p:cNvPr id="10" name="Rectangle 9"/>
          <p:cNvSpPr/>
          <p:nvPr/>
        </p:nvSpPr>
        <p:spPr>
          <a:xfrm>
            <a:off x="365760" y="5852160"/>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SPECIMEN WAS INTACT AND STILL CARRYING RISING LOAD WHEN TRACKING ENDED. ELONGATION AT BREAK AND TOUGHNESS ARE THEREFORE LOWER BOUNDS, NOT MEASUREMENTS.</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Drawn to scale from the measured marker positions of S36 (Px₀ 1690 px, 21.12 px/mm). RESOLVED LATER BY S37 — not by moving the camera, which this rig cannot do, but by shortening the marker pair to 45 mm so it travels fewer pixels per mm.</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278</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TPU REPEATABILITY — S35 AND S36 OVER THE SAME TRAVEL</a:t>
            </a:r>
          </a:p>
        </p:txBody>
      </p:sp>
      <p:pic>
        <p:nvPicPr>
          <p:cNvPr id="5" name="Picture 4" descr="tpu_pair.png"/>
          <p:cNvPicPr>
            <a:picLocks noChangeAspect="1"/>
          </p:cNvPicPr>
          <p:nvPr/>
        </p:nvPicPr>
        <p:blipFill>
          <a:blip r:embed="rId2"/>
          <a:stretch>
            <a:fillRect/>
          </a:stretch>
        </p:blipFill>
        <p:spPr>
          <a:xfrm>
            <a:off x="800100" y="1188720"/>
            <a:ext cx="10561319" cy="3200400"/>
          </a:xfrm>
          <a:prstGeom prst="rect">
            <a:avLst/>
          </a:prstGeom>
        </p:spPr>
      </p:pic>
      <p:sp>
        <p:nvSpPr>
          <p:cNvPr id="6" name="TextBox 5"/>
          <p:cNvSpPr txBox="1"/>
          <p:nvPr/>
        </p:nvSpPr>
        <p:spPr>
          <a:xfrm>
            <a:off x="457200" y="45720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At matched crosshead travel</a:t>
            </a:r>
          </a:p>
        </p:txBody>
      </p:sp>
      <p:graphicFrame>
        <p:nvGraphicFramePr>
          <p:cNvPr id="7" name="Table 6"/>
          <p:cNvGraphicFramePr>
            <a:graphicFrameLocks noGrp="1"/>
          </p:cNvGraphicFramePr>
          <p:nvPr/>
        </p:nvGraphicFramePr>
        <p:xfrm>
          <a:off x="457200" y="4901184"/>
          <a:ext cx="5577837" cy="1188720"/>
        </p:xfrm>
        <a:graphic>
          <a:graphicData uri="http://schemas.openxmlformats.org/drawingml/2006/table">
            <a:tbl>
              <a:tblPr firstRow="1" bandRow="1">
                <a:tableStyleId>{5C22544A-7EE6-4342-B048-85BDC9FD1C3A}</a:tableStyleId>
              </a:tblPr>
              <a:tblGrid>
                <a:gridCol w="1032933"/>
                <a:gridCol w="1239519"/>
                <a:gridCol w="1239519"/>
                <a:gridCol w="1032933"/>
                <a:gridCol w="1032933"/>
              </a:tblGrid>
              <a:tr h="297180">
                <a:tc>
                  <a:txBody>
                    <a:bodyPr lIns="54864" rIns="54864" tIns="18288" bIns="18288" wrap="square" anchor="ctr"/>
                    <a:lstStyle/>
                    <a:p>
                      <a:pPr algn="l"/>
                      <a:r>
                        <a:rPr sz="950" b="1">
                          <a:solidFill>
                            <a:srgbClr val="FFFFFF"/>
                          </a:solidFill>
                          <a:latin typeface="Calibri"/>
                        </a:rPr>
                        <a:t>Travel</a:t>
                      </a:r>
                    </a:p>
                  </a:txBody>
                  <a:tcPr>
                    <a:solidFill>
                      <a:srgbClr val="143D2F"/>
                    </a:solidFill>
                  </a:tcPr>
                </a:tc>
                <a:tc>
                  <a:txBody>
                    <a:bodyPr lIns="54864" rIns="54864" tIns="18288" bIns="18288" wrap="square" anchor="ctr"/>
                    <a:lstStyle/>
                    <a:p>
                      <a:pPr algn="l"/>
                      <a:r>
                        <a:rPr sz="950" b="1">
                          <a:solidFill>
                            <a:srgbClr val="FFFFFF"/>
                          </a:solidFill>
                          <a:latin typeface="Calibri"/>
                        </a:rPr>
                        <a:t>S35 strain</a:t>
                      </a:r>
                    </a:p>
                  </a:txBody>
                  <a:tcPr>
                    <a:solidFill>
                      <a:srgbClr val="143D2F"/>
                    </a:solidFill>
                  </a:tcPr>
                </a:tc>
                <a:tc>
                  <a:txBody>
                    <a:bodyPr lIns="54864" rIns="54864" tIns="18288" bIns="18288" wrap="square" anchor="ctr"/>
                    <a:lstStyle/>
                    <a:p>
                      <a:pPr algn="l"/>
                      <a:r>
                        <a:rPr sz="950" b="1">
                          <a:solidFill>
                            <a:srgbClr val="FFFFFF"/>
                          </a:solidFill>
                          <a:latin typeface="Calibri"/>
                        </a:rPr>
                        <a:t>S36 strain</a:t>
                      </a:r>
                    </a:p>
                  </a:txBody>
                  <a:tcPr>
                    <a:solidFill>
                      <a:srgbClr val="143D2F"/>
                    </a:solidFill>
                  </a:tcPr>
                </a:tc>
                <a:tc>
                  <a:txBody>
                    <a:bodyPr lIns="54864" rIns="54864" tIns="18288" bIns="18288" wrap="square" anchor="ctr"/>
                    <a:lstStyle/>
                    <a:p>
                      <a:pPr algn="l"/>
                      <a:r>
                        <a:rPr sz="950" b="1">
                          <a:solidFill>
                            <a:srgbClr val="FFFFFF"/>
                          </a:solidFill>
                          <a:latin typeface="Calibri"/>
                        </a:rPr>
                        <a:t>S35 σ</a:t>
                      </a:r>
                    </a:p>
                  </a:txBody>
                  <a:tcPr>
                    <a:solidFill>
                      <a:srgbClr val="143D2F"/>
                    </a:solidFill>
                  </a:tcPr>
                </a:tc>
                <a:tc>
                  <a:txBody>
                    <a:bodyPr lIns="54864" rIns="54864" tIns="18288" bIns="18288" wrap="square" anchor="ctr"/>
                    <a:lstStyle/>
                    <a:p>
                      <a:pPr algn="l"/>
                      <a:r>
                        <a:rPr sz="950" b="1">
                          <a:solidFill>
                            <a:srgbClr val="FFFFFF"/>
                          </a:solidFill>
                          <a:latin typeface="Calibri"/>
                        </a:rPr>
                        <a:t>S36 σ</a:t>
                      </a:r>
                    </a:p>
                  </a:txBody>
                  <a:tcPr>
                    <a:solidFill>
                      <a:srgbClr val="143D2F"/>
                    </a:solidFill>
                  </a:tcPr>
                </a:tc>
              </a:tr>
              <a:tr h="297180">
                <a:tc>
                  <a:txBody>
                    <a:bodyPr lIns="54864" rIns="54864" tIns="18288" bIns="18288" wrap="square" anchor="ctr"/>
                    <a:lstStyle/>
                    <a:p>
                      <a:pPr algn="l"/>
                      <a:r>
                        <a:rPr sz="900" b="0">
                          <a:solidFill>
                            <a:srgbClr val="000000"/>
                          </a:solidFill>
                          <a:latin typeface="Calibri"/>
                        </a:rPr>
                        <a:t>4 mm</a:t>
                      </a:r>
                    </a:p>
                  </a:txBody>
                  <a:tcPr/>
                </a:tc>
                <a:tc>
                  <a:txBody>
                    <a:bodyPr lIns="54864" rIns="54864" tIns="18288" bIns="18288" wrap="square" anchor="ctr"/>
                    <a:lstStyle/>
                    <a:p>
                      <a:pPr algn="l"/>
                      <a:r>
                        <a:rPr sz="900" b="0">
                          <a:solidFill>
                            <a:srgbClr val="000000"/>
                          </a:solidFill>
                          <a:latin typeface="Calibri"/>
                        </a:rPr>
                        <a:t>3.24 %</a:t>
                      </a:r>
                    </a:p>
                  </a:txBody>
                  <a:tcPr/>
                </a:tc>
                <a:tc>
                  <a:txBody>
                    <a:bodyPr lIns="54864" rIns="54864" tIns="18288" bIns="18288" wrap="square" anchor="ctr"/>
                    <a:lstStyle/>
                    <a:p>
                      <a:pPr algn="l"/>
                      <a:r>
                        <a:rPr sz="900" b="0">
                          <a:solidFill>
                            <a:srgbClr val="000000"/>
                          </a:solidFill>
                          <a:latin typeface="Calibri"/>
                        </a:rPr>
                        <a:t>3.06 %</a:t>
                      </a:r>
                    </a:p>
                  </a:txBody>
                  <a:tcPr/>
                </a:tc>
                <a:tc>
                  <a:txBody>
                    <a:bodyPr lIns="54864" rIns="54864" tIns="18288" bIns="18288" wrap="square" anchor="ctr"/>
                    <a:lstStyle/>
                    <a:p>
                      <a:pPr algn="l"/>
                      <a:r>
                        <a:rPr sz="900" b="0">
                          <a:solidFill>
                            <a:srgbClr val="000000"/>
                          </a:solidFill>
                          <a:latin typeface="Calibri"/>
                        </a:rPr>
                        <a:t>0.997</a:t>
                      </a:r>
                    </a:p>
                  </a:txBody>
                  <a:tcPr/>
                </a:tc>
                <a:tc>
                  <a:txBody>
                    <a:bodyPr lIns="54864" rIns="54864" tIns="18288" bIns="18288" wrap="square" anchor="ctr"/>
                    <a:lstStyle/>
                    <a:p>
                      <a:pPr algn="l"/>
                      <a:r>
                        <a:rPr sz="900" b="0">
                          <a:solidFill>
                            <a:srgbClr val="000000"/>
                          </a:solidFill>
                          <a:latin typeface="Calibri"/>
                        </a:rPr>
                        <a:t>0.984</a:t>
                      </a:r>
                    </a:p>
                  </a:txBody>
                  <a:tcPr/>
                </a:tc>
              </a:tr>
              <a:tr h="297180">
                <a:tc>
                  <a:txBody>
                    <a:bodyPr lIns="54864" rIns="54864" tIns="18288" bIns="18288" wrap="square" anchor="ctr"/>
                    <a:lstStyle/>
                    <a:p>
                      <a:pPr algn="l"/>
                      <a:r>
                        <a:rPr sz="900" b="0">
                          <a:solidFill>
                            <a:srgbClr val="000000"/>
                          </a:solidFill>
                          <a:latin typeface="Calibri"/>
                        </a:rPr>
                        <a:t>10 mm</a:t>
                      </a:r>
                    </a:p>
                  </a:txBody>
                  <a:tcPr/>
                </a:tc>
                <a:tc>
                  <a:txBody>
                    <a:bodyPr lIns="54864" rIns="54864" tIns="18288" bIns="18288" wrap="square" anchor="ctr"/>
                    <a:lstStyle/>
                    <a:p>
                      <a:pPr algn="l"/>
                      <a:r>
                        <a:rPr sz="900" b="0">
                          <a:solidFill>
                            <a:srgbClr val="000000"/>
                          </a:solidFill>
                          <a:latin typeface="Calibri"/>
                        </a:rPr>
                        <a:t>8.10 %</a:t>
                      </a:r>
                    </a:p>
                  </a:txBody>
                  <a:tcPr/>
                </a:tc>
                <a:tc>
                  <a:txBody>
                    <a:bodyPr lIns="54864" rIns="54864" tIns="18288" bIns="18288" wrap="square" anchor="ctr"/>
                    <a:lstStyle/>
                    <a:p>
                      <a:pPr algn="l"/>
                      <a:r>
                        <a:rPr sz="900" b="0">
                          <a:solidFill>
                            <a:srgbClr val="000000"/>
                          </a:solidFill>
                          <a:latin typeface="Calibri"/>
                        </a:rPr>
                        <a:t>7.80 %</a:t>
                      </a:r>
                    </a:p>
                  </a:txBody>
                  <a:tcPr/>
                </a:tc>
                <a:tc>
                  <a:txBody>
                    <a:bodyPr lIns="54864" rIns="54864" tIns="18288" bIns="18288" wrap="square" anchor="ctr"/>
                    <a:lstStyle/>
                    <a:p>
                      <a:pPr algn="l"/>
                      <a:r>
                        <a:rPr sz="900" b="0">
                          <a:solidFill>
                            <a:srgbClr val="000000"/>
                          </a:solidFill>
                          <a:latin typeface="Calibri"/>
                        </a:rPr>
                        <a:t>1.726</a:t>
                      </a:r>
                    </a:p>
                  </a:txBody>
                  <a:tcPr/>
                </a:tc>
                <a:tc>
                  <a:txBody>
                    <a:bodyPr lIns="54864" rIns="54864" tIns="18288" bIns="18288" wrap="square" anchor="ctr"/>
                    <a:lstStyle/>
                    <a:p>
                      <a:pPr algn="l"/>
                      <a:r>
                        <a:rPr sz="900" b="0">
                          <a:solidFill>
                            <a:srgbClr val="000000"/>
                          </a:solidFill>
                          <a:latin typeface="Calibri"/>
                        </a:rPr>
                        <a:t>1.754</a:t>
                      </a:r>
                    </a:p>
                  </a:txBody>
                  <a:tcPr/>
                </a:tc>
              </a:tr>
              <a:tr h="297180">
                <a:tc>
                  <a:txBody>
                    <a:bodyPr lIns="54864" rIns="54864" tIns="18288" bIns="18288" wrap="square" anchor="ctr"/>
                    <a:lstStyle/>
                    <a:p>
                      <a:pPr algn="l"/>
                      <a:r>
                        <a:rPr sz="900" b="0">
                          <a:solidFill>
                            <a:srgbClr val="000000"/>
                          </a:solidFill>
                          <a:latin typeface="Calibri"/>
                        </a:rPr>
                        <a:t>15 mm</a:t>
                      </a:r>
                    </a:p>
                  </a:txBody>
                  <a:tcPr/>
                </a:tc>
                <a:tc>
                  <a:txBody>
                    <a:bodyPr lIns="54864" rIns="54864" tIns="18288" bIns="18288" wrap="square" anchor="ctr"/>
                    <a:lstStyle/>
                    <a:p>
                      <a:pPr algn="l"/>
                      <a:r>
                        <a:rPr sz="900" b="0">
                          <a:solidFill>
                            <a:srgbClr val="000000"/>
                          </a:solidFill>
                          <a:latin typeface="Calibri"/>
                        </a:rPr>
                        <a:t>12.29 %</a:t>
                      </a:r>
                    </a:p>
                  </a:txBody>
                  <a:tcPr/>
                </a:tc>
                <a:tc>
                  <a:txBody>
                    <a:bodyPr lIns="54864" rIns="54864" tIns="18288" bIns="18288" wrap="square" anchor="ctr"/>
                    <a:lstStyle/>
                    <a:p>
                      <a:pPr algn="l"/>
                      <a:r>
                        <a:rPr sz="900" b="0">
                          <a:solidFill>
                            <a:srgbClr val="000000"/>
                          </a:solidFill>
                          <a:latin typeface="Calibri"/>
                        </a:rPr>
                        <a:t>11.64 %</a:t>
                      </a:r>
                    </a:p>
                  </a:txBody>
                  <a:tcPr/>
                </a:tc>
                <a:tc>
                  <a:txBody>
                    <a:bodyPr lIns="54864" rIns="54864" tIns="18288" bIns="18288" wrap="square" anchor="ctr"/>
                    <a:lstStyle/>
                    <a:p>
                      <a:pPr algn="l"/>
                      <a:r>
                        <a:rPr sz="900" b="0">
                          <a:solidFill>
                            <a:srgbClr val="000000"/>
                          </a:solidFill>
                          <a:latin typeface="Calibri"/>
                        </a:rPr>
                        <a:t>2.181</a:t>
                      </a:r>
                    </a:p>
                  </a:txBody>
                  <a:tcPr/>
                </a:tc>
                <a:tc>
                  <a:txBody>
                    <a:bodyPr lIns="54864" rIns="54864" tIns="18288" bIns="18288" wrap="square" anchor="ctr"/>
                    <a:lstStyle/>
                    <a:p>
                      <a:pPr algn="l"/>
                      <a:r>
                        <a:rPr sz="900" b="0">
                          <a:solidFill>
                            <a:srgbClr val="000000"/>
                          </a:solidFill>
                          <a:latin typeface="Calibri"/>
                        </a:rPr>
                        <a:t>2.203</a:t>
                      </a:r>
                    </a:p>
                  </a:txBody>
                  <a:tcPr/>
                </a:tc>
              </a:tr>
            </a:tbl>
          </a:graphicData>
        </a:graphic>
      </p:graphicFrame>
      <p:sp>
        <p:nvSpPr>
          <p:cNvPr id="8" name="TextBox 7"/>
          <p:cNvSpPr txBox="1"/>
          <p:nvPr/>
        </p:nvSpPr>
        <p:spPr>
          <a:xfrm>
            <a:off x="6309360" y="457200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pair establishes</a:t>
            </a:r>
          </a:p>
        </p:txBody>
      </p:sp>
      <p:sp>
        <p:nvSpPr>
          <p:cNvPr id="9" name="TextBox 8"/>
          <p:cNvSpPr txBox="1"/>
          <p:nvPr/>
        </p:nvSpPr>
        <p:spPr>
          <a:xfrm>
            <a:off x="6309360" y="4901184"/>
            <a:ext cx="5532120" cy="1188720"/>
          </a:xfrm>
          <a:prstGeom prst="rect">
            <a:avLst/>
          </a:prstGeom>
          <a:noFill/>
        </p:spPr>
        <p:txBody>
          <a:bodyPr wrap="square" lIns="45720" rIns="45720" tIns="18288" bIns="18288" anchor="t">
            <a:spAutoFit/>
          </a:bodyPr>
          <a:lstStyle/>
          <a:p>
            <a:pPr algn="l"/>
            <a:r>
              <a:rPr sz="960" b="0" i="0">
                <a:solidFill>
                  <a:srgbClr val="000000"/>
                </a:solidFill>
                <a:latin typeface="Calibri"/>
              </a:rPr>
              <a:t>E agrees to 1.1 % (24.9 vs 24.6 MPa, R² 0.999 on both) and stress agrees within ±4 % at every matched strain. That is repeatability of the same order as the PLA set.
Only ~65 % of crosshead travel reaches the gauge — the rest goes into the shoulders and grips — so 15 mm of travel is ~12 % gauge strain, not 19 %.</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runs truncated at the common 15.09 mm so neither is credited with travel the other could not track.</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279</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THE CURVES</a:t>
            </a:r>
          </a:p>
        </p:txBody>
      </p:sp>
      <p:pic>
        <p:nvPicPr>
          <p:cNvPr id="5" name="Picture 4" descr="trio_curves.png"/>
          <p:cNvPicPr>
            <a:picLocks noChangeAspect="1"/>
          </p:cNvPicPr>
          <p:nvPr/>
        </p:nvPicPr>
        <p:blipFill>
          <a:blip r:embed="rId2"/>
          <a:stretch>
            <a:fillRect/>
          </a:stretch>
        </p:blipFill>
        <p:spPr>
          <a:xfrm>
            <a:off x="772986" y="1188720"/>
            <a:ext cx="10615546" cy="3566160"/>
          </a:xfrm>
          <a:prstGeom prst="rect">
            <a:avLst/>
          </a:prstGeom>
        </p:spPr>
      </p:pic>
      <p:sp>
        <p:nvSpPr>
          <p:cNvPr id="6" name="TextBox 5"/>
          <p:cNvSpPr txBox="1"/>
          <p:nvPr/>
        </p:nvSpPr>
        <p:spPr>
          <a:xfrm>
            <a:off x="457200" y="4937760"/>
            <a:ext cx="11338560" cy="1188720"/>
          </a:xfrm>
          <a:prstGeom prst="rect">
            <a:avLst/>
          </a:prstGeom>
          <a:noFill/>
        </p:spPr>
        <p:txBody>
          <a:bodyPr wrap="square" lIns="45720" rIns="45720" tIns="18288" bIns="18288" anchor="t">
            <a:spAutoFit/>
          </a:bodyPr>
          <a:lstStyle/>
          <a:p>
            <a:pPr algn="l"/>
            <a:r>
              <a:rPr sz="1000" b="0" i="0">
                <a:solidFill>
                  <a:srgbClr val="000000"/>
                </a:solidFill>
                <a:latin typeface="Calibri"/>
              </a:rPr>
              <a:t>LEFT, log stress: all three are legible at once and the ordering is plain — PLA stiffest and strongest, PETG close behind, TPU two decades below both.
RIGHT, the same data linearly: TPU is a flat line on the floor. This is the reason the comparison is made on MODULUS and on matched-strain stress rather than on one shared stress axis, and the reason a single 'PLA is 20× stronger than TPU' number would mislead — that ratio is taken at matched strain, and TPU has not finished stretching.</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One representative run per material: PLA S25, PETG S30, TPU S36. Curves end at fracture (PLA, PETG) or at the frame limit (TPU).</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280</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MODULUS AGAINST THE PUBLISHED BANDS — ALL THREE LAND INSIDE</a:t>
            </a:r>
          </a:p>
        </p:txBody>
      </p:sp>
      <p:pic>
        <p:nvPicPr>
          <p:cNvPr id="5" name="Picture 4" descr="trio_modulus.png"/>
          <p:cNvPicPr>
            <a:picLocks noChangeAspect="1"/>
          </p:cNvPicPr>
          <p:nvPr/>
        </p:nvPicPr>
        <p:blipFill>
          <a:blip r:embed="rId2"/>
          <a:stretch>
            <a:fillRect/>
          </a:stretch>
        </p:blipFill>
        <p:spPr>
          <a:xfrm>
            <a:off x="320040" y="1143000"/>
            <a:ext cx="6858000" cy="4146698"/>
          </a:xfrm>
          <a:prstGeom prst="rect">
            <a:avLst/>
          </a:prstGeom>
        </p:spPr>
      </p:pic>
      <p:sp>
        <p:nvSpPr>
          <p:cNvPr id="6" name="TextBox 5"/>
          <p:cNvSpPr txBox="1"/>
          <p:nvPr/>
        </p:nvSpPr>
        <p:spPr>
          <a:xfrm>
            <a:off x="7406640" y="1234440"/>
            <a:ext cx="4434840" cy="365760"/>
          </a:xfrm>
          <a:prstGeom prst="rect">
            <a:avLst/>
          </a:prstGeom>
          <a:noFill/>
        </p:spPr>
        <p:txBody>
          <a:bodyPr wrap="square" lIns="45720" rIns="45720" tIns="18288" bIns="18288" anchor="t">
            <a:spAutoFit/>
          </a:bodyPr>
          <a:lstStyle/>
          <a:p>
            <a:pPr algn="l"/>
            <a:r>
              <a:rPr sz="1600" b="0" i="0">
                <a:solidFill>
                  <a:srgbClr val="707070"/>
                </a:solidFill>
                <a:latin typeface="Calibri"/>
              </a:rPr>
              <a:t>Measured vs literature</a:t>
            </a:r>
          </a:p>
        </p:txBody>
      </p:sp>
      <p:graphicFrame>
        <p:nvGraphicFramePr>
          <p:cNvPr id="7" name="Table 6"/>
          <p:cNvGraphicFramePr>
            <a:graphicFrameLocks noGrp="1"/>
          </p:cNvGraphicFramePr>
          <p:nvPr/>
        </p:nvGraphicFramePr>
        <p:xfrm>
          <a:off x="7406640" y="1600200"/>
          <a:ext cx="4434838" cy="1234440"/>
        </p:xfrm>
        <a:graphic>
          <a:graphicData uri="http://schemas.openxmlformats.org/drawingml/2006/table">
            <a:tbl>
              <a:tblPr firstRow="1" bandRow="1">
                <a:tableStyleId>{5C22544A-7EE6-4342-B048-85BDC9FD1C3A}</a:tableStyleId>
              </a:tblPr>
              <a:tblGrid>
                <a:gridCol w="1209501"/>
                <a:gridCol w="1108710"/>
                <a:gridCol w="1209501"/>
                <a:gridCol w="907126"/>
              </a:tblGrid>
              <a:tr h="308610">
                <a:tc>
                  <a:txBody>
                    <a:bodyPr lIns="54864" rIns="54864" tIns="18288" bIns="18288" wrap="square" anchor="ctr"/>
                    <a:lstStyle/>
                    <a:p>
                      <a:pPr algn="l"/>
                      <a:r>
                        <a:rPr sz="950" b="1">
                          <a:solidFill>
                            <a:srgbClr val="FFFFFF"/>
                          </a:solidFill>
                          <a:latin typeface="Calibri"/>
                        </a:rPr>
                        <a:t>Material</a:t>
                      </a:r>
                    </a:p>
                  </a:txBody>
                  <a:tcPr>
                    <a:solidFill>
                      <a:srgbClr val="143D2F"/>
                    </a:solidFill>
                  </a:tcPr>
                </a:tc>
                <a:tc>
                  <a:txBody>
                    <a:bodyPr lIns="54864" rIns="54864" tIns="18288" bIns="18288" wrap="square" anchor="ctr"/>
                    <a:lstStyle/>
                    <a:p>
                      <a:pPr algn="l"/>
                      <a:r>
                        <a:rPr sz="950" b="1">
                          <a:solidFill>
                            <a:srgbClr val="FFFFFF"/>
                          </a:solidFill>
                          <a:latin typeface="Calibri"/>
                        </a:rPr>
                        <a:t>Measured E</a:t>
                      </a:r>
                    </a:p>
                  </a:txBody>
                  <a:tcPr>
                    <a:solidFill>
                      <a:srgbClr val="143D2F"/>
                    </a:solidFill>
                  </a:tcPr>
                </a:tc>
                <a:tc>
                  <a:txBody>
                    <a:bodyPr lIns="54864" rIns="54864" tIns="18288" bIns="18288" wrap="square" anchor="ctr"/>
                    <a:lstStyle/>
                    <a:p>
                      <a:pPr algn="l"/>
                      <a:r>
                        <a:rPr sz="950" b="1">
                          <a:solidFill>
                            <a:srgbClr val="FFFFFF"/>
                          </a:solidFill>
                          <a:latin typeface="Calibri"/>
                        </a:rPr>
                        <a:t>Literature</a:t>
                      </a:r>
                    </a:p>
                  </a:txBody>
                  <a:tcPr>
                    <a:solidFill>
                      <a:srgbClr val="143D2F"/>
                    </a:solidFill>
                  </a:tcPr>
                </a:tc>
                <a:tc>
                  <a:txBody>
                    <a:bodyPr lIns="54864" rIns="54864" tIns="18288" bIns="18288" wrap="square" anchor="ctr"/>
                    <a:lstStyle/>
                    <a:p>
                      <a:pPr algn="l"/>
                      <a:r>
                        <a:rPr sz="950" b="1">
                          <a:solidFill>
                            <a:srgbClr val="FFFFFF"/>
                          </a:solidFill>
                          <a:latin typeface="Calibri"/>
                        </a:rPr>
                        <a:t>Verdict</a:t>
                      </a:r>
                    </a:p>
                  </a:txBody>
                  <a:tcPr>
                    <a:solidFill>
                      <a:srgbClr val="143D2F"/>
                    </a:solidFill>
                  </a:tcPr>
                </a:tc>
              </a:tr>
              <a:tr h="308610">
                <a:tc>
                  <a:txBody>
                    <a:bodyPr lIns="54864" rIns="54864" tIns="18288" bIns="18288" wrap="square" anchor="ctr"/>
                    <a:lstStyle/>
                    <a:p>
                      <a:pPr algn="l"/>
                      <a:r>
                        <a:rPr sz="900" b="0">
                          <a:solidFill>
                            <a:srgbClr val="000000"/>
                          </a:solidFill>
                          <a:latin typeface="Calibri"/>
                        </a:rPr>
                        <a:t>PLA (n=6)</a:t>
                      </a:r>
                    </a:p>
                  </a:txBody>
                  <a:tcPr/>
                </a:tc>
                <a:tc>
                  <a:txBody>
                    <a:bodyPr lIns="54864" rIns="54864" tIns="18288" bIns="18288" wrap="square" anchor="ctr"/>
                    <a:lstStyle/>
                    <a:p>
                      <a:pPr algn="l"/>
                      <a:r>
                        <a:rPr sz="900" b="0">
                          <a:solidFill>
                            <a:srgbClr val="000000"/>
                          </a:solidFill>
                          <a:latin typeface="Calibri"/>
                        </a:rPr>
                        <a:t>3.09 GPa</a:t>
                      </a:r>
                    </a:p>
                  </a:txBody>
                  <a:tcPr/>
                </a:tc>
                <a:tc>
                  <a:txBody>
                    <a:bodyPr lIns="54864" rIns="54864" tIns="18288" bIns="18288" wrap="square" anchor="ctr"/>
                    <a:lstStyle/>
                    <a:p>
                      <a:pPr algn="l"/>
                      <a:r>
                        <a:rPr sz="900" b="0">
                          <a:solidFill>
                            <a:srgbClr val="000000"/>
                          </a:solidFill>
                          <a:latin typeface="Calibri"/>
                        </a:rPr>
                        <a:t>2.0-3.5 GPa</a:t>
                      </a:r>
                    </a:p>
                  </a:txBody>
                  <a:tcPr/>
                </a:tc>
                <a:tc>
                  <a:txBody>
                    <a:bodyPr lIns="54864" rIns="54864" tIns="18288" bIns="18288" wrap="square" anchor="ctr"/>
                    <a:lstStyle/>
                    <a:p>
                      <a:pPr algn="l"/>
                      <a:r>
                        <a:rPr sz="900" b="0">
                          <a:solidFill>
                            <a:srgbClr val="000000"/>
                          </a:solidFill>
                          <a:latin typeface="Calibri"/>
                        </a:rPr>
                        <a:t>in band</a:t>
                      </a:r>
                    </a:p>
                  </a:txBody>
                  <a:tcPr/>
                </a:tc>
              </a:tr>
              <a:tr h="308610">
                <a:tc>
                  <a:txBody>
                    <a:bodyPr lIns="54864" rIns="54864" tIns="18288" bIns="18288" wrap="square" anchor="ctr"/>
                    <a:lstStyle/>
                    <a:p>
                      <a:pPr algn="l"/>
                      <a:r>
                        <a:rPr sz="900" b="0">
                          <a:solidFill>
                            <a:srgbClr val="000000"/>
                          </a:solidFill>
                          <a:latin typeface="Calibri"/>
                        </a:rPr>
                        <a:t>PETG (n=2)</a:t>
                      </a:r>
                    </a:p>
                  </a:txBody>
                  <a:tcPr/>
                </a:tc>
                <a:tc>
                  <a:txBody>
                    <a:bodyPr lIns="54864" rIns="54864" tIns="18288" bIns="18288" wrap="square" anchor="ctr"/>
                    <a:lstStyle/>
                    <a:p>
                      <a:pPr algn="l"/>
                      <a:r>
                        <a:rPr sz="900" b="0">
                          <a:solidFill>
                            <a:srgbClr val="000000"/>
                          </a:solidFill>
                          <a:latin typeface="Calibri"/>
                        </a:rPr>
                        <a:t>1.96 GPa</a:t>
                      </a:r>
                    </a:p>
                  </a:txBody>
                  <a:tcPr/>
                </a:tc>
                <a:tc>
                  <a:txBody>
                    <a:bodyPr lIns="54864" rIns="54864" tIns="18288" bIns="18288" wrap="square" anchor="ctr"/>
                    <a:lstStyle/>
                    <a:p>
                      <a:pPr algn="l"/>
                      <a:r>
                        <a:rPr sz="900" b="0">
                          <a:solidFill>
                            <a:srgbClr val="000000"/>
                          </a:solidFill>
                          <a:latin typeface="Calibri"/>
                        </a:rPr>
                        <a:t>1.5-2.1 GPa</a:t>
                      </a:r>
                    </a:p>
                  </a:txBody>
                  <a:tcPr/>
                </a:tc>
                <a:tc>
                  <a:txBody>
                    <a:bodyPr lIns="54864" rIns="54864" tIns="18288" bIns="18288" wrap="square" anchor="ctr"/>
                    <a:lstStyle/>
                    <a:p>
                      <a:pPr algn="l"/>
                      <a:r>
                        <a:rPr sz="900" b="0">
                          <a:solidFill>
                            <a:srgbClr val="000000"/>
                          </a:solidFill>
                          <a:latin typeface="Calibri"/>
                        </a:rPr>
                        <a:t>in band</a:t>
                      </a:r>
                    </a:p>
                  </a:txBody>
                  <a:tcPr/>
                </a:tc>
              </a:tr>
              <a:tr h="308610">
                <a:tc>
                  <a:txBody>
                    <a:bodyPr lIns="54864" rIns="54864" tIns="18288" bIns="18288" wrap="square" anchor="ctr"/>
                    <a:lstStyle/>
                    <a:p>
                      <a:pPr algn="l"/>
                      <a:r>
                        <a:rPr sz="900" b="0">
                          <a:solidFill>
                            <a:srgbClr val="000000"/>
                          </a:solidFill>
                          <a:latin typeface="Calibri"/>
                        </a:rPr>
                        <a:t>TPU (n=3)</a:t>
                      </a:r>
                    </a:p>
                  </a:txBody>
                  <a:tcPr/>
                </a:tc>
                <a:tc>
                  <a:txBody>
                    <a:bodyPr lIns="54864" rIns="54864" tIns="18288" bIns="18288" wrap="square" anchor="ctr"/>
                    <a:lstStyle/>
                    <a:p>
                      <a:pPr algn="l"/>
                      <a:r>
                        <a:rPr sz="900" b="0">
                          <a:solidFill>
                            <a:srgbClr val="000000"/>
                          </a:solidFill>
                          <a:latin typeface="Calibri"/>
                        </a:rPr>
                        <a:t>24.6 MPa</a:t>
                      </a:r>
                    </a:p>
                  </a:txBody>
                  <a:tcPr/>
                </a:tc>
                <a:tc>
                  <a:txBody>
                    <a:bodyPr lIns="54864" rIns="54864" tIns="18288" bIns="18288" wrap="square" anchor="ctr"/>
                    <a:lstStyle/>
                    <a:p>
                      <a:pPr algn="l"/>
                      <a:r>
                        <a:rPr sz="900" b="0">
                          <a:solidFill>
                            <a:srgbClr val="000000"/>
                          </a:solidFill>
                          <a:latin typeface="Calibri"/>
                        </a:rPr>
                        <a:t>12-30 MPa</a:t>
                      </a:r>
                    </a:p>
                  </a:txBody>
                  <a:tcPr/>
                </a:tc>
                <a:tc>
                  <a:txBody>
                    <a:bodyPr lIns="54864" rIns="54864" tIns="18288" bIns="18288" wrap="square" anchor="ctr"/>
                    <a:lstStyle/>
                    <a:p>
                      <a:pPr algn="l"/>
                      <a:r>
                        <a:rPr sz="900" b="0">
                          <a:solidFill>
                            <a:srgbClr val="000000"/>
                          </a:solidFill>
                          <a:latin typeface="Calibri"/>
                        </a:rPr>
                        <a:t>in band</a:t>
                      </a:r>
                    </a:p>
                  </a:txBody>
                  <a:tcPr/>
                </a:tc>
              </a:tr>
            </a:tbl>
          </a:graphicData>
        </a:graphic>
      </p:graphicFrame>
      <p:sp>
        <p:nvSpPr>
          <p:cNvPr id="8" name="TextBox 7"/>
          <p:cNvSpPr txBox="1"/>
          <p:nvPr/>
        </p:nvSpPr>
        <p:spPr>
          <a:xfrm>
            <a:off x="7406640" y="3063240"/>
            <a:ext cx="4434840" cy="2377440"/>
          </a:xfrm>
          <a:prstGeom prst="rect">
            <a:avLst/>
          </a:prstGeom>
          <a:noFill/>
        </p:spPr>
        <p:txBody>
          <a:bodyPr wrap="square" lIns="45720" rIns="45720" tIns="18288" bIns="18288" anchor="t">
            <a:spAutoFit/>
          </a:bodyPr>
          <a:lstStyle/>
          <a:p>
            <a:pPr algn="l"/>
            <a:r>
              <a:rPr sz="980" b="0" i="0">
                <a:solidFill>
                  <a:srgbClr val="000000"/>
                </a:solidFill>
                <a:latin typeface="Calibri"/>
              </a:rPr>
              <a:t>The modulus is the claim this campaign can actually make, and it is the strongest one:
•  three materials, two decades apart, every one inside its published range
•  n=6 / 2 / 3, with run-to-run spread well inside the band width
•  E is a SLOPE, so the force anchor cancels out of it entirely — the 20 N that was missing from TPU's stress never touched its modulus
Stiffness ratio PLA : PETG : TPU = 126 : 80 : 1.</a:t>
            </a:r>
          </a:p>
        </p:txBody>
      </p:sp>
      <p:sp>
        <p:nvSpPr>
          <p:cNvPr id="9" name="Rectangle 8"/>
          <p:cNvSpPr/>
          <p:nvPr/>
        </p:nvSpPr>
        <p:spPr>
          <a:xfrm>
            <a:off x="365760" y="5870448"/>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PLA 3.09 GPa · PETG 1.96 GPa · TPU 25 MPa — THE EXPECTED ORDER, AND EVERY VALUE INSIDE ITS PUBLISHED BAND.</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Bands: PLA Chacón 2017 + filament TDS; PETG Durgashyam 2019 + TDS; TPU 95A TDS (Ultimaker / SainSmart) + Hohimer 2020. Shaded = published range, dots = our runs.</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281</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EXPECTED SLOPE vs MEASURED SLOPE — MATERIAL BY MATERIAL</a:t>
            </a:r>
          </a:p>
        </p:txBody>
      </p:sp>
      <p:pic>
        <p:nvPicPr>
          <p:cNvPr id="5" name="Picture 4" descr="trio_slopes.png"/>
          <p:cNvPicPr>
            <a:picLocks noChangeAspect="1"/>
          </p:cNvPicPr>
          <p:nvPr/>
        </p:nvPicPr>
        <p:blipFill>
          <a:blip r:embed="rId2"/>
          <a:stretch>
            <a:fillRect/>
          </a:stretch>
        </p:blipFill>
        <p:spPr>
          <a:xfrm>
            <a:off x="365760" y="1115568"/>
            <a:ext cx="11430000" cy="3750469"/>
          </a:xfrm>
          <a:prstGeom prst="rect">
            <a:avLst/>
          </a:prstGeom>
        </p:spPr>
      </p:pic>
      <p:sp>
        <p:nvSpPr>
          <p:cNvPr id="6" name="TextBox 5"/>
          <p:cNvSpPr txBox="1"/>
          <p:nvPr/>
        </p:nvSpPr>
        <p:spPr>
          <a:xfrm>
            <a:off x="457200" y="5413248"/>
            <a:ext cx="11338560" cy="1051560"/>
          </a:xfrm>
          <a:prstGeom prst="rect">
            <a:avLst/>
          </a:prstGeom>
          <a:noFill/>
        </p:spPr>
        <p:txBody>
          <a:bodyPr wrap="square" lIns="45720" rIns="45720" tIns="18288" bIns="18288" anchor="t">
            <a:spAutoFit/>
          </a:bodyPr>
          <a:lstStyle/>
          <a:p>
            <a:pPr algn="l"/>
            <a:r>
              <a:rPr sz="980" b="0" i="0">
                <a:solidFill>
                  <a:srgbClr val="000000"/>
                </a:solidFill>
                <a:latin typeface="Calibri"/>
              </a:rPr>
              <a:t>Each panel draws the SLOPE the published modulus predicts (shaded wedge), the slope we measured (dashed) and the run itself (black). Wedge and dashed line are anchored to the run's OWN intercept: Px₀ is frozen at the preloaded state, so every curve starts at the preload stress rather than at the origin, and what is being compared here is slope, not offset.
All three runs lie inside their own wedge. The wedges are two decades apart in height — the same statement the modulus chart makes, drawn a different way: PLA &gt; PETG ≫ TPU is not a subtle effect needing careful statistics, it is the dominant feature of the data.</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Shaded vertical band = the strain window each run's E was actually fitted over. The INTERCEPT is taken over 0.05-0.4 %. Expected bands are literature — sources on the chart.</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282</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THAT DASHED LINE CHOSEN FAIRLY? — AUDITING THE MODULUS RULE</a:t>
            </a:r>
          </a:p>
        </p:txBody>
      </p:sp>
      <p:sp>
        <p:nvSpPr>
          <p:cNvPr id="5" name="TextBox 4"/>
          <p:cNvSpPr txBox="1"/>
          <p:nvPr/>
        </p:nvSpPr>
        <p:spPr>
          <a:xfrm>
            <a:off x="365760" y="1024128"/>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The dashed line decides whether each material passes, so the rule that produced it is worth more than an assertion. Here it is, and here is the rule it beat.</a:t>
            </a:r>
          </a:p>
        </p:txBody>
      </p:sp>
      <p:pic>
        <p:nvPicPr>
          <p:cNvPr id="6" name="Picture 5" descr="e_method.png"/>
          <p:cNvPicPr>
            <a:picLocks noChangeAspect="1"/>
          </p:cNvPicPr>
          <p:nvPr/>
        </p:nvPicPr>
        <p:blipFill>
          <a:blip r:embed="rId2"/>
          <a:stretch>
            <a:fillRect/>
          </a:stretch>
        </p:blipFill>
        <p:spPr>
          <a:xfrm>
            <a:off x="818388" y="1444752"/>
            <a:ext cx="10570463" cy="3108960"/>
          </a:xfrm>
          <a:prstGeom prst="rect">
            <a:avLst/>
          </a:prstGeom>
        </p:spPr>
      </p:pic>
      <p:sp>
        <p:nvSpPr>
          <p:cNvPr id="7" name="TextBox 6"/>
          <p:cNvSpPr txBox="1"/>
          <p:nvPr/>
        </p:nvSpPr>
        <p:spPr>
          <a:xfrm>
            <a:off x="3657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dashed line actually is</a:t>
            </a:r>
          </a:p>
        </p:txBody>
      </p:sp>
      <p:sp>
        <p:nvSpPr>
          <p:cNvPr id="8" name="TextBox 7"/>
          <p:cNvSpPr txBox="1"/>
          <p:nvPr/>
        </p:nvSpPr>
        <p:spPr>
          <a:xfrm>
            <a:off x="3657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Its SLOPE is the group-mean measured E. Its INTERCEPT alone is fitted to the run drawn beside it. It is therefore a prediction laid over one run, not a regression of that run — which is why it leaves the black curve once the material leaves its elastic region.</a:t>
            </a:r>
          </a:p>
        </p:txBody>
      </p:sp>
      <p:sp>
        <p:nvSpPr>
          <p:cNvPr id="9" name="TextBox 8"/>
          <p:cNvSpPr txBox="1"/>
          <p:nvPr/>
        </p:nvSpPr>
        <p:spPr>
          <a:xfrm>
            <a:off x="42519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each E is found</a:t>
            </a:r>
          </a:p>
        </p:txBody>
      </p:sp>
      <p:sp>
        <p:nvSpPr>
          <p:cNvPr id="10" name="TextBox 9"/>
          <p:cNvSpPr txBox="1"/>
          <p:nvPr/>
        </p:nvSpPr>
        <p:spPr>
          <a:xfrm>
            <a:off x="42519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Every candidate window is scored, the straightness gate (R² ≈ 0.999) is applied FIRST, and the STEEPEST survivor wins. Not a fixed window — our runs are not straight in the same place: S25 is straight over 0.22–0.47 %, S16 not until 0.71–1.11 %.</a:t>
            </a:r>
          </a:p>
        </p:txBody>
      </p:sp>
      <p:sp>
        <p:nvSpPr>
          <p:cNvPr id="11" name="TextBox 10"/>
          <p:cNvSpPr txBox="1"/>
          <p:nvPr/>
        </p:nvSpPr>
        <p:spPr>
          <a:xfrm>
            <a:off x="8138160" y="462686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verdict, including the cost</a:t>
            </a:r>
          </a:p>
        </p:txBody>
      </p:sp>
      <p:sp>
        <p:nvSpPr>
          <p:cNvPr id="12" name="TextBox 11"/>
          <p:cNvSpPr txBox="1"/>
          <p:nvPr/>
        </p:nvSpPr>
        <p:spPr>
          <a:xfrm>
            <a:off x="8138160" y="4956048"/>
            <a:ext cx="3703320" cy="960120"/>
          </a:xfrm>
          <a:prstGeom prst="rect">
            <a:avLst/>
          </a:prstGeom>
          <a:noFill/>
        </p:spPr>
        <p:txBody>
          <a:bodyPr wrap="square" lIns="45720" rIns="45720" tIns="18288" bIns="18288" anchor="t">
            <a:spAutoFit/>
          </a:bodyPr>
          <a:lstStyle/>
          <a:p>
            <a:pPr algn="l"/>
            <a:r>
              <a:rPr sz="919" b="0" i="0">
                <a:solidFill>
                  <a:srgbClr val="000000"/>
                </a:solidFill>
                <a:latin typeface="Calibri"/>
              </a:rPr>
              <a:t>A rule chasing noise RAISES scatter. This one lowers it on all three: PLA 16.0→9.6 %, PETG 13.8→11.3 %, TPU 5.3→1.2 %. The cost is a slight upward bias — for PLA the fixed window sits nearer the band centre. Both rules stay in band.</a:t>
            </a:r>
          </a:p>
        </p:txBody>
      </p:sp>
      <p:sp>
        <p:nvSpPr>
          <p:cNvPr id="13" name="Rectangle 12"/>
          <p:cNvSpPr/>
          <p:nvPr/>
        </p:nvSpPr>
        <p:spPr>
          <a:xfrm>
            <a:off x="365760" y="5961888"/>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19" b="1">
                <a:solidFill>
                  <a:srgbClr val="1F3F2F"/>
                </a:solidFill>
                <a:latin typeface="Calibri"/>
              </a:rPr>
              <a:t>DEFENSIBLE, NOT PERFECT: THE RULE WINS ON REPEATABILITY IN EVERY MATERIAL AND COSTS A SMALL UPWARD BIAS — AND BOTH RULES LAND INSIDE EVERY PUBLISHED BAND.</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Fixed-window comparison from the same CSVs (analyze() reports both). S26 and S16 are the cases that decide it: their straight stretch starts late, so the fixed window averages the compliant toe into the slope and reads ~41 % low.</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283</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WHAT EACH NUMBER IS WORTH</a:t>
            </a:r>
          </a:p>
        </p:txBody>
      </p:sp>
      <p:graphicFrame>
        <p:nvGraphicFramePr>
          <p:cNvPr id="5" name="Table 4"/>
          <p:cNvGraphicFramePr>
            <a:graphicFrameLocks noGrp="1"/>
          </p:cNvGraphicFramePr>
          <p:nvPr/>
        </p:nvGraphicFramePr>
        <p:xfrm>
          <a:off x="457200" y="1371600"/>
          <a:ext cx="11338556" cy="1920240"/>
        </p:xfrm>
        <a:graphic>
          <a:graphicData uri="http://schemas.openxmlformats.org/drawingml/2006/table">
            <a:tbl>
              <a:tblPr firstRow="1" bandRow="1">
                <a:tableStyleId>{5C22544A-7EE6-4342-B048-85BDC9FD1C3A}</a:tableStyleId>
              </a:tblPr>
              <a:tblGrid>
                <a:gridCol w="2074126"/>
                <a:gridCol w="2074126"/>
                <a:gridCol w="2074126"/>
                <a:gridCol w="2074126"/>
                <a:gridCol w="3042052"/>
              </a:tblGrid>
              <a:tr h="384048">
                <a:tc>
                  <a:txBody>
                    <a:bodyPr lIns="54864" rIns="54864" tIns="18288" bIns="18288" wrap="square" anchor="ctr"/>
                    <a:lstStyle/>
                    <a:p>
                      <a:pPr algn="l"/>
                      <a:r>
                        <a:rPr sz="980" b="1">
                          <a:solidFill>
                            <a:srgbClr val="FFFFFF"/>
                          </a:solidFill>
                          <a:latin typeface="Calibri"/>
                        </a:rPr>
                        <a:t>Property</a:t>
                      </a:r>
                    </a:p>
                  </a:txBody>
                  <a:tcPr>
                    <a:solidFill>
                      <a:srgbClr val="143D2F"/>
                    </a:solidFill>
                  </a:tcPr>
                </a:tc>
                <a:tc>
                  <a:txBody>
                    <a:bodyPr lIns="54864" rIns="54864" tIns="18288" bIns="18288" wrap="square" anchor="ctr"/>
                    <a:lstStyle/>
                    <a:p>
                      <a:pPr algn="l"/>
                      <a:r>
                        <a:rPr sz="980" b="1">
                          <a:solidFill>
                            <a:srgbClr val="FFFFFF"/>
                          </a:solidFill>
                          <a:latin typeface="Calibri"/>
                        </a:rPr>
                        <a:t>PLA (n=6)</a:t>
                      </a:r>
                    </a:p>
                  </a:txBody>
                  <a:tcPr>
                    <a:solidFill>
                      <a:srgbClr val="143D2F"/>
                    </a:solidFill>
                  </a:tcPr>
                </a:tc>
                <a:tc>
                  <a:txBody>
                    <a:bodyPr lIns="54864" rIns="54864" tIns="18288" bIns="18288" wrap="square" anchor="ctr"/>
                    <a:lstStyle/>
                    <a:p>
                      <a:pPr algn="l"/>
                      <a:r>
                        <a:rPr sz="980" b="1">
                          <a:solidFill>
                            <a:srgbClr val="FFFFFF"/>
                          </a:solidFill>
                          <a:latin typeface="Calibri"/>
                        </a:rPr>
                        <a:t>PETG (n=2)</a:t>
                      </a:r>
                    </a:p>
                  </a:txBody>
                  <a:tcPr>
                    <a:solidFill>
                      <a:srgbClr val="143D2F"/>
                    </a:solidFill>
                  </a:tcPr>
                </a:tc>
                <a:tc>
                  <a:txBody>
                    <a:bodyPr lIns="54864" rIns="54864" tIns="18288" bIns="18288" wrap="square" anchor="ctr"/>
                    <a:lstStyle/>
                    <a:p>
                      <a:pPr algn="l"/>
                      <a:r>
                        <a:rPr sz="980" b="1">
                          <a:solidFill>
                            <a:srgbClr val="FFFFFF"/>
                          </a:solidFill>
                          <a:latin typeface="Calibri"/>
                        </a:rPr>
                        <a:t>TPU (n=3)</a:t>
                      </a:r>
                    </a:p>
                  </a:txBody>
                  <a:tcPr>
                    <a:solidFill>
                      <a:srgbClr val="143D2F"/>
                    </a:solidFill>
                  </a:tcPr>
                </a:tc>
                <a:tc>
                  <a:txBody>
                    <a:bodyPr lIns="54864" rIns="54864" tIns="18288" bIns="18288" wrap="square" anchor="ctr"/>
                    <a:lstStyle/>
                    <a:p>
                      <a:pPr algn="l"/>
                      <a:r>
                        <a:rPr sz="980" b="1">
                          <a:solidFill>
                            <a:srgbClr val="FFFFFF"/>
                          </a:solidFill>
                          <a:latin typeface="Calibri"/>
                        </a:rPr>
                        <a:t>Status</a:t>
                      </a:r>
                    </a:p>
                  </a:txBody>
                  <a:tcPr>
                    <a:solidFill>
                      <a:srgbClr val="143D2F"/>
                    </a:solidFill>
                  </a:tcPr>
                </a:tc>
              </a:tr>
              <a:tr h="384048">
                <a:tc>
                  <a:txBody>
                    <a:bodyPr lIns="54864" rIns="54864" tIns="18288" bIns="18288" wrap="square" anchor="ctr"/>
                    <a:lstStyle/>
                    <a:p>
                      <a:pPr algn="l"/>
                      <a:r>
                        <a:rPr sz="919" b="0">
                          <a:solidFill>
                            <a:srgbClr val="000000"/>
                          </a:solidFill>
                          <a:latin typeface="Calibri"/>
                        </a:rPr>
                        <a:t>Elastic modulus</a:t>
                      </a:r>
                    </a:p>
                  </a:txBody>
                  <a:tcPr/>
                </a:tc>
                <a:tc>
                  <a:txBody>
                    <a:bodyPr lIns="54864" rIns="54864" tIns="18288" bIns="18288" wrap="square" anchor="ctr"/>
                    <a:lstStyle/>
                    <a:p>
                      <a:pPr algn="l"/>
                      <a:r>
                        <a:rPr sz="919" b="0">
                          <a:solidFill>
                            <a:srgbClr val="000000"/>
                          </a:solidFill>
                          <a:latin typeface="Calibri"/>
                        </a:rPr>
                        <a:t>3.09 ± 0.27 GPa</a:t>
                      </a:r>
                    </a:p>
                  </a:txBody>
                  <a:tcPr/>
                </a:tc>
                <a:tc>
                  <a:txBody>
                    <a:bodyPr lIns="54864" rIns="54864" tIns="18288" bIns="18288" wrap="square" anchor="ctr"/>
                    <a:lstStyle/>
                    <a:p>
                      <a:pPr algn="l"/>
                      <a:r>
                        <a:rPr sz="919" b="0">
                          <a:solidFill>
                            <a:srgbClr val="000000"/>
                          </a:solidFill>
                          <a:latin typeface="Calibri"/>
                        </a:rPr>
                        <a:t>1.96 ± 0.16 GPa</a:t>
                      </a:r>
                    </a:p>
                  </a:txBody>
                  <a:tcPr/>
                </a:tc>
                <a:tc>
                  <a:txBody>
                    <a:bodyPr lIns="54864" rIns="54864" tIns="18288" bIns="18288" wrap="square" anchor="ctr"/>
                    <a:lstStyle/>
                    <a:p>
                      <a:pPr algn="l"/>
                      <a:r>
                        <a:rPr sz="919" b="0">
                          <a:solidFill>
                            <a:srgbClr val="000000"/>
                          </a:solidFill>
                          <a:latin typeface="Calibri"/>
                        </a:rPr>
                        <a:t>24.6 ± 0.2 MPa</a:t>
                      </a:r>
                    </a:p>
                  </a:txBody>
                  <a:tcPr/>
                </a:tc>
                <a:tc>
                  <a:txBody>
                    <a:bodyPr lIns="54864" rIns="54864" tIns="18288" bIns="18288" wrap="square" anchor="ctr"/>
                    <a:lstStyle/>
                    <a:p>
                      <a:pPr algn="l"/>
                      <a:r>
                        <a:rPr sz="919" b="0">
                          <a:solidFill>
                            <a:srgbClr val="000000"/>
                          </a:solidFill>
                          <a:latin typeface="Calibri"/>
                        </a:rPr>
                        <a:t>MEASURED — all in band</a:t>
                      </a:r>
                    </a:p>
                  </a:txBody>
                  <a:tcPr/>
                </a:tc>
              </a:tr>
              <a:tr h="384048">
                <a:tc>
                  <a:txBody>
                    <a:bodyPr lIns="54864" rIns="54864" tIns="18288" bIns="18288" wrap="square" anchor="ctr"/>
                    <a:lstStyle/>
                    <a:p>
                      <a:pPr algn="l"/>
                      <a:r>
                        <a:rPr sz="919" b="0">
                          <a:solidFill>
                            <a:srgbClr val="000000"/>
                          </a:solidFill>
                          <a:latin typeface="Calibri"/>
                        </a:rPr>
                        <a:t>Max stress reached</a:t>
                      </a:r>
                    </a:p>
                  </a:txBody>
                  <a:tcPr/>
                </a:tc>
                <a:tc>
                  <a:txBody>
                    <a:bodyPr lIns="54864" rIns="54864" tIns="18288" bIns="18288" wrap="square" anchor="ctr"/>
                    <a:lstStyle/>
                    <a:p>
                      <a:pPr algn="l"/>
                      <a:r>
                        <a:rPr sz="919" b="0">
                          <a:solidFill>
                            <a:srgbClr val="000000"/>
                          </a:solidFill>
                          <a:latin typeface="Calibri"/>
                        </a:rPr>
                        <a:t>46.8 MPa</a:t>
                      </a:r>
                    </a:p>
                  </a:txBody>
                  <a:tcPr/>
                </a:tc>
                <a:tc>
                  <a:txBody>
                    <a:bodyPr lIns="54864" rIns="54864" tIns="18288" bIns="18288" wrap="square" anchor="ctr"/>
                    <a:lstStyle/>
                    <a:p>
                      <a:pPr algn="l"/>
                      <a:r>
                        <a:rPr sz="919" b="0">
                          <a:solidFill>
                            <a:srgbClr val="000000"/>
                          </a:solidFill>
                          <a:latin typeface="Calibri"/>
                        </a:rPr>
                        <a:t>41.1 MPa</a:t>
                      </a:r>
                    </a:p>
                  </a:txBody>
                  <a:tcPr/>
                </a:tc>
                <a:tc>
                  <a:txBody>
                    <a:bodyPr lIns="54864" rIns="54864" tIns="18288" bIns="18288" wrap="square" anchor="ctr"/>
                    <a:lstStyle/>
                    <a:p>
                      <a:pPr algn="l"/>
                      <a:r>
                        <a:rPr sz="919" b="0">
                          <a:solidFill>
                            <a:srgbClr val="000000"/>
                          </a:solidFill>
                          <a:latin typeface="Calibri"/>
                        </a:rPr>
                        <a:t>2.35 MPa</a:t>
                      </a:r>
                    </a:p>
                  </a:txBody>
                  <a:tcPr/>
                </a:tc>
                <a:tc>
                  <a:txBody>
                    <a:bodyPr lIns="54864" rIns="54864" tIns="18288" bIns="18288" wrap="square" anchor="ctr"/>
                    <a:lstStyle/>
                    <a:p>
                      <a:pPr algn="l"/>
                      <a:r>
                        <a:rPr sz="919" b="0">
                          <a:solidFill>
                            <a:srgbClr val="000000"/>
                          </a:solidFill>
                          <a:latin typeface="Calibri"/>
                        </a:rPr>
                        <a:t>PLA/PETG = UTS; TPU = lower bound</a:t>
                      </a:r>
                    </a:p>
                  </a:txBody>
                  <a:tcPr/>
                </a:tc>
              </a:tr>
              <a:tr h="384048">
                <a:tc>
                  <a:txBody>
                    <a:bodyPr lIns="54864" rIns="54864" tIns="18288" bIns="18288" wrap="square" anchor="ctr"/>
                    <a:lstStyle/>
                    <a:p>
                      <a:pPr algn="l"/>
                      <a:r>
                        <a:rPr sz="919" b="0">
                          <a:solidFill>
                            <a:srgbClr val="000000"/>
                          </a:solidFill>
                          <a:latin typeface="Calibri"/>
                        </a:rPr>
                        <a:t>Strain at end</a:t>
                      </a:r>
                    </a:p>
                  </a:txBody>
                  <a:tcPr/>
                </a:tc>
                <a:tc>
                  <a:txBody>
                    <a:bodyPr lIns="54864" rIns="54864" tIns="18288" bIns="18288" wrap="square" anchor="ctr"/>
                    <a:lstStyle/>
                    <a:p>
                      <a:pPr algn="l"/>
                      <a:r>
                        <a:rPr sz="919" b="0">
                          <a:solidFill>
                            <a:srgbClr val="000000"/>
                          </a:solidFill>
                          <a:latin typeface="Calibri"/>
                        </a:rPr>
                        <a:t>5.2 %</a:t>
                      </a:r>
                    </a:p>
                  </a:txBody>
                  <a:tcPr/>
                </a:tc>
                <a:tc>
                  <a:txBody>
                    <a:bodyPr lIns="54864" rIns="54864" tIns="18288" bIns="18288" wrap="square" anchor="ctr"/>
                    <a:lstStyle/>
                    <a:p>
                      <a:pPr algn="l"/>
                      <a:r>
                        <a:rPr sz="919" b="0">
                          <a:solidFill>
                            <a:srgbClr val="000000"/>
                          </a:solidFill>
                          <a:latin typeface="Calibri"/>
                        </a:rPr>
                        <a:t>5.8 %</a:t>
                      </a:r>
                    </a:p>
                  </a:txBody>
                  <a:tcPr/>
                </a:tc>
                <a:tc>
                  <a:txBody>
                    <a:bodyPr lIns="54864" rIns="54864" tIns="18288" bIns="18288" wrap="square" anchor="ctr"/>
                    <a:lstStyle/>
                    <a:p>
                      <a:pPr algn="l"/>
                      <a:r>
                        <a:rPr sz="919" b="0">
                          <a:solidFill>
                            <a:srgbClr val="000000"/>
                          </a:solidFill>
                          <a:latin typeface="Calibri"/>
                        </a:rPr>
                        <a:t>14.3 %</a:t>
                      </a:r>
                    </a:p>
                  </a:txBody>
                  <a:tcPr/>
                </a:tc>
                <a:tc>
                  <a:txBody>
                    <a:bodyPr lIns="54864" rIns="54864" tIns="18288" bIns="18288" wrap="square" anchor="ctr"/>
                    <a:lstStyle/>
                    <a:p>
                      <a:pPr algn="l"/>
                      <a:r>
                        <a:rPr sz="919" b="0">
                          <a:solidFill>
                            <a:srgbClr val="000000"/>
                          </a:solidFill>
                          <a:latin typeface="Calibri"/>
                        </a:rPr>
                        <a:t>PLA/PETG = at fracture; TPU = frame limit</a:t>
                      </a:r>
                    </a:p>
                  </a:txBody>
                  <a:tcPr/>
                </a:tc>
              </a:tr>
              <a:tr h="384048">
                <a:tc>
                  <a:txBody>
                    <a:bodyPr lIns="54864" rIns="54864" tIns="18288" bIns="18288" wrap="square" anchor="ctr"/>
                    <a:lstStyle/>
                    <a:p>
                      <a:pPr algn="l"/>
                      <a:r>
                        <a:rPr sz="919" b="0">
                          <a:solidFill>
                            <a:srgbClr val="000000"/>
                          </a:solidFill>
                          <a:latin typeface="Calibri"/>
                        </a:rPr>
                        <a:t>Ended by</a:t>
                      </a:r>
                    </a:p>
                  </a:txBody>
                  <a:tcPr/>
                </a:tc>
                <a:tc>
                  <a:txBody>
                    <a:bodyPr lIns="54864" rIns="54864" tIns="18288" bIns="18288" wrap="square" anchor="ctr"/>
                    <a:lstStyle/>
                    <a:p>
                      <a:pPr algn="l"/>
                      <a:r>
                        <a:rPr sz="919" b="0">
                          <a:solidFill>
                            <a:srgbClr val="000000"/>
                          </a:solidFill>
                          <a:latin typeface="Calibri"/>
                        </a:rPr>
                        <a:t>fracture</a:t>
                      </a:r>
                    </a:p>
                  </a:txBody>
                  <a:tcPr/>
                </a:tc>
                <a:tc>
                  <a:txBody>
                    <a:bodyPr lIns="54864" rIns="54864" tIns="18288" bIns="18288" wrap="square" anchor="ctr"/>
                    <a:lstStyle/>
                    <a:p>
                      <a:pPr algn="l"/>
                      <a:r>
                        <a:rPr sz="919" b="0">
                          <a:solidFill>
                            <a:srgbClr val="000000"/>
                          </a:solidFill>
                          <a:latin typeface="Calibri"/>
                        </a:rPr>
                        <a:t>fracture</a:t>
                      </a:r>
                    </a:p>
                  </a:txBody>
                  <a:tcPr/>
                </a:tc>
                <a:tc>
                  <a:txBody>
                    <a:bodyPr lIns="54864" rIns="54864" tIns="18288" bIns="18288" wrap="square" anchor="ctr"/>
                    <a:lstStyle/>
                    <a:p>
                      <a:pPr algn="l"/>
                      <a:r>
                        <a:rPr sz="919" b="0">
                          <a:solidFill>
                            <a:srgbClr val="000000"/>
                          </a:solidFill>
                          <a:latin typeface="Calibri"/>
                        </a:rPr>
                        <a:t>frame ran out at 15 mm</a:t>
                      </a:r>
                    </a:p>
                  </a:txBody>
                  <a:tcPr/>
                </a:tc>
                <a:tc>
                  <a:txBody>
                    <a:bodyPr lIns="54864" rIns="54864" tIns="18288" bIns="18288" wrap="square" anchor="ctr"/>
                    <a:lstStyle/>
                    <a:p>
                      <a:pPr algn="l"/>
                      <a:r>
                        <a:rPr sz="919" b="0">
                          <a:solidFill>
                            <a:srgbClr val="000000"/>
                          </a:solidFill>
                          <a:latin typeface="Calibri"/>
                        </a:rPr>
                        <a:t>—</a:t>
                      </a:r>
                    </a:p>
                  </a:txBody>
                  <a:tcPr/>
                </a:tc>
              </a:tr>
            </a:tbl>
          </a:graphicData>
        </a:graphic>
      </p:graphicFrame>
      <p:sp>
        <p:nvSpPr>
          <p:cNvPr id="6" name="TextBox 5"/>
          <p:cNvSpPr txBox="1"/>
          <p:nvPr/>
        </p:nvSpPr>
        <p:spPr>
          <a:xfrm>
            <a:off x="457200" y="36576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can claim</a:t>
            </a:r>
          </a:p>
        </p:txBody>
      </p:sp>
      <p:sp>
        <p:nvSpPr>
          <p:cNvPr id="7" name="TextBox 6"/>
          <p:cNvSpPr txBox="1"/>
          <p:nvPr/>
        </p:nvSpPr>
        <p:spPr>
          <a:xfrm>
            <a:off x="457200" y="4005072"/>
            <a:ext cx="5577840" cy="2377440"/>
          </a:xfrm>
          <a:prstGeom prst="rect">
            <a:avLst/>
          </a:prstGeom>
          <a:noFill/>
        </p:spPr>
        <p:txBody>
          <a:bodyPr wrap="square" lIns="45720" rIns="45720" tIns="18288" bIns="18288" anchor="t">
            <a:spAutoFit/>
          </a:bodyPr>
          <a:lstStyle/>
          <a:p>
            <a:pPr algn="l"/>
            <a:r>
              <a:rPr sz="980" b="0" i="0">
                <a:solidFill>
                  <a:srgbClr val="000000"/>
                </a:solidFill>
                <a:latin typeface="Calibri"/>
              </a:rPr>
              <a:t>•  STIFFNESS, fully. Three materials, correct order, every value inside its published band, with repeatability on all three.
•  PLA vs PETG, fully. Both fractured, so strength and ductility are real measurements: 46.8 vs 41.1 MPa and 5.2 vs 5.8 % strain. PETG less strong, more ductile — as expected.
•  The DUCTILITY ORDERING including TPU. TPU passed 14.3 % without failing, which already exceeds both fractured values.</a:t>
            </a:r>
          </a:p>
        </p:txBody>
      </p:sp>
      <p:sp>
        <p:nvSpPr>
          <p:cNvPr id="8" name="TextBox 7"/>
          <p:cNvSpPr txBox="1"/>
          <p:nvPr/>
        </p:nvSpPr>
        <p:spPr>
          <a:xfrm>
            <a:off x="6309360" y="365760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we must NOT claim</a:t>
            </a:r>
          </a:p>
        </p:txBody>
      </p:sp>
      <p:sp>
        <p:nvSpPr>
          <p:cNvPr id="9" name="TextBox 8"/>
          <p:cNvSpPr txBox="1"/>
          <p:nvPr/>
        </p:nvSpPr>
        <p:spPr>
          <a:xfrm>
            <a:off x="6309360" y="4005072"/>
            <a:ext cx="5532120" cy="2377440"/>
          </a:xfrm>
          <a:prstGeom prst="rect">
            <a:avLst/>
          </a:prstGeom>
          <a:noFill/>
        </p:spPr>
        <p:txBody>
          <a:bodyPr wrap="square" lIns="45720" rIns="45720" tIns="18288" bIns="18288" anchor="t">
            <a:spAutoFit/>
          </a:bodyPr>
          <a:lstStyle/>
          <a:p>
            <a:pPr algn="l"/>
            <a:r>
              <a:rPr sz="940" b="0" i="0">
                <a:solidFill>
                  <a:srgbClr val="000000"/>
                </a:solidFill>
                <a:latin typeface="Calibri"/>
              </a:rPr>
              <a:t>•  TPU's STRENGTH. Its curve was still rising when the frame ran out. Published TPU 95A breaks at 25-40 MPa — comparable to PETG — but at 400-700 % elongation.
•  Any 'PLA is 20× stronger than TPU' figure. That ratio is taken at MATCHED STRAIN and would misrepresent the material.
•  TPU's ε_f or toughness. Both are lower bounds set by the instrument.
•  A TPU fracture on this rig at all: 30 mm of travel is 24 % gauge strain, and TPU needs 400 %. It would take a gauge of ~5 mm, which breaks the comparison.</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284</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THE TREND AS EXPECTED? — YES, AND FOR THE RIGHT REASONS</a:t>
            </a:r>
          </a:p>
        </p:txBody>
      </p:sp>
      <p:sp>
        <p:nvSpPr>
          <p:cNvPr id="5" name="TextBox 4"/>
          <p:cNvSpPr txBox="1"/>
          <p:nvPr/>
        </p:nvSpPr>
        <p:spPr>
          <a:xfrm>
            <a:off x="457200" y="1234440"/>
            <a:ext cx="11338560" cy="365760"/>
          </a:xfrm>
          <a:prstGeom prst="rect">
            <a:avLst/>
          </a:prstGeom>
          <a:noFill/>
        </p:spPr>
        <p:txBody>
          <a:bodyPr wrap="square" lIns="45720" rIns="45720" tIns="18288" bIns="18288" anchor="t">
            <a:spAutoFit/>
          </a:bodyPr>
          <a:lstStyle/>
          <a:p>
            <a:pPr algn="l"/>
            <a:r>
              <a:rPr sz="1600" b="0" i="0">
                <a:solidFill>
                  <a:srgbClr val="707070"/>
                </a:solidFill>
                <a:latin typeface="Calibri"/>
              </a:rPr>
              <a:t>Prediction, result, and the physical reason</a:t>
            </a:r>
          </a:p>
        </p:txBody>
      </p:sp>
      <p:graphicFrame>
        <p:nvGraphicFramePr>
          <p:cNvPr id="6" name="Table 5"/>
          <p:cNvGraphicFramePr>
            <a:graphicFrameLocks noGrp="1"/>
          </p:cNvGraphicFramePr>
          <p:nvPr/>
        </p:nvGraphicFramePr>
        <p:xfrm>
          <a:off x="457200" y="1600200"/>
          <a:ext cx="11338559" cy="2377440"/>
        </p:xfrm>
        <a:graphic>
          <a:graphicData uri="http://schemas.openxmlformats.org/drawingml/2006/table">
            <a:tbl>
              <a:tblPr firstRow="1" bandRow="1">
                <a:tableStyleId>{5C22544A-7EE6-4342-B048-85BDC9FD1C3A}</a:tableStyleId>
              </a:tblPr>
              <a:tblGrid>
                <a:gridCol w="2834640"/>
                <a:gridCol w="3924886"/>
                <a:gridCol w="4579033"/>
              </a:tblGrid>
              <a:tr h="594360">
                <a:tc>
                  <a:txBody>
                    <a:bodyPr lIns="54864" rIns="54864" tIns="18288" bIns="18288" wrap="square" anchor="ctr"/>
                    <a:lstStyle/>
                    <a:p>
                      <a:pPr algn="l"/>
                      <a:r>
                        <a:rPr sz="980" b="1">
                          <a:solidFill>
                            <a:srgbClr val="FFFFFF"/>
                          </a:solidFill>
                          <a:latin typeface="Calibri"/>
                        </a:rPr>
                        <a:t>Expectation from the literature</a:t>
                      </a:r>
                    </a:p>
                  </a:txBody>
                  <a:tcPr>
                    <a:solidFill>
                      <a:srgbClr val="143D2F"/>
                    </a:solidFill>
                  </a:tcPr>
                </a:tc>
                <a:tc>
                  <a:txBody>
                    <a:bodyPr lIns="54864" rIns="54864" tIns="18288" bIns="18288" wrap="square" anchor="ctr"/>
                    <a:lstStyle/>
                    <a:p>
                      <a:pPr algn="l"/>
                      <a:r>
                        <a:rPr sz="980" b="1">
                          <a:solidFill>
                            <a:srgbClr val="FFFFFF"/>
                          </a:solidFill>
                          <a:latin typeface="Calibri"/>
                        </a:rPr>
                        <a:t>What the rig measured</a:t>
                      </a:r>
                    </a:p>
                  </a:txBody>
                  <a:tcPr>
                    <a:solidFill>
                      <a:srgbClr val="143D2F"/>
                    </a:solidFill>
                  </a:tcPr>
                </a:tc>
                <a:tc>
                  <a:txBody>
                    <a:bodyPr lIns="54864" rIns="54864" tIns="18288" bIns="18288" wrap="square" anchor="ctr"/>
                    <a:lstStyle/>
                    <a:p>
                      <a:pPr algn="l"/>
                      <a:r>
                        <a:rPr sz="980" b="1">
                          <a:solidFill>
                            <a:srgbClr val="FFFFFF"/>
                          </a:solidFill>
                          <a:latin typeface="Calibri"/>
                        </a:rPr>
                        <a:t>Why the material does this</a:t>
                      </a:r>
                    </a:p>
                  </a:txBody>
                  <a:tcPr>
                    <a:solidFill>
                      <a:srgbClr val="143D2F"/>
                    </a:solidFill>
                  </a:tcPr>
                </a:tc>
              </a:tr>
              <a:tr h="594360">
                <a:tc>
                  <a:txBody>
                    <a:bodyPr lIns="54864" rIns="54864" tIns="18288" bIns="18288" wrap="square" anchor="ctr"/>
                    <a:lstStyle/>
                    <a:p>
                      <a:pPr algn="l"/>
                      <a:r>
                        <a:rPr sz="880" b="0">
                          <a:solidFill>
                            <a:srgbClr val="000000"/>
                          </a:solidFill>
                          <a:latin typeface="Calibri"/>
                        </a:rPr>
                        <a:t>PLA stiffest and strongest, least ductile</a:t>
                      </a:r>
                    </a:p>
                  </a:txBody>
                  <a:tcPr/>
                </a:tc>
                <a:tc>
                  <a:txBody>
                    <a:bodyPr lIns="54864" rIns="54864" tIns="18288" bIns="18288" wrap="square" anchor="ctr"/>
                    <a:lstStyle/>
                    <a:p>
                      <a:pPr algn="l"/>
                      <a:r>
                        <a:rPr sz="880" b="0">
                          <a:solidFill>
                            <a:srgbClr val="000000"/>
                          </a:solidFill>
                          <a:latin typeface="Calibri"/>
                        </a:rPr>
                        <a:t>E 3.09 GPa · σ 46.8 MPa · fractures at 5.2 % strain — highest E, highest σ, least ductile</a:t>
                      </a:r>
                    </a:p>
                  </a:txBody>
                  <a:tcPr/>
                </a:tc>
                <a:tc>
                  <a:txBody>
                    <a:bodyPr lIns="54864" rIns="54864" tIns="18288" bIns="18288" wrap="square" anchor="ctr"/>
                    <a:lstStyle/>
                    <a:p>
                      <a:pPr algn="l"/>
                      <a:r>
                        <a:rPr sz="880" b="0">
                          <a:solidFill>
                            <a:srgbClr val="000000"/>
                          </a:solidFill>
                          <a:latin typeface="Calibri"/>
                        </a:rPr>
                        <a:t>Glassy, high-crystallinity polyester well below Tg; chains cannot slide, so it fails by brittle crazing soon after yield</a:t>
                      </a:r>
                    </a:p>
                  </a:txBody>
                  <a:tcPr/>
                </a:tc>
              </a:tr>
              <a:tr h="594360">
                <a:tc>
                  <a:txBody>
                    <a:bodyPr lIns="54864" rIns="54864" tIns="18288" bIns="18288" wrap="square" anchor="ctr"/>
                    <a:lstStyle/>
                    <a:p>
                      <a:pPr algn="l"/>
                      <a:r>
                        <a:rPr sz="880" b="0">
                          <a:solidFill>
                            <a:srgbClr val="000000"/>
                          </a:solidFill>
                          <a:latin typeface="Calibri"/>
                        </a:rPr>
                        <a:t>PETG slightly less stiff and strong, more ductile</a:t>
                      </a:r>
                    </a:p>
                  </a:txBody>
                  <a:tcPr/>
                </a:tc>
                <a:tc>
                  <a:txBody>
                    <a:bodyPr lIns="54864" rIns="54864" tIns="18288" bIns="18288" wrap="square" anchor="ctr"/>
                    <a:lstStyle/>
                    <a:p>
                      <a:pPr algn="l"/>
                      <a:r>
                        <a:rPr sz="880" b="0">
                          <a:solidFill>
                            <a:srgbClr val="000000"/>
                          </a:solidFill>
                          <a:latin typeface="Calibri"/>
                        </a:rPr>
                        <a:t>E 1.96 GPa (−36 % vs PLA) · σ 41.1 MPa (−12 %) · fractures at 5.8 % strain (+11 %)</a:t>
                      </a:r>
                    </a:p>
                  </a:txBody>
                  <a:tcPr/>
                </a:tc>
                <a:tc>
                  <a:txBody>
                    <a:bodyPr lIns="54864" rIns="54864" tIns="18288" bIns="18288" wrap="square" anchor="ctr"/>
                    <a:lstStyle/>
                    <a:p>
                      <a:pPr algn="l"/>
                      <a:r>
                        <a:rPr sz="880" b="0">
                          <a:solidFill>
                            <a:srgbClr val="000000"/>
                          </a:solidFill>
                          <a:latin typeface="Calibri"/>
                        </a:rPr>
                        <a:t>The glycol modification suppresses crystallisation, leaving an amorphous copolyester that yields and draws instead of crazing</a:t>
                      </a:r>
                    </a:p>
                  </a:txBody>
                  <a:tcPr/>
                </a:tc>
              </a:tr>
              <a:tr h="594360">
                <a:tc>
                  <a:txBody>
                    <a:bodyPr lIns="54864" rIns="54864" tIns="18288" bIns="18288" wrap="square" anchor="ctr"/>
                    <a:lstStyle/>
                    <a:p>
                      <a:pPr algn="l"/>
                      <a:r>
                        <a:rPr sz="880" b="0">
                          <a:solidFill>
                            <a:srgbClr val="000000"/>
                          </a:solidFill>
                          <a:latin typeface="Calibri"/>
                        </a:rPr>
                        <a:t>TPU two decades softer, effectively unbreakable at this scale</a:t>
                      </a:r>
                    </a:p>
                  </a:txBody>
                  <a:tcPr/>
                </a:tc>
                <a:tc>
                  <a:txBody>
                    <a:bodyPr lIns="54864" rIns="54864" tIns="18288" bIns="18288" wrap="square" anchor="ctr"/>
                    <a:lstStyle/>
                    <a:p>
                      <a:pPr algn="l"/>
                      <a:r>
                        <a:rPr sz="880" b="0">
                          <a:solidFill>
                            <a:srgbClr val="000000"/>
                          </a:solidFill>
                          <a:latin typeface="Calibri"/>
                        </a:rPr>
                        <a:t>E 25 MPa — 126× below PLA. Still rising at 14.3 % strain with no yield point</a:t>
                      </a:r>
                    </a:p>
                  </a:txBody>
                  <a:tcPr/>
                </a:tc>
                <a:tc>
                  <a:txBody>
                    <a:bodyPr lIns="54864" rIns="54864" tIns="18288" bIns="18288" wrap="square" anchor="ctr"/>
                    <a:lstStyle/>
                    <a:p>
                      <a:pPr algn="l"/>
                      <a:r>
                        <a:rPr sz="880" b="0">
                          <a:solidFill>
                            <a:srgbClr val="000000"/>
                          </a:solidFill>
                          <a:latin typeface="Calibri"/>
                        </a:rPr>
                        <a:t>Block copolymer: rubbery soft segments carry the strain while hard segments act as physical crosslinks — hyperelastic, so there is no yield to find</a:t>
                      </a:r>
                    </a:p>
                  </a:txBody>
                  <a:tcPr/>
                </a:tc>
              </a:tr>
            </a:tbl>
          </a:graphicData>
        </a:graphic>
      </p:graphicFrame>
      <p:sp>
        <p:nvSpPr>
          <p:cNvPr id="7" name="TextBox 6"/>
          <p:cNvSpPr txBox="1"/>
          <p:nvPr/>
        </p:nvSpPr>
        <p:spPr>
          <a:xfrm>
            <a:off x="457200" y="41605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number that carries it</a:t>
            </a:r>
          </a:p>
        </p:txBody>
      </p:sp>
      <p:sp>
        <p:nvSpPr>
          <p:cNvPr id="8" name="Rounded Rectangle 7"/>
          <p:cNvSpPr/>
          <p:nvPr/>
        </p:nvSpPr>
        <p:spPr>
          <a:xfrm>
            <a:off x="45720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3.09 GPa</a:t>
            </a:r>
          </a:p>
          <a:p>
            <a:pPr algn="ctr"/>
            <a:r>
              <a:rPr sz="950">
                <a:solidFill>
                  <a:srgbClr val="000000"/>
                </a:solidFill>
                <a:latin typeface="Calibri"/>
              </a:rPr>
              <a:t>PLA</a:t>
            </a:r>
          </a:p>
        </p:txBody>
      </p:sp>
      <p:sp>
        <p:nvSpPr>
          <p:cNvPr id="9" name="Rounded Rectangle 8"/>
          <p:cNvSpPr/>
          <p:nvPr/>
        </p:nvSpPr>
        <p:spPr>
          <a:xfrm>
            <a:off x="233172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1.96 GPa</a:t>
            </a:r>
          </a:p>
          <a:p>
            <a:pPr algn="ctr"/>
            <a:r>
              <a:rPr sz="950">
                <a:solidFill>
                  <a:srgbClr val="000000"/>
                </a:solidFill>
                <a:latin typeface="Calibri"/>
              </a:rPr>
              <a:t>PETG</a:t>
            </a:r>
          </a:p>
        </p:txBody>
      </p:sp>
      <p:sp>
        <p:nvSpPr>
          <p:cNvPr id="10" name="Rounded Rectangle 9"/>
          <p:cNvSpPr/>
          <p:nvPr/>
        </p:nvSpPr>
        <p:spPr>
          <a:xfrm>
            <a:off x="4206240" y="4526280"/>
            <a:ext cx="17373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25 MPa</a:t>
            </a:r>
          </a:p>
          <a:p>
            <a:pPr algn="ctr"/>
            <a:r>
              <a:rPr sz="950">
                <a:solidFill>
                  <a:srgbClr val="000000"/>
                </a:solidFill>
                <a:latin typeface="Calibri"/>
              </a:rPr>
              <a:t>TPU</a:t>
            </a:r>
          </a:p>
        </p:txBody>
      </p:sp>
      <p:sp>
        <p:nvSpPr>
          <p:cNvPr id="11" name="TextBox 10"/>
          <p:cNvSpPr txBox="1"/>
          <p:nvPr/>
        </p:nvSpPr>
        <p:spPr>
          <a:xfrm>
            <a:off x="6309360" y="4160520"/>
            <a:ext cx="5532120" cy="1645920"/>
          </a:xfrm>
          <a:prstGeom prst="rect">
            <a:avLst/>
          </a:prstGeom>
          <a:noFill/>
        </p:spPr>
        <p:txBody>
          <a:bodyPr wrap="square" lIns="45720" rIns="45720" tIns="18288" bIns="18288" anchor="t">
            <a:spAutoFit/>
          </a:bodyPr>
          <a:lstStyle/>
          <a:p>
            <a:pPr algn="l"/>
            <a:r>
              <a:rPr sz="1000" b="0" i="0">
                <a:solidFill>
                  <a:srgbClr val="000000"/>
                </a:solidFill>
                <a:latin typeface="Calibri"/>
              </a:rPr>
              <a:t>Three materials chosen to span the useful range of FDM polymers, and the rig separates them by a factor of 126 without ambiguity — every value inside its published band, every material repeatable run to run.
That is the result. TPU's strength and elongation at break sit outside what this rig can reach and are quoted from the datasheet, clearly marked as such.</a:t>
            </a:r>
          </a:p>
        </p:txBody>
      </p:sp>
      <p:sp>
        <p:nvSpPr>
          <p:cNvPr id="12" name="Rectangle 11"/>
          <p:cNvSpPr/>
          <p:nvPr/>
        </p:nvSpPr>
        <p:spPr>
          <a:xfrm>
            <a:off x="365760" y="5852160"/>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STIFFNESS RATIO PLA : PETG : TPU = 126 : 80 : 1 — THE EXPECTED ORDER, THE EXPECTED MAGNITUDES, ON ONE RIG WITH ONE PROTOCOL.</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285</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DOES MARKER SPACING CHANGE THE STRAIN? — S33 / S34 AT 45 mm</a:t>
            </a:r>
          </a:p>
        </p:txBody>
      </p:sp>
      <p:pic>
        <p:nvPicPr>
          <p:cNvPr id="5" name="Picture 4" descr="gauge_geometry.png"/>
          <p:cNvPicPr>
            <a:picLocks noChangeAspect="1"/>
          </p:cNvPicPr>
          <p:nvPr/>
        </p:nvPicPr>
        <p:blipFill>
          <a:blip r:embed="rId2"/>
          <a:stretch>
            <a:fillRect/>
          </a:stretch>
        </p:blipFill>
        <p:spPr>
          <a:xfrm>
            <a:off x="1699952" y="1152144"/>
            <a:ext cx="8761614" cy="2331720"/>
          </a:xfrm>
          <a:prstGeom prst="rect">
            <a:avLst/>
          </a:prstGeom>
        </p:spPr>
      </p:pic>
      <p:sp>
        <p:nvSpPr>
          <p:cNvPr id="6" name="TextBox 5"/>
          <p:cNvSpPr txBox="1"/>
          <p:nvPr/>
        </p:nvSpPr>
        <p:spPr>
          <a:xfrm>
            <a:off x="457200" y="370332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one deliberate change</a:t>
            </a:r>
          </a:p>
        </p:txBody>
      </p:sp>
      <p:graphicFrame>
        <p:nvGraphicFramePr>
          <p:cNvPr id="7" name="Table 6"/>
          <p:cNvGraphicFramePr>
            <a:graphicFrameLocks noGrp="1"/>
          </p:cNvGraphicFramePr>
          <p:nvPr/>
        </p:nvGraphicFramePr>
        <p:xfrm>
          <a:off x="457200" y="4041648"/>
          <a:ext cx="5577839" cy="1234440"/>
        </p:xfrm>
        <a:graphic>
          <a:graphicData uri="http://schemas.openxmlformats.org/drawingml/2006/table">
            <a:tbl>
              <a:tblPr firstRow="1" bandRow="1">
                <a:tableStyleId>{5C22544A-7EE6-4342-B048-85BDC9FD1C3A}</a:tableStyleId>
              </a:tblPr>
              <a:tblGrid>
                <a:gridCol w="2873432"/>
                <a:gridCol w="2704407"/>
              </a:tblGrid>
              <a:tr h="308610">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Changed</a:t>
                      </a:r>
                    </a:p>
                  </a:txBody>
                  <a:tcPr>
                    <a:solidFill>
                      <a:srgbClr val="143D2F"/>
                    </a:solidFill>
                  </a:tcPr>
                </a:tc>
              </a:tr>
              <a:tr h="308610">
                <a:tc>
                  <a:txBody>
                    <a:bodyPr lIns="54864" rIns="54864" tIns="18288" bIns="18288" wrap="square" anchor="ctr"/>
                    <a:lstStyle/>
                    <a:p>
                      <a:pPr algn="l"/>
                      <a:r>
                        <a:rPr sz="900" b="0">
                          <a:solidFill>
                            <a:srgbClr val="000000"/>
                          </a:solidFill>
                          <a:latin typeface="Calibri"/>
                        </a:rPr>
                        <a:t>PLA, 100 % infill, white specimen</a:t>
                      </a:r>
                    </a:p>
                  </a:txBody>
                  <a:tcPr/>
                </a:tc>
                <a:tc>
                  <a:txBody>
                    <a:bodyPr lIns="54864" rIns="54864" tIns="18288" bIns="18288" wrap="square" anchor="ctr"/>
                    <a:lstStyle/>
                    <a:p>
                      <a:pPr algn="l"/>
                      <a:r>
                        <a:rPr sz="900" b="0">
                          <a:solidFill>
                            <a:srgbClr val="000000"/>
                          </a:solidFill>
                          <a:latin typeface="Calibri"/>
                        </a:rPr>
                        <a:t>marker spacing 80 mm → 45 mm</a:t>
                      </a:r>
                    </a:p>
                  </a:txBody>
                  <a:tcPr/>
                </a:tc>
              </a:tr>
              <a:tr h="308610">
                <a:tc>
                  <a:txBody>
                    <a:bodyPr lIns="54864" rIns="54864" tIns="18288" bIns="18288" wrap="square" anchor="ctr"/>
                    <a:lstStyle/>
                    <a:p>
                      <a:pPr algn="l"/>
                      <a:r>
                        <a:rPr sz="900" b="0">
                          <a:solidFill>
                            <a:srgbClr val="000000"/>
                          </a:solidFill>
                          <a:latin typeface="Calibri"/>
                        </a:rPr>
                        <a:t>80 mm² section, 0.10 mm/s, ~300 N preload</a:t>
                      </a:r>
                    </a:p>
                  </a:txBody>
                  <a:tcPr/>
                </a:tc>
                <a:tc>
                  <a:txBody>
                    <a:bodyPr lIns="54864" rIns="54864" tIns="18288" bIns="18288" wrap="square" anchor="ctr"/>
                    <a:lstStyle/>
                    <a:p>
                      <a:pPr algn="l"/>
                      <a:r>
                        <a:rPr sz="900" b="0">
                          <a:solidFill>
                            <a:srgbClr val="000000"/>
                          </a:solidFill>
                          <a:latin typeface="Calibri"/>
                        </a:rPr>
                        <a:t>Px₀ 1675 px → 939 px</a:t>
                      </a:r>
                    </a:p>
                  </a:txBody>
                  <a:tcPr/>
                </a:tc>
              </a:tr>
              <a:tr h="308610">
                <a:tc>
                  <a:txBody>
                    <a:bodyPr lIns="54864" rIns="54864" tIns="18288" bIns="18288" wrap="square" anchor="ctr"/>
                    <a:lstStyle/>
                    <a:p>
                      <a:pPr algn="l"/>
                      <a:r>
                        <a:rPr sz="900" b="0">
                          <a:solidFill>
                            <a:srgbClr val="000000"/>
                          </a:solidFill>
                          <a:latin typeface="Calibri"/>
                        </a:rPr>
                        <a:t>same rig, same optics at 20.9 px/mm</a:t>
                      </a:r>
                    </a:p>
                  </a:txBody>
                  <a:tcPr/>
                </a:tc>
                <a:tc>
                  <a:txBody>
                    <a:bodyPr lIns="54864" rIns="54864" tIns="18288" bIns="18288" wrap="square" anchor="ctr"/>
                    <a:lstStyle/>
                    <a:p>
                      <a:pPr algn="l"/>
                      <a:r>
                        <a:rPr sz="900" b="0">
                          <a:solidFill>
                            <a:srgbClr val="000000"/>
                          </a:solidFill>
                          <a:latin typeface="Calibri"/>
                        </a:rPr>
                        <a:t>(a 44 % shorter pixel baseline)</a:t>
                      </a:r>
                    </a:p>
                  </a:txBody>
                  <a:tcPr/>
                </a:tc>
              </a:tr>
            </a:tbl>
          </a:graphicData>
        </a:graphic>
      </p:graphicFrame>
      <p:sp>
        <p:nvSpPr>
          <p:cNvPr id="8" name="TextBox 7"/>
          <p:cNvSpPr txBox="1"/>
          <p:nvPr/>
        </p:nvSpPr>
        <p:spPr>
          <a:xfrm>
            <a:off x="6309360" y="370332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A recording error found on the way in</a:t>
            </a:r>
          </a:p>
        </p:txBody>
      </p:sp>
      <p:sp>
        <p:nvSpPr>
          <p:cNvPr id="9" name="TextBox 8"/>
          <p:cNvSpPr txBox="1"/>
          <p:nvPr/>
        </p:nvSpPr>
        <p:spPr>
          <a:xfrm>
            <a:off x="6309360" y="4041648"/>
            <a:ext cx="5532120" cy="1234440"/>
          </a:xfrm>
          <a:prstGeom prst="rect">
            <a:avLst/>
          </a:prstGeom>
          <a:noFill/>
        </p:spPr>
        <p:txBody>
          <a:bodyPr wrap="square" lIns="45720" rIns="45720" tIns="18288" bIns="18288" anchor="t">
            <a:spAutoFit/>
          </a:bodyPr>
          <a:lstStyle/>
          <a:p>
            <a:pPr algn="l"/>
            <a:r>
              <a:rPr sz="950" b="0" i="0">
                <a:solidFill>
                  <a:srgbClr val="000000"/>
                </a:solidFill>
                <a:latin typeface="Calibri"/>
              </a:rPr>
              <a:t>Both CSVs were written with “Gauge Length: 80.0 mm” — the app was left on the old setting. Corrected in the files, with the original preserved in a note.
It changed NO result, and that was checked rather than assumed: DIC strain is (L_px − Px₀)/Px₀, a ratio of PIXELS, and the gauge length never enters it. Only px_per_mm was wrong (11.75 → 20.89). Re-analysing both files at 45 mm and at 80 mm gives identical E, σ_y, UTS, ε_f and toughness.</a:t>
            </a:r>
          </a:p>
        </p:txBody>
      </p:sp>
      <p:sp>
        <p:nvSpPr>
          <p:cNvPr id="10" name="Rectangle 9"/>
          <p:cNvSpPr/>
          <p:nvPr/>
        </p:nvSpPr>
        <p:spPr>
          <a:xfrm>
            <a:off x="365760" y="5852160"/>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Px₀ / 45 mm = 20.89 px/mm and Px₀ / 80 mm = 20.94 px/mm — THE SAME OPTICS, so the data itself confirms the two spacings.</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S33 and S34, 2026-08-24, on the PPD-UTM Mk II (see p183). Reference pair S25 / S26 from the same material and protocol at 80 mm.</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286</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S33 vs S34 — REPEATABILITY AT THE NEW 45 mm SPACING</a:t>
            </a:r>
          </a:p>
        </p:txBody>
      </p:sp>
      <p:pic>
        <p:nvPicPr>
          <p:cNvPr id="5" name="Picture 4" descr="gauge_pair.png"/>
          <p:cNvPicPr>
            <a:picLocks noChangeAspect="1"/>
          </p:cNvPicPr>
          <p:nvPr/>
        </p:nvPicPr>
        <p:blipFill>
          <a:blip r:embed="rId2"/>
          <a:stretch>
            <a:fillRect/>
          </a:stretch>
        </p:blipFill>
        <p:spPr>
          <a:xfrm>
            <a:off x="681445" y="1170432"/>
            <a:ext cx="10798628" cy="3657600"/>
          </a:xfrm>
          <a:prstGeom prst="rect">
            <a:avLst/>
          </a:prstGeom>
        </p:spPr>
      </p:pic>
      <p:sp>
        <p:nvSpPr>
          <p:cNvPr id="6" name="TextBox 5"/>
          <p:cNvSpPr txBox="1"/>
          <p:nvPr/>
        </p:nvSpPr>
        <p:spPr>
          <a:xfrm>
            <a:off x="457200" y="498348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pair</a:t>
            </a:r>
          </a:p>
        </p:txBody>
      </p:sp>
      <p:graphicFrame>
        <p:nvGraphicFramePr>
          <p:cNvPr id="7" name="Table 6"/>
          <p:cNvGraphicFramePr>
            <a:graphicFrameLocks noGrp="1"/>
          </p:cNvGraphicFramePr>
          <p:nvPr/>
        </p:nvGraphicFramePr>
        <p:xfrm>
          <a:off x="457200" y="5321808"/>
          <a:ext cx="5577839" cy="914400"/>
        </p:xfrm>
        <a:graphic>
          <a:graphicData uri="http://schemas.openxmlformats.org/drawingml/2006/table">
            <a:tbl>
              <a:tblPr firstRow="1" bandRow="1">
                <a:tableStyleId>{5C22544A-7EE6-4342-B048-85BDC9FD1C3A}</a:tableStyleId>
              </a:tblPr>
              <a:tblGrid>
                <a:gridCol w="2296757"/>
                <a:gridCol w="1640541"/>
                <a:gridCol w="1640541"/>
              </a:tblGrid>
              <a:tr h="22860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S33</a:t>
                      </a:r>
                    </a:p>
                  </a:txBody>
                  <a:tcPr>
                    <a:solidFill>
                      <a:srgbClr val="143D2F"/>
                    </a:solidFill>
                  </a:tcPr>
                </a:tc>
                <a:tc>
                  <a:txBody>
                    <a:bodyPr lIns="54864" rIns="54864" tIns="18288" bIns="18288" wrap="square" anchor="ctr"/>
                    <a:lstStyle/>
                    <a:p>
                      <a:pPr algn="l"/>
                      <a:r>
                        <a:rPr sz="950" b="1">
                          <a:solidFill>
                            <a:srgbClr val="FFFFFF"/>
                          </a:solidFill>
                          <a:latin typeface="Calibri"/>
                        </a:rPr>
                        <a:t>S34</a:t>
                      </a:r>
                    </a:p>
                  </a:txBody>
                  <a:tcPr>
                    <a:solidFill>
                      <a:srgbClr val="143D2F"/>
                    </a:solidFill>
                  </a:tcPr>
                </a:tc>
              </a:tr>
              <a:tr h="228600">
                <a:tc>
                  <a:txBody>
                    <a:bodyPr lIns="54864" rIns="54864" tIns="18288" bIns="18288" wrap="square" anchor="ctr"/>
                    <a:lstStyle/>
                    <a:p>
                      <a:pPr algn="l"/>
                      <a:r>
                        <a:rPr sz="900" b="0">
                          <a:solidFill>
                            <a:srgbClr val="000000"/>
                          </a:solidFill>
                          <a:latin typeface="Calibri"/>
                        </a:rPr>
                        <a:t>E (GPa)</a:t>
                      </a:r>
                    </a:p>
                  </a:txBody>
                  <a:tcPr/>
                </a:tc>
                <a:tc>
                  <a:txBody>
                    <a:bodyPr lIns="54864" rIns="54864" tIns="18288" bIns="18288" wrap="square" anchor="ctr"/>
                    <a:lstStyle/>
                    <a:p>
                      <a:pPr algn="l"/>
                      <a:r>
                        <a:rPr sz="900" b="0">
                          <a:solidFill>
                            <a:srgbClr val="000000"/>
                          </a:solidFill>
                          <a:latin typeface="Calibri"/>
                        </a:rPr>
                        <a:t>3.174</a:t>
                      </a:r>
                    </a:p>
                  </a:txBody>
                  <a:tcPr/>
                </a:tc>
                <a:tc>
                  <a:txBody>
                    <a:bodyPr lIns="54864" rIns="54864" tIns="18288" bIns="18288" wrap="square" anchor="ctr"/>
                    <a:lstStyle/>
                    <a:p>
                      <a:pPr algn="l"/>
                      <a:r>
                        <a:rPr sz="900" b="0">
                          <a:solidFill>
                            <a:srgbClr val="000000"/>
                          </a:solidFill>
                          <a:latin typeface="Calibri"/>
                        </a:rPr>
                        <a:t>3.451</a:t>
                      </a:r>
                    </a:p>
                  </a:txBody>
                  <a:tcPr/>
                </a:tc>
              </a:tr>
              <a:tr h="228600">
                <a:tc>
                  <a:txBody>
                    <a:bodyPr lIns="54864" rIns="54864" tIns="18288" bIns="18288" wrap="square" anchor="ctr"/>
                    <a:lstStyle/>
                    <a:p>
                      <a:pPr algn="l"/>
                      <a:r>
                        <a:rPr sz="900" b="0">
                          <a:solidFill>
                            <a:srgbClr val="000000"/>
                          </a:solidFill>
                          <a:latin typeface="Calibri"/>
                        </a:rPr>
                        <a:t>UTS (MPa)</a:t>
                      </a:r>
                    </a:p>
                  </a:txBody>
                  <a:tcPr/>
                </a:tc>
                <a:tc>
                  <a:txBody>
                    <a:bodyPr lIns="54864" rIns="54864" tIns="18288" bIns="18288" wrap="square" anchor="ctr"/>
                    <a:lstStyle/>
                    <a:p>
                      <a:pPr algn="l"/>
                      <a:r>
                        <a:rPr sz="900" b="0">
                          <a:solidFill>
                            <a:srgbClr val="000000"/>
                          </a:solidFill>
                          <a:latin typeface="Calibri"/>
                        </a:rPr>
                        <a:t>47.09</a:t>
                      </a:r>
                    </a:p>
                  </a:txBody>
                  <a:tcPr/>
                </a:tc>
                <a:tc>
                  <a:txBody>
                    <a:bodyPr lIns="54864" rIns="54864" tIns="18288" bIns="18288" wrap="square" anchor="ctr"/>
                    <a:lstStyle/>
                    <a:p>
                      <a:pPr algn="l"/>
                      <a:r>
                        <a:rPr sz="900" b="0">
                          <a:solidFill>
                            <a:srgbClr val="000000"/>
                          </a:solidFill>
                          <a:latin typeface="Calibri"/>
                        </a:rPr>
                        <a:t>48.34</a:t>
                      </a:r>
                    </a:p>
                  </a:txBody>
                  <a:tcPr/>
                </a:tc>
              </a:tr>
              <a:tr h="228600">
                <a:tc>
                  <a:txBody>
                    <a:bodyPr lIns="54864" rIns="54864" tIns="18288" bIns="18288" wrap="square" anchor="ctr"/>
                    <a:lstStyle/>
                    <a:p>
                      <a:pPr algn="l"/>
                      <a:r>
                        <a:rPr sz="900" b="0">
                          <a:solidFill>
                            <a:srgbClr val="000000"/>
                          </a:solidFill>
                          <a:latin typeface="Calibri"/>
                        </a:rPr>
                        <a:t>ε_f (%)</a:t>
                      </a:r>
                    </a:p>
                  </a:txBody>
                  <a:tcPr/>
                </a:tc>
                <a:tc>
                  <a:txBody>
                    <a:bodyPr lIns="54864" rIns="54864" tIns="18288" bIns="18288" wrap="square" anchor="ctr"/>
                    <a:lstStyle/>
                    <a:p>
                      <a:pPr algn="l"/>
                      <a:r>
                        <a:rPr sz="900" b="0">
                          <a:solidFill>
                            <a:srgbClr val="000000"/>
                          </a:solidFill>
                          <a:latin typeface="Calibri"/>
                        </a:rPr>
                        <a:t>2.95</a:t>
                      </a:r>
                    </a:p>
                  </a:txBody>
                  <a:tcPr/>
                </a:tc>
                <a:tc>
                  <a:txBody>
                    <a:bodyPr lIns="54864" rIns="54864" tIns="18288" bIns="18288" wrap="square" anchor="ctr"/>
                    <a:lstStyle/>
                    <a:p>
                      <a:pPr algn="l"/>
                      <a:r>
                        <a:rPr sz="900" b="0">
                          <a:solidFill>
                            <a:srgbClr val="000000"/>
                          </a:solidFill>
                          <a:latin typeface="Calibri"/>
                        </a:rPr>
                        <a:t>5.25</a:t>
                      </a:r>
                    </a:p>
                  </a:txBody>
                  <a:tcPr/>
                </a:tc>
              </a:tr>
            </a:tbl>
          </a:graphicData>
        </a:graphic>
      </p:graphicFrame>
      <p:sp>
        <p:nvSpPr>
          <p:cNvPr id="8" name="TextBox 7"/>
          <p:cNvSpPr txBox="1"/>
          <p:nvPr/>
        </p:nvSpPr>
        <p:spPr>
          <a:xfrm>
            <a:off x="6309360" y="498348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this before the comparison</a:t>
            </a:r>
          </a:p>
        </p:txBody>
      </p:sp>
      <p:sp>
        <p:nvSpPr>
          <p:cNvPr id="9" name="TextBox 8"/>
          <p:cNvSpPr txBox="1"/>
          <p:nvPr/>
        </p:nvSpPr>
        <p:spPr>
          <a:xfrm>
            <a:off x="6309360" y="5321808"/>
            <a:ext cx="5532120" cy="914400"/>
          </a:xfrm>
          <a:prstGeom prst="rect">
            <a:avLst/>
          </a:prstGeom>
          <a:noFill/>
        </p:spPr>
        <p:txBody>
          <a:bodyPr wrap="square" lIns="45720" rIns="45720" tIns="18288" bIns="18288" anchor="t">
            <a:spAutoFit/>
          </a:bodyPr>
          <a:lstStyle/>
          <a:p>
            <a:pPr algn="l"/>
            <a:r>
              <a:rPr sz="940" b="0" i="0">
                <a:solidFill>
                  <a:srgbClr val="000000"/>
                </a:solidFill>
                <a:latin typeface="Calibri"/>
              </a:rPr>
              <a:t>The two agree on UTS to 2.6 % but differ by up to 20 % in measured strain at low stress, closing to a few % by 40 MPa. That shape — large early, converging late — is GRIP SEATING in the toe region, not the material and not the markers.
It is also the yardstick for the next slide: this is what two specimens of the SAME spacing do.</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Curves end at fracture. Stress includes the recovered preload anchor (310 and 318 N).</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287</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45 mm vs 80 mm — THE CURVES DO NOT SEPARATE BY GAUGE</a:t>
            </a:r>
          </a:p>
        </p:txBody>
      </p:sp>
      <p:pic>
        <p:nvPicPr>
          <p:cNvPr id="5" name="Picture 4" descr="gauge_compare.png"/>
          <p:cNvPicPr>
            <a:picLocks noChangeAspect="1"/>
          </p:cNvPicPr>
          <p:nvPr/>
        </p:nvPicPr>
        <p:blipFill>
          <a:blip r:embed="rId2"/>
          <a:stretch>
            <a:fillRect/>
          </a:stretch>
        </p:blipFill>
        <p:spPr>
          <a:xfrm>
            <a:off x="587980" y="1170432"/>
            <a:ext cx="10985559" cy="3749040"/>
          </a:xfrm>
          <a:prstGeom prst="rect">
            <a:avLst/>
          </a:prstGeom>
        </p:spPr>
      </p:pic>
      <p:sp>
        <p:nvSpPr>
          <p:cNvPr id="6" name="TextBox 5"/>
          <p:cNvSpPr txBox="1"/>
          <p:nvPr/>
        </p:nvSpPr>
        <p:spPr>
          <a:xfrm>
            <a:off x="457200" y="5074920"/>
            <a:ext cx="11338560" cy="1143000"/>
          </a:xfrm>
          <a:prstGeom prst="rect">
            <a:avLst/>
          </a:prstGeom>
          <a:noFill/>
        </p:spPr>
        <p:txBody>
          <a:bodyPr wrap="square" lIns="45720" rIns="45720" tIns="18288" bIns="18288" anchor="t">
            <a:spAutoFit/>
          </a:bodyPr>
          <a:lstStyle/>
          <a:p>
            <a:pPr algn="l"/>
            <a:r>
              <a:rPr sz="980" b="0" i="0">
                <a:solidFill>
                  <a:srgbClr val="000000"/>
                </a:solidFill>
                <a:latin typeface="Calibri"/>
              </a:rPr>
              <a:t>LEFT: all four runs on one axis, coloured by spacing. They interleave — the 45 mm runs do not sit above or below the 80 mm runs.
RIGHT: the difference in measured strain at matched stress, one line per pairing. S33 against S25 holds within ±1.3 % from 10 to 40 MPa despite a pixel baseline 44 % shorter. The other pairing, S34 against S26, starts at −30 % and closes to −1 % by 40 MPa — the same toe-region signature seen WITHIN the 45 mm pair on the previous slide.</a:t>
            </a:r>
          </a:p>
        </p:txBody>
      </p:sp>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Matched STRESS, not matched strain: force is what the machine applies, strain is what the DIC measures, and the measurement is what is under test.</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288</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TEST THAT SETTLES IT — SCATTER WITHIN vs BETWEEN GAUGES</a:t>
            </a:r>
          </a:p>
        </p:txBody>
      </p:sp>
      <p:pic>
        <p:nvPicPr>
          <p:cNvPr id="5" name="Picture 4" descr="gauge_scatter.png"/>
          <p:cNvPicPr>
            <a:picLocks noChangeAspect="1"/>
          </p:cNvPicPr>
          <p:nvPr/>
        </p:nvPicPr>
        <p:blipFill>
          <a:blip r:embed="rId2"/>
          <a:stretch>
            <a:fillRect/>
          </a:stretch>
        </p:blipFill>
        <p:spPr>
          <a:xfrm>
            <a:off x="365760" y="1234440"/>
            <a:ext cx="7680960" cy="3175782"/>
          </a:xfrm>
          <a:prstGeom prst="rect">
            <a:avLst/>
          </a:prstGeom>
        </p:spPr>
      </p:pic>
      <p:sp>
        <p:nvSpPr>
          <p:cNvPr id="6" name="TextBox 5"/>
          <p:cNvSpPr txBox="1"/>
          <p:nvPr/>
        </p:nvSpPr>
        <p:spPr>
          <a:xfrm>
            <a:off x="8183879" y="1234440"/>
            <a:ext cx="36576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argument</a:t>
            </a:r>
          </a:p>
        </p:txBody>
      </p:sp>
      <p:sp>
        <p:nvSpPr>
          <p:cNvPr id="7" name="TextBox 6"/>
          <p:cNvSpPr txBox="1"/>
          <p:nvPr/>
        </p:nvSpPr>
        <p:spPr>
          <a:xfrm>
            <a:off x="8183879" y="1600200"/>
            <a:ext cx="3657600" cy="3566160"/>
          </a:xfrm>
          <a:prstGeom prst="rect">
            <a:avLst/>
          </a:prstGeom>
          <a:noFill/>
        </p:spPr>
        <p:txBody>
          <a:bodyPr wrap="square" lIns="45720" rIns="45720" tIns="18288" bIns="18288" anchor="t">
            <a:spAutoFit/>
          </a:bodyPr>
          <a:lstStyle/>
          <a:p>
            <a:pPr algn="l"/>
            <a:r>
              <a:rPr sz="960" b="0" i="0">
                <a:solidFill>
                  <a:srgbClr val="000000"/>
                </a:solidFill>
                <a:latin typeface="Calibri"/>
              </a:rPr>
              <a:t>A gauge-length effect would show up as a green bar taller than the red and blue ones — a difference between the two spacings that exceeds what two specimens of the SAME spacing do.
It does not. At NO stress level is the green bar the tallest of the three, and by 40 MPa it is 0.3 % against 10.1 % and 7.9 % of within-pair scatter. It does exceed the BLUE bar at 15 and 20 MPa — but that is the toe region, where the 80 mm pair happens to agree closely with itself while the 45 mm pair does not.
So the honest conclusion is a NEGATIVE result, and a useful one: moving the markers from 80 mm to 45 mm does not measurably change the strain the DIC reports.</a:t>
            </a:r>
          </a:p>
        </p:txBody>
      </p:sp>
      <p:sp>
        <p:nvSpPr>
          <p:cNvPr id="8" name="Rectangle 7"/>
          <p:cNvSpPr/>
          <p:nvPr/>
        </p:nvSpPr>
        <p:spPr>
          <a:xfrm>
            <a:off x="365760" y="5349240"/>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THE DIFFERENCE BETWEEN GAUGES IS SMALLER THAN THE DIFFERENCE BETWEEN TWO SPECIMENS OF THE SAME GAUGE. THERE IS NO SPACING EFFECT TO FIND AT n=2.</a:t>
            </a:r>
          </a:p>
        </p:txBody>
      </p:sp>
      <p:sp>
        <p:nvSpPr>
          <p:cNvPr id="9" name="TextBox 8"/>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Bars are |difference| in measured strain at matched stress, per specimen pair.</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289</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THE MARKER-SPACING TEST VALIDATES — AND WHAT IT CANNOT</a:t>
            </a:r>
          </a:p>
        </p:txBody>
      </p:sp>
      <p:graphicFrame>
        <p:nvGraphicFramePr>
          <p:cNvPr id="5" name="Table 4"/>
          <p:cNvGraphicFramePr>
            <a:graphicFrameLocks noGrp="1"/>
          </p:cNvGraphicFramePr>
          <p:nvPr/>
        </p:nvGraphicFramePr>
        <p:xfrm>
          <a:off x="457200" y="1280160"/>
          <a:ext cx="11338560" cy="1417320"/>
        </p:xfrm>
        <a:graphic>
          <a:graphicData uri="http://schemas.openxmlformats.org/drawingml/2006/table">
            <a:tbl>
              <a:tblPr firstRow="1" bandRow="1">
                <a:tableStyleId>{5C22544A-7EE6-4342-B048-85BDC9FD1C3A}</a:tableStyleId>
              </a:tblPr>
              <a:tblGrid>
                <a:gridCol w="2125980"/>
                <a:gridCol w="2267712"/>
                <a:gridCol w="2267712"/>
                <a:gridCol w="1559052"/>
                <a:gridCol w="3118104"/>
              </a:tblGrid>
              <a:tr h="283464">
                <a:tc>
                  <a:txBody>
                    <a:bodyPr lIns="54864" rIns="54864" tIns="18288" bIns="18288" wrap="square" anchor="ctr"/>
                    <a:lstStyle/>
                    <a:p>
                      <a:pPr algn="l"/>
                      <a:r>
                        <a:rPr sz="980" b="1">
                          <a:solidFill>
                            <a:srgbClr val="FFFFFF"/>
                          </a:solidFill>
                          <a:latin typeface="Calibri"/>
                        </a:rPr>
                        <a:t>Property</a:t>
                      </a:r>
                    </a:p>
                  </a:txBody>
                  <a:tcPr>
                    <a:solidFill>
                      <a:srgbClr val="143D2F"/>
                    </a:solidFill>
                  </a:tcPr>
                </a:tc>
                <a:tc>
                  <a:txBody>
                    <a:bodyPr lIns="54864" rIns="54864" tIns="18288" bIns="18288" wrap="square" anchor="ctr"/>
                    <a:lstStyle/>
                    <a:p>
                      <a:pPr algn="l"/>
                      <a:r>
                        <a:rPr sz="980" b="1">
                          <a:solidFill>
                            <a:srgbClr val="FFFFFF"/>
                          </a:solidFill>
                          <a:latin typeface="Calibri"/>
                        </a:rPr>
                        <a:t>45 mm  (S33, S34)</a:t>
                      </a:r>
                    </a:p>
                  </a:txBody>
                  <a:tcPr>
                    <a:solidFill>
                      <a:srgbClr val="143D2F"/>
                    </a:solidFill>
                  </a:tcPr>
                </a:tc>
                <a:tc>
                  <a:txBody>
                    <a:bodyPr lIns="54864" rIns="54864" tIns="18288" bIns="18288" wrap="square" anchor="ctr"/>
                    <a:lstStyle/>
                    <a:p>
                      <a:pPr algn="l"/>
                      <a:r>
                        <a:rPr sz="980" b="1">
                          <a:solidFill>
                            <a:srgbClr val="FFFFFF"/>
                          </a:solidFill>
                          <a:latin typeface="Calibri"/>
                        </a:rPr>
                        <a:t>80 mm  (S25, S26)</a:t>
                      </a:r>
                    </a:p>
                  </a:txBody>
                  <a:tcPr>
                    <a:solidFill>
                      <a:srgbClr val="143D2F"/>
                    </a:solidFill>
                  </a:tcPr>
                </a:tc>
                <a:tc>
                  <a:txBody>
                    <a:bodyPr lIns="54864" rIns="54864" tIns="18288" bIns="18288" wrap="square" anchor="ctr"/>
                    <a:lstStyle/>
                    <a:p>
                      <a:pPr algn="l"/>
                      <a:r>
                        <a:rPr sz="980" b="1">
                          <a:solidFill>
                            <a:srgbClr val="FFFFFF"/>
                          </a:solidFill>
                          <a:latin typeface="Calibri"/>
                        </a:rPr>
                        <a:t>difference</a:t>
                      </a:r>
                    </a:p>
                  </a:txBody>
                  <a:tcPr>
                    <a:solidFill>
                      <a:srgbClr val="143D2F"/>
                    </a:solidFill>
                  </a:tcPr>
                </a:tc>
                <a:tc>
                  <a:txBody>
                    <a:bodyPr lIns="54864" rIns="54864" tIns="18288" bIns="18288" wrap="square" anchor="ctr"/>
                    <a:lstStyle/>
                    <a:p>
                      <a:pPr algn="l"/>
                      <a:r>
                        <a:rPr sz="980" b="1">
                          <a:solidFill>
                            <a:srgbClr val="FFFFFF"/>
                          </a:solidFill>
                          <a:latin typeface="Calibri"/>
                        </a:rPr>
                        <a:t>verdict</a:t>
                      </a:r>
                    </a:p>
                  </a:txBody>
                  <a:tcPr>
                    <a:solidFill>
                      <a:srgbClr val="143D2F"/>
                    </a:solidFill>
                  </a:tcPr>
                </a:tc>
              </a:tr>
              <a:tr h="283464">
                <a:tc>
                  <a:txBody>
                    <a:bodyPr lIns="54864" rIns="54864" tIns="18288" bIns="18288" wrap="square" anchor="ctr"/>
                    <a:lstStyle/>
                    <a:p>
                      <a:pPr algn="l"/>
                      <a:r>
                        <a:rPr sz="900" b="0">
                          <a:solidFill>
                            <a:srgbClr val="000000"/>
                          </a:solidFill>
                          <a:latin typeface="Calibri"/>
                        </a:rPr>
                        <a:t>Elastic modulus</a:t>
                      </a:r>
                    </a:p>
                  </a:txBody>
                  <a:tcPr/>
                </a:tc>
                <a:tc>
                  <a:txBody>
                    <a:bodyPr lIns="54864" rIns="54864" tIns="18288" bIns="18288" wrap="square" anchor="ctr"/>
                    <a:lstStyle/>
                    <a:p>
                      <a:pPr algn="l"/>
                      <a:r>
                        <a:rPr sz="900" b="0">
                          <a:solidFill>
                            <a:srgbClr val="000000"/>
                          </a:solidFill>
                          <a:latin typeface="Calibri"/>
                        </a:rPr>
                        <a:t>3.31 ± 0.14 GPa</a:t>
                      </a:r>
                    </a:p>
                  </a:txBody>
                  <a:tcPr/>
                </a:tc>
                <a:tc>
                  <a:txBody>
                    <a:bodyPr lIns="54864" rIns="54864" tIns="18288" bIns="18288" wrap="square" anchor="ctr"/>
                    <a:lstStyle/>
                    <a:p>
                      <a:pPr algn="l"/>
                      <a:r>
                        <a:rPr sz="900" b="0">
                          <a:solidFill>
                            <a:srgbClr val="000000"/>
                          </a:solidFill>
                          <a:latin typeface="Calibri"/>
                        </a:rPr>
                        <a:t>3.36 ± 0.19 GPa</a:t>
                      </a:r>
                    </a:p>
                  </a:txBody>
                  <a:tcPr/>
                </a:tc>
                <a:tc>
                  <a:txBody>
                    <a:bodyPr lIns="54864" rIns="54864" tIns="18288" bIns="18288" wrap="square" anchor="ctr"/>
                    <a:lstStyle/>
                    <a:p>
                      <a:pPr algn="l"/>
                      <a:r>
                        <a:rPr sz="900" b="0">
                          <a:solidFill>
                            <a:srgbClr val="000000"/>
                          </a:solidFill>
                          <a:latin typeface="Calibri"/>
                        </a:rPr>
                        <a:t>-1.3 %</a:t>
                      </a:r>
                    </a:p>
                  </a:txBody>
                  <a:tcPr/>
                </a:tc>
                <a:tc>
                  <a:txBody>
                    <a:bodyPr lIns="54864" rIns="54864" tIns="18288" bIns="18288" wrap="square" anchor="ctr"/>
                    <a:lstStyle/>
                    <a:p>
                      <a:pPr algn="l"/>
                      <a:r>
                        <a:rPr sz="900" b="0">
                          <a:solidFill>
                            <a:srgbClr val="000000"/>
                          </a:solidFill>
                          <a:latin typeface="Calibri"/>
                        </a:rPr>
                        <a:t>inside scatter</a:t>
                      </a:r>
                    </a:p>
                  </a:txBody>
                  <a:tcPr/>
                </a:tc>
              </a:tr>
              <a:tr h="283464">
                <a:tc>
                  <a:txBody>
                    <a:bodyPr lIns="54864" rIns="54864" tIns="18288" bIns="18288" wrap="square" anchor="ctr"/>
                    <a:lstStyle/>
                    <a:p>
                      <a:pPr algn="l"/>
                      <a:r>
                        <a:rPr sz="900" b="0">
                          <a:solidFill>
                            <a:srgbClr val="000000"/>
                          </a:solidFill>
                          <a:latin typeface="Calibri"/>
                        </a:rPr>
                        <a:t>UTS</a:t>
                      </a:r>
                    </a:p>
                  </a:txBody>
                  <a:tcPr/>
                </a:tc>
                <a:tc>
                  <a:txBody>
                    <a:bodyPr lIns="54864" rIns="54864" tIns="18288" bIns="18288" wrap="square" anchor="ctr"/>
                    <a:lstStyle/>
                    <a:p>
                      <a:pPr algn="l"/>
                      <a:r>
                        <a:rPr sz="900" b="0">
                          <a:solidFill>
                            <a:srgbClr val="000000"/>
                          </a:solidFill>
                          <a:latin typeface="Calibri"/>
                        </a:rPr>
                        <a:t>47.71 ± 0.63 MPa</a:t>
                      </a:r>
                    </a:p>
                  </a:txBody>
                  <a:tcPr/>
                </a:tc>
                <a:tc>
                  <a:txBody>
                    <a:bodyPr lIns="54864" rIns="54864" tIns="18288" bIns="18288" wrap="square" anchor="ctr"/>
                    <a:lstStyle/>
                    <a:p>
                      <a:pPr algn="l"/>
                      <a:r>
                        <a:rPr sz="900" b="0">
                          <a:solidFill>
                            <a:srgbClr val="000000"/>
                          </a:solidFill>
                          <a:latin typeface="Calibri"/>
                        </a:rPr>
                        <a:t>46.66 ± 0.50 MPa</a:t>
                      </a:r>
                    </a:p>
                  </a:txBody>
                  <a:tcPr/>
                </a:tc>
                <a:tc>
                  <a:txBody>
                    <a:bodyPr lIns="54864" rIns="54864" tIns="18288" bIns="18288" wrap="square" anchor="ctr"/>
                    <a:lstStyle/>
                    <a:p>
                      <a:pPr algn="l"/>
                      <a:r>
                        <a:rPr sz="900" b="0">
                          <a:solidFill>
                            <a:srgbClr val="000000"/>
                          </a:solidFill>
                          <a:latin typeface="Calibri"/>
                        </a:rPr>
                        <a:t>+2.3 %</a:t>
                      </a:r>
                    </a:p>
                  </a:txBody>
                  <a:tcPr/>
                </a:tc>
                <a:tc>
                  <a:txBody>
                    <a:bodyPr lIns="54864" rIns="54864" tIns="18288" bIns="18288" wrap="square" anchor="ctr"/>
                    <a:lstStyle/>
                    <a:p>
                      <a:pPr algn="l"/>
                      <a:r>
                        <a:rPr sz="900" b="0">
                          <a:solidFill>
                            <a:srgbClr val="000000"/>
                          </a:solidFill>
                          <a:latin typeface="Calibri"/>
                        </a:rPr>
                        <a:t>cannot depend on gauge — it is F/A</a:t>
                      </a:r>
                    </a:p>
                  </a:txBody>
                  <a:tcPr/>
                </a:tc>
              </a:tr>
              <a:tr h="283464">
                <a:tc>
                  <a:txBody>
                    <a:bodyPr lIns="54864" rIns="54864" tIns="18288" bIns="18288" wrap="square" anchor="ctr"/>
                    <a:lstStyle/>
                    <a:p>
                      <a:pPr algn="l"/>
                      <a:r>
                        <a:rPr sz="900" b="0">
                          <a:solidFill>
                            <a:srgbClr val="000000"/>
                          </a:solidFill>
                          <a:latin typeface="Calibri"/>
                        </a:rPr>
                        <a:t>σ_y (0.2 %)</a:t>
                      </a:r>
                    </a:p>
                  </a:txBody>
                  <a:tcPr/>
                </a:tc>
                <a:tc>
                  <a:txBody>
                    <a:bodyPr lIns="54864" rIns="54864" tIns="18288" bIns="18288" wrap="square" anchor="ctr"/>
                    <a:lstStyle/>
                    <a:p>
                      <a:pPr algn="l"/>
                      <a:r>
                        <a:rPr sz="900" b="0">
                          <a:solidFill>
                            <a:srgbClr val="000000"/>
                          </a:solidFill>
                          <a:latin typeface="Calibri"/>
                        </a:rPr>
                        <a:t>39.37 ± 0.06 MPa</a:t>
                      </a:r>
                    </a:p>
                  </a:txBody>
                  <a:tcPr/>
                </a:tc>
                <a:tc>
                  <a:txBody>
                    <a:bodyPr lIns="54864" rIns="54864" tIns="18288" bIns="18288" wrap="square" anchor="ctr"/>
                    <a:lstStyle/>
                    <a:p>
                      <a:pPr algn="l"/>
                      <a:r>
                        <a:rPr sz="900" b="0">
                          <a:solidFill>
                            <a:srgbClr val="000000"/>
                          </a:solidFill>
                          <a:latin typeface="Calibri"/>
                        </a:rPr>
                        <a:t>40.78 ± 0.96 MPa</a:t>
                      </a:r>
                    </a:p>
                  </a:txBody>
                  <a:tcPr/>
                </a:tc>
                <a:tc>
                  <a:txBody>
                    <a:bodyPr lIns="54864" rIns="54864" tIns="18288" bIns="18288" wrap="square" anchor="ctr"/>
                    <a:lstStyle/>
                    <a:p>
                      <a:pPr algn="l"/>
                      <a:r>
                        <a:rPr sz="900" b="0">
                          <a:solidFill>
                            <a:srgbClr val="000000"/>
                          </a:solidFill>
                          <a:latin typeface="Calibri"/>
                        </a:rPr>
                        <a:t>-3.5 %</a:t>
                      </a:r>
                    </a:p>
                  </a:txBody>
                  <a:tcPr/>
                </a:tc>
                <a:tc>
                  <a:txBody>
                    <a:bodyPr lIns="54864" rIns="54864" tIns="18288" bIns="18288" wrap="square" anchor="ctr"/>
                    <a:lstStyle/>
                    <a:p>
                      <a:pPr algn="l"/>
                      <a:r>
                        <a:rPr sz="900" b="0">
                          <a:solidFill>
                            <a:srgbClr val="000000"/>
                          </a:solidFill>
                          <a:latin typeface="Calibri"/>
                        </a:rPr>
                        <a:t>inside scatter</a:t>
                      </a:r>
                    </a:p>
                  </a:txBody>
                  <a:tcPr/>
                </a:tc>
              </a:tr>
              <a:tr h="283464">
                <a:tc>
                  <a:txBody>
                    <a:bodyPr lIns="54864" rIns="54864" tIns="18288" bIns="18288" wrap="square" anchor="ctr"/>
                    <a:lstStyle/>
                    <a:p>
                      <a:pPr algn="l"/>
                      <a:r>
                        <a:rPr sz="900" b="0">
                          <a:solidFill>
                            <a:srgbClr val="000000"/>
                          </a:solidFill>
                          <a:latin typeface="Calibri"/>
                        </a:rPr>
                        <a:t>ε_f</a:t>
                      </a:r>
                    </a:p>
                  </a:txBody>
                  <a:tcPr/>
                </a:tc>
                <a:tc>
                  <a:txBody>
                    <a:bodyPr lIns="54864" rIns="54864" tIns="18288" bIns="18288" wrap="square" anchor="ctr"/>
                    <a:lstStyle/>
                    <a:p>
                      <a:pPr algn="l"/>
                      <a:r>
                        <a:rPr sz="900" b="0">
                          <a:solidFill>
                            <a:srgbClr val="000000"/>
                          </a:solidFill>
                          <a:latin typeface="Calibri"/>
                        </a:rPr>
                        <a:t>4.10 ± 1.15 %</a:t>
                      </a:r>
                    </a:p>
                  </a:txBody>
                  <a:tcPr/>
                </a:tc>
                <a:tc>
                  <a:txBody>
                    <a:bodyPr lIns="54864" rIns="54864" tIns="18288" bIns="18288" wrap="square" anchor="ctr"/>
                    <a:lstStyle/>
                    <a:p>
                      <a:pPr algn="l"/>
                      <a:r>
                        <a:rPr sz="900" b="0">
                          <a:solidFill>
                            <a:srgbClr val="000000"/>
                          </a:solidFill>
                          <a:latin typeface="Calibri"/>
                        </a:rPr>
                        <a:t>4.96 ± 0.78 %</a:t>
                      </a:r>
                    </a:p>
                  </a:txBody>
                  <a:tcPr/>
                </a:tc>
                <a:tc>
                  <a:txBody>
                    <a:bodyPr lIns="54864" rIns="54864" tIns="18288" bIns="18288" wrap="square" anchor="ctr"/>
                    <a:lstStyle/>
                    <a:p>
                      <a:pPr algn="l"/>
                      <a:r>
                        <a:rPr sz="900" b="0">
                          <a:solidFill>
                            <a:srgbClr val="000000"/>
                          </a:solidFill>
                          <a:latin typeface="Calibri"/>
                        </a:rPr>
                        <a:t>-17 %</a:t>
                      </a:r>
                    </a:p>
                  </a:txBody>
                  <a:tcPr/>
                </a:tc>
                <a:tc>
                  <a:txBody>
                    <a:bodyPr lIns="54864" rIns="54864" tIns="18288" bIns="18288" wrap="square" anchor="ctr"/>
                    <a:lstStyle/>
                    <a:p>
                      <a:pPr algn="l"/>
                      <a:r>
                        <a:rPr sz="900" b="0">
                          <a:solidFill>
                            <a:srgbClr val="000000"/>
                          </a:solidFill>
                          <a:latin typeface="Calibri"/>
                        </a:rPr>
                        <a:t>UNRESOLVED — see right</a:t>
                      </a:r>
                    </a:p>
                  </a:txBody>
                  <a:tcPr/>
                </a:tc>
              </a:tr>
            </a:tbl>
          </a:graphicData>
        </a:graphic>
      </p:graphicFrame>
      <p:sp>
        <p:nvSpPr>
          <p:cNvPr id="6" name="TextBox 5"/>
          <p:cNvSpPr txBox="1"/>
          <p:nvPr/>
        </p:nvSpPr>
        <p:spPr>
          <a:xfrm>
            <a:off x="457200" y="292608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establishes</a:t>
            </a:r>
          </a:p>
        </p:txBody>
      </p:sp>
      <p:sp>
        <p:nvSpPr>
          <p:cNvPr id="7" name="TextBox 6"/>
          <p:cNvSpPr txBox="1"/>
          <p:nvPr/>
        </p:nvSpPr>
        <p:spPr>
          <a:xfrm>
            <a:off x="457200" y="3273552"/>
            <a:ext cx="5577840" cy="2743200"/>
          </a:xfrm>
          <a:prstGeom prst="rect">
            <a:avLst/>
          </a:prstGeom>
          <a:noFill/>
        </p:spPr>
        <p:txBody>
          <a:bodyPr wrap="square" lIns="45720" rIns="45720" tIns="18288" bIns="18288" anchor="t">
            <a:spAutoFit/>
          </a:bodyPr>
          <a:lstStyle/>
          <a:p>
            <a:pPr algn="l"/>
            <a:r>
              <a:rPr sz="940" b="0" i="0">
                <a:solidFill>
                  <a:srgbClr val="000000"/>
                </a:solidFill>
                <a:latin typeface="Calibri"/>
              </a:rPr>
              <a:t>•  The DIC strain is scale-free, which it must be — strain is a pixel ratio — but this is the first time the rig has been asked to prove it on two different baselines.
•  The strain field between the markers is uniform. If the 80 mm span reached into the shoulders it would read a different average strain than the 45 mm span. It does not.
•  A bound on a fixed centroid bias. Such a bias shifts strain by δ/Px₀, which differs between a 939 px and a 1675 px baseline. The agreement puts δ below 0.10 px — an upper bound, since it credits the whole discrepancy to that one cause.
•  Either spacing may be used, so a shorter gauge is available when the frame is the constraint — which is exactly the TPU problem on p278.</a:t>
            </a:r>
          </a:p>
        </p:txBody>
      </p:sp>
      <p:sp>
        <p:nvSpPr>
          <p:cNvPr id="8" name="TextBox 7"/>
          <p:cNvSpPr txBox="1"/>
          <p:nvPr/>
        </p:nvSpPr>
        <p:spPr>
          <a:xfrm>
            <a:off x="6309360" y="2926080"/>
            <a:ext cx="55321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does NOT establish</a:t>
            </a:r>
          </a:p>
        </p:txBody>
      </p:sp>
      <p:sp>
        <p:nvSpPr>
          <p:cNvPr id="9" name="TextBox 8"/>
          <p:cNvSpPr txBox="1"/>
          <p:nvPr/>
        </p:nvSpPr>
        <p:spPr>
          <a:xfrm>
            <a:off x="6309360" y="3273552"/>
            <a:ext cx="5532120" cy="2743200"/>
          </a:xfrm>
          <a:prstGeom prst="rect">
            <a:avLst/>
          </a:prstGeom>
          <a:noFill/>
        </p:spPr>
        <p:txBody>
          <a:bodyPr wrap="square" lIns="45720" rIns="45720" tIns="18288" bIns="18288" anchor="t">
            <a:spAutoFit/>
          </a:bodyPr>
          <a:lstStyle/>
          <a:p>
            <a:pPr algn="l"/>
            <a:r>
              <a:rPr sz="940" b="0" i="0">
                <a:solidFill>
                  <a:srgbClr val="000000"/>
                </a:solidFill>
                <a:latin typeface="Calibri"/>
              </a:rPr>
              <a:t>•  ε_f. This is the one property that SHOULD depend on gauge length, because fracture localises and a shorter gauge weights the necking region more heavily. But within the 45 mm pair ε_f is 2.95 % and 5.25 % — a 78 % spread from where the specimen happened to break. n=2 cannot separate a real effect from that.
•  Anything below ~15 MPa. The toe region is dominated by grip seating and varies more between specimens than between gauges.
•  Spacings outside 45–80 mm. Nothing here says a 10 mm gauge would behave; it would sit far closer to the fracture and sample a different strain field.</a:t>
            </a:r>
          </a:p>
        </p:txBody>
      </p:sp>
      <p:sp>
        <p:nvSpPr>
          <p:cNvPr id="10" name="TextBox 9"/>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290</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S37 · TPU WITH A 45 mm MARKER GAUGE — THE TEST SETUP</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One change, made for one reason: S35 and S36 both lost the travelling marker at ~15 mm of crosshead travel. A shorter marker pair needs less frame per mm of travel.</a:t>
            </a:r>
          </a:p>
        </p:txBody>
      </p:sp>
      <p:sp>
        <p:nvSpPr>
          <p:cNvPr id="6" name="TextBox 5"/>
          <p:cNvSpPr txBox="1"/>
          <p:nvPr/>
        </p:nvSpPr>
        <p:spPr>
          <a:xfrm>
            <a:off x="411480" y="153619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changed from S35 / S36 — and why</a:t>
            </a:r>
          </a:p>
        </p:txBody>
      </p:sp>
      <p:graphicFrame>
        <p:nvGraphicFramePr>
          <p:cNvPr id="7" name="Table 6"/>
          <p:cNvGraphicFramePr>
            <a:graphicFrameLocks noGrp="1"/>
          </p:cNvGraphicFramePr>
          <p:nvPr/>
        </p:nvGraphicFramePr>
        <p:xfrm>
          <a:off x="411480" y="1883664"/>
          <a:ext cx="5623560" cy="2286000"/>
        </p:xfrm>
        <a:graphic>
          <a:graphicData uri="http://schemas.openxmlformats.org/drawingml/2006/table">
            <a:tbl>
              <a:tblPr firstRow="1" bandRow="1">
                <a:tableStyleId>{5C22544A-7EE6-4342-B048-85BDC9FD1C3A}</a:tableStyleId>
              </a:tblPr>
              <a:tblGrid>
                <a:gridCol w="1051560"/>
                <a:gridCol w="868680"/>
                <a:gridCol w="731520"/>
                <a:gridCol w="2971800"/>
              </a:tblGrid>
              <a:tr h="457200">
                <a:tc>
                  <a:txBody>
                    <a:bodyPr lIns="54864" rIns="54864" tIns="18288" bIns="18288" wrap="square" anchor="ctr"/>
                    <a:lstStyle/>
                    <a:p>
                      <a:pPr algn="l"/>
                      <a:r>
                        <a:rPr sz="950" b="1">
                          <a:solidFill>
                            <a:srgbClr val="FFFFFF"/>
                          </a:solidFill>
                          <a:latin typeface="Calibri"/>
                        </a:rPr>
                        <a:t>Setting</a:t>
                      </a:r>
                    </a:p>
                  </a:txBody>
                  <a:tcPr>
                    <a:solidFill>
                      <a:srgbClr val="143D2F"/>
                    </a:solidFill>
                  </a:tcPr>
                </a:tc>
                <a:tc>
                  <a:txBody>
                    <a:bodyPr lIns="54864" rIns="54864" tIns="18288" bIns="18288" wrap="square" anchor="ctr"/>
                    <a:lstStyle/>
                    <a:p>
                      <a:pPr algn="l"/>
                      <a:r>
                        <a:rPr sz="950" b="1">
                          <a:solidFill>
                            <a:srgbClr val="FFFFFF"/>
                          </a:solidFill>
                          <a:latin typeface="Calibri"/>
                        </a:rPr>
                        <a:t>S35 · S36</a:t>
                      </a:r>
                    </a:p>
                  </a:txBody>
                  <a:tcPr>
                    <a:solidFill>
                      <a:srgbClr val="143D2F"/>
                    </a:solidFill>
                  </a:tcPr>
                </a:tc>
                <a:tc>
                  <a:txBody>
                    <a:bodyPr lIns="54864" rIns="54864" tIns="18288" bIns="18288" wrap="square" anchor="ctr"/>
                    <a:lstStyle/>
                    <a:p>
                      <a:pPr algn="l"/>
                      <a:r>
                        <a:rPr sz="950" b="1">
                          <a:solidFill>
                            <a:srgbClr val="FFFFFF"/>
                          </a:solidFill>
                          <a:latin typeface="Calibri"/>
                        </a:rPr>
                        <a:t>S37</a:t>
                      </a:r>
                    </a:p>
                  </a:txBody>
                  <a:tcPr>
                    <a:solidFill>
                      <a:srgbClr val="143D2F"/>
                    </a:solidFill>
                  </a:tcPr>
                </a:tc>
                <a:tc>
                  <a:txBody>
                    <a:bodyPr lIns="54864" rIns="54864" tIns="18288" bIns="18288" wrap="square" anchor="ctr"/>
                    <a:lstStyle/>
                    <a:p>
                      <a:pPr algn="l"/>
                      <a:r>
                        <a:rPr sz="950" b="1">
                          <a:solidFill>
                            <a:srgbClr val="FFFFFF"/>
                          </a:solidFill>
                          <a:latin typeface="Calibri"/>
                        </a:rPr>
                        <a:t>Reason</a:t>
                      </a:r>
                    </a:p>
                  </a:txBody>
                  <a:tcPr>
                    <a:solidFill>
                      <a:srgbClr val="143D2F"/>
                    </a:solidFill>
                  </a:tcPr>
                </a:tc>
              </a:tr>
              <a:tr h="457200">
                <a:tc>
                  <a:txBody>
                    <a:bodyPr lIns="54864" rIns="54864" tIns="18288" bIns="18288" wrap="square" anchor="ctr"/>
                    <a:lstStyle/>
                    <a:p>
                      <a:pPr algn="l"/>
                      <a:r>
                        <a:rPr sz="850" b="0">
                          <a:solidFill>
                            <a:srgbClr val="000000"/>
                          </a:solidFill>
                          <a:latin typeface="Calibri"/>
                        </a:rPr>
                        <a:t>Marker gauge</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45 mm</a:t>
                      </a:r>
                    </a:p>
                  </a:txBody>
                  <a:tcPr/>
                </a:tc>
                <a:tc>
                  <a:txBody>
                    <a:bodyPr lIns="54864" rIns="54864" tIns="18288" bIns="18288" wrap="square" anchor="ctr"/>
                    <a:lstStyle/>
                    <a:p>
                      <a:pPr algn="l"/>
                      <a:r>
                        <a:rPr sz="850" b="0">
                          <a:solidFill>
                            <a:srgbClr val="000000"/>
                          </a:solidFill>
                          <a:latin typeface="Calibri"/>
                        </a:rPr>
                        <a:t>the binding constraint — a shorter pair travels fewer pixels per mm, so it stays in frame further</a:t>
                      </a:r>
                    </a:p>
                  </a:txBody>
                  <a:tcPr/>
                </a:tc>
              </a:tr>
              <a:tr h="457200">
                <a:tc>
                  <a:txBody>
                    <a:bodyPr lIns="54864" rIns="54864" tIns="18288" bIns="18288" wrap="square" anchor="ctr"/>
                    <a:lstStyle/>
                    <a:p>
                      <a:pPr algn="l"/>
                      <a:r>
                        <a:rPr sz="850" b="0">
                          <a:solidFill>
                            <a:srgbClr val="000000"/>
                          </a:solidFill>
                          <a:latin typeface="Calibri"/>
                        </a:rPr>
                        <a:t>Specimen mode</a:t>
                      </a:r>
                    </a:p>
                  </a:txBody>
                  <a:tcPr/>
                </a:tc>
                <a:tc>
                  <a:txBody>
                    <a:bodyPr lIns="54864" rIns="54864" tIns="18288" bIns="18288" wrap="square" anchor="ctr"/>
                    <a:lstStyle/>
                    <a:p>
                      <a:pPr algn="l"/>
                      <a:r>
                        <a:rPr sz="850" b="0">
                          <a:solidFill>
                            <a:srgbClr val="000000"/>
                          </a:solidFill>
                          <a:latin typeface="Calibri"/>
                        </a:rPr>
                        <a:t>White</a:t>
                      </a:r>
                    </a:p>
                  </a:txBody>
                  <a:tcPr/>
                </a:tc>
                <a:tc>
                  <a:txBody>
                    <a:bodyPr lIns="54864" rIns="54864" tIns="18288" bIns="18288" wrap="square" anchor="ctr"/>
                    <a:lstStyle/>
                    <a:p>
                      <a:pPr algn="l"/>
                      <a:r>
                        <a:rPr sz="850" b="0">
                          <a:solidFill>
                            <a:srgbClr val="000000"/>
                          </a:solidFill>
                          <a:latin typeface="Calibri"/>
                        </a:rPr>
                        <a:t>Black</a:t>
                      </a:r>
                    </a:p>
                  </a:txBody>
                  <a:tcPr/>
                </a:tc>
                <a:tc>
                  <a:txBody>
                    <a:bodyPr lIns="54864" rIns="54864" tIns="18288" bIns="18288" wrap="square" anchor="ctr"/>
                    <a:lstStyle/>
                    <a:p>
                      <a:pPr algn="l"/>
                      <a:r>
                        <a:rPr sz="850" b="0">
                          <a:solidFill>
                            <a:srgbClr val="000000"/>
                          </a:solidFill>
                          <a:latin typeface="Calibri"/>
                        </a:rPr>
                        <a:t>this specimen is BRIGHT dots on dark speckle: THRESH_BINARY, the opposite polarity to the earlier TPU</a:t>
                      </a:r>
                    </a:p>
                  </a:txBody>
                  <a:tcPr/>
                </a:tc>
              </a:tr>
              <a:tr h="457200">
                <a:tc>
                  <a:txBody>
                    <a:bodyPr lIns="54864" rIns="54864" tIns="18288" bIns="18288" wrap="square" anchor="ctr"/>
                    <a:lstStyle/>
                    <a:p>
                      <a:pPr algn="l"/>
                      <a:r>
                        <a:rPr sz="850" b="0">
                          <a:solidFill>
                            <a:srgbClr val="000000"/>
                          </a:solidFill>
                          <a:latin typeface="Calibri"/>
                        </a:rPr>
                        <a:t>Roundness gate</a:t>
                      </a:r>
                    </a:p>
                  </a:txBody>
                  <a:tcPr/>
                </a:tc>
                <a:tc>
                  <a:txBody>
                    <a:bodyPr lIns="54864" rIns="54864" tIns="18288" bIns="18288" wrap="square" anchor="ctr"/>
                    <a:lstStyle/>
                    <a:p>
                      <a:pPr algn="l"/>
                      <a:r>
                        <a:rPr sz="850" b="0">
                          <a:solidFill>
                            <a:srgbClr val="000000"/>
                          </a:solidFill>
                          <a:latin typeface="Calibri"/>
                        </a:rPr>
                        <a:t>0.25</a:t>
                      </a:r>
                    </a:p>
                  </a:txBody>
                  <a:tcPr/>
                </a:tc>
                <a:tc>
                  <a:txBody>
                    <a:bodyPr lIns="54864" rIns="54864" tIns="18288" bIns="18288" wrap="square" anchor="ctr"/>
                    <a:lstStyle/>
                    <a:p>
                      <a:pPr algn="l"/>
                      <a:r>
                        <a:rPr sz="850" b="0">
                          <a:solidFill>
                            <a:srgbClr val="000000"/>
                          </a:solidFill>
                          <a:latin typeface="Calibri"/>
                        </a:rPr>
                        <a:t>0.16</a:t>
                      </a:r>
                    </a:p>
                  </a:txBody>
                  <a:tcPr/>
                </a:tc>
                <a:tc>
                  <a:txBody>
                    <a:bodyPr lIns="54864" rIns="54864" tIns="18288" bIns="18288" wrap="square" anchor="ctr"/>
                    <a:lstStyle/>
                    <a:p>
                      <a:pPr algn="l"/>
                      <a:r>
                        <a:rPr sz="850" b="0">
                          <a:solidFill>
                            <a:srgbClr val="000000"/>
                          </a:solidFill>
                          <a:latin typeface="Calibri"/>
                        </a:rPr>
                        <a:t>these sprayed dots score 0.18–0.24 where the earlier TPU dots scored 0.50–0.65. A one-off, not a new default</a:t>
                      </a:r>
                    </a:p>
                  </a:txBody>
                  <a:tcPr/>
                </a:tc>
              </a:tr>
              <a:tr h="457200">
                <a:tc>
                  <a:txBody>
                    <a:bodyPr lIns="54864" rIns="54864" tIns="18288" bIns="18288" wrap="square" anchor="ctr"/>
                    <a:lstStyle/>
                    <a:p>
                      <a:pPr algn="l"/>
                      <a:r>
                        <a:rPr sz="850" b="0">
                          <a:solidFill>
                            <a:srgbClr val="000000"/>
                          </a:solidFill>
                          <a:latin typeface="Calibri"/>
                        </a:rPr>
                        <a:t>Cross-section</a:t>
                      </a:r>
                    </a:p>
                  </a:txBody>
                  <a:tcPr/>
                </a:tc>
                <a:tc>
                  <a:txBody>
                    <a:bodyPr lIns="54864" rIns="54864" tIns="18288" bIns="18288" wrap="square" anchor="ctr"/>
                    <a:lstStyle/>
                    <a:p>
                      <a:pPr algn="l"/>
                      <a:r>
                        <a:rPr sz="850" b="0">
                          <a:solidFill>
                            <a:srgbClr val="000000"/>
                          </a:solidFill>
                          <a:latin typeface="Calibri"/>
                        </a:rPr>
                        <a:t>80 mm²</a:t>
                      </a:r>
                    </a:p>
                  </a:txBody>
                  <a:tcPr/>
                </a:tc>
                <a:tc>
                  <a:txBody>
                    <a:bodyPr lIns="54864" rIns="54864" tIns="18288" bIns="18288" wrap="square" anchor="ctr"/>
                    <a:lstStyle/>
                    <a:p>
                      <a:pPr algn="l"/>
                      <a:r>
                        <a:rPr sz="850" b="0">
                          <a:solidFill>
                            <a:srgbClr val="000000"/>
                          </a:solidFill>
                          <a:latin typeface="Calibri"/>
                        </a:rPr>
                        <a:t>80 mm²</a:t>
                      </a:r>
                    </a:p>
                  </a:txBody>
                  <a:tcPr/>
                </a:tc>
                <a:tc>
                  <a:txBody>
                    <a:bodyPr lIns="54864" rIns="54864" tIns="18288" bIns="18288" wrap="square" anchor="ctr"/>
                    <a:lstStyle/>
                    <a:p>
                      <a:pPr algn="l"/>
                      <a:r>
                        <a:rPr sz="850" b="0">
                          <a:solidFill>
                            <a:srgbClr val="000000"/>
                          </a:solidFill>
                          <a:latin typeface="Calibri"/>
                        </a:rPr>
                        <a:t>unchanged — only the marker SPACING differs, so the stress axis stays directly comparable</a:t>
                      </a:r>
                    </a:p>
                  </a:txBody>
                  <a:tcPr/>
                </a:tc>
              </a:tr>
            </a:tbl>
          </a:graphicData>
        </a:graphic>
      </p:graphicFrame>
      <p:sp>
        <p:nvSpPr>
          <p:cNvPr id="8" name="TextBox 7"/>
          <p:cNvSpPr txBox="1"/>
          <p:nvPr/>
        </p:nvSpPr>
        <p:spPr>
          <a:xfrm>
            <a:off x="6263640" y="153619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Held identical, so the comparison stays valid</a:t>
            </a:r>
          </a:p>
        </p:txBody>
      </p:sp>
      <p:graphicFrame>
        <p:nvGraphicFramePr>
          <p:cNvPr id="9" name="Table 8"/>
          <p:cNvGraphicFramePr>
            <a:graphicFrameLocks noGrp="1"/>
          </p:cNvGraphicFramePr>
          <p:nvPr/>
        </p:nvGraphicFramePr>
        <p:xfrm>
          <a:off x="6263640" y="1883664"/>
          <a:ext cx="5577840" cy="1325880"/>
        </p:xfrm>
        <a:graphic>
          <a:graphicData uri="http://schemas.openxmlformats.org/drawingml/2006/table">
            <a:tbl>
              <a:tblPr firstRow="1" bandRow="1">
                <a:tableStyleId>{5C22544A-7EE6-4342-B048-85BDC9FD1C3A}</a:tableStyleId>
              </a:tblPr>
              <a:tblGrid>
                <a:gridCol w="2231136"/>
                <a:gridCol w="3346704"/>
              </a:tblGrid>
              <a:tr h="265176">
                <a:tc>
                  <a:txBody>
                    <a:bodyPr lIns="54864" rIns="54864" tIns="18288" bIns="18288" wrap="square" anchor="ctr"/>
                    <a:lstStyle/>
                    <a:p>
                      <a:pPr algn="l"/>
                      <a:r>
                        <a:rPr sz="950" b="1">
                          <a:solidFill>
                            <a:srgbClr val="FFFFFF"/>
                          </a:solidFill>
                          <a:latin typeface="Calibri"/>
                        </a:rPr>
                        <a:t>Held constant</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r>
              <a:tr h="265176">
                <a:tc>
                  <a:txBody>
                    <a:bodyPr lIns="54864" rIns="54864" tIns="18288" bIns="18288" wrap="square" anchor="ctr"/>
                    <a:lstStyle/>
                    <a:p>
                      <a:pPr algn="l"/>
                      <a:r>
                        <a:rPr sz="900" b="0">
                          <a:solidFill>
                            <a:srgbClr val="000000"/>
                          </a:solidFill>
                          <a:latin typeface="Calibri"/>
                        </a:rPr>
                        <a:t>Crosshead rate</a:t>
                      </a:r>
                    </a:p>
                  </a:txBody>
                  <a:tcPr/>
                </a:tc>
                <a:tc>
                  <a:txBody>
                    <a:bodyPr lIns="54864" rIns="54864" tIns="18288" bIns="18288" wrap="square" anchor="ctr"/>
                    <a:lstStyle/>
                    <a:p>
                      <a:pPr algn="l"/>
                      <a:r>
                        <a:rPr sz="900" b="0">
                          <a:solidFill>
                            <a:srgbClr val="000000"/>
                          </a:solidFill>
                          <a:latin typeface="Calibri"/>
                        </a:rPr>
                        <a:t>0.1 mm/s</a:t>
                      </a:r>
                    </a:p>
                  </a:txBody>
                  <a:tcPr/>
                </a:tc>
              </a:tr>
              <a:tr h="265176">
                <a:tc>
                  <a:txBody>
                    <a:bodyPr lIns="54864" rIns="54864" tIns="18288" bIns="18288" wrap="square" anchor="ctr"/>
                    <a:lstStyle/>
                    <a:p>
                      <a:pPr algn="l"/>
                      <a:r>
                        <a:rPr sz="900" b="0">
                          <a:solidFill>
                            <a:srgbClr val="000000"/>
                          </a:solidFill>
                          <a:latin typeface="Calibri"/>
                        </a:rPr>
                        <a:t>Preload</a:t>
                      </a:r>
                    </a:p>
                  </a:txBody>
                  <a:tcPr/>
                </a:tc>
                <a:tc>
                  <a:txBody>
                    <a:bodyPr lIns="54864" rIns="54864" tIns="18288" bIns="18288" wrap="square" anchor="ctr"/>
                    <a:lstStyle/>
                    <a:p>
                      <a:pPr algn="l"/>
                      <a:r>
                        <a:rPr sz="900" b="0">
                          <a:solidFill>
                            <a:srgbClr val="000000"/>
                          </a:solidFill>
                          <a:latin typeface="Calibri"/>
                        </a:rPr>
                        <a:t>20 N  (Px₀ frozen at 19 N)</a:t>
                      </a:r>
                    </a:p>
                  </a:txBody>
                  <a:tcPr/>
                </a:tc>
              </a:tr>
              <a:tr h="265176">
                <a:tc>
                  <a:txBody>
                    <a:bodyPr lIns="54864" rIns="54864" tIns="18288" bIns="18288" wrap="square" anchor="ctr"/>
                    <a:lstStyle/>
                    <a:p>
                      <a:pPr algn="l"/>
                      <a:r>
                        <a:rPr sz="900" b="0">
                          <a:solidFill>
                            <a:srgbClr val="000000"/>
                          </a:solidFill>
                          <a:latin typeface="Calibri"/>
                        </a:rPr>
                        <a:t>Auto-stop at fracture</a:t>
                      </a:r>
                    </a:p>
                  </a:txBody>
                  <a:tcPr/>
                </a:tc>
                <a:tc>
                  <a:txBody>
                    <a:bodyPr lIns="54864" rIns="54864" tIns="18288" bIns="18288" wrap="square" anchor="ctr"/>
                    <a:lstStyle/>
                    <a:p>
                      <a:pPr algn="l"/>
                      <a:r>
                        <a:rPr sz="900" b="0">
                          <a:solidFill>
                            <a:srgbClr val="000000"/>
                          </a:solidFill>
                          <a:latin typeface="Calibri"/>
                        </a:rPr>
                        <a:t>OFF — TPU does not break</a:t>
                      </a:r>
                    </a:p>
                  </a:txBody>
                  <a:tcPr/>
                </a:tc>
              </a:tr>
              <a:tr h="265176">
                <a:tc>
                  <a:txBody>
                    <a:bodyPr lIns="54864" rIns="54864" tIns="18288" bIns="18288" wrap="square" anchor="ctr"/>
                    <a:lstStyle/>
                    <a:p>
                      <a:pPr algn="l"/>
                      <a:r>
                        <a:rPr sz="900" b="0">
                          <a:solidFill>
                            <a:srgbClr val="000000"/>
                          </a:solidFill>
                          <a:latin typeface="Calibri"/>
                        </a:rPr>
                        <a:t>Strain cap</a:t>
                      </a:r>
                    </a:p>
                  </a:txBody>
                  <a:tcPr/>
                </a:tc>
                <a:tc>
                  <a:txBody>
                    <a:bodyPr lIns="54864" rIns="54864" tIns="18288" bIns="18288" wrap="square" anchor="ctr"/>
                    <a:lstStyle/>
                    <a:p>
                      <a:pPr algn="l"/>
                      <a:r>
                        <a:rPr sz="900" b="0">
                          <a:solidFill>
                            <a:srgbClr val="000000"/>
                          </a:solidFill>
                          <a:latin typeface="Calibri"/>
                        </a:rPr>
                        <a:t>60 %</a:t>
                      </a:r>
                    </a:p>
                  </a:txBody>
                  <a:tcPr/>
                </a:tc>
              </a:tr>
            </a:tbl>
          </a:graphicData>
        </a:graphic>
      </p:graphicFrame>
      <p:sp>
        <p:nvSpPr>
          <p:cNvPr id="10" name="TextBox 9"/>
          <p:cNvSpPr txBox="1"/>
          <p:nvPr/>
        </p:nvSpPr>
        <p:spPr>
          <a:xfrm>
            <a:off x="6263640" y="3310128"/>
            <a:ext cx="5577840" cy="1554480"/>
          </a:xfrm>
          <a:prstGeom prst="rect">
            <a:avLst/>
          </a:prstGeom>
          <a:noFill/>
        </p:spPr>
        <p:txBody>
          <a:bodyPr wrap="square" lIns="45720" rIns="45720" tIns="18288" bIns="18288" anchor="t">
            <a:spAutoFit/>
          </a:bodyPr>
          <a:lstStyle/>
          <a:p>
            <a:pPr algn="l"/>
            <a:r>
              <a:rPr sz="960" b="0" i="0">
                <a:solidFill>
                  <a:srgbClr val="000000"/>
                </a:solidFill>
                <a:latin typeface="Calibri"/>
              </a:rPr>
              <a:t>Why the gauge can change without invalidating anything: DIC strain is a PIXEL ratio, (L_px − Px₀)/Px₀. The gauge length does not appear in it at all — only px_per_mm depends on the gauge, and that scales millimetres, not strain.
So if the initial slope moves when the gauge moves, something other than the material is being measured. That is exactly what the next slide tests.</a:t>
            </a:r>
          </a:p>
        </p:txBody>
      </p:sp>
      <p:sp>
        <p:nvSpPr>
          <p:cNvPr id="11" name="Rounded Rectangle 10"/>
          <p:cNvSpPr/>
          <p:nvPr/>
        </p:nvSpPr>
        <p:spPr>
          <a:xfrm>
            <a:off x="41148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45 mm</a:t>
            </a:r>
          </a:p>
          <a:p>
            <a:pPr algn="ctr"/>
            <a:r>
              <a:rPr sz="950">
                <a:solidFill>
                  <a:srgbClr val="000000"/>
                </a:solidFill>
                <a:latin typeface="Calibri"/>
              </a:rPr>
              <a:t>Gauge</a:t>
            </a:r>
          </a:p>
        </p:txBody>
      </p:sp>
      <p:sp>
        <p:nvSpPr>
          <p:cNvPr id="12" name="Rounded Rectangle 11"/>
          <p:cNvSpPr/>
          <p:nvPr/>
        </p:nvSpPr>
        <p:spPr>
          <a:xfrm>
            <a:off x="237744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20.47</a:t>
            </a:r>
          </a:p>
          <a:p>
            <a:pPr algn="ctr"/>
            <a:r>
              <a:rPr sz="950">
                <a:solidFill>
                  <a:srgbClr val="000000"/>
                </a:solidFill>
                <a:latin typeface="Calibri"/>
              </a:rPr>
              <a:t>px per mm</a:t>
            </a:r>
          </a:p>
        </p:txBody>
      </p:sp>
      <p:sp>
        <p:nvSpPr>
          <p:cNvPr id="13" name="Rounded Rectangle 12"/>
          <p:cNvSpPr/>
          <p:nvPr/>
        </p:nvSpPr>
        <p:spPr>
          <a:xfrm>
            <a:off x="4343400" y="4983480"/>
            <a:ext cx="1828800" cy="896112"/>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0.16</a:t>
            </a:r>
          </a:p>
          <a:p>
            <a:pPr algn="ctr"/>
            <a:r>
              <a:rPr sz="950">
                <a:solidFill>
                  <a:srgbClr val="000000"/>
                </a:solidFill>
                <a:latin typeface="Calibri"/>
              </a:rPr>
              <a:t>Roundness gate</a:t>
            </a:r>
          </a:p>
        </p:txBody>
      </p:sp>
      <p:sp>
        <p:nvSpPr>
          <p:cNvPr id="14" name="Rounded Rectangle 13"/>
          <p:cNvSpPr/>
          <p:nvPr/>
        </p:nvSpPr>
        <p:spPr>
          <a:xfrm>
            <a:off x="630936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3499</a:t>
            </a:r>
          </a:p>
          <a:p>
            <a:pPr algn="ctr"/>
            <a:r>
              <a:rPr sz="950">
                <a:solidFill>
                  <a:srgbClr val="000000"/>
                </a:solidFill>
                <a:latin typeface="Calibri"/>
              </a:rPr>
              <a:t>Samples</a:t>
            </a:r>
          </a:p>
        </p:txBody>
      </p:sp>
      <p:sp>
        <p:nvSpPr>
          <p:cNvPr id="15" name="Rounded Rectangle 14"/>
          <p:cNvSpPr/>
          <p:nvPr/>
        </p:nvSpPr>
        <p:spPr>
          <a:xfrm>
            <a:off x="8275320" y="4983480"/>
            <a:ext cx="182880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309 s</a:t>
            </a:r>
          </a:p>
          <a:p>
            <a:pPr algn="ctr"/>
            <a:r>
              <a:rPr sz="950">
                <a:solidFill>
                  <a:srgbClr val="000000"/>
                </a:solidFill>
                <a:latin typeface="Calibri"/>
              </a:rPr>
              <a:t>Duration</a:t>
            </a:r>
          </a:p>
        </p:txBody>
      </p:sp>
      <p:sp>
        <p:nvSpPr>
          <p:cNvPr id="16" name="Rectangle 15"/>
          <p:cNvSpPr/>
          <p:nvPr/>
        </p:nvSpPr>
        <p:spPr>
          <a:xfrm>
            <a:off x="365760" y="5897880"/>
            <a:ext cx="1147572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THE 0.16 ROUNDNESS GATE IS A ONE-OFF FOR THIS SPECIMEN, RECORDED IN THE CSV HEADER. THE STANDING DEFAULT IS 0.40 — THE PROPER FIX IS BETTER MARKER PREPARATION, NOT A LOOSER GATE.</a:t>
            </a:r>
          </a:p>
        </p:txBody>
      </p:sp>
      <p:sp>
        <p:nvSpPr>
          <p:cNvPr id="17" name="TextBox 1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Specimen S37, TPU 95A, 100 % infill, 80 mm² section. UTM_Test_20260826_123524.csv</a:t>
            </a:r>
          </a:p>
        </p:txBody>
      </p:sp>
      <p:sp>
        <p:nvSpPr>
          <p:cNvPr id="18" name="TextBox 1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291</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S37 · WHAT THE 45 mm GAUGE BOUGHT — THE RESULT</a:t>
            </a:r>
          </a:p>
        </p:txBody>
      </p:sp>
      <p:sp>
        <p:nvSpPr>
          <p:cNvPr id="5" name="TextBox 4"/>
          <p:cNvSpPr txBox="1"/>
          <p:nvPr/>
        </p:nvSpPr>
        <p:spPr>
          <a:xfrm>
            <a:off x="365760" y="1033271"/>
            <a:ext cx="11475720" cy="420624"/>
          </a:xfrm>
          <a:prstGeom prst="rect">
            <a:avLst/>
          </a:prstGeom>
          <a:noFill/>
        </p:spPr>
        <p:txBody>
          <a:bodyPr wrap="square" lIns="45720" rIns="45720" tIns="18288" bIns="18288" anchor="t">
            <a:spAutoFit/>
          </a:bodyPr>
          <a:lstStyle/>
          <a:p>
            <a:pPr algn="l"/>
            <a:r>
              <a:rPr sz="1150" b="0" i="1">
                <a:solidFill>
                  <a:srgbClr val="707070"/>
                </a:solidFill>
                <a:latin typeface="Calibri"/>
              </a:rPr>
              <a:t>The run tracked 95 % of its samples and reached 18.9 % strain, against 21–33 % coverage and ~12 % strain on the two 80 mm runs.</a:t>
            </a:r>
          </a:p>
        </p:txBody>
      </p:sp>
      <p:sp>
        <p:nvSpPr>
          <p:cNvPr id="6" name="Rounded Rectangle 5"/>
          <p:cNvSpPr/>
          <p:nvPr/>
        </p:nvSpPr>
        <p:spPr>
          <a:xfrm>
            <a:off x="41148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95 %</a:t>
            </a:r>
          </a:p>
          <a:p>
            <a:pPr algn="ctr"/>
            <a:r>
              <a:rPr sz="950">
                <a:solidFill>
                  <a:srgbClr val="000000"/>
                </a:solidFill>
                <a:latin typeface="Calibri"/>
              </a:rPr>
              <a:t>DIC coverage</a:t>
            </a:r>
          </a:p>
        </p:txBody>
      </p:sp>
      <p:sp>
        <p:nvSpPr>
          <p:cNvPr id="7" name="Rounded Rectangle 6"/>
          <p:cNvSpPr/>
          <p:nvPr/>
        </p:nvSpPr>
        <p:spPr>
          <a:xfrm>
            <a:off x="274320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18.9 %</a:t>
            </a:r>
          </a:p>
          <a:p>
            <a:pPr algn="ctr"/>
            <a:r>
              <a:rPr sz="950">
                <a:solidFill>
                  <a:srgbClr val="000000"/>
                </a:solidFill>
                <a:latin typeface="Calibri"/>
              </a:rPr>
              <a:t>Max DIC strain</a:t>
            </a:r>
          </a:p>
        </p:txBody>
      </p:sp>
      <p:sp>
        <p:nvSpPr>
          <p:cNvPr id="8" name="Rounded Rectangle 7"/>
          <p:cNvSpPr/>
          <p:nvPr/>
        </p:nvSpPr>
        <p:spPr>
          <a:xfrm>
            <a:off x="5074920" y="1517904"/>
            <a:ext cx="2194560" cy="89611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24.3 MPa</a:t>
            </a:r>
          </a:p>
          <a:p>
            <a:pPr algn="ctr"/>
            <a:r>
              <a:rPr sz="950">
                <a:solidFill>
                  <a:srgbClr val="000000"/>
                </a:solidFill>
                <a:latin typeface="Calibri"/>
              </a:rPr>
              <a:t>Elastic modulus</a:t>
            </a:r>
          </a:p>
        </p:txBody>
      </p:sp>
      <p:sp>
        <p:nvSpPr>
          <p:cNvPr id="9" name="Rounded Rectangle 8"/>
          <p:cNvSpPr/>
          <p:nvPr/>
        </p:nvSpPr>
        <p:spPr>
          <a:xfrm>
            <a:off x="7406640" y="1517904"/>
            <a:ext cx="219456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2.60 MPa</a:t>
            </a:r>
          </a:p>
          <a:p>
            <a:pPr algn="ctr"/>
            <a:r>
              <a:rPr sz="950">
                <a:solidFill>
                  <a:srgbClr val="000000"/>
                </a:solidFill>
                <a:latin typeface="Calibri"/>
              </a:rPr>
              <a:t>Peak stress</a:t>
            </a:r>
          </a:p>
        </p:txBody>
      </p:sp>
      <p:sp>
        <p:nvSpPr>
          <p:cNvPr id="10" name="Rounded Rectangle 9"/>
          <p:cNvSpPr/>
          <p:nvPr/>
        </p:nvSpPr>
        <p:spPr>
          <a:xfrm>
            <a:off x="9738360" y="1517904"/>
            <a:ext cx="2103120" cy="89611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800" b="1">
                <a:solidFill>
                  <a:srgbClr val="1F3F2F"/>
                </a:solidFill>
                <a:latin typeface="Calibri"/>
              </a:rPr>
              <a:t>26.0 mm</a:t>
            </a:r>
          </a:p>
          <a:p>
            <a:pPr algn="ctr"/>
            <a:r>
              <a:rPr sz="950">
                <a:solidFill>
                  <a:srgbClr val="000000"/>
                </a:solidFill>
                <a:latin typeface="Calibri"/>
              </a:rPr>
              <a:t>Travel</a:t>
            </a:r>
          </a:p>
        </p:txBody>
      </p:sp>
      <p:sp>
        <p:nvSpPr>
          <p:cNvPr id="11" name="TextBox 10"/>
          <p:cNvSpPr txBox="1"/>
          <p:nvPr/>
        </p:nvSpPr>
        <p:spPr>
          <a:xfrm>
            <a:off x="411480" y="25146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record itself</a:t>
            </a:r>
          </a:p>
        </p:txBody>
      </p:sp>
      <p:graphicFrame>
        <p:nvGraphicFramePr>
          <p:cNvPr id="12" name="Table 11"/>
          <p:cNvGraphicFramePr>
            <a:graphicFrameLocks noGrp="1"/>
          </p:cNvGraphicFramePr>
          <p:nvPr/>
        </p:nvGraphicFramePr>
        <p:xfrm>
          <a:off x="411480" y="2862072"/>
          <a:ext cx="5623560" cy="1645920"/>
        </p:xfrm>
        <a:graphic>
          <a:graphicData uri="http://schemas.openxmlformats.org/drawingml/2006/table">
            <a:tbl>
              <a:tblPr firstRow="1" bandRow="1">
                <a:tableStyleId>{5C22544A-7EE6-4342-B048-85BDC9FD1C3A}</a:tableStyleId>
              </a:tblPr>
              <a:tblGrid>
                <a:gridCol w="1828800"/>
                <a:gridCol w="1828800"/>
                <a:gridCol w="1965960"/>
              </a:tblGrid>
              <a:tr h="274320">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S37 (45 mm)</a:t>
                      </a:r>
                    </a:p>
                  </a:txBody>
                  <a:tcPr>
                    <a:solidFill>
                      <a:srgbClr val="143D2F"/>
                    </a:solidFill>
                  </a:tcPr>
                </a:tc>
                <a:tc>
                  <a:txBody>
                    <a:bodyPr lIns="54864" rIns="54864" tIns="18288" bIns="18288" wrap="square" anchor="ctr"/>
                    <a:lstStyle/>
                    <a:p>
                      <a:pPr algn="l"/>
                      <a:r>
                        <a:rPr sz="950" b="1">
                          <a:solidFill>
                            <a:srgbClr val="FFFFFF"/>
                          </a:solidFill>
                          <a:latin typeface="Calibri"/>
                        </a:rPr>
                        <a:t>S36 (80 mm)</a:t>
                      </a:r>
                    </a:p>
                  </a:txBody>
                  <a:tcPr>
                    <a:solidFill>
                      <a:srgbClr val="143D2F"/>
                    </a:solidFill>
                  </a:tcPr>
                </a:tc>
              </a:tr>
              <a:tr h="274320">
                <a:tc>
                  <a:txBody>
                    <a:bodyPr lIns="54864" rIns="54864" tIns="18288" bIns="18288" wrap="square" anchor="ctr"/>
                    <a:lstStyle/>
                    <a:p>
                      <a:pPr algn="l"/>
                      <a:r>
                        <a:rPr sz="880" b="0">
                          <a:solidFill>
                            <a:srgbClr val="000000"/>
                          </a:solidFill>
                          <a:latin typeface="Calibri"/>
                        </a:rPr>
                        <a:t>DIC coverage</a:t>
                      </a:r>
                    </a:p>
                  </a:txBody>
                  <a:tcPr/>
                </a:tc>
                <a:tc>
                  <a:txBody>
                    <a:bodyPr lIns="54864" rIns="54864" tIns="18288" bIns="18288" wrap="square" anchor="ctr"/>
                    <a:lstStyle/>
                    <a:p>
                      <a:pPr algn="l"/>
                      <a:r>
                        <a:rPr sz="880" b="0">
                          <a:solidFill>
                            <a:srgbClr val="000000"/>
                          </a:solidFill>
                          <a:latin typeface="Calibri"/>
                        </a:rPr>
                        <a:t>95 % of samples</a:t>
                      </a:r>
                    </a:p>
                  </a:txBody>
                  <a:tcPr/>
                </a:tc>
                <a:tc>
                  <a:txBody>
                    <a:bodyPr lIns="54864" rIns="54864" tIns="18288" bIns="18288" wrap="square" anchor="ctr"/>
                    <a:lstStyle/>
                    <a:p>
                      <a:pPr algn="l"/>
                      <a:r>
                        <a:rPr sz="880" b="0">
                          <a:solidFill>
                            <a:srgbClr val="000000"/>
                          </a:solidFill>
                          <a:latin typeface="Calibri"/>
                        </a:rPr>
                        <a:t>21 %</a:t>
                      </a:r>
                    </a:p>
                  </a:txBody>
                  <a:tcPr/>
                </a:tc>
              </a:tr>
              <a:tr h="274320">
                <a:tc>
                  <a:txBody>
                    <a:bodyPr lIns="54864" rIns="54864" tIns="18288" bIns="18288" wrap="square" anchor="ctr"/>
                    <a:lstStyle/>
                    <a:p>
                      <a:pPr algn="l"/>
                      <a:r>
                        <a:rPr sz="880" b="0">
                          <a:solidFill>
                            <a:srgbClr val="000000"/>
                          </a:solidFill>
                          <a:latin typeface="Calibri"/>
                        </a:rPr>
                        <a:t>Frames tracked 2/2</a:t>
                      </a:r>
                    </a:p>
                  </a:txBody>
                  <a:tcPr/>
                </a:tc>
                <a:tc>
                  <a:txBody>
                    <a:bodyPr lIns="54864" rIns="54864" tIns="18288" bIns="18288" wrap="square" anchor="ctr"/>
                    <a:lstStyle/>
                    <a:p>
                      <a:pPr algn="l"/>
                      <a:r>
                        <a:rPr sz="880" b="0">
                          <a:solidFill>
                            <a:srgbClr val="000000"/>
                          </a:solidFill>
                          <a:latin typeface="Calibri"/>
                        </a:rPr>
                        <a:t>90 %  (3154 / 3499)</a:t>
                      </a:r>
                    </a:p>
                  </a:txBody>
                  <a:tcPr/>
                </a:tc>
                <a:tc>
                  <a:txBody>
                    <a:bodyPr lIns="54864" rIns="54864" tIns="18288" bIns="18288" wrap="square" anchor="ctr"/>
                    <a:lstStyle/>
                    <a:p>
                      <a:pPr algn="l"/>
                      <a:r>
                        <a:rPr sz="880" b="0">
                          <a:solidFill>
                            <a:srgbClr val="000000"/>
                          </a:solidFill>
                          <a:latin typeface="Calibri"/>
                        </a:rPr>
                        <a:t>—</a:t>
                      </a:r>
                    </a:p>
                  </a:txBody>
                  <a:tcPr/>
                </a:tc>
              </a:tr>
              <a:tr h="274320">
                <a:tc>
                  <a:txBody>
                    <a:bodyPr lIns="54864" rIns="54864" tIns="18288" bIns="18288" wrap="square" anchor="ctr"/>
                    <a:lstStyle/>
                    <a:p>
                      <a:pPr algn="l"/>
                      <a:r>
                        <a:rPr sz="880" b="0">
                          <a:solidFill>
                            <a:srgbClr val="000000"/>
                          </a:solidFill>
                          <a:latin typeface="Calibri"/>
                        </a:rPr>
                        <a:t>Max DIC strain</a:t>
                      </a:r>
                    </a:p>
                  </a:txBody>
                  <a:tcPr/>
                </a:tc>
                <a:tc>
                  <a:txBody>
                    <a:bodyPr lIns="54864" rIns="54864" tIns="18288" bIns="18288" wrap="square" anchor="ctr"/>
                    <a:lstStyle/>
                    <a:p>
                      <a:pPr algn="l"/>
                      <a:r>
                        <a:rPr sz="880" b="0">
                          <a:solidFill>
                            <a:srgbClr val="000000"/>
                          </a:solidFill>
                          <a:latin typeface="Calibri"/>
                        </a:rPr>
                        <a:t>18.94 %</a:t>
                      </a:r>
                    </a:p>
                  </a:txBody>
                  <a:tcPr/>
                </a:tc>
                <a:tc>
                  <a:txBody>
                    <a:bodyPr lIns="54864" rIns="54864" tIns="18288" bIns="18288" wrap="square" anchor="ctr"/>
                    <a:lstStyle/>
                    <a:p>
                      <a:pPr algn="l"/>
                      <a:r>
                        <a:rPr sz="880" b="0">
                          <a:solidFill>
                            <a:srgbClr val="000000"/>
                          </a:solidFill>
                          <a:latin typeface="Calibri"/>
                        </a:rPr>
                        <a:t>11.68 %</a:t>
                      </a:r>
                    </a:p>
                  </a:txBody>
                  <a:tcPr/>
                </a:tc>
              </a:tr>
              <a:tr h="274320">
                <a:tc>
                  <a:txBody>
                    <a:bodyPr lIns="54864" rIns="54864" tIns="18288" bIns="18288" wrap="square" anchor="ctr"/>
                    <a:lstStyle/>
                    <a:p>
                      <a:pPr algn="l"/>
                      <a:r>
                        <a:rPr sz="880" b="0">
                          <a:solidFill>
                            <a:srgbClr val="000000"/>
                          </a:solidFill>
                          <a:latin typeface="Calibri"/>
                        </a:rPr>
                        <a:t>Crosshead travel</a:t>
                      </a:r>
                    </a:p>
                  </a:txBody>
                  <a:tcPr/>
                </a:tc>
                <a:tc>
                  <a:txBody>
                    <a:bodyPr lIns="54864" rIns="54864" tIns="18288" bIns="18288" wrap="square" anchor="ctr"/>
                    <a:lstStyle/>
                    <a:p>
                      <a:pPr algn="l"/>
                      <a:r>
                        <a:rPr sz="880" b="0">
                          <a:solidFill>
                            <a:srgbClr val="000000"/>
                          </a:solidFill>
                          <a:latin typeface="Calibri"/>
                        </a:rPr>
                        <a:t>26.0 mm</a:t>
                      </a:r>
                    </a:p>
                  </a:txBody>
                  <a:tcPr/>
                </a:tc>
                <a:tc>
                  <a:txBody>
                    <a:bodyPr lIns="54864" rIns="54864" tIns="18288" bIns="18288" wrap="square" anchor="ctr"/>
                    <a:lstStyle/>
                    <a:p>
                      <a:pPr algn="l"/>
                      <a:r>
                        <a:rPr sz="880" b="0">
                          <a:solidFill>
                            <a:srgbClr val="000000"/>
                          </a:solidFill>
                          <a:latin typeface="Calibri"/>
                        </a:rPr>
                        <a:t>15.1 mm</a:t>
                      </a:r>
                    </a:p>
                  </a:txBody>
                  <a:tcPr/>
                </a:tc>
              </a:tr>
              <a:tr h="274320">
                <a:tc>
                  <a:txBody>
                    <a:bodyPr lIns="54864" rIns="54864" tIns="18288" bIns="18288" wrap="square" anchor="ctr"/>
                    <a:lstStyle/>
                    <a:p>
                      <a:pPr algn="l"/>
                      <a:r>
                        <a:rPr sz="880" b="0">
                          <a:solidFill>
                            <a:srgbClr val="000000"/>
                          </a:solidFill>
                          <a:latin typeface="Calibri"/>
                        </a:rPr>
                        <a:t>Gauge share of travel</a:t>
                      </a:r>
                    </a:p>
                  </a:txBody>
                  <a:tcPr/>
                </a:tc>
                <a:tc>
                  <a:txBody>
                    <a:bodyPr lIns="54864" rIns="54864" tIns="18288" bIns="18288" wrap="square" anchor="ctr"/>
                    <a:lstStyle/>
                    <a:p>
                      <a:pPr algn="l"/>
                      <a:r>
                        <a:rPr sz="880" b="0">
                          <a:solidFill>
                            <a:srgbClr val="000000"/>
                          </a:solidFill>
                          <a:latin typeface="Calibri"/>
                        </a:rPr>
                        <a:t>33 %</a:t>
                      </a:r>
                    </a:p>
                  </a:txBody>
                  <a:tcPr/>
                </a:tc>
                <a:tc>
                  <a:txBody>
                    <a:bodyPr lIns="54864" rIns="54864" tIns="18288" bIns="18288" wrap="square" anchor="ctr"/>
                    <a:lstStyle/>
                    <a:p>
                      <a:pPr algn="l"/>
                      <a:r>
                        <a:rPr sz="880" b="0">
                          <a:solidFill>
                            <a:srgbClr val="000000"/>
                          </a:solidFill>
                          <a:latin typeface="Calibri"/>
                        </a:rPr>
                        <a:t>62 %</a:t>
                      </a:r>
                    </a:p>
                  </a:txBody>
                  <a:tcPr/>
                </a:tc>
              </a:tr>
            </a:tbl>
          </a:graphicData>
        </a:graphic>
      </p:graphicFrame>
      <p:sp>
        <p:nvSpPr>
          <p:cNvPr id="13" name="TextBox 12"/>
          <p:cNvSpPr txBox="1"/>
          <p:nvPr/>
        </p:nvSpPr>
        <p:spPr>
          <a:xfrm>
            <a:off x="6263640" y="25146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things to read carefully</a:t>
            </a:r>
          </a:p>
        </p:txBody>
      </p:sp>
      <p:sp>
        <p:nvSpPr>
          <p:cNvPr id="14" name="TextBox 13"/>
          <p:cNvSpPr txBox="1"/>
          <p:nvPr/>
        </p:nvSpPr>
        <p:spPr>
          <a:xfrm>
            <a:off x="6263640" y="2862072"/>
            <a:ext cx="5577840" cy="2377440"/>
          </a:xfrm>
          <a:prstGeom prst="rect">
            <a:avLst/>
          </a:prstGeom>
          <a:noFill/>
        </p:spPr>
        <p:txBody>
          <a:bodyPr wrap="square" lIns="45720" rIns="45720" tIns="18288" bIns="18288" anchor="t">
            <a:spAutoFit/>
          </a:bodyPr>
          <a:lstStyle/>
          <a:p>
            <a:pPr algn="l"/>
            <a:r>
              <a:rPr sz="950" b="0" i="0">
                <a:solidFill>
                  <a:srgbClr val="000000"/>
                </a:solidFill>
                <a:latin typeface="Calibri"/>
              </a:rPr>
              <a:t>GAUGE SHARE FELL TO 33 %, from ~62 % on the 80 mm runs. Expected, not a fault: the marked span is a smaller fraction of the specimen, so it receives a smaller share of the crosshead. 45/80 of 62 % is 35 % — the measured 33 % sits right there.
THIS RUN'S HEADER SAYS “Max Strain: 0.5788”, AND THAT IS NOT DIC STRAIN. It was motor strain — travel over gauge, 26.0 mm / 45 mm = 57.9 % — while the DIC strain maxes at 18.94 %. On the 80 mm specimens the two sat close enough that it never stood out; at 45 mm the header read three times the real strain.
FIXED SINCE: the app now writes “Max DIC Strain” and “Max Motor Strain” as two labelled lines. S37 is the last run recorded under the old single label.</a:t>
            </a:r>
          </a:p>
        </p:txBody>
      </p:sp>
      <p:sp>
        <p:nvSpPr>
          <p:cNvPr id="15" name="Rectangle 14"/>
          <p:cNvSpPr/>
          <p:nvPr/>
        </p:nvSpPr>
        <p:spPr>
          <a:xfrm>
            <a:off x="365760" y="5897880"/>
            <a:ext cx="1147572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NO FRACTURE: TPU DID NOT BREAK, SO PEAK STRESS AND STRAIN ARE LOWER BOUNDS SET BY WHERE THE TEST WAS STOPPED — NOT MEASUREMENTS OF STRENGTH OR ELONGATION AT BREAK.</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Anchor 19 N, added back so the 20 N preload is present in the stress. UTM_Test_20260826_123524.csv</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292</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S36 vs S37 — DOES THE 45 mm GAUGE CHANGE THE ANSWER?</a:t>
            </a:r>
          </a:p>
        </p:txBody>
      </p:sp>
      <p:pic>
        <p:nvPicPr>
          <p:cNvPr id="5" name="Picture 4" descr="tpu_s37.png"/>
          <p:cNvPicPr>
            <a:picLocks noChangeAspect="1"/>
          </p:cNvPicPr>
          <p:nvPr/>
        </p:nvPicPr>
        <p:blipFill>
          <a:blip r:embed="rId2"/>
          <a:stretch>
            <a:fillRect/>
          </a:stretch>
        </p:blipFill>
        <p:spPr>
          <a:xfrm>
            <a:off x="480060" y="1115568"/>
            <a:ext cx="11247119" cy="3749040"/>
          </a:xfrm>
          <a:prstGeom prst="rect">
            <a:avLst/>
          </a:prstGeom>
        </p:spPr>
      </p:pic>
      <p:sp>
        <p:nvSpPr>
          <p:cNvPr id="6" name="TextBox 5"/>
          <p:cNvSpPr txBox="1"/>
          <p:nvPr/>
        </p:nvSpPr>
        <p:spPr>
          <a:xfrm>
            <a:off x="411480" y="495604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initial slope, on a matched window</a:t>
            </a:r>
          </a:p>
        </p:txBody>
      </p:sp>
      <p:sp>
        <p:nvSpPr>
          <p:cNvPr id="7" name="TextBox 6"/>
          <p:cNvSpPr txBox="1"/>
          <p:nvPr/>
        </p:nvSpPr>
        <p:spPr>
          <a:xfrm>
            <a:off x="411480" y="5303520"/>
            <a:ext cx="5623560" cy="1005840"/>
          </a:xfrm>
          <a:prstGeom prst="rect">
            <a:avLst/>
          </a:prstGeom>
          <a:noFill/>
        </p:spPr>
        <p:txBody>
          <a:bodyPr wrap="square" lIns="45720" rIns="45720" tIns="18288" bIns="18288" anchor="t">
            <a:spAutoFit/>
          </a:bodyPr>
          <a:lstStyle/>
          <a:p>
            <a:pPr algn="l"/>
            <a:r>
              <a:rPr sz="960" b="0" i="0">
                <a:solidFill>
                  <a:srgbClr val="000000"/>
                </a:solidFill>
                <a:latin typeface="Calibri"/>
              </a:rPr>
              <a:t>Fitted over the SAME 0.05–1.20 % strain window for all three, so no run is credited with a window that flatters it:
S35 24.82 MPa   ·   S36 24.55 MPa   ·   S37 24.75 MPa
S37 differs from S36 by +0.8 % — and the two 80 mm runs differ from EACH OTHER by +1.1 %.</a:t>
            </a:r>
          </a:p>
        </p:txBody>
      </p:sp>
      <p:sp>
        <p:nvSpPr>
          <p:cNvPr id="8" name="TextBox 7"/>
          <p:cNvSpPr txBox="1"/>
          <p:nvPr/>
        </p:nvSpPr>
        <p:spPr>
          <a:xfrm>
            <a:off x="6263640" y="4956048"/>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that settles</a:t>
            </a:r>
          </a:p>
        </p:txBody>
      </p:sp>
      <p:sp>
        <p:nvSpPr>
          <p:cNvPr id="9" name="TextBox 8"/>
          <p:cNvSpPr txBox="1"/>
          <p:nvPr/>
        </p:nvSpPr>
        <p:spPr>
          <a:xfrm>
            <a:off x="6263640" y="5303520"/>
            <a:ext cx="5577840" cy="1005840"/>
          </a:xfrm>
          <a:prstGeom prst="rect">
            <a:avLst/>
          </a:prstGeom>
          <a:noFill/>
        </p:spPr>
        <p:txBody>
          <a:bodyPr wrap="square" lIns="45720" rIns="45720" tIns="18288" bIns="18288" anchor="t">
            <a:spAutoFit/>
          </a:bodyPr>
          <a:lstStyle/>
          <a:p>
            <a:pPr algn="l"/>
            <a:r>
              <a:rPr sz="960" b="0" i="0">
                <a:solidFill>
                  <a:srgbClr val="000000"/>
                </a:solidFill>
                <a:latin typeface="Calibri"/>
              </a:rPr>
              <a:t>The gauge change moves the modulus by LESS than the run-to-run scatter of the original pair — the answer the pixel-ratio argument predicts. S37 lands between S35 and S36.
Stress at matched strain runs 2–8 % below S36: ordinary specimen scatter for an elastomer, and it does not touch E, which is a slope and so is offset-independent.</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S35 is the better-instrumented of the two 80 mm runs (33 % DIC coverage against S36's 21 %); both are plotted so the comparison does not rest on picking one.</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PLA vs PETG vs TPU — MATCHED STRAIN, THEN EACH TO ITS OWN END</a:t>
            </a:r>
          </a:p>
        </p:txBody>
      </p:sp>
      <p:pic>
        <p:nvPicPr>
          <p:cNvPr id="5" name="Picture 4" descr="trio_s37.png"/>
          <p:cNvPicPr>
            <a:picLocks noChangeAspect="1"/>
          </p:cNvPicPr>
          <p:nvPr/>
        </p:nvPicPr>
        <p:blipFill>
          <a:blip r:embed="rId2"/>
          <a:stretch>
            <a:fillRect/>
          </a:stretch>
        </p:blipFill>
        <p:spPr>
          <a:xfrm>
            <a:off x="739140" y="1115568"/>
            <a:ext cx="10728960" cy="3657600"/>
          </a:xfrm>
          <a:prstGeom prst="rect">
            <a:avLst/>
          </a:prstGeom>
        </p:spPr>
      </p:pic>
      <p:sp>
        <p:nvSpPr>
          <p:cNvPr id="6" name="TextBox 5"/>
          <p:cNvSpPr txBox="1"/>
          <p:nvPr/>
        </p:nvSpPr>
        <p:spPr>
          <a:xfrm>
            <a:off x="411480" y="4882896"/>
            <a:ext cx="6035040" cy="365760"/>
          </a:xfrm>
          <a:prstGeom prst="rect">
            <a:avLst/>
          </a:prstGeom>
          <a:noFill/>
        </p:spPr>
        <p:txBody>
          <a:bodyPr wrap="square" lIns="45720" rIns="45720" tIns="18288" bIns="18288" anchor="t">
            <a:spAutoFit/>
          </a:bodyPr>
          <a:lstStyle/>
          <a:p>
            <a:pPr algn="l"/>
            <a:r>
              <a:rPr sz="1600" b="0" i="0">
                <a:solidFill>
                  <a:srgbClr val="707070"/>
                </a:solidFill>
                <a:latin typeface="Calibri"/>
              </a:rPr>
              <a:t>Stress at matched DIC strain</a:t>
            </a:r>
          </a:p>
        </p:txBody>
      </p:sp>
      <p:graphicFrame>
        <p:nvGraphicFramePr>
          <p:cNvPr id="7" name="Table 6"/>
          <p:cNvGraphicFramePr>
            <a:graphicFrameLocks noGrp="1"/>
          </p:cNvGraphicFramePr>
          <p:nvPr/>
        </p:nvGraphicFramePr>
        <p:xfrm>
          <a:off x="411480" y="5212080"/>
          <a:ext cx="6035040" cy="914400"/>
        </p:xfrm>
        <a:graphic>
          <a:graphicData uri="http://schemas.openxmlformats.org/drawingml/2006/table">
            <a:tbl>
              <a:tblPr firstRow="1" bandRow="1">
                <a:tableStyleId>{5C22544A-7EE6-4342-B048-85BDC9FD1C3A}</a:tableStyleId>
              </a:tblPr>
              <a:tblGrid>
                <a:gridCol w="1188720"/>
                <a:gridCol w="1645920"/>
                <a:gridCol w="1645920"/>
                <a:gridCol w="1554480"/>
              </a:tblGrid>
              <a:tr h="182880">
                <a:tc>
                  <a:txBody>
                    <a:bodyPr lIns="54864" rIns="54864" tIns="18288" bIns="18288" wrap="square" anchor="ctr"/>
                    <a:lstStyle/>
                    <a:p>
                      <a:pPr algn="l"/>
                      <a:r>
                        <a:rPr sz="900" b="1">
                          <a:solidFill>
                            <a:srgbClr val="FFFFFF"/>
                          </a:solidFill>
                          <a:latin typeface="Calibri"/>
                        </a:rPr>
                        <a:t>Strain</a:t>
                      </a:r>
                    </a:p>
                  </a:txBody>
                  <a:tcPr>
                    <a:solidFill>
                      <a:srgbClr val="143D2F"/>
                    </a:solidFill>
                  </a:tcPr>
                </a:tc>
                <a:tc>
                  <a:txBody>
                    <a:bodyPr lIns="54864" rIns="54864" tIns="18288" bIns="18288" wrap="square" anchor="ctr"/>
                    <a:lstStyle/>
                    <a:p>
                      <a:pPr algn="l"/>
                      <a:r>
                        <a:rPr sz="900" b="1">
                          <a:solidFill>
                            <a:srgbClr val="FFFFFF"/>
                          </a:solidFill>
                          <a:latin typeface="Calibri"/>
                        </a:rPr>
                        <a:t>PLA (S25)</a:t>
                      </a:r>
                    </a:p>
                  </a:txBody>
                  <a:tcPr>
                    <a:solidFill>
                      <a:srgbClr val="143D2F"/>
                    </a:solidFill>
                  </a:tcPr>
                </a:tc>
                <a:tc>
                  <a:txBody>
                    <a:bodyPr lIns="54864" rIns="54864" tIns="18288" bIns="18288" wrap="square" anchor="ctr"/>
                    <a:lstStyle/>
                    <a:p>
                      <a:pPr algn="l"/>
                      <a:r>
                        <a:rPr sz="900" b="1">
                          <a:solidFill>
                            <a:srgbClr val="FFFFFF"/>
                          </a:solidFill>
                          <a:latin typeface="Calibri"/>
                        </a:rPr>
                        <a:t>PETG (S30)</a:t>
                      </a:r>
                    </a:p>
                  </a:txBody>
                  <a:tcPr>
                    <a:solidFill>
                      <a:srgbClr val="143D2F"/>
                    </a:solidFill>
                  </a:tcPr>
                </a:tc>
                <a:tc>
                  <a:txBody>
                    <a:bodyPr lIns="54864" rIns="54864" tIns="18288" bIns="18288" wrap="square" anchor="ctr"/>
                    <a:lstStyle/>
                    <a:p>
                      <a:pPr algn="l"/>
                      <a:r>
                        <a:rPr sz="900" b="1">
                          <a:solidFill>
                            <a:srgbClr val="FFFFFF"/>
                          </a:solidFill>
                          <a:latin typeface="Calibri"/>
                        </a:rPr>
                        <a:t>TPU (S37)</a:t>
                      </a:r>
                    </a:p>
                  </a:txBody>
                  <a:tcPr>
                    <a:solidFill>
                      <a:srgbClr val="143D2F"/>
                    </a:solidFill>
                  </a:tcPr>
                </a:tc>
              </a:tr>
              <a:tr h="182880">
                <a:tc>
                  <a:txBody>
                    <a:bodyPr lIns="54864" rIns="54864" tIns="18288" bIns="18288" wrap="square" anchor="ctr"/>
                    <a:lstStyle/>
                    <a:p>
                      <a:pPr algn="l"/>
                      <a:r>
                        <a:rPr sz="819" b="0">
                          <a:solidFill>
                            <a:srgbClr val="000000"/>
                          </a:solidFill>
                          <a:latin typeface="Calibri"/>
                        </a:rPr>
                        <a:t>0.5 %</a:t>
                      </a:r>
                    </a:p>
                  </a:txBody>
                  <a:tcPr/>
                </a:tc>
                <a:tc>
                  <a:txBody>
                    <a:bodyPr lIns="54864" rIns="54864" tIns="18288" bIns="18288" wrap="square" anchor="ctr"/>
                    <a:lstStyle/>
                    <a:p>
                      <a:pPr algn="l"/>
                      <a:r>
                        <a:rPr sz="819" b="0">
                          <a:solidFill>
                            <a:srgbClr val="000000"/>
                          </a:solidFill>
                          <a:latin typeface="Calibri"/>
                        </a:rPr>
                        <a:t>18.10 MPa</a:t>
                      </a:r>
                    </a:p>
                  </a:txBody>
                  <a:tcPr/>
                </a:tc>
                <a:tc>
                  <a:txBody>
                    <a:bodyPr lIns="54864" rIns="54864" tIns="18288" bIns="18288" wrap="square" anchor="ctr"/>
                    <a:lstStyle/>
                    <a:p>
                      <a:pPr algn="l"/>
                      <a:r>
                        <a:rPr sz="819" b="0">
                          <a:solidFill>
                            <a:srgbClr val="000000"/>
                          </a:solidFill>
                          <a:latin typeface="Calibri"/>
                        </a:rPr>
                        <a:t>12.43 MPa</a:t>
                      </a:r>
                    </a:p>
                  </a:txBody>
                  <a:tcPr/>
                </a:tc>
                <a:tc>
                  <a:txBody>
                    <a:bodyPr lIns="54864" rIns="54864" tIns="18288" bIns="18288" wrap="square" anchor="ctr"/>
                    <a:lstStyle/>
                    <a:p>
                      <a:pPr algn="l"/>
                      <a:r>
                        <a:rPr sz="819" b="0">
                          <a:solidFill>
                            <a:srgbClr val="000000"/>
                          </a:solidFill>
                          <a:latin typeface="Calibri"/>
                        </a:rPr>
                        <a:t>0.36 MPa</a:t>
                      </a:r>
                    </a:p>
                  </a:txBody>
                  <a:tcPr/>
                </a:tc>
              </a:tr>
              <a:tr h="182880">
                <a:tc>
                  <a:txBody>
                    <a:bodyPr lIns="54864" rIns="54864" tIns="18288" bIns="18288" wrap="square" anchor="ctr"/>
                    <a:lstStyle/>
                    <a:p>
                      <a:pPr algn="l"/>
                      <a:r>
                        <a:rPr sz="819" b="0">
                          <a:solidFill>
                            <a:srgbClr val="000000"/>
                          </a:solidFill>
                          <a:latin typeface="Calibri"/>
                        </a:rPr>
                        <a:t>1.0 %</a:t>
                      </a:r>
                    </a:p>
                  </a:txBody>
                  <a:tcPr/>
                </a:tc>
                <a:tc>
                  <a:txBody>
                    <a:bodyPr lIns="54864" rIns="54864" tIns="18288" bIns="18288" wrap="square" anchor="ctr"/>
                    <a:lstStyle/>
                    <a:p>
                      <a:pPr algn="l"/>
                      <a:r>
                        <a:rPr sz="819" b="0">
                          <a:solidFill>
                            <a:srgbClr val="000000"/>
                          </a:solidFill>
                          <a:latin typeface="Calibri"/>
                        </a:rPr>
                        <a:t>31.67 MPa</a:t>
                      </a:r>
                    </a:p>
                  </a:txBody>
                  <a:tcPr/>
                </a:tc>
                <a:tc>
                  <a:txBody>
                    <a:bodyPr lIns="54864" rIns="54864" tIns="18288" bIns="18288" wrap="square" anchor="ctr"/>
                    <a:lstStyle/>
                    <a:p>
                      <a:pPr algn="l"/>
                      <a:r>
                        <a:rPr sz="819" b="0">
                          <a:solidFill>
                            <a:srgbClr val="000000"/>
                          </a:solidFill>
                          <a:latin typeface="Calibri"/>
                        </a:rPr>
                        <a:t>20.73 MPa</a:t>
                      </a:r>
                    </a:p>
                  </a:txBody>
                  <a:tcPr/>
                </a:tc>
                <a:tc>
                  <a:txBody>
                    <a:bodyPr lIns="54864" rIns="54864" tIns="18288" bIns="18288" wrap="square" anchor="ctr"/>
                    <a:lstStyle/>
                    <a:p>
                      <a:pPr algn="l"/>
                      <a:r>
                        <a:rPr sz="819" b="0">
                          <a:solidFill>
                            <a:srgbClr val="000000"/>
                          </a:solidFill>
                          <a:latin typeface="Calibri"/>
                        </a:rPr>
                        <a:t>0.48 MPa</a:t>
                      </a:r>
                    </a:p>
                  </a:txBody>
                  <a:tcPr/>
                </a:tc>
              </a:tr>
              <a:tr h="182880">
                <a:tc>
                  <a:txBody>
                    <a:bodyPr lIns="54864" rIns="54864" tIns="18288" bIns="18288" wrap="square" anchor="ctr"/>
                    <a:lstStyle/>
                    <a:p>
                      <a:pPr algn="l"/>
                      <a:r>
                        <a:rPr sz="819" b="0">
                          <a:solidFill>
                            <a:srgbClr val="000000"/>
                          </a:solidFill>
                          <a:latin typeface="Calibri"/>
                        </a:rPr>
                        <a:t>2.0 %</a:t>
                      </a:r>
                    </a:p>
                  </a:txBody>
                  <a:tcPr/>
                </a:tc>
                <a:tc>
                  <a:txBody>
                    <a:bodyPr lIns="54864" rIns="54864" tIns="18288" bIns="18288" wrap="square" anchor="ctr"/>
                    <a:lstStyle/>
                    <a:p>
                      <a:pPr algn="l"/>
                      <a:r>
                        <a:rPr sz="819" b="0">
                          <a:solidFill>
                            <a:srgbClr val="000000"/>
                          </a:solidFill>
                          <a:latin typeface="Calibri"/>
                        </a:rPr>
                        <a:t>45.92 MPa</a:t>
                      </a:r>
                    </a:p>
                  </a:txBody>
                  <a:tcPr/>
                </a:tc>
                <a:tc>
                  <a:txBody>
                    <a:bodyPr lIns="54864" rIns="54864" tIns="18288" bIns="18288" wrap="square" anchor="ctr"/>
                    <a:lstStyle/>
                    <a:p>
                      <a:pPr algn="l"/>
                      <a:r>
                        <a:rPr sz="819" b="0">
                          <a:solidFill>
                            <a:srgbClr val="000000"/>
                          </a:solidFill>
                          <a:latin typeface="Calibri"/>
                        </a:rPr>
                        <a:t>34.39 MPa</a:t>
                      </a:r>
                    </a:p>
                  </a:txBody>
                  <a:tcPr/>
                </a:tc>
                <a:tc>
                  <a:txBody>
                    <a:bodyPr lIns="54864" rIns="54864" tIns="18288" bIns="18288" wrap="square" anchor="ctr"/>
                    <a:lstStyle/>
                    <a:p>
                      <a:pPr algn="l"/>
                      <a:r>
                        <a:rPr sz="819" b="0">
                          <a:solidFill>
                            <a:srgbClr val="000000"/>
                          </a:solidFill>
                          <a:latin typeface="Calibri"/>
                        </a:rPr>
                        <a:t>0.71 MPa</a:t>
                      </a:r>
                    </a:p>
                  </a:txBody>
                  <a:tcPr/>
                </a:tc>
              </a:tr>
              <a:tr h="182880">
                <a:tc>
                  <a:txBody>
                    <a:bodyPr lIns="54864" rIns="54864" tIns="18288" bIns="18288" wrap="square" anchor="ctr"/>
                    <a:lstStyle/>
                    <a:p>
                      <a:pPr algn="l"/>
                      <a:r>
                        <a:rPr sz="819" b="0">
                          <a:solidFill>
                            <a:srgbClr val="000000"/>
                          </a:solidFill>
                          <a:latin typeface="Calibri"/>
                        </a:rPr>
                        <a:t>4.0 %</a:t>
                      </a:r>
                    </a:p>
                  </a:txBody>
                  <a:tcPr/>
                </a:tc>
                <a:tc>
                  <a:txBody>
                    <a:bodyPr lIns="54864" rIns="54864" tIns="18288" bIns="18288" wrap="square" anchor="ctr"/>
                    <a:lstStyle/>
                    <a:p>
                      <a:pPr algn="l"/>
                      <a:r>
                        <a:rPr sz="819" b="0">
                          <a:solidFill>
                            <a:srgbClr val="000000"/>
                          </a:solidFill>
                          <a:latin typeface="Calibri"/>
                        </a:rPr>
                        <a:t>42.57 MPa</a:t>
                      </a:r>
                    </a:p>
                  </a:txBody>
                  <a:tcPr/>
                </a:tc>
                <a:tc>
                  <a:txBody>
                    <a:bodyPr lIns="54864" rIns="54864" tIns="18288" bIns="18288" wrap="square" anchor="ctr"/>
                    <a:lstStyle/>
                    <a:p>
                      <a:pPr algn="l"/>
                      <a:r>
                        <a:rPr sz="819" b="0">
                          <a:solidFill>
                            <a:srgbClr val="000000"/>
                          </a:solidFill>
                          <a:latin typeface="Calibri"/>
                        </a:rPr>
                        <a:t>41.19 MPa</a:t>
                      </a:r>
                    </a:p>
                  </a:txBody>
                  <a:tcPr/>
                </a:tc>
                <a:tc>
                  <a:txBody>
                    <a:bodyPr lIns="54864" rIns="54864" tIns="18288" bIns="18288" wrap="square" anchor="ctr"/>
                    <a:lstStyle/>
                    <a:p>
                      <a:pPr algn="l"/>
                      <a:r>
                        <a:rPr sz="819" b="0">
                          <a:solidFill>
                            <a:srgbClr val="000000"/>
                          </a:solidFill>
                          <a:latin typeface="Calibri"/>
                        </a:rPr>
                        <a:t>1.10 MPa</a:t>
                      </a:r>
                    </a:p>
                  </a:txBody>
                  <a:tcPr/>
                </a:tc>
              </a:tr>
            </a:tbl>
          </a:graphicData>
        </a:graphic>
      </p:graphicFrame>
      <p:sp>
        <p:nvSpPr>
          <p:cNvPr id="8" name="TextBox 7"/>
          <p:cNvSpPr txBox="1"/>
          <p:nvPr/>
        </p:nvSpPr>
        <p:spPr>
          <a:xfrm>
            <a:off x="6629400" y="4882896"/>
            <a:ext cx="52120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comparison is drawn twice</a:t>
            </a:r>
          </a:p>
        </p:txBody>
      </p:sp>
      <p:sp>
        <p:nvSpPr>
          <p:cNvPr id="9" name="TextBox 8"/>
          <p:cNvSpPr txBox="1"/>
          <p:nvPr/>
        </p:nvSpPr>
        <p:spPr>
          <a:xfrm>
            <a:off x="6629400" y="5212080"/>
            <a:ext cx="5212080" cy="1143000"/>
          </a:xfrm>
          <a:prstGeom prst="rect">
            <a:avLst/>
          </a:prstGeom>
          <a:noFill/>
        </p:spPr>
        <p:txBody>
          <a:bodyPr wrap="square" lIns="45720" rIns="45720" tIns="18288" bIns="18288" anchor="t">
            <a:spAutoFit/>
          </a:bodyPr>
          <a:lstStyle/>
          <a:p>
            <a:pPr algn="l"/>
            <a:r>
              <a:rPr sz="940" b="0" i="0">
                <a:solidFill>
                  <a:srgbClr val="000000"/>
                </a:solidFill>
                <a:latin typeface="Calibri"/>
              </a:rPr>
              <a:t>LEFT is the only region where all three are still intact — PLA fractures first, at 4.2 %. Comparing beyond it would set a broken specimen against an unbroken one.
RIGHT lets each run to its own end, which is the honest picture of how differently the three fail: PLA and PETG fracture; TPU never does, and the test is stopped by hand.</a:t>
            </a:r>
          </a:p>
        </p:txBody>
      </p:sp>
      <p:sp>
        <p:nvSpPr>
          <p:cNvPr id="10" name="TextBox 9"/>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Log stress on both panels — the three span two decades, and TPU is a flat line on a linear axis. TPU is S37 here, the only TPU run that tracked most of its pull.</a:t>
            </a:r>
          </a:p>
        </p:txBody>
      </p:sp>
      <p:sp>
        <p:nvSpPr>
          <p:cNvPr id="11" name="TextBox 10"/>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294</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A DIC POSITION ESTIMATOR DOES, AND WHY IT IS NEEDED</a:t>
            </a:r>
          </a:p>
        </p:txBody>
      </p:sp>
      <p:pic>
        <p:nvPicPr>
          <p:cNvPr id="5" name="Picture 4" descr="est_whatfor.png"/>
          <p:cNvPicPr>
            <a:picLocks noChangeAspect="1"/>
          </p:cNvPicPr>
          <p:nvPr/>
        </p:nvPicPr>
        <p:blipFill>
          <a:blip r:embed="rId2"/>
          <a:stretch>
            <a:fillRect/>
          </a:stretch>
        </p:blipFill>
        <p:spPr>
          <a:xfrm>
            <a:off x="2006228" y="1097280"/>
            <a:ext cx="8149062" cy="2761488"/>
          </a:xfrm>
          <a:prstGeom prst="rect">
            <a:avLst/>
          </a:prstGeom>
        </p:spPr>
      </p:pic>
      <p:sp>
        <p:nvSpPr>
          <p:cNvPr id="6" name="TextBox 5"/>
          <p:cNvSpPr txBox="1"/>
          <p:nvPr/>
        </p:nvSpPr>
        <p:spPr>
          <a:xfrm>
            <a:off x="411480" y="400507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it sits in the chain</a:t>
            </a:r>
          </a:p>
        </p:txBody>
      </p:sp>
      <p:sp>
        <p:nvSpPr>
          <p:cNvPr id="7" name="TextBox 6"/>
          <p:cNvSpPr txBox="1"/>
          <p:nvPr/>
        </p:nvSpPr>
        <p:spPr>
          <a:xfrm>
            <a:off x="411480" y="4352544"/>
            <a:ext cx="5623560" cy="1325880"/>
          </a:xfrm>
          <a:prstGeom prst="rect">
            <a:avLst/>
          </a:prstGeom>
          <a:noFill/>
        </p:spPr>
        <p:txBody>
          <a:bodyPr wrap="square" lIns="45720" rIns="45720" tIns="18288" bIns="18288" anchor="t">
            <a:spAutoFit/>
          </a:bodyPr>
          <a:lstStyle/>
          <a:p>
            <a:pPr algn="l"/>
            <a:r>
              <a:rPr sz="1000" b="0" i="0">
                <a:solidFill>
                  <a:srgbClr val="000000"/>
                </a:solidFill>
                <a:latin typeface="Calibri"/>
              </a:rPr>
              <a:t>frame  →  find the two markers  →  ESTIMATE EACH CENTRE  →  L_px  →  ε = (L_px − Px₀) / Px₀
Everything else in that chain is bookkeeping. The estimator is the only step that decides a NUMBER, and it decides it for both markers on every frame. DIC strain is a ratio of PIXELS (p286), so its precision is set entirely by how well those two centres are known.</a:t>
            </a:r>
          </a:p>
        </p:txBody>
      </p:sp>
      <p:sp>
        <p:nvSpPr>
          <p:cNvPr id="8" name="TextBox 7"/>
          <p:cNvSpPr txBox="1"/>
          <p:nvPr/>
        </p:nvSpPr>
        <p:spPr>
          <a:xfrm>
            <a:off x="6263640" y="4005072"/>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a whole pixel is nowhere near good enough</a:t>
            </a:r>
          </a:p>
        </p:txBody>
      </p:sp>
      <p:graphicFrame>
        <p:nvGraphicFramePr>
          <p:cNvPr id="9" name="Table 8"/>
          <p:cNvGraphicFramePr>
            <a:graphicFrameLocks noGrp="1"/>
          </p:cNvGraphicFramePr>
          <p:nvPr/>
        </p:nvGraphicFramePr>
        <p:xfrm>
          <a:off x="6263640" y="4352544"/>
          <a:ext cx="5577839" cy="1325880"/>
        </p:xfrm>
        <a:graphic>
          <a:graphicData uri="http://schemas.openxmlformats.org/drawingml/2006/table">
            <a:tbl>
              <a:tblPr firstRow="1" bandRow="1">
                <a:tableStyleId>{5C22544A-7EE6-4342-B048-85BDC9FD1C3A}</a:tableStyleId>
              </a:tblPr>
              <a:tblGrid>
                <a:gridCol w="2743199"/>
                <a:gridCol w="2834640"/>
              </a:tblGrid>
              <a:tr h="265176">
                <a:tc>
                  <a:txBody>
                    <a:bodyPr lIns="54864" rIns="54864" tIns="18288" bIns="18288" wrap="square" anchor="ctr"/>
                    <a:lstStyle/>
                    <a:p>
                      <a:pPr algn="l"/>
                      <a:r>
                        <a:rPr sz="950" b="1">
                          <a:solidFill>
                            <a:srgbClr val="FFFFFF"/>
                          </a:solidFill>
                          <a:latin typeface="Calibri"/>
                        </a:rPr>
                        <a:t>Quantity</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r>
              <a:tr h="265176">
                <a:tc>
                  <a:txBody>
                    <a:bodyPr lIns="54864" rIns="54864" tIns="18288" bIns="18288" wrap="square" anchor="ctr"/>
                    <a:lstStyle/>
                    <a:p>
                      <a:pPr algn="l"/>
                      <a:r>
                        <a:rPr sz="900" b="0">
                          <a:solidFill>
                            <a:srgbClr val="000000"/>
                          </a:solidFill>
                          <a:latin typeface="Calibri"/>
                        </a:rPr>
                        <a:t>Marker separation Px₀</a:t>
                      </a:r>
                    </a:p>
                  </a:txBody>
                  <a:tcPr/>
                </a:tc>
                <a:tc>
                  <a:txBody>
                    <a:bodyPr lIns="54864" rIns="54864" tIns="18288" bIns="18288" wrap="square" anchor="ctr"/>
                    <a:lstStyle/>
                    <a:p>
                      <a:pPr algn="l"/>
                      <a:r>
                        <a:rPr sz="900" b="0">
                          <a:solidFill>
                            <a:srgbClr val="000000"/>
                          </a:solidFill>
                          <a:latin typeface="Calibri"/>
                        </a:rPr>
                        <a:t>1676 px</a:t>
                      </a:r>
                    </a:p>
                  </a:txBody>
                  <a:tcPr/>
                </a:tc>
              </a:tr>
              <a:tr h="265176">
                <a:tc>
                  <a:txBody>
                    <a:bodyPr lIns="54864" rIns="54864" tIns="18288" bIns="18288" wrap="square" anchor="ctr"/>
                    <a:lstStyle/>
                    <a:p>
                      <a:pPr algn="l"/>
                      <a:r>
                        <a:rPr sz="900" b="0">
                          <a:solidFill>
                            <a:srgbClr val="000000"/>
                          </a:solidFill>
                          <a:latin typeface="Calibri"/>
                        </a:rPr>
                        <a:t>Strain per WHOLE pixel</a:t>
                      </a:r>
                    </a:p>
                  </a:txBody>
                  <a:tcPr/>
                </a:tc>
                <a:tc>
                  <a:txBody>
                    <a:bodyPr lIns="54864" rIns="54864" tIns="18288" bIns="18288" wrap="square" anchor="ctr"/>
                    <a:lstStyle/>
                    <a:p>
                      <a:pPr algn="l"/>
                      <a:r>
                        <a:rPr sz="900" b="0">
                          <a:solidFill>
                            <a:srgbClr val="000000"/>
                          </a:solidFill>
                          <a:latin typeface="Calibri"/>
                        </a:rPr>
                        <a:t>597 µε — the red staircase</a:t>
                      </a:r>
                    </a:p>
                  </a:txBody>
                  <a:tcPr/>
                </a:tc>
              </a:tr>
              <a:tr h="265176">
                <a:tc>
                  <a:txBody>
                    <a:bodyPr lIns="54864" rIns="54864" tIns="18288" bIns="18288" wrap="square" anchor="ctr"/>
                    <a:lstStyle/>
                    <a:p>
                      <a:pPr algn="l"/>
                      <a:r>
                        <a:rPr sz="900" b="0">
                          <a:solidFill>
                            <a:srgbClr val="000000"/>
                          </a:solidFill>
                          <a:latin typeface="Calibri"/>
                        </a:rPr>
                        <a:t>Rig's measured noise floor</a:t>
                      </a:r>
                    </a:p>
                  </a:txBody>
                  <a:tcPr/>
                </a:tc>
                <a:tc>
                  <a:txBody>
                    <a:bodyPr lIns="54864" rIns="54864" tIns="18288" bIns="18288" wrap="square" anchor="ctr"/>
                    <a:lstStyle/>
                    <a:p>
                      <a:pPr algn="l"/>
                      <a:r>
                        <a:rPr sz="900" b="0">
                          <a:solidFill>
                            <a:srgbClr val="000000"/>
                          </a:solidFill>
                          <a:latin typeface="Calibri"/>
                        </a:rPr>
                        <a:t>29 µε</a:t>
                      </a:r>
                    </a:p>
                  </a:txBody>
                  <a:tcPr/>
                </a:tc>
              </a:tr>
              <a:tr h="265176">
                <a:tc>
                  <a:txBody>
                    <a:bodyPr lIns="54864" rIns="54864" tIns="18288" bIns="18288" wrap="square" anchor="ctr"/>
                    <a:lstStyle/>
                    <a:p>
                      <a:pPr algn="l"/>
                      <a:r>
                        <a:rPr sz="900" b="0">
                          <a:solidFill>
                            <a:srgbClr val="000000"/>
                          </a:solidFill>
                          <a:latin typeface="Calibri"/>
                        </a:rPr>
                        <a:t>…so a centre must be known to</a:t>
                      </a:r>
                    </a:p>
                  </a:txBody>
                  <a:tcPr/>
                </a:tc>
                <a:tc>
                  <a:txBody>
                    <a:bodyPr lIns="54864" rIns="54864" tIns="18288" bIns="18288" wrap="square" anchor="ctr"/>
                    <a:lstStyle/>
                    <a:p>
                      <a:pPr algn="l"/>
                      <a:r>
                        <a:rPr sz="900" b="0">
                          <a:solidFill>
                            <a:srgbClr val="000000"/>
                          </a:solidFill>
                          <a:latin typeface="Calibri"/>
                        </a:rPr>
                        <a:t>0.048 px</a:t>
                      </a:r>
                    </a:p>
                  </a:txBody>
                  <a:tcPr/>
                </a:tc>
              </a:tr>
            </a:tbl>
          </a:graphicData>
        </a:graphic>
      </p:graphicFrame>
      <p:sp>
        <p:nvSpPr>
          <p:cNvPr id="10" name="Rectangle 9"/>
          <p:cNvSpPr/>
          <p:nvPr/>
        </p:nvSpPr>
        <p:spPr>
          <a:xfrm>
            <a:off x="365760" y="5797296"/>
            <a:ext cx="11475720" cy="45720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Without sub-pixel estimation the elastic region — the part that gives E — would be a 597 µε staircase, about 21× coarser than the noise floor the rig actually achieves.</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Left: S26's own elastic region, the same marker pair read with and without sub-pixel estimation. Measurements cached 2026-08-27 14:55.</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295</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FOUR WAYS TO FIND A MARKER CENTRE — AND WHAT EACH COSTS</a:t>
            </a:r>
          </a:p>
        </p:txBody>
      </p:sp>
      <p:pic>
        <p:nvPicPr>
          <p:cNvPr id="5" name="Picture 4" descr="est_methods.png"/>
          <p:cNvPicPr>
            <a:picLocks noChangeAspect="1"/>
          </p:cNvPicPr>
          <p:nvPr/>
        </p:nvPicPr>
        <p:blipFill>
          <a:blip r:embed="rId2"/>
          <a:stretch>
            <a:fillRect/>
          </a:stretch>
        </p:blipFill>
        <p:spPr>
          <a:xfrm>
            <a:off x="2086640" y="1078992"/>
            <a:ext cx="7988239" cy="2267712"/>
          </a:xfrm>
          <a:prstGeom prst="rect">
            <a:avLst/>
          </a:prstGeom>
        </p:spPr>
      </p:pic>
      <p:graphicFrame>
        <p:nvGraphicFramePr>
          <p:cNvPr id="6" name="Table 5"/>
          <p:cNvGraphicFramePr>
            <a:graphicFrameLocks noGrp="1"/>
          </p:cNvGraphicFramePr>
          <p:nvPr/>
        </p:nvGraphicFramePr>
        <p:xfrm>
          <a:off x="365760" y="3529584"/>
          <a:ext cx="11475720" cy="2743200"/>
        </p:xfrm>
        <a:graphic>
          <a:graphicData uri="http://schemas.openxmlformats.org/drawingml/2006/table">
            <a:tbl>
              <a:tblPr firstRow="1" bandRow="1">
                <a:tableStyleId>{5C22544A-7EE6-4342-B048-85BDC9FD1C3A}</a:tableStyleId>
              </a:tblPr>
              <a:tblGrid>
                <a:gridCol w="1874520"/>
                <a:gridCol w="3977640"/>
                <a:gridCol w="2788920"/>
                <a:gridCol w="2834640"/>
              </a:tblGrid>
              <a:tr h="548640">
                <a:tc>
                  <a:txBody>
                    <a:bodyPr lIns="54864" rIns="54864" tIns="18288" bIns="18288" wrap="square" anchor="ctr"/>
                    <a:lstStyle/>
                    <a:p>
                      <a:pPr algn="l"/>
                      <a:r>
                        <a:rPr sz="950" b="1">
                          <a:solidFill>
                            <a:srgbClr val="FFFFFF"/>
                          </a:solidFill>
                          <a:latin typeface="Calibri"/>
                        </a:rPr>
                        <a:t>Method</a:t>
                      </a:r>
                    </a:p>
                  </a:txBody>
                  <a:tcPr>
                    <a:solidFill>
                      <a:srgbClr val="143D2F"/>
                    </a:solidFill>
                  </a:tcPr>
                </a:tc>
                <a:tc>
                  <a:txBody>
                    <a:bodyPr lIns="54864" rIns="54864" tIns="18288" bIns="18288" wrap="square" anchor="ctr"/>
                    <a:lstStyle/>
                    <a:p>
                      <a:pPr algn="l"/>
                      <a:r>
                        <a:rPr sz="950" b="1">
                          <a:solidFill>
                            <a:srgbClr val="FFFFFF"/>
                          </a:solidFill>
                          <a:latin typeface="Calibri"/>
                        </a:rPr>
                        <a:t>How it decides where the centre is</a:t>
                      </a:r>
                    </a:p>
                  </a:txBody>
                  <a:tcPr>
                    <a:solidFill>
                      <a:srgbClr val="143D2F"/>
                    </a:solidFill>
                  </a:tcPr>
                </a:tc>
                <a:tc>
                  <a:txBody>
                    <a:bodyPr lIns="54864" rIns="54864" tIns="18288" bIns="18288" wrap="square" anchor="ctr"/>
                    <a:lstStyle/>
                    <a:p>
                      <a:pPr algn="l"/>
                      <a:r>
                        <a:rPr sz="950" b="1">
                          <a:solidFill>
                            <a:srgbClr val="FFFFFF"/>
                          </a:solidFill>
                          <a:latin typeface="Calibri"/>
                        </a:rPr>
                        <a:t>Advantage</a:t>
                      </a:r>
                    </a:p>
                  </a:txBody>
                  <a:tcPr>
                    <a:solidFill>
                      <a:srgbClr val="143D2F"/>
                    </a:solidFill>
                  </a:tcPr>
                </a:tc>
                <a:tc>
                  <a:txBody>
                    <a:bodyPr lIns="54864" rIns="54864" tIns="18288" bIns="18288" wrap="square" anchor="ctr"/>
                    <a:lstStyle/>
                    <a:p>
                      <a:pPr algn="l"/>
                      <a:r>
                        <a:rPr sz="950" b="1">
                          <a:solidFill>
                            <a:srgbClr val="FFFFFF"/>
                          </a:solidFill>
                          <a:latin typeface="Calibri"/>
                        </a:rPr>
                        <a:t>Disadvantage</a:t>
                      </a:r>
                    </a:p>
                  </a:txBody>
                  <a:tcPr>
                    <a:solidFill>
                      <a:srgbClr val="143D2F"/>
                    </a:solidFill>
                  </a:tcPr>
                </a:tc>
              </a:tr>
              <a:tr h="548640">
                <a:tc>
                  <a:txBody>
                    <a:bodyPr lIns="54864" rIns="54864" tIns="18288" bIns="18288" wrap="square" anchor="ctr"/>
                    <a:lstStyle/>
                    <a:p>
                      <a:pPr algn="l"/>
                      <a:r>
                        <a:rPr sz="800" b="0">
                          <a:solidFill>
                            <a:srgbClr val="000000"/>
                          </a:solidFill>
                          <a:latin typeface="Calibri"/>
                        </a:rPr>
                        <a:t>(a) Correlation +
parabola peak-fit</a:t>
                      </a:r>
                    </a:p>
                  </a:txBody>
                  <a:tcPr/>
                </a:tc>
                <a:tc>
                  <a:txBody>
                    <a:bodyPr lIns="54864" rIns="54864" tIns="18288" bIns="18288" wrap="square" anchor="ctr"/>
                    <a:lstStyle/>
                    <a:p>
                      <a:pPr algn="l"/>
                      <a:r>
                        <a:rPr sz="800" b="0">
                          <a:solidFill>
                            <a:srgbClr val="000000"/>
                          </a:solidFill>
                          <a:latin typeface="Calibri"/>
                        </a:rPr>
                        <a:t>Slides the reference patch over the search area; the best-matching
offset, refined by a parabola through the peak and its neighbours.</a:t>
                      </a:r>
                    </a:p>
                  </a:txBody>
                  <a:tcPr/>
                </a:tc>
                <a:tc>
                  <a:txBody>
                    <a:bodyPr lIns="54864" rIns="54864" tIns="18288" bIns="18288" wrap="square" anchor="ctr"/>
                    <a:lstStyle/>
                    <a:p>
                      <a:pPr algn="l"/>
                      <a:r>
                        <a:rPr sz="800" b="0">
                          <a:solidFill>
                            <a:srgbClr val="000000"/>
                          </a:solidFill>
                          <a:latin typeface="Calibri"/>
                        </a:rPr>
                        <a:t>Needs no threshold at all, and works on any
texture — so it is what FINDS a moved patch.</a:t>
                      </a:r>
                    </a:p>
                  </a:txBody>
                  <a:tcPr/>
                </a:tc>
                <a:tc>
                  <a:txBody>
                    <a:bodyPr lIns="54864" rIns="54864" tIns="18288" bIns="18288" wrap="square" anchor="ctr"/>
                    <a:lstStyle/>
                    <a:p>
                      <a:pPr algn="l"/>
                      <a:r>
                        <a:rPr sz="800" b="0">
                          <a:solidFill>
                            <a:srgbClr val="000000"/>
                          </a:solidFill>
                          <a:latin typeface="Calibri"/>
                        </a:rPr>
                        <a:t>On a large flat disc the correlation peak is broad, so the
parabola is ill-conditioned. Erratic: 25.8 µε on S25, 11.0 on S26.</a:t>
                      </a:r>
                    </a:p>
                  </a:txBody>
                  <a:tcPr/>
                </a:tc>
              </a:tr>
              <a:tr h="548640">
                <a:tc>
                  <a:txBody>
                    <a:bodyPr lIns="54864" rIns="54864" tIns="18288" bIns="18288" wrap="square" anchor="ctr"/>
                    <a:lstStyle/>
                    <a:p>
                      <a:pPr algn="l"/>
                      <a:r>
                        <a:rPr sz="800" b="0">
                          <a:solidFill>
                            <a:srgbClr val="000000"/>
                          </a:solidFill>
                          <a:latin typeface="Calibri"/>
                        </a:rPr>
                        <a:t>(b) Binary contour
centroid  (the live rig)</a:t>
                      </a:r>
                    </a:p>
                  </a:txBody>
                  <a:tcPr/>
                </a:tc>
                <a:tc>
                  <a:txBody>
                    <a:bodyPr lIns="54864" rIns="54864" tIns="18288" bIns="18288" wrap="square" anchor="ctr"/>
                    <a:lstStyle/>
                    <a:p>
                      <a:pPr algn="l"/>
                      <a:r>
                        <a:rPr sz="800" b="0">
                          <a:solidFill>
                            <a:srgbClr val="000000"/>
                          </a:solidFill>
                          <a:latin typeface="Calibri"/>
                        </a:rPr>
                        <a:t>Thresholds the patch, takes the blob nearest the centre, and averages
the coordinates of every pixel inside it — each pixel counting once.</a:t>
                      </a:r>
                    </a:p>
                  </a:txBody>
                  <a:tcPr/>
                </a:tc>
                <a:tc>
                  <a:txBody>
                    <a:bodyPr lIns="54864" rIns="54864" tIns="18288" bIns="18288" wrap="square" anchor="ctr"/>
                    <a:lstStyle/>
                    <a:p>
                      <a:pPr algn="l"/>
                      <a:r>
                        <a:rPr sz="800" b="0">
                          <a:solidFill>
                            <a:srgbClr val="000000"/>
                          </a:solidFill>
                          <a:latin typeface="Calibri"/>
                        </a:rPr>
                        <a:t>Simple, fast and robust. Runs at frame rate
on the rig today.</a:t>
                      </a:r>
                    </a:p>
                  </a:txBody>
                  <a:tcPr/>
                </a:tc>
                <a:tc>
                  <a:txBody>
                    <a:bodyPr lIns="54864" rIns="54864" tIns="18288" bIns="18288" wrap="square" anchor="ctr"/>
                    <a:lstStyle/>
                    <a:p>
                      <a:pPr algn="l"/>
                      <a:r>
                        <a:rPr sz="800" b="0">
                          <a:solidFill>
                            <a:srgbClr val="000000"/>
                          </a:solidFill>
                          <a:latin typeface="Calibri"/>
                        </a:rPr>
                        <a:t>Where the threshold cuts the soft edge DECIDES the answer.
Worst of the three on the harder specimen (20.5 µε, S26).</a:t>
                      </a:r>
                    </a:p>
                  </a:txBody>
                  <a:tcPr/>
                </a:tc>
              </a:tr>
              <a:tr h="548640">
                <a:tc>
                  <a:txBody>
                    <a:bodyPr lIns="54864" rIns="54864" tIns="18288" bIns="18288" wrap="square" anchor="ctr"/>
                    <a:lstStyle/>
                    <a:p>
                      <a:pPr algn="l"/>
                      <a:r>
                        <a:rPr sz="800" b="0">
                          <a:solidFill>
                            <a:srgbClr val="000000"/>
                          </a:solidFill>
                          <a:latin typeface="Calibri"/>
                        </a:rPr>
                        <a:t>(c) Contour + intensity
weighting   ← CHOSEN</a:t>
                      </a:r>
                    </a:p>
                  </a:txBody>
                  <a:tcPr/>
                </a:tc>
                <a:tc>
                  <a:txBody>
                    <a:bodyPr lIns="54864" rIns="54864" tIns="18288" bIns="18288" wrap="square" anchor="ctr"/>
                    <a:lstStyle/>
                    <a:p>
                      <a:pPr algn="l"/>
                      <a:r>
                        <a:rPr sz="800" b="0">
                          <a:solidFill>
                            <a:srgbClr val="000000"/>
                          </a:solidFill>
                          <a:latin typeface="Calibri"/>
                        </a:rPr>
                        <a:t>The same contour still selects the blob, but each pixel then votes in
proportion to how dark it is, using the graded edge instead of cutting it.</a:t>
                      </a:r>
                    </a:p>
                  </a:txBody>
                  <a:tcPr/>
                </a:tc>
                <a:tc>
                  <a:txBody>
                    <a:bodyPr lIns="54864" rIns="54864" tIns="18288" bIns="18288" wrap="square" anchor="ctr"/>
                    <a:lstStyle/>
                    <a:p>
                      <a:pPr algn="l"/>
                      <a:r>
                        <a:rPr sz="800" b="0">
                          <a:solidFill>
                            <a:srgbClr val="000000"/>
                          </a:solidFill>
                          <a:latin typeface="Calibri"/>
                        </a:rPr>
                        <a:t>Best or tied-best on BOTH specimens (18.4 / 11.3 µε)
and ~2.5× less sensitive to the threshold.</a:t>
                      </a:r>
                    </a:p>
                  </a:txBody>
                  <a:tcPr/>
                </a:tc>
                <a:tc>
                  <a:txBody>
                    <a:bodyPr lIns="54864" rIns="54864" tIns="18288" bIns="18288" wrap="square" anchor="ctr"/>
                    <a:lstStyle/>
                    <a:p>
                      <a:pPr algn="l"/>
                      <a:r>
                        <a:rPr sz="800" b="0">
                          <a:solidFill>
                            <a:srgbClr val="000000"/>
                          </a:solidFill>
                          <a:latin typeface="Calibri"/>
                        </a:rPr>
                        <a:t>Assumes a symmetric marker — which is why the detector
requires circularity ≥ 0.40 before it accepts a blob.</a:t>
                      </a:r>
                    </a:p>
                  </a:txBody>
                  <a:tcPr/>
                </a:tc>
              </a:tr>
              <a:tr h="548640">
                <a:tc>
                  <a:txBody>
                    <a:bodyPr lIns="54864" rIns="54864" tIns="18288" bIns="18288" wrap="square" anchor="ctr"/>
                    <a:lstStyle/>
                    <a:p>
                      <a:pPr algn="l"/>
                      <a:r>
                        <a:rPr sz="800" b="0">
                          <a:solidFill>
                            <a:srgbClr val="000000"/>
                          </a:solidFill>
                          <a:latin typeface="Calibri"/>
                        </a:rPr>
                        <a:t>(d) Full-field subset DIC
(Ncorr / DICe style)</a:t>
                      </a:r>
                    </a:p>
                  </a:txBody>
                  <a:tcPr/>
                </a:tc>
                <a:tc>
                  <a:txBody>
                    <a:bodyPr lIns="54864" rIns="54864" tIns="18288" bIns="18288" wrap="square" anchor="ctr"/>
                    <a:lstStyle/>
                    <a:p>
                      <a:pPr algn="l"/>
                      <a:r>
                        <a:rPr sz="800" b="0">
                          <a:solidFill>
                            <a:srgbClr val="000000"/>
                          </a:solidFill>
                          <a:latin typeface="Calibri"/>
                        </a:rPr>
                        <a:t>Correlates thousands of small subsets across a sprayed speckle pattern
and solves for a whole displacement field, not two points.</a:t>
                      </a:r>
                    </a:p>
                  </a:txBody>
                  <a:tcPr/>
                </a:tc>
                <a:tc>
                  <a:txBody>
                    <a:bodyPr lIns="54864" rIns="54864" tIns="18288" bIns="18288" wrap="square" anchor="ctr"/>
                    <a:lstStyle/>
                    <a:p>
                      <a:pPr algn="l"/>
                      <a:r>
                        <a:rPr sz="800" b="0">
                          <a:solidFill>
                            <a:srgbClr val="000000"/>
                          </a:solidFill>
                          <a:latin typeface="Calibri"/>
                        </a:rPr>
                        <a:t>Gives strain FIELDS, Poisson's ratio and
localisation. The research standard.</a:t>
                      </a:r>
                    </a:p>
                  </a:txBody>
                  <a:tcPr/>
                </a:tc>
                <a:tc>
                  <a:txBody>
                    <a:bodyPr lIns="54864" rIns="54864" tIns="18288" bIns="18288" wrap="square" anchor="ctr"/>
                    <a:lstStyle/>
                    <a:p>
                      <a:pPr algn="l"/>
                      <a:r>
                        <a:rPr sz="800" b="0">
                          <a:solidFill>
                            <a:srgbClr val="000000"/>
                          </a:solidFill>
                          <a:latin typeface="Calibri"/>
                        </a:rPr>
                        <a:t>Needs a speckle pattern rather than two dots, and is minutes
of offline compute — so it cannot drive a live control loop.</a:t>
                      </a:r>
                    </a:p>
                  </a:txBody>
                  <a:tcPr/>
                </a:tc>
              </a:tr>
            </a:tbl>
          </a:graphicData>
        </a:graphic>
      </p:graphicFrame>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Panels drawn from a real S26 marker at the reference frame. All four answer the SAME question and differ only in which pixels vote, and how loudly — except (d), which is a different instrument. Noise over the fixed window; see p298.</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296</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THE INTENSITY-WEIGHTED CENTROID — THE REASONING</a:t>
            </a:r>
          </a:p>
        </p:txBody>
      </p:sp>
      <p:sp>
        <p:nvSpPr>
          <p:cNvPr id="5" name="TextBox 4"/>
          <p:cNvSpPr txBox="1"/>
          <p:nvPr/>
        </p:nvSpPr>
        <p:spPr>
          <a:xfrm>
            <a:off x="411480" y="111556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1 · Position information lives in the GRADIENT, nowhere else</a:t>
            </a:r>
          </a:p>
        </p:txBody>
      </p:sp>
      <p:sp>
        <p:nvSpPr>
          <p:cNvPr id="6" name="TextBox 5"/>
          <p:cNvSpPr txBox="1"/>
          <p:nvPr/>
        </p:nvSpPr>
        <p:spPr>
          <a:xfrm>
            <a:off x="411480" y="1463040"/>
            <a:ext cx="5623560" cy="1389888"/>
          </a:xfrm>
          <a:prstGeom prst="rect">
            <a:avLst/>
          </a:prstGeom>
          <a:noFill/>
        </p:spPr>
        <p:txBody>
          <a:bodyPr wrap="square" lIns="45720" rIns="45720" tIns="18288" bIns="18288" anchor="t">
            <a:spAutoFit/>
          </a:bodyPr>
          <a:lstStyle/>
          <a:p>
            <a:pPr algn="l"/>
            <a:r>
              <a:rPr sz="1000" b="0" i="0">
                <a:solidFill>
                  <a:srgbClr val="000000"/>
                </a:solidFill>
                <a:latin typeface="Calibri"/>
              </a:rPr>
              <a:t>For a feature in an image carrying noise σ_n, the best achievable position variance is bounded
        var(x̂)  ≥  σ_n²  ⁄  Σ (∂I/∂x)²
summed over pixels. A flat region contributes EXACTLY ZERO: the interior of the dot and the background say nothing about where the dot is. All of it sits in the brightness ramp at the rim — measured on our markers at 12 px wide.</a:t>
            </a:r>
          </a:p>
        </p:txBody>
      </p:sp>
      <p:sp>
        <p:nvSpPr>
          <p:cNvPr id="7" name="TextBox 6"/>
          <p:cNvSpPr txBox="1"/>
          <p:nvPr/>
        </p:nvSpPr>
        <p:spPr>
          <a:xfrm>
            <a:off x="6263640" y="1115568"/>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2 · A binary threshold throws that gradient away</a:t>
            </a:r>
          </a:p>
        </p:txBody>
      </p:sp>
      <p:sp>
        <p:nvSpPr>
          <p:cNvPr id="8" name="TextBox 7"/>
          <p:cNvSpPr txBox="1"/>
          <p:nvPr/>
        </p:nvSpPr>
        <p:spPr>
          <a:xfrm>
            <a:off x="6263640" y="1463040"/>
            <a:ext cx="5577840" cy="1389888"/>
          </a:xfrm>
          <a:prstGeom prst="rect">
            <a:avLst/>
          </a:prstGeom>
          <a:noFill/>
        </p:spPr>
        <p:txBody>
          <a:bodyPr wrap="square" lIns="45720" rIns="45720" tIns="18288" bIns="18288" anchor="t">
            <a:spAutoFit/>
          </a:bodyPr>
          <a:lstStyle/>
          <a:p>
            <a:pPr algn="l"/>
            <a:r>
              <a:rPr sz="1000" b="0" i="0">
                <a:solidFill>
                  <a:srgbClr val="000000"/>
                </a:solidFill>
                <a:latin typeface="Calibri"/>
              </a:rPr>
              <a:t>Thresholding replaces the 12 px ramp with a step, and the centroid then depends on WHERE the step landed. Move the level — or the illumination, or the exposure — and the boundary slides along the ramp, taking the centre with it.
Weighting by darkness uses the ramp's shape instead, averaging over the whole transition rather than over one arbitrary contour of it.</a:t>
            </a:r>
          </a:p>
        </p:txBody>
      </p:sp>
      <p:sp>
        <p:nvSpPr>
          <p:cNvPr id="9" name="TextBox 8"/>
          <p:cNvSpPr txBox="1"/>
          <p:nvPr/>
        </p:nvSpPr>
        <p:spPr>
          <a:xfrm>
            <a:off x="411480" y="298094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3 · Two jobs, deliberately kept separate</a:t>
            </a:r>
          </a:p>
        </p:txBody>
      </p:sp>
      <p:graphicFrame>
        <p:nvGraphicFramePr>
          <p:cNvPr id="10" name="Table 9"/>
          <p:cNvGraphicFramePr>
            <a:graphicFrameLocks noGrp="1"/>
          </p:cNvGraphicFramePr>
          <p:nvPr/>
        </p:nvGraphicFramePr>
        <p:xfrm>
          <a:off x="411480" y="3328416"/>
          <a:ext cx="5623559" cy="1371600"/>
        </p:xfrm>
        <a:graphic>
          <a:graphicData uri="http://schemas.openxmlformats.org/drawingml/2006/table">
            <a:tbl>
              <a:tblPr firstRow="1" bandRow="1">
                <a:tableStyleId>{5C22544A-7EE6-4342-B048-85BDC9FD1C3A}</a:tableStyleId>
              </a:tblPr>
              <a:tblGrid>
                <a:gridCol w="1417320"/>
                <a:gridCol w="1234439"/>
                <a:gridCol w="2971800"/>
              </a:tblGrid>
              <a:tr h="457200">
                <a:tc>
                  <a:txBody>
                    <a:bodyPr lIns="54864" rIns="54864" tIns="18288" bIns="18288" wrap="square" anchor="ctr"/>
                    <a:lstStyle/>
                    <a:p>
                      <a:pPr algn="l"/>
                      <a:r>
                        <a:rPr sz="950" b="1">
                          <a:solidFill>
                            <a:srgbClr val="FFFFFF"/>
                          </a:solidFill>
                          <a:latin typeface="Calibri"/>
                        </a:rPr>
                        <a:t>Job</a:t>
                      </a:r>
                    </a:p>
                  </a:txBody>
                  <a:tcPr>
                    <a:solidFill>
                      <a:srgbClr val="143D2F"/>
                    </a:solidFill>
                  </a:tcPr>
                </a:tc>
                <a:tc>
                  <a:txBody>
                    <a:bodyPr lIns="54864" rIns="54864" tIns="18288" bIns="18288" wrap="square" anchor="ctr"/>
                    <a:lstStyle/>
                    <a:p>
                      <a:pPr algn="l"/>
                      <a:r>
                        <a:rPr sz="950" b="1">
                          <a:solidFill>
                            <a:srgbClr val="FFFFFF"/>
                          </a:solidFill>
                          <a:latin typeface="Calibri"/>
                        </a:rPr>
                        <a:t>Done by</a:t>
                      </a:r>
                    </a:p>
                  </a:txBody>
                  <a:tcPr>
                    <a:solidFill>
                      <a:srgbClr val="143D2F"/>
                    </a:solidFill>
                  </a:tcPr>
                </a:tc>
                <a:tc>
                  <a:txBody>
                    <a:bodyPr lIns="54864" rIns="54864" tIns="18288" bIns="18288" wrap="square" anchor="ctr"/>
                    <a:lstStyle/>
                    <a:p>
                      <a:pPr algn="l"/>
                      <a:r>
                        <a:rPr sz="950" b="1">
                          <a:solidFill>
                            <a:srgbClr val="FFFFFF"/>
                          </a:solidFill>
                          <a:latin typeface="Calibri"/>
                        </a:rPr>
                        <a:t>Why that one</a:t>
                      </a:r>
                    </a:p>
                  </a:txBody>
                  <a:tcPr>
                    <a:solidFill>
                      <a:srgbClr val="143D2F"/>
                    </a:solidFill>
                  </a:tcPr>
                </a:tc>
              </a:tr>
              <a:tr h="457200">
                <a:tc>
                  <a:txBody>
                    <a:bodyPr lIns="54864" rIns="54864" tIns="18288" bIns="18288" wrap="square" anchor="ctr"/>
                    <a:lstStyle/>
                    <a:p>
                      <a:pPr algn="l"/>
                      <a:r>
                        <a:rPr sz="850" b="0">
                          <a:solidFill>
                            <a:srgbClr val="000000"/>
                          </a:solidFill>
                          <a:latin typeface="Calibri"/>
                        </a:rPr>
                        <a:t>Which blob is
the marker?</a:t>
                      </a:r>
                    </a:p>
                  </a:txBody>
                  <a:tcPr/>
                </a:tc>
                <a:tc>
                  <a:txBody>
                    <a:bodyPr lIns="54864" rIns="54864" tIns="18288" bIns="18288" wrap="square" anchor="ctr"/>
                    <a:lstStyle/>
                    <a:p>
                      <a:pPr algn="l"/>
                      <a:r>
                        <a:rPr sz="850" b="0">
                          <a:solidFill>
                            <a:srgbClr val="000000"/>
                          </a:solidFill>
                          <a:latin typeface="Calibri"/>
                        </a:rPr>
                        <a:t>the contour
(binary)</a:t>
                      </a:r>
                    </a:p>
                  </a:txBody>
                  <a:tcPr/>
                </a:tc>
                <a:tc>
                  <a:txBody>
                    <a:bodyPr lIns="54864" rIns="54864" tIns="18288" bIns="18288" wrap="square" anchor="ctr"/>
                    <a:lstStyle/>
                    <a:p>
                      <a:pPr algn="l"/>
                      <a:r>
                        <a:rPr sz="850" b="0">
                          <a:solidFill>
                            <a:srgbClr val="000000"/>
                          </a:solidFill>
                          <a:latin typeface="Calibri"/>
                        </a:rPr>
                        <a:t>A yes/no question — robustness
matters, precision does not.</a:t>
                      </a:r>
                    </a:p>
                  </a:txBody>
                  <a:tcPr/>
                </a:tc>
              </a:tr>
              <a:tr h="457200">
                <a:tc>
                  <a:txBody>
                    <a:bodyPr lIns="54864" rIns="54864" tIns="18288" bIns="18288" wrap="square" anchor="ctr"/>
                    <a:lstStyle/>
                    <a:p>
                      <a:pPr algn="l"/>
                      <a:r>
                        <a:rPr sz="850" b="0">
                          <a:solidFill>
                            <a:srgbClr val="000000"/>
                          </a:solidFill>
                          <a:latin typeface="Calibri"/>
                        </a:rPr>
                        <a:t>Where exactly is
its centre?</a:t>
                      </a:r>
                    </a:p>
                  </a:txBody>
                  <a:tcPr/>
                </a:tc>
                <a:tc>
                  <a:txBody>
                    <a:bodyPr lIns="54864" rIns="54864" tIns="18288" bIns="18288" wrap="square" anchor="ctr"/>
                    <a:lstStyle/>
                    <a:p>
                      <a:pPr algn="l"/>
                      <a:r>
                        <a:rPr sz="850" b="0">
                          <a:solidFill>
                            <a:srgbClr val="000000"/>
                          </a:solidFill>
                          <a:latin typeface="Calibri"/>
                        </a:rPr>
                        <a:t>intensity
weighting</a:t>
                      </a:r>
                    </a:p>
                  </a:txBody>
                  <a:tcPr/>
                </a:tc>
                <a:tc>
                  <a:txBody>
                    <a:bodyPr lIns="54864" rIns="54864" tIns="18288" bIns="18288" wrap="square" anchor="ctr"/>
                    <a:lstStyle/>
                    <a:p>
                      <a:pPr algn="l"/>
                      <a:r>
                        <a:rPr sz="850" b="0">
                          <a:solidFill>
                            <a:srgbClr val="000000"/>
                          </a:solidFill>
                          <a:latin typeface="Calibri"/>
                        </a:rPr>
                        <a:t>A continuous question — needs the
gradient, so no hard cut is used.</a:t>
                      </a:r>
                    </a:p>
                  </a:txBody>
                  <a:tcPr/>
                </a:tc>
              </a:tr>
            </a:tbl>
          </a:graphicData>
        </a:graphic>
      </p:graphicFrame>
      <p:sp>
        <p:nvSpPr>
          <p:cNvPr id="11" name="TextBox 10"/>
          <p:cNvSpPr txBox="1"/>
          <p:nvPr/>
        </p:nvSpPr>
        <p:spPr>
          <a:xfrm>
            <a:off x="6263640" y="298094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4 · Why not simply correlate, as the tracker already does</a:t>
            </a:r>
          </a:p>
        </p:txBody>
      </p:sp>
      <p:sp>
        <p:nvSpPr>
          <p:cNvPr id="12" name="TextBox 11"/>
          <p:cNvSpPr txBox="1"/>
          <p:nvPr/>
        </p:nvSpPr>
        <p:spPr>
          <a:xfrm>
            <a:off x="6263640" y="3328416"/>
            <a:ext cx="5577840" cy="1371600"/>
          </a:xfrm>
          <a:prstGeom prst="rect">
            <a:avLst/>
          </a:prstGeom>
          <a:noFill/>
        </p:spPr>
        <p:txBody>
          <a:bodyPr wrap="square" lIns="45720" rIns="45720" tIns="18288" bIns="18288" anchor="t">
            <a:spAutoFit/>
          </a:bodyPr>
          <a:lstStyle/>
          <a:p>
            <a:pPr algn="l"/>
            <a:r>
              <a:rPr sz="1000" b="0" i="0">
                <a:solidFill>
                  <a:srgbClr val="000000"/>
                </a:solidFill>
                <a:latin typeface="Calibri"/>
              </a:rPr>
              <a:t>Correlation is the right tool for FINDING a patch that has moved, and it is still what the post-processor uses for that. But its peak on a near-uniform disc is broad — low curvature — so the sub-pixel parabola through it is poorly conditioned and prone to peak-locking toward whole pixels. Correlation locates the marker; the centroid then measures it.</a:t>
            </a:r>
          </a:p>
        </p:txBody>
      </p:sp>
      <p:sp>
        <p:nvSpPr>
          <p:cNvPr id="13" name="TextBox 12"/>
          <p:cNvSpPr txBox="1"/>
          <p:nvPr/>
        </p:nvSpPr>
        <p:spPr>
          <a:xfrm>
            <a:off x="411480" y="4809744"/>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5 · What that reasoning PREDICTS — which is what the next two slides test</a:t>
            </a:r>
          </a:p>
        </p:txBody>
      </p:sp>
      <p:graphicFrame>
        <p:nvGraphicFramePr>
          <p:cNvPr id="14" name="Table 13"/>
          <p:cNvGraphicFramePr>
            <a:graphicFrameLocks noGrp="1"/>
          </p:cNvGraphicFramePr>
          <p:nvPr/>
        </p:nvGraphicFramePr>
        <p:xfrm>
          <a:off x="411480" y="5157216"/>
          <a:ext cx="11430000" cy="1097280"/>
        </p:xfrm>
        <a:graphic>
          <a:graphicData uri="http://schemas.openxmlformats.org/drawingml/2006/table">
            <a:tbl>
              <a:tblPr firstRow="1" bandRow="1">
                <a:tableStyleId>{5C22544A-7EE6-4342-B048-85BDC9FD1C3A}</a:tableStyleId>
              </a:tblPr>
              <a:tblGrid>
                <a:gridCol w="3657600"/>
                <a:gridCol w="5120640"/>
                <a:gridCol w="2651760"/>
              </a:tblGrid>
              <a:tr h="274320">
                <a:tc>
                  <a:txBody>
                    <a:bodyPr lIns="54864" rIns="54864" tIns="18288" bIns="18288" wrap="square" anchor="ctr"/>
                    <a:lstStyle/>
                    <a:p>
                      <a:pPr algn="l"/>
                      <a:r>
                        <a:rPr sz="950" b="1">
                          <a:solidFill>
                            <a:srgbClr val="FFFFFF"/>
                          </a:solidFill>
                          <a:latin typeface="Calibri"/>
                        </a:rPr>
                        <a:t>If the reasoning is right, then…</a:t>
                      </a:r>
                    </a:p>
                  </a:txBody>
                  <a:tcPr>
                    <a:solidFill>
                      <a:srgbClr val="143D2F"/>
                    </a:solidFill>
                  </a:tcPr>
                </a:tc>
                <a:tc>
                  <a:txBody>
                    <a:bodyPr lIns="54864" rIns="54864" tIns="18288" bIns="18288" wrap="square" anchor="ctr"/>
                    <a:lstStyle/>
                    <a:p>
                      <a:pPr algn="l"/>
                      <a:r>
                        <a:rPr sz="950" b="1">
                          <a:solidFill>
                            <a:srgbClr val="FFFFFF"/>
                          </a:solidFill>
                          <a:latin typeface="Calibri"/>
                        </a:rPr>
                        <a:t>Testable consequence</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74320">
                <a:tc>
                  <a:txBody>
                    <a:bodyPr lIns="54864" rIns="54864" tIns="18288" bIns="18288" wrap="square" anchor="ctr"/>
                    <a:lstStyle/>
                    <a:p>
                      <a:pPr algn="l"/>
                      <a:r>
                        <a:rPr sz="850" b="0">
                          <a:solidFill>
                            <a:srgbClr val="000000"/>
                          </a:solidFill>
                          <a:latin typeface="Calibri"/>
                        </a:rPr>
                        <a:t>information is in the edge, not the interior</a:t>
                      </a:r>
                    </a:p>
                  </a:txBody>
                  <a:tcPr/>
                </a:tc>
                <a:tc>
                  <a:txBody>
                    <a:bodyPr lIns="54864" rIns="54864" tIns="18288" bIns="18288" wrap="square" anchor="ctr"/>
                    <a:lstStyle/>
                    <a:p>
                      <a:pPr algn="l"/>
                      <a:r>
                        <a:rPr sz="850" b="0">
                          <a:solidFill>
                            <a:srgbClr val="000000"/>
                          </a:solidFill>
                          <a:latin typeface="Calibri"/>
                        </a:rPr>
                        <a:t>a patch too small to reach the rim tracks badly however good the estimator</a:t>
                      </a:r>
                    </a:p>
                  </a:txBody>
                  <a:tcPr/>
                </a:tc>
                <a:tc>
                  <a:txBody>
                    <a:bodyPr lIns="54864" rIns="54864" tIns="18288" bIns="18288" wrap="square" anchor="ctr"/>
                    <a:lstStyle/>
                    <a:p>
                      <a:pPr algn="l"/>
                      <a:r>
                        <a:rPr sz="850" b="0">
                          <a:solidFill>
                            <a:srgbClr val="000000"/>
                          </a:solidFill>
                          <a:latin typeface="Calibri"/>
                        </a:rPr>
                        <a:t>confirmed — 13× worse</a:t>
                      </a:r>
                    </a:p>
                  </a:txBody>
                  <a:tcPr/>
                </a:tc>
              </a:tr>
              <a:tr h="274320">
                <a:tc>
                  <a:txBody>
                    <a:bodyPr lIns="54864" rIns="54864" tIns="18288" bIns="18288" wrap="square" anchor="ctr"/>
                    <a:lstStyle/>
                    <a:p>
                      <a:pPr algn="l"/>
                      <a:r>
                        <a:rPr sz="850" b="0">
                          <a:solidFill>
                            <a:srgbClr val="000000"/>
                          </a:solidFill>
                          <a:latin typeface="Calibri"/>
                        </a:rPr>
                        <a:t>weighting uses the ramp; thresholding cuts it</a:t>
                      </a:r>
                    </a:p>
                  </a:txBody>
                  <a:tcPr/>
                </a:tc>
                <a:tc>
                  <a:txBody>
                    <a:bodyPr lIns="54864" rIns="54864" tIns="18288" bIns="18288" wrap="square" anchor="ctr"/>
                    <a:lstStyle/>
                    <a:p>
                      <a:pPr algn="l"/>
                      <a:r>
                        <a:rPr sz="850" b="0">
                          <a:solidFill>
                            <a:srgbClr val="000000"/>
                          </a:solidFill>
                          <a:latin typeface="Calibri"/>
                        </a:rPr>
                        <a:t>sweeping the threshold moves a binary centre much further than a weighted one</a:t>
                      </a:r>
                    </a:p>
                  </a:txBody>
                  <a:tcPr/>
                </a:tc>
                <a:tc>
                  <a:txBody>
                    <a:bodyPr lIns="54864" rIns="54864" tIns="18288" bIns="18288" wrap="square" anchor="ctr"/>
                    <a:lstStyle/>
                    <a:p>
                      <a:pPr algn="l"/>
                      <a:r>
                        <a:rPr sz="850" b="0">
                          <a:solidFill>
                            <a:srgbClr val="000000"/>
                          </a:solidFill>
                          <a:latin typeface="Calibri"/>
                        </a:rPr>
                        <a:t>confirmed — 2.4× and 2.5× further</a:t>
                      </a:r>
                    </a:p>
                  </a:txBody>
                  <a:tcPr/>
                </a:tc>
              </a:tr>
              <a:tr h="274320">
                <a:tc>
                  <a:txBody>
                    <a:bodyPr lIns="54864" rIns="54864" tIns="18288" bIns="18288" wrap="square" anchor="ctr"/>
                    <a:lstStyle/>
                    <a:p>
                      <a:pPr algn="l"/>
                      <a:r>
                        <a:rPr sz="850" b="0">
                          <a:solidFill>
                            <a:srgbClr val="000000"/>
                          </a:solidFill>
                          <a:latin typeface="Calibri"/>
                        </a:rPr>
                        <a:t>the estimator sets precision, not the value</a:t>
                      </a:r>
                    </a:p>
                  </a:txBody>
                  <a:tcPr/>
                </a:tc>
                <a:tc>
                  <a:txBody>
                    <a:bodyPr lIns="54864" rIns="54864" tIns="18288" bIns="18288" wrap="square" anchor="ctr"/>
                    <a:lstStyle/>
                    <a:p>
                      <a:pPr algn="l"/>
                      <a:r>
                        <a:rPr sz="850" b="0">
                          <a:solidFill>
                            <a:srgbClr val="000000"/>
                          </a:solidFill>
                          <a:latin typeface="Calibri"/>
                        </a:rPr>
                        <a:t>all three agree on Px₀ and on peak strain, and differ only in scatter</a:t>
                      </a:r>
                    </a:p>
                  </a:txBody>
                  <a:tcPr/>
                </a:tc>
                <a:tc>
                  <a:txBody>
                    <a:bodyPr lIns="54864" rIns="54864" tIns="18288" bIns="18288" wrap="square" anchor="ctr"/>
                    <a:lstStyle/>
                    <a:p>
                      <a:pPr algn="l"/>
                      <a:r>
                        <a:rPr sz="850" b="0">
                          <a:solidFill>
                            <a:srgbClr val="000000"/>
                          </a:solidFill>
                          <a:latin typeface="Calibri"/>
                        </a:rPr>
                        <a:t>confirmed — Px₀ within 0.05 %</a:t>
                      </a:r>
                    </a:p>
                  </a:txBody>
                  <a:tcPr/>
                </a:tc>
              </a:tr>
            </a:tbl>
          </a:graphicData>
        </a:graphic>
      </p:graphicFrame>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bound in (1) is the Cramér–Rao limit for feature localisation; it is quoted to say WHERE the information is, not to claim the estimator attains it. Proof on p298 and p299.</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297</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DATA PROOF (1 OF 2) — PATCH SIZE FIRST, THEN THE ESTIMATOR</a:t>
            </a:r>
          </a:p>
        </p:txBody>
      </p:sp>
      <p:pic>
        <p:nvPicPr>
          <p:cNvPr id="5" name="Picture 4" descr="est_box.png"/>
          <p:cNvPicPr>
            <a:picLocks noChangeAspect="1"/>
          </p:cNvPicPr>
          <p:nvPr/>
        </p:nvPicPr>
        <p:blipFill>
          <a:blip r:embed="rId2"/>
          <a:stretch>
            <a:fillRect/>
          </a:stretch>
        </p:blipFill>
        <p:spPr>
          <a:xfrm>
            <a:off x="3043758" y="1060704"/>
            <a:ext cx="6074002" cy="2084832"/>
          </a:xfrm>
          <a:prstGeom prst="rect">
            <a:avLst/>
          </a:prstGeom>
        </p:spPr>
      </p:pic>
      <p:pic>
        <p:nvPicPr>
          <p:cNvPr id="6" name="Picture 5" descr="est_compare.png"/>
          <p:cNvPicPr>
            <a:picLocks noChangeAspect="1"/>
          </p:cNvPicPr>
          <p:nvPr/>
        </p:nvPicPr>
        <p:blipFill>
          <a:blip r:embed="rId3"/>
          <a:stretch>
            <a:fillRect/>
          </a:stretch>
        </p:blipFill>
        <p:spPr>
          <a:xfrm>
            <a:off x="2997000" y="3218688"/>
            <a:ext cx="6167518" cy="2084832"/>
          </a:xfrm>
          <a:prstGeom prst="rect">
            <a:avLst/>
          </a:prstGeom>
        </p:spPr>
      </p:pic>
      <p:sp>
        <p:nvSpPr>
          <p:cNvPr id="7" name="Rounded Rectangle 6"/>
          <p:cNvSpPr/>
          <p:nvPr/>
        </p:nvSpPr>
        <p:spPr>
          <a:xfrm>
            <a:off x="411480" y="5413248"/>
            <a:ext cx="2697480" cy="804672"/>
          </a:xfrm>
          <a:prstGeom prst="roundRect">
            <a:avLst/>
          </a:prstGeom>
          <a:solidFill>
            <a:srgbClr val="FFCDD2"/>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184 µε</a:t>
            </a:r>
          </a:p>
          <a:p>
            <a:pPr algn="ctr"/>
            <a:r>
              <a:rPr sz="950">
                <a:solidFill>
                  <a:srgbClr val="000000"/>
                </a:solidFill>
                <a:latin typeface="Calibri"/>
              </a:rPr>
              <a:t>PATCH TOO SMALL (&lt; 1× r)</a:t>
            </a:r>
          </a:p>
        </p:txBody>
      </p:sp>
      <p:sp>
        <p:nvSpPr>
          <p:cNvPr id="8" name="Rounded Rectangle 7"/>
          <p:cNvSpPr/>
          <p:nvPr/>
        </p:nvSpPr>
        <p:spPr>
          <a:xfrm>
            <a:off x="3291840" y="5413248"/>
            <a:ext cx="2697480" cy="80467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14 µε</a:t>
            </a:r>
          </a:p>
          <a:p>
            <a:pPr algn="ctr"/>
            <a:r>
              <a:rPr sz="950">
                <a:solidFill>
                  <a:srgbClr val="000000"/>
                </a:solidFill>
                <a:latin typeface="Calibri"/>
              </a:rPr>
              <a:t>PATCH CLEAR OF THE EDGE</a:t>
            </a:r>
          </a:p>
        </p:txBody>
      </p:sp>
      <p:sp>
        <p:nvSpPr>
          <p:cNvPr id="9" name="Rounded Rectangle 8"/>
          <p:cNvSpPr/>
          <p:nvPr/>
        </p:nvSpPr>
        <p:spPr>
          <a:xfrm>
            <a:off x="6172200" y="5413248"/>
            <a:ext cx="2697480" cy="804672"/>
          </a:xfrm>
          <a:prstGeom prst="round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25.2 µε</a:t>
            </a:r>
          </a:p>
          <a:p>
            <a:pPr algn="ctr"/>
            <a:r>
              <a:rPr sz="950">
                <a:solidFill>
                  <a:srgbClr val="000000"/>
                </a:solidFill>
                <a:latin typeface="Calibri"/>
              </a:rPr>
              <a:t>BINARY CENTROID, WORST CASE</a:t>
            </a:r>
          </a:p>
        </p:txBody>
      </p:sp>
      <p:sp>
        <p:nvSpPr>
          <p:cNvPr id="10" name="Rounded Rectangle 9"/>
          <p:cNvSpPr/>
          <p:nvPr/>
        </p:nvSpPr>
        <p:spPr>
          <a:xfrm>
            <a:off x="9052560" y="5413248"/>
            <a:ext cx="2697480" cy="80467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700" b="1">
                <a:solidFill>
                  <a:srgbClr val="1F3F2F"/>
                </a:solidFill>
                <a:latin typeface="Calibri"/>
              </a:rPr>
              <a:t>18.4 µε</a:t>
            </a:r>
          </a:p>
          <a:p>
            <a:pPr algn="ctr"/>
            <a:r>
              <a:rPr sz="950">
                <a:solidFill>
                  <a:srgbClr val="000000"/>
                </a:solidFill>
                <a:latin typeface="Calibri"/>
              </a:rPr>
              <a:t>WEIGHTED, WORST CASE</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Order of operations matters: patch size buys 13×, the estimator a further 1.4× — so a wrong patch cannot be repaired by a better estimator. Every configuration is scored over the same fixed FRAME window taken from the rig's own strain.</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298</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DATA PROOF (2 OF 2) — ROBUSTNESS AND ACCURACY</a:t>
            </a:r>
          </a:p>
        </p:txBody>
      </p:sp>
      <p:pic>
        <p:nvPicPr>
          <p:cNvPr id="5" name="Picture 4" descr="est_threshold.png"/>
          <p:cNvPicPr>
            <a:picLocks noChangeAspect="1"/>
          </p:cNvPicPr>
          <p:nvPr/>
        </p:nvPicPr>
        <p:blipFill>
          <a:blip r:embed="rId2"/>
          <a:stretch>
            <a:fillRect/>
          </a:stretch>
        </p:blipFill>
        <p:spPr>
          <a:xfrm>
            <a:off x="3161741" y="1042415"/>
            <a:ext cx="5838037" cy="1938528"/>
          </a:xfrm>
          <a:prstGeom prst="rect">
            <a:avLst/>
          </a:prstGeom>
        </p:spPr>
      </p:pic>
      <p:pic>
        <p:nvPicPr>
          <p:cNvPr id="6" name="Picture 5" descr="est_accuracy.png"/>
          <p:cNvPicPr>
            <a:picLocks noChangeAspect="1"/>
          </p:cNvPicPr>
          <p:nvPr/>
        </p:nvPicPr>
        <p:blipFill>
          <a:blip r:embed="rId3"/>
          <a:stretch>
            <a:fillRect/>
          </a:stretch>
        </p:blipFill>
        <p:spPr>
          <a:xfrm>
            <a:off x="3229051" y="3054096"/>
            <a:ext cx="5703417" cy="1938528"/>
          </a:xfrm>
          <a:prstGeom prst="rect">
            <a:avLst/>
          </a:prstGeom>
        </p:spPr>
      </p:pic>
      <p:sp>
        <p:nvSpPr>
          <p:cNvPr id="7" name="TextBox 6"/>
          <p:cNvSpPr txBox="1"/>
          <p:nvPr/>
        </p:nvSpPr>
        <p:spPr>
          <a:xfrm>
            <a:off x="411480" y="50292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Precision bought without buying error</a:t>
            </a:r>
          </a:p>
        </p:txBody>
      </p:sp>
      <p:graphicFrame>
        <p:nvGraphicFramePr>
          <p:cNvPr id="8" name="Table 7"/>
          <p:cNvGraphicFramePr>
            <a:graphicFrameLocks noGrp="1"/>
          </p:cNvGraphicFramePr>
          <p:nvPr/>
        </p:nvGraphicFramePr>
        <p:xfrm>
          <a:off x="411480" y="5376672"/>
          <a:ext cx="5623560" cy="914400"/>
        </p:xfrm>
        <a:graphic>
          <a:graphicData uri="http://schemas.openxmlformats.org/drawingml/2006/table">
            <a:tbl>
              <a:tblPr firstRow="1" bandRow="1">
                <a:tableStyleId>{5C22544A-7EE6-4342-B048-85BDC9FD1C3A}</a:tableStyleId>
              </a:tblPr>
              <a:tblGrid>
                <a:gridCol w="3063240"/>
                <a:gridCol w="1280160"/>
                <a:gridCol w="1280160"/>
              </a:tblGrid>
              <a:tr h="22860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S25</a:t>
                      </a:r>
                    </a:p>
                  </a:txBody>
                  <a:tcPr>
                    <a:solidFill>
                      <a:srgbClr val="143D2F"/>
                    </a:solidFill>
                  </a:tcPr>
                </a:tc>
                <a:tc>
                  <a:txBody>
                    <a:bodyPr lIns="54864" rIns="54864" tIns="18288" bIns="18288" wrap="square" anchor="ctr"/>
                    <a:lstStyle/>
                    <a:p>
                      <a:pPr algn="l"/>
                      <a:r>
                        <a:rPr sz="950" b="1">
                          <a:solidFill>
                            <a:srgbClr val="FFFFFF"/>
                          </a:solidFill>
                          <a:latin typeface="Calibri"/>
                        </a:rPr>
                        <a:t>S26</a:t>
                      </a:r>
                    </a:p>
                  </a:txBody>
                  <a:tcPr>
                    <a:solidFill>
                      <a:srgbClr val="143D2F"/>
                    </a:solidFill>
                  </a:tcPr>
                </a:tc>
              </a:tr>
              <a:tr h="228600">
                <a:tc>
                  <a:txBody>
                    <a:bodyPr lIns="54864" rIns="54864" tIns="18288" bIns="18288" wrap="square" anchor="ctr"/>
                    <a:lstStyle/>
                    <a:p>
                      <a:pPr algn="l"/>
                      <a:r>
                        <a:rPr sz="850" b="0">
                          <a:solidFill>
                            <a:srgbClr val="000000"/>
                          </a:solidFill>
                          <a:latin typeface="Calibri"/>
                        </a:rPr>
                        <a:t>ε_f measured by the rig (%)</a:t>
                      </a:r>
                    </a:p>
                  </a:txBody>
                  <a:tcPr/>
                </a:tc>
                <a:tc>
                  <a:txBody>
                    <a:bodyPr lIns="54864" rIns="54864" tIns="18288" bIns="18288" wrap="square" anchor="ctr"/>
                    <a:lstStyle/>
                    <a:p>
                      <a:pPr algn="l"/>
                      <a:r>
                        <a:rPr sz="850" b="0">
                          <a:solidFill>
                            <a:srgbClr val="000000"/>
                          </a:solidFill>
                          <a:latin typeface="Calibri"/>
                        </a:rPr>
                        <a:t>4.18</a:t>
                      </a:r>
                    </a:p>
                  </a:txBody>
                  <a:tcPr/>
                </a:tc>
                <a:tc>
                  <a:txBody>
                    <a:bodyPr lIns="54864" rIns="54864" tIns="18288" bIns="18288" wrap="square" anchor="ctr"/>
                    <a:lstStyle/>
                    <a:p>
                      <a:pPr algn="l"/>
                      <a:r>
                        <a:rPr sz="850" b="0">
                          <a:solidFill>
                            <a:srgbClr val="000000"/>
                          </a:solidFill>
                          <a:latin typeface="Calibri"/>
                        </a:rPr>
                        <a:t>5.74</a:t>
                      </a:r>
                    </a:p>
                  </a:txBody>
                  <a:tcPr/>
                </a:tc>
              </a:tr>
              <a:tr h="228600">
                <a:tc>
                  <a:txBody>
                    <a:bodyPr lIns="54864" rIns="54864" tIns="18288" bIns="18288" wrap="square" anchor="ctr"/>
                    <a:lstStyle/>
                    <a:p>
                      <a:pPr algn="l"/>
                      <a:r>
                        <a:rPr sz="850" b="0">
                          <a:solidFill>
                            <a:srgbClr val="000000"/>
                          </a:solidFill>
                          <a:latin typeface="Calibri"/>
                        </a:rPr>
                        <a:t>peak ε re-measured here (%)</a:t>
                      </a:r>
                    </a:p>
                  </a:txBody>
                  <a:tcPr/>
                </a:tc>
                <a:tc>
                  <a:txBody>
                    <a:bodyPr lIns="54864" rIns="54864" tIns="18288" bIns="18288" wrap="square" anchor="ctr"/>
                    <a:lstStyle/>
                    <a:p>
                      <a:pPr algn="l"/>
                      <a:r>
                        <a:rPr sz="850" b="0">
                          <a:solidFill>
                            <a:srgbClr val="000000"/>
                          </a:solidFill>
                          <a:latin typeface="Calibri"/>
                        </a:rPr>
                        <a:t>4.17</a:t>
                      </a:r>
                    </a:p>
                  </a:txBody>
                  <a:tcPr/>
                </a:tc>
                <a:tc>
                  <a:txBody>
                    <a:bodyPr lIns="54864" rIns="54864" tIns="18288" bIns="18288" wrap="square" anchor="ctr"/>
                    <a:lstStyle/>
                    <a:p>
                      <a:pPr algn="l"/>
                      <a:r>
                        <a:rPr sz="850" b="0">
                          <a:solidFill>
                            <a:srgbClr val="000000"/>
                          </a:solidFill>
                          <a:latin typeface="Calibri"/>
                        </a:rPr>
                        <a:t>5.72</a:t>
                      </a:r>
                    </a:p>
                  </a:txBody>
                  <a:tcPr/>
                </a:tc>
              </a:tr>
              <a:tr h="228600">
                <a:tc>
                  <a:txBody>
                    <a:bodyPr lIns="54864" rIns="54864" tIns="18288" bIns="18288" wrap="square" anchor="ctr"/>
                    <a:lstStyle/>
                    <a:p>
                      <a:pPr algn="l"/>
                      <a:r>
                        <a:rPr sz="850" b="0">
                          <a:solidFill>
                            <a:srgbClr val="000000"/>
                          </a:solidFill>
                          <a:latin typeface="Calibri"/>
                        </a:rPr>
                        <a:t>scatter against the live rig (µε)</a:t>
                      </a:r>
                    </a:p>
                  </a:txBody>
                  <a:tcPr/>
                </a:tc>
                <a:tc>
                  <a:txBody>
                    <a:bodyPr lIns="54864" rIns="54864" tIns="18288" bIns="18288" wrap="square" anchor="ctr"/>
                    <a:lstStyle/>
                    <a:p>
                      <a:pPr algn="l"/>
                      <a:r>
                        <a:rPr sz="850" b="0">
                          <a:solidFill>
                            <a:srgbClr val="000000"/>
                          </a:solidFill>
                          <a:latin typeface="Calibri"/>
                        </a:rPr>
                        <a:t>330</a:t>
                      </a:r>
                    </a:p>
                  </a:txBody>
                  <a:tcPr/>
                </a:tc>
                <a:tc>
                  <a:txBody>
                    <a:bodyPr lIns="54864" rIns="54864" tIns="18288" bIns="18288" wrap="square" anchor="ctr"/>
                    <a:lstStyle/>
                    <a:p>
                      <a:pPr algn="l"/>
                      <a:r>
                        <a:rPr sz="850" b="0">
                          <a:solidFill>
                            <a:srgbClr val="000000"/>
                          </a:solidFill>
                          <a:latin typeface="Calibri"/>
                        </a:rPr>
                        <a:t>363</a:t>
                      </a:r>
                    </a:p>
                  </a:txBody>
                  <a:tcPr/>
                </a:tc>
              </a:tr>
            </a:tbl>
          </a:graphicData>
        </a:graphic>
      </p:graphicFrame>
      <p:sp>
        <p:nvSpPr>
          <p:cNvPr id="9" name="TextBox 8"/>
          <p:cNvSpPr txBox="1"/>
          <p:nvPr/>
        </p:nvSpPr>
        <p:spPr>
          <a:xfrm>
            <a:off x="6263640" y="50292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Tested, and WITHDRAWN — artefacts of a moving window</a:t>
            </a:r>
          </a:p>
        </p:txBody>
      </p:sp>
      <p:graphicFrame>
        <p:nvGraphicFramePr>
          <p:cNvPr id="10" name="Table 9"/>
          <p:cNvGraphicFramePr>
            <a:graphicFrameLocks noGrp="1"/>
          </p:cNvGraphicFramePr>
          <p:nvPr/>
        </p:nvGraphicFramePr>
        <p:xfrm>
          <a:off x="6263640" y="5376672"/>
          <a:ext cx="5577839" cy="914400"/>
        </p:xfrm>
        <a:graphic>
          <a:graphicData uri="http://schemas.openxmlformats.org/drawingml/2006/table">
            <a:tbl>
              <a:tblPr firstRow="1" bandRow="1">
                <a:tableStyleId>{5C22544A-7EE6-4342-B048-85BDC9FD1C3A}</a:tableStyleId>
              </a:tblPr>
              <a:tblGrid>
                <a:gridCol w="2606039"/>
                <a:gridCol w="1783080"/>
                <a:gridCol w="1188720"/>
              </a:tblGrid>
              <a:tr h="304800">
                <a:tc>
                  <a:txBody>
                    <a:bodyPr lIns="54864" rIns="54864" tIns="18288" bIns="18288" wrap="square" anchor="ctr"/>
                    <a:lstStyle/>
                    <a:p>
                      <a:pPr algn="l"/>
                      <a:r>
                        <a:rPr sz="950" b="1">
                          <a:solidFill>
                            <a:srgbClr val="FFFFFF"/>
                          </a:solidFill>
                          <a:latin typeface="Calibri"/>
                        </a:rPr>
                        <a:t>Claim previously made here</a:t>
                      </a:r>
                    </a:p>
                  </a:txBody>
                  <a:tcPr>
                    <a:solidFill>
                      <a:srgbClr val="143D2F"/>
                    </a:solidFill>
                  </a:tcPr>
                </a:tc>
                <a:tc>
                  <a:txBody>
                    <a:bodyPr lIns="54864" rIns="54864" tIns="18288" bIns="18288" wrap="square" anchor="ctr"/>
                    <a:lstStyle/>
                    <a:p>
                      <a:pPr algn="l"/>
                      <a:r>
                        <a:rPr sz="950" b="1">
                          <a:solidFill>
                            <a:srgbClr val="FFFFFF"/>
                          </a:solidFill>
                          <a:latin typeface="Calibri"/>
                        </a:rPr>
                        <a:t>Re-measured</a:t>
                      </a:r>
                    </a:p>
                  </a:txBody>
                  <a:tcPr>
                    <a:solidFill>
                      <a:srgbClr val="143D2F"/>
                    </a:solidFill>
                  </a:tcPr>
                </a:tc>
                <a:tc>
                  <a:txBody>
                    <a:bodyPr lIns="54864" rIns="54864" tIns="18288" bIns="18288" wrap="square" anchor="ctr"/>
                    <a:lstStyle/>
                    <a:p>
                      <a:pPr algn="l"/>
                      <a:r>
                        <a:rPr sz="950" b="1">
                          <a:solidFill>
                            <a:srgbClr val="FFFFFF"/>
                          </a:solidFill>
                          <a:latin typeface="Calibri"/>
                        </a:rPr>
                        <a:t>Verdict</a:t>
                      </a:r>
                    </a:p>
                  </a:txBody>
                  <a:tcPr>
                    <a:solidFill>
                      <a:srgbClr val="143D2F"/>
                    </a:solidFill>
                  </a:tcPr>
                </a:tc>
              </a:tr>
              <a:tr h="304800">
                <a:tc>
                  <a:txBody>
                    <a:bodyPr lIns="54864" rIns="54864" tIns="18288" bIns="18288" wrap="square" anchor="ctr"/>
                    <a:lstStyle/>
                    <a:p>
                      <a:pPr algn="l"/>
                      <a:r>
                        <a:rPr sz="750" b="0">
                          <a:solidFill>
                            <a:srgbClr val="000000"/>
                          </a:solidFill>
                          <a:latin typeface="Calibri"/>
                        </a:rPr>
                        <a:t>a centroid anchored to its own last position
beats one re-centred on correlation</a:t>
                      </a:r>
                    </a:p>
                  </a:txBody>
                  <a:tcPr/>
                </a:tc>
                <a:tc>
                  <a:txBody>
                    <a:bodyPr lIns="54864" rIns="54864" tIns="18288" bIns="18288" wrap="square" anchor="ctr"/>
                    <a:lstStyle/>
                    <a:p>
                      <a:pPr algn="l"/>
                      <a:r>
                        <a:rPr sz="750" b="0">
                          <a:solidFill>
                            <a:srgbClr val="000000"/>
                          </a:solidFill>
                          <a:latin typeface="Calibri"/>
                        </a:rPr>
                        <a:t>18.51 vs 18.52 µε (S25)
11.52 vs 11.49 µε (S26)</a:t>
                      </a:r>
                    </a:p>
                  </a:txBody>
                  <a:tcPr/>
                </a:tc>
                <a:tc>
                  <a:txBody>
                    <a:bodyPr lIns="54864" rIns="54864" tIns="18288" bIns="18288" wrap="square" anchor="ctr"/>
                    <a:lstStyle/>
                    <a:p>
                      <a:pPr algn="l"/>
                      <a:r>
                        <a:rPr sz="750" b="0">
                          <a:solidFill>
                            <a:srgbClr val="000000"/>
                          </a:solidFill>
                          <a:latin typeface="Calibri"/>
                        </a:rPr>
                        <a:t>no effect —
withdrawn</a:t>
                      </a:r>
                    </a:p>
                  </a:txBody>
                  <a:tcPr/>
                </a:tc>
              </a:tr>
              <a:tr h="304800">
                <a:tc>
                  <a:txBody>
                    <a:bodyPr lIns="54864" rIns="54864" tIns="18288" bIns="18288" wrap="square" anchor="ctr"/>
                    <a:lstStyle/>
                    <a:p>
                      <a:pPr algn="l"/>
                      <a:r>
                        <a:rPr sz="750" b="0">
                          <a:solidFill>
                            <a:srgbClr val="000000"/>
                          </a:solidFill>
                          <a:latin typeface="Calibri"/>
                        </a:rPr>
                        <a:t>a fixed grey level beats per-frame Otsu,
by about six times</a:t>
                      </a:r>
                    </a:p>
                  </a:txBody>
                  <a:tcPr/>
                </a:tc>
                <a:tc>
                  <a:txBody>
                    <a:bodyPr lIns="54864" rIns="54864" tIns="18288" bIns="18288" wrap="square" anchor="ctr"/>
                    <a:lstStyle/>
                    <a:p>
                      <a:pPr algn="l"/>
                      <a:r>
                        <a:rPr sz="750" b="0">
                          <a:solidFill>
                            <a:srgbClr val="000000"/>
                          </a:solidFill>
                          <a:latin typeface="Calibri"/>
                        </a:rPr>
                        <a:t>18.5 vs 18.2 µε (S25)
11.5 vs 11.2 µε (S26)</a:t>
                      </a:r>
                    </a:p>
                  </a:txBody>
                  <a:tcPr/>
                </a:tc>
                <a:tc>
                  <a:txBody>
                    <a:bodyPr lIns="54864" rIns="54864" tIns="18288" bIns="18288" wrap="square" anchor="ctr"/>
                    <a:lstStyle/>
                    <a:p>
                      <a:pPr algn="l"/>
                      <a:r>
                        <a:rPr sz="750" b="0">
                          <a:solidFill>
                            <a:srgbClr val="000000"/>
                          </a:solidFill>
                          <a:latin typeface="Calibri"/>
                        </a:rPr>
                        <a:t>equal within 2 %
— withdrawn</a:t>
                      </a:r>
                    </a:p>
                  </a:txBody>
                  <a:tcPr/>
                </a:tc>
              </a:tr>
            </a:tbl>
          </a:graphicData>
        </a:graphic>
      </p:graphicFrame>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fixed level is KEPT — for reproducibility, since it depends only on the reference frame — but it is not what makes the centroid quiet; the weighting is, which is why the level stopped mattering. The −473 / −526 µε offset against the live rig is the same in every mode, so it is not the estimator.</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299</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HOW THE NOISE IS MEASURED — AND WHAT A MICROSTRAIN IS</a:t>
            </a:r>
          </a:p>
        </p:txBody>
      </p:sp>
      <p:pic>
        <p:nvPicPr>
          <p:cNvPr id="5" name="Picture 4" descr="est_noise_method.png"/>
          <p:cNvPicPr>
            <a:picLocks noChangeAspect="1"/>
          </p:cNvPicPr>
          <p:nvPr/>
        </p:nvPicPr>
        <p:blipFill>
          <a:blip r:embed="rId2"/>
          <a:stretch>
            <a:fillRect/>
          </a:stretch>
        </p:blipFill>
        <p:spPr>
          <a:xfrm>
            <a:off x="2145146" y="1060704"/>
            <a:ext cx="7871227" cy="2395728"/>
          </a:xfrm>
          <a:prstGeom prst="rect">
            <a:avLst/>
          </a:prstGeom>
        </p:spPr>
      </p:pic>
      <p:sp>
        <p:nvSpPr>
          <p:cNvPr id="6" name="TextBox 5"/>
          <p:cNvSpPr txBox="1"/>
          <p:nvPr/>
        </p:nvSpPr>
        <p:spPr>
          <a:xfrm>
            <a:off x="411480" y="3657600"/>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unit: microstrain (µε)</a:t>
            </a:r>
          </a:p>
        </p:txBody>
      </p:sp>
      <p:sp>
        <p:nvSpPr>
          <p:cNvPr id="7" name="TextBox 6"/>
          <p:cNvSpPr txBox="1"/>
          <p:nvPr/>
        </p:nvSpPr>
        <p:spPr>
          <a:xfrm>
            <a:off x="411480" y="4005072"/>
            <a:ext cx="3703320" cy="1874519"/>
          </a:xfrm>
          <a:prstGeom prst="rect">
            <a:avLst/>
          </a:prstGeom>
          <a:noFill/>
        </p:spPr>
        <p:txBody>
          <a:bodyPr wrap="square" lIns="45720" rIns="45720" tIns="18288" bIns="18288" anchor="t">
            <a:spAutoFit/>
          </a:bodyPr>
          <a:lstStyle/>
          <a:p>
            <a:pPr algn="l"/>
            <a:r>
              <a:rPr sz="1000" b="0" i="0">
                <a:solidFill>
                  <a:srgbClr val="000000"/>
                </a:solidFill>
                <a:latin typeface="Calibri"/>
              </a:rPr>
              <a:t>Strain is a length divided by a length, so it carries NO unit. That makes the raw numbers inconveniently small — a good measurement here is 0.000011 — so they are quoted in millionths.
        1 µε  =  10⁻⁶ strain  =  0.0001 %
On this rig's 80 mm gauge, 1 µε is 0.08 µm of extension. Across the 1676 px pixel baseline it is 0.0017 px of marker movement — which is why sub-pixel estimation is not optional.</a:t>
            </a:r>
          </a:p>
        </p:txBody>
      </p:sp>
      <p:sp>
        <p:nvSpPr>
          <p:cNvPr id="8" name="TextBox 7"/>
          <p:cNvSpPr txBox="1"/>
          <p:nvPr/>
        </p:nvSpPr>
        <p:spPr>
          <a:xfrm>
            <a:off x="4343400" y="3657600"/>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measurement, in three steps</a:t>
            </a:r>
          </a:p>
        </p:txBody>
      </p:sp>
      <p:graphicFrame>
        <p:nvGraphicFramePr>
          <p:cNvPr id="9" name="Table 8"/>
          <p:cNvGraphicFramePr>
            <a:graphicFrameLocks noGrp="1"/>
          </p:cNvGraphicFramePr>
          <p:nvPr/>
        </p:nvGraphicFramePr>
        <p:xfrm>
          <a:off x="4343400" y="4005072"/>
          <a:ext cx="3703320" cy="1874519"/>
        </p:xfrm>
        <a:graphic>
          <a:graphicData uri="http://schemas.openxmlformats.org/drawingml/2006/table">
            <a:tbl>
              <a:tblPr firstRow="1" bandRow="1">
                <a:tableStyleId>{5C22544A-7EE6-4342-B048-85BDC9FD1C3A}</a:tableStyleId>
              </a:tblPr>
              <a:tblGrid>
                <a:gridCol w="320040"/>
                <a:gridCol w="1828800"/>
                <a:gridCol w="1554480"/>
              </a:tblGrid>
              <a:tr h="468629">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Step</a:t>
                      </a:r>
                    </a:p>
                  </a:txBody>
                  <a:tcPr>
                    <a:solidFill>
                      <a:srgbClr val="143D2F"/>
                    </a:solidFill>
                  </a:tcPr>
                </a:tc>
                <a:tc>
                  <a:txBody>
                    <a:bodyPr lIns="54864" rIns="54864" tIns="18288" bIns="18288" wrap="square" anchor="ctr"/>
                    <a:lstStyle/>
                    <a:p>
                      <a:pPr algn="l"/>
                      <a:r>
                        <a:rPr sz="950" b="1">
                          <a:solidFill>
                            <a:srgbClr val="FFFFFF"/>
                          </a:solidFill>
                          <a:latin typeface="Calibri"/>
                        </a:rPr>
                        <a:t>Why</a:t>
                      </a:r>
                    </a:p>
                  </a:txBody>
                  <a:tcPr>
                    <a:solidFill>
                      <a:srgbClr val="143D2F"/>
                    </a:solidFill>
                  </a:tcPr>
                </a:tc>
              </a:tr>
              <a:tr h="468629">
                <a:tc>
                  <a:txBody>
                    <a:bodyPr lIns="54864" rIns="54864" tIns="18288" bIns="18288" wrap="square" anchor="ctr"/>
                    <a:lstStyle/>
                    <a:p>
                      <a:pPr algn="l"/>
                      <a:r>
                        <a:rPr sz="800" b="0">
                          <a:solidFill>
                            <a:srgbClr val="000000"/>
                          </a:solidFill>
                          <a:latin typeface="Calibri"/>
                        </a:rPr>
                        <a:t>1</a:t>
                      </a:r>
                    </a:p>
                  </a:txBody>
                  <a:tcPr/>
                </a:tc>
                <a:tc>
                  <a:txBody>
                    <a:bodyPr lIns="54864" rIns="54864" tIns="18288" bIns="18288" wrap="square" anchor="ctr"/>
                    <a:lstStyle/>
                    <a:p>
                      <a:pPr algn="l"/>
                      <a:r>
                        <a:rPr sz="800" b="0">
                          <a:solidFill>
                            <a:srgbClr val="000000"/>
                          </a:solidFill>
                          <a:latin typeface="Calibri"/>
                        </a:rPr>
                        <a:t>Take a SHORT window where the
true response is nearly straight</a:t>
                      </a:r>
                    </a:p>
                  </a:txBody>
                  <a:tcPr/>
                </a:tc>
                <a:tc>
                  <a:txBody>
                    <a:bodyPr lIns="54864" rIns="54864" tIns="18288" bIns="18288" wrap="square" anchor="ctr"/>
                    <a:lstStyle/>
                    <a:p>
                      <a:pPr algn="l"/>
                      <a:r>
                        <a:rPr sz="800" b="0">
                          <a:solidFill>
                            <a:srgbClr val="000000"/>
                          </a:solidFill>
                          <a:latin typeface="Calibri"/>
                        </a:rPr>
                        <a:t>0.02 – 0.32 % strain, 50 points</a:t>
                      </a:r>
                    </a:p>
                  </a:txBody>
                  <a:tcPr/>
                </a:tc>
              </a:tr>
              <a:tr h="468629">
                <a:tc>
                  <a:txBody>
                    <a:bodyPr lIns="54864" rIns="54864" tIns="18288" bIns="18288" wrap="square" anchor="ctr"/>
                    <a:lstStyle/>
                    <a:p>
                      <a:pPr algn="l"/>
                      <a:r>
                        <a:rPr sz="800" b="0">
                          <a:solidFill>
                            <a:srgbClr val="000000"/>
                          </a:solidFill>
                          <a:latin typeface="Calibri"/>
                        </a:rPr>
                        <a:t>2</a:t>
                      </a:r>
                    </a:p>
                  </a:txBody>
                  <a:tcPr/>
                </a:tc>
                <a:tc>
                  <a:txBody>
                    <a:bodyPr lIns="54864" rIns="54864" tIns="18288" bIns="18288" wrap="square" anchor="ctr"/>
                    <a:lstStyle/>
                    <a:p>
                      <a:pPr algn="l"/>
                      <a:r>
                        <a:rPr sz="800" b="0">
                          <a:solidFill>
                            <a:srgbClr val="000000"/>
                          </a:solidFill>
                          <a:latin typeface="Calibri"/>
                        </a:rPr>
                        <a:t>Fit a straight line to the marker
separation L over that window</a:t>
                      </a:r>
                    </a:p>
                  </a:txBody>
                  <a:tcPr/>
                </a:tc>
                <a:tc>
                  <a:txBody>
                    <a:bodyPr lIns="54864" rIns="54864" tIns="18288" bIns="18288" wrap="square" anchor="ctr"/>
                    <a:lstStyle/>
                    <a:p>
                      <a:pPr algn="l"/>
                      <a:r>
                        <a:rPr sz="800" b="0">
                          <a:solidFill>
                            <a:srgbClr val="000000"/>
                          </a:solidFill>
                          <a:latin typeface="Calibri"/>
                        </a:rPr>
                        <a:t>the material is still elastic
there, so a line IS the model</a:t>
                      </a:r>
                    </a:p>
                  </a:txBody>
                  <a:tcPr/>
                </a:tc>
              </a:tr>
              <a:tr h="468632">
                <a:tc>
                  <a:txBody>
                    <a:bodyPr lIns="54864" rIns="54864" tIns="18288" bIns="18288" wrap="square" anchor="ctr"/>
                    <a:lstStyle/>
                    <a:p>
                      <a:pPr algn="l"/>
                      <a:r>
                        <a:rPr sz="800" b="0">
                          <a:solidFill>
                            <a:srgbClr val="000000"/>
                          </a:solidFill>
                          <a:latin typeface="Calibri"/>
                        </a:rPr>
                        <a:t>3</a:t>
                      </a:r>
                    </a:p>
                  </a:txBody>
                  <a:tcPr/>
                </a:tc>
                <a:tc>
                  <a:txBody>
                    <a:bodyPr lIns="54864" rIns="54864" tIns="18288" bIns="18288" wrap="square" anchor="ctr"/>
                    <a:lstStyle/>
                    <a:p>
                      <a:pPr algn="l"/>
                      <a:r>
                        <a:rPr sz="800" b="0">
                          <a:solidFill>
                            <a:srgbClr val="000000"/>
                          </a:solidFill>
                          <a:latin typeface="Calibri"/>
                        </a:rPr>
                        <a:t>Take the standard deviation of
what is left, ÷ Px₀, × 10⁶</a:t>
                      </a:r>
                    </a:p>
                  </a:txBody>
                  <a:tcPr/>
                </a:tc>
                <a:tc>
                  <a:txBody>
                    <a:bodyPr lIns="54864" rIns="54864" tIns="18288" bIns="18288" wrap="square" anchor="ctr"/>
                    <a:lstStyle/>
                    <a:p>
                      <a:pPr algn="l"/>
                      <a:r>
                        <a:rPr sz="800" b="0">
                          <a:solidFill>
                            <a:srgbClr val="000000"/>
                          </a:solidFill>
                          <a:latin typeface="Calibri"/>
                        </a:rPr>
                        <a:t>0.019 px  →  11.3 µε</a:t>
                      </a:r>
                    </a:p>
                  </a:txBody>
                  <a:tcPr/>
                </a:tc>
              </a:tr>
            </a:tbl>
          </a:graphicData>
        </a:graphic>
      </p:graphicFrame>
      <p:sp>
        <p:nvSpPr>
          <p:cNvPr id="10" name="TextBox 9"/>
          <p:cNvSpPr txBox="1"/>
          <p:nvPr/>
        </p:nvSpPr>
        <p:spPr>
          <a:xfrm>
            <a:off x="8275320" y="3657600"/>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is NOT</a:t>
            </a:r>
          </a:p>
        </p:txBody>
      </p:sp>
      <p:sp>
        <p:nvSpPr>
          <p:cNvPr id="11" name="TextBox 10"/>
          <p:cNvSpPr txBox="1"/>
          <p:nvPr/>
        </p:nvSpPr>
        <p:spPr>
          <a:xfrm>
            <a:off x="8275320" y="4005072"/>
            <a:ext cx="3566160" cy="1874519"/>
          </a:xfrm>
          <a:prstGeom prst="rect">
            <a:avLst/>
          </a:prstGeom>
          <a:noFill/>
        </p:spPr>
        <p:txBody>
          <a:bodyPr wrap="square" lIns="45720" rIns="45720" tIns="18288" bIns="18288" anchor="t">
            <a:spAutoFit/>
          </a:bodyPr>
          <a:lstStyle/>
          <a:p>
            <a:pPr algn="l"/>
            <a:r>
              <a:rPr sz="1000" b="0" i="0">
                <a:solidFill>
                  <a:srgbClr val="000000"/>
                </a:solidFill>
                <a:latin typeface="Calibri"/>
              </a:rPr>
              <a:t>Noise is the SCATTER, not the error in the answer. A measurement can be quiet and still be offset — which is why accuracy is checked separately, against the live rig (p299).
It is not a fixed property of the rig either. It depends on the estimator, the patch size and the marker, so a microstrain figure only means something alongside the settings that produced it.</a:t>
            </a:r>
          </a:p>
        </p:txBody>
      </p:sp>
      <p:sp>
        <p:nvSpPr>
          <p:cNvPr id="12" name="Rectangle 11"/>
          <p:cNvSpPr/>
          <p:nvPr/>
        </p:nvSpPr>
        <p:spPr>
          <a:xfrm>
            <a:off x="365760" y="5989320"/>
            <a:ext cx="11475720" cy="47548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The window must be SHORT and nearly straight, and fixed the same way for anything being compared. Detrending a whole fracture curve with a polynomial measures how badly the polynomial fits — a mistake already made once in this project, and the reason every figure here is scored over one window pinned in frame numbers.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Worked on S26 with the chosen estimator, over the same window every other estimator figure uses — so this walkthrough lands on 11.3 µε, the same number quoted on p298.</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300</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1 — WHAT WAS TESTED, AND HOW</a:t>
            </a:r>
          </a:p>
        </p:txBody>
      </p:sp>
      <p:pic>
        <p:nvPicPr>
          <p:cNvPr id="5" name="Picture 4" descr="motpp_setup.png"/>
          <p:cNvPicPr>
            <a:picLocks noChangeAspect="1"/>
          </p:cNvPicPr>
          <p:nvPr/>
        </p:nvPicPr>
        <p:blipFill>
          <a:blip r:embed="rId2"/>
          <a:stretch>
            <a:fillRect/>
          </a:stretch>
        </p:blipFill>
        <p:spPr>
          <a:xfrm>
            <a:off x="3883147" y="1060704"/>
            <a:ext cx="4395224" cy="2487167"/>
          </a:xfrm>
          <a:prstGeom prst="rect">
            <a:avLst/>
          </a:prstGeom>
        </p:spPr>
      </p:pic>
      <p:sp>
        <p:nvSpPr>
          <p:cNvPr id="6" name="TextBox 5"/>
          <p:cNvSpPr txBox="1"/>
          <p:nvPr/>
        </p:nvSpPr>
        <p:spPr>
          <a:xfrm>
            <a:off x="411480" y="3675887"/>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design: three legs, so a disagreement can be attributed</a:t>
            </a:r>
          </a:p>
        </p:txBody>
      </p:sp>
      <p:graphicFrame>
        <p:nvGraphicFramePr>
          <p:cNvPr id="7" name="Table 6"/>
          <p:cNvGraphicFramePr>
            <a:graphicFrameLocks noGrp="1"/>
          </p:cNvGraphicFramePr>
          <p:nvPr/>
        </p:nvGraphicFramePr>
        <p:xfrm>
          <a:off x="411480" y="4023360"/>
          <a:ext cx="5623560" cy="1481328"/>
        </p:xfrm>
        <a:graphic>
          <a:graphicData uri="http://schemas.openxmlformats.org/drawingml/2006/table">
            <a:tbl>
              <a:tblPr firstRow="1" bandRow="1">
                <a:tableStyleId>{5C22544A-7EE6-4342-B048-85BDC9FD1C3A}</a:tableStyleId>
              </a:tblPr>
              <a:tblGrid>
                <a:gridCol w="2194560"/>
                <a:gridCol w="2148840"/>
                <a:gridCol w="1280160"/>
              </a:tblGrid>
              <a:tr h="370332">
                <a:tc>
                  <a:txBody>
                    <a:bodyPr lIns="54864" rIns="54864" tIns="18288" bIns="18288" wrap="square" anchor="ctr"/>
                    <a:lstStyle/>
                    <a:p>
                      <a:pPr algn="l"/>
                      <a:r>
                        <a:rPr sz="950" b="1">
                          <a:solidFill>
                            <a:srgbClr val="FFFFFF"/>
                          </a:solidFill>
                          <a:latin typeface="Calibri"/>
                        </a:rPr>
                        <a:t>Comparison</a:t>
                      </a:r>
                    </a:p>
                  </a:txBody>
                  <a:tcPr>
                    <a:solidFill>
                      <a:srgbClr val="143D2F"/>
                    </a:solidFill>
                  </a:tcPr>
                </a:tc>
                <a:tc>
                  <a:txBody>
                    <a:bodyPr lIns="54864" rIns="54864" tIns="18288" bIns="18288" wrap="square" anchor="ctr"/>
                    <a:lstStyle/>
                    <a:p>
                      <a:pPr algn="l"/>
                      <a:r>
                        <a:rPr sz="950" b="1">
                          <a:solidFill>
                            <a:srgbClr val="FFFFFF"/>
                          </a:solidFill>
                          <a:latin typeface="Calibri"/>
                        </a:rPr>
                        <a:t>What differs</a:t>
                      </a:r>
                    </a:p>
                  </a:txBody>
                  <a:tcPr>
                    <a:solidFill>
                      <a:srgbClr val="143D2F"/>
                    </a:solidFill>
                  </a:tcPr>
                </a:tc>
                <a:tc>
                  <a:txBody>
                    <a:bodyPr lIns="54864" rIns="54864" tIns="18288" bIns="18288" wrap="square" anchor="ctr"/>
                    <a:lstStyle/>
                    <a:p>
                      <a:pPr algn="l"/>
                      <a:r>
                        <a:rPr sz="950" b="1">
                          <a:solidFill>
                            <a:srgbClr val="FFFFFF"/>
                          </a:solidFill>
                          <a:latin typeface="Calibri"/>
                        </a:rPr>
                        <a:t>What it isolates</a:t>
                      </a:r>
                    </a:p>
                  </a:txBody>
                  <a:tcPr>
                    <a:solidFill>
                      <a:srgbClr val="143D2F"/>
                    </a:solidFill>
                  </a:tcPr>
                </a:tc>
              </a:tr>
              <a:tr h="370332">
                <a:tc>
                  <a:txBody>
                    <a:bodyPr lIns="54864" rIns="54864" tIns="18288" bIns="18288" wrap="square" anchor="ctr"/>
                    <a:lstStyle/>
                    <a:p>
                      <a:pPr algn="l"/>
                      <a:r>
                        <a:rPr sz="800" b="0">
                          <a:solidFill>
                            <a:srgbClr val="000000"/>
                          </a:solidFill>
                          <a:latin typeface="Calibri"/>
                        </a:rPr>
                        <a:t>XT-205 extensometer  vs
PPD-UTM DIC on the same footage</a:t>
                      </a:r>
                    </a:p>
                  </a:txBody>
                  <a:tcPr/>
                </a:tc>
                <a:tc>
                  <a:txBody>
                    <a:bodyPr lIns="54864" rIns="54864" tIns="18288" bIns="18288" wrap="square" anchor="ctr"/>
                    <a:lstStyle/>
                    <a:p>
                      <a:pPr algn="l"/>
                      <a:r>
                        <a:rPr sz="800" b="0">
                          <a:solidFill>
                            <a:srgbClr val="000000"/>
                          </a:solidFill>
                          <a:latin typeface="Calibri"/>
                        </a:rPr>
                        <a:t>only the analysis — same footage,
specimen and instant</a:t>
                      </a:r>
                    </a:p>
                  </a:txBody>
                  <a:tcPr/>
                </a:tc>
                <a:tc>
                  <a:txBody>
                    <a:bodyPr lIns="54864" rIns="54864" tIns="18288" bIns="18288" wrap="square" anchor="ctr"/>
                    <a:lstStyle/>
                    <a:p>
                      <a:pPr algn="l"/>
                      <a:r>
                        <a:rPr sz="800" b="0">
                          <a:solidFill>
                            <a:srgbClr val="000000"/>
                          </a:solidFill>
                          <a:latin typeface="Calibri"/>
                        </a:rPr>
                        <a:t>the CALCULATION</a:t>
                      </a:r>
                    </a:p>
                  </a:txBody>
                  <a:tcPr/>
                </a:tc>
              </a:tr>
              <a:tr h="370332">
                <a:tc>
                  <a:txBody>
                    <a:bodyPr lIns="54864" rIns="54864" tIns="18288" bIns="18288" wrap="square" anchor="ctr"/>
                    <a:lstStyle/>
                    <a:p>
                      <a:pPr algn="l"/>
                      <a:r>
                        <a:rPr sz="800" b="0">
                          <a:solidFill>
                            <a:srgbClr val="000000"/>
                          </a:solidFill>
                          <a:latin typeface="Calibri"/>
                        </a:rPr>
                        <a:t>PPD-UTM DIC on XT-205 footage  vs
PPD-UTM DIC on S25 / S26</a:t>
                      </a:r>
                    </a:p>
                  </a:txBody>
                  <a:tcPr/>
                </a:tc>
                <a:tc>
                  <a:txBody>
                    <a:bodyPr lIns="54864" rIns="54864" tIns="18288" bIns="18288" wrap="square" anchor="ctr"/>
                    <a:lstStyle/>
                    <a:p>
                      <a:pPr algn="l"/>
                      <a:r>
                        <a:rPr sz="800" b="0">
                          <a:solidFill>
                            <a:srgbClr val="000000"/>
                          </a:solidFill>
                          <a:latin typeface="Calibri"/>
                        </a:rPr>
                        <a:t>the machine and the mounting,
not the analysis</a:t>
                      </a:r>
                    </a:p>
                  </a:txBody>
                  <a:tcPr/>
                </a:tc>
                <a:tc>
                  <a:txBody>
                    <a:bodyPr lIns="54864" rIns="54864" tIns="18288" bIns="18288" wrap="square" anchor="ctr"/>
                    <a:lstStyle/>
                    <a:p>
                      <a:pPr algn="l"/>
                      <a:r>
                        <a:rPr sz="800" b="0">
                          <a:solidFill>
                            <a:srgbClr val="000000"/>
                          </a:solidFill>
                          <a:latin typeface="Calibri"/>
                        </a:rPr>
                        <a:t>the RIG</a:t>
                      </a:r>
                    </a:p>
                  </a:txBody>
                  <a:tcPr/>
                </a:tc>
              </a:tr>
              <a:tr h="370332">
                <a:tc>
                  <a:txBody>
                    <a:bodyPr lIns="54864" rIns="54864" tIns="18288" bIns="18288" wrap="square" anchor="ctr"/>
                    <a:lstStyle/>
                    <a:p>
                      <a:pPr algn="l"/>
                      <a:r>
                        <a:rPr sz="800" b="0">
                          <a:solidFill>
                            <a:srgbClr val="000000"/>
                          </a:solidFill>
                          <a:latin typeface="Calibri"/>
                        </a:rPr>
                        <a:t>(previously) XT-205  vs  PPD-UTM</a:t>
                      </a:r>
                    </a:p>
                  </a:txBody>
                  <a:tcPr/>
                </a:tc>
                <a:tc>
                  <a:txBody>
                    <a:bodyPr lIns="54864" rIns="54864" tIns="18288" bIns="18288" wrap="square" anchor="ctr"/>
                    <a:lstStyle/>
                    <a:p>
                      <a:pPr algn="l"/>
                      <a:r>
                        <a:rPr sz="800" b="0">
                          <a:solidFill>
                            <a:srgbClr val="000000"/>
                          </a:solidFill>
                          <a:latin typeface="Calibri"/>
                        </a:rPr>
                        <a:t>instrument AND specimen at once</a:t>
                      </a:r>
                    </a:p>
                  </a:txBody>
                  <a:tcPr/>
                </a:tc>
                <a:tc>
                  <a:txBody>
                    <a:bodyPr lIns="54864" rIns="54864" tIns="18288" bIns="18288" wrap="square" anchor="ctr"/>
                    <a:lstStyle/>
                    <a:p>
                      <a:pPr algn="l"/>
                      <a:r>
                        <a:rPr sz="800" b="0">
                          <a:solidFill>
                            <a:srgbClr val="000000"/>
                          </a:solidFill>
                          <a:latin typeface="Calibri"/>
                        </a:rPr>
                        <a:t>nothing, on its own</a:t>
                      </a:r>
                    </a:p>
                  </a:txBody>
                  <a:tcPr/>
                </a:tc>
              </a:tr>
            </a:tbl>
          </a:graphicData>
        </a:graphic>
      </p:graphicFrame>
      <p:sp>
        <p:nvSpPr>
          <p:cNvPr id="8" name="TextBox 7"/>
          <p:cNvSpPr txBox="1"/>
          <p:nvPr/>
        </p:nvSpPr>
        <p:spPr>
          <a:xfrm>
            <a:off x="6263640" y="3675887"/>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two records</a:t>
            </a:r>
          </a:p>
        </p:txBody>
      </p:sp>
      <p:graphicFrame>
        <p:nvGraphicFramePr>
          <p:cNvPr id="9" name="Table 8"/>
          <p:cNvGraphicFramePr>
            <a:graphicFrameLocks noGrp="1"/>
          </p:cNvGraphicFramePr>
          <p:nvPr/>
        </p:nvGraphicFramePr>
        <p:xfrm>
          <a:off x="6263640" y="4023360"/>
          <a:ext cx="5577840" cy="1481328"/>
        </p:xfrm>
        <a:graphic>
          <a:graphicData uri="http://schemas.openxmlformats.org/drawingml/2006/table">
            <a:tbl>
              <a:tblPr firstRow="1" bandRow="1">
                <a:tableStyleId>{5C22544A-7EE6-4342-B048-85BDC9FD1C3A}</a:tableStyleId>
              </a:tblPr>
              <a:tblGrid>
                <a:gridCol w="1691640"/>
                <a:gridCol w="1965960"/>
                <a:gridCol w="1920240"/>
              </a:tblGrid>
              <a:tr h="211618">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MOT XT-205</a:t>
                      </a:r>
                    </a:p>
                  </a:txBody>
                  <a:tcPr>
                    <a:solidFill>
                      <a:srgbClr val="143D2F"/>
                    </a:solidFill>
                  </a:tcPr>
                </a:tc>
                <a:tc>
                  <a:txBody>
                    <a:bodyPr lIns="54864" rIns="54864" tIns="18288" bIns="18288" wrap="square" anchor="ctr"/>
                    <a:lstStyle/>
                    <a:p>
                      <a:pPr algn="l"/>
                      <a:r>
                        <a:rPr sz="950" b="1">
                          <a:solidFill>
                            <a:srgbClr val="FFFFFF"/>
                          </a:solidFill>
                          <a:latin typeface="Calibri"/>
                        </a:rPr>
                        <a:t>PPD-UTM  (S25/S26)</a:t>
                      </a:r>
                    </a:p>
                  </a:txBody>
                  <a:tcPr>
                    <a:solidFill>
                      <a:srgbClr val="143D2F"/>
                    </a:solidFill>
                  </a:tcPr>
                </a:tc>
              </a:tr>
              <a:tr h="211618">
                <a:tc>
                  <a:txBody>
                    <a:bodyPr lIns="54864" rIns="54864" tIns="18288" bIns="18288" wrap="square" anchor="ctr"/>
                    <a:lstStyle/>
                    <a:p>
                      <a:pPr algn="l"/>
                      <a:r>
                        <a:rPr sz="800" b="0">
                          <a:solidFill>
                            <a:srgbClr val="000000"/>
                          </a:solidFill>
                          <a:latin typeface="Calibri"/>
                        </a:rPr>
                        <a:t>configuration</a:t>
                      </a:r>
                    </a:p>
                  </a:txBody>
                  <a:tcPr/>
                </a:tc>
                <a:tc>
                  <a:txBody>
                    <a:bodyPr lIns="54864" rIns="54864" tIns="18288" bIns="18288" wrap="square" anchor="ctr"/>
                    <a:lstStyle/>
                    <a:p>
                      <a:pPr algn="l"/>
                      <a:r>
                        <a:rPr sz="800" b="0">
                          <a:solidFill>
                            <a:srgbClr val="000000"/>
                          </a:solidFill>
                          <a:latin typeface="Calibri"/>
                        </a:rPr>
                        <a:t>—</a:t>
                      </a:r>
                    </a:p>
                  </a:txBody>
                  <a:tcPr/>
                </a:tc>
                <a:tc>
                  <a:txBody>
                    <a:bodyPr lIns="54864" rIns="54864" tIns="18288" bIns="18288" wrap="square" anchor="ctr"/>
                    <a:lstStyle/>
                    <a:p>
                      <a:pPr algn="l"/>
                      <a:r>
                        <a:rPr sz="800" b="0">
                          <a:solidFill>
                            <a:srgbClr val="000000"/>
                          </a:solidFill>
                          <a:latin typeface="Calibri"/>
                        </a:rPr>
                        <a:t>Mk II, after the
2026-08-12 realignment</a:t>
                      </a:r>
                    </a:p>
                  </a:txBody>
                  <a:tcPr/>
                </a:tc>
              </a:tr>
              <a:tr h="211618">
                <a:tc>
                  <a:txBody>
                    <a:bodyPr lIns="54864" rIns="54864" tIns="18288" bIns="18288" wrap="square" anchor="ctr"/>
                    <a:lstStyle/>
                    <a:p>
                      <a:pPr algn="l"/>
                      <a:r>
                        <a:rPr sz="800" b="0">
                          <a:solidFill>
                            <a:srgbClr val="000000"/>
                          </a:solidFill>
                          <a:latin typeface="Calibri"/>
                        </a:rPr>
                        <a:t>marker span Px₀</a:t>
                      </a:r>
                    </a:p>
                  </a:txBody>
                  <a:tcPr/>
                </a:tc>
                <a:tc>
                  <a:txBody>
                    <a:bodyPr lIns="54864" rIns="54864" tIns="18288" bIns="18288" wrap="square" anchor="ctr"/>
                    <a:lstStyle/>
                    <a:p>
                      <a:pPr algn="l"/>
                      <a:r>
                        <a:rPr sz="800" b="0">
                          <a:solidFill>
                            <a:srgbClr val="000000"/>
                          </a:solidFill>
                          <a:latin typeface="Calibri"/>
                        </a:rPr>
                        <a:t>2234 px</a:t>
                      </a:r>
                    </a:p>
                  </a:txBody>
                  <a:tcPr/>
                </a:tc>
                <a:tc>
                  <a:txBody>
                    <a:bodyPr lIns="54864" rIns="54864" tIns="18288" bIns="18288" wrap="square" anchor="ctr"/>
                    <a:lstStyle/>
                    <a:p>
                      <a:pPr algn="l"/>
                      <a:r>
                        <a:rPr sz="800" b="0">
                          <a:solidFill>
                            <a:srgbClr val="000000"/>
                          </a:solidFill>
                          <a:latin typeface="Calibri"/>
                        </a:rPr>
                        <a:t>1676 px</a:t>
                      </a:r>
                    </a:p>
                  </a:txBody>
                  <a:tcPr/>
                </a:tc>
              </a:tr>
              <a:tr h="211618">
                <a:tc>
                  <a:txBody>
                    <a:bodyPr lIns="54864" rIns="54864" tIns="18288" bIns="18288" wrap="square" anchor="ctr"/>
                    <a:lstStyle/>
                    <a:p>
                      <a:pPr algn="l"/>
                      <a:r>
                        <a:rPr sz="800" b="0">
                          <a:solidFill>
                            <a:srgbClr val="000000"/>
                          </a:solidFill>
                          <a:latin typeface="Calibri"/>
                        </a:rPr>
                        <a:t>scale</a:t>
                      </a:r>
                    </a:p>
                  </a:txBody>
                  <a:tcPr/>
                </a:tc>
                <a:tc>
                  <a:txBody>
                    <a:bodyPr lIns="54864" rIns="54864" tIns="18288" bIns="18288" wrap="square" anchor="ctr"/>
                    <a:lstStyle/>
                    <a:p>
                      <a:pPr algn="l"/>
                      <a:r>
                        <a:rPr sz="800" b="0">
                          <a:solidFill>
                            <a:srgbClr val="000000"/>
                          </a:solidFill>
                          <a:latin typeface="Calibri"/>
                        </a:rPr>
                        <a:t>27.9 px/mm</a:t>
                      </a:r>
                    </a:p>
                  </a:txBody>
                  <a:tcPr/>
                </a:tc>
                <a:tc>
                  <a:txBody>
                    <a:bodyPr lIns="54864" rIns="54864" tIns="18288" bIns="18288" wrap="square" anchor="ctr"/>
                    <a:lstStyle/>
                    <a:p>
                      <a:pPr algn="l"/>
                      <a:r>
                        <a:rPr sz="800" b="0">
                          <a:solidFill>
                            <a:srgbClr val="000000"/>
                          </a:solidFill>
                          <a:latin typeface="Calibri"/>
                        </a:rPr>
                        <a:t>21.0 px/mm</a:t>
                      </a:r>
                    </a:p>
                  </a:txBody>
                  <a:tcPr/>
                </a:tc>
              </a:tr>
              <a:tr h="211618">
                <a:tc>
                  <a:txBody>
                    <a:bodyPr lIns="54864" rIns="54864" tIns="18288" bIns="18288" wrap="square" anchor="ctr"/>
                    <a:lstStyle/>
                    <a:p>
                      <a:pPr algn="l"/>
                      <a:r>
                        <a:rPr sz="800" b="0">
                          <a:solidFill>
                            <a:srgbClr val="000000"/>
                          </a:solidFill>
                          <a:latin typeface="Calibri"/>
                        </a:rPr>
                        <a:t>specimen width</a:t>
                      </a:r>
                    </a:p>
                  </a:txBody>
                  <a:tcPr/>
                </a:tc>
                <a:tc>
                  <a:txBody>
                    <a:bodyPr lIns="54864" rIns="54864" tIns="18288" bIns="18288" wrap="square" anchor="ctr"/>
                    <a:lstStyle/>
                    <a:p>
                      <a:pPr algn="l"/>
                      <a:r>
                        <a:rPr sz="800" b="0">
                          <a:solidFill>
                            <a:srgbClr val="000000"/>
                          </a:solidFill>
                          <a:latin typeface="Calibri"/>
                        </a:rPr>
                        <a:t>9.60 mm</a:t>
                      </a:r>
                    </a:p>
                  </a:txBody>
                  <a:tcPr/>
                </a:tc>
                <a:tc>
                  <a:txBody>
                    <a:bodyPr lIns="54864" rIns="54864" tIns="18288" bIns="18288" wrap="square" anchor="ctr"/>
                    <a:lstStyle/>
                    <a:p>
                      <a:pPr algn="l"/>
                      <a:r>
                        <a:rPr sz="800" b="0">
                          <a:solidFill>
                            <a:srgbClr val="000000"/>
                          </a:solidFill>
                          <a:latin typeface="Calibri"/>
                        </a:rPr>
                        <a:t>10.12 mm</a:t>
                      </a:r>
                    </a:p>
                  </a:txBody>
                  <a:tcPr/>
                </a:tc>
              </a:tr>
              <a:tr h="211618">
                <a:tc>
                  <a:txBody>
                    <a:bodyPr lIns="54864" rIns="54864" tIns="18288" bIns="18288" wrap="square" anchor="ctr"/>
                    <a:lstStyle/>
                    <a:p>
                      <a:pPr algn="l"/>
                      <a:r>
                        <a:rPr sz="800" b="0">
                          <a:solidFill>
                            <a:srgbClr val="000000"/>
                          </a:solidFill>
                          <a:latin typeface="Calibri"/>
                        </a:rPr>
                        <a:t>frame rate</a:t>
                      </a:r>
                    </a:p>
                  </a:txBody>
                  <a:tcPr/>
                </a:tc>
                <a:tc>
                  <a:txBody>
                    <a:bodyPr lIns="54864" rIns="54864" tIns="18288" bIns="18288" wrap="square" anchor="ctr"/>
                    <a:lstStyle/>
                    <a:p>
                      <a:pPr algn="l"/>
                      <a:r>
                        <a:rPr sz="800" b="0">
                          <a:solidFill>
                            <a:srgbClr val="000000"/>
                          </a:solidFill>
                          <a:latin typeface="Calibri"/>
                        </a:rPr>
                        <a:t>19.405 fps, from its own
per-frame acquisition log</a:t>
                      </a:r>
                    </a:p>
                  </a:txBody>
                  <a:tcPr/>
                </a:tc>
                <a:tc>
                  <a:txBody>
                    <a:bodyPr lIns="54864" rIns="54864" tIns="18288" bIns="18288" wrap="square" anchor="ctr"/>
                    <a:lstStyle/>
                    <a:p>
                      <a:pPr algn="l"/>
                      <a:r>
                        <a:rPr sz="800" b="0">
                          <a:solidFill>
                            <a:srgbClr val="000000"/>
                          </a:solidFill>
                          <a:latin typeface="Calibri"/>
                        </a:rPr>
                        <a:t>19.93 fps, from the
capture's index.csv</a:t>
                      </a:r>
                    </a:p>
                  </a:txBody>
                  <a:tcPr/>
                </a:tc>
              </a:tr>
              <a:tr h="211620">
                <a:tc>
                  <a:txBody>
                    <a:bodyPr lIns="54864" rIns="54864" tIns="18288" bIns="18288" wrap="square" anchor="ctr"/>
                    <a:lstStyle/>
                    <a:p>
                      <a:pPr algn="l"/>
                      <a:r>
                        <a:rPr sz="800" b="0">
                          <a:solidFill>
                            <a:srgbClr val="000000"/>
                          </a:solidFill>
                          <a:latin typeface="Calibri"/>
                        </a:rPr>
                        <a:t>strain range usable</a:t>
                      </a:r>
                    </a:p>
                  </a:txBody>
                  <a:tcPr/>
                </a:tc>
                <a:tc>
                  <a:txBody>
                    <a:bodyPr lIns="54864" rIns="54864" tIns="18288" bIns="18288" wrap="square" anchor="ctr"/>
                    <a:lstStyle/>
                    <a:p>
                      <a:pPr algn="l"/>
                      <a:r>
                        <a:rPr sz="800" b="0">
                          <a:solidFill>
                            <a:srgbClr val="000000"/>
                          </a:solidFill>
                          <a:latin typeface="Calibri"/>
                        </a:rPr>
                        <a:t>to 0.40 %, then its
marks are lost</a:t>
                      </a:r>
                    </a:p>
                  </a:txBody>
                  <a:tcPr/>
                </a:tc>
                <a:tc>
                  <a:txBody>
                    <a:bodyPr lIns="54864" rIns="54864" tIns="18288" bIns="18288" wrap="square" anchor="ctr"/>
                    <a:lstStyle/>
                    <a:p>
                      <a:pPr algn="l"/>
                      <a:r>
                        <a:rPr sz="800" b="0">
                          <a:solidFill>
                            <a:srgbClr val="000000"/>
                          </a:solidFill>
                          <a:latin typeface="Calibri"/>
                        </a:rPr>
                        <a:t>to fracture</a:t>
                      </a:r>
                    </a:p>
                  </a:txBody>
                  <a:tcPr/>
                </a:tc>
              </a:tr>
            </a:tbl>
          </a:graphicData>
        </a:graphic>
      </p:graphicFrame>
      <p:sp>
        <p:nvSpPr>
          <p:cNvPr id="10" name="Rectangle 9"/>
          <p:cNvSpPr/>
          <p:nvPr/>
        </p:nvSpPr>
        <p:spPr>
          <a:xfrm>
            <a:off x="365760" y="5705856"/>
            <a:ext cx="11475720" cy="512064"/>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Both machines were set to the SAME 0.1 mm/s crosshead speed, and both measure an 80 mm marker span — so anything left over after the calculation is checked belongs to the machine, the grips or the specimen.</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MOT record: test2.chan 0.avi + strain.csv + test2.daq, XT-205, gauge 80.0033 mm. Ours: S25 and S26, PLA 100 % infill, the same pair used throughout this deck.</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301</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1 — SAME 80 mm GAUGE, DIFFERENT PIXEL COUNTS</a:t>
            </a:r>
          </a:p>
        </p:txBody>
      </p:sp>
      <p:sp>
        <p:nvSpPr>
          <p:cNvPr id="5" name="TextBox 4"/>
          <p:cNvSpPr txBox="1"/>
          <p:nvPr/>
        </p:nvSpPr>
        <p:spPr>
          <a:xfrm>
            <a:off x="411480" y="1024128"/>
            <a:ext cx="11430000" cy="384048"/>
          </a:xfrm>
          <a:prstGeom prst="rect">
            <a:avLst/>
          </a:prstGeom>
          <a:noFill/>
        </p:spPr>
        <p:txBody>
          <a:bodyPr wrap="square" lIns="45720" rIns="45720" tIns="18288" bIns="18288" anchor="t">
            <a:spAutoFit/>
          </a:bodyPr>
          <a:lstStyle/>
          <a:p>
            <a:pPr algn="l"/>
            <a:r>
              <a:rPr sz="1100" b="0" i="0">
                <a:solidFill>
                  <a:srgbClr val="000000"/>
                </a:solidFill>
                <a:latin typeface="Calibri"/>
              </a:rPr>
              <a:t>On the previous slide the XT-205's gauge spans 2234 px and the PPD-UTM's spans 1676 px, yet both are 80 mm of the same kind of specimen. Nothing is wrong: the two cameras magnify differently.</a:t>
            </a:r>
          </a:p>
        </p:txBody>
      </p:sp>
      <p:pic>
        <p:nvPicPr>
          <p:cNvPr id="6" name="Picture 5" descr="motpp_pixels.png"/>
          <p:cNvPicPr>
            <a:picLocks noChangeAspect="1"/>
          </p:cNvPicPr>
          <p:nvPr/>
        </p:nvPicPr>
        <p:blipFill>
          <a:blip r:embed="rId2"/>
          <a:stretch>
            <a:fillRect/>
          </a:stretch>
        </p:blipFill>
        <p:spPr>
          <a:xfrm>
            <a:off x="3203580" y="1499616"/>
            <a:ext cx="5845798" cy="2487168"/>
          </a:xfrm>
          <a:prstGeom prst="rect">
            <a:avLst/>
          </a:prstGeom>
        </p:spPr>
      </p:pic>
      <p:sp>
        <p:nvSpPr>
          <p:cNvPr id="7" name="TextBox 6"/>
          <p:cNvSpPr txBox="1"/>
          <p:nvPr/>
        </p:nvSpPr>
        <p:spPr>
          <a:xfrm>
            <a:off x="411480" y="4133087"/>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counts differ</a:t>
            </a:r>
          </a:p>
        </p:txBody>
      </p:sp>
      <p:sp>
        <p:nvSpPr>
          <p:cNvPr id="8" name="TextBox 7"/>
          <p:cNvSpPr txBox="1"/>
          <p:nvPr/>
        </p:nvSpPr>
        <p:spPr>
          <a:xfrm>
            <a:off x="411480" y="4480560"/>
            <a:ext cx="3703320" cy="1572768"/>
          </a:xfrm>
          <a:prstGeom prst="rect">
            <a:avLst/>
          </a:prstGeom>
          <a:noFill/>
        </p:spPr>
        <p:txBody>
          <a:bodyPr wrap="square" lIns="45720" rIns="45720" tIns="18288" bIns="18288" anchor="t">
            <a:spAutoFit/>
          </a:bodyPr>
          <a:lstStyle/>
          <a:p>
            <a:pPr algn="l"/>
            <a:r>
              <a:rPr sz="1000" b="0" i="0">
                <a:solidFill>
                  <a:srgbClr val="000000"/>
                </a:solidFill>
                <a:latin typeface="Calibri"/>
              </a:rPr>
              <a:t>The XT-205 lays 27.9 pixels across a millimetre; we lay 21.0. Over an 80 mm gauge that is 2234 px against 1676 px — a 33 % difference that belongs entirely to the optics and says nothing about the specimen, the grips or the test.</a:t>
            </a:r>
          </a:p>
        </p:txBody>
      </p:sp>
      <p:sp>
        <p:nvSpPr>
          <p:cNvPr id="9" name="TextBox 8"/>
          <p:cNvSpPr txBox="1"/>
          <p:nvPr/>
        </p:nvSpPr>
        <p:spPr>
          <a:xfrm>
            <a:off x="4343400" y="4133087"/>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does not affect the strain</a:t>
            </a:r>
          </a:p>
        </p:txBody>
      </p:sp>
      <p:sp>
        <p:nvSpPr>
          <p:cNvPr id="10" name="TextBox 9"/>
          <p:cNvSpPr txBox="1"/>
          <p:nvPr/>
        </p:nvSpPr>
        <p:spPr>
          <a:xfrm>
            <a:off x="4343400" y="4480560"/>
            <a:ext cx="3703320" cy="1572768"/>
          </a:xfrm>
          <a:prstGeom prst="rect">
            <a:avLst/>
          </a:prstGeom>
          <a:noFill/>
        </p:spPr>
        <p:txBody>
          <a:bodyPr wrap="square" lIns="45720" rIns="45720" tIns="18288" bIns="18288" anchor="t">
            <a:spAutoFit/>
          </a:bodyPr>
          <a:lstStyle/>
          <a:p>
            <a:pPr algn="l"/>
            <a:r>
              <a:rPr sz="1000" b="0" i="0">
                <a:solidFill>
                  <a:srgbClr val="000000"/>
                </a:solidFill>
                <a:latin typeface="Calibri"/>
              </a:rPr>
              <a:t>Because strain is a RATIO of pixels:
        ε = (L_px − Px₀) / Px₀
px/mm appears in the numerator and the denominator and cancels exactly. Neither machine needs the other's optics, or even a correct gauge length, for the two strains to be comparable — which is what makes the comparison on p303 possible at all.</a:t>
            </a:r>
          </a:p>
        </p:txBody>
      </p:sp>
      <p:sp>
        <p:nvSpPr>
          <p:cNvPr id="11" name="TextBox 10"/>
          <p:cNvSpPr txBox="1"/>
          <p:nvPr/>
        </p:nvSpPr>
        <p:spPr>
          <a:xfrm>
            <a:off x="8275320" y="4133087"/>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it DOES matter</a:t>
            </a:r>
          </a:p>
        </p:txBody>
      </p:sp>
      <p:sp>
        <p:nvSpPr>
          <p:cNvPr id="12" name="TextBox 11"/>
          <p:cNvSpPr txBox="1"/>
          <p:nvPr/>
        </p:nvSpPr>
        <p:spPr>
          <a:xfrm>
            <a:off x="8275320" y="4480560"/>
            <a:ext cx="3566160" cy="1572768"/>
          </a:xfrm>
          <a:prstGeom prst="rect">
            <a:avLst/>
          </a:prstGeom>
          <a:noFill/>
        </p:spPr>
        <p:txBody>
          <a:bodyPr wrap="square" lIns="45720" rIns="45720" tIns="18288" bIns="18288" anchor="t">
            <a:spAutoFit/>
          </a:bodyPr>
          <a:lstStyle/>
          <a:p>
            <a:pPr algn="l"/>
            <a:r>
              <a:rPr sz="1000" b="0" i="0">
                <a:solidFill>
                  <a:srgbClr val="000000"/>
                </a:solidFill>
                <a:latin typeface="Calibri"/>
              </a:rPr>
              <a:t>Resolution. One whole pixel is 448 µε on their longer baseline and 597 µε on ours — their pixel is worth 25 % less strain. It also matters for px/mm if an EXTENSION in millimetres is wanted; for strain alone it is not used.</a:t>
            </a:r>
          </a:p>
        </p:txBody>
      </p:sp>
      <p:sp>
        <p:nvSpPr>
          <p:cNvPr id="13" name="Rectangle 12"/>
          <p:cNvSpPr/>
          <p:nvPr/>
        </p:nvSpPr>
        <p:spPr>
          <a:xfrm>
            <a:off x="365760" y="6144768"/>
            <a:ext cx="11475720" cy="1828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 b="1">
                <a:solidFill>
                  <a:srgbClr val="000000"/>
                </a:solidFill>
                <a:latin typeface="Calibri"/>
              </a:rPr>
              <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Read the right-hand plot carefully: our pipeline reaches 5.7 µε on their footage and 23.5 µε on S25, a 4× gap where the magnification alone accounts for only 1.3×. The rest is the specimen, the lighting and the marker quality — not the camera.</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302</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1 — THE TWO CALCULATIONS AGREE</a:t>
            </a:r>
          </a:p>
        </p:txBody>
      </p:sp>
      <p:pic>
        <p:nvPicPr>
          <p:cNvPr id="5" name="Picture 4" descr="mot_postproc_compare.png"/>
          <p:cNvPicPr>
            <a:picLocks noChangeAspect="1"/>
          </p:cNvPicPr>
          <p:nvPr/>
        </p:nvPicPr>
        <p:blipFill>
          <a:blip r:embed="rId2"/>
          <a:stretch>
            <a:fillRect/>
          </a:stretch>
        </p:blipFill>
        <p:spPr>
          <a:xfrm>
            <a:off x="2971800" y="1042415"/>
            <a:ext cx="6217920" cy="2331720"/>
          </a:xfrm>
          <a:prstGeom prst="rect">
            <a:avLst/>
          </a:prstGeom>
        </p:spPr>
      </p:pic>
      <p:sp>
        <p:nvSpPr>
          <p:cNvPr id="6" name="TextBox 5"/>
          <p:cNvSpPr txBox="1"/>
          <p:nvPr/>
        </p:nvSpPr>
        <p:spPr>
          <a:xfrm>
            <a:off x="411480" y="3511296"/>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at matched instants — no fitting at all</a:t>
            </a:r>
          </a:p>
        </p:txBody>
      </p:sp>
      <p:graphicFrame>
        <p:nvGraphicFramePr>
          <p:cNvPr id="7" name="Table 6"/>
          <p:cNvGraphicFramePr>
            <a:graphicFrameLocks noGrp="1"/>
          </p:cNvGraphicFramePr>
          <p:nvPr/>
        </p:nvGraphicFramePr>
        <p:xfrm>
          <a:off x="411480" y="3858768"/>
          <a:ext cx="5623559" cy="1417320"/>
        </p:xfrm>
        <a:graphic>
          <a:graphicData uri="http://schemas.openxmlformats.org/drawingml/2006/table">
            <a:tbl>
              <a:tblPr firstRow="1" bandRow="1">
                <a:tableStyleId>{5C22544A-7EE6-4342-B048-85BDC9FD1C3A}</a:tableStyleId>
              </a:tblPr>
              <a:tblGrid>
                <a:gridCol w="3566159"/>
                <a:gridCol w="2057400"/>
              </a:tblGrid>
              <a:tr h="283464">
                <a:tc>
                  <a:txBody>
                    <a:bodyPr lIns="54864" rIns="54864" tIns="18288" bIns="18288" wrap="square" anchor="ctr"/>
                    <a:lstStyle/>
                    <a:p>
                      <a:pPr algn="l"/>
                      <a:r>
                        <a:rPr sz="950" b="1">
                          <a:solidFill>
                            <a:srgbClr val="FFFFFF"/>
                          </a:solidFill>
                          <a:latin typeface="Calibri"/>
                        </a:rPr>
                        <a:t>Test</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283464">
                <a:tc>
                  <a:txBody>
                    <a:bodyPr lIns="54864" rIns="54864" tIns="18288" bIns="18288" wrap="square" anchor="ctr"/>
                    <a:lstStyle/>
                    <a:p>
                      <a:pPr algn="l"/>
                      <a:r>
                        <a:rPr sz="850" b="0">
                          <a:solidFill>
                            <a:srgbClr val="000000"/>
                          </a:solidFill>
                          <a:latin typeface="Calibri"/>
                        </a:rPr>
                        <a:t>strain ratio, PPD-UTM DIC ÷ XT-205 (83 points)</a:t>
                      </a:r>
                    </a:p>
                  </a:txBody>
                  <a:tcPr/>
                </a:tc>
                <a:tc>
                  <a:txBody>
                    <a:bodyPr lIns="54864" rIns="54864" tIns="18288" bIns="18288" wrap="square" anchor="ctr"/>
                    <a:lstStyle/>
                    <a:p>
                      <a:pPr algn="l"/>
                      <a:r>
                        <a:rPr sz="850" b="0">
                          <a:solidFill>
                            <a:srgbClr val="000000"/>
                          </a:solidFill>
                          <a:latin typeface="Calibri"/>
                        </a:rPr>
                        <a:t>median 1.0017</a:t>
                      </a:r>
                    </a:p>
                  </a:txBody>
                  <a:tcPr/>
                </a:tc>
              </a:tr>
              <a:tr h="283464">
                <a:tc>
                  <a:txBody>
                    <a:bodyPr lIns="54864" rIns="54864" tIns="18288" bIns="18288" wrap="square" anchor="ctr"/>
                    <a:lstStyle/>
                    <a:p>
                      <a:pPr algn="l"/>
                      <a:r>
                        <a:rPr sz="850" b="0">
                          <a:solidFill>
                            <a:srgbClr val="000000"/>
                          </a:solidFill>
                          <a:latin typeface="Calibri"/>
                        </a:rPr>
                        <a:t>PPD-UTM DIC as a straight fit of the XT-205</a:t>
                      </a:r>
                    </a:p>
                  </a:txBody>
                  <a:tcPr/>
                </a:tc>
                <a:tc>
                  <a:txBody>
                    <a:bodyPr lIns="54864" rIns="54864" tIns="18288" bIns="18288" wrap="square" anchor="ctr"/>
                    <a:lstStyle/>
                    <a:p>
                      <a:pPr algn="l"/>
                      <a:r>
                        <a:rPr sz="850" b="0">
                          <a:solidFill>
                            <a:srgbClr val="000000"/>
                          </a:solidFill>
                          <a:latin typeface="Calibri"/>
                        </a:rPr>
                        <a:t>1.0256 × XT-205 -32 µε</a:t>
                      </a:r>
                    </a:p>
                  </a:txBody>
                  <a:tcPr/>
                </a:tc>
              </a:tr>
              <a:tr h="283464">
                <a:tc>
                  <a:txBody>
                    <a:bodyPr lIns="54864" rIns="54864" tIns="18288" bIns="18288" wrap="square" anchor="ctr"/>
                    <a:lstStyle/>
                    <a:p>
                      <a:pPr algn="l"/>
                      <a:r>
                        <a:rPr sz="850" b="0">
                          <a:solidFill>
                            <a:srgbClr val="000000"/>
                          </a:solidFill>
                          <a:latin typeface="Calibri"/>
                        </a:rPr>
                        <a:t>independent scale check (p306)</a:t>
                      </a:r>
                    </a:p>
                  </a:txBody>
                  <a:tcPr/>
                </a:tc>
                <a:tc>
                  <a:txBody>
                    <a:bodyPr lIns="54864" rIns="54864" tIns="18288" bIns="18288" wrap="square" anchor="ctr"/>
                    <a:lstStyle/>
                    <a:p>
                      <a:pPr algn="l"/>
                      <a:r>
                        <a:rPr sz="850" b="0">
                          <a:solidFill>
                            <a:srgbClr val="000000"/>
                          </a:solidFill>
                          <a:latin typeface="Calibri"/>
                        </a:rPr>
                        <a:t>k = 0.99991</a:t>
                      </a:r>
                    </a:p>
                  </a:txBody>
                  <a:tcPr/>
                </a:tc>
              </a:tr>
              <a:tr h="283464">
                <a:tc>
                  <a:txBody>
                    <a:bodyPr lIns="54864" rIns="54864" tIns="18288" bIns="18288" wrap="square" anchor="ctr"/>
                    <a:lstStyle/>
                    <a:p>
                      <a:pPr algn="l"/>
                      <a:r>
                        <a:rPr sz="850" b="0">
                          <a:solidFill>
                            <a:srgbClr val="000000"/>
                          </a:solidFill>
                          <a:latin typeface="Calibri"/>
                        </a:rPr>
                        <a:t>fitted strain-rate ratio</a:t>
                      </a:r>
                    </a:p>
                  </a:txBody>
                  <a:tcPr/>
                </a:tc>
                <a:tc>
                  <a:txBody>
                    <a:bodyPr lIns="54864" rIns="54864" tIns="18288" bIns="18288" wrap="square" anchor="ctr"/>
                    <a:lstStyle/>
                    <a:p>
                      <a:pPr algn="l"/>
                      <a:r>
                        <a:rPr sz="850" b="0">
                          <a:solidFill>
                            <a:srgbClr val="000000"/>
                          </a:solidFill>
                          <a:latin typeface="Calibri"/>
                        </a:rPr>
                        <a:t>1.0235</a:t>
                      </a:r>
                    </a:p>
                  </a:txBody>
                  <a:tcPr/>
                </a:tc>
              </a:tr>
            </a:tbl>
          </a:graphicData>
        </a:graphic>
      </p:graphicFrame>
      <p:sp>
        <p:nvSpPr>
          <p:cNvPr id="8" name="TextBox 7"/>
          <p:cNvSpPr txBox="1"/>
          <p:nvPr/>
        </p:nvSpPr>
        <p:spPr>
          <a:xfrm>
            <a:off x="6263640" y="3511296"/>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the PPD-UTM is the quieter of the two</a:t>
            </a:r>
          </a:p>
        </p:txBody>
      </p:sp>
      <p:graphicFrame>
        <p:nvGraphicFramePr>
          <p:cNvPr id="9" name="Table 8"/>
          <p:cNvGraphicFramePr>
            <a:graphicFrameLocks noGrp="1"/>
          </p:cNvGraphicFramePr>
          <p:nvPr/>
        </p:nvGraphicFramePr>
        <p:xfrm>
          <a:off x="6263640" y="3858768"/>
          <a:ext cx="5577838" cy="1417320"/>
        </p:xfrm>
        <a:graphic>
          <a:graphicData uri="http://schemas.openxmlformats.org/drawingml/2006/table">
            <a:tbl>
              <a:tblPr firstRow="1" bandRow="1">
                <a:tableStyleId>{5C22544A-7EE6-4342-B048-85BDC9FD1C3A}</a:tableStyleId>
              </a:tblPr>
              <a:tblGrid>
                <a:gridCol w="2606039"/>
                <a:gridCol w="1600200"/>
                <a:gridCol w="1371599"/>
              </a:tblGrid>
              <a:tr h="283464">
                <a:tc>
                  <a:txBody>
                    <a:bodyPr lIns="54864" rIns="54864" tIns="18288" bIns="18288" wrap="square" anchor="ctr"/>
                    <a:lstStyle/>
                    <a:p>
                      <a:pPr algn="l"/>
                      <a:r>
                        <a:rPr sz="950" b="1">
                          <a:solidFill>
                            <a:srgbClr val="FFFFFF"/>
                          </a:solidFill>
                          <a:latin typeface="Calibri"/>
                        </a:rPr>
                        <a:t>Record</a:t>
                      </a:r>
                    </a:p>
                  </a:txBody>
                  <a:tcPr>
                    <a:solidFill>
                      <a:srgbClr val="143D2F"/>
                    </a:solidFill>
                  </a:tcPr>
                </a:tc>
                <a:tc>
                  <a:txBody>
                    <a:bodyPr lIns="54864" rIns="54864" tIns="18288" bIns="18288" wrap="square" anchor="ctr"/>
                    <a:lstStyle/>
                    <a:p>
                      <a:pPr algn="l"/>
                      <a:r>
                        <a:rPr sz="950" b="1">
                          <a:solidFill>
                            <a:srgbClr val="FFFFFF"/>
                          </a:solidFill>
                          <a:latin typeface="Calibri"/>
                        </a:rPr>
                        <a:t>d(ε)/dt</a:t>
                      </a:r>
                    </a:p>
                  </a:txBody>
                  <a:tcPr>
                    <a:solidFill>
                      <a:srgbClr val="143D2F"/>
                    </a:solidFill>
                  </a:tcPr>
                </a:tc>
                <a:tc>
                  <a:txBody>
                    <a:bodyPr lIns="54864" rIns="54864" tIns="18288" bIns="18288" wrap="square" anchor="ctr"/>
                    <a:lstStyle/>
                    <a:p>
                      <a:pPr algn="l"/>
                      <a:r>
                        <a:rPr sz="950" b="1">
                          <a:solidFill>
                            <a:srgbClr val="FFFFFF"/>
                          </a:solidFill>
                          <a:latin typeface="Calibri"/>
                        </a:rPr>
                        <a:t>noise</a:t>
                      </a:r>
                    </a:p>
                  </a:txBody>
                  <a:tcPr>
                    <a:solidFill>
                      <a:srgbClr val="143D2F"/>
                    </a:solidFill>
                  </a:tcPr>
                </a:tc>
              </a:tr>
              <a:tr h="283464">
                <a:tc>
                  <a:txBody>
                    <a:bodyPr lIns="54864" rIns="54864" tIns="18288" bIns="18288" wrap="square" anchor="ctr"/>
                    <a:lstStyle/>
                    <a:p>
                      <a:pPr algn="l"/>
                      <a:r>
                        <a:rPr sz="850" b="0">
                          <a:solidFill>
                            <a:srgbClr val="000000"/>
                          </a:solidFill>
                          <a:latin typeface="Calibri"/>
                        </a:rPr>
                        <a:t>XT-205 footage, PPD-UTM DIC</a:t>
                      </a:r>
                    </a:p>
                  </a:txBody>
                  <a:tcPr/>
                </a:tc>
                <a:tc>
                  <a:txBody>
                    <a:bodyPr lIns="54864" rIns="54864" tIns="18288" bIns="18288" wrap="square" anchor="ctr"/>
                    <a:lstStyle/>
                    <a:p>
                      <a:pPr algn="l"/>
                      <a:r>
                        <a:rPr sz="850" b="0">
                          <a:solidFill>
                            <a:srgbClr val="000000"/>
                          </a:solidFill>
                          <a:latin typeface="Calibri"/>
                        </a:rPr>
                        <a:t>7.598e-04 /s</a:t>
                      </a:r>
                    </a:p>
                  </a:txBody>
                  <a:tcPr/>
                </a:tc>
                <a:tc>
                  <a:txBody>
                    <a:bodyPr lIns="54864" rIns="54864" tIns="18288" bIns="18288" wrap="square" anchor="ctr"/>
                    <a:lstStyle/>
                    <a:p>
                      <a:pPr algn="l"/>
                      <a:r>
                        <a:rPr sz="850" b="0">
                          <a:solidFill>
                            <a:srgbClr val="000000"/>
                          </a:solidFill>
                          <a:latin typeface="Calibri"/>
                        </a:rPr>
                        <a:t>5.7 µε</a:t>
                      </a:r>
                    </a:p>
                  </a:txBody>
                  <a:tcPr/>
                </a:tc>
              </a:tr>
              <a:tr h="283464">
                <a:tc>
                  <a:txBody>
                    <a:bodyPr lIns="54864" rIns="54864" tIns="18288" bIns="18288" wrap="square" anchor="ctr"/>
                    <a:lstStyle/>
                    <a:p>
                      <a:pPr algn="l"/>
                      <a:r>
                        <a:rPr sz="850" b="0">
                          <a:solidFill>
                            <a:srgbClr val="000000"/>
                          </a:solidFill>
                          <a:latin typeface="Calibri"/>
                        </a:rPr>
                        <a:t>XT-205 footage, XT-205 extensometer</a:t>
                      </a:r>
                    </a:p>
                  </a:txBody>
                  <a:tcPr/>
                </a:tc>
                <a:tc>
                  <a:txBody>
                    <a:bodyPr lIns="54864" rIns="54864" tIns="18288" bIns="18288" wrap="square" anchor="ctr"/>
                    <a:lstStyle/>
                    <a:p>
                      <a:pPr algn="l"/>
                      <a:r>
                        <a:rPr sz="850" b="0">
                          <a:solidFill>
                            <a:srgbClr val="000000"/>
                          </a:solidFill>
                          <a:latin typeface="Calibri"/>
                        </a:rPr>
                        <a:t>7.424e-04 /s</a:t>
                      </a:r>
                    </a:p>
                  </a:txBody>
                  <a:tcPr/>
                </a:tc>
                <a:tc>
                  <a:txBody>
                    <a:bodyPr lIns="54864" rIns="54864" tIns="18288" bIns="18288" wrap="square" anchor="ctr"/>
                    <a:lstStyle/>
                    <a:p>
                      <a:pPr algn="l"/>
                      <a:r>
                        <a:rPr sz="850" b="0">
                          <a:solidFill>
                            <a:srgbClr val="000000"/>
                          </a:solidFill>
                          <a:latin typeface="Calibri"/>
                        </a:rPr>
                        <a:t>44.9 µε</a:t>
                      </a:r>
                    </a:p>
                  </a:txBody>
                  <a:tcPr/>
                </a:tc>
              </a:tr>
              <a:tr h="283464">
                <a:tc>
                  <a:txBody>
                    <a:bodyPr lIns="54864" rIns="54864" tIns="18288" bIns="18288" wrap="square" anchor="ctr"/>
                    <a:lstStyle/>
                    <a:p>
                      <a:pPr algn="l"/>
                      <a:r>
                        <a:rPr sz="850" b="0">
                          <a:solidFill>
                            <a:srgbClr val="000000"/>
                          </a:solidFill>
                          <a:latin typeface="Calibri"/>
                        </a:rPr>
                        <a:t>S25, PPD-UTM</a:t>
                      </a:r>
                    </a:p>
                  </a:txBody>
                  <a:tcPr/>
                </a:tc>
                <a:tc>
                  <a:txBody>
                    <a:bodyPr lIns="54864" rIns="54864" tIns="18288" bIns="18288" wrap="square" anchor="ctr"/>
                    <a:lstStyle/>
                    <a:p>
                      <a:pPr algn="l"/>
                      <a:r>
                        <a:rPr sz="850" b="0">
                          <a:solidFill>
                            <a:srgbClr val="000000"/>
                          </a:solidFill>
                          <a:latin typeface="Calibri"/>
                        </a:rPr>
                        <a:t>2.666e-04 /s</a:t>
                      </a:r>
                    </a:p>
                  </a:txBody>
                  <a:tcPr/>
                </a:tc>
                <a:tc>
                  <a:txBody>
                    <a:bodyPr lIns="54864" rIns="54864" tIns="18288" bIns="18288" wrap="square" anchor="ctr"/>
                    <a:lstStyle/>
                    <a:p>
                      <a:pPr algn="l"/>
                      <a:r>
                        <a:rPr sz="850" b="0">
                          <a:solidFill>
                            <a:srgbClr val="000000"/>
                          </a:solidFill>
                          <a:latin typeface="Calibri"/>
                        </a:rPr>
                        <a:t>23.5 µε</a:t>
                      </a:r>
                    </a:p>
                  </a:txBody>
                  <a:tcPr/>
                </a:tc>
              </a:tr>
              <a:tr h="283464">
                <a:tc>
                  <a:txBody>
                    <a:bodyPr lIns="54864" rIns="54864" tIns="18288" bIns="18288" wrap="square" anchor="ctr"/>
                    <a:lstStyle/>
                    <a:p>
                      <a:pPr algn="l"/>
                      <a:r>
                        <a:rPr sz="850" b="0">
                          <a:solidFill>
                            <a:srgbClr val="000000"/>
                          </a:solidFill>
                          <a:latin typeface="Calibri"/>
                        </a:rPr>
                        <a:t>S26, PPD-UTM</a:t>
                      </a:r>
                    </a:p>
                  </a:txBody>
                  <a:tcPr/>
                </a:tc>
                <a:tc>
                  <a:txBody>
                    <a:bodyPr lIns="54864" rIns="54864" tIns="18288" bIns="18288" wrap="square" anchor="ctr"/>
                    <a:lstStyle/>
                    <a:p>
                      <a:pPr algn="l"/>
                      <a:r>
                        <a:rPr sz="850" b="0">
                          <a:solidFill>
                            <a:srgbClr val="000000"/>
                          </a:solidFill>
                          <a:latin typeface="Calibri"/>
                        </a:rPr>
                        <a:t>4.063e-04 /s</a:t>
                      </a:r>
                    </a:p>
                  </a:txBody>
                  <a:tcPr/>
                </a:tc>
                <a:tc>
                  <a:txBody>
                    <a:bodyPr lIns="54864" rIns="54864" tIns="18288" bIns="18288" wrap="square" anchor="ctr"/>
                    <a:lstStyle/>
                    <a:p>
                      <a:pPr algn="l"/>
                      <a:r>
                        <a:rPr sz="850" b="0">
                          <a:solidFill>
                            <a:srgbClr val="000000"/>
                          </a:solidFill>
                          <a:latin typeface="Calibri"/>
                        </a:rPr>
                        <a:t>23.6 µε</a:t>
                      </a:r>
                    </a:p>
                  </a:txBody>
                  <a:tcPr/>
                </a:tc>
              </a:tr>
            </a:tbl>
          </a:graphicData>
        </a:graphic>
      </p:graphicFrame>
      <p:sp>
        <p:nvSpPr>
          <p:cNvPr id="10" name="Rectangle 9"/>
          <p:cNvSpPr/>
          <p:nvPr/>
        </p:nvSpPr>
        <p:spPr>
          <a:xfrm>
            <a:off x="365760" y="5394960"/>
            <a:ext cx="11475720" cy="53035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1F3F2F"/>
                </a:solidFill>
                <a:latin typeface="Calibri"/>
              </a:rPr>
              <a:t>Same footage, same specimen, same instant — so the only thing that differs is the arithmetic, and it agrees. That the two strains are also the same SIZE, and not merely the same shape, is established separately and to 0.01 % (p306); what is left over here is each instrument's own noise.</a:t>
            </a:r>
          </a:p>
        </p:txBody>
      </p:sp>
      <p:sp>
        <p:nvSpPr>
          <p:cNvPr id="11" name="TextBox 10"/>
          <p:cNvSpPr txBox="1"/>
          <p:nvPr/>
        </p:nvSpPr>
        <p:spPr>
          <a:xfrm>
            <a:off x="365760" y="5980176"/>
            <a:ext cx="11475720" cy="310896"/>
          </a:xfrm>
          <a:prstGeom prst="rect">
            <a:avLst/>
          </a:prstGeom>
          <a:noFill/>
        </p:spPr>
        <p:txBody>
          <a:bodyPr wrap="square" lIns="45720" rIns="45720" tIns="18288" bIns="18288" anchor="t">
            <a:spAutoFit/>
          </a:bodyPr>
          <a:lstStyle/>
          <a:p>
            <a:pPr algn="ctr"/>
            <a:r>
              <a:rPr sz="1000" b="0" i="0">
                <a:solidFill>
                  <a:srgbClr val="000000"/>
                </a:solidFill>
                <a:latin typeface="Calibri"/>
              </a:rPr>
              <a:t>On the XT-205's own footage the PPD-UTM reads 7.9× quieter (5.7 vs 44.9 µε) — a larger pixel baseline and a sub-pixel centroid against the extensometer's 20 Hz output.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Fitted over 0.05–0.35 % strain, inside the XT-205's valid range — it loses its marks at 0.4015 %. See p300 for what a microstrain is.</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303</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1 — WHY THE SLOPES DIFFER</a:t>
            </a:r>
          </a:p>
        </p:txBody>
      </p:sp>
      <p:pic>
        <p:nvPicPr>
          <p:cNvPr id="5" name="Picture 4" descr="motpp_share.png"/>
          <p:cNvPicPr>
            <a:picLocks noChangeAspect="1"/>
          </p:cNvPicPr>
          <p:nvPr/>
        </p:nvPicPr>
        <p:blipFill>
          <a:blip r:embed="rId2"/>
          <a:stretch>
            <a:fillRect/>
          </a:stretch>
        </p:blipFill>
        <p:spPr>
          <a:xfrm>
            <a:off x="1930534" y="1024128"/>
            <a:ext cx="8300450" cy="2231136"/>
          </a:xfrm>
          <a:prstGeom prst="rect">
            <a:avLst/>
          </a:prstGeom>
        </p:spPr>
      </p:pic>
      <p:sp>
        <p:nvSpPr>
          <p:cNvPr id="6" name="TextBox 5"/>
          <p:cNvSpPr txBox="1"/>
          <p:nvPr/>
        </p:nvSpPr>
        <p:spPr>
          <a:xfrm>
            <a:off x="411480" y="3346704"/>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Ranked by how much of the gap each accounts for — the MOT's crosshead is commanded, not measured</a:t>
            </a:r>
          </a:p>
        </p:txBody>
      </p:sp>
      <p:graphicFrame>
        <p:nvGraphicFramePr>
          <p:cNvPr id="7" name="Table 6"/>
          <p:cNvGraphicFramePr>
            <a:graphicFrameLocks noGrp="1"/>
          </p:cNvGraphicFramePr>
          <p:nvPr/>
        </p:nvGraphicFramePr>
        <p:xfrm>
          <a:off x="411480" y="3694176"/>
          <a:ext cx="11430000" cy="2340864"/>
        </p:xfrm>
        <a:graphic>
          <a:graphicData uri="http://schemas.openxmlformats.org/drawingml/2006/table">
            <a:tbl>
              <a:tblPr firstRow="1" bandRow="1">
                <a:tableStyleId>{5C22544A-7EE6-4342-B048-85BDC9FD1C3A}</a:tableStyleId>
              </a:tblPr>
              <a:tblGrid>
                <a:gridCol w="292608"/>
                <a:gridCol w="4114800"/>
                <a:gridCol w="5074920"/>
                <a:gridCol w="1947672"/>
              </a:tblGrid>
              <a:tr h="468172">
                <a:tc>
                  <a:txBody>
                    <a:bodyPr lIns="54864" rIns="54864" tIns="18288" bIns="18288" wrap="square" anchor="ctr"/>
                    <a:lstStyle/>
                    <a:p>
                      <a:pPr algn="l"/>
                      <a:r>
                        <a:rPr sz="950" b="1">
                          <a:solidFill>
                            <a:srgbClr val="FFFFFF"/>
                          </a:solidFill>
                          <a:latin typeface="Calibri"/>
                        </a:rPr>
                        <a:t>#</a:t>
                      </a:r>
                    </a:p>
                  </a:txBody>
                  <a:tcPr>
                    <a:solidFill>
                      <a:srgbClr val="143D2F"/>
                    </a:solidFill>
                  </a:tcPr>
                </a:tc>
                <a:tc>
                  <a:txBody>
                    <a:bodyPr lIns="54864" rIns="54864" tIns="18288" bIns="18288" wrap="square" anchor="ctr"/>
                    <a:lstStyle/>
                    <a:p>
                      <a:pPr algn="l"/>
                      <a:r>
                        <a:rPr sz="950" b="1">
                          <a:solidFill>
                            <a:srgbClr val="FFFFFF"/>
                          </a:solidFill>
                          <a:latin typeface="Calibri"/>
                        </a:rPr>
                        <a:t>Cause</a:t>
                      </a:r>
                    </a:p>
                  </a:txBody>
                  <a:tcPr>
                    <a:solidFill>
                      <a:srgbClr val="143D2F"/>
                    </a:solidFill>
                  </a:tcPr>
                </a:tc>
                <a:tc>
                  <a:txBody>
                    <a:bodyPr lIns="54864" rIns="54864" tIns="18288" bIns="18288" wrap="square" anchor="ctr"/>
                    <a:lstStyle/>
                    <a:p>
                      <a:pPr algn="l"/>
                      <a:r>
                        <a:rPr sz="950" b="1">
                          <a:solidFill>
                            <a:srgbClr val="FFFFFF"/>
                          </a:solidFill>
                          <a:latin typeface="Calibri"/>
                        </a:rPr>
                        <a:t>The evidence</a:t>
                      </a:r>
                    </a:p>
                  </a:txBody>
                  <a:tcPr>
                    <a:solidFill>
                      <a:srgbClr val="143D2F"/>
                    </a:solidFill>
                  </a:tcPr>
                </a:tc>
                <a:tc>
                  <a:txBody>
                    <a:bodyPr lIns="54864" rIns="54864" tIns="18288" bIns="18288" wrap="square" anchor="ctr"/>
                    <a:lstStyle/>
                    <a:p>
                      <a:pPr algn="l"/>
                      <a:r>
                        <a:rPr sz="950" b="1">
                          <a:solidFill>
                            <a:srgbClr val="FFFFFF"/>
                          </a:solidFill>
                          <a:latin typeface="Calibri"/>
                        </a:rPr>
                        <a:t>Size</a:t>
                      </a:r>
                    </a:p>
                  </a:txBody>
                  <a:tcPr>
                    <a:solidFill>
                      <a:srgbClr val="143D2F"/>
                    </a:solidFill>
                  </a:tcPr>
                </a:tc>
              </a:tr>
              <a:tr h="468172">
                <a:tc>
                  <a:txBody>
                    <a:bodyPr lIns="54864" rIns="54864" tIns="18288" bIns="18288" wrap="square" anchor="ctr"/>
                    <a:lstStyle/>
                    <a:p>
                      <a:pPr algn="l"/>
                      <a:r>
                        <a:rPr sz="750" b="0">
                          <a:solidFill>
                            <a:srgbClr val="000000"/>
                          </a:solidFill>
                          <a:latin typeface="Calibri"/>
                        </a:rPr>
                        <a:t>1</a:t>
                      </a:r>
                    </a:p>
                  </a:txBody>
                  <a:tcPr/>
                </a:tc>
                <a:tc>
                  <a:txBody>
                    <a:bodyPr lIns="54864" rIns="54864" tIns="18288" bIns="18288" wrap="square" anchor="ctr"/>
                    <a:lstStyle/>
                    <a:p>
                      <a:pPr algn="l"/>
                      <a:r>
                        <a:rPr sz="750" b="0">
                          <a:solidFill>
                            <a:srgbClr val="000000"/>
                          </a:solidFill>
                          <a:latin typeface="Calibri"/>
                        </a:rPr>
                        <a:t>Motor speed is not specimen speed.
The rig's Position_mm is a MOTOR-shaft encoder read through 20:1 gearing
and a 5 mm screw. It proves the motor turned; it proves nothing about
the grips, and no sensor measures them directly.</a:t>
                      </a:r>
                    </a:p>
                  </a:txBody>
                  <a:tcPr/>
                </a:tc>
                <a:tc>
                  <a:txBody>
                    <a:bodyPr lIns="54864" rIns="54864" tIns="18288" bIns="18288" wrap="square" anchor="ctr"/>
                    <a:lstStyle/>
                    <a:p>
                      <a:pPr algn="l"/>
                      <a:r>
                        <a:rPr sz="750" b="0">
                          <a:solidFill>
                            <a:srgbClr val="000000"/>
                          </a:solidFill>
                          <a:latin typeface="Calibri"/>
                        </a:rPr>
                        <a:t>motor 0.1001 mm/s — exactly commanded — while the gauge
sees 0.0213 mm/s (S25) and 0.0325 mm/s (S26). Everything between
the motor and the specimen is assumed rigid, and is not.</a:t>
                      </a:r>
                    </a:p>
                  </a:txBody>
                  <a:tcPr/>
                </a:tc>
                <a:tc>
                  <a:txBody>
                    <a:bodyPr lIns="54864" rIns="54864" tIns="18288" bIns="18288" wrap="square" anchor="ctr"/>
                    <a:lstStyle/>
                    <a:p>
                      <a:pPr algn="l"/>
                      <a:r>
                        <a:rPr sz="750" b="0">
                          <a:solidFill>
                            <a:srgbClr val="000000"/>
                          </a:solidFill>
                          <a:latin typeface="Calibri"/>
                        </a:rPr>
                        <a:t>the bulk of it</a:t>
                      </a:r>
                    </a:p>
                  </a:txBody>
                  <a:tcPr/>
                </a:tc>
              </a:tr>
              <a:tr h="468172">
                <a:tc>
                  <a:txBody>
                    <a:bodyPr lIns="54864" rIns="54864" tIns="18288" bIns="18288" wrap="square" anchor="ctr"/>
                    <a:lstStyle/>
                    <a:p>
                      <a:pPr algn="l"/>
                      <a:r>
                        <a:rPr sz="750" b="0">
                          <a:solidFill>
                            <a:srgbClr val="000000"/>
                          </a:solidFill>
                          <a:latin typeface="Calibri"/>
                        </a:rPr>
                        <a:t>2</a:t>
                      </a:r>
                    </a:p>
                  </a:txBody>
                  <a:tcPr/>
                </a:tc>
                <a:tc>
                  <a:txBody>
                    <a:bodyPr lIns="54864" rIns="54864" tIns="18288" bIns="18288" wrap="square" anchor="ctr"/>
                    <a:lstStyle/>
                    <a:p>
                      <a:pPr algn="l"/>
                      <a:r>
                        <a:rPr sz="750" b="0">
                          <a:solidFill>
                            <a:srgbClr val="000000"/>
                          </a:solidFill>
                          <a:latin typeface="Calibri"/>
                        </a:rPr>
                        <a:t>Grip seating varies from mounting to mounting.
The XT-205 clamps with jaws; matching PRELOAD in newtons does not
match how the specimen is seated.</a:t>
                      </a:r>
                    </a:p>
                  </a:txBody>
                  <a:tcPr/>
                </a:tc>
                <a:tc>
                  <a:txBody>
                    <a:bodyPr lIns="54864" rIns="54864" tIns="18288" bIns="18288" wrap="square" anchor="ctr"/>
                    <a:lstStyle/>
                    <a:p>
                      <a:pPr algn="l"/>
                      <a:r>
                        <a:rPr sz="750" b="0">
                          <a:solidFill>
                            <a:srgbClr val="000000"/>
                          </a:solidFill>
                          <a:latin typeface="Calibri"/>
                        </a:rPr>
                        <a:t>S25 21 % against S26 33 % — 11 points apart on two runs of
the same protocol. A fixed frame compliance would repeat.
Something that varies per mounting does not.</a:t>
                      </a:r>
                    </a:p>
                  </a:txBody>
                  <a:tcPr/>
                </a:tc>
                <a:tc>
                  <a:txBody>
                    <a:bodyPr lIns="54864" rIns="54864" tIns="18288" bIns="18288" wrap="square" anchor="ctr"/>
                    <a:lstStyle/>
                    <a:p>
                      <a:pPr algn="l"/>
                      <a:r>
                        <a:rPr sz="750" b="0">
                          <a:solidFill>
                            <a:srgbClr val="000000"/>
                          </a:solidFill>
                          <a:latin typeface="Calibri"/>
                        </a:rPr>
                        <a:t>explains the
SPREAD</a:t>
                      </a:r>
                    </a:p>
                  </a:txBody>
                  <a:tcPr/>
                </a:tc>
              </a:tr>
              <a:tr h="468172">
                <a:tc>
                  <a:txBody>
                    <a:bodyPr lIns="54864" rIns="54864" tIns="18288" bIns="18288" wrap="square" anchor="ctr"/>
                    <a:lstStyle/>
                    <a:p>
                      <a:pPr algn="l"/>
                      <a:r>
                        <a:rPr sz="750" b="0">
                          <a:solidFill>
                            <a:srgbClr val="000000"/>
                          </a:solidFill>
                          <a:latin typeface="Calibri"/>
                        </a:rPr>
                        <a:t>3</a:t>
                      </a:r>
                    </a:p>
                  </a:txBody>
                  <a:tcPr/>
                </a:tc>
                <a:tc>
                  <a:txBody>
                    <a:bodyPr lIns="54864" rIns="54864" tIns="18288" bIns="18288" wrap="square" anchor="ctr"/>
                    <a:lstStyle/>
                    <a:p>
                      <a:pPr algn="l"/>
                      <a:r>
                        <a:rPr sz="750" b="0">
                          <a:solidFill>
                            <a:srgbClr val="000000"/>
                          </a:solidFill>
                          <a:latin typeface="Calibri"/>
                        </a:rPr>
                        <a:t>The PPD-UTM markers sit on the fillet shoulders.
Wider material carries the same load at lower stress, so it strains less
and dilutes the average over the span.</a:t>
                      </a:r>
                    </a:p>
                  </a:txBody>
                  <a:tcPr/>
                </a:tc>
                <a:tc>
                  <a:txBody>
                    <a:bodyPr lIns="54864" rIns="54864" tIns="18288" bIns="18288" wrap="square" anchor="ctr"/>
                    <a:lstStyle/>
                    <a:p>
                      <a:pPr algn="l"/>
                      <a:r>
                        <a:rPr sz="750" b="0">
                          <a:solidFill>
                            <a:srgbClr val="000000"/>
                          </a:solidFill>
                          <a:latin typeface="Calibri"/>
                        </a:rPr>
                        <a:t>only 85 % of the PPD-UTM marker span is parallel; at its two ends the
specimen is 64 % and 69 % wider. The XT-205's span is parallel
across 100 %.</a:t>
                      </a:r>
                    </a:p>
                  </a:txBody>
                  <a:tcPr/>
                </a:tc>
                <a:tc>
                  <a:txBody>
                    <a:bodyPr lIns="54864" rIns="54864" tIns="18288" bIns="18288" wrap="square" anchor="ctr"/>
                    <a:lstStyle/>
                    <a:p>
                      <a:pPr algn="l"/>
                      <a:r>
                        <a:rPr sz="750" b="0">
                          <a:solidFill>
                            <a:srgbClr val="000000"/>
                          </a:solidFill>
                          <a:latin typeface="Calibri"/>
                        </a:rPr>
                        <a:t>6.5 % — real
but minor</a:t>
                      </a:r>
                    </a:p>
                  </a:txBody>
                  <a:tcPr/>
                </a:tc>
              </a:tr>
              <a:tr h="468176">
                <a:tc>
                  <a:txBody>
                    <a:bodyPr lIns="54864" rIns="54864" tIns="18288" bIns="18288" wrap="square" anchor="ctr"/>
                    <a:lstStyle/>
                    <a:p>
                      <a:pPr algn="l"/>
                      <a:r>
                        <a:rPr sz="750" b="0">
                          <a:solidFill>
                            <a:srgbClr val="000000"/>
                          </a:solidFill>
                          <a:latin typeface="Calibri"/>
                        </a:rPr>
                        <a:t>4</a:t>
                      </a:r>
                    </a:p>
                  </a:txBody>
                  <a:tcPr/>
                </a:tc>
                <a:tc>
                  <a:txBody>
                    <a:bodyPr lIns="54864" rIns="54864" tIns="18288" bIns="18288" wrap="square" anchor="ctr"/>
                    <a:lstStyle/>
                    <a:p>
                      <a:pPr algn="l"/>
                      <a:r>
                        <a:rPr sz="750" b="0">
                          <a:solidFill>
                            <a:srgbClr val="000000"/>
                          </a:solidFill>
                          <a:latin typeface="Calibri"/>
                        </a:rPr>
                        <a:t>Strain-rate dependence then compounds it.
PLA is viscoelastic, so its elastic slope rises with strain rate.</a:t>
                      </a:r>
                    </a:p>
                  </a:txBody>
                  <a:tcPr/>
                </a:tc>
                <a:tc>
                  <a:txBody>
                    <a:bodyPr lIns="54864" rIns="54864" tIns="18288" bIns="18288" wrap="square" anchor="ctr"/>
                    <a:lstStyle/>
                    <a:p>
                      <a:pPr algn="l"/>
                      <a:r>
                        <a:rPr sz="750" b="0">
                          <a:solidFill>
                            <a:srgbClr val="000000"/>
                          </a:solidFill>
                          <a:latin typeface="Calibri"/>
                        </a:rPr>
                        <a:t>the PPD-UTM gauge is strained at a third of the XT-205's, so a lower
modulus follows even from a perfect instrument. A CONSEQUENCE of 1–2,
not an independent cause.</a:t>
                      </a:r>
                    </a:p>
                  </a:txBody>
                  <a:tcPr/>
                </a:tc>
                <a:tc>
                  <a:txBody>
                    <a:bodyPr lIns="54864" rIns="54864" tIns="18288" bIns="18288" wrap="square" anchor="ctr"/>
                    <a:lstStyle/>
                    <a:p>
                      <a:pPr algn="l"/>
                      <a:r>
                        <a:rPr sz="750" b="0">
                          <a:solidFill>
                            <a:srgbClr val="000000"/>
                          </a:solidFill>
                          <a:latin typeface="Calibri"/>
                        </a:rPr>
                        <a:t>multiplies
1 and 2</a:t>
                      </a:r>
                    </a:p>
                  </a:txBody>
                  <a:tcPr/>
                </a:tc>
              </a:tr>
            </a:tbl>
          </a:graphicData>
        </a:graphic>
      </p:graphicFrame>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Not every loss is a fault — the shoulders and grip sections strain too, so 100 % is not the target on any machine; the XT-205 loses 41 % itself. Shares are d(ε)/dt × 80 mm ÷ crosshead speed over one window.</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WHAT HAD TO BE FIXED BEFORE THESE NUMBERS MEANT ANYTHING</a:t>
            </a:r>
          </a:p>
        </p:txBody>
      </p:sp>
      <p:sp>
        <p:nvSpPr>
          <p:cNvPr id="5" name="TextBox 4"/>
          <p:cNvSpPr txBox="1"/>
          <p:nvPr/>
        </p:nvSpPr>
        <p:spPr>
          <a:xfrm>
            <a:off x="411480" y="111556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Four traps, every one of which produced a confident wrong answer first</a:t>
            </a:r>
          </a:p>
        </p:txBody>
      </p:sp>
      <p:graphicFrame>
        <p:nvGraphicFramePr>
          <p:cNvPr id="6" name="Table 5"/>
          <p:cNvGraphicFramePr>
            <a:graphicFrameLocks noGrp="1"/>
          </p:cNvGraphicFramePr>
          <p:nvPr/>
        </p:nvGraphicFramePr>
        <p:xfrm>
          <a:off x="411480" y="1463040"/>
          <a:ext cx="11430000" cy="3017520"/>
        </p:xfrm>
        <a:graphic>
          <a:graphicData uri="http://schemas.openxmlformats.org/drawingml/2006/table">
            <a:tbl>
              <a:tblPr firstRow="1" bandRow="1">
                <a:tableStyleId>{5C22544A-7EE6-4342-B048-85BDC9FD1C3A}</a:tableStyleId>
              </a:tblPr>
              <a:tblGrid>
                <a:gridCol w="2286000"/>
                <a:gridCol w="4572000"/>
                <a:gridCol w="4572000"/>
              </a:tblGrid>
              <a:tr h="603504">
                <a:tc>
                  <a:txBody>
                    <a:bodyPr lIns="54864" rIns="54864" tIns="18288" bIns="18288" wrap="square" anchor="ctr"/>
                    <a:lstStyle/>
                    <a:p>
                      <a:pPr algn="l"/>
                      <a:r>
                        <a:rPr sz="950" b="1">
                          <a:solidFill>
                            <a:srgbClr val="FFFFFF"/>
                          </a:solidFill>
                          <a:latin typeface="Calibri"/>
                        </a:rPr>
                        <a:t>Trap</a:t>
                      </a:r>
                    </a:p>
                  </a:txBody>
                  <a:tcPr>
                    <a:solidFill>
                      <a:srgbClr val="143D2F"/>
                    </a:solidFill>
                  </a:tcPr>
                </a:tc>
                <a:tc>
                  <a:txBody>
                    <a:bodyPr lIns="54864" rIns="54864" tIns="18288" bIns="18288" wrap="square" anchor="ctr"/>
                    <a:lstStyle/>
                    <a:p>
                      <a:pPr algn="l"/>
                      <a:r>
                        <a:rPr sz="950" b="1">
                          <a:solidFill>
                            <a:srgbClr val="FFFFFF"/>
                          </a:solidFill>
                          <a:latin typeface="Calibri"/>
                        </a:rPr>
                        <a:t>What it did</a:t>
                      </a:r>
                    </a:p>
                  </a:txBody>
                  <a:tcPr>
                    <a:solidFill>
                      <a:srgbClr val="143D2F"/>
                    </a:solidFill>
                  </a:tcPr>
                </a:tc>
                <a:tc>
                  <a:txBody>
                    <a:bodyPr lIns="54864" rIns="54864" tIns="18288" bIns="18288" wrap="square" anchor="ctr"/>
                    <a:lstStyle/>
                    <a:p>
                      <a:pPr algn="l"/>
                      <a:r>
                        <a:rPr sz="950" b="1">
                          <a:solidFill>
                            <a:srgbClr val="FFFFFF"/>
                          </a:solidFill>
                          <a:latin typeface="Calibri"/>
                        </a:rPr>
                        <a:t>How it was caught, and fixed</a:t>
                      </a:r>
                    </a:p>
                  </a:txBody>
                  <a:tcPr>
                    <a:solidFill>
                      <a:srgbClr val="143D2F"/>
                    </a:solidFill>
                  </a:tcPr>
                </a:tc>
              </a:tr>
              <a:tr h="603504">
                <a:tc>
                  <a:txBody>
                    <a:bodyPr lIns="54864" rIns="54864" tIns="18288" bIns="18288" wrap="square" anchor="ctr"/>
                    <a:lstStyle/>
                    <a:p>
                      <a:pPr algn="l"/>
                      <a:r>
                        <a:rPr sz="750" b="0">
                          <a:solidFill>
                            <a:srgbClr val="000000"/>
                          </a:solidFill>
                          <a:latin typeface="Calibri"/>
                        </a:rPr>
                        <a:t>The video declares 1000 fps
and 117 497 frames</a:t>
                      </a:r>
                    </a:p>
                  </a:txBody>
                  <a:tcPr/>
                </a:tc>
                <a:tc>
                  <a:txBody>
                    <a:bodyPr lIns="54864" rIns="54864" tIns="18288" bIns="18288" wrap="square" anchor="ctr"/>
                    <a:lstStyle/>
                    <a:p>
                      <a:pPr algn="l"/>
                      <a:r>
                        <a:rPr sz="750" b="0">
                          <a:solidFill>
                            <a:srgbClr val="000000"/>
                          </a:solidFill>
                          <a:latin typeface="Calibri"/>
                        </a:rPr>
                        <a:t>It holds 2281 frames at 19.4 fps. Every time-based
figure in the first run was out by 52× — 'duration
0.77 s', 'mean rate 2.5e-02 /s'.</a:t>
                      </a:r>
                    </a:p>
                  </a:txBody>
                  <a:tcPr/>
                </a:tc>
                <a:tc>
                  <a:txBody>
                    <a:bodyPr lIns="54864" rIns="54864" tIns="18288" bIns="18288" wrap="square" anchor="ctr"/>
                    <a:lstStyle/>
                    <a:p>
                      <a:pPr algn="l"/>
                      <a:r>
                        <a:rPr sz="750" b="0">
                          <a:solidFill>
                            <a:srgbClr val="000000"/>
                          </a:solidFill>
                          <a:latin typeface="Calibri"/>
                        </a:rPr>
                        <a:t>test2.daq carries EXACTLY 2281 rows for those 2281
frames, each timestamped. The time base is now read
from it rather than from the container.</a:t>
                      </a:r>
                    </a:p>
                  </a:txBody>
                  <a:tcPr/>
                </a:tc>
              </a:tr>
              <a:tr h="603504">
                <a:tc>
                  <a:txBody>
                    <a:bodyPr lIns="54864" rIns="54864" tIns="18288" bIns="18288" wrap="square" anchor="ctr"/>
                    <a:lstStyle/>
                    <a:p>
                      <a:pPr algn="l"/>
                      <a:r>
                        <a:rPr sz="750" b="0">
                          <a:solidFill>
                            <a:srgbClr val="000000"/>
                          </a:solidFill>
                          <a:latin typeface="Calibri"/>
                        </a:rPr>
                        <a:t>Recovering the frame rate by
matching strain curves</a:t>
                      </a:r>
                    </a:p>
                  </a:txBody>
                  <a:tcPr/>
                </a:tc>
                <a:tc>
                  <a:txBody>
                    <a:bodyPr lIns="54864" rIns="54864" tIns="18288" bIns="18288" wrap="square" anchor="ctr"/>
                    <a:lstStyle/>
                    <a:p>
                      <a:pPr algn="l"/>
                      <a:r>
                        <a:rPr sz="750" b="0">
                          <a:solidFill>
                            <a:srgbClr val="000000"/>
                          </a:solidFill>
                          <a:latin typeface="Calibri"/>
                        </a:rPr>
                        <a:t>Circular. If the PPD-UTM strain were k× the XT-205's the fit
returns fps ÷ k, and the two rates then agree BY CONSTRUCTION.
That version reported 0.6 % agreement.</a:t>
                      </a:r>
                    </a:p>
                  </a:txBody>
                  <a:tcPr/>
                </a:tc>
                <a:tc>
                  <a:txBody>
                    <a:bodyPr lIns="54864" rIns="54864" tIns="18288" bIns="18288" wrap="square" anchor="ctr"/>
                    <a:lstStyle/>
                    <a:p>
                      <a:pPr algn="l"/>
                      <a:r>
                        <a:rPr sz="750" b="0">
                          <a:solidFill>
                            <a:srgbClr val="000000"/>
                          </a:solidFill>
                          <a:latin typeface="Calibri"/>
                        </a:rPr>
                        <a:t>Replaced by the acquisition log's per-frame
timestamps; the honest figure is 2.4 %. The fit is kept, demoted to
the scale check it is genuinely good for.</a:t>
                      </a:r>
                    </a:p>
                  </a:txBody>
                  <a:tcPr/>
                </a:tc>
              </a:tr>
              <a:tr h="603504">
                <a:tc>
                  <a:txBody>
                    <a:bodyPr lIns="54864" rIns="54864" tIns="18288" bIns="18288" wrap="square" anchor="ctr"/>
                    <a:lstStyle/>
                    <a:p>
                      <a:pPr algn="l"/>
                      <a:r>
                        <a:rPr sz="750" b="0">
                          <a:solidFill>
                            <a:srgbClr val="000000"/>
                          </a:solidFill>
                          <a:latin typeface="Calibri"/>
                        </a:rPr>
                        <a:t>cv2 seeking returns a STALE
frame on this file</a:t>
                      </a:r>
                    </a:p>
                  </a:txBody>
                  <a:tcPr/>
                </a:tc>
                <a:tc>
                  <a:txBody>
                    <a:bodyPr lIns="54864" rIns="54864" tIns="18288" bIns="18288" wrap="square" anchor="ctr"/>
                    <a:lstStyle/>
                    <a:p>
                      <a:pPr algn="l"/>
                      <a:r>
                        <a:rPr sz="750" b="0">
                          <a:solidFill>
                            <a:srgbClr val="000000"/>
                          </a:solidFill>
                          <a:latin typeface="Calibri"/>
                        </a:rPr>
                        <a:t>Correct for the first ~40 frames, wrong past ~80,
while reporting its position honestly. Sampling by
seek showed markers that never moved — and I
reported the video held no deformation. It holds a
pull to 4 % and a fracture.</a:t>
                      </a:r>
                    </a:p>
                  </a:txBody>
                  <a:tcPr/>
                </a:tc>
                <a:tc>
                  <a:txBody>
                    <a:bodyPr lIns="54864" rIns="54864" tIns="18288" bIns="18288" wrap="square" anchor="ctr"/>
                    <a:lstStyle/>
                    <a:p>
                      <a:pPr algn="l"/>
                      <a:r>
                        <a:rPr sz="750" b="0">
                          <a:solidFill>
                            <a:srgbClr val="000000"/>
                          </a:solidFill>
                          <a:latin typeface="Calibri"/>
                        </a:rPr>
                        <a:t>read_frame now probes each file and decodes in order
when the seek cannot be trusted. Two cheaper probes
were tried and rejected: the position property is
honest here, and the stale seeks are not identical.</a:t>
                      </a:r>
                    </a:p>
                  </a:txBody>
                  <a:tcPr/>
                </a:tc>
              </a:tr>
              <a:tr h="603504">
                <a:tc>
                  <a:txBody>
                    <a:bodyPr lIns="54864" rIns="54864" tIns="18288" bIns="18288" wrap="square" anchor="ctr"/>
                    <a:lstStyle/>
                    <a:p>
                      <a:pPr algn="l"/>
                      <a:r>
                        <a:rPr sz="750" b="0">
                          <a:solidFill>
                            <a:srgbClr val="000000"/>
                          </a:solidFill>
                          <a:latin typeface="Calibri"/>
                        </a:rPr>
                        <a:t>Box half-size 105 px, marker
121 px from the frame edge</a:t>
                      </a:r>
                    </a:p>
                  </a:txBody>
                  <a:tcPr/>
                </a:tc>
                <a:tc>
                  <a:txBody>
                    <a:bodyPr lIns="54864" rIns="54864" tIns="18288" bIns="18288" wrap="square" anchor="ctr"/>
                    <a:lstStyle/>
                    <a:p>
                      <a:pPr algn="l"/>
                      <a:r>
                        <a:rPr sz="750" b="0">
                          <a:solidFill>
                            <a:srgbClr val="000000"/>
                          </a:solidFill>
                          <a:latin typeface="Calibri"/>
                        </a:rPr>
                        <a:t>Box.clamp() pinned the box at 2357 px once the marker
travelled far enough; 184 rows sit at exactly that value,
after which the centroid flip-flops several px a frame.</a:t>
                      </a:r>
                    </a:p>
                  </a:txBody>
                  <a:tcPr/>
                </a:tc>
                <a:tc>
                  <a:txBody>
                    <a:bodyPr lIns="54864" rIns="54864" tIns="18288" bIns="18288" wrap="square" anchor="ctr"/>
                    <a:lstStyle/>
                    <a:p>
                      <a:pPr algn="l"/>
                      <a:r>
                        <a:rPr sz="750" b="0">
                          <a:solidFill>
                            <a:srgbClr val="000000"/>
                          </a:solidFill>
                          <a:latin typeface="Calibri"/>
                        </a:rPr>
                        <a:t>The run is trimmed at the first jump the specimen
could not physically make (0.085 px/frame is real,
the cut fires at 0.52). It lands at 0.52 % strain —
above the fitted window, so nothing fitted is lost.</a:t>
                      </a:r>
                    </a:p>
                  </a:txBody>
                  <a:tcPr/>
                </a:tc>
              </a:tr>
            </a:tbl>
          </a:graphicData>
        </a:graphic>
      </p:graphicFrame>
      <p:sp>
        <p:nvSpPr>
          <p:cNvPr id="7" name="TextBox 6"/>
          <p:cNvSpPr txBox="1"/>
          <p:nvPr/>
        </p:nvSpPr>
        <p:spPr>
          <a:xfrm>
            <a:off x="411480" y="46268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to do differently next time</a:t>
            </a:r>
          </a:p>
        </p:txBody>
      </p:sp>
      <p:sp>
        <p:nvSpPr>
          <p:cNvPr id="8" name="TextBox 7"/>
          <p:cNvSpPr txBox="1"/>
          <p:nvPr/>
        </p:nvSpPr>
        <p:spPr>
          <a:xfrm>
            <a:off x="411480" y="4974336"/>
            <a:ext cx="5623560" cy="1298448"/>
          </a:xfrm>
          <a:prstGeom prst="rect">
            <a:avLst/>
          </a:prstGeom>
          <a:noFill/>
        </p:spPr>
        <p:txBody>
          <a:bodyPr wrap="square" lIns="45720" rIns="45720" tIns="18288" bIns="18288" anchor="t">
            <a:spAutoFit/>
          </a:bodyPr>
          <a:lstStyle/>
          <a:p>
            <a:pPr algn="l"/>
            <a:r>
              <a:rPr sz="1000" b="0" i="0">
                <a:solidFill>
                  <a:srgbClr val="000000"/>
                </a:solidFill>
                <a:latin typeface="Calibri"/>
              </a:rPr>
              <a:t>• Keep both markers well clear of the frame edge — at least the box half-size plus the travel expected, or the box runs out of room before the specimen does.
• Set the frame rate from the acquisition log, never from the container.
• Place the markers inside the PARALLEL section, not on the fillets.</a:t>
            </a:r>
          </a:p>
        </p:txBody>
      </p:sp>
      <p:sp>
        <p:nvSpPr>
          <p:cNvPr id="9" name="TextBox 8"/>
          <p:cNvSpPr txBox="1"/>
          <p:nvPr/>
        </p:nvSpPr>
        <p:spPr>
          <a:xfrm>
            <a:off x="6263640" y="462686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this run can and cannot settle</a:t>
            </a:r>
          </a:p>
        </p:txBody>
      </p:sp>
      <p:sp>
        <p:nvSpPr>
          <p:cNvPr id="10" name="TextBox 9"/>
          <p:cNvSpPr txBox="1"/>
          <p:nvPr/>
        </p:nvSpPr>
        <p:spPr>
          <a:xfrm>
            <a:off x="6263640" y="4974336"/>
            <a:ext cx="5577840" cy="1298448"/>
          </a:xfrm>
          <a:prstGeom prst="rect">
            <a:avLst/>
          </a:prstGeom>
          <a:noFill/>
        </p:spPr>
        <p:txBody>
          <a:bodyPr wrap="square" lIns="45720" rIns="45720" tIns="18288" bIns="18288" anchor="t">
            <a:spAutoFit/>
          </a:bodyPr>
          <a:lstStyle/>
          <a:p>
            <a:pPr algn="l"/>
            <a:r>
              <a:rPr sz="1000" b="0" i="0">
                <a:solidFill>
                  <a:srgbClr val="000000"/>
                </a:solidFill>
                <a:latin typeface="Calibri"/>
              </a:rPr>
              <a:t>It settles the CALCULATION: same pixels in, same strain out, to 0.17 %.
It does not settle the modulus. The XT-205 record carries no force, so E, σ_y, UTS and ε_f cannot be compared at all — only d(ε)/dt and noise. One specimen on each machine is also not a repeatability claim.</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Sources: mot_postproc_compare.py and motpp_plots.py, both reading the raw records at build time. Measured 2026-08-27.</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305</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SCALE CHECK — WHY IT IS NEEDED, AND WHAT IT RULES OUT</a:t>
            </a:r>
          </a:p>
        </p:txBody>
      </p:sp>
      <p:sp>
        <p:nvSpPr>
          <p:cNvPr id="5" name="TextBox 4"/>
          <p:cNvSpPr txBox="1"/>
          <p:nvPr/>
        </p:nvSpPr>
        <p:spPr>
          <a:xfrm>
            <a:off x="411480" y="1042415"/>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1 · The problem: a strain RATE needs a clock</a:t>
            </a:r>
          </a:p>
        </p:txBody>
      </p:sp>
      <p:sp>
        <p:nvSpPr>
          <p:cNvPr id="6" name="TextBox 5"/>
          <p:cNvSpPr txBox="1"/>
          <p:nvPr/>
        </p:nvSpPr>
        <p:spPr>
          <a:xfrm>
            <a:off x="411480" y="1389888"/>
            <a:ext cx="5623560" cy="1078992"/>
          </a:xfrm>
          <a:prstGeom prst="rect">
            <a:avLst/>
          </a:prstGeom>
          <a:noFill/>
        </p:spPr>
        <p:txBody>
          <a:bodyPr wrap="square" lIns="45720" rIns="45720" tIns="18288" bIns="18288" anchor="t">
            <a:spAutoFit/>
          </a:bodyPr>
          <a:lstStyle/>
          <a:p>
            <a:pPr algn="l"/>
            <a:r>
              <a:rPr sz="1000" b="0" i="0">
                <a:solidFill>
                  <a:srgbClr val="000000"/>
                </a:solidFill>
                <a:latin typeface="Calibri"/>
              </a:rPr>
              <a:t>Comparing d(ε)/dt between two machines means knowing when each video frame happened. test2.chan 0.avi declares 1000 fps and 117 497 frames; it holds 2281 frames at about 19.4 fps. Believe the file and every rate on these slides is out by a factor of 52.</a:t>
            </a:r>
          </a:p>
        </p:txBody>
      </p:sp>
      <p:sp>
        <p:nvSpPr>
          <p:cNvPr id="7" name="TextBox 6"/>
          <p:cNvSpPr txBox="1"/>
          <p:nvPr/>
        </p:nvSpPr>
        <p:spPr>
          <a:xfrm>
            <a:off x="6263640" y="1042415"/>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2 · Two ways to get the real one</a:t>
            </a:r>
          </a:p>
        </p:txBody>
      </p:sp>
      <p:graphicFrame>
        <p:nvGraphicFramePr>
          <p:cNvPr id="8" name="Table 7"/>
          <p:cNvGraphicFramePr>
            <a:graphicFrameLocks noGrp="1"/>
          </p:cNvGraphicFramePr>
          <p:nvPr/>
        </p:nvGraphicFramePr>
        <p:xfrm>
          <a:off x="6263640" y="1389888"/>
          <a:ext cx="5577839" cy="1078992"/>
        </p:xfrm>
        <a:graphic>
          <a:graphicData uri="http://schemas.openxmlformats.org/drawingml/2006/table">
            <a:tbl>
              <a:tblPr firstRow="1" bandRow="1">
                <a:tableStyleId>{5C22544A-7EE6-4342-B048-85BDC9FD1C3A}</a:tableStyleId>
              </a:tblPr>
              <a:tblGrid>
                <a:gridCol w="1051560"/>
                <a:gridCol w="2788920"/>
                <a:gridCol w="1737359"/>
              </a:tblGrid>
              <a:tr h="359664">
                <a:tc>
                  <a:txBody>
                    <a:bodyPr lIns="54864" rIns="54864" tIns="18288" bIns="18288" wrap="square" anchor="ctr"/>
                    <a:lstStyle/>
                    <a:p>
                      <a:pPr algn="l"/>
                      <a:r>
                        <a:rPr sz="950" b="1">
                          <a:solidFill>
                            <a:srgbClr val="FFFFFF"/>
                          </a:solidFill>
                          <a:latin typeface="Calibri"/>
                        </a:rPr>
                        <a:t>Route</a:t>
                      </a:r>
                    </a:p>
                  </a:txBody>
                  <a:tcPr>
                    <a:solidFill>
                      <a:srgbClr val="143D2F"/>
                    </a:solidFill>
                  </a:tcPr>
                </a:tc>
                <a:tc>
                  <a:txBody>
                    <a:bodyPr lIns="54864" rIns="54864" tIns="18288" bIns="18288" wrap="square" anchor="ctr"/>
                    <a:lstStyle/>
                    <a:p>
                      <a:pPr algn="l"/>
                      <a:r>
                        <a:rPr sz="950" b="1">
                          <a:solidFill>
                            <a:srgbClr val="FFFFFF"/>
                          </a:solidFill>
                          <a:latin typeface="Calibri"/>
                        </a:rPr>
                        <a:t>Where it comes from</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r>
              <a:tr h="359664">
                <a:tc>
                  <a:txBody>
                    <a:bodyPr lIns="54864" rIns="54864" tIns="18288" bIns="18288" wrap="square" anchor="ctr"/>
                    <a:lstStyle/>
                    <a:p>
                      <a:pPr algn="l"/>
                      <a:r>
                        <a:rPr sz="850" b="0">
                          <a:solidFill>
                            <a:srgbClr val="000000"/>
                          </a:solidFill>
                          <a:latin typeface="Calibri"/>
                        </a:rPr>
                        <a:t>INFERRED</a:t>
                      </a:r>
                    </a:p>
                  </a:txBody>
                  <a:tcPr/>
                </a:tc>
                <a:tc>
                  <a:txBody>
                    <a:bodyPr lIns="54864" rIns="54864" tIns="18288" bIns="18288" wrap="square" anchor="ctr"/>
                    <a:lstStyle/>
                    <a:p>
                      <a:pPr algn="l"/>
                      <a:r>
                        <a:rPr sz="850" b="0">
                          <a:solidFill>
                            <a:srgbClr val="000000"/>
                          </a:solidFill>
                          <a:latin typeface="Calibri"/>
                        </a:rPr>
                        <a:t>when each record reaches the
same strain levels</a:t>
                      </a:r>
                    </a:p>
                  </a:txBody>
                  <a:tcPr/>
                </a:tc>
                <a:tc>
                  <a:txBody>
                    <a:bodyPr lIns="54864" rIns="54864" tIns="18288" bIns="18288" wrap="square" anchor="ctr"/>
                    <a:lstStyle/>
                    <a:p>
                      <a:pPr algn="l"/>
                      <a:r>
                        <a:rPr sz="850" b="0">
                          <a:solidFill>
                            <a:srgbClr val="000000"/>
                          </a:solidFill>
                          <a:latin typeface="Calibri"/>
                        </a:rPr>
                        <a:t>19.407 fps</a:t>
                      </a:r>
                    </a:p>
                  </a:txBody>
                  <a:tcPr/>
                </a:tc>
              </a:tr>
              <a:tr h="359664">
                <a:tc>
                  <a:txBody>
                    <a:bodyPr lIns="54864" rIns="54864" tIns="18288" bIns="18288" wrap="square" anchor="ctr"/>
                    <a:lstStyle/>
                    <a:p>
                      <a:pPr algn="l"/>
                      <a:r>
                        <a:rPr sz="850" b="0">
                          <a:solidFill>
                            <a:srgbClr val="000000"/>
                          </a:solidFill>
                          <a:latin typeface="Calibri"/>
                        </a:rPr>
                        <a:t>RECORDED</a:t>
                      </a:r>
                    </a:p>
                  </a:txBody>
                  <a:tcPr/>
                </a:tc>
                <a:tc>
                  <a:txBody>
                    <a:bodyPr lIns="54864" rIns="54864" tIns="18288" bIns="18288" wrap="square" anchor="ctr"/>
                    <a:lstStyle/>
                    <a:p>
                      <a:pPr algn="l"/>
                      <a:r>
                        <a:rPr sz="850" b="0">
                          <a:solidFill>
                            <a:srgbClr val="000000"/>
                          </a:solidFill>
                          <a:latin typeface="Calibri"/>
                        </a:rPr>
                        <a:t>the XT-205's own log, one
timestamped row per frame</a:t>
                      </a:r>
                    </a:p>
                  </a:txBody>
                  <a:tcPr/>
                </a:tc>
                <a:tc>
                  <a:txBody>
                    <a:bodyPr lIns="54864" rIns="54864" tIns="18288" bIns="18288" wrap="square" anchor="ctr"/>
                    <a:lstStyle/>
                    <a:p>
                      <a:pPr algn="l"/>
                      <a:r>
                        <a:rPr sz="850" b="0">
                          <a:solidFill>
                            <a:srgbClr val="000000"/>
                          </a:solidFill>
                          <a:latin typeface="Calibri"/>
                        </a:rPr>
                        <a:t>19.405 fps</a:t>
                      </a:r>
                    </a:p>
                  </a:txBody>
                  <a:tcPr/>
                </a:tc>
              </a:tr>
            </a:tbl>
          </a:graphicData>
        </a:graphic>
      </p:graphicFrame>
      <p:pic>
        <p:nvPicPr>
          <p:cNvPr id="9" name="Picture 8" descr="mot_scalecheck.png"/>
          <p:cNvPicPr>
            <a:picLocks noChangeAspect="1"/>
          </p:cNvPicPr>
          <p:nvPr/>
        </p:nvPicPr>
        <p:blipFill>
          <a:blip r:embed="rId2"/>
          <a:stretch>
            <a:fillRect/>
          </a:stretch>
        </p:blipFill>
        <p:spPr>
          <a:xfrm>
            <a:off x="3041656" y="2615184"/>
            <a:ext cx="6169646" cy="2615184"/>
          </a:xfrm>
          <a:prstGeom prst="rect">
            <a:avLst/>
          </a:prstGeom>
        </p:spPr>
      </p:pic>
      <p:sp>
        <p:nvSpPr>
          <p:cNvPr id="10" name="TextBox 9"/>
          <p:cNvSpPr txBox="1"/>
          <p:nvPr/>
        </p:nvSpPr>
        <p:spPr>
          <a:xfrm>
            <a:off x="411480" y="5340096"/>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3 · Why not just use the recorded one and move on?</a:t>
            </a:r>
          </a:p>
        </p:txBody>
      </p:sp>
      <p:sp>
        <p:nvSpPr>
          <p:cNvPr id="11" name="TextBox 10"/>
          <p:cNvSpPr txBox="1"/>
          <p:nvPr/>
        </p:nvSpPr>
        <p:spPr>
          <a:xfrm>
            <a:off x="411480" y="5687568"/>
            <a:ext cx="5623560" cy="658368"/>
          </a:xfrm>
          <a:prstGeom prst="rect">
            <a:avLst/>
          </a:prstGeom>
          <a:noFill/>
        </p:spPr>
        <p:txBody>
          <a:bodyPr wrap="square" lIns="45720" rIns="45720" tIns="18288" bIns="18288" anchor="t">
            <a:spAutoFit/>
          </a:bodyPr>
          <a:lstStyle/>
          <a:p>
            <a:pPr algn="l"/>
            <a:r>
              <a:rPr sz="1000" b="0" i="0">
                <a:solidFill>
                  <a:srgbClr val="000000"/>
                </a:solidFill>
                <a:latin typeface="Calibri"/>
              </a:rPr>
              <a:t>Because then nothing would test whether the two strains agree in SIZE. The INFERRED route depends on size — stretch our strain by k and it returns fps ÷ k. The RECORDED route cannot move, because it never looks at strain. So the gap between them IS the size error.</a:t>
            </a:r>
          </a:p>
        </p:txBody>
      </p:sp>
      <p:sp>
        <p:nvSpPr>
          <p:cNvPr id="12" name="TextBox 11"/>
          <p:cNvSpPr txBox="1"/>
          <p:nvPr/>
        </p:nvSpPr>
        <p:spPr>
          <a:xfrm>
            <a:off x="6263640" y="5340096"/>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4 · And the check is calibrated, not asserted</a:t>
            </a:r>
          </a:p>
        </p:txBody>
      </p:sp>
      <p:sp>
        <p:nvSpPr>
          <p:cNvPr id="13" name="TextBox 12"/>
          <p:cNvSpPr txBox="1"/>
          <p:nvPr/>
        </p:nvSpPr>
        <p:spPr>
          <a:xfrm>
            <a:off x="6263640" y="5687568"/>
            <a:ext cx="5577840" cy="658368"/>
          </a:xfrm>
          <a:prstGeom prst="rect">
            <a:avLst/>
          </a:prstGeom>
          <a:noFill/>
        </p:spPr>
        <p:txBody>
          <a:bodyPr wrap="square" lIns="45720" rIns="45720" tIns="18288" bIns="18288" anchor="t">
            <a:spAutoFit/>
          </a:bodyPr>
          <a:lstStyle/>
          <a:p>
            <a:pPr algn="l"/>
            <a:r>
              <a:rPr sz="1000" b="0" i="0">
                <a:solidFill>
                  <a:srgbClr val="000000"/>
                </a:solidFill>
                <a:latin typeface="Calibri"/>
              </a:rPr>
              <a:t>Feeding it a deliberate 10 % error makes it report 10 % (right-hand plot), so agreement is informative rather than inevitable. On the real data it reports k = 0.9999: the two strain scales match to 0.01 %.</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What it does NOT rule out: if the recorded frame rate were wrong by a factor m AND our strain were stretched by the same m, the test would still pass. That needs two independent errors to coincide exactly — the log comes from the other instrument — but it is not logically excluded.</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306</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RAW DATA (1 OF 2) — 0.050 TO 0.205 % STRAIN</a:t>
            </a:r>
          </a:p>
        </p:txBody>
      </p:sp>
      <p:sp>
        <p:nvSpPr>
          <p:cNvPr id="5" name="TextBox 4"/>
          <p:cNvSpPr txBox="1"/>
          <p:nvPr/>
        </p:nvSpPr>
        <p:spPr>
          <a:xfrm>
            <a:off x="502920" y="1024128"/>
            <a:ext cx="11338560" cy="512064"/>
          </a:xfrm>
          <a:prstGeom prst="rect">
            <a:avLst/>
          </a:prstGeom>
          <a:noFill/>
        </p:spPr>
        <p:txBody>
          <a:bodyPr wrap="square" lIns="45720" rIns="45720" tIns="18288" bIns="18288" anchor="t">
            <a:spAutoFit/>
          </a:bodyPr>
          <a:lstStyle/>
          <a:p>
            <a:pPr algn="l"/>
            <a:r>
              <a:rPr sz="1000" b="0" i="0">
                <a:solidFill>
                  <a:srgbClr val="000000"/>
                </a:solidFill>
                <a:latin typeface="Calibri"/>
              </a:rPr>
              <a:t>All 83 matched samples across both slides, 15.80–19.90 s, unaveraged and unsmoothed. The PPD-UTM column is RAW: the post-processor applies no filtering of any kind, and its source value is exactly (L_px − Px₀) / Px₀. The XT-205 column is that instrument's own output interpolated onto our sample times — what it does internally cannot be seen from the file, so the two columns are NOT equally traceable and are not presented as if they were.</a:t>
            </a:r>
          </a:p>
        </p:txBody>
      </p:sp>
      <p:graphicFrame>
        <p:nvGraphicFramePr>
          <p:cNvPr id="6" name="Table 5"/>
          <p:cNvGraphicFramePr>
            <a:graphicFrameLocks noGrp="1"/>
          </p:cNvGraphicFramePr>
          <p:nvPr/>
        </p:nvGraphicFramePr>
        <p:xfrm>
          <a:off x="502920" y="1645920"/>
          <a:ext cx="5394960" cy="4023360"/>
        </p:xfrm>
        <a:graphic>
          <a:graphicData uri="http://schemas.openxmlformats.org/drawingml/2006/table">
            <a:tbl>
              <a:tblPr firstRow="1" bandRow="1">
                <a:tableStyleId>{5C22544A-7EE6-4342-B048-85BDC9FD1C3A}</a:tableStyleId>
              </a:tblPr>
              <a:tblGrid>
                <a:gridCol w="960120"/>
                <a:gridCol w="1188720"/>
                <a:gridCol w="1143000"/>
                <a:gridCol w="960120"/>
                <a:gridCol w="1143000"/>
              </a:tblGrid>
              <a:tr h="182880">
                <a:tc>
                  <a:txBody>
                    <a:bodyPr lIns="54864" rIns="54864" tIns="18288" bIns="18288" wrap="square" anchor="ctr"/>
                    <a:lstStyle/>
                    <a:p>
                      <a:pPr algn="l"/>
                      <a:r>
                        <a:rPr sz="950" b="1">
                          <a:solidFill>
                            <a:srgbClr val="FFFFFF"/>
                          </a:solidFill>
                          <a:latin typeface="Calibri"/>
                        </a:rPr>
                        <a:t>t (s)</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XT-205</a:t>
                      </a:r>
                    </a:p>
                  </a:txBody>
                  <a:tcPr>
                    <a:solidFill>
                      <a:srgbClr val="143D2F"/>
                    </a:solidFill>
                  </a:tcPr>
                </a:tc>
                <a:tc>
                  <a:txBody>
                    <a:bodyPr lIns="54864" rIns="54864" tIns="18288" bIns="18288" wrap="square" anchor="ctr"/>
                    <a:lstStyle/>
                    <a:p>
                      <a:pPr algn="l"/>
                      <a:r>
                        <a:rPr sz="950" b="1">
                          <a:solidFill>
                            <a:srgbClr val="FFFFFF"/>
                          </a:solidFill>
                          <a:latin typeface="Calibri"/>
                        </a:rPr>
                        <a:t>Δ µε</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r>
              <a:tr h="182880">
                <a:tc>
                  <a:txBody>
                    <a:bodyPr lIns="54864" rIns="54864" tIns="18288" bIns="18288" wrap="square" anchor="ctr"/>
                    <a:lstStyle/>
                    <a:p>
                      <a:pPr algn="l"/>
                      <a:r>
                        <a:rPr sz="900" b="0">
                          <a:solidFill>
                            <a:srgbClr val="000000"/>
                          </a:solidFill>
                          <a:latin typeface="Calibri"/>
                        </a:rPr>
                        <a:t>15.80</a:t>
                      </a:r>
                    </a:p>
                  </a:txBody>
                  <a:tcPr/>
                </a:tc>
                <a:tc>
                  <a:txBody>
                    <a:bodyPr lIns="54864" rIns="54864" tIns="18288" bIns="18288" wrap="square" anchor="ctr"/>
                    <a:lstStyle/>
                    <a:p>
                      <a:pPr algn="l"/>
                      <a:r>
                        <a:rPr sz="900" b="0">
                          <a:solidFill>
                            <a:srgbClr val="000000"/>
                          </a:solidFill>
                          <a:latin typeface="Calibri"/>
                        </a:rPr>
                        <a:t>0.0505</a:t>
                      </a:r>
                    </a:p>
                  </a:txBody>
                  <a:tcPr/>
                </a:tc>
                <a:tc>
                  <a:txBody>
                    <a:bodyPr lIns="54864" rIns="54864" tIns="18288" bIns="18288" wrap="square" anchor="ctr"/>
                    <a:lstStyle/>
                    <a:p>
                      <a:pPr algn="l"/>
                      <a:r>
                        <a:rPr sz="900" b="0">
                          <a:solidFill>
                            <a:srgbClr val="000000"/>
                          </a:solidFill>
                          <a:latin typeface="Calibri"/>
                        </a:rPr>
                        <a:t>0.0502</a:t>
                      </a:r>
                    </a:p>
                  </a:txBody>
                  <a:tcPr/>
                </a:tc>
                <a:tc>
                  <a:txBody>
                    <a:bodyPr lIns="54864" rIns="54864" tIns="18288" bIns="18288" wrap="square" anchor="ctr"/>
                    <a:lstStyle/>
                    <a:p>
                      <a:pPr algn="l"/>
                      <a:r>
                        <a:rPr sz="900" b="0">
                          <a:solidFill>
                            <a:srgbClr val="000000"/>
                          </a:solidFill>
                          <a:latin typeface="Calibri"/>
                        </a:rPr>
                        <a:t>+3</a:t>
                      </a:r>
                    </a:p>
                  </a:txBody>
                  <a:tcPr/>
                </a:tc>
                <a:tc>
                  <a:txBody>
                    <a:bodyPr lIns="54864" rIns="54864" tIns="18288" bIns="18288" wrap="square" anchor="ctr"/>
                    <a:lstStyle/>
                    <a:p>
                      <a:pPr algn="l"/>
                      <a:r>
                        <a:rPr sz="900" b="0">
                          <a:solidFill>
                            <a:srgbClr val="000000"/>
                          </a:solidFill>
                          <a:latin typeface="Calibri"/>
                        </a:rPr>
                        <a:t>+0.61</a:t>
                      </a:r>
                    </a:p>
                  </a:txBody>
                  <a:tcPr/>
                </a:tc>
              </a:tr>
              <a:tr h="182880">
                <a:tc>
                  <a:txBody>
                    <a:bodyPr lIns="54864" rIns="54864" tIns="18288" bIns="18288" wrap="square" anchor="ctr"/>
                    <a:lstStyle/>
                    <a:p>
                      <a:pPr algn="l"/>
                      <a:r>
                        <a:rPr sz="900" b="0">
                          <a:solidFill>
                            <a:srgbClr val="000000"/>
                          </a:solidFill>
                          <a:latin typeface="Calibri"/>
                        </a:rPr>
                        <a:t>15.85</a:t>
                      </a:r>
                    </a:p>
                  </a:txBody>
                  <a:tcPr/>
                </a:tc>
                <a:tc>
                  <a:txBody>
                    <a:bodyPr lIns="54864" rIns="54864" tIns="18288" bIns="18288" wrap="square" anchor="ctr"/>
                    <a:lstStyle/>
                    <a:p>
                      <a:pPr algn="l"/>
                      <a:r>
                        <a:rPr sz="900" b="0">
                          <a:solidFill>
                            <a:srgbClr val="000000"/>
                          </a:solidFill>
                          <a:latin typeface="Calibri"/>
                        </a:rPr>
                        <a:t>0.0534</a:t>
                      </a:r>
                    </a:p>
                  </a:txBody>
                  <a:tcPr/>
                </a:tc>
                <a:tc>
                  <a:txBody>
                    <a:bodyPr lIns="54864" rIns="54864" tIns="18288" bIns="18288" wrap="square" anchor="ctr"/>
                    <a:lstStyle/>
                    <a:p>
                      <a:pPr algn="l"/>
                      <a:r>
                        <a:rPr sz="900" b="0">
                          <a:solidFill>
                            <a:srgbClr val="000000"/>
                          </a:solidFill>
                          <a:latin typeface="Calibri"/>
                        </a:rPr>
                        <a:t>0.0541</a:t>
                      </a:r>
                    </a:p>
                  </a:txBody>
                  <a:tcPr/>
                </a:tc>
                <a:tc>
                  <a:txBody>
                    <a:bodyPr lIns="54864" rIns="54864" tIns="18288" bIns="18288" wrap="square" anchor="ctr"/>
                    <a:lstStyle/>
                    <a:p>
                      <a:pPr algn="l"/>
                      <a:r>
                        <a:rPr sz="900" b="0">
                          <a:solidFill>
                            <a:srgbClr val="000000"/>
                          </a:solidFill>
                          <a:latin typeface="Calibri"/>
                        </a:rPr>
                        <a:t>-8</a:t>
                      </a:r>
                    </a:p>
                  </a:txBody>
                  <a:tcPr/>
                </a:tc>
                <a:tc>
                  <a:txBody>
                    <a:bodyPr lIns="54864" rIns="54864" tIns="18288" bIns="18288" wrap="square" anchor="ctr"/>
                    <a:lstStyle/>
                    <a:p>
                      <a:pPr algn="l"/>
                      <a:r>
                        <a:rPr sz="900" b="0">
                          <a:solidFill>
                            <a:srgbClr val="000000"/>
                          </a:solidFill>
                          <a:latin typeface="Calibri"/>
                        </a:rPr>
                        <a:t>-1.43</a:t>
                      </a:r>
                    </a:p>
                  </a:txBody>
                  <a:tcPr/>
                </a:tc>
              </a:tr>
              <a:tr h="182880">
                <a:tc>
                  <a:txBody>
                    <a:bodyPr lIns="54864" rIns="54864" tIns="18288" bIns="18288" wrap="square" anchor="ctr"/>
                    <a:lstStyle/>
                    <a:p>
                      <a:pPr algn="l"/>
                      <a:r>
                        <a:rPr sz="900" b="0">
                          <a:solidFill>
                            <a:srgbClr val="000000"/>
                          </a:solidFill>
                          <a:latin typeface="Calibri"/>
                        </a:rPr>
                        <a:t>15.90</a:t>
                      </a:r>
                    </a:p>
                  </a:txBody>
                  <a:tcPr/>
                </a:tc>
                <a:tc>
                  <a:txBody>
                    <a:bodyPr lIns="54864" rIns="54864" tIns="18288" bIns="18288" wrap="square" anchor="ctr"/>
                    <a:lstStyle/>
                    <a:p>
                      <a:pPr algn="l"/>
                      <a:r>
                        <a:rPr sz="900" b="0">
                          <a:solidFill>
                            <a:srgbClr val="000000"/>
                          </a:solidFill>
                          <a:latin typeface="Calibri"/>
                        </a:rPr>
                        <a:t>0.0571</a:t>
                      </a:r>
                    </a:p>
                  </a:txBody>
                  <a:tcPr/>
                </a:tc>
                <a:tc>
                  <a:txBody>
                    <a:bodyPr lIns="54864" rIns="54864" tIns="18288" bIns="18288" wrap="square" anchor="ctr"/>
                    <a:lstStyle/>
                    <a:p>
                      <a:pPr algn="l"/>
                      <a:r>
                        <a:rPr sz="900" b="0">
                          <a:solidFill>
                            <a:srgbClr val="000000"/>
                          </a:solidFill>
                          <a:latin typeface="Calibri"/>
                        </a:rPr>
                        <a:t>0.0580</a:t>
                      </a:r>
                    </a:p>
                  </a:txBody>
                  <a:tcPr/>
                </a:tc>
                <a:tc>
                  <a:txBody>
                    <a:bodyPr lIns="54864" rIns="54864" tIns="18288" bIns="18288" wrap="square" anchor="ctr"/>
                    <a:lstStyle/>
                    <a:p>
                      <a:pPr algn="l"/>
                      <a:r>
                        <a:rPr sz="900" b="0">
                          <a:solidFill>
                            <a:srgbClr val="000000"/>
                          </a:solidFill>
                          <a:latin typeface="Calibri"/>
                        </a:rPr>
                        <a:t>-9</a:t>
                      </a:r>
                    </a:p>
                  </a:txBody>
                  <a:tcPr/>
                </a:tc>
                <a:tc>
                  <a:txBody>
                    <a:bodyPr lIns="54864" rIns="54864" tIns="18288" bIns="18288" wrap="square" anchor="ctr"/>
                    <a:lstStyle/>
                    <a:p>
                      <a:pPr algn="l"/>
                      <a:r>
                        <a:rPr sz="900" b="0">
                          <a:solidFill>
                            <a:srgbClr val="000000"/>
                          </a:solidFill>
                          <a:latin typeface="Calibri"/>
                        </a:rPr>
                        <a:t>-1.50</a:t>
                      </a:r>
                    </a:p>
                  </a:txBody>
                  <a:tcPr/>
                </a:tc>
              </a:tr>
              <a:tr h="182880">
                <a:tc>
                  <a:txBody>
                    <a:bodyPr lIns="54864" rIns="54864" tIns="18288" bIns="18288" wrap="square" anchor="ctr"/>
                    <a:lstStyle/>
                    <a:p>
                      <a:pPr algn="l"/>
                      <a:r>
                        <a:rPr sz="900" b="0">
                          <a:solidFill>
                            <a:srgbClr val="000000"/>
                          </a:solidFill>
                          <a:latin typeface="Calibri"/>
                        </a:rPr>
                        <a:t>15.95</a:t>
                      </a:r>
                    </a:p>
                  </a:txBody>
                  <a:tcPr/>
                </a:tc>
                <a:tc>
                  <a:txBody>
                    <a:bodyPr lIns="54864" rIns="54864" tIns="18288" bIns="18288" wrap="square" anchor="ctr"/>
                    <a:lstStyle/>
                    <a:p>
                      <a:pPr algn="l"/>
                      <a:r>
                        <a:rPr sz="900" b="0">
                          <a:solidFill>
                            <a:srgbClr val="000000"/>
                          </a:solidFill>
                          <a:latin typeface="Calibri"/>
                        </a:rPr>
                        <a:t>0.0620</a:t>
                      </a:r>
                    </a:p>
                  </a:txBody>
                  <a:tcPr/>
                </a:tc>
                <a:tc>
                  <a:txBody>
                    <a:bodyPr lIns="54864" rIns="54864" tIns="18288" bIns="18288" wrap="square" anchor="ctr"/>
                    <a:lstStyle/>
                    <a:p>
                      <a:pPr algn="l"/>
                      <a:r>
                        <a:rPr sz="900" b="0">
                          <a:solidFill>
                            <a:srgbClr val="000000"/>
                          </a:solidFill>
                          <a:latin typeface="Calibri"/>
                        </a:rPr>
                        <a:t>0.0614</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+0.88</a:t>
                      </a:r>
                    </a:p>
                  </a:txBody>
                  <a:tcPr/>
                </a:tc>
              </a:tr>
              <a:tr h="182880">
                <a:tc>
                  <a:txBody>
                    <a:bodyPr lIns="54864" rIns="54864" tIns="18288" bIns="18288" wrap="square" anchor="ctr"/>
                    <a:lstStyle/>
                    <a:p>
                      <a:pPr algn="l"/>
                      <a:r>
                        <a:rPr sz="900" b="0">
                          <a:solidFill>
                            <a:srgbClr val="000000"/>
                          </a:solidFill>
                          <a:latin typeface="Calibri"/>
                        </a:rPr>
                        <a:t>16.00</a:t>
                      </a:r>
                    </a:p>
                  </a:txBody>
                  <a:tcPr/>
                </a:tc>
                <a:tc>
                  <a:txBody>
                    <a:bodyPr lIns="54864" rIns="54864" tIns="18288" bIns="18288" wrap="square" anchor="ctr"/>
                    <a:lstStyle/>
                    <a:p>
                      <a:pPr algn="l"/>
                      <a:r>
                        <a:rPr sz="900" b="0">
                          <a:solidFill>
                            <a:srgbClr val="000000"/>
                          </a:solidFill>
                          <a:latin typeface="Calibri"/>
                        </a:rPr>
                        <a:t>0.0644</a:t>
                      </a:r>
                    </a:p>
                  </a:txBody>
                  <a:tcPr/>
                </a:tc>
                <a:tc>
                  <a:txBody>
                    <a:bodyPr lIns="54864" rIns="54864" tIns="18288" bIns="18288" wrap="square" anchor="ctr"/>
                    <a:lstStyle/>
                    <a:p>
                      <a:pPr algn="l"/>
                      <a:r>
                        <a:rPr sz="900" b="0">
                          <a:solidFill>
                            <a:srgbClr val="000000"/>
                          </a:solidFill>
                          <a:latin typeface="Calibri"/>
                        </a:rPr>
                        <a:t>0.0655</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-1.58</a:t>
                      </a:r>
                    </a:p>
                  </a:txBody>
                  <a:tcPr/>
                </a:tc>
              </a:tr>
              <a:tr h="182880">
                <a:tc>
                  <a:txBody>
                    <a:bodyPr lIns="54864" rIns="54864" tIns="18288" bIns="18288" wrap="square" anchor="ctr"/>
                    <a:lstStyle/>
                    <a:p>
                      <a:pPr algn="l"/>
                      <a:r>
                        <a:rPr sz="900" b="0">
                          <a:solidFill>
                            <a:srgbClr val="000000"/>
                          </a:solidFill>
                          <a:latin typeface="Calibri"/>
                        </a:rPr>
                        <a:t>16.05</a:t>
                      </a:r>
                    </a:p>
                  </a:txBody>
                  <a:tcPr/>
                </a:tc>
                <a:tc>
                  <a:txBody>
                    <a:bodyPr lIns="54864" rIns="54864" tIns="18288" bIns="18288" wrap="square" anchor="ctr"/>
                    <a:lstStyle/>
                    <a:p>
                      <a:pPr algn="l"/>
                      <a:r>
                        <a:rPr sz="900" b="0">
                          <a:solidFill>
                            <a:srgbClr val="000000"/>
                          </a:solidFill>
                          <a:latin typeface="Calibri"/>
                        </a:rPr>
                        <a:t>0.0684</a:t>
                      </a:r>
                    </a:p>
                  </a:txBody>
                  <a:tcPr/>
                </a:tc>
                <a:tc>
                  <a:txBody>
                    <a:bodyPr lIns="54864" rIns="54864" tIns="18288" bIns="18288" wrap="square" anchor="ctr"/>
                    <a:lstStyle/>
                    <a:p>
                      <a:pPr algn="l"/>
                      <a:r>
                        <a:rPr sz="900" b="0">
                          <a:solidFill>
                            <a:srgbClr val="000000"/>
                          </a:solidFill>
                          <a:latin typeface="Calibri"/>
                        </a:rPr>
                        <a:t>0.0690</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-0.89</a:t>
                      </a:r>
                    </a:p>
                  </a:txBody>
                  <a:tcPr/>
                </a:tc>
              </a:tr>
              <a:tr h="182880">
                <a:tc>
                  <a:txBody>
                    <a:bodyPr lIns="54864" rIns="54864" tIns="18288" bIns="18288" wrap="square" anchor="ctr"/>
                    <a:lstStyle/>
                    <a:p>
                      <a:pPr algn="l"/>
                      <a:r>
                        <a:rPr sz="900" b="0">
                          <a:solidFill>
                            <a:srgbClr val="000000"/>
                          </a:solidFill>
                          <a:latin typeface="Calibri"/>
                        </a:rPr>
                        <a:t>16.10</a:t>
                      </a:r>
                    </a:p>
                  </a:txBody>
                  <a:tcPr/>
                </a:tc>
                <a:tc>
                  <a:txBody>
                    <a:bodyPr lIns="54864" rIns="54864" tIns="18288" bIns="18288" wrap="square" anchor="ctr"/>
                    <a:lstStyle/>
                    <a:p>
                      <a:pPr algn="l"/>
                      <a:r>
                        <a:rPr sz="900" b="0">
                          <a:solidFill>
                            <a:srgbClr val="000000"/>
                          </a:solidFill>
                          <a:latin typeface="Calibri"/>
                        </a:rPr>
                        <a:t>0.0730</a:t>
                      </a:r>
                    </a:p>
                  </a:txBody>
                  <a:tcPr/>
                </a:tc>
                <a:tc>
                  <a:txBody>
                    <a:bodyPr lIns="54864" rIns="54864" tIns="18288" bIns="18288" wrap="square" anchor="ctr"/>
                    <a:lstStyle/>
                    <a:p>
                      <a:pPr algn="l"/>
                      <a:r>
                        <a:rPr sz="900" b="0">
                          <a:solidFill>
                            <a:srgbClr val="000000"/>
                          </a:solidFill>
                          <a:latin typeface="Calibri"/>
                        </a:rPr>
                        <a:t>0.0731</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-0.10</a:t>
                      </a:r>
                    </a:p>
                  </a:txBody>
                  <a:tcPr/>
                </a:tc>
              </a:tr>
              <a:tr h="182880">
                <a:tc>
                  <a:txBody>
                    <a:bodyPr lIns="54864" rIns="54864" tIns="18288" bIns="18288" wrap="square" anchor="ctr"/>
                    <a:lstStyle/>
                    <a:p>
                      <a:pPr algn="l"/>
                      <a:r>
                        <a:rPr sz="900" b="0">
                          <a:solidFill>
                            <a:srgbClr val="000000"/>
                          </a:solidFill>
                          <a:latin typeface="Calibri"/>
                        </a:rPr>
                        <a:t>16.15</a:t>
                      </a:r>
                    </a:p>
                  </a:txBody>
                  <a:tcPr/>
                </a:tc>
                <a:tc>
                  <a:txBody>
                    <a:bodyPr lIns="54864" rIns="54864" tIns="18288" bIns="18288" wrap="square" anchor="ctr"/>
                    <a:lstStyle/>
                    <a:p>
                      <a:pPr algn="l"/>
                      <a:r>
                        <a:rPr sz="900" b="0">
                          <a:solidFill>
                            <a:srgbClr val="000000"/>
                          </a:solidFill>
                          <a:latin typeface="Calibri"/>
                        </a:rPr>
                        <a:t>0.0766</a:t>
                      </a:r>
                    </a:p>
                  </a:txBody>
                  <a:tcPr/>
                </a:tc>
                <a:tc>
                  <a:txBody>
                    <a:bodyPr lIns="54864" rIns="54864" tIns="18288" bIns="18288" wrap="square" anchor="ctr"/>
                    <a:lstStyle/>
                    <a:p>
                      <a:pPr algn="l"/>
                      <a:r>
                        <a:rPr sz="900" b="0">
                          <a:solidFill>
                            <a:srgbClr val="000000"/>
                          </a:solidFill>
                          <a:latin typeface="Calibri"/>
                        </a:rPr>
                        <a:t>0.0767</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-0.16</a:t>
                      </a:r>
                    </a:p>
                  </a:txBody>
                  <a:tcPr/>
                </a:tc>
              </a:tr>
              <a:tr h="182880">
                <a:tc>
                  <a:txBody>
                    <a:bodyPr lIns="54864" rIns="54864" tIns="18288" bIns="18288" wrap="square" anchor="ctr"/>
                    <a:lstStyle/>
                    <a:p>
                      <a:pPr algn="l"/>
                      <a:r>
                        <a:rPr sz="900" b="0">
                          <a:solidFill>
                            <a:srgbClr val="000000"/>
                          </a:solidFill>
                          <a:latin typeface="Calibri"/>
                        </a:rPr>
                        <a:t>16.20</a:t>
                      </a:r>
                    </a:p>
                  </a:txBody>
                  <a:tcPr/>
                </a:tc>
                <a:tc>
                  <a:txBody>
                    <a:bodyPr lIns="54864" rIns="54864" tIns="18288" bIns="18288" wrap="square" anchor="ctr"/>
                    <a:lstStyle/>
                    <a:p>
                      <a:pPr algn="l"/>
                      <a:r>
                        <a:rPr sz="900" b="0">
                          <a:solidFill>
                            <a:srgbClr val="000000"/>
                          </a:solidFill>
                          <a:latin typeface="Calibri"/>
                        </a:rPr>
                        <a:t>0.0807</a:t>
                      </a:r>
                    </a:p>
                  </a:txBody>
                  <a:tcPr/>
                </a:tc>
                <a:tc>
                  <a:txBody>
                    <a:bodyPr lIns="54864" rIns="54864" tIns="18288" bIns="18288" wrap="square" anchor="ctr"/>
                    <a:lstStyle/>
                    <a:p>
                      <a:pPr algn="l"/>
                      <a:r>
                        <a:rPr sz="900" b="0">
                          <a:solidFill>
                            <a:srgbClr val="000000"/>
                          </a:solidFill>
                          <a:latin typeface="Calibri"/>
                        </a:rPr>
                        <a:t>0.0811</a:t>
                      </a:r>
                    </a:p>
                  </a:txBody>
                  <a:tcPr/>
                </a:tc>
                <a:tc>
                  <a:txBody>
                    <a:bodyPr lIns="54864" rIns="54864" tIns="18288" bIns="18288" wrap="square" anchor="ctr"/>
                    <a:lstStyle/>
                    <a:p>
                      <a:pPr algn="l"/>
                      <a:r>
                        <a:rPr sz="900" b="0">
                          <a:solidFill>
                            <a:srgbClr val="000000"/>
                          </a:solidFill>
                          <a:latin typeface="Calibri"/>
                        </a:rPr>
                        <a:t>-4</a:t>
                      </a:r>
                    </a:p>
                  </a:txBody>
                  <a:tcPr/>
                </a:tc>
                <a:tc>
                  <a:txBody>
                    <a:bodyPr lIns="54864" rIns="54864" tIns="18288" bIns="18288" wrap="square" anchor="ctr"/>
                    <a:lstStyle/>
                    <a:p>
                      <a:pPr algn="l"/>
                      <a:r>
                        <a:rPr sz="900" b="0">
                          <a:solidFill>
                            <a:srgbClr val="000000"/>
                          </a:solidFill>
                          <a:latin typeface="Calibri"/>
                        </a:rPr>
                        <a:t>-0.51</a:t>
                      </a:r>
                    </a:p>
                  </a:txBody>
                  <a:tcPr/>
                </a:tc>
              </a:tr>
              <a:tr h="182880">
                <a:tc>
                  <a:txBody>
                    <a:bodyPr lIns="54864" rIns="54864" tIns="18288" bIns="18288" wrap="square" anchor="ctr"/>
                    <a:lstStyle/>
                    <a:p>
                      <a:pPr algn="l"/>
                      <a:r>
                        <a:rPr sz="900" b="0">
                          <a:solidFill>
                            <a:srgbClr val="000000"/>
                          </a:solidFill>
                          <a:latin typeface="Calibri"/>
                        </a:rPr>
                        <a:t>16.25</a:t>
                      </a:r>
                    </a:p>
                  </a:txBody>
                  <a:tcPr/>
                </a:tc>
                <a:tc>
                  <a:txBody>
                    <a:bodyPr lIns="54864" rIns="54864" tIns="18288" bIns="18288" wrap="square" anchor="ctr"/>
                    <a:lstStyle/>
                    <a:p>
                      <a:pPr algn="l"/>
                      <a:r>
                        <a:rPr sz="900" b="0">
                          <a:solidFill>
                            <a:srgbClr val="000000"/>
                          </a:solidFill>
                          <a:latin typeface="Calibri"/>
                        </a:rPr>
                        <a:t>0.0846</a:t>
                      </a:r>
                    </a:p>
                  </a:txBody>
                  <a:tcPr/>
                </a:tc>
                <a:tc>
                  <a:txBody>
                    <a:bodyPr lIns="54864" rIns="54864" tIns="18288" bIns="18288" wrap="square" anchor="ctr"/>
                    <a:lstStyle/>
                    <a:p>
                      <a:pPr algn="l"/>
                      <a:r>
                        <a:rPr sz="900" b="0">
                          <a:solidFill>
                            <a:srgbClr val="000000"/>
                          </a:solidFill>
                          <a:latin typeface="Calibri"/>
                        </a:rPr>
                        <a:t>0.0848</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-0.24</a:t>
                      </a:r>
                    </a:p>
                  </a:txBody>
                  <a:tcPr/>
                </a:tc>
              </a:tr>
              <a:tr h="182880">
                <a:tc>
                  <a:txBody>
                    <a:bodyPr lIns="54864" rIns="54864" tIns="18288" bIns="18288" wrap="square" anchor="ctr"/>
                    <a:lstStyle/>
                    <a:p>
                      <a:pPr algn="l"/>
                      <a:r>
                        <a:rPr sz="900" b="0">
                          <a:solidFill>
                            <a:srgbClr val="000000"/>
                          </a:solidFill>
                          <a:latin typeface="Calibri"/>
                        </a:rPr>
                        <a:t>16.30</a:t>
                      </a:r>
                    </a:p>
                  </a:txBody>
                  <a:tcPr/>
                </a:tc>
                <a:tc>
                  <a:txBody>
                    <a:bodyPr lIns="54864" rIns="54864" tIns="18288" bIns="18288" wrap="square" anchor="ctr"/>
                    <a:lstStyle/>
                    <a:p>
                      <a:pPr algn="l"/>
                      <a:r>
                        <a:rPr sz="900" b="0">
                          <a:solidFill>
                            <a:srgbClr val="000000"/>
                          </a:solidFill>
                          <a:latin typeface="Calibri"/>
                        </a:rPr>
                        <a:t>0.0876</a:t>
                      </a:r>
                    </a:p>
                  </a:txBody>
                  <a:tcPr/>
                </a:tc>
                <a:tc>
                  <a:txBody>
                    <a:bodyPr lIns="54864" rIns="54864" tIns="18288" bIns="18288" wrap="square" anchor="ctr"/>
                    <a:lstStyle/>
                    <a:p>
                      <a:pPr algn="l"/>
                      <a:r>
                        <a:rPr sz="900" b="0">
                          <a:solidFill>
                            <a:srgbClr val="000000"/>
                          </a:solidFill>
                          <a:latin typeface="Calibri"/>
                        </a:rPr>
                        <a:t>0.0883</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-0.84</a:t>
                      </a:r>
                    </a:p>
                  </a:txBody>
                  <a:tcPr/>
                </a:tc>
              </a:tr>
              <a:tr h="182880">
                <a:tc>
                  <a:txBody>
                    <a:bodyPr lIns="54864" rIns="54864" tIns="18288" bIns="18288" wrap="square" anchor="ctr"/>
                    <a:lstStyle/>
                    <a:p>
                      <a:pPr algn="l"/>
                      <a:r>
                        <a:rPr sz="900" b="0">
                          <a:solidFill>
                            <a:srgbClr val="000000"/>
                          </a:solidFill>
                          <a:latin typeface="Calibri"/>
                        </a:rPr>
                        <a:t>16.35</a:t>
                      </a:r>
                    </a:p>
                  </a:txBody>
                  <a:tcPr/>
                </a:tc>
                <a:tc>
                  <a:txBody>
                    <a:bodyPr lIns="54864" rIns="54864" tIns="18288" bIns="18288" wrap="square" anchor="ctr"/>
                    <a:lstStyle/>
                    <a:p>
                      <a:pPr algn="l"/>
                      <a:r>
                        <a:rPr sz="900" b="0">
                          <a:solidFill>
                            <a:srgbClr val="000000"/>
                          </a:solidFill>
                          <a:latin typeface="Calibri"/>
                        </a:rPr>
                        <a:t>0.0905</a:t>
                      </a:r>
                    </a:p>
                  </a:txBody>
                  <a:tcPr/>
                </a:tc>
                <a:tc>
                  <a:txBody>
                    <a:bodyPr lIns="54864" rIns="54864" tIns="18288" bIns="18288" wrap="square" anchor="ctr"/>
                    <a:lstStyle/>
                    <a:p>
                      <a:pPr algn="l"/>
                      <a:r>
                        <a:rPr sz="900" b="0">
                          <a:solidFill>
                            <a:srgbClr val="000000"/>
                          </a:solidFill>
                          <a:latin typeface="Calibri"/>
                        </a:rPr>
                        <a:t>0.0921</a:t>
                      </a:r>
                    </a:p>
                  </a:txBody>
                  <a:tcPr/>
                </a:tc>
                <a:tc>
                  <a:txBody>
                    <a:bodyPr lIns="54864" rIns="54864" tIns="18288" bIns="18288" wrap="square" anchor="ctr"/>
                    <a:lstStyle/>
                    <a:p>
                      <a:pPr algn="l"/>
                      <a:r>
                        <a:rPr sz="900" b="0">
                          <a:solidFill>
                            <a:srgbClr val="000000"/>
                          </a:solidFill>
                          <a:latin typeface="Calibri"/>
                        </a:rPr>
                        <a:t>-16</a:t>
                      </a:r>
                    </a:p>
                  </a:txBody>
                  <a:tcPr/>
                </a:tc>
                <a:tc>
                  <a:txBody>
                    <a:bodyPr lIns="54864" rIns="54864" tIns="18288" bIns="18288" wrap="square" anchor="ctr"/>
                    <a:lstStyle/>
                    <a:p>
                      <a:pPr algn="l"/>
                      <a:r>
                        <a:rPr sz="900" b="0">
                          <a:solidFill>
                            <a:srgbClr val="000000"/>
                          </a:solidFill>
                          <a:latin typeface="Calibri"/>
                        </a:rPr>
                        <a:t>-1.69</a:t>
                      </a:r>
                    </a:p>
                  </a:txBody>
                  <a:tcPr/>
                </a:tc>
              </a:tr>
              <a:tr h="182880">
                <a:tc>
                  <a:txBody>
                    <a:bodyPr lIns="54864" rIns="54864" tIns="18288" bIns="18288" wrap="square" anchor="ctr"/>
                    <a:lstStyle/>
                    <a:p>
                      <a:pPr algn="l"/>
                      <a:r>
                        <a:rPr sz="900" b="0">
                          <a:solidFill>
                            <a:srgbClr val="000000"/>
                          </a:solidFill>
                          <a:latin typeface="Calibri"/>
                        </a:rPr>
                        <a:t>16.40</a:t>
                      </a:r>
                    </a:p>
                  </a:txBody>
                  <a:tcPr/>
                </a:tc>
                <a:tc>
                  <a:txBody>
                    <a:bodyPr lIns="54864" rIns="54864" tIns="18288" bIns="18288" wrap="square" anchor="ctr"/>
                    <a:lstStyle/>
                    <a:p>
                      <a:pPr algn="l"/>
                      <a:r>
                        <a:rPr sz="900" b="0">
                          <a:solidFill>
                            <a:srgbClr val="000000"/>
                          </a:solidFill>
                          <a:latin typeface="Calibri"/>
                        </a:rPr>
                        <a:t>0.0963</a:t>
                      </a:r>
                    </a:p>
                  </a:txBody>
                  <a:tcPr/>
                </a:tc>
                <a:tc>
                  <a:txBody>
                    <a:bodyPr lIns="54864" rIns="54864" tIns="18288" bIns="18288" wrap="square" anchor="ctr"/>
                    <a:lstStyle/>
                    <a:p>
                      <a:pPr algn="l"/>
                      <a:r>
                        <a:rPr sz="900" b="0">
                          <a:solidFill>
                            <a:srgbClr val="000000"/>
                          </a:solidFill>
                          <a:latin typeface="Calibri"/>
                        </a:rPr>
                        <a:t>0.0963</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-0.08</a:t>
                      </a:r>
                    </a:p>
                  </a:txBody>
                  <a:tcPr/>
                </a:tc>
              </a:tr>
              <a:tr h="182880">
                <a:tc>
                  <a:txBody>
                    <a:bodyPr lIns="54864" rIns="54864" tIns="18288" bIns="18288" wrap="square" anchor="ctr"/>
                    <a:lstStyle/>
                    <a:p>
                      <a:pPr algn="l"/>
                      <a:r>
                        <a:rPr sz="900" b="0">
                          <a:solidFill>
                            <a:srgbClr val="000000"/>
                          </a:solidFill>
                          <a:latin typeface="Calibri"/>
                        </a:rPr>
                        <a:t>16.45</a:t>
                      </a:r>
                    </a:p>
                  </a:txBody>
                  <a:tcPr/>
                </a:tc>
                <a:tc>
                  <a:txBody>
                    <a:bodyPr lIns="54864" rIns="54864" tIns="18288" bIns="18288" wrap="square" anchor="ctr"/>
                    <a:lstStyle/>
                    <a:p>
                      <a:pPr algn="l"/>
                      <a:r>
                        <a:rPr sz="900" b="0">
                          <a:solidFill>
                            <a:srgbClr val="000000"/>
                          </a:solidFill>
                          <a:latin typeface="Calibri"/>
                        </a:rPr>
                        <a:t>0.0994</a:t>
                      </a:r>
                    </a:p>
                  </a:txBody>
                  <a:tcPr/>
                </a:tc>
                <a:tc>
                  <a:txBody>
                    <a:bodyPr lIns="54864" rIns="54864" tIns="18288" bIns="18288" wrap="square" anchor="ctr"/>
                    <a:lstStyle/>
                    <a:p>
                      <a:pPr algn="l"/>
                      <a:r>
                        <a:rPr sz="900" b="0">
                          <a:solidFill>
                            <a:srgbClr val="000000"/>
                          </a:solidFill>
                          <a:latin typeface="Calibri"/>
                        </a:rPr>
                        <a:t>0.0999</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-0.59</a:t>
                      </a:r>
                    </a:p>
                  </a:txBody>
                  <a:tcPr/>
                </a:tc>
              </a:tr>
              <a:tr h="182880">
                <a:tc>
                  <a:txBody>
                    <a:bodyPr lIns="54864" rIns="54864" tIns="18288" bIns="18288" wrap="square" anchor="ctr"/>
                    <a:lstStyle/>
                    <a:p>
                      <a:pPr algn="l"/>
                      <a:r>
                        <a:rPr sz="900" b="0">
                          <a:solidFill>
                            <a:srgbClr val="000000"/>
                          </a:solidFill>
                          <a:latin typeface="Calibri"/>
                        </a:rPr>
                        <a:t>16.50</a:t>
                      </a:r>
                    </a:p>
                  </a:txBody>
                  <a:tcPr/>
                </a:tc>
                <a:tc>
                  <a:txBody>
                    <a:bodyPr lIns="54864" rIns="54864" tIns="18288" bIns="18288" wrap="square" anchor="ctr"/>
                    <a:lstStyle/>
                    <a:p>
                      <a:pPr algn="l"/>
                      <a:r>
                        <a:rPr sz="900" b="0">
                          <a:solidFill>
                            <a:srgbClr val="000000"/>
                          </a:solidFill>
                          <a:latin typeface="Calibri"/>
                        </a:rPr>
                        <a:t>0.1037</a:t>
                      </a:r>
                    </a:p>
                  </a:txBody>
                  <a:tcPr/>
                </a:tc>
                <a:tc>
                  <a:txBody>
                    <a:bodyPr lIns="54864" rIns="54864" tIns="18288" bIns="18288" wrap="square" anchor="ctr"/>
                    <a:lstStyle/>
                    <a:p>
                      <a:pPr algn="l"/>
                      <a:r>
                        <a:rPr sz="900" b="0">
                          <a:solidFill>
                            <a:srgbClr val="000000"/>
                          </a:solidFill>
                          <a:latin typeface="Calibri"/>
                        </a:rPr>
                        <a:t>0.1035</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+0.21</a:t>
                      </a:r>
                    </a:p>
                  </a:txBody>
                  <a:tcPr/>
                </a:tc>
              </a:tr>
              <a:tr h="182880">
                <a:tc>
                  <a:txBody>
                    <a:bodyPr lIns="54864" rIns="54864" tIns="18288" bIns="18288" wrap="square" anchor="ctr"/>
                    <a:lstStyle/>
                    <a:p>
                      <a:pPr algn="l"/>
                      <a:r>
                        <a:rPr sz="900" b="0">
                          <a:solidFill>
                            <a:srgbClr val="000000"/>
                          </a:solidFill>
                          <a:latin typeface="Calibri"/>
                        </a:rPr>
                        <a:t>16.55</a:t>
                      </a:r>
                    </a:p>
                  </a:txBody>
                  <a:tcPr/>
                </a:tc>
                <a:tc>
                  <a:txBody>
                    <a:bodyPr lIns="54864" rIns="54864" tIns="18288" bIns="18288" wrap="square" anchor="ctr"/>
                    <a:lstStyle/>
                    <a:p>
                      <a:pPr algn="l"/>
                      <a:r>
                        <a:rPr sz="900" b="0">
                          <a:solidFill>
                            <a:srgbClr val="000000"/>
                          </a:solidFill>
                          <a:latin typeface="Calibri"/>
                        </a:rPr>
                        <a:t>0.1068</a:t>
                      </a:r>
                    </a:p>
                  </a:txBody>
                  <a:tcPr/>
                </a:tc>
                <a:tc>
                  <a:txBody>
                    <a:bodyPr lIns="54864" rIns="54864" tIns="18288" bIns="18288" wrap="square" anchor="ctr"/>
                    <a:lstStyle/>
                    <a:p>
                      <a:pPr algn="l"/>
                      <a:r>
                        <a:rPr sz="900" b="0">
                          <a:solidFill>
                            <a:srgbClr val="000000"/>
                          </a:solidFill>
                          <a:latin typeface="Calibri"/>
                        </a:rPr>
                        <a:t>0.1074</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-0.57</a:t>
                      </a:r>
                    </a:p>
                  </a:txBody>
                  <a:tcPr/>
                </a:tc>
              </a:tr>
              <a:tr h="182880">
                <a:tc>
                  <a:txBody>
                    <a:bodyPr lIns="54864" rIns="54864" tIns="18288" bIns="18288" wrap="square" anchor="ctr"/>
                    <a:lstStyle/>
                    <a:p>
                      <a:pPr algn="l"/>
                      <a:r>
                        <a:rPr sz="900" b="0">
                          <a:solidFill>
                            <a:srgbClr val="000000"/>
                          </a:solidFill>
                          <a:latin typeface="Calibri"/>
                        </a:rPr>
                        <a:t>16.60</a:t>
                      </a:r>
                    </a:p>
                  </a:txBody>
                  <a:tcPr/>
                </a:tc>
                <a:tc>
                  <a:txBody>
                    <a:bodyPr lIns="54864" rIns="54864" tIns="18288" bIns="18288" wrap="square" anchor="ctr"/>
                    <a:lstStyle/>
                    <a:p>
                      <a:pPr algn="l"/>
                      <a:r>
                        <a:rPr sz="900" b="0">
                          <a:solidFill>
                            <a:srgbClr val="000000"/>
                          </a:solidFill>
                          <a:latin typeface="Calibri"/>
                        </a:rPr>
                        <a:t>0.1099</a:t>
                      </a:r>
                    </a:p>
                  </a:txBody>
                  <a:tcPr/>
                </a:tc>
                <a:tc>
                  <a:txBody>
                    <a:bodyPr lIns="54864" rIns="54864" tIns="18288" bIns="18288" wrap="square" anchor="ctr"/>
                    <a:lstStyle/>
                    <a:p>
                      <a:pPr algn="l"/>
                      <a:r>
                        <a:rPr sz="900" b="0">
                          <a:solidFill>
                            <a:srgbClr val="000000"/>
                          </a:solidFill>
                          <a:latin typeface="Calibri"/>
                        </a:rPr>
                        <a:t>0.1109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-0.88</a:t>
                      </a:r>
                    </a:p>
                  </a:txBody>
                  <a:tcPr/>
                </a:tc>
              </a:tr>
              <a:tr h="182880">
                <a:tc>
                  <a:txBody>
                    <a:bodyPr lIns="54864" rIns="54864" tIns="18288" bIns="18288" wrap="square" anchor="ctr"/>
                    <a:lstStyle/>
                    <a:p>
                      <a:pPr algn="l"/>
                      <a:r>
                        <a:rPr sz="900" b="0">
                          <a:solidFill>
                            <a:srgbClr val="000000"/>
                          </a:solidFill>
                          <a:latin typeface="Calibri"/>
                        </a:rPr>
                        <a:t>16.65</a:t>
                      </a:r>
                    </a:p>
                  </a:txBody>
                  <a:tcPr/>
                </a:tc>
                <a:tc>
                  <a:txBody>
                    <a:bodyPr lIns="54864" rIns="54864" tIns="18288" bIns="18288" wrap="square" anchor="ctr"/>
                    <a:lstStyle/>
                    <a:p>
                      <a:pPr algn="l"/>
                      <a:r>
                        <a:rPr sz="900" b="0">
                          <a:solidFill>
                            <a:srgbClr val="000000"/>
                          </a:solidFill>
                          <a:latin typeface="Calibri"/>
                        </a:rPr>
                        <a:t>0.1140</a:t>
                      </a:r>
                    </a:p>
                  </a:txBody>
                  <a:tcPr/>
                </a:tc>
                <a:tc>
                  <a:txBody>
                    <a:bodyPr lIns="54864" rIns="54864" tIns="18288" bIns="18288" wrap="square" anchor="ctr"/>
                    <a:lstStyle/>
                    <a:p>
                      <a:pPr algn="l"/>
                      <a:r>
                        <a:rPr sz="900" b="0">
                          <a:solidFill>
                            <a:srgbClr val="000000"/>
                          </a:solidFill>
                          <a:latin typeface="Calibri"/>
                        </a:rPr>
                        <a:t>0.1150</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-0.89</a:t>
                      </a:r>
                    </a:p>
                  </a:txBody>
                  <a:tcPr/>
                </a:tc>
              </a:tr>
              <a:tr h="182880">
                <a:tc>
                  <a:txBody>
                    <a:bodyPr lIns="54864" rIns="54864" tIns="18288" bIns="18288" wrap="square" anchor="ctr"/>
                    <a:lstStyle/>
                    <a:p>
                      <a:pPr algn="l"/>
                      <a:r>
                        <a:rPr sz="900" b="0">
                          <a:solidFill>
                            <a:srgbClr val="000000"/>
                          </a:solidFill>
                          <a:latin typeface="Calibri"/>
                        </a:rPr>
                        <a:t>16.70</a:t>
                      </a:r>
                    </a:p>
                  </a:txBody>
                  <a:tcPr/>
                </a:tc>
                <a:tc>
                  <a:txBody>
                    <a:bodyPr lIns="54864" rIns="54864" tIns="18288" bIns="18288" wrap="square" anchor="ctr"/>
                    <a:lstStyle/>
                    <a:p>
                      <a:pPr algn="l"/>
                      <a:r>
                        <a:rPr sz="900" b="0">
                          <a:solidFill>
                            <a:srgbClr val="000000"/>
                          </a:solidFill>
                          <a:latin typeface="Calibri"/>
                        </a:rPr>
                        <a:t>0.1186</a:t>
                      </a:r>
                    </a:p>
                  </a:txBody>
                  <a:tcPr/>
                </a:tc>
                <a:tc>
                  <a:txBody>
                    <a:bodyPr lIns="54864" rIns="54864" tIns="18288" bIns="18288" wrap="square" anchor="ctr"/>
                    <a:lstStyle/>
                    <a:p>
                      <a:pPr algn="l"/>
                      <a:r>
                        <a:rPr sz="900" b="0">
                          <a:solidFill>
                            <a:srgbClr val="000000"/>
                          </a:solidFill>
                          <a:latin typeface="Calibri"/>
                        </a:rPr>
                        <a:t>0.1189</a:t>
                      </a:r>
                    </a:p>
                  </a:txBody>
                  <a:tcPr/>
                </a:tc>
                <a:tc>
                  <a:txBody>
                    <a:bodyPr lIns="54864" rIns="54864" tIns="18288" bIns="18288" wrap="square" anchor="ctr"/>
                    <a:lstStyle/>
                    <a:p>
                      <a:pPr algn="l"/>
                      <a:r>
                        <a:rPr sz="900" b="0">
                          <a:solidFill>
                            <a:srgbClr val="000000"/>
                          </a:solidFill>
                          <a:latin typeface="Calibri"/>
                        </a:rPr>
                        <a:t>-3</a:t>
                      </a:r>
                    </a:p>
                  </a:txBody>
                  <a:tcPr/>
                </a:tc>
                <a:tc>
                  <a:txBody>
                    <a:bodyPr lIns="54864" rIns="54864" tIns="18288" bIns="18288" wrap="square" anchor="ctr"/>
                    <a:lstStyle/>
                    <a:p>
                      <a:pPr algn="l"/>
                      <a:r>
                        <a:rPr sz="900" b="0">
                          <a:solidFill>
                            <a:srgbClr val="000000"/>
                          </a:solidFill>
                          <a:latin typeface="Calibri"/>
                        </a:rPr>
                        <a:t>-0.23</a:t>
                      </a:r>
                    </a:p>
                  </a:txBody>
                  <a:tcPr/>
                </a:tc>
              </a:tr>
              <a:tr h="182880">
                <a:tc>
                  <a:txBody>
                    <a:bodyPr lIns="54864" rIns="54864" tIns="18288" bIns="18288" wrap="square" anchor="ctr"/>
                    <a:lstStyle/>
                    <a:p>
                      <a:pPr algn="l"/>
                      <a:r>
                        <a:rPr sz="900" b="0">
                          <a:solidFill>
                            <a:srgbClr val="000000"/>
                          </a:solidFill>
                          <a:latin typeface="Calibri"/>
                        </a:rPr>
                        <a:t>16.75</a:t>
                      </a:r>
                    </a:p>
                  </a:txBody>
                  <a:tcPr/>
                </a:tc>
                <a:tc>
                  <a:txBody>
                    <a:bodyPr lIns="54864" rIns="54864" tIns="18288" bIns="18288" wrap="square" anchor="ctr"/>
                    <a:lstStyle/>
                    <a:p>
                      <a:pPr algn="l"/>
                      <a:r>
                        <a:rPr sz="900" b="0">
                          <a:solidFill>
                            <a:srgbClr val="000000"/>
                          </a:solidFill>
                          <a:latin typeface="Calibri"/>
                        </a:rPr>
                        <a:t>0.1216</a:t>
                      </a:r>
                    </a:p>
                  </a:txBody>
                  <a:tcPr/>
                </a:tc>
                <a:tc>
                  <a:txBody>
                    <a:bodyPr lIns="54864" rIns="54864" tIns="18288" bIns="18288" wrap="square" anchor="ctr"/>
                    <a:lstStyle/>
                    <a:p>
                      <a:pPr algn="l"/>
                      <a:r>
                        <a:rPr sz="900" b="0">
                          <a:solidFill>
                            <a:srgbClr val="000000"/>
                          </a:solidFill>
                          <a:latin typeface="Calibri"/>
                        </a:rPr>
                        <a:t>0.1226</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-0.84</a:t>
                      </a:r>
                    </a:p>
                  </a:txBody>
                  <a:tcPr/>
                </a:tc>
              </a:tr>
              <a:tr h="182880">
                <a:tc>
                  <a:txBody>
                    <a:bodyPr lIns="54864" rIns="54864" tIns="18288" bIns="18288" wrap="square" anchor="ctr"/>
                    <a:lstStyle/>
                    <a:p>
                      <a:pPr algn="l"/>
                      <a:r>
                        <a:rPr sz="900" b="0">
                          <a:solidFill>
                            <a:srgbClr val="000000"/>
                          </a:solidFill>
                          <a:latin typeface="Calibri"/>
                        </a:rPr>
                        <a:t>16.80</a:t>
                      </a:r>
                    </a:p>
                  </a:txBody>
                  <a:tcPr/>
                </a:tc>
                <a:tc>
                  <a:txBody>
                    <a:bodyPr lIns="54864" rIns="54864" tIns="18288" bIns="18288" wrap="square" anchor="ctr"/>
                    <a:lstStyle/>
                    <a:p>
                      <a:pPr algn="l"/>
                      <a:r>
                        <a:rPr sz="900" b="0">
                          <a:solidFill>
                            <a:srgbClr val="000000"/>
                          </a:solidFill>
                          <a:latin typeface="Calibri"/>
                        </a:rPr>
                        <a:t>0.1253</a:t>
                      </a:r>
                    </a:p>
                  </a:txBody>
                  <a:tcPr/>
                </a:tc>
                <a:tc>
                  <a:txBody>
                    <a:bodyPr lIns="54864" rIns="54864" tIns="18288" bIns="18288" wrap="square" anchor="ctr"/>
                    <a:lstStyle/>
                    <a:p>
                      <a:pPr algn="l"/>
                      <a:r>
                        <a:rPr sz="900" b="0">
                          <a:solidFill>
                            <a:srgbClr val="000000"/>
                          </a:solidFill>
                          <a:latin typeface="Calibri"/>
                        </a:rPr>
                        <a:t>0.1265</a:t>
                      </a:r>
                    </a:p>
                  </a:txBody>
                  <a:tcPr/>
                </a:tc>
                <a:tc>
                  <a:txBody>
                    <a:bodyPr lIns="54864" rIns="54864" tIns="18288" bIns="18288" wrap="square" anchor="ctr"/>
                    <a:lstStyle/>
                    <a:p>
                      <a:pPr algn="l"/>
                      <a:r>
                        <a:rPr sz="900" b="0">
                          <a:solidFill>
                            <a:srgbClr val="000000"/>
                          </a:solidFill>
                          <a:latin typeface="Calibri"/>
                        </a:rPr>
                        <a:t>-13</a:t>
                      </a:r>
                    </a:p>
                  </a:txBody>
                  <a:tcPr/>
                </a:tc>
                <a:tc>
                  <a:txBody>
                    <a:bodyPr lIns="54864" rIns="54864" tIns="18288" bIns="18288" wrap="square" anchor="ctr"/>
                    <a:lstStyle/>
                    <a:p>
                      <a:pPr algn="l"/>
                      <a:r>
                        <a:rPr sz="900" b="0">
                          <a:solidFill>
                            <a:srgbClr val="000000"/>
                          </a:solidFill>
                          <a:latin typeface="Calibri"/>
                        </a:rPr>
                        <a:t>-1.00</a:t>
                      </a:r>
                    </a:p>
                  </a:txBody>
                  <a:tcPr/>
                </a:tc>
              </a:tr>
            </a:tbl>
          </a:graphicData>
        </a:graphic>
      </p:graphicFrame>
      <p:graphicFrame>
        <p:nvGraphicFramePr>
          <p:cNvPr id="7" name="Table 6"/>
          <p:cNvGraphicFramePr>
            <a:graphicFrameLocks noGrp="1"/>
          </p:cNvGraphicFramePr>
          <p:nvPr/>
        </p:nvGraphicFramePr>
        <p:xfrm>
          <a:off x="6217920" y="1645920"/>
          <a:ext cx="5394960" cy="4023360"/>
        </p:xfrm>
        <a:graphic>
          <a:graphicData uri="http://schemas.openxmlformats.org/drawingml/2006/table">
            <a:tbl>
              <a:tblPr firstRow="1" bandRow="1">
                <a:tableStyleId>{5C22544A-7EE6-4342-B048-85BDC9FD1C3A}</a:tableStyleId>
              </a:tblPr>
              <a:tblGrid>
                <a:gridCol w="960120"/>
                <a:gridCol w="1188720"/>
                <a:gridCol w="1143000"/>
                <a:gridCol w="960120"/>
                <a:gridCol w="1143000"/>
              </a:tblGrid>
              <a:tr h="182880">
                <a:tc>
                  <a:txBody>
                    <a:bodyPr lIns="54864" rIns="54864" tIns="18288" bIns="18288" wrap="square" anchor="ctr"/>
                    <a:lstStyle/>
                    <a:p>
                      <a:pPr algn="l"/>
                      <a:r>
                        <a:rPr sz="950" b="1">
                          <a:solidFill>
                            <a:srgbClr val="FFFFFF"/>
                          </a:solidFill>
                          <a:latin typeface="Calibri"/>
                        </a:rPr>
                        <a:t>t (s)</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XT-205</a:t>
                      </a:r>
                    </a:p>
                  </a:txBody>
                  <a:tcPr>
                    <a:solidFill>
                      <a:srgbClr val="143D2F"/>
                    </a:solidFill>
                  </a:tcPr>
                </a:tc>
                <a:tc>
                  <a:txBody>
                    <a:bodyPr lIns="54864" rIns="54864" tIns="18288" bIns="18288" wrap="square" anchor="ctr"/>
                    <a:lstStyle/>
                    <a:p>
                      <a:pPr algn="l"/>
                      <a:r>
                        <a:rPr sz="950" b="1">
                          <a:solidFill>
                            <a:srgbClr val="FFFFFF"/>
                          </a:solidFill>
                          <a:latin typeface="Calibri"/>
                        </a:rPr>
                        <a:t>Δ µε</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r>
              <a:tr h="182880">
                <a:tc>
                  <a:txBody>
                    <a:bodyPr lIns="54864" rIns="54864" tIns="18288" bIns="18288" wrap="square" anchor="ctr"/>
                    <a:lstStyle/>
                    <a:p>
                      <a:pPr algn="l"/>
                      <a:r>
                        <a:rPr sz="900" b="0">
                          <a:solidFill>
                            <a:srgbClr val="000000"/>
                          </a:solidFill>
                          <a:latin typeface="Calibri"/>
                        </a:rPr>
                        <a:t>16.85</a:t>
                      </a:r>
                    </a:p>
                  </a:txBody>
                  <a:tcPr/>
                </a:tc>
                <a:tc>
                  <a:txBody>
                    <a:bodyPr lIns="54864" rIns="54864" tIns="18288" bIns="18288" wrap="square" anchor="ctr"/>
                    <a:lstStyle/>
                    <a:p>
                      <a:pPr algn="l"/>
                      <a:r>
                        <a:rPr sz="900" b="0">
                          <a:solidFill>
                            <a:srgbClr val="000000"/>
                          </a:solidFill>
                          <a:latin typeface="Calibri"/>
                        </a:rPr>
                        <a:t>0.1294</a:t>
                      </a:r>
                    </a:p>
                  </a:txBody>
                  <a:tcPr/>
                </a:tc>
                <a:tc>
                  <a:txBody>
                    <a:bodyPr lIns="54864" rIns="54864" tIns="18288" bIns="18288" wrap="square" anchor="ctr"/>
                    <a:lstStyle/>
                    <a:p>
                      <a:pPr algn="l"/>
                      <a:r>
                        <a:rPr sz="900" b="0">
                          <a:solidFill>
                            <a:srgbClr val="000000"/>
                          </a:solidFill>
                          <a:latin typeface="Calibri"/>
                        </a:rPr>
                        <a:t>0.1303</a:t>
                      </a:r>
                    </a:p>
                  </a:txBody>
                  <a:tcPr/>
                </a:tc>
                <a:tc>
                  <a:txBody>
                    <a:bodyPr lIns="54864" rIns="54864" tIns="18288" bIns="18288" wrap="square" anchor="ctr"/>
                    <a:lstStyle/>
                    <a:p>
                      <a:pPr algn="l"/>
                      <a:r>
                        <a:rPr sz="900" b="0">
                          <a:solidFill>
                            <a:srgbClr val="000000"/>
                          </a:solidFill>
                          <a:latin typeface="Calibri"/>
                        </a:rPr>
                        <a:t>-8</a:t>
                      </a:r>
                    </a:p>
                  </a:txBody>
                  <a:tcPr/>
                </a:tc>
                <a:tc>
                  <a:txBody>
                    <a:bodyPr lIns="54864" rIns="54864" tIns="18288" bIns="18288" wrap="square" anchor="ctr"/>
                    <a:lstStyle/>
                    <a:p>
                      <a:pPr algn="l"/>
                      <a:r>
                        <a:rPr sz="900" b="0">
                          <a:solidFill>
                            <a:srgbClr val="000000"/>
                          </a:solidFill>
                          <a:latin typeface="Calibri"/>
                        </a:rPr>
                        <a:t>-0.65</a:t>
                      </a:r>
                    </a:p>
                  </a:txBody>
                  <a:tcPr/>
                </a:tc>
              </a:tr>
              <a:tr h="182880">
                <a:tc>
                  <a:txBody>
                    <a:bodyPr lIns="54864" rIns="54864" tIns="18288" bIns="18288" wrap="square" anchor="ctr"/>
                    <a:lstStyle/>
                    <a:p>
                      <a:pPr algn="l"/>
                      <a:r>
                        <a:rPr sz="900" b="0">
                          <a:solidFill>
                            <a:srgbClr val="000000"/>
                          </a:solidFill>
                          <a:latin typeface="Calibri"/>
                        </a:rPr>
                        <a:t>16.90</a:t>
                      </a:r>
                    </a:p>
                  </a:txBody>
                  <a:tcPr/>
                </a:tc>
                <a:tc>
                  <a:txBody>
                    <a:bodyPr lIns="54864" rIns="54864" tIns="18288" bIns="18288" wrap="square" anchor="ctr"/>
                    <a:lstStyle/>
                    <a:p>
                      <a:pPr algn="l"/>
                      <a:r>
                        <a:rPr sz="900" b="0">
                          <a:solidFill>
                            <a:srgbClr val="000000"/>
                          </a:solidFill>
                          <a:latin typeface="Calibri"/>
                        </a:rPr>
                        <a:t>0.1334</a:t>
                      </a:r>
                    </a:p>
                  </a:txBody>
                  <a:tcPr/>
                </a:tc>
                <a:tc>
                  <a:txBody>
                    <a:bodyPr lIns="54864" rIns="54864" tIns="18288" bIns="18288" wrap="square" anchor="ctr"/>
                    <a:lstStyle/>
                    <a:p>
                      <a:pPr algn="l"/>
                      <a:r>
                        <a:rPr sz="900" b="0">
                          <a:solidFill>
                            <a:srgbClr val="000000"/>
                          </a:solidFill>
                          <a:latin typeface="Calibri"/>
                        </a:rPr>
                        <a:t>0.1338</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-0.35</a:t>
                      </a:r>
                    </a:p>
                  </a:txBody>
                  <a:tcPr/>
                </a:tc>
              </a:tr>
              <a:tr h="182880">
                <a:tc>
                  <a:txBody>
                    <a:bodyPr lIns="54864" rIns="54864" tIns="18288" bIns="18288" wrap="square" anchor="ctr"/>
                    <a:lstStyle/>
                    <a:p>
                      <a:pPr algn="l"/>
                      <a:r>
                        <a:rPr sz="900" b="0">
                          <a:solidFill>
                            <a:srgbClr val="000000"/>
                          </a:solidFill>
                          <a:latin typeface="Calibri"/>
                        </a:rPr>
                        <a:t>16.95</a:t>
                      </a:r>
                    </a:p>
                  </a:txBody>
                  <a:tcPr/>
                </a:tc>
                <a:tc>
                  <a:txBody>
                    <a:bodyPr lIns="54864" rIns="54864" tIns="18288" bIns="18288" wrap="square" anchor="ctr"/>
                    <a:lstStyle/>
                    <a:p>
                      <a:pPr algn="l"/>
                      <a:r>
                        <a:rPr sz="900" b="0">
                          <a:solidFill>
                            <a:srgbClr val="000000"/>
                          </a:solidFill>
                          <a:latin typeface="Calibri"/>
                        </a:rPr>
                        <a:t>0.1380</a:t>
                      </a:r>
                    </a:p>
                  </a:txBody>
                  <a:tcPr/>
                </a:tc>
                <a:tc>
                  <a:txBody>
                    <a:bodyPr lIns="54864" rIns="54864" tIns="18288" bIns="18288" wrap="square" anchor="ctr"/>
                    <a:lstStyle/>
                    <a:p>
                      <a:pPr algn="l"/>
                      <a:r>
                        <a:rPr sz="900" b="0">
                          <a:solidFill>
                            <a:srgbClr val="000000"/>
                          </a:solidFill>
                          <a:latin typeface="Calibri"/>
                        </a:rPr>
                        <a:t>0.1393</a:t>
                      </a:r>
                    </a:p>
                  </a:txBody>
                  <a:tcPr/>
                </a:tc>
                <a:tc>
                  <a:txBody>
                    <a:bodyPr lIns="54864" rIns="54864" tIns="18288" bIns="18288" wrap="square" anchor="ctr"/>
                    <a:lstStyle/>
                    <a:p>
                      <a:pPr algn="l"/>
                      <a:r>
                        <a:rPr sz="900" b="0">
                          <a:solidFill>
                            <a:srgbClr val="000000"/>
                          </a:solidFill>
                          <a:latin typeface="Calibri"/>
                        </a:rPr>
                        <a:t>-13</a:t>
                      </a:r>
                    </a:p>
                  </a:txBody>
                  <a:tcPr/>
                </a:tc>
                <a:tc>
                  <a:txBody>
                    <a:bodyPr lIns="54864" rIns="54864" tIns="18288" bIns="18288" wrap="square" anchor="ctr"/>
                    <a:lstStyle/>
                    <a:p>
                      <a:pPr algn="l"/>
                      <a:r>
                        <a:rPr sz="900" b="0">
                          <a:solidFill>
                            <a:srgbClr val="000000"/>
                          </a:solidFill>
                          <a:latin typeface="Calibri"/>
                        </a:rPr>
                        <a:t>-0.92</a:t>
                      </a:r>
                    </a:p>
                  </a:txBody>
                  <a:tcPr/>
                </a:tc>
              </a:tr>
              <a:tr h="182880">
                <a:tc>
                  <a:txBody>
                    <a:bodyPr lIns="54864" rIns="54864" tIns="18288" bIns="18288" wrap="square" anchor="ctr"/>
                    <a:lstStyle/>
                    <a:p>
                      <a:pPr algn="l"/>
                      <a:r>
                        <a:rPr sz="900" b="0">
                          <a:solidFill>
                            <a:srgbClr val="000000"/>
                          </a:solidFill>
                          <a:latin typeface="Calibri"/>
                        </a:rPr>
                        <a:t>17.00</a:t>
                      </a:r>
                    </a:p>
                  </a:txBody>
                  <a:tcPr/>
                </a:tc>
                <a:tc>
                  <a:txBody>
                    <a:bodyPr lIns="54864" rIns="54864" tIns="18288" bIns="18288" wrap="square" anchor="ctr"/>
                    <a:lstStyle/>
                    <a:p>
                      <a:pPr algn="l"/>
                      <a:r>
                        <a:rPr sz="900" b="0">
                          <a:solidFill>
                            <a:srgbClr val="000000"/>
                          </a:solidFill>
                          <a:latin typeface="Calibri"/>
                        </a:rPr>
                        <a:t>0.1414</a:t>
                      </a:r>
                    </a:p>
                  </a:txBody>
                  <a:tcPr/>
                </a:tc>
                <a:tc>
                  <a:txBody>
                    <a:bodyPr lIns="54864" rIns="54864" tIns="18288" bIns="18288" wrap="square" anchor="ctr"/>
                    <a:lstStyle/>
                    <a:p>
                      <a:pPr algn="l"/>
                      <a:r>
                        <a:rPr sz="900" b="0">
                          <a:solidFill>
                            <a:srgbClr val="000000"/>
                          </a:solidFill>
                          <a:latin typeface="Calibri"/>
                        </a:rPr>
                        <a:t>0.1417</a:t>
                      </a:r>
                    </a:p>
                  </a:txBody>
                  <a:tcPr/>
                </a:tc>
                <a:tc>
                  <a:txBody>
                    <a:bodyPr lIns="54864" rIns="54864" tIns="18288" bIns="18288" wrap="square" anchor="ctr"/>
                    <a:lstStyle/>
                    <a:p>
                      <a:pPr algn="l"/>
                      <a:r>
                        <a:rPr sz="900" b="0">
                          <a:solidFill>
                            <a:srgbClr val="000000"/>
                          </a:solidFill>
                          <a:latin typeface="Calibri"/>
                        </a:rPr>
                        <a:t>-4</a:t>
                      </a:r>
                    </a:p>
                  </a:txBody>
                  <a:tcPr/>
                </a:tc>
                <a:tc>
                  <a:txBody>
                    <a:bodyPr lIns="54864" rIns="54864" tIns="18288" bIns="18288" wrap="square" anchor="ctr"/>
                    <a:lstStyle/>
                    <a:p>
                      <a:pPr algn="l"/>
                      <a:r>
                        <a:rPr sz="900" b="0">
                          <a:solidFill>
                            <a:srgbClr val="000000"/>
                          </a:solidFill>
                          <a:latin typeface="Calibri"/>
                        </a:rPr>
                        <a:t>-0.28</a:t>
                      </a:r>
                    </a:p>
                  </a:txBody>
                  <a:tcPr/>
                </a:tc>
              </a:tr>
              <a:tr h="182880">
                <a:tc>
                  <a:txBody>
                    <a:bodyPr lIns="54864" rIns="54864" tIns="18288" bIns="18288" wrap="square" anchor="ctr"/>
                    <a:lstStyle/>
                    <a:p>
                      <a:pPr algn="l"/>
                      <a:r>
                        <a:rPr sz="900" b="0">
                          <a:solidFill>
                            <a:srgbClr val="000000"/>
                          </a:solidFill>
                          <a:latin typeface="Calibri"/>
                        </a:rPr>
                        <a:t>17.05</a:t>
                      </a:r>
                    </a:p>
                  </a:txBody>
                  <a:tcPr/>
                </a:tc>
                <a:tc>
                  <a:txBody>
                    <a:bodyPr lIns="54864" rIns="54864" tIns="18288" bIns="18288" wrap="square" anchor="ctr"/>
                    <a:lstStyle/>
                    <a:p>
                      <a:pPr algn="l"/>
                      <a:r>
                        <a:rPr sz="900" b="0">
                          <a:solidFill>
                            <a:srgbClr val="000000"/>
                          </a:solidFill>
                          <a:latin typeface="Calibri"/>
                        </a:rPr>
                        <a:t>0.1444</a:t>
                      </a:r>
                    </a:p>
                  </a:txBody>
                  <a:tcPr/>
                </a:tc>
                <a:tc>
                  <a:txBody>
                    <a:bodyPr lIns="54864" rIns="54864" tIns="18288" bIns="18288" wrap="square" anchor="ctr"/>
                    <a:lstStyle/>
                    <a:p>
                      <a:pPr algn="l"/>
                      <a:r>
                        <a:rPr sz="900" b="0">
                          <a:solidFill>
                            <a:srgbClr val="000000"/>
                          </a:solidFill>
                          <a:latin typeface="Calibri"/>
                        </a:rPr>
                        <a:t>0.1451</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-0.49</a:t>
                      </a:r>
                    </a:p>
                  </a:txBody>
                  <a:tcPr/>
                </a:tc>
              </a:tr>
              <a:tr h="182880">
                <a:tc>
                  <a:txBody>
                    <a:bodyPr lIns="54864" rIns="54864" tIns="18288" bIns="18288" wrap="square" anchor="ctr"/>
                    <a:lstStyle/>
                    <a:p>
                      <a:pPr algn="l"/>
                      <a:r>
                        <a:rPr sz="900" b="0">
                          <a:solidFill>
                            <a:srgbClr val="000000"/>
                          </a:solidFill>
                          <a:latin typeface="Calibri"/>
                        </a:rPr>
                        <a:t>17.10</a:t>
                      </a:r>
                    </a:p>
                  </a:txBody>
                  <a:tcPr/>
                </a:tc>
                <a:tc>
                  <a:txBody>
                    <a:bodyPr lIns="54864" rIns="54864" tIns="18288" bIns="18288" wrap="square" anchor="ctr"/>
                    <a:lstStyle/>
                    <a:p>
                      <a:pPr algn="l"/>
                      <a:r>
                        <a:rPr sz="900" b="0">
                          <a:solidFill>
                            <a:srgbClr val="000000"/>
                          </a:solidFill>
                          <a:latin typeface="Calibri"/>
                        </a:rPr>
                        <a:t>0.1487</a:t>
                      </a:r>
                    </a:p>
                  </a:txBody>
                  <a:tcPr/>
                </a:tc>
                <a:tc>
                  <a:txBody>
                    <a:bodyPr lIns="54864" rIns="54864" tIns="18288" bIns="18288" wrap="square" anchor="ctr"/>
                    <a:lstStyle/>
                    <a:p>
                      <a:pPr algn="l"/>
                      <a:r>
                        <a:rPr sz="900" b="0">
                          <a:solidFill>
                            <a:srgbClr val="000000"/>
                          </a:solidFill>
                          <a:latin typeface="Calibri"/>
                        </a:rPr>
                        <a:t>0.1481</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+0.40</a:t>
                      </a:r>
                    </a:p>
                  </a:txBody>
                  <a:tcPr/>
                </a:tc>
              </a:tr>
              <a:tr h="182880">
                <a:tc>
                  <a:txBody>
                    <a:bodyPr lIns="54864" rIns="54864" tIns="18288" bIns="18288" wrap="square" anchor="ctr"/>
                    <a:lstStyle/>
                    <a:p>
                      <a:pPr algn="l"/>
                      <a:r>
                        <a:rPr sz="900" b="0">
                          <a:solidFill>
                            <a:srgbClr val="000000"/>
                          </a:solidFill>
                          <a:latin typeface="Calibri"/>
                        </a:rPr>
                        <a:t>17.15</a:t>
                      </a:r>
                    </a:p>
                  </a:txBody>
                  <a:tcPr/>
                </a:tc>
                <a:tc>
                  <a:txBody>
                    <a:bodyPr lIns="54864" rIns="54864" tIns="18288" bIns="18288" wrap="square" anchor="ctr"/>
                    <a:lstStyle/>
                    <a:p>
                      <a:pPr algn="l"/>
                      <a:r>
                        <a:rPr sz="900" b="0">
                          <a:solidFill>
                            <a:srgbClr val="000000"/>
                          </a:solidFill>
                          <a:latin typeface="Calibri"/>
                        </a:rPr>
                        <a:t>0.1523</a:t>
                      </a:r>
                    </a:p>
                  </a:txBody>
                  <a:tcPr/>
                </a:tc>
                <a:tc>
                  <a:txBody>
                    <a:bodyPr lIns="54864" rIns="54864" tIns="18288" bIns="18288" wrap="square" anchor="ctr"/>
                    <a:lstStyle/>
                    <a:p>
                      <a:pPr algn="l"/>
                      <a:r>
                        <a:rPr sz="900" b="0">
                          <a:solidFill>
                            <a:srgbClr val="000000"/>
                          </a:solidFill>
                          <a:latin typeface="Calibri"/>
                        </a:rPr>
                        <a:t>0.1530</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-0.43</a:t>
                      </a:r>
                    </a:p>
                  </a:txBody>
                  <a:tcPr/>
                </a:tc>
              </a:tr>
              <a:tr h="182880">
                <a:tc>
                  <a:txBody>
                    <a:bodyPr lIns="54864" rIns="54864" tIns="18288" bIns="18288" wrap="square" anchor="ctr"/>
                    <a:lstStyle/>
                    <a:p>
                      <a:pPr algn="l"/>
                      <a:r>
                        <a:rPr sz="900" b="0">
                          <a:solidFill>
                            <a:srgbClr val="000000"/>
                          </a:solidFill>
                          <a:latin typeface="Calibri"/>
                        </a:rPr>
                        <a:t>17.20</a:t>
                      </a:r>
                    </a:p>
                  </a:txBody>
                  <a:tcPr/>
                </a:tc>
                <a:tc>
                  <a:txBody>
                    <a:bodyPr lIns="54864" rIns="54864" tIns="18288" bIns="18288" wrap="square" anchor="ctr"/>
                    <a:lstStyle/>
                    <a:p>
                      <a:pPr algn="l"/>
                      <a:r>
                        <a:rPr sz="900" b="0">
                          <a:solidFill>
                            <a:srgbClr val="000000"/>
                          </a:solidFill>
                          <a:latin typeface="Calibri"/>
                        </a:rPr>
                        <a:t>0.1564</a:t>
                      </a:r>
                    </a:p>
                  </a:txBody>
                  <a:tcPr/>
                </a:tc>
                <a:tc>
                  <a:txBody>
                    <a:bodyPr lIns="54864" rIns="54864" tIns="18288" bIns="18288" wrap="square" anchor="ctr"/>
                    <a:lstStyle/>
                    <a:p>
                      <a:pPr algn="l"/>
                      <a:r>
                        <a:rPr sz="900" b="0">
                          <a:solidFill>
                            <a:srgbClr val="000000"/>
                          </a:solidFill>
                          <a:latin typeface="Calibri"/>
                        </a:rPr>
                        <a:t>0.1557</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+0.45</a:t>
                      </a:r>
                    </a:p>
                  </a:txBody>
                  <a:tcPr/>
                </a:tc>
              </a:tr>
              <a:tr h="182880">
                <a:tc>
                  <a:txBody>
                    <a:bodyPr lIns="54864" rIns="54864" tIns="18288" bIns="18288" wrap="square" anchor="ctr"/>
                    <a:lstStyle/>
                    <a:p>
                      <a:pPr algn="l"/>
                      <a:r>
                        <a:rPr sz="900" b="0">
                          <a:solidFill>
                            <a:srgbClr val="000000"/>
                          </a:solidFill>
                          <a:latin typeface="Calibri"/>
                        </a:rPr>
                        <a:t>17.25</a:t>
                      </a:r>
                    </a:p>
                  </a:txBody>
                  <a:tcPr/>
                </a:tc>
                <a:tc>
                  <a:txBody>
                    <a:bodyPr lIns="54864" rIns="54864" tIns="18288" bIns="18288" wrap="square" anchor="ctr"/>
                    <a:lstStyle/>
                    <a:p>
                      <a:pPr algn="l"/>
                      <a:r>
                        <a:rPr sz="900" b="0">
                          <a:solidFill>
                            <a:srgbClr val="000000"/>
                          </a:solidFill>
                          <a:latin typeface="Calibri"/>
                        </a:rPr>
                        <a:t>0.1599</a:t>
                      </a:r>
                    </a:p>
                  </a:txBody>
                  <a:tcPr/>
                </a:tc>
                <a:tc>
                  <a:txBody>
                    <a:bodyPr lIns="54864" rIns="54864" tIns="18288" bIns="18288" wrap="square" anchor="ctr"/>
                    <a:lstStyle/>
                    <a:p>
                      <a:pPr algn="l"/>
                      <a:r>
                        <a:rPr sz="900" b="0">
                          <a:solidFill>
                            <a:srgbClr val="000000"/>
                          </a:solidFill>
                          <a:latin typeface="Calibri"/>
                        </a:rPr>
                        <a:t>0.1469</a:t>
                      </a:r>
                    </a:p>
                  </a:txBody>
                  <a:tcPr/>
                </a:tc>
                <a:tc>
                  <a:txBody>
                    <a:bodyPr lIns="54864" rIns="54864" tIns="18288" bIns="18288" wrap="square" anchor="ctr"/>
                    <a:lstStyle/>
                    <a:p>
                      <a:pPr algn="l"/>
                      <a:r>
                        <a:rPr sz="900" b="0">
                          <a:solidFill>
                            <a:srgbClr val="000000"/>
                          </a:solidFill>
                          <a:latin typeface="Calibri"/>
                        </a:rPr>
                        <a:t>+131</a:t>
                      </a:r>
                    </a:p>
                  </a:txBody>
                  <a:tcPr/>
                </a:tc>
                <a:tc>
                  <a:txBody>
                    <a:bodyPr lIns="54864" rIns="54864" tIns="18288" bIns="18288" wrap="square" anchor="ctr"/>
                    <a:lstStyle/>
                    <a:p>
                      <a:pPr algn="l"/>
                      <a:r>
                        <a:rPr sz="900" b="0">
                          <a:solidFill>
                            <a:srgbClr val="000000"/>
                          </a:solidFill>
                          <a:latin typeface="Calibri"/>
                        </a:rPr>
                        <a:t>+8.90</a:t>
                      </a:r>
                    </a:p>
                  </a:txBody>
                  <a:tcPr/>
                </a:tc>
              </a:tr>
              <a:tr h="182880">
                <a:tc>
                  <a:txBody>
                    <a:bodyPr lIns="54864" rIns="54864" tIns="18288" bIns="18288" wrap="square" anchor="ctr"/>
                    <a:lstStyle/>
                    <a:p>
                      <a:pPr algn="l"/>
                      <a:r>
                        <a:rPr sz="900" b="0">
                          <a:solidFill>
                            <a:srgbClr val="000000"/>
                          </a:solidFill>
                          <a:latin typeface="Calibri"/>
                        </a:rPr>
                        <a:t>17.30</a:t>
                      </a:r>
                    </a:p>
                  </a:txBody>
                  <a:tcPr/>
                </a:tc>
                <a:tc>
                  <a:txBody>
                    <a:bodyPr lIns="54864" rIns="54864" tIns="18288" bIns="18288" wrap="square" anchor="ctr"/>
                    <a:lstStyle/>
                    <a:p>
                      <a:pPr algn="l"/>
                      <a:r>
                        <a:rPr sz="900" b="0">
                          <a:solidFill>
                            <a:srgbClr val="000000"/>
                          </a:solidFill>
                          <a:latin typeface="Calibri"/>
                        </a:rPr>
                        <a:t>0.1635</a:t>
                      </a:r>
                    </a:p>
                  </a:txBody>
                  <a:tcPr/>
                </a:tc>
                <a:tc>
                  <a:txBody>
                    <a:bodyPr lIns="54864" rIns="54864" tIns="18288" bIns="18288" wrap="square" anchor="ctr"/>
                    <a:lstStyle/>
                    <a:p>
                      <a:pPr algn="l"/>
                      <a:r>
                        <a:rPr sz="900" b="0">
                          <a:solidFill>
                            <a:srgbClr val="000000"/>
                          </a:solidFill>
                          <a:latin typeface="Calibri"/>
                        </a:rPr>
                        <a:t>0.1634</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+0.07</a:t>
                      </a:r>
                    </a:p>
                  </a:txBody>
                  <a:tcPr/>
                </a:tc>
              </a:tr>
              <a:tr h="182880">
                <a:tc>
                  <a:txBody>
                    <a:bodyPr lIns="54864" rIns="54864" tIns="18288" bIns="18288" wrap="square" anchor="ctr"/>
                    <a:lstStyle/>
                    <a:p>
                      <a:pPr algn="l"/>
                      <a:r>
                        <a:rPr sz="900" b="0">
                          <a:solidFill>
                            <a:srgbClr val="000000"/>
                          </a:solidFill>
                          <a:latin typeface="Calibri"/>
                        </a:rPr>
                        <a:t>17.35</a:t>
                      </a:r>
                    </a:p>
                  </a:txBody>
                  <a:tcPr/>
                </a:tc>
                <a:tc>
                  <a:txBody>
                    <a:bodyPr lIns="54864" rIns="54864" tIns="18288" bIns="18288" wrap="square" anchor="ctr"/>
                    <a:lstStyle/>
                    <a:p>
                      <a:pPr algn="l"/>
                      <a:r>
                        <a:rPr sz="900" b="0">
                          <a:solidFill>
                            <a:srgbClr val="000000"/>
                          </a:solidFill>
                          <a:latin typeface="Calibri"/>
                        </a:rPr>
                        <a:t>0.1691</a:t>
                      </a:r>
                    </a:p>
                  </a:txBody>
                  <a:tcPr/>
                </a:tc>
                <a:tc>
                  <a:txBody>
                    <a:bodyPr lIns="54864" rIns="54864" tIns="18288" bIns="18288" wrap="square" anchor="ctr"/>
                    <a:lstStyle/>
                    <a:p>
                      <a:pPr algn="l"/>
                      <a:r>
                        <a:rPr sz="900" b="0">
                          <a:solidFill>
                            <a:srgbClr val="000000"/>
                          </a:solidFill>
                          <a:latin typeface="Calibri"/>
                        </a:rPr>
                        <a:t>0.1670</a:t>
                      </a:r>
                    </a:p>
                  </a:txBody>
                  <a:tcPr/>
                </a:tc>
                <a:tc>
                  <a:txBody>
                    <a:bodyPr lIns="54864" rIns="54864" tIns="18288" bIns="18288" wrap="square" anchor="ctr"/>
                    <a:lstStyle/>
                    <a:p>
                      <a:pPr algn="l"/>
                      <a:r>
                        <a:rPr sz="900" b="0">
                          <a:solidFill>
                            <a:srgbClr val="000000"/>
                          </a:solidFill>
                          <a:latin typeface="Calibri"/>
                        </a:rPr>
                        <a:t>+21</a:t>
                      </a:r>
                    </a:p>
                  </a:txBody>
                  <a:tcPr/>
                </a:tc>
                <a:tc>
                  <a:txBody>
                    <a:bodyPr lIns="54864" rIns="54864" tIns="18288" bIns="18288" wrap="square" anchor="ctr"/>
                    <a:lstStyle/>
                    <a:p>
                      <a:pPr algn="l"/>
                      <a:r>
                        <a:rPr sz="900" b="0">
                          <a:solidFill>
                            <a:srgbClr val="000000"/>
                          </a:solidFill>
                          <a:latin typeface="Calibri"/>
                        </a:rPr>
                        <a:t>+1.27</a:t>
                      </a:r>
                    </a:p>
                  </a:txBody>
                  <a:tcPr/>
                </a:tc>
              </a:tr>
              <a:tr h="182880">
                <a:tc>
                  <a:txBody>
                    <a:bodyPr lIns="54864" rIns="54864" tIns="18288" bIns="18288" wrap="square" anchor="ctr"/>
                    <a:lstStyle/>
                    <a:p>
                      <a:pPr algn="l"/>
                      <a:r>
                        <a:rPr sz="900" b="0">
                          <a:solidFill>
                            <a:srgbClr val="000000"/>
                          </a:solidFill>
                          <a:latin typeface="Calibri"/>
                        </a:rPr>
                        <a:t>17.40</a:t>
                      </a:r>
                    </a:p>
                  </a:txBody>
                  <a:tcPr/>
                </a:tc>
                <a:tc>
                  <a:txBody>
                    <a:bodyPr lIns="54864" rIns="54864" tIns="18288" bIns="18288" wrap="square" anchor="ctr"/>
                    <a:lstStyle/>
                    <a:p>
                      <a:pPr algn="l"/>
                      <a:r>
                        <a:rPr sz="900" b="0">
                          <a:solidFill>
                            <a:srgbClr val="000000"/>
                          </a:solidFill>
                          <a:latin typeface="Calibri"/>
                        </a:rPr>
                        <a:t>0.1721</a:t>
                      </a:r>
                    </a:p>
                  </a:txBody>
                  <a:tcPr/>
                </a:tc>
                <a:tc>
                  <a:txBody>
                    <a:bodyPr lIns="54864" rIns="54864" tIns="18288" bIns="18288" wrap="square" anchor="ctr"/>
                    <a:lstStyle/>
                    <a:p>
                      <a:pPr algn="l"/>
                      <a:r>
                        <a:rPr sz="900" b="0">
                          <a:solidFill>
                            <a:srgbClr val="000000"/>
                          </a:solidFill>
                          <a:latin typeface="Calibri"/>
                        </a:rPr>
                        <a:t>0.1581</a:t>
                      </a:r>
                    </a:p>
                  </a:txBody>
                  <a:tcPr/>
                </a:tc>
                <a:tc>
                  <a:txBody>
                    <a:bodyPr lIns="54864" rIns="54864" tIns="18288" bIns="18288" wrap="square" anchor="ctr"/>
                    <a:lstStyle/>
                    <a:p>
                      <a:pPr algn="l"/>
                      <a:r>
                        <a:rPr sz="900" b="0">
                          <a:solidFill>
                            <a:srgbClr val="000000"/>
                          </a:solidFill>
                          <a:latin typeface="Calibri"/>
                        </a:rPr>
                        <a:t>+140</a:t>
                      </a:r>
                    </a:p>
                  </a:txBody>
                  <a:tcPr/>
                </a:tc>
                <a:tc>
                  <a:txBody>
                    <a:bodyPr lIns="54864" rIns="54864" tIns="18288" bIns="18288" wrap="square" anchor="ctr"/>
                    <a:lstStyle/>
                    <a:p>
                      <a:pPr algn="l"/>
                      <a:r>
                        <a:rPr sz="900" b="0">
                          <a:solidFill>
                            <a:srgbClr val="000000"/>
                          </a:solidFill>
                          <a:latin typeface="Calibri"/>
                        </a:rPr>
                        <a:t>+8.88</a:t>
                      </a:r>
                    </a:p>
                  </a:txBody>
                  <a:tcPr/>
                </a:tc>
              </a:tr>
              <a:tr h="182880">
                <a:tc>
                  <a:txBody>
                    <a:bodyPr lIns="54864" rIns="54864" tIns="18288" bIns="18288" wrap="square" anchor="ctr"/>
                    <a:lstStyle/>
                    <a:p>
                      <a:pPr algn="l"/>
                      <a:r>
                        <a:rPr sz="900" b="0">
                          <a:solidFill>
                            <a:srgbClr val="000000"/>
                          </a:solidFill>
                          <a:latin typeface="Calibri"/>
                        </a:rPr>
                        <a:t>17.45</a:t>
                      </a:r>
                    </a:p>
                  </a:txBody>
                  <a:tcPr/>
                </a:tc>
                <a:tc>
                  <a:txBody>
                    <a:bodyPr lIns="54864" rIns="54864" tIns="18288" bIns="18288" wrap="square" anchor="ctr"/>
                    <a:lstStyle/>
                    <a:p>
                      <a:pPr algn="l"/>
                      <a:r>
                        <a:rPr sz="900" b="0">
                          <a:solidFill>
                            <a:srgbClr val="000000"/>
                          </a:solidFill>
                          <a:latin typeface="Calibri"/>
                        </a:rPr>
                        <a:t>0.1762</a:t>
                      </a:r>
                    </a:p>
                  </a:txBody>
                  <a:tcPr/>
                </a:tc>
                <a:tc>
                  <a:txBody>
                    <a:bodyPr lIns="54864" rIns="54864" tIns="18288" bIns="18288" wrap="square" anchor="ctr"/>
                    <a:lstStyle/>
                    <a:p>
                      <a:pPr algn="l"/>
                      <a:r>
                        <a:rPr sz="900" b="0">
                          <a:solidFill>
                            <a:srgbClr val="000000"/>
                          </a:solidFill>
                          <a:latin typeface="Calibri"/>
                        </a:rPr>
                        <a:t>0.1751</a:t>
                      </a:r>
                    </a:p>
                  </a:txBody>
                  <a:tcPr/>
                </a:tc>
                <a:tc>
                  <a:txBody>
                    <a:bodyPr lIns="54864" rIns="54864" tIns="18288" bIns="18288" wrap="square" anchor="ctr"/>
                    <a:lstStyle/>
                    <a:p>
                      <a:pPr algn="l"/>
                      <a:r>
                        <a:rPr sz="900" b="0">
                          <a:solidFill>
                            <a:srgbClr val="000000"/>
                          </a:solidFill>
                          <a:latin typeface="Calibri"/>
                        </a:rPr>
                        <a:t>+11</a:t>
                      </a:r>
                    </a:p>
                  </a:txBody>
                  <a:tcPr/>
                </a:tc>
                <a:tc>
                  <a:txBody>
                    <a:bodyPr lIns="54864" rIns="54864" tIns="18288" bIns="18288" wrap="square" anchor="ctr"/>
                    <a:lstStyle/>
                    <a:p>
                      <a:pPr algn="l"/>
                      <a:r>
                        <a:rPr sz="900" b="0">
                          <a:solidFill>
                            <a:srgbClr val="000000"/>
                          </a:solidFill>
                          <a:latin typeface="Calibri"/>
                        </a:rPr>
                        <a:t>+0.63</a:t>
                      </a:r>
                    </a:p>
                  </a:txBody>
                  <a:tcPr/>
                </a:tc>
              </a:tr>
              <a:tr h="182880">
                <a:tc>
                  <a:txBody>
                    <a:bodyPr lIns="54864" rIns="54864" tIns="18288" bIns="18288" wrap="square" anchor="ctr"/>
                    <a:lstStyle/>
                    <a:p>
                      <a:pPr algn="l"/>
                      <a:r>
                        <a:rPr sz="900" b="0">
                          <a:solidFill>
                            <a:srgbClr val="000000"/>
                          </a:solidFill>
                          <a:latin typeface="Calibri"/>
                        </a:rPr>
                        <a:t>17.50</a:t>
                      </a:r>
                    </a:p>
                  </a:txBody>
                  <a:tcPr/>
                </a:tc>
                <a:tc>
                  <a:txBody>
                    <a:bodyPr lIns="54864" rIns="54864" tIns="18288" bIns="18288" wrap="square" anchor="ctr"/>
                    <a:lstStyle/>
                    <a:p>
                      <a:pPr algn="l"/>
                      <a:r>
                        <a:rPr sz="900" b="0">
                          <a:solidFill>
                            <a:srgbClr val="000000"/>
                          </a:solidFill>
                          <a:latin typeface="Calibri"/>
                        </a:rPr>
                        <a:t>0.1778</a:t>
                      </a:r>
                    </a:p>
                  </a:txBody>
                  <a:tcPr/>
                </a:tc>
                <a:tc>
                  <a:txBody>
                    <a:bodyPr lIns="54864" rIns="54864" tIns="18288" bIns="18288" wrap="square" anchor="ctr"/>
                    <a:lstStyle/>
                    <a:p>
                      <a:pPr algn="l"/>
                      <a:r>
                        <a:rPr sz="900" b="0">
                          <a:solidFill>
                            <a:srgbClr val="000000"/>
                          </a:solidFill>
                          <a:latin typeface="Calibri"/>
                        </a:rPr>
                        <a:t>0.1784</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-0.31</a:t>
                      </a:r>
                    </a:p>
                  </a:txBody>
                  <a:tcPr/>
                </a:tc>
              </a:tr>
              <a:tr h="182880">
                <a:tc>
                  <a:txBody>
                    <a:bodyPr lIns="54864" rIns="54864" tIns="18288" bIns="18288" wrap="square" anchor="ctr"/>
                    <a:lstStyle/>
                    <a:p>
                      <a:pPr algn="l"/>
                      <a:r>
                        <a:rPr sz="900" b="0">
                          <a:solidFill>
                            <a:srgbClr val="000000"/>
                          </a:solidFill>
                          <a:latin typeface="Calibri"/>
                        </a:rPr>
                        <a:t>17.55</a:t>
                      </a:r>
                    </a:p>
                  </a:txBody>
                  <a:tcPr/>
                </a:tc>
                <a:tc>
                  <a:txBody>
                    <a:bodyPr lIns="54864" rIns="54864" tIns="18288" bIns="18288" wrap="square" anchor="ctr"/>
                    <a:lstStyle/>
                    <a:p>
                      <a:pPr algn="l"/>
                      <a:r>
                        <a:rPr sz="900" b="0">
                          <a:solidFill>
                            <a:srgbClr val="000000"/>
                          </a:solidFill>
                          <a:latin typeface="Calibri"/>
                        </a:rPr>
                        <a:t>0.1824</a:t>
                      </a:r>
                    </a:p>
                  </a:txBody>
                  <a:tcPr/>
                </a:tc>
                <a:tc>
                  <a:txBody>
                    <a:bodyPr lIns="54864" rIns="54864" tIns="18288" bIns="18288" wrap="square" anchor="ctr"/>
                    <a:lstStyle/>
                    <a:p>
                      <a:pPr algn="l"/>
                      <a:r>
                        <a:rPr sz="900" b="0">
                          <a:solidFill>
                            <a:srgbClr val="000000"/>
                          </a:solidFill>
                          <a:latin typeface="Calibri"/>
                        </a:rPr>
                        <a:t>0.1820</a:t>
                      </a:r>
                    </a:p>
                  </a:txBody>
                  <a:tcPr/>
                </a:tc>
                <a:tc>
                  <a:txBody>
                    <a:bodyPr lIns="54864" rIns="54864" tIns="18288" bIns="18288" wrap="square" anchor="ctr"/>
                    <a:lstStyle/>
                    <a:p>
                      <a:pPr algn="l"/>
                      <a:r>
                        <a:rPr sz="900" b="0">
                          <a:solidFill>
                            <a:srgbClr val="000000"/>
                          </a:solidFill>
                          <a:latin typeface="Calibri"/>
                        </a:rPr>
                        <a:t>+4</a:t>
                      </a:r>
                    </a:p>
                  </a:txBody>
                  <a:tcPr/>
                </a:tc>
                <a:tc>
                  <a:txBody>
                    <a:bodyPr lIns="54864" rIns="54864" tIns="18288" bIns="18288" wrap="square" anchor="ctr"/>
                    <a:lstStyle/>
                    <a:p>
                      <a:pPr algn="l"/>
                      <a:r>
                        <a:rPr sz="900" b="0">
                          <a:solidFill>
                            <a:srgbClr val="000000"/>
                          </a:solidFill>
                          <a:latin typeface="Calibri"/>
                        </a:rPr>
                        <a:t>+0.20</a:t>
                      </a:r>
                    </a:p>
                  </a:txBody>
                  <a:tcPr/>
                </a:tc>
              </a:tr>
              <a:tr h="182880">
                <a:tc>
                  <a:txBody>
                    <a:bodyPr lIns="54864" rIns="54864" tIns="18288" bIns="18288" wrap="square" anchor="ctr"/>
                    <a:lstStyle/>
                    <a:p>
                      <a:pPr algn="l"/>
                      <a:r>
                        <a:rPr sz="900" b="0">
                          <a:solidFill>
                            <a:srgbClr val="000000"/>
                          </a:solidFill>
                          <a:latin typeface="Calibri"/>
                        </a:rPr>
                        <a:t>17.60</a:t>
                      </a:r>
                    </a:p>
                  </a:txBody>
                  <a:tcPr/>
                </a:tc>
                <a:tc>
                  <a:txBody>
                    <a:bodyPr lIns="54864" rIns="54864" tIns="18288" bIns="18288" wrap="square" anchor="ctr"/>
                    <a:lstStyle/>
                    <a:p>
                      <a:pPr algn="l"/>
                      <a:r>
                        <a:rPr sz="900" b="0">
                          <a:solidFill>
                            <a:srgbClr val="000000"/>
                          </a:solidFill>
                          <a:latin typeface="Calibri"/>
                        </a:rPr>
                        <a:t>0.1864</a:t>
                      </a:r>
                    </a:p>
                  </a:txBody>
                  <a:tcPr/>
                </a:tc>
                <a:tc>
                  <a:txBody>
                    <a:bodyPr lIns="54864" rIns="54864" tIns="18288" bIns="18288" wrap="square" anchor="ctr"/>
                    <a:lstStyle/>
                    <a:p>
                      <a:pPr algn="l"/>
                      <a:r>
                        <a:rPr sz="900" b="0">
                          <a:solidFill>
                            <a:srgbClr val="000000"/>
                          </a:solidFill>
                          <a:latin typeface="Calibri"/>
                        </a:rPr>
                        <a:t>0.1859</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+0.29</a:t>
                      </a:r>
                    </a:p>
                  </a:txBody>
                  <a:tcPr/>
                </a:tc>
              </a:tr>
              <a:tr h="182880">
                <a:tc>
                  <a:txBody>
                    <a:bodyPr lIns="54864" rIns="54864" tIns="18288" bIns="18288" wrap="square" anchor="ctr"/>
                    <a:lstStyle/>
                    <a:p>
                      <a:pPr algn="l"/>
                      <a:r>
                        <a:rPr sz="900" b="0">
                          <a:solidFill>
                            <a:srgbClr val="000000"/>
                          </a:solidFill>
                          <a:latin typeface="Calibri"/>
                        </a:rPr>
                        <a:t>17.65</a:t>
                      </a:r>
                    </a:p>
                  </a:txBody>
                  <a:tcPr/>
                </a:tc>
                <a:tc>
                  <a:txBody>
                    <a:bodyPr lIns="54864" rIns="54864" tIns="18288" bIns="18288" wrap="square" anchor="ctr"/>
                    <a:lstStyle/>
                    <a:p>
                      <a:pPr algn="l"/>
                      <a:r>
                        <a:rPr sz="900" b="0">
                          <a:solidFill>
                            <a:srgbClr val="000000"/>
                          </a:solidFill>
                          <a:latin typeface="Calibri"/>
                        </a:rPr>
                        <a:t>0.1906</a:t>
                      </a:r>
                    </a:p>
                  </a:txBody>
                  <a:tcPr/>
                </a:tc>
                <a:tc>
                  <a:txBody>
                    <a:bodyPr lIns="54864" rIns="54864" tIns="18288" bIns="18288" wrap="square" anchor="ctr"/>
                    <a:lstStyle/>
                    <a:p>
                      <a:pPr algn="l"/>
                      <a:r>
                        <a:rPr sz="900" b="0">
                          <a:solidFill>
                            <a:srgbClr val="000000"/>
                          </a:solidFill>
                          <a:latin typeface="Calibri"/>
                        </a:rPr>
                        <a:t>0.1896</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+0.55</a:t>
                      </a:r>
                    </a:p>
                  </a:txBody>
                  <a:tcPr/>
                </a:tc>
              </a:tr>
              <a:tr h="182880">
                <a:tc>
                  <a:txBody>
                    <a:bodyPr lIns="54864" rIns="54864" tIns="18288" bIns="18288" wrap="square" anchor="ctr"/>
                    <a:lstStyle/>
                    <a:p>
                      <a:pPr algn="l"/>
                      <a:r>
                        <a:rPr sz="900" b="0">
                          <a:solidFill>
                            <a:srgbClr val="000000"/>
                          </a:solidFill>
                          <a:latin typeface="Calibri"/>
                        </a:rPr>
                        <a:t>17.70</a:t>
                      </a:r>
                    </a:p>
                  </a:txBody>
                  <a:tcPr/>
                </a:tc>
                <a:tc>
                  <a:txBody>
                    <a:bodyPr lIns="54864" rIns="54864" tIns="18288" bIns="18288" wrap="square" anchor="ctr"/>
                    <a:lstStyle/>
                    <a:p>
                      <a:pPr algn="l"/>
                      <a:r>
                        <a:rPr sz="900" b="0">
                          <a:solidFill>
                            <a:srgbClr val="000000"/>
                          </a:solidFill>
                          <a:latin typeface="Calibri"/>
                        </a:rPr>
                        <a:t>0.1939</a:t>
                      </a:r>
                    </a:p>
                  </a:txBody>
                  <a:tcPr/>
                </a:tc>
                <a:tc>
                  <a:txBody>
                    <a:bodyPr lIns="54864" rIns="54864" tIns="18288" bIns="18288" wrap="square" anchor="ctr"/>
                    <a:lstStyle/>
                    <a:p>
                      <a:pPr algn="l"/>
                      <a:r>
                        <a:rPr sz="900" b="0">
                          <a:solidFill>
                            <a:srgbClr val="000000"/>
                          </a:solidFill>
                          <a:latin typeface="Calibri"/>
                        </a:rPr>
                        <a:t>0.1936</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+0.13</a:t>
                      </a:r>
                    </a:p>
                  </a:txBody>
                  <a:tcPr/>
                </a:tc>
              </a:tr>
              <a:tr h="182880">
                <a:tc>
                  <a:txBody>
                    <a:bodyPr lIns="54864" rIns="54864" tIns="18288" bIns="18288" wrap="square" anchor="ctr"/>
                    <a:lstStyle/>
                    <a:p>
                      <a:pPr algn="l"/>
                      <a:r>
                        <a:rPr sz="900" b="0">
                          <a:solidFill>
                            <a:srgbClr val="000000"/>
                          </a:solidFill>
                          <a:latin typeface="Calibri"/>
                        </a:rPr>
                        <a:t>17.75</a:t>
                      </a:r>
                    </a:p>
                  </a:txBody>
                  <a:tcPr/>
                </a:tc>
                <a:tc>
                  <a:txBody>
                    <a:bodyPr lIns="54864" rIns="54864" tIns="18288" bIns="18288" wrap="square" anchor="ctr"/>
                    <a:lstStyle/>
                    <a:p>
                      <a:pPr algn="l"/>
                      <a:r>
                        <a:rPr sz="900" b="0">
                          <a:solidFill>
                            <a:srgbClr val="000000"/>
                          </a:solidFill>
                          <a:latin typeface="Calibri"/>
                        </a:rPr>
                        <a:t>0.1984</a:t>
                      </a:r>
                    </a:p>
                  </a:txBody>
                  <a:tcPr/>
                </a:tc>
                <a:tc>
                  <a:txBody>
                    <a:bodyPr lIns="54864" rIns="54864" tIns="18288" bIns="18288" wrap="square" anchor="ctr"/>
                    <a:lstStyle/>
                    <a:p>
                      <a:pPr algn="l"/>
                      <a:r>
                        <a:rPr sz="900" b="0">
                          <a:solidFill>
                            <a:srgbClr val="000000"/>
                          </a:solidFill>
                          <a:latin typeface="Calibri"/>
                        </a:rPr>
                        <a:t>0.1971</a:t>
                      </a:r>
                    </a:p>
                  </a:txBody>
                  <a:tcPr/>
                </a:tc>
                <a:tc>
                  <a:txBody>
                    <a:bodyPr lIns="54864" rIns="54864" tIns="18288" bIns="18288" wrap="square" anchor="ctr"/>
                    <a:lstStyle/>
                    <a:p>
                      <a:pPr algn="l"/>
                      <a:r>
                        <a:rPr sz="900" b="0">
                          <a:solidFill>
                            <a:srgbClr val="000000"/>
                          </a:solidFill>
                          <a:latin typeface="Calibri"/>
                        </a:rPr>
                        <a:t>+14</a:t>
                      </a:r>
                    </a:p>
                  </a:txBody>
                  <a:tcPr/>
                </a:tc>
                <a:tc>
                  <a:txBody>
                    <a:bodyPr lIns="54864" rIns="54864" tIns="18288" bIns="18288" wrap="square" anchor="ctr"/>
                    <a:lstStyle/>
                    <a:p>
                      <a:pPr algn="l"/>
                      <a:r>
                        <a:rPr sz="900" b="0">
                          <a:solidFill>
                            <a:srgbClr val="000000"/>
                          </a:solidFill>
                          <a:latin typeface="Calibri"/>
                        </a:rPr>
                        <a:t>+0.69</a:t>
                      </a:r>
                    </a:p>
                  </a:txBody>
                  <a:tcPr/>
                </a:tc>
              </a:tr>
              <a:tr h="182880">
                <a:tc>
                  <a:txBody>
                    <a:bodyPr lIns="54864" rIns="54864" tIns="18288" bIns="18288" wrap="square" anchor="ctr"/>
                    <a:lstStyle/>
                    <a:p>
                      <a:pPr algn="l"/>
                      <a:r>
                        <a:rPr sz="900" b="0">
                          <a:solidFill>
                            <a:srgbClr val="000000"/>
                          </a:solidFill>
                          <a:latin typeface="Calibri"/>
                        </a:rPr>
                        <a:t>17.80</a:t>
                      </a:r>
                    </a:p>
                  </a:txBody>
                  <a:tcPr/>
                </a:tc>
                <a:tc>
                  <a:txBody>
                    <a:bodyPr lIns="54864" rIns="54864" tIns="18288" bIns="18288" wrap="square" anchor="ctr"/>
                    <a:lstStyle/>
                    <a:p>
                      <a:pPr algn="l"/>
                      <a:r>
                        <a:rPr sz="900" b="0">
                          <a:solidFill>
                            <a:srgbClr val="000000"/>
                          </a:solidFill>
                          <a:latin typeface="Calibri"/>
                        </a:rPr>
                        <a:t>0.2012</a:t>
                      </a:r>
                    </a:p>
                  </a:txBody>
                  <a:tcPr/>
                </a:tc>
                <a:tc>
                  <a:txBody>
                    <a:bodyPr lIns="54864" rIns="54864" tIns="18288" bIns="18288" wrap="square" anchor="ctr"/>
                    <a:lstStyle/>
                    <a:p>
                      <a:pPr algn="l"/>
                      <a:r>
                        <a:rPr sz="900" b="0">
                          <a:solidFill>
                            <a:srgbClr val="000000"/>
                          </a:solidFill>
                          <a:latin typeface="Calibri"/>
                        </a:rPr>
                        <a:t>0.2008</a:t>
                      </a:r>
                    </a:p>
                  </a:txBody>
                  <a:tcPr/>
                </a:tc>
                <a:tc>
                  <a:txBody>
                    <a:bodyPr lIns="54864" rIns="54864" tIns="18288" bIns="18288" wrap="square" anchor="ctr"/>
                    <a:lstStyle/>
                    <a:p>
                      <a:pPr algn="l"/>
                      <a:r>
                        <a:rPr sz="900" b="0">
                          <a:solidFill>
                            <a:srgbClr val="000000"/>
                          </a:solidFill>
                          <a:latin typeface="Calibri"/>
                        </a:rPr>
                        <a:t>+4</a:t>
                      </a:r>
                    </a:p>
                  </a:txBody>
                  <a:tcPr/>
                </a:tc>
                <a:tc>
                  <a:txBody>
                    <a:bodyPr lIns="54864" rIns="54864" tIns="18288" bIns="18288" wrap="square" anchor="ctr"/>
                    <a:lstStyle/>
                    <a:p>
                      <a:pPr algn="l"/>
                      <a:r>
                        <a:rPr sz="900" b="0">
                          <a:solidFill>
                            <a:srgbClr val="000000"/>
                          </a:solidFill>
                          <a:latin typeface="Calibri"/>
                        </a:rPr>
                        <a:t>+0.20</a:t>
                      </a:r>
                    </a:p>
                  </a:txBody>
                  <a:tcPr/>
                </a:tc>
              </a:tr>
              <a:tr h="182880">
                <a:tc>
                  <a:txBody>
                    <a:bodyPr lIns="54864" rIns="54864" tIns="18288" bIns="18288" wrap="square" anchor="ctr"/>
                    <a:lstStyle/>
                    <a:p>
                      <a:pPr algn="l"/>
                      <a:r>
                        <a:rPr sz="900" b="0">
                          <a:solidFill>
                            <a:srgbClr val="000000"/>
                          </a:solidFill>
                          <a:latin typeface="Calibri"/>
                        </a:rPr>
                        <a:t>17.85</a:t>
                      </a:r>
                    </a:p>
                  </a:txBody>
                  <a:tcPr/>
                </a:tc>
                <a:tc>
                  <a:txBody>
                    <a:bodyPr lIns="54864" rIns="54864" tIns="18288" bIns="18288" wrap="square" anchor="ctr"/>
                    <a:lstStyle/>
                    <a:p>
                      <a:pPr algn="l"/>
                      <a:r>
                        <a:rPr sz="900" b="0">
                          <a:solidFill>
                            <a:srgbClr val="000000"/>
                          </a:solidFill>
                          <a:latin typeface="Calibri"/>
                        </a:rPr>
                        <a:t>0.2054</a:t>
                      </a:r>
                    </a:p>
                  </a:txBody>
                  <a:tcPr/>
                </a:tc>
                <a:tc>
                  <a:txBody>
                    <a:bodyPr lIns="54864" rIns="54864" tIns="18288" bIns="18288" wrap="square" anchor="ctr"/>
                    <a:lstStyle/>
                    <a:p>
                      <a:pPr algn="l"/>
                      <a:r>
                        <a:rPr sz="900" b="0">
                          <a:solidFill>
                            <a:srgbClr val="000000"/>
                          </a:solidFill>
                          <a:latin typeface="Calibri"/>
                        </a:rPr>
                        <a:t>0.2048</a:t>
                      </a:r>
                    </a:p>
                  </a:txBody>
                  <a:tcPr/>
                </a:tc>
                <a:tc>
                  <a:txBody>
                    <a:bodyPr lIns="54864" rIns="54864" tIns="18288" bIns="18288" wrap="square" anchor="ctr"/>
                    <a:lstStyle/>
                    <a:p>
                      <a:pPr algn="l"/>
                      <a:r>
                        <a:rPr sz="900" b="0">
                          <a:solidFill>
                            <a:srgbClr val="000000"/>
                          </a:solidFill>
                          <a:latin typeface="Calibri"/>
                        </a:rPr>
                        <a:t>+6</a:t>
                      </a:r>
                    </a:p>
                  </a:txBody>
                  <a:tcPr/>
                </a:tc>
                <a:tc>
                  <a:txBody>
                    <a:bodyPr lIns="54864" rIns="54864" tIns="18288" bIns="18288" wrap="square" anchor="ctr"/>
                    <a:lstStyle/>
                    <a:p>
                      <a:pPr algn="l"/>
                      <a:r>
                        <a:rPr sz="900" b="0">
                          <a:solidFill>
                            <a:srgbClr val="000000"/>
                          </a:solidFill>
                          <a:latin typeface="Calibri"/>
                        </a:rPr>
                        <a:t>+0.27</a:t>
                      </a:r>
                    </a:p>
                  </a:txBody>
                  <a:tcPr/>
                </a:tc>
              </a:tr>
            </a:tbl>
          </a:graphicData>
        </a:graphic>
      </p:graphicFrame>
      <p:sp>
        <p:nvSpPr>
          <p:cNvPr id="8" name="TextBox 7"/>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Read Δ µε before Δ % : at 0.05 % strain a 10 µε difference is 2 % of the reading, and at 0.35 % the same 10 µε is 0.3 % — so the percentage column exaggerates the early points and flatters the late ones. Full list to six decimals: documentation/mot_matched_points.csv</a:t>
            </a:r>
          </a:p>
        </p:txBody>
      </p:sp>
      <p:sp>
        <p:nvSpPr>
          <p:cNvPr id="9" name="TextBox 8"/>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307</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RAW DATA (2 OF 2) — 0.209 TO 0.362 % STRAIN</a:t>
            </a:r>
          </a:p>
        </p:txBody>
      </p:sp>
      <p:sp>
        <p:nvSpPr>
          <p:cNvPr id="5" name="TextBox 4"/>
          <p:cNvSpPr txBox="1"/>
          <p:nvPr/>
        </p:nvSpPr>
        <p:spPr>
          <a:xfrm>
            <a:off x="502920" y="1024128"/>
            <a:ext cx="11338560" cy="274320"/>
          </a:xfrm>
          <a:prstGeom prst="rect">
            <a:avLst/>
          </a:prstGeom>
          <a:noFill/>
        </p:spPr>
        <p:txBody>
          <a:bodyPr wrap="square" lIns="45720" rIns="45720" tIns="18288" bIns="18288" anchor="t">
            <a:spAutoFit/>
          </a:bodyPr>
          <a:lstStyle/>
          <a:p>
            <a:pPr algn="l"/>
            <a:r>
              <a:rPr sz="1000" b="0" i="0">
                <a:solidFill>
                  <a:srgbClr val="000000"/>
                </a:solidFill>
                <a:latin typeface="Calibri"/>
              </a:rPr>
              <a:t>Continued — points 43 to 83 of 83. Same two columns, same raw values; see p307 for what each one is.</a:t>
            </a:r>
          </a:p>
        </p:txBody>
      </p:sp>
      <p:graphicFrame>
        <p:nvGraphicFramePr>
          <p:cNvPr id="6" name="Table 5"/>
          <p:cNvGraphicFramePr>
            <a:graphicFrameLocks noGrp="1"/>
          </p:cNvGraphicFramePr>
          <p:nvPr/>
        </p:nvGraphicFramePr>
        <p:xfrm>
          <a:off x="502920" y="1408176"/>
          <a:ext cx="5394960" cy="4023360"/>
        </p:xfrm>
        <a:graphic>
          <a:graphicData uri="http://schemas.openxmlformats.org/drawingml/2006/table">
            <a:tbl>
              <a:tblPr firstRow="1" bandRow="1">
                <a:tableStyleId>{5C22544A-7EE6-4342-B048-85BDC9FD1C3A}</a:tableStyleId>
              </a:tblPr>
              <a:tblGrid>
                <a:gridCol w="960120"/>
                <a:gridCol w="1188720"/>
                <a:gridCol w="1143000"/>
                <a:gridCol w="960120"/>
                <a:gridCol w="1143000"/>
              </a:tblGrid>
              <a:tr h="182880">
                <a:tc>
                  <a:txBody>
                    <a:bodyPr lIns="54864" rIns="54864" tIns="18288" bIns="18288" wrap="square" anchor="ctr"/>
                    <a:lstStyle/>
                    <a:p>
                      <a:pPr algn="l"/>
                      <a:r>
                        <a:rPr sz="950" b="1">
                          <a:solidFill>
                            <a:srgbClr val="FFFFFF"/>
                          </a:solidFill>
                          <a:latin typeface="Calibri"/>
                        </a:rPr>
                        <a:t>t (s)</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XT-205</a:t>
                      </a:r>
                    </a:p>
                  </a:txBody>
                  <a:tcPr>
                    <a:solidFill>
                      <a:srgbClr val="143D2F"/>
                    </a:solidFill>
                  </a:tcPr>
                </a:tc>
                <a:tc>
                  <a:txBody>
                    <a:bodyPr lIns="54864" rIns="54864" tIns="18288" bIns="18288" wrap="square" anchor="ctr"/>
                    <a:lstStyle/>
                    <a:p>
                      <a:pPr algn="l"/>
                      <a:r>
                        <a:rPr sz="950" b="1">
                          <a:solidFill>
                            <a:srgbClr val="FFFFFF"/>
                          </a:solidFill>
                          <a:latin typeface="Calibri"/>
                        </a:rPr>
                        <a:t>Δ µε</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r>
              <a:tr h="182880">
                <a:tc>
                  <a:txBody>
                    <a:bodyPr lIns="54864" rIns="54864" tIns="18288" bIns="18288" wrap="square" anchor="ctr"/>
                    <a:lstStyle/>
                    <a:p>
                      <a:pPr algn="l"/>
                      <a:r>
                        <a:rPr sz="900" b="0">
                          <a:solidFill>
                            <a:srgbClr val="000000"/>
                          </a:solidFill>
                          <a:latin typeface="Calibri"/>
                        </a:rPr>
                        <a:t>17.90</a:t>
                      </a:r>
                    </a:p>
                  </a:txBody>
                  <a:tcPr/>
                </a:tc>
                <a:tc>
                  <a:txBody>
                    <a:bodyPr lIns="54864" rIns="54864" tIns="18288" bIns="18288" wrap="square" anchor="ctr"/>
                    <a:lstStyle/>
                    <a:p>
                      <a:pPr algn="l"/>
                      <a:r>
                        <a:rPr sz="900" b="0">
                          <a:solidFill>
                            <a:srgbClr val="000000"/>
                          </a:solidFill>
                          <a:latin typeface="Calibri"/>
                        </a:rPr>
                        <a:t>0.2089</a:t>
                      </a:r>
                    </a:p>
                  </a:txBody>
                  <a:tcPr/>
                </a:tc>
                <a:tc>
                  <a:txBody>
                    <a:bodyPr lIns="54864" rIns="54864" tIns="18288" bIns="18288" wrap="square" anchor="ctr"/>
                    <a:lstStyle/>
                    <a:p>
                      <a:pPr algn="l"/>
                      <a:r>
                        <a:rPr sz="900" b="0">
                          <a:solidFill>
                            <a:srgbClr val="000000"/>
                          </a:solidFill>
                          <a:latin typeface="Calibri"/>
                        </a:rPr>
                        <a:t>0.2088</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+0.06</a:t>
                      </a:r>
                    </a:p>
                  </a:txBody>
                  <a:tcPr/>
                </a:tc>
              </a:tr>
              <a:tr h="182880">
                <a:tc>
                  <a:txBody>
                    <a:bodyPr lIns="54864" rIns="54864" tIns="18288" bIns="18288" wrap="square" anchor="ctr"/>
                    <a:lstStyle/>
                    <a:p>
                      <a:pPr algn="l"/>
                      <a:r>
                        <a:rPr sz="900" b="0">
                          <a:solidFill>
                            <a:srgbClr val="000000"/>
                          </a:solidFill>
                          <a:latin typeface="Calibri"/>
                        </a:rPr>
                        <a:t>17.95</a:t>
                      </a:r>
                    </a:p>
                  </a:txBody>
                  <a:tcPr/>
                </a:tc>
                <a:tc>
                  <a:txBody>
                    <a:bodyPr lIns="54864" rIns="54864" tIns="18288" bIns="18288" wrap="square" anchor="ctr"/>
                    <a:lstStyle/>
                    <a:p>
                      <a:pPr algn="l"/>
                      <a:r>
                        <a:rPr sz="900" b="0">
                          <a:solidFill>
                            <a:srgbClr val="000000"/>
                          </a:solidFill>
                          <a:latin typeface="Calibri"/>
                        </a:rPr>
                        <a:t>0.2124</a:t>
                      </a:r>
                    </a:p>
                  </a:txBody>
                  <a:tcPr/>
                </a:tc>
                <a:tc>
                  <a:txBody>
                    <a:bodyPr lIns="54864" rIns="54864" tIns="18288" bIns="18288" wrap="square" anchor="ctr"/>
                    <a:lstStyle/>
                    <a:p>
                      <a:pPr algn="l"/>
                      <a:r>
                        <a:rPr sz="900" b="0">
                          <a:solidFill>
                            <a:srgbClr val="000000"/>
                          </a:solidFill>
                          <a:latin typeface="Calibri"/>
                        </a:rPr>
                        <a:t>0.2123</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+0.04</a:t>
                      </a:r>
                    </a:p>
                  </a:txBody>
                  <a:tcPr/>
                </a:tc>
              </a:tr>
              <a:tr h="182880">
                <a:tc>
                  <a:txBody>
                    <a:bodyPr lIns="54864" rIns="54864" tIns="18288" bIns="18288" wrap="square" anchor="ctr"/>
                    <a:lstStyle/>
                    <a:p>
                      <a:pPr algn="l"/>
                      <a:r>
                        <a:rPr sz="900" b="0">
                          <a:solidFill>
                            <a:srgbClr val="000000"/>
                          </a:solidFill>
                          <a:latin typeface="Calibri"/>
                        </a:rPr>
                        <a:t>18.00</a:t>
                      </a:r>
                    </a:p>
                  </a:txBody>
                  <a:tcPr/>
                </a:tc>
                <a:tc>
                  <a:txBody>
                    <a:bodyPr lIns="54864" rIns="54864" tIns="18288" bIns="18288" wrap="square" anchor="ctr"/>
                    <a:lstStyle/>
                    <a:p>
                      <a:pPr algn="l"/>
                      <a:r>
                        <a:rPr sz="900" b="0">
                          <a:solidFill>
                            <a:srgbClr val="000000"/>
                          </a:solidFill>
                          <a:latin typeface="Calibri"/>
                        </a:rPr>
                        <a:t>0.2161</a:t>
                      </a:r>
                    </a:p>
                  </a:txBody>
                  <a:tcPr/>
                </a:tc>
                <a:tc>
                  <a:txBody>
                    <a:bodyPr lIns="54864" rIns="54864" tIns="18288" bIns="18288" wrap="square" anchor="ctr"/>
                    <a:lstStyle/>
                    <a:p>
                      <a:pPr algn="l"/>
                      <a:r>
                        <a:rPr sz="900" b="0">
                          <a:solidFill>
                            <a:srgbClr val="000000"/>
                          </a:solidFill>
                          <a:latin typeface="Calibri"/>
                        </a:rPr>
                        <a:t>0.2161</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0">
                          <a:solidFill>
                            <a:srgbClr val="000000"/>
                          </a:solidFill>
                          <a:latin typeface="Calibri"/>
                        </a:rPr>
                        <a:t>-0.02</a:t>
                      </a:r>
                    </a:p>
                  </a:txBody>
                  <a:tcPr/>
                </a:tc>
              </a:tr>
              <a:tr h="182880">
                <a:tc>
                  <a:txBody>
                    <a:bodyPr lIns="54864" rIns="54864" tIns="18288" bIns="18288" wrap="square" anchor="ctr"/>
                    <a:lstStyle/>
                    <a:p>
                      <a:pPr algn="l"/>
                      <a:r>
                        <a:rPr sz="900" b="0">
                          <a:solidFill>
                            <a:srgbClr val="000000"/>
                          </a:solidFill>
                          <a:latin typeface="Calibri"/>
                        </a:rPr>
                        <a:t>18.05</a:t>
                      </a:r>
                    </a:p>
                  </a:txBody>
                  <a:tcPr/>
                </a:tc>
                <a:tc>
                  <a:txBody>
                    <a:bodyPr lIns="54864" rIns="54864" tIns="18288" bIns="18288" wrap="square" anchor="ctr"/>
                    <a:lstStyle/>
                    <a:p>
                      <a:pPr algn="l"/>
                      <a:r>
                        <a:rPr sz="900" b="0">
                          <a:solidFill>
                            <a:srgbClr val="000000"/>
                          </a:solidFill>
                          <a:latin typeface="Calibri"/>
                        </a:rPr>
                        <a:t>0.2201</a:t>
                      </a:r>
                    </a:p>
                  </a:txBody>
                  <a:tcPr/>
                </a:tc>
                <a:tc>
                  <a:txBody>
                    <a:bodyPr lIns="54864" rIns="54864" tIns="18288" bIns="18288" wrap="square" anchor="ctr"/>
                    <a:lstStyle/>
                    <a:p>
                      <a:pPr algn="l"/>
                      <a:r>
                        <a:rPr sz="900" b="0">
                          <a:solidFill>
                            <a:srgbClr val="000000"/>
                          </a:solidFill>
                          <a:latin typeface="Calibri"/>
                        </a:rPr>
                        <a:t>0.2198</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+0.11</a:t>
                      </a:r>
                    </a:p>
                  </a:txBody>
                  <a:tcPr/>
                </a:tc>
              </a:tr>
              <a:tr h="182880">
                <a:tc>
                  <a:txBody>
                    <a:bodyPr lIns="54864" rIns="54864" tIns="18288" bIns="18288" wrap="square" anchor="ctr"/>
                    <a:lstStyle/>
                    <a:p>
                      <a:pPr algn="l"/>
                      <a:r>
                        <a:rPr sz="900" b="0">
                          <a:solidFill>
                            <a:srgbClr val="000000"/>
                          </a:solidFill>
                          <a:latin typeface="Calibri"/>
                        </a:rPr>
                        <a:t>18.10</a:t>
                      </a:r>
                    </a:p>
                  </a:txBody>
                  <a:tcPr/>
                </a:tc>
                <a:tc>
                  <a:txBody>
                    <a:bodyPr lIns="54864" rIns="54864" tIns="18288" bIns="18288" wrap="square" anchor="ctr"/>
                    <a:lstStyle/>
                    <a:p>
                      <a:pPr algn="l"/>
                      <a:r>
                        <a:rPr sz="900" b="0">
                          <a:solidFill>
                            <a:srgbClr val="000000"/>
                          </a:solidFill>
                          <a:latin typeface="Calibri"/>
                        </a:rPr>
                        <a:t>0.2236</a:t>
                      </a:r>
                    </a:p>
                  </a:txBody>
                  <a:tcPr/>
                </a:tc>
                <a:tc>
                  <a:txBody>
                    <a:bodyPr lIns="54864" rIns="54864" tIns="18288" bIns="18288" wrap="square" anchor="ctr"/>
                    <a:lstStyle/>
                    <a:p>
                      <a:pPr algn="l"/>
                      <a:r>
                        <a:rPr sz="900" b="0">
                          <a:solidFill>
                            <a:srgbClr val="000000"/>
                          </a:solidFill>
                          <a:latin typeface="Calibri"/>
                        </a:rPr>
                        <a:t>0.2238</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-0.09</a:t>
                      </a:r>
                    </a:p>
                  </a:txBody>
                  <a:tcPr/>
                </a:tc>
              </a:tr>
              <a:tr h="182880">
                <a:tc>
                  <a:txBody>
                    <a:bodyPr lIns="54864" rIns="54864" tIns="18288" bIns="18288" wrap="square" anchor="ctr"/>
                    <a:lstStyle/>
                    <a:p>
                      <a:pPr algn="l"/>
                      <a:r>
                        <a:rPr sz="900" b="0">
                          <a:solidFill>
                            <a:srgbClr val="000000"/>
                          </a:solidFill>
                          <a:latin typeface="Calibri"/>
                        </a:rPr>
                        <a:t>18.15</a:t>
                      </a:r>
                    </a:p>
                  </a:txBody>
                  <a:tcPr/>
                </a:tc>
                <a:tc>
                  <a:txBody>
                    <a:bodyPr lIns="54864" rIns="54864" tIns="18288" bIns="18288" wrap="square" anchor="ctr"/>
                    <a:lstStyle/>
                    <a:p>
                      <a:pPr algn="l"/>
                      <a:r>
                        <a:rPr sz="900" b="0">
                          <a:solidFill>
                            <a:srgbClr val="000000"/>
                          </a:solidFill>
                          <a:latin typeface="Calibri"/>
                        </a:rPr>
                        <a:t>0.2277</a:t>
                      </a:r>
                    </a:p>
                  </a:txBody>
                  <a:tcPr/>
                </a:tc>
                <a:tc>
                  <a:txBody>
                    <a:bodyPr lIns="54864" rIns="54864" tIns="18288" bIns="18288" wrap="square" anchor="ctr"/>
                    <a:lstStyle/>
                    <a:p>
                      <a:pPr algn="l"/>
                      <a:r>
                        <a:rPr sz="900" b="0">
                          <a:solidFill>
                            <a:srgbClr val="000000"/>
                          </a:solidFill>
                          <a:latin typeface="Calibri"/>
                        </a:rPr>
                        <a:t>0.2274</a:t>
                      </a:r>
                    </a:p>
                  </a:txBody>
                  <a:tcPr/>
                </a:tc>
                <a:tc>
                  <a:txBody>
                    <a:bodyPr lIns="54864" rIns="54864" tIns="18288" bIns="18288" wrap="square" anchor="ctr"/>
                    <a:lstStyle/>
                    <a:p>
                      <a:pPr algn="l"/>
                      <a:r>
                        <a:rPr sz="900" b="0">
                          <a:solidFill>
                            <a:srgbClr val="000000"/>
                          </a:solidFill>
                          <a:latin typeface="Calibri"/>
                        </a:rPr>
                        <a:t>+3</a:t>
                      </a:r>
                    </a:p>
                  </a:txBody>
                  <a:tcPr/>
                </a:tc>
                <a:tc>
                  <a:txBody>
                    <a:bodyPr lIns="54864" rIns="54864" tIns="18288" bIns="18288" wrap="square" anchor="ctr"/>
                    <a:lstStyle/>
                    <a:p>
                      <a:pPr algn="l"/>
                      <a:r>
                        <a:rPr sz="900" b="0">
                          <a:solidFill>
                            <a:srgbClr val="000000"/>
                          </a:solidFill>
                          <a:latin typeface="Calibri"/>
                        </a:rPr>
                        <a:t>+0.11</a:t>
                      </a:r>
                    </a:p>
                  </a:txBody>
                  <a:tcPr/>
                </a:tc>
              </a:tr>
              <a:tr h="182880">
                <a:tc>
                  <a:txBody>
                    <a:bodyPr lIns="54864" rIns="54864" tIns="18288" bIns="18288" wrap="square" anchor="ctr"/>
                    <a:lstStyle/>
                    <a:p>
                      <a:pPr algn="l"/>
                      <a:r>
                        <a:rPr sz="900" b="0">
                          <a:solidFill>
                            <a:srgbClr val="000000"/>
                          </a:solidFill>
                          <a:latin typeface="Calibri"/>
                        </a:rPr>
                        <a:t>18.20</a:t>
                      </a:r>
                    </a:p>
                  </a:txBody>
                  <a:tcPr/>
                </a:tc>
                <a:tc>
                  <a:txBody>
                    <a:bodyPr lIns="54864" rIns="54864" tIns="18288" bIns="18288" wrap="square" anchor="ctr"/>
                    <a:lstStyle/>
                    <a:p>
                      <a:pPr algn="l"/>
                      <a:r>
                        <a:rPr sz="900" b="0">
                          <a:solidFill>
                            <a:srgbClr val="000000"/>
                          </a:solidFill>
                          <a:latin typeface="Calibri"/>
                        </a:rPr>
                        <a:t>0.2320</a:t>
                      </a:r>
                    </a:p>
                  </a:txBody>
                  <a:tcPr/>
                </a:tc>
                <a:tc>
                  <a:txBody>
                    <a:bodyPr lIns="54864" rIns="54864" tIns="18288" bIns="18288" wrap="square" anchor="ctr"/>
                    <a:lstStyle/>
                    <a:p>
                      <a:pPr algn="l"/>
                      <a:r>
                        <a:rPr sz="900" b="0">
                          <a:solidFill>
                            <a:srgbClr val="000000"/>
                          </a:solidFill>
                          <a:latin typeface="Calibri"/>
                        </a:rPr>
                        <a:t>0.2318</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+0.09</a:t>
                      </a:r>
                    </a:p>
                  </a:txBody>
                  <a:tcPr/>
                </a:tc>
              </a:tr>
              <a:tr h="182880">
                <a:tc>
                  <a:txBody>
                    <a:bodyPr lIns="54864" rIns="54864" tIns="18288" bIns="18288" wrap="square" anchor="ctr"/>
                    <a:lstStyle/>
                    <a:p>
                      <a:pPr algn="l"/>
                      <a:r>
                        <a:rPr sz="900" b="0">
                          <a:solidFill>
                            <a:srgbClr val="000000"/>
                          </a:solidFill>
                          <a:latin typeface="Calibri"/>
                        </a:rPr>
                        <a:t>18.25</a:t>
                      </a:r>
                    </a:p>
                  </a:txBody>
                  <a:tcPr/>
                </a:tc>
                <a:tc>
                  <a:txBody>
                    <a:bodyPr lIns="54864" rIns="54864" tIns="18288" bIns="18288" wrap="square" anchor="ctr"/>
                    <a:lstStyle/>
                    <a:p>
                      <a:pPr algn="l"/>
                      <a:r>
                        <a:rPr sz="900" b="0">
                          <a:solidFill>
                            <a:srgbClr val="000000"/>
                          </a:solidFill>
                          <a:latin typeface="Calibri"/>
                        </a:rPr>
                        <a:t>0.2362</a:t>
                      </a:r>
                    </a:p>
                  </a:txBody>
                  <a:tcPr/>
                </a:tc>
                <a:tc>
                  <a:txBody>
                    <a:bodyPr lIns="54864" rIns="54864" tIns="18288" bIns="18288" wrap="square" anchor="ctr"/>
                    <a:lstStyle/>
                    <a:p>
                      <a:pPr algn="l"/>
                      <a:r>
                        <a:rPr sz="900" b="0">
                          <a:solidFill>
                            <a:srgbClr val="000000"/>
                          </a:solidFill>
                          <a:latin typeface="Calibri"/>
                        </a:rPr>
                        <a:t>0.2351</a:t>
                      </a:r>
                    </a:p>
                  </a:txBody>
                  <a:tcPr/>
                </a:tc>
                <a:tc>
                  <a:txBody>
                    <a:bodyPr lIns="54864" rIns="54864" tIns="18288" bIns="18288" wrap="square" anchor="ctr"/>
                    <a:lstStyle/>
                    <a:p>
                      <a:pPr algn="l"/>
                      <a:r>
                        <a:rPr sz="900" b="0">
                          <a:solidFill>
                            <a:srgbClr val="000000"/>
                          </a:solidFill>
                          <a:latin typeface="Calibri"/>
                        </a:rPr>
                        <a:t>+11</a:t>
                      </a:r>
                    </a:p>
                  </a:txBody>
                  <a:tcPr/>
                </a:tc>
                <a:tc>
                  <a:txBody>
                    <a:bodyPr lIns="54864" rIns="54864" tIns="18288" bIns="18288" wrap="square" anchor="ctr"/>
                    <a:lstStyle/>
                    <a:p>
                      <a:pPr algn="l"/>
                      <a:r>
                        <a:rPr sz="900" b="0">
                          <a:solidFill>
                            <a:srgbClr val="000000"/>
                          </a:solidFill>
                          <a:latin typeface="Calibri"/>
                        </a:rPr>
                        <a:t>+0.46</a:t>
                      </a:r>
                    </a:p>
                  </a:txBody>
                  <a:tcPr/>
                </a:tc>
              </a:tr>
              <a:tr h="182880">
                <a:tc>
                  <a:txBody>
                    <a:bodyPr lIns="54864" rIns="54864" tIns="18288" bIns="18288" wrap="square" anchor="ctr"/>
                    <a:lstStyle/>
                    <a:p>
                      <a:pPr algn="l"/>
                      <a:r>
                        <a:rPr sz="900" b="0">
                          <a:solidFill>
                            <a:srgbClr val="000000"/>
                          </a:solidFill>
                          <a:latin typeface="Calibri"/>
                        </a:rPr>
                        <a:t>18.30</a:t>
                      </a:r>
                    </a:p>
                  </a:txBody>
                  <a:tcPr/>
                </a:tc>
                <a:tc>
                  <a:txBody>
                    <a:bodyPr lIns="54864" rIns="54864" tIns="18288" bIns="18288" wrap="square" anchor="ctr"/>
                    <a:lstStyle/>
                    <a:p>
                      <a:pPr algn="l"/>
                      <a:r>
                        <a:rPr sz="900" b="0">
                          <a:solidFill>
                            <a:srgbClr val="000000"/>
                          </a:solidFill>
                          <a:latin typeface="Calibri"/>
                        </a:rPr>
                        <a:t>0.2400</a:t>
                      </a:r>
                    </a:p>
                  </a:txBody>
                  <a:tcPr/>
                </a:tc>
                <a:tc>
                  <a:txBody>
                    <a:bodyPr lIns="54864" rIns="54864" tIns="18288" bIns="18288" wrap="square" anchor="ctr"/>
                    <a:lstStyle/>
                    <a:p>
                      <a:pPr algn="l"/>
                      <a:r>
                        <a:rPr sz="900" b="0">
                          <a:solidFill>
                            <a:srgbClr val="000000"/>
                          </a:solidFill>
                          <a:latin typeface="Calibri"/>
                        </a:rPr>
                        <a:t>0.2391</a:t>
                      </a:r>
                    </a:p>
                  </a:txBody>
                  <a:tcPr/>
                </a:tc>
                <a:tc>
                  <a:txBody>
                    <a:bodyPr lIns="54864" rIns="54864" tIns="18288" bIns="18288" wrap="square" anchor="ctr"/>
                    <a:lstStyle/>
                    <a:p>
                      <a:pPr algn="l"/>
                      <a:r>
                        <a:rPr sz="900" b="0">
                          <a:solidFill>
                            <a:srgbClr val="000000"/>
                          </a:solidFill>
                          <a:latin typeface="Calibri"/>
                        </a:rPr>
                        <a:t>+9</a:t>
                      </a:r>
                    </a:p>
                  </a:txBody>
                  <a:tcPr/>
                </a:tc>
                <a:tc>
                  <a:txBody>
                    <a:bodyPr lIns="54864" rIns="54864" tIns="18288" bIns="18288" wrap="square" anchor="ctr"/>
                    <a:lstStyle/>
                    <a:p>
                      <a:pPr algn="l"/>
                      <a:r>
                        <a:rPr sz="900" b="0">
                          <a:solidFill>
                            <a:srgbClr val="000000"/>
                          </a:solidFill>
                          <a:latin typeface="Calibri"/>
                        </a:rPr>
                        <a:t>+0.39</a:t>
                      </a:r>
                    </a:p>
                  </a:txBody>
                  <a:tcPr/>
                </a:tc>
              </a:tr>
              <a:tr h="182880">
                <a:tc>
                  <a:txBody>
                    <a:bodyPr lIns="54864" rIns="54864" tIns="18288" bIns="18288" wrap="square" anchor="ctr"/>
                    <a:lstStyle/>
                    <a:p>
                      <a:pPr algn="l"/>
                      <a:r>
                        <a:rPr sz="900" b="0">
                          <a:solidFill>
                            <a:srgbClr val="000000"/>
                          </a:solidFill>
                          <a:latin typeface="Calibri"/>
                        </a:rPr>
                        <a:t>18.35</a:t>
                      </a:r>
                    </a:p>
                  </a:txBody>
                  <a:tcPr/>
                </a:tc>
                <a:tc>
                  <a:txBody>
                    <a:bodyPr lIns="54864" rIns="54864" tIns="18288" bIns="18288" wrap="square" anchor="ctr"/>
                    <a:lstStyle/>
                    <a:p>
                      <a:pPr algn="l"/>
                      <a:r>
                        <a:rPr sz="900" b="0">
                          <a:solidFill>
                            <a:srgbClr val="000000"/>
                          </a:solidFill>
                          <a:latin typeface="Calibri"/>
                        </a:rPr>
                        <a:t>0.2439</a:t>
                      </a:r>
                    </a:p>
                  </a:txBody>
                  <a:tcPr/>
                </a:tc>
                <a:tc>
                  <a:txBody>
                    <a:bodyPr lIns="54864" rIns="54864" tIns="18288" bIns="18288" wrap="square" anchor="ctr"/>
                    <a:lstStyle/>
                    <a:p>
                      <a:pPr algn="l"/>
                      <a:r>
                        <a:rPr sz="900" b="0">
                          <a:solidFill>
                            <a:srgbClr val="000000"/>
                          </a:solidFill>
                          <a:latin typeface="Calibri"/>
                        </a:rPr>
                        <a:t>0.2429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+0.39</a:t>
                      </a:r>
                    </a:p>
                  </a:txBody>
                  <a:tcPr/>
                </a:tc>
              </a:tr>
              <a:tr h="182880">
                <a:tc>
                  <a:txBody>
                    <a:bodyPr lIns="54864" rIns="54864" tIns="18288" bIns="18288" wrap="square" anchor="ctr"/>
                    <a:lstStyle/>
                    <a:p>
                      <a:pPr algn="l"/>
                      <a:r>
                        <a:rPr sz="900" b="0">
                          <a:solidFill>
                            <a:srgbClr val="000000"/>
                          </a:solidFill>
                          <a:latin typeface="Calibri"/>
                        </a:rPr>
                        <a:t>18.40</a:t>
                      </a:r>
                    </a:p>
                  </a:txBody>
                  <a:tcPr/>
                </a:tc>
                <a:tc>
                  <a:txBody>
                    <a:bodyPr lIns="54864" rIns="54864" tIns="18288" bIns="18288" wrap="square" anchor="ctr"/>
                    <a:lstStyle/>
                    <a:p>
                      <a:pPr algn="l"/>
                      <a:r>
                        <a:rPr sz="900" b="0">
                          <a:solidFill>
                            <a:srgbClr val="000000"/>
                          </a:solidFill>
                          <a:latin typeface="Calibri"/>
                        </a:rPr>
                        <a:t>0.2462</a:t>
                      </a:r>
                    </a:p>
                  </a:txBody>
                  <a:tcPr/>
                </a:tc>
                <a:tc>
                  <a:txBody>
                    <a:bodyPr lIns="54864" rIns="54864" tIns="18288" bIns="18288" wrap="square" anchor="ctr"/>
                    <a:lstStyle/>
                    <a:p>
                      <a:pPr algn="l"/>
                      <a:r>
                        <a:rPr sz="900" b="0">
                          <a:solidFill>
                            <a:srgbClr val="000000"/>
                          </a:solidFill>
                          <a:latin typeface="Calibri"/>
                        </a:rPr>
                        <a:t>0.2462</a:t>
                      </a:r>
                    </a:p>
                  </a:txBody>
                  <a:tcPr/>
                </a:tc>
                <a:tc>
                  <a:txBody>
                    <a:bodyPr lIns="54864" rIns="54864" tIns="18288" bIns="18288" wrap="square" anchor="ctr"/>
                    <a:lstStyle/>
                    <a:p>
                      <a:pPr algn="l"/>
                      <a:r>
                        <a:rPr sz="900" b="0">
                          <a:solidFill>
                            <a:srgbClr val="000000"/>
                          </a:solidFill>
                          <a:latin typeface="Calibri"/>
                        </a:rPr>
                        <a:t>-1</a:t>
                      </a:r>
                    </a:p>
                  </a:txBody>
                  <a:tcPr/>
                </a:tc>
                <a:tc>
                  <a:txBody>
                    <a:bodyPr lIns="54864" rIns="54864" tIns="18288" bIns="18288" wrap="square" anchor="ctr"/>
                    <a:lstStyle/>
                    <a:p>
                      <a:pPr algn="l"/>
                      <a:r>
                        <a:rPr sz="900" b="0">
                          <a:solidFill>
                            <a:srgbClr val="000000"/>
                          </a:solidFill>
                          <a:latin typeface="Calibri"/>
                        </a:rPr>
                        <a:t>-0.03</a:t>
                      </a:r>
                    </a:p>
                  </a:txBody>
                  <a:tcPr/>
                </a:tc>
              </a:tr>
              <a:tr h="182880">
                <a:tc>
                  <a:txBody>
                    <a:bodyPr lIns="54864" rIns="54864" tIns="18288" bIns="18288" wrap="square" anchor="ctr"/>
                    <a:lstStyle/>
                    <a:p>
                      <a:pPr algn="l"/>
                      <a:r>
                        <a:rPr sz="900" b="0">
                          <a:solidFill>
                            <a:srgbClr val="000000"/>
                          </a:solidFill>
                          <a:latin typeface="Calibri"/>
                        </a:rPr>
                        <a:t>18.45</a:t>
                      </a:r>
                    </a:p>
                  </a:txBody>
                  <a:tcPr/>
                </a:tc>
                <a:tc>
                  <a:txBody>
                    <a:bodyPr lIns="54864" rIns="54864" tIns="18288" bIns="18288" wrap="square" anchor="ctr"/>
                    <a:lstStyle/>
                    <a:p>
                      <a:pPr algn="l"/>
                      <a:r>
                        <a:rPr sz="900" b="0">
                          <a:solidFill>
                            <a:srgbClr val="000000"/>
                          </a:solidFill>
                          <a:latin typeface="Calibri"/>
                        </a:rPr>
                        <a:t>0.2506</a:t>
                      </a:r>
                    </a:p>
                  </a:txBody>
                  <a:tcPr/>
                </a:tc>
                <a:tc>
                  <a:txBody>
                    <a:bodyPr lIns="54864" rIns="54864" tIns="18288" bIns="18288" wrap="square" anchor="ctr"/>
                    <a:lstStyle/>
                    <a:p>
                      <a:pPr algn="l"/>
                      <a:r>
                        <a:rPr sz="900" b="0">
                          <a:solidFill>
                            <a:srgbClr val="000000"/>
                          </a:solidFill>
                          <a:latin typeface="Calibri"/>
                        </a:rPr>
                        <a:t>0.2503</a:t>
                      </a:r>
                    </a:p>
                  </a:txBody>
                  <a:tcPr/>
                </a:tc>
                <a:tc>
                  <a:txBody>
                    <a:bodyPr lIns="54864" rIns="54864" tIns="18288" bIns="18288" wrap="square" anchor="ctr"/>
                    <a:lstStyle/>
                    <a:p>
                      <a:pPr algn="l"/>
                      <a:r>
                        <a:rPr sz="900" b="0">
                          <a:solidFill>
                            <a:srgbClr val="000000"/>
                          </a:solidFill>
                          <a:latin typeface="Calibri"/>
                        </a:rPr>
                        <a:t>+3</a:t>
                      </a:r>
                    </a:p>
                  </a:txBody>
                  <a:tcPr/>
                </a:tc>
                <a:tc>
                  <a:txBody>
                    <a:bodyPr lIns="54864" rIns="54864" tIns="18288" bIns="18288" wrap="square" anchor="ctr"/>
                    <a:lstStyle/>
                    <a:p>
                      <a:pPr algn="l"/>
                      <a:r>
                        <a:rPr sz="900" b="0">
                          <a:solidFill>
                            <a:srgbClr val="000000"/>
                          </a:solidFill>
                          <a:latin typeface="Calibri"/>
                        </a:rPr>
                        <a:t>+0.12</a:t>
                      </a:r>
                    </a:p>
                  </a:txBody>
                  <a:tcPr/>
                </a:tc>
              </a:tr>
              <a:tr h="182880">
                <a:tc>
                  <a:txBody>
                    <a:bodyPr lIns="54864" rIns="54864" tIns="18288" bIns="18288" wrap="square" anchor="ctr"/>
                    <a:lstStyle/>
                    <a:p>
                      <a:pPr algn="l"/>
                      <a:r>
                        <a:rPr sz="900" b="0">
                          <a:solidFill>
                            <a:srgbClr val="000000"/>
                          </a:solidFill>
                          <a:latin typeface="Calibri"/>
                        </a:rPr>
                        <a:t>18.50</a:t>
                      </a:r>
                    </a:p>
                  </a:txBody>
                  <a:tcPr/>
                </a:tc>
                <a:tc>
                  <a:txBody>
                    <a:bodyPr lIns="54864" rIns="54864" tIns="18288" bIns="18288" wrap="square" anchor="ctr"/>
                    <a:lstStyle/>
                    <a:p>
                      <a:pPr algn="l"/>
                      <a:r>
                        <a:rPr sz="900" b="0">
                          <a:solidFill>
                            <a:srgbClr val="000000"/>
                          </a:solidFill>
                          <a:latin typeface="Calibri"/>
                        </a:rPr>
                        <a:t>0.2546</a:t>
                      </a:r>
                    </a:p>
                  </a:txBody>
                  <a:tcPr/>
                </a:tc>
                <a:tc>
                  <a:txBody>
                    <a:bodyPr lIns="54864" rIns="54864" tIns="18288" bIns="18288" wrap="square" anchor="ctr"/>
                    <a:lstStyle/>
                    <a:p>
                      <a:pPr algn="l"/>
                      <a:r>
                        <a:rPr sz="900" b="0">
                          <a:solidFill>
                            <a:srgbClr val="000000"/>
                          </a:solidFill>
                          <a:latin typeface="Calibri"/>
                        </a:rPr>
                        <a:t>0.2541</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+0.20</a:t>
                      </a:r>
                    </a:p>
                  </a:txBody>
                  <a:tcPr/>
                </a:tc>
              </a:tr>
              <a:tr h="182880">
                <a:tc>
                  <a:txBody>
                    <a:bodyPr lIns="54864" rIns="54864" tIns="18288" bIns="18288" wrap="square" anchor="ctr"/>
                    <a:lstStyle/>
                    <a:p>
                      <a:pPr algn="l"/>
                      <a:r>
                        <a:rPr sz="900" b="0">
                          <a:solidFill>
                            <a:srgbClr val="000000"/>
                          </a:solidFill>
                          <a:latin typeface="Calibri"/>
                        </a:rPr>
                        <a:t>18.55</a:t>
                      </a:r>
                    </a:p>
                  </a:txBody>
                  <a:tcPr/>
                </a:tc>
                <a:tc>
                  <a:txBody>
                    <a:bodyPr lIns="54864" rIns="54864" tIns="18288" bIns="18288" wrap="square" anchor="ctr"/>
                    <a:lstStyle/>
                    <a:p>
                      <a:pPr algn="l"/>
                      <a:r>
                        <a:rPr sz="900" b="0">
                          <a:solidFill>
                            <a:srgbClr val="000000"/>
                          </a:solidFill>
                          <a:latin typeface="Calibri"/>
                        </a:rPr>
                        <a:t>0.2591</a:t>
                      </a:r>
                    </a:p>
                  </a:txBody>
                  <a:tcPr/>
                </a:tc>
                <a:tc>
                  <a:txBody>
                    <a:bodyPr lIns="54864" rIns="54864" tIns="18288" bIns="18288" wrap="square" anchor="ctr"/>
                    <a:lstStyle/>
                    <a:p>
                      <a:pPr algn="l"/>
                      <a:r>
                        <a:rPr sz="900" b="0">
                          <a:solidFill>
                            <a:srgbClr val="000000"/>
                          </a:solidFill>
                          <a:latin typeface="Calibri"/>
                        </a:rPr>
                        <a:t>0.2581</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+0.39</a:t>
                      </a:r>
                    </a:p>
                  </a:txBody>
                  <a:tcPr/>
                </a:tc>
              </a:tr>
              <a:tr h="182880">
                <a:tc>
                  <a:txBody>
                    <a:bodyPr lIns="54864" rIns="54864" tIns="18288" bIns="18288" wrap="square" anchor="ctr"/>
                    <a:lstStyle/>
                    <a:p>
                      <a:pPr algn="l"/>
                      <a:r>
                        <a:rPr sz="900" b="0">
                          <a:solidFill>
                            <a:srgbClr val="000000"/>
                          </a:solidFill>
                          <a:latin typeface="Calibri"/>
                        </a:rPr>
                        <a:t>18.60</a:t>
                      </a:r>
                    </a:p>
                  </a:txBody>
                  <a:tcPr/>
                </a:tc>
                <a:tc>
                  <a:txBody>
                    <a:bodyPr lIns="54864" rIns="54864" tIns="18288" bIns="18288" wrap="square" anchor="ctr"/>
                    <a:lstStyle/>
                    <a:p>
                      <a:pPr algn="l"/>
                      <a:r>
                        <a:rPr sz="900" b="0">
                          <a:solidFill>
                            <a:srgbClr val="000000"/>
                          </a:solidFill>
                          <a:latin typeface="Calibri"/>
                        </a:rPr>
                        <a:t>0.2631</a:t>
                      </a:r>
                    </a:p>
                  </a:txBody>
                  <a:tcPr/>
                </a:tc>
                <a:tc>
                  <a:txBody>
                    <a:bodyPr lIns="54864" rIns="54864" tIns="18288" bIns="18288" wrap="square" anchor="ctr"/>
                    <a:lstStyle/>
                    <a:p>
                      <a:pPr algn="l"/>
                      <a:r>
                        <a:rPr sz="900" b="0">
                          <a:solidFill>
                            <a:srgbClr val="000000"/>
                          </a:solidFill>
                          <a:latin typeface="Calibri"/>
                        </a:rPr>
                        <a:t>0.2624</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+0.27</a:t>
                      </a:r>
                    </a:p>
                  </a:txBody>
                  <a:tcPr/>
                </a:tc>
              </a:tr>
              <a:tr h="182880">
                <a:tc>
                  <a:txBody>
                    <a:bodyPr lIns="54864" rIns="54864" tIns="18288" bIns="18288" wrap="square" anchor="ctr"/>
                    <a:lstStyle/>
                    <a:p>
                      <a:pPr algn="l"/>
                      <a:r>
                        <a:rPr sz="900" b="0">
                          <a:solidFill>
                            <a:srgbClr val="000000"/>
                          </a:solidFill>
                          <a:latin typeface="Calibri"/>
                        </a:rPr>
                        <a:t>18.65</a:t>
                      </a:r>
                    </a:p>
                  </a:txBody>
                  <a:tcPr/>
                </a:tc>
                <a:tc>
                  <a:txBody>
                    <a:bodyPr lIns="54864" rIns="54864" tIns="18288" bIns="18288" wrap="square" anchor="ctr"/>
                    <a:lstStyle/>
                    <a:p>
                      <a:pPr algn="l"/>
                      <a:r>
                        <a:rPr sz="900" b="0">
                          <a:solidFill>
                            <a:srgbClr val="000000"/>
                          </a:solidFill>
                          <a:latin typeface="Calibri"/>
                        </a:rPr>
                        <a:t>0.2669</a:t>
                      </a:r>
                    </a:p>
                  </a:txBody>
                  <a:tcPr/>
                </a:tc>
                <a:tc>
                  <a:txBody>
                    <a:bodyPr lIns="54864" rIns="54864" tIns="18288" bIns="18288" wrap="square" anchor="ctr"/>
                    <a:lstStyle/>
                    <a:p>
                      <a:pPr algn="l"/>
                      <a:r>
                        <a:rPr sz="900" b="0">
                          <a:solidFill>
                            <a:srgbClr val="000000"/>
                          </a:solidFill>
                          <a:latin typeface="Calibri"/>
                        </a:rPr>
                        <a:t>0.2659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+0.36</a:t>
                      </a:r>
                    </a:p>
                  </a:txBody>
                  <a:tcPr/>
                </a:tc>
              </a:tr>
              <a:tr h="182880">
                <a:tc>
                  <a:txBody>
                    <a:bodyPr lIns="54864" rIns="54864" tIns="18288" bIns="18288" wrap="square" anchor="ctr"/>
                    <a:lstStyle/>
                    <a:p>
                      <a:pPr algn="l"/>
                      <a:r>
                        <a:rPr sz="900" b="0">
                          <a:solidFill>
                            <a:srgbClr val="000000"/>
                          </a:solidFill>
                          <a:latin typeface="Calibri"/>
                        </a:rPr>
                        <a:t>18.70</a:t>
                      </a:r>
                    </a:p>
                  </a:txBody>
                  <a:tcPr/>
                </a:tc>
                <a:tc>
                  <a:txBody>
                    <a:bodyPr lIns="54864" rIns="54864" tIns="18288" bIns="18288" wrap="square" anchor="ctr"/>
                    <a:lstStyle/>
                    <a:p>
                      <a:pPr algn="l"/>
                      <a:r>
                        <a:rPr sz="900" b="0">
                          <a:solidFill>
                            <a:srgbClr val="000000"/>
                          </a:solidFill>
                          <a:latin typeface="Calibri"/>
                        </a:rPr>
                        <a:t>0.2701</a:t>
                      </a:r>
                    </a:p>
                  </a:txBody>
                  <a:tcPr/>
                </a:tc>
                <a:tc>
                  <a:txBody>
                    <a:bodyPr lIns="54864" rIns="54864" tIns="18288" bIns="18288" wrap="square" anchor="ctr"/>
                    <a:lstStyle/>
                    <a:p>
                      <a:pPr algn="l"/>
                      <a:r>
                        <a:rPr sz="900" b="0">
                          <a:solidFill>
                            <a:srgbClr val="000000"/>
                          </a:solidFill>
                          <a:latin typeface="Calibri"/>
                        </a:rPr>
                        <a:t>0.2694</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+0.27</a:t>
                      </a:r>
                    </a:p>
                  </a:txBody>
                  <a:tcPr/>
                </a:tc>
              </a:tr>
              <a:tr h="182880">
                <a:tc>
                  <a:txBody>
                    <a:bodyPr lIns="54864" rIns="54864" tIns="18288" bIns="18288" wrap="square" anchor="ctr"/>
                    <a:lstStyle/>
                    <a:p>
                      <a:pPr algn="l"/>
                      <a:r>
                        <a:rPr sz="900" b="0">
                          <a:solidFill>
                            <a:srgbClr val="000000"/>
                          </a:solidFill>
                          <a:latin typeface="Calibri"/>
                        </a:rPr>
                        <a:t>18.75</a:t>
                      </a:r>
                    </a:p>
                  </a:txBody>
                  <a:tcPr/>
                </a:tc>
                <a:tc>
                  <a:txBody>
                    <a:bodyPr lIns="54864" rIns="54864" tIns="18288" bIns="18288" wrap="square" anchor="ctr"/>
                    <a:lstStyle/>
                    <a:p>
                      <a:pPr algn="l"/>
                      <a:r>
                        <a:rPr sz="900" b="0">
                          <a:solidFill>
                            <a:srgbClr val="000000"/>
                          </a:solidFill>
                          <a:latin typeface="Calibri"/>
                        </a:rPr>
                        <a:t>0.2737</a:t>
                      </a:r>
                    </a:p>
                  </a:txBody>
                  <a:tcPr/>
                </a:tc>
                <a:tc>
                  <a:txBody>
                    <a:bodyPr lIns="54864" rIns="54864" tIns="18288" bIns="18288" wrap="square" anchor="ctr"/>
                    <a:lstStyle/>
                    <a:p>
                      <a:pPr algn="l"/>
                      <a:r>
                        <a:rPr sz="900" b="0">
                          <a:solidFill>
                            <a:srgbClr val="000000"/>
                          </a:solidFill>
                          <a:latin typeface="Calibri"/>
                        </a:rPr>
                        <a:t>0.2735</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+0.07</a:t>
                      </a:r>
                    </a:p>
                  </a:txBody>
                  <a:tcPr/>
                </a:tc>
              </a:tr>
              <a:tr h="182880">
                <a:tc>
                  <a:txBody>
                    <a:bodyPr lIns="54864" rIns="54864" tIns="18288" bIns="18288" wrap="square" anchor="ctr"/>
                    <a:lstStyle/>
                    <a:p>
                      <a:pPr algn="l"/>
                      <a:r>
                        <a:rPr sz="900" b="0">
                          <a:solidFill>
                            <a:srgbClr val="000000"/>
                          </a:solidFill>
                          <a:latin typeface="Calibri"/>
                        </a:rPr>
                        <a:t>18.80</a:t>
                      </a:r>
                    </a:p>
                  </a:txBody>
                  <a:tcPr/>
                </a:tc>
                <a:tc>
                  <a:txBody>
                    <a:bodyPr lIns="54864" rIns="54864" tIns="18288" bIns="18288" wrap="square" anchor="ctr"/>
                    <a:lstStyle/>
                    <a:p>
                      <a:pPr algn="l"/>
                      <a:r>
                        <a:rPr sz="900" b="0">
                          <a:solidFill>
                            <a:srgbClr val="000000"/>
                          </a:solidFill>
                          <a:latin typeface="Calibri"/>
                        </a:rPr>
                        <a:t>0.2780</a:t>
                      </a:r>
                    </a:p>
                  </a:txBody>
                  <a:tcPr/>
                </a:tc>
                <a:tc>
                  <a:txBody>
                    <a:bodyPr lIns="54864" rIns="54864" tIns="18288" bIns="18288" wrap="square" anchor="ctr"/>
                    <a:lstStyle/>
                    <a:p>
                      <a:pPr algn="l"/>
                      <a:r>
                        <a:rPr sz="900" b="0">
                          <a:solidFill>
                            <a:srgbClr val="000000"/>
                          </a:solidFill>
                          <a:latin typeface="Calibri"/>
                        </a:rPr>
                        <a:t>0.2773</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+0.25</a:t>
                      </a:r>
                    </a:p>
                  </a:txBody>
                  <a:tcPr/>
                </a:tc>
              </a:tr>
              <a:tr h="182880">
                <a:tc>
                  <a:txBody>
                    <a:bodyPr lIns="54864" rIns="54864" tIns="18288" bIns="18288" wrap="square" anchor="ctr"/>
                    <a:lstStyle/>
                    <a:p>
                      <a:pPr algn="l"/>
                      <a:r>
                        <a:rPr sz="900" b="0">
                          <a:solidFill>
                            <a:srgbClr val="000000"/>
                          </a:solidFill>
                          <a:latin typeface="Calibri"/>
                        </a:rPr>
                        <a:t>18.85</a:t>
                      </a:r>
                    </a:p>
                  </a:txBody>
                  <a:tcPr/>
                </a:tc>
                <a:tc>
                  <a:txBody>
                    <a:bodyPr lIns="54864" rIns="54864" tIns="18288" bIns="18288" wrap="square" anchor="ctr"/>
                    <a:lstStyle/>
                    <a:p>
                      <a:pPr algn="l"/>
                      <a:r>
                        <a:rPr sz="900" b="0">
                          <a:solidFill>
                            <a:srgbClr val="000000"/>
                          </a:solidFill>
                          <a:latin typeface="Calibri"/>
                        </a:rPr>
                        <a:t>0.2814</a:t>
                      </a:r>
                    </a:p>
                  </a:txBody>
                  <a:tcPr/>
                </a:tc>
                <a:tc>
                  <a:txBody>
                    <a:bodyPr lIns="54864" rIns="54864" tIns="18288" bIns="18288" wrap="square" anchor="ctr"/>
                    <a:lstStyle/>
                    <a:p>
                      <a:pPr algn="l"/>
                      <a:r>
                        <a:rPr sz="900" b="0">
                          <a:solidFill>
                            <a:srgbClr val="000000"/>
                          </a:solidFill>
                          <a:latin typeface="Calibri"/>
                        </a:rPr>
                        <a:t>0.2806</a:t>
                      </a:r>
                    </a:p>
                  </a:txBody>
                  <a:tcPr/>
                </a:tc>
                <a:tc>
                  <a:txBody>
                    <a:bodyPr lIns="54864" rIns="54864" tIns="18288" bIns="18288" wrap="square" anchor="ctr"/>
                    <a:lstStyle/>
                    <a:p>
                      <a:pPr algn="l"/>
                      <a:r>
                        <a:rPr sz="900" b="0">
                          <a:solidFill>
                            <a:srgbClr val="000000"/>
                          </a:solidFill>
                          <a:latin typeface="Calibri"/>
                        </a:rPr>
                        <a:t>+8</a:t>
                      </a:r>
                    </a:p>
                  </a:txBody>
                  <a:tcPr/>
                </a:tc>
                <a:tc>
                  <a:txBody>
                    <a:bodyPr lIns="54864" rIns="54864" tIns="18288" bIns="18288" wrap="square" anchor="ctr"/>
                    <a:lstStyle/>
                    <a:p>
                      <a:pPr algn="l"/>
                      <a:r>
                        <a:rPr sz="900" b="0">
                          <a:solidFill>
                            <a:srgbClr val="000000"/>
                          </a:solidFill>
                          <a:latin typeface="Calibri"/>
                        </a:rPr>
                        <a:t>+0.29</a:t>
                      </a:r>
                    </a:p>
                  </a:txBody>
                  <a:tcPr/>
                </a:tc>
              </a:tr>
              <a:tr h="182880">
                <a:tc>
                  <a:txBody>
                    <a:bodyPr lIns="54864" rIns="54864" tIns="18288" bIns="18288" wrap="square" anchor="ctr"/>
                    <a:lstStyle/>
                    <a:p>
                      <a:pPr algn="l"/>
                      <a:r>
                        <a:rPr sz="900" b="0">
                          <a:solidFill>
                            <a:srgbClr val="000000"/>
                          </a:solidFill>
                          <a:latin typeface="Calibri"/>
                        </a:rPr>
                        <a:t>18.90</a:t>
                      </a:r>
                    </a:p>
                  </a:txBody>
                  <a:tcPr/>
                </a:tc>
                <a:tc>
                  <a:txBody>
                    <a:bodyPr lIns="54864" rIns="54864" tIns="18288" bIns="18288" wrap="square" anchor="ctr"/>
                    <a:lstStyle/>
                    <a:p>
                      <a:pPr algn="l"/>
                      <a:r>
                        <a:rPr sz="900" b="0">
                          <a:solidFill>
                            <a:srgbClr val="000000"/>
                          </a:solidFill>
                          <a:latin typeface="Calibri"/>
                        </a:rPr>
                        <a:t>0.2857</a:t>
                      </a:r>
                    </a:p>
                  </a:txBody>
                  <a:tcPr/>
                </a:tc>
                <a:tc>
                  <a:txBody>
                    <a:bodyPr lIns="54864" rIns="54864" tIns="18288" bIns="18288" wrap="square" anchor="ctr"/>
                    <a:lstStyle/>
                    <a:p>
                      <a:pPr algn="l"/>
                      <a:r>
                        <a:rPr sz="900" b="0">
                          <a:solidFill>
                            <a:srgbClr val="000000"/>
                          </a:solidFill>
                          <a:latin typeface="Calibri"/>
                        </a:rPr>
                        <a:t>0.2846</a:t>
                      </a:r>
                    </a:p>
                  </a:txBody>
                  <a:tcPr/>
                </a:tc>
                <a:tc>
                  <a:txBody>
                    <a:bodyPr lIns="54864" rIns="54864" tIns="18288" bIns="18288" wrap="square" anchor="ctr"/>
                    <a:lstStyle/>
                    <a:p>
                      <a:pPr algn="l"/>
                      <a:r>
                        <a:rPr sz="900" b="0">
                          <a:solidFill>
                            <a:srgbClr val="000000"/>
                          </a:solidFill>
                          <a:latin typeface="Calibri"/>
                        </a:rPr>
                        <a:t>+11</a:t>
                      </a:r>
                    </a:p>
                  </a:txBody>
                  <a:tcPr/>
                </a:tc>
                <a:tc>
                  <a:txBody>
                    <a:bodyPr lIns="54864" rIns="54864" tIns="18288" bIns="18288" wrap="square" anchor="ctr"/>
                    <a:lstStyle/>
                    <a:p>
                      <a:pPr algn="l"/>
                      <a:r>
                        <a:rPr sz="900" b="0">
                          <a:solidFill>
                            <a:srgbClr val="000000"/>
                          </a:solidFill>
                          <a:latin typeface="Calibri"/>
                        </a:rPr>
                        <a:t>+0.39</a:t>
                      </a:r>
                    </a:p>
                  </a:txBody>
                  <a:tcPr/>
                </a:tc>
              </a:tr>
            </a:tbl>
          </a:graphicData>
        </a:graphic>
      </p:graphicFrame>
      <p:graphicFrame>
        <p:nvGraphicFramePr>
          <p:cNvPr id="7" name="Table 6"/>
          <p:cNvGraphicFramePr>
            <a:graphicFrameLocks noGrp="1"/>
          </p:cNvGraphicFramePr>
          <p:nvPr/>
        </p:nvGraphicFramePr>
        <p:xfrm>
          <a:off x="6217920" y="1408176"/>
          <a:ext cx="5394960" cy="3840480"/>
        </p:xfrm>
        <a:graphic>
          <a:graphicData uri="http://schemas.openxmlformats.org/drawingml/2006/table">
            <a:tbl>
              <a:tblPr firstRow="1" bandRow="1">
                <a:tableStyleId>{5C22544A-7EE6-4342-B048-85BDC9FD1C3A}</a:tableStyleId>
              </a:tblPr>
              <a:tblGrid>
                <a:gridCol w="960120"/>
                <a:gridCol w="1188720"/>
                <a:gridCol w="1143000"/>
                <a:gridCol w="960120"/>
                <a:gridCol w="1143000"/>
              </a:tblGrid>
              <a:tr h="182880">
                <a:tc>
                  <a:txBody>
                    <a:bodyPr lIns="54864" rIns="54864" tIns="18288" bIns="18288" wrap="square" anchor="ctr"/>
                    <a:lstStyle/>
                    <a:p>
                      <a:pPr algn="l"/>
                      <a:r>
                        <a:rPr sz="950" b="1">
                          <a:solidFill>
                            <a:srgbClr val="FFFFFF"/>
                          </a:solidFill>
                          <a:latin typeface="Calibri"/>
                        </a:rPr>
                        <a:t>t (s)</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XT-205</a:t>
                      </a:r>
                    </a:p>
                  </a:txBody>
                  <a:tcPr>
                    <a:solidFill>
                      <a:srgbClr val="143D2F"/>
                    </a:solidFill>
                  </a:tcPr>
                </a:tc>
                <a:tc>
                  <a:txBody>
                    <a:bodyPr lIns="54864" rIns="54864" tIns="18288" bIns="18288" wrap="square" anchor="ctr"/>
                    <a:lstStyle/>
                    <a:p>
                      <a:pPr algn="l"/>
                      <a:r>
                        <a:rPr sz="950" b="1">
                          <a:solidFill>
                            <a:srgbClr val="FFFFFF"/>
                          </a:solidFill>
                          <a:latin typeface="Calibri"/>
                        </a:rPr>
                        <a:t>Δ µε</a:t>
                      </a:r>
                    </a:p>
                  </a:txBody>
                  <a:tcPr>
                    <a:solidFill>
                      <a:srgbClr val="143D2F"/>
                    </a:solidFill>
                  </a:tcPr>
                </a:tc>
                <a:tc>
                  <a:txBody>
                    <a:bodyPr lIns="54864" rIns="54864" tIns="18288" bIns="18288" wrap="square" anchor="ctr"/>
                    <a:lstStyle/>
                    <a:p>
                      <a:pPr algn="l"/>
                      <a:r>
                        <a:rPr sz="950" b="1">
                          <a:solidFill>
                            <a:srgbClr val="FFFFFF"/>
                          </a:solidFill>
                          <a:latin typeface="Calibri"/>
                        </a:rPr>
                        <a:t>Δ %</a:t>
                      </a:r>
                    </a:p>
                  </a:txBody>
                  <a:tcPr>
                    <a:solidFill>
                      <a:srgbClr val="143D2F"/>
                    </a:solidFill>
                  </a:tcPr>
                </a:tc>
              </a:tr>
              <a:tr h="182880">
                <a:tc>
                  <a:txBody>
                    <a:bodyPr lIns="54864" rIns="54864" tIns="18288" bIns="18288" wrap="square" anchor="ctr"/>
                    <a:lstStyle/>
                    <a:p>
                      <a:pPr algn="l"/>
                      <a:r>
                        <a:rPr sz="900" b="0">
                          <a:solidFill>
                            <a:srgbClr val="000000"/>
                          </a:solidFill>
                          <a:latin typeface="Calibri"/>
                        </a:rPr>
                        <a:t>18.95</a:t>
                      </a:r>
                    </a:p>
                  </a:txBody>
                  <a:tcPr/>
                </a:tc>
                <a:tc>
                  <a:txBody>
                    <a:bodyPr lIns="54864" rIns="54864" tIns="18288" bIns="18288" wrap="square" anchor="ctr"/>
                    <a:lstStyle/>
                    <a:p>
                      <a:pPr algn="l"/>
                      <a:r>
                        <a:rPr sz="900" b="0">
                          <a:solidFill>
                            <a:srgbClr val="000000"/>
                          </a:solidFill>
                          <a:latin typeface="Calibri"/>
                        </a:rPr>
                        <a:t>0.2898</a:t>
                      </a:r>
                    </a:p>
                  </a:txBody>
                  <a:tcPr/>
                </a:tc>
                <a:tc>
                  <a:txBody>
                    <a:bodyPr lIns="54864" rIns="54864" tIns="18288" bIns="18288" wrap="square" anchor="ctr"/>
                    <a:lstStyle/>
                    <a:p>
                      <a:pPr algn="l"/>
                      <a:r>
                        <a:rPr sz="900" b="0">
                          <a:solidFill>
                            <a:srgbClr val="000000"/>
                          </a:solidFill>
                          <a:latin typeface="Calibri"/>
                        </a:rPr>
                        <a:t>0.2888</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+0.35</a:t>
                      </a:r>
                    </a:p>
                  </a:txBody>
                  <a:tcPr/>
                </a:tc>
              </a:tr>
              <a:tr h="182880">
                <a:tc>
                  <a:txBody>
                    <a:bodyPr lIns="54864" rIns="54864" tIns="18288" bIns="18288" wrap="square" anchor="ctr"/>
                    <a:lstStyle/>
                    <a:p>
                      <a:pPr algn="l"/>
                      <a:r>
                        <a:rPr sz="900" b="0">
                          <a:solidFill>
                            <a:srgbClr val="000000"/>
                          </a:solidFill>
                          <a:latin typeface="Calibri"/>
                        </a:rPr>
                        <a:t>19.00</a:t>
                      </a:r>
                    </a:p>
                  </a:txBody>
                  <a:tcPr/>
                </a:tc>
                <a:tc>
                  <a:txBody>
                    <a:bodyPr lIns="54864" rIns="54864" tIns="18288" bIns="18288" wrap="square" anchor="ctr"/>
                    <a:lstStyle/>
                    <a:p>
                      <a:pPr algn="l"/>
                      <a:r>
                        <a:rPr sz="900" b="0">
                          <a:solidFill>
                            <a:srgbClr val="000000"/>
                          </a:solidFill>
                          <a:latin typeface="Calibri"/>
                        </a:rPr>
                        <a:t>0.2929</a:t>
                      </a:r>
                    </a:p>
                  </a:txBody>
                  <a:tcPr/>
                </a:tc>
                <a:tc>
                  <a:txBody>
                    <a:bodyPr lIns="54864" rIns="54864" tIns="18288" bIns="18288" wrap="square" anchor="ctr"/>
                    <a:lstStyle/>
                    <a:p>
                      <a:pPr algn="l"/>
                      <a:r>
                        <a:rPr sz="900" b="0">
                          <a:solidFill>
                            <a:srgbClr val="000000"/>
                          </a:solidFill>
                          <a:latin typeface="Calibri"/>
                        </a:rPr>
                        <a:t>0.2927</a:t>
                      </a:r>
                    </a:p>
                  </a:txBody>
                  <a:tcPr/>
                </a:tc>
                <a:tc>
                  <a:txBody>
                    <a:bodyPr lIns="54864" rIns="54864" tIns="18288" bIns="18288" wrap="square" anchor="ctr"/>
                    <a:lstStyle/>
                    <a:p>
                      <a:pPr algn="l"/>
                      <a:r>
                        <a:rPr sz="900" b="0">
                          <a:solidFill>
                            <a:srgbClr val="000000"/>
                          </a:solidFill>
                          <a:latin typeface="Calibri"/>
                        </a:rPr>
                        <a:t>+2</a:t>
                      </a:r>
                    </a:p>
                  </a:txBody>
                  <a:tcPr/>
                </a:tc>
                <a:tc>
                  <a:txBody>
                    <a:bodyPr lIns="54864" rIns="54864" tIns="18288" bIns="18288" wrap="square" anchor="ctr"/>
                    <a:lstStyle/>
                    <a:p>
                      <a:pPr algn="l"/>
                      <a:r>
                        <a:rPr sz="900" b="0">
                          <a:solidFill>
                            <a:srgbClr val="000000"/>
                          </a:solidFill>
                          <a:latin typeface="Calibri"/>
                        </a:rPr>
                        <a:t>+0.06</a:t>
                      </a:r>
                    </a:p>
                  </a:txBody>
                  <a:tcPr/>
                </a:tc>
              </a:tr>
              <a:tr h="182880">
                <a:tc>
                  <a:txBody>
                    <a:bodyPr lIns="54864" rIns="54864" tIns="18288" bIns="18288" wrap="square" anchor="ctr"/>
                    <a:lstStyle/>
                    <a:p>
                      <a:pPr algn="l"/>
                      <a:r>
                        <a:rPr sz="900" b="0">
                          <a:solidFill>
                            <a:srgbClr val="000000"/>
                          </a:solidFill>
                          <a:latin typeface="Calibri"/>
                        </a:rPr>
                        <a:t>19.05</a:t>
                      </a:r>
                    </a:p>
                  </a:txBody>
                  <a:tcPr/>
                </a:tc>
                <a:tc>
                  <a:txBody>
                    <a:bodyPr lIns="54864" rIns="54864" tIns="18288" bIns="18288" wrap="square" anchor="ctr"/>
                    <a:lstStyle/>
                    <a:p>
                      <a:pPr algn="l"/>
                      <a:r>
                        <a:rPr sz="900" b="0">
                          <a:solidFill>
                            <a:srgbClr val="000000"/>
                          </a:solidFill>
                          <a:latin typeface="Calibri"/>
                        </a:rPr>
                        <a:t>0.2967</a:t>
                      </a:r>
                    </a:p>
                  </a:txBody>
                  <a:tcPr/>
                </a:tc>
                <a:tc>
                  <a:txBody>
                    <a:bodyPr lIns="54864" rIns="54864" tIns="18288" bIns="18288" wrap="square" anchor="ctr"/>
                    <a:lstStyle/>
                    <a:p>
                      <a:pPr algn="l"/>
                      <a:r>
                        <a:rPr sz="900" b="0">
                          <a:solidFill>
                            <a:srgbClr val="000000"/>
                          </a:solidFill>
                          <a:latin typeface="Calibri"/>
                        </a:rPr>
                        <a:t>0.2962</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+0.17</a:t>
                      </a:r>
                    </a:p>
                  </a:txBody>
                  <a:tcPr/>
                </a:tc>
              </a:tr>
              <a:tr h="182880">
                <a:tc>
                  <a:txBody>
                    <a:bodyPr lIns="54864" rIns="54864" tIns="18288" bIns="18288" wrap="square" anchor="ctr"/>
                    <a:lstStyle/>
                    <a:p>
                      <a:pPr algn="l"/>
                      <a:r>
                        <a:rPr sz="900" b="0">
                          <a:solidFill>
                            <a:srgbClr val="000000"/>
                          </a:solidFill>
                          <a:latin typeface="Calibri"/>
                        </a:rPr>
                        <a:t>19.10</a:t>
                      </a:r>
                    </a:p>
                  </a:txBody>
                  <a:tcPr/>
                </a:tc>
                <a:tc>
                  <a:txBody>
                    <a:bodyPr lIns="54864" rIns="54864" tIns="18288" bIns="18288" wrap="square" anchor="ctr"/>
                    <a:lstStyle/>
                    <a:p>
                      <a:pPr algn="l"/>
                      <a:r>
                        <a:rPr sz="900" b="0">
                          <a:solidFill>
                            <a:srgbClr val="000000"/>
                          </a:solidFill>
                          <a:latin typeface="Calibri"/>
                        </a:rPr>
                        <a:t>0.3009</a:t>
                      </a:r>
                    </a:p>
                  </a:txBody>
                  <a:tcPr/>
                </a:tc>
                <a:tc>
                  <a:txBody>
                    <a:bodyPr lIns="54864" rIns="54864" tIns="18288" bIns="18288" wrap="square" anchor="ctr"/>
                    <a:lstStyle/>
                    <a:p>
                      <a:pPr algn="l"/>
                      <a:r>
                        <a:rPr sz="900" b="0">
                          <a:solidFill>
                            <a:srgbClr val="000000"/>
                          </a:solidFill>
                          <a:latin typeface="Calibri"/>
                        </a:rPr>
                        <a:t>0.2999</a:t>
                      </a:r>
                    </a:p>
                  </a:txBody>
                  <a:tcPr/>
                </a:tc>
                <a:tc>
                  <a:txBody>
                    <a:bodyPr lIns="54864" rIns="54864" tIns="18288" bIns="18288" wrap="square" anchor="ctr"/>
                    <a:lstStyle/>
                    <a:p>
                      <a:pPr algn="l"/>
                      <a:r>
                        <a:rPr sz="900" b="0">
                          <a:solidFill>
                            <a:srgbClr val="000000"/>
                          </a:solidFill>
                          <a:latin typeface="Calibri"/>
                        </a:rPr>
                        <a:t>+10</a:t>
                      </a:r>
                    </a:p>
                  </a:txBody>
                  <a:tcPr/>
                </a:tc>
                <a:tc>
                  <a:txBody>
                    <a:bodyPr lIns="54864" rIns="54864" tIns="18288" bIns="18288" wrap="square" anchor="ctr"/>
                    <a:lstStyle/>
                    <a:p>
                      <a:pPr algn="l"/>
                      <a:r>
                        <a:rPr sz="900" b="0">
                          <a:solidFill>
                            <a:srgbClr val="000000"/>
                          </a:solidFill>
                          <a:latin typeface="Calibri"/>
                        </a:rPr>
                        <a:t>+0.34</a:t>
                      </a:r>
                    </a:p>
                  </a:txBody>
                  <a:tcPr/>
                </a:tc>
              </a:tr>
              <a:tr h="182880">
                <a:tc>
                  <a:txBody>
                    <a:bodyPr lIns="54864" rIns="54864" tIns="18288" bIns="18288" wrap="square" anchor="ctr"/>
                    <a:lstStyle/>
                    <a:p>
                      <a:pPr algn="l"/>
                      <a:r>
                        <a:rPr sz="900" b="0">
                          <a:solidFill>
                            <a:srgbClr val="000000"/>
                          </a:solidFill>
                          <a:latin typeface="Calibri"/>
                        </a:rPr>
                        <a:t>19.15</a:t>
                      </a:r>
                    </a:p>
                  </a:txBody>
                  <a:tcPr/>
                </a:tc>
                <a:tc>
                  <a:txBody>
                    <a:bodyPr lIns="54864" rIns="54864" tIns="18288" bIns="18288" wrap="square" anchor="ctr"/>
                    <a:lstStyle/>
                    <a:p>
                      <a:pPr algn="l"/>
                      <a:r>
                        <a:rPr sz="900" b="0">
                          <a:solidFill>
                            <a:srgbClr val="000000"/>
                          </a:solidFill>
                          <a:latin typeface="Calibri"/>
                        </a:rPr>
                        <a:t>0.3051</a:t>
                      </a:r>
                    </a:p>
                  </a:txBody>
                  <a:tcPr/>
                </a:tc>
                <a:tc>
                  <a:txBody>
                    <a:bodyPr lIns="54864" rIns="54864" tIns="18288" bIns="18288" wrap="square" anchor="ctr"/>
                    <a:lstStyle/>
                    <a:p>
                      <a:pPr algn="l"/>
                      <a:r>
                        <a:rPr sz="900" b="0">
                          <a:solidFill>
                            <a:srgbClr val="000000"/>
                          </a:solidFill>
                          <a:latin typeface="Calibri"/>
                        </a:rPr>
                        <a:t>0.3039</a:t>
                      </a:r>
                    </a:p>
                  </a:txBody>
                  <a:tcPr/>
                </a:tc>
                <a:tc>
                  <a:txBody>
                    <a:bodyPr lIns="54864" rIns="54864" tIns="18288" bIns="18288" wrap="square" anchor="ctr"/>
                    <a:lstStyle/>
                    <a:p>
                      <a:pPr algn="l"/>
                      <a:r>
                        <a:rPr sz="900" b="0">
                          <a:solidFill>
                            <a:srgbClr val="000000"/>
                          </a:solidFill>
                          <a:latin typeface="Calibri"/>
                        </a:rPr>
                        <a:t>+12</a:t>
                      </a:r>
                    </a:p>
                  </a:txBody>
                  <a:tcPr/>
                </a:tc>
                <a:tc>
                  <a:txBody>
                    <a:bodyPr lIns="54864" rIns="54864" tIns="18288" bIns="18288" wrap="square" anchor="ctr"/>
                    <a:lstStyle/>
                    <a:p>
                      <a:pPr algn="l"/>
                      <a:r>
                        <a:rPr sz="900" b="0">
                          <a:solidFill>
                            <a:srgbClr val="000000"/>
                          </a:solidFill>
                          <a:latin typeface="Calibri"/>
                        </a:rPr>
                        <a:t>+0.39</a:t>
                      </a:r>
                    </a:p>
                  </a:txBody>
                  <a:tcPr/>
                </a:tc>
              </a:tr>
              <a:tr h="182880">
                <a:tc>
                  <a:txBody>
                    <a:bodyPr lIns="54864" rIns="54864" tIns="18288" bIns="18288" wrap="square" anchor="ctr"/>
                    <a:lstStyle/>
                    <a:p>
                      <a:pPr algn="l"/>
                      <a:r>
                        <a:rPr sz="900" b="0">
                          <a:solidFill>
                            <a:srgbClr val="000000"/>
                          </a:solidFill>
                          <a:latin typeface="Calibri"/>
                        </a:rPr>
                        <a:t>19.20</a:t>
                      </a:r>
                    </a:p>
                  </a:txBody>
                  <a:tcPr/>
                </a:tc>
                <a:tc>
                  <a:txBody>
                    <a:bodyPr lIns="54864" rIns="54864" tIns="18288" bIns="18288" wrap="square" anchor="ctr"/>
                    <a:lstStyle/>
                    <a:p>
                      <a:pPr algn="l"/>
                      <a:r>
                        <a:rPr sz="900" b="0">
                          <a:solidFill>
                            <a:srgbClr val="000000"/>
                          </a:solidFill>
                          <a:latin typeface="Calibri"/>
                        </a:rPr>
                        <a:t>0.3084</a:t>
                      </a:r>
                    </a:p>
                  </a:txBody>
                  <a:tcPr/>
                </a:tc>
                <a:tc>
                  <a:txBody>
                    <a:bodyPr lIns="54864" rIns="54864" tIns="18288" bIns="18288" wrap="square" anchor="ctr"/>
                    <a:lstStyle/>
                    <a:p>
                      <a:pPr algn="l"/>
                      <a:r>
                        <a:rPr sz="900" b="0">
                          <a:solidFill>
                            <a:srgbClr val="000000"/>
                          </a:solidFill>
                          <a:latin typeface="Calibri"/>
                        </a:rPr>
                        <a:t>0.3076</a:t>
                      </a:r>
                    </a:p>
                  </a:txBody>
                  <a:tcPr/>
                </a:tc>
                <a:tc>
                  <a:txBody>
                    <a:bodyPr lIns="54864" rIns="54864" tIns="18288" bIns="18288" wrap="square" anchor="ctr"/>
                    <a:lstStyle/>
                    <a:p>
                      <a:pPr algn="l"/>
                      <a:r>
                        <a:rPr sz="900" b="0">
                          <a:solidFill>
                            <a:srgbClr val="000000"/>
                          </a:solidFill>
                          <a:latin typeface="Calibri"/>
                        </a:rPr>
                        <a:t>+8</a:t>
                      </a:r>
                    </a:p>
                  </a:txBody>
                  <a:tcPr/>
                </a:tc>
                <a:tc>
                  <a:txBody>
                    <a:bodyPr lIns="54864" rIns="54864" tIns="18288" bIns="18288" wrap="square" anchor="ctr"/>
                    <a:lstStyle/>
                    <a:p>
                      <a:pPr algn="l"/>
                      <a:r>
                        <a:rPr sz="900" b="0">
                          <a:solidFill>
                            <a:srgbClr val="000000"/>
                          </a:solidFill>
                          <a:latin typeface="Calibri"/>
                        </a:rPr>
                        <a:t>+0.27</a:t>
                      </a:r>
                    </a:p>
                  </a:txBody>
                  <a:tcPr/>
                </a:tc>
              </a:tr>
              <a:tr h="182880">
                <a:tc>
                  <a:txBody>
                    <a:bodyPr lIns="54864" rIns="54864" tIns="18288" bIns="18288" wrap="square" anchor="ctr"/>
                    <a:lstStyle/>
                    <a:p>
                      <a:pPr algn="l"/>
                      <a:r>
                        <a:rPr sz="900" b="0">
                          <a:solidFill>
                            <a:srgbClr val="000000"/>
                          </a:solidFill>
                          <a:latin typeface="Calibri"/>
                        </a:rPr>
                        <a:t>19.25</a:t>
                      </a:r>
                    </a:p>
                  </a:txBody>
                  <a:tcPr/>
                </a:tc>
                <a:tc>
                  <a:txBody>
                    <a:bodyPr lIns="54864" rIns="54864" tIns="18288" bIns="18288" wrap="square" anchor="ctr"/>
                    <a:lstStyle/>
                    <a:p>
                      <a:pPr algn="l"/>
                      <a:r>
                        <a:rPr sz="900" b="0">
                          <a:solidFill>
                            <a:srgbClr val="000000"/>
                          </a:solidFill>
                          <a:latin typeface="Calibri"/>
                        </a:rPr>
                        <a:t>0.3117</a:t>
                      </a:r>
                    </a:p>
                  </a:txBody>
                  <a:tcPr/>
                </a:tc>
                <a:tc>
                  <a:txBody>
                    <a:bodyPr lIns="54864" rIns="54864" tIns="18288" bIns="18288" wrap="square" anchor="ctr"/>
                    <a:lstStyle/>
                    <a:p>
                      <a:pPr algn="l"/>
                      <a:r>
                        <a:rPr sz="900" b="0">
                          <a:solidFill>
                            <a:srgbClr val="000000"/>
                          </a:solidFill>
                          <a:latin typeface="Calibri"/>
                        </a:rPr>
                        <a:t>0.3113</a:t>
                      </a:r>
                    </a:p>
                  </a:txBody>
                  <a:tcPr/>
                </a:tc>
                <a:tc>
                  <a:txBody>
                    <a:bodyPr lIns="54864" rIns="54864" tIns="18288" bIns="18288" wrap="square" anchor="ctr"/>
                    <a:lstStyle/>
                    <a:p>
                      <a:pPr algn="l"/>
                      <a:r>
                        <a:rPr sz="900" b="0">
                          <a:solidFill>
                            <a:srgbClr val="000000"/>
                          </a:solidFill>
                          <a:latin typeface="Calibri"/>
                        </a:rPr>
                        <a:t>+4</a:t>
                      </a:r>
                    </a:p>
                  </a:txBody>
                  <a:tcPr/>
                </a:tc>
                <a:tc>
                  <a:txBody>
                    <a:bodyPr lIns="54864" rIns="54864" tIns="18288" bIns="18288" wrap="square" anchor="ctr"/>
                    <a:lstStyle/>
                    <a:p>
                      <a:pPr algn="l"/>
                      <a:r>
                        <a:rPr sz="900" b="0">
                          <a:solidFill>
                            <a:srgbClr val="000000"/>
                          </a:solidFill>
                          <a:latin typeface="Calibri"/>
                        </a:rPr>
                        <a:t>+0.13</a:t>
                      </a:r>
                    </a:p>
                  </a:txBody>
                  <a:tcPr/>
                </a:tc>
              </a:tr>
              <a:tr h="182880">
                <a:tc>
                  <a:txBody>
                    <a:bodyPr lIns="54864" rIns="54864" tIns="18288" bIns="18288" wrap="square" anchor="ctr"/>
                    <a:lstStyle/>
                    <a:p>
                      <a:pPr algn="l"/>
                      <a:r>
                        <a:rPr sz="900" b="0">
                          <a:solidFill>
                            <a:srgbClr val="000000"/>
                          </a:solidFill>
                          <a:latin typeface="Calibri"/>
                        </a:rPr>
                        <a:t>19.30</a:t>
                      </a:r>
                    </a:p>
                  </a:txBody>
                  <a:tcPr/>
                </a:tc>
                <a:tc>
                  <a:txBody>
                    <a:bodyPr lIns="54864" rIns="54864" tIns="18288" bIns="18288" wrap="square" anchor="ctr"/>
                    <a:lstStyle/>
                    <a:p>
                      <a:pPr algn="l"/>
                      <a:r>
                        <a:rPr sz="900" b="0">
                          <a:solidFill>
                            <a:srgbClr val="000000"/>
                          </a:solidFill>
                          <a:latin typeface="Calibri"/>
                        </a:rPr>
                        <a:t>0.3160</a:t>
                      </a:r>
                    </a:p>
                  </a:txBody>
                  <a:tcPr/>
                </a:tc>
                <a:tc>
                  <a:txBody>
                    <a:bodyPr lIns="54864" rIns="54864" tIns="18288" bIns="18288" wrap="square" anchor="ctr"/>
                    <a:lstStyle/>
                    <a:p>
                      <a:pPr algn="l"/>
                      <a:r>
                        <a:rPr sz="900" b="0">
                          <a:solidFill>
                            <a:srgbClr val="000000"/>
                          </a:solidFill>
                          <a:latin typeface="Calibri"/>
                        </a:rPr>
                        <a:t>0.3155</a:t>
                      </a:r>
                    </a:p>
                  </a:txBody>
                  <a:tcPr/>
                </a:tc>
                <a:tc>
                  <a:txBody>
                    <a:bodyPr lIns="54864" rIns="54864" tIns="18288" bIns="18288" wrap="square" anchor="ctr"/>
                    <a:lstStyle/>
                    <a:p>
                      <a:pPr algn="l"/>
                      <a:r>
                        <a:rPr sz="900" b="0">
                          <a:solidFill>
                            <a:srgbClr val="000000"/>
                          </a:solidFill>
                          <a:latin typeface="Calibri"/>
                        </a:rPr>
                        <a:t>+5</a:t>
                      </a:r>
                    </a:p>
                  </a:txBody>
                  <a:tcPr/>
                </a:tc>
                <a:tc>
                  <a:txBody>
                    <a:bodyPr lIns="54864" rIns="54864" tIns="18288" bIns="18288" wrap="square" anchor="ctr"/>
                    <a:lstStyle/>
                    <a:p>
                      <a:pPr algn="l"/>
                      <a:r>
                        <a:rPr sz="900" b="0">
                          <a:solidFill>
                            <a:srgbClr val="000000"/>
                          </a:solidFill>
                          <a:latin typeface="Calibri"/>
                        </a:rPr>
                        <a:t>+0.17</a:t>
                      </a:r>
                    </a:p>
                  </a:txBody>
                  <a:tcPr/>
                </a:tc>
              </a:tr>
              <a:tr h="182880">
                <a:tc>
                  <a:txBody>
                    <a:bodyPr lIns="54864" rIns="54864" tIns="18288" bIns="18288" wrap="square" anchor="ctr"/>
                    <a:lstStyle/>
                    <a:p>
                      <a:pPr algn="l"/>
                      <a:r>
                        <a:rPr sz="900" b="0">
                          <a:solidFill>
                            <a:srgbClr val="000000"/>
                          </a:solidFill>
                          <a:latin typeface="Calibri"/>
                        </a:rPr>
                        <a:t>19.35</a:t>
                      </a:r>
                    </a:p>
                  </a:txBody>
                  <a:tcPr/>
                </a:tc>
                <a:tc>
                  <a:txBody>
                    <a:bodyPr lIns="54864" rIns="54864" tIns="18288" bIns="18288" wrap="square" anchor="ctr"/>
                    <a:lstStyle/>
                    <a:p>
                      <a:pPr algn="l"/>
                      <a:r>
                        <a:rPr sz="900" b="0">
                          <a:solidFill>
                            <a:srgbClr val="000000"/>
                          </a:solidFill>
                          <a:latin typeface="Calibri"/>
                        </a:rPr>
                        <a:t>0.3192</a:t>
                      </a:r>
                    </a:p>
                  </a:txBody>
                  <a:tcPr/>
                </a:tc>
                <a:tc>
                  <a:txBody>
                    <a:bodyPr lIns="54864" rIns="54864" tIns="18288" bIns="18288" wrap="square" anchor="ctr"/>
                    <a:lstStyle/>
                    <a:p>
                      <a:pPr algn="l"/>
                      <a:r>
                        <a:rPr sz="900" b="0">
                          <a:solidFill>
                            <a:srgbClr val="000000"/>
                          </a:solidFill>
                          <a:latin typeface="Calibri"/>
                        </a:rPr>
                        <a:t>0.3192</a:t>
                      </a:r>
                    </a:p>
                  </a:txBody>
                  <a:tcPr/>
                </a:tc>
                <a:tc>
                  <a:txBody>
                    <a:bodyPr lIns="54864" rIns="54864" tIns="18288" bIns="18288" wrap="square" anchor="ctr"/>
                    <a:lstStyle/>
                    <a:p>
                      <a:pPr algn="l"/>
                      <a:r>
                        <a:rPr sz="900" b="0">
                          <a:solidFill>
                            <a:srgbClr val="000000"/>
                          </a:solidFill>
                          <a:latin typeface="Calibri"/>
                        </a:rPr>
                        <a:t>-0</a:t>
                      </a:r>
                    </a:p>
                  </a:txBody>
                  <a:tcPr/>
                </a:tc>
                <a:tc>
                  <a:txBody>
                    <a:bodyPr lIns="54864" rIns="54864" tIns="18288" bIns="18288" wrap="square" anchor="ctr"/>
                    <a:lstStyle/>
                    <a:p>
                      <a:pPr algn="l"/>
                      <a:r>
                        <a:rPr sz="900" b="0">
                          <a:solidFill>
                            <a:srgbClr val="000000"/>
                          </a:solidFill>
                          <a:latin typeface="Calibri"/>
                        </a:rPr>
                        <a:t>-0.01</a:t>
                      </a:r>
                    </a:p>
                  </a:txBody>
                  <a:tcPr/>
                </a:tc>
              </a:tr>
              <a:tr h="182880">
                <a:tc>
                  <a:txBody>
                    <a:bodyPr lIns="54864" rIns="54864" tIns="18288" bIns="18288" wrap="square" anchor="ctr"/>
                    <a:lstStyle/>
                    <a:p>
                      <a:pPr algn="l"/>
                      <a:r>
                        <a:rPr sz="900" b="0">
                          <a:solidFill>
                            <a:srgbClr val="000000"/>
                          </a:solidFill>
                          <a:latin typeface="Calibri"/>
                        </a:rPr>
                        <a:t>19.40</a:t>
                      </a:r>
                    </a:p>
                  </a:txBody>
                  <a:tcPr/>
                </a:tc>
                <a:tc>
                  <a:txBody>
                    <a:bodyPr lIns="54864" rIns="54864" tIns="18288" bIns="18288" wrap="square" anchor="ctr"/>
                    <a:lstStyle/>
                    <a:p>
                      <a:pPr algn="l"/>
                      <a:r>
                        <a:rPr sz="900" b="0">
                          <a:solidFill>
                            <a:srgbClr val="000000"/>
                          </a:solidFill>
                          <a:latin typeface="Calibri"/>
                        </a:rPr>
                        <a:t>0.3234</a:t>
                      </a:r>
                    </a:p>
                  </a:txBody>
                  <a:tcPr/>
                </a:tc>
                <a:tc>
                  <a:txBody>
                    <a:bodyPr lIns="54864" rIns="54864" tIns="18288" bIns="18288" wrap="square" anchor="ctr"/>
                    <a:lstStyle/>
                    <a:p>
                      <a:pPr algn="l"/>
                      <a:r>
                        <a:rPr sz="900" b="0">
                          <a:solidFill>
                            <a:srgbClr val="000000"/>
                          </a:solidFill>
                          <a:latin typeface="Calibri"/>
                        </a:rPr>
                        <a:t>0.3227</a:t>
                      </a:r>
                    </a:p>
                  </a:txBody>
                  <a:tcPr/>
                </a:tc>
                <a:tc>
                  <a:txBody>
                    <a:bodyPr lIns="54864" rIns="54864" tIns="18288" bIns="18288" wrap="square" anchor="ctr"/>
                    <a:lstStyle/>
                    <a:p>
                      <a:pPr algn="l"/>
                      <a:r>
                        <a:rPr sz="900" b="0">
                          <a:solidFill>
                            <a:srgbClr val="000000"/>
                          </a:solidFill>
                          <a:latin typeface="Calibri"/>
                        </a:rPr>
                        <a:t>+7</a:t>
                      </a:r>
                    </a:p>
                  </a:txBody>
                  <a:tcPr/>
                </a:tc>
                <a:tc>
                  <a:txBody>
                    <a:bodyPr lIns="54864" rIns="54864" tIns="18288" bIns="18288" wrap="square" anchor="ctr"/>
                    <a:lstStyle/>
                    <a:p>
                      <a:pPr algn="l"/>
                      <a:r>
                        <a:rPr sz="900" b="0">
                          <a:solidFill>
                            <a:srgbClr val="000000"/>
                          </a:solidFill>
                          <a:latin typeface="Calibri"/>
                        </a:rPr>
                        <a:t>+0.22</a:t>
                      </a:r>
                    </a:p>
                  </a:txBody>
                  <a:tcPr/>
                </a:tc>
              </a:tr>
              <a:tr h="182880">
                <a:tc>
                  <a:txBody>
                    <a:bodyPr lIns="54864" rIns="54864" tIns="18288" bIns="18288" wrap="square" anchor="ctr"/>
                    <a:lstStyle/>
                    <a:p>
                      <a:pPr algn="l"/>
                      <a:r>
                        <a:rPr sz="900" b="0">
                          <a:solidFill>
                            <a:srgbClr val="000000"/>
                          </a:solidFill>
                          <a:latin typeface="Calibri"/>
                        </a:rPr>
                        <a:t>19.45</a:t>
                      </a:r>
                    </a:p>
                  </a:txBody>
                  <a:tcPr/>
                </a:tc>
                <a:tc>
                  <a:txBody>
                    <a:bodyPr lIns="54864" rIns="54864" tIns="18288" bIns="18288" wrap="square" anchor="ctr"/>
                    <a:lstStyle/>
                    <a:p>
                      <a:pPr algn="l"/>
                      <a:r>
                        <a:rPr sz="900" b="0">
                          <a:solidFill>
                            <a:srgbClr val="000000"/>
                          </a:solidFill>
                          <a:latin typeface="Calibri"/>
                        </a:rPr>
                        <a:t>0.3283</a:t>
                      </a:r>
                    </a:p>
                  </a:txBody>
                  <a:tcPr/>
                </a:tc>
                <a:tc>
                  <a:txBody>
                    <a:bodyPr lIns="54864" rIns="54864" tIns="18288" bIns="18288" wrap="square" anchor="ctr"/>
                    <a:lstStyle/>
                    <a:p>
                      <a:pPr algn="l"/>
                      <a:r>
                        <a:rPr sz="900" b="0">
                          <a:solidFill>
                            <a:srgbClr val="000000"/>
                          </a:solidFill>
                          <a:latin typeface="Calibri"/>
                        </a:rPr>
                        <a:t>0.3020</a:t>
                      </a:r>
                    </a:p>
                  </a:txBody>
                  <a:tcPr/>
                </a:tc>
                <a:tc>
                  <a:txBody>
                    <a:bodyPr lIns="54864" rIns="54864" tIns="18288" bIns="18288" wrap="square" anchor="ctr"/>
                    <a:lstStyle/>
                    <a:p>
                      <a:pPr algn="l"/>
                      <a:r>
                        <a:rPr sz="900" b="0">
                          <a:solidFill>
                            <a:srgbClr val="000000"/>
                          </a:solidFill>
                          <a:latin typeface="Calibri"/>
                        </a:rPr>
                        <a:t>+263</a:t>
                      </a:r>
                    </a:p>
                  </a:txBody>
                  <a:tcPr/>
                </a:tc>
                <a:tc>
                  <a:txBody>
                    <a:bodyPr lIns="54864" rIns="54864" tIns="18288" bIns="18288" wrap="square" anchor="ctr"/>
                    <a:lstStyle/>
                    <a:p>
                      <a:pPr algn="l"/>
                      <a:r>
                        <a:rPr sz="900" b="0">
                          <a:solidFill>
                            <a:srgbClr val="000000"/>
                          </a:solidFill>
                          <a:latin typeface="Calibri"/>
                        </a:rPr>
                        <a:t>+8.70</a:t>
                      </a:r>
                    </a:p>
                  </a:txBody>
                  <a:tcPr/>
                </a:tc>
              </a:tr>
              <a:tr h="182880">
                <a:tc>
                  <a:txBody>
                    <a:bodyPr lIns="54864" rIns="54864" tIns="18288" bIns="18288" wrap="square" anchor="ctr"/>
                    <a:lstStyle/>
                    <a:p>
                      <a:pPr algn="l"/>
                      <a:r>
                        <a:rPr sz="900" b="0">
                          <a:solidFill>
                            <a:srgbClr val="000000"/>
                          </a:solidFill>
                          <a:latin typeface="Calibri"/>
                        </a:rPr>
                        <a:t>19.50</a:t>
                      </a:r>
                    </a:p>
                  </a:txBody>
                  <a:tcPr/>
                </a:tc>
                <a:tc>
                  <a:txBody>
                    <a:bodyPr lIns="54864" rIns="54864" tIns="18288" bIns="18288" wrap="square" anchor="ctr"/>
                    <a:lstStyle/>
                    <a:p>
                      <a:pPr algn="l"/>
                      <a:r>
                        <a:rPr sz="900" b="0">
                          <a:solidFill>
                            <a:srgbClr val="000000"/>
                          </a:solidFill>
                          <a:latin typeface="Calibri"/>
                        </a:rPr>
                        <a:t>0.3311</a:t>
                      </a:r>
                    </a:p>
                  </a:txBody>
                  <a:tcPr/>
                </a:tc>
                <a:tc>
                  <a:txBody>
                    <a:bodyPr lIns="54864" rIns="54864" tIns="18288" bIns="18288" wrap="square" anchor="ctr"/>
                    <a:lstStyle/>
                    <a:p>
                      <a:pPr algn="l"/>
                      <a:r>
                        <a:rPr sz="900" b="0">
                          <a:solidFill>
                            <a:srgbClr val="000000"/>
                          </a:solidFill>
                          <a:latin typeface="Calibri"/>
                        </a:rPr>
                        <a:t>0.3210</a:t>
                      </a:r>
                    </a:p>
                  </a:txBody>
                  <a:tcPr/>
                </a:tc>
                <a:tc>
                  <a:txBody>
                    <a:bodyPr lIns="54864" rIns="54864" tIns="18288" bIns="18288" wrap="square" anchor="ctr"/>
                    <a:lstStyle/>
                    <a:p>
                      <a:pPr algn="l"/>
                      <a:r>
                        <a:rPr sz="900" b="0">
                          <a:solidFill>
                            <a:srgbClr val="000000"/>
                          </a:solidFill>
                          <a:latin typeface="Calibri"/>
                        </a:rPr>
                        <a:t>+100</a:t>
                      </a:r>
                    </a:p>
                  </a:txBody>
                  <a:tcPr/>
                </a:tc>
                <a:tc>
                  <a:txBody>
                    <a:bodyPr lIns="54864" rIns="54864" tIns="18288" bIns="18288" wrap="square" anchor="ctr"/>
                    <a:lstStyle/>
                    <a:p>
                      <a:pPr algn="l"/>
                      <a:r>
                        <a:rPr sz="900" b="0">
                          <a:solidFill>
                            <a:srgbClr val="000000"/>
                          </a:solidFill>
                          <a:latin typeface="Calibri"/>
                        </a:rPr>
                        <a:t>+3.12</a:t>
                      </a:r>
                    </a:p>
                  </a:txBody>
                  <a:tcPr/>
                </a:tc>
              </a:tr>
              <a:tr h="182880">
                <a:tc>
                  <a:txBody>
                    <a:bodyPr lIns="54864" rIns="54864" tIns="18288" bIns="18288" wrap="square" anchor="ctr"/>
                    <a:lstStyle/>
                    <a:p>
                      <a:pPr algn="l"/>
                      <a:r>
                        <a:rPr sz="900" b="0">
                          <a:solidFill>
                            <a:srgbClr val="000000"/>
                          </a:solidFill>
                          <a:latin typeface="Calibri"/>
                        </a:rPr>
                        <a:t>19.55</a:t>
                      </a:r>
                    </a:p>
                  </a:txBody>
                  <a:tcPr/>
                </a:tc>
                <a:tc>
                  <a:txBody>
                    <a:bodyPr lIns="54864" rIns="54864" tIns="18288" bIns="18288" wrap="square" anchor="ctr"/>
                    <a:lstStyle/>
                    <a:p>
                      <a:pPr algn="l"/>
                      <a:r>
                        <a:rPr sz="900" b="0">
                          <a:solidFill>
                            <a:srgbClr val="000000"/>
                          </a:solidFill>
                          <a:latin typeface="Calibri"/>
                        </a:rPr>
                        <a:t>0.3354</a:t>
                      </a:r>
                    </a:p>
                  </a:txBody>
                  <a:tcPr/>
                </a:tc>
                <a:tc>
                  <a:txBody>
                    <a:bodyPr lIns="54864" rIns="54864" tIns="18288" bIns="18288" wrap="square" anchor="ctr"/>
                    <a:lstStyle/>
                    <a:p>
                      <a:pPr algn="l"/>
                      <a:r>
                        <a:rPr sz="900" b="0">
                          <a:solidFill>
                            <a:srgbClr val="000000"/>
                          </a:solidFill>
                          <a:latin typeface="Calibri"/>
                        </a:rPr>
                        <a:t>0.3408</a:t>
                      </a:r>
                    </a:p>
                  </a:txBody>
                  <a:tcPr/>
                </a:tc>
                <a:tc>
                  <a:txBody>
                    <a:bodyPr lIns="54864" rIns="54864" tIns="18288" bIns="18288" wrap="square" anchor="ctr"/>
                    <a:lstStyle/>
                    <a:p>
                      <a:pPr algn="l"/>
                      <a:r>
                        <a:rPr sz="900" b="0">
                          <a:solidFill>
                            <a:srgbClr val="000000"/>
                          </a:solidFill>
                          <a:latin typeface="Calibri"/>
                        </a:rPr>
                        <a:t>-54</a:t>
                      </a:r>
                    </a:p>
                  </a:txBody>
                  <a:tcPr/>
                </a:tc>
                <a:tc>
                  <a:txBody>
                    <a:bodyPr lIns="54864" rIns="54864" tIns="18288" bIns="18288" wrap="square" anchor="ctr"/>
                    <a:lstStyle/>
                    <a:p>
                      <a:pPr algn="l"/>
                      <a:r>
                        <a:rPr sz="900" b="0">
                          <a:solidFill>
                            <a:srgbClr val="000000"/>
                          </a:solidFill>
                          <a:latin typeface="Calibri"/>
                        </a:rPr>
                        <a:t>-1.58</a:t>
                      </a:r>
                    </a:p>
                  </a:txBody>
                  <a:tcPr/>
                </a:tc>
              </a:tr>
              <a:tr h="182880">
                <a:tc>
                  <a:txBody>
                    <a:bodyPr lIns="54864" rIns="54864" tIns="18288" bIns="18288" wrap="square" anchor="ctr"/>
                    <a:lstStyle/>
                    <a:p>
                      <a:pPr algn="l"/>
                      <a:r>
                        <a:rPr sz="900" b="0">
                          <a:solidFill>
                            <a:srgbClr val="000000"/>
                          </a:solidFill>
                          <a:latin typeface="Calibri"/>
                        </a:rPr>
                        <a:t>19.60</a:t>
                      </a:r>
                    </a:p>
                  </a:txBody>
                  <a:tcPr/>
                </a:tc>
                <a:tc>
                  <a:txBody>
                    <a:bodyPr lIns="54864" rIns="54864" tIns="18288" bIns="18288" wrap="square" anchor="ctr"/>
                    <a:lstStyle/>
                    <a:p>
                      <a:pPr algn="l"/>
                      <a:r>
                        <a:rPr sz="900" b="0">
                          <a:solidFill>
                            <a:srgbClr val="000000"/>
                          </a:solidFill>
                          <a:latin typeface="Calibri"/>
                        </a:rPr>
                        <a:t>0.3390</a:t>
                      </a:r>
                    </a:p>
                  </a:txBody>
                  <a:tcPr/>
                </a:tc>
                <a:tc>
                  <a:txBody>
                    <a:bodyPr lIns="54864" rIns="54864" tIns="18288" bIns="18288" wrap="square" anchor="ctr"/>
                    <a:lstStyle/>
                    <a:p>
                      <a:pPr algn="l"/>
                      <a:r>
                        <a:rPr sz="900" b="0">
                          <a:solidFill>
                            <a:srgbClr val="000000"/>
                          </a:solidFill>
                          <a:latin typeface="Calibri"/>
                        </a:rPr>
                        <a:t>0.3186</a:t>
                      </a:r>
                    </a:p>
                  </a:txBody>
                  <a:tcPr/>
                </a:tc>
                <a:tc>
                  <a:txBody>
                    <a:bodyPr lIns="54864" rIns="54864" tIns="18288" bIns="18288" wrap="square" anchor="ctr"/>
                    <a:lstStyle/>
                    <a:p>
                      <a:pPr algn="l"/>
                      <a:r>
                        <a:rPr sz="900" b="0">
                          <a:solidFill>
                            <a:srgbClr val="000000"/>
                          </a:solidFill>
                          <a:latin typeface="Calibri"/>
                        </a:rPr>
                        <a:t>+204</a:t>
                      </a:r>
                    </a:p>
                  </a:txBody>
                  <a:tcPr/>
                </a:tc>
                <a:tc>
                  <a:txBody>
                    <a:bodyPr lIns="54864" rIns="54864" tIns="18288" bIns="18288" wrap="square" anchor="ctr"/>
                    <a:lstStyle/>
                    <a:p>
                      <a:pPr algn="l"/>
                      <a:r>
                        <a:rPr sz="900" b="0">
                          <a:solidFill>
                            <a:srgbClr val="000000"/>
                          </a:solidFill>
                          <a:latin typeface="Calibri"/>
                        </a:rPr>
                        <a:t>+6.40</a:t>
                      </a:r>
                    </a:p>
                  </a:txBody>
                  <a:tcPr/>
                </a:tc>
              </a:tr>
              <a:tr h="182880">
                <a:tc>
                  <a:txBody>
                    <a:bodyPr lIns="54864" rIns="54864" tIns="18288" bIns="18288" wrap="square" anchor="ctr"/>
                    <a:lstStyle/>
                    <a:p>
                      <a:pPr algn="l"/>
                      <a:r>
                        <a:rPr sz="900" b="0">
                          <a:solidFill>
                            <a:srgbClr val="000000"/>
                          </a:solidFill>
                          <a:latin typeface="Calibri"/>
                        </a:rPr>
                        <a:t>19.65</a:t>
                      </a:r>
                    </a:p>
                  </a:txBody>
                  <a:tcPr/>
                </a:tc>
                <a:tc>
                  <a:txBody>
                    <a:bodyPr lIns="54864" rIns="54864" tIns="18288" bIns="18288" wrap="square" anchor="ctr"/>
                    <a:lstStyle/>
                    <a:p>
                      <a:pPr algn="l"/>
                      <a:r>
                        <a:rPr sz="900" b="0">
                          <a:solidFill>
                            <a:srgbClr val="000000"/>
                          </a:solidFill>
                          <a:latin typeface="Calibri"/>
                        </a:rPr>
                        <a:t>0.3429</a:t>
                      </a:r>
                    </a:p>
                  </a:txBody>
                  <a:tcPr/>
                </a:tc>
                <a:tc>
                  <a:txBody>
                    <a:bodyPr lIns="54864" rIns="54864" tIns="18288" bIns="18288" wrap="square" anchor="ctr"/>
                    <a:lstStyle/>
                    <a:p>
                      <a:pPr algn="l"/>
                      <a:r>
                        <a:rPr sz="900" b="0">
                          <a:solidFill>
                            <a:srgbClr val="000000"/>
                          </a:solidFill>
                          <a:latin typeface="Calibri"/>
                        </a:rPr>
                        <a:t>0.3371</a:t>
                      </a:r>
                    </a:p>
                  </a:txBody>
                  <a:tcPr/>
                </a:tc>
                <a:tc>
                  <a:txBody>
                    <a:bodyPr lIns="54864" rIns="54864" tIns="18288" bIns="18288" wrap="square" anchor="ctr"/>
                    <a:lstStyle/>
                    <a:p>
                      <a:pPr algn="l"/>
                      <a:r>
                        <a:rPr sz="900" b="0">
                          <a:solidFill>
                            <a:srgbClr val="000000"/>
                          </a:solidFill>
                          <a:latin typeface="Calibri"/>
                        </a:rPr>
                        <a:t>+58</a:t>
                      </a:r>
                    </a:p>
                  </a:txBody>
                  <a:tcPr/>
                </a:tc>
                <a:tc>
                  <a:txBody>
                    <a:bodyPr lIns="54864" rIns="54864" tIns="18288" bIns="18288" wrap="square" anchor="ctr"/>
                    <a:lstStyle/>
                    <a:p>
                      <a:pPr algn="l"/>
                      <a:r>
                        <a:rPr sz="900" b="0">
                          <a:solidFill>
                            <a:srgbClr val="000000"/>
                          </a:solidFill>
                          <a:latin typeface="Calibri"/>
                        </a:rPr>
                        <a:t>+1.72</a:t>
                      </a:r>
                    </a:p>
                  </a:txBody>
                  <a:tcPr/>
                </a:tc>
              </a:tr>
              <a:tr h="182880">
                <a:tc>
                  <a:txBody>
                    <a:bodyPr lIns="54864" rIns="54864" tIns="18288" bIns="18288" wrap="square" anchor="ctr"/>
                    <a:lstStyle/>
                    <a:p>
                      <a:pPr algn="l"/>
                      <a:r>
                        <a:rPr sz="900" b="0">
                          <a:solidFill>
                            <a:srgbClr val="000000"/>
                          </a:solidFill>
                          <a:latin typeface="Calibri"/>
                        </a:rPr>
                        <a:t>19.70</a:t>
                      </a:r>
                    </a:p>
                  </a:txBody>
                  <a:tcPr/>
                </a:tc>
                <a:tc>
                  <a:txBody>
                    <a:bodyPr lIns="54864" rIns="54864" tIns="18288" bIns="18288" wrap="square" anchor="ctr"/>
                    <a:lstStyle/>
                    <a:p>
                      <a:pPr algn="l"/>
                      <a:r>
                        <a:rPr sz="900" b="0">
                          <a:solidFill>
                            <a:srgbClr val="000000"/>
                          </a:solidFill>
                          <a:latin typeface="Calibri"/>
                        </a:rPr>
                        <a:t>0.3473</a:t>
                      </a:r>
                    </a:p>
                  </a:txBody>
                  <a:tcPr/>
                </a:tc>
                <a:tc>
                  <a:txBody>
                    <a:bodyPr lIns="54864" rIns="54864" tIns="18288" bIns="18288" wrap="square" anchor="ctr"/>
                    <a:lstStyle/>
                    <a:p>
                      <a:pPr algn="l"/>
                      <a:r>
                        <a:rPr sz="900" b="0">
                          <a:solidFill>
                            <a:srgbClr val="000000"/>
                          </a:solidFill>
                          <a:latin typeface="Calibri"/>
                        </a:rPr>
                        <a:t>0.3355</a:t>
                      </a:r>
                    </a:p>
                  </a:txBody>
                  <a:tcPr/>
                </a:tc>
                <a:tc>
                  <a:txBody>
                    <a:bodyPr lIns="54864" rIns="54864" tIns="18288" bIns="18288" wrap="square" anchor="ctr"/>
                    <a:lstStyle/>
                    <a:p>
                      <a:pPr algn="l"/>
                      <a:r>
                        <a:rPr sz="900" b="0">
                          <a:solidFill>
                            <a:srgbClr val="000000"/>
                          </a:solidFill>
                          <a:latin typeface="Calibri"/>
                        </a:rPr>
                        <a:t>+119</a:t>
                      </a:r>
                    </a:p>
                  </a:txBody>
                  <a:tcPr/>
                </a:tc>
                <a:tc>
                  <a:txBody>
                    <a:bodyPr lIns="54864" rIns="54864" tIns="18288" bIns="18288" wrap="square" anchor="ctr"/>
                    <a:lstStyle/>
                    <a:p>
                      <a:pPr algn="l"/>
                      <a:r>
                        <a:rPr sz="900" b="0">
                          <a:solidFill>
                            <a:srgbClr val="000000"/>
                          </a:solidFill>
                          <a:latin typeface="Calibri"/>
                        </a:rPr>
                        <a:t>+3.53</a:t>
                      </a:r>
                    </a:p>
                  </a:txBody>
                  <a:tcPr/>
                </a:tc>
              </a:tr>
              <a:tr h="182880">
                <a:tc>
                  <a:txBody>
                    <a:bodyPr lIns="54864" rIns="54864" tIns="18288" bIns="18288" wrap="square" anchor="ctr"/>
                    <a:lstStyle/>
                    <a:p>
                      <a:pPr algn="l"/>
                      <a:r>
                        <a:rPr sz="900" b="0">
                          <a:solidFill>
                            <a:srgbClr val="000000"/>
                          </a:solidFill>
                          <a:latin typeface="Calibri"/>
                        </a:rPr>
                        <a:t>19.75</a:t>
                      </a:r>
                    </a:p>
                  </a:txBody>
                  <a:tcPr/>
                </a:tc>
                <a:tc>
                  <a:txBody>
                    <a:bodyPr lIns="54864" rIns="54864" tIns="18288" bIns="18288" wrap="square" anchor="ctr"/>
                    <a:lstStyle/>
                    <a:p>
                      <a:pPr algn="l"/>
                      <a:r>
                        <a:rPr sz="900" b="0">
                          <a:solidFill>
                            <a:srgbClr val="000000"/>
                          </a:solidFill>
                          <a:latin typeface="Calibri"/>
                        </a:rPr>
                        <a:t>0.3502</a:t>
                      </a:r>
                    </a:p>
                  </a:txBody>
                  <a:tcPr/>
                </a:tc>
                <a:tc>
                  <a:txBody>
                    <a:bodyPr lIns="54864" rIns="54864" tIns="18288" bIns="18288" wrap="square" anchor="ctr"/>
                    <a:lstStyle/>
                    <a:p>
                      <a:pPr algn="l"/>
                      <a:r>
                        <a:rPr sz="900" b="0">
                          <a:solidFill>
                            <a:srgbClr val="000000"/>
                          </a:solidFill>
                          <a:latin typeface="Calibri"/>
                        </a:rPr>
                        <a:t>0.3335</a:t>
                      </a:r>
                    </a:p>
                  </a:txBody>
                  <a:tcPr/>
                </a:tc>
                <a:tc>
                  <a:txBody>
                    <a:bodyPr lIns="54864" rIns="54864" tIns="18288" bIns="18288" wrap="square" anchor="ctr"/>
                    <a:lstStyle/>
                    <a:p>
                      <a:pPr algn="l"/>
                      <a:r>
                        <a:rPr sz="900" b="0">
                          <a:solidFill>
                            <a:srgbClr val="000000"/>
                          </a:solidFill>
                          <a:latin typeface="Calibri"/>
                        </a:rPr>
                        <a:t>+167</a:t>
                      </a:r>
                    </a:p>
                  </a:txBody>
                  <a:tcPr/>
                </a:tc>
                <a:tc>
                  <a:txBody>
                    <a:bodyPr lIns="54864" rIns="54864" tIns="18288" bIns="18288" wrap="square" anchor="ctr"/>
                    <a:lstStyle/>
                    <a:p>
                      <a:pPr algn="l"/>
                      <a:r>
                        <a:rPr sz="900" b="0">
                          <a:solidFill>
                            <a:srgbClr val="000000"/>
                          </a:solidFill>
                          <a:latin typeface="Calibri"/>
                        </a:rPr>
                        <a:t>+5.02</a:t>
                      </a:r>
                    </a:p>
                  </a:txBody>
                  <a:tcPr/>
                </a:tc>
              </a:tr>
              <a:tr h="182880">
                <a:tc>
                  <a:txBody>
                    <a:bodyPr lIns="54864" rIns="54864" tIns="18288" bIns="18288" wrap="square" anchor="ctr"/>
                    <a:lstStyle/>
                    <a:p>
                      <a:pPr algn="l"/>
                      <a:r>
                        <a:rPr sz="900" b="0">
                          <a:solidFill>
                            <a:srgbClr val="000000"/>
                          </a:solidFill>
                          <a:latin typeface="Calibri"/>
                        </a:rPr>
                        <a:t>19.80</a:t>
                      </a:r>
                    </a:p>
                  </a:txBody>
                  <a:tcPr/>
                </a:tc>
                <a:tc>
                  <a:txBody>
                    <a:bodyPr lIns="54864" rIns="54864" tIns="18288" bIns="18288" wrap="square" anchor="ctr"/>
                    <a:lstStyle/>
                    <a:p>
                      <a:pPr algn="l"/>
                      <a:r>
                        <a:rPr sz="900" b="0">
                          <a:solidFill>
                            <a:srgbClr val="000000"/>
                          </a:solidFill>
                          <a:latin typeface="Calibri"/>
                        </a:rPr>
                        <a:t>0.3542</a:t>
                      </a:r>
                    </a:p>
                  </a:txBody>
                  <a:tcPr/>
                </a:tc>
                <a:tc>
                  <a:txBody>
                    <a:bodyPr lIns="54864" rIns="54864" tIns="18288" bIns="18288" wrap="square" anchor="ctr"/>
                    <a:lstStyle/>
                    <a:p>
                      <a:pPr algn="l"/>
                      <a:r>
                        <a:rPr sz="900" b="0">
                          <a:solidFill>
                            <a:srgbClr val="000000"/>
                          </a:solidFill>
                          <a:latin typeface="Calibri"/>
                        </a:rPr>
                        <a:t>0.3383</a:t>
                      </a:r>
                    </a:p>
                  </a:txBody>
                  <a:tcPr/>
                </a:tc>
                <a:tc>
                  <a:txBody>
                    <a:bodyPr lIns="54864" rIns="54864" tIns="18288" bIns="18288" wrap="square" anchor="ctr"/>
                    <a:lstStyle/>
                    <a:p>
                      <a:pPr algn="l"/>
                      <a:r>
                        <a:rPr sz="900" b="0">
                          <a:solidFill>
                            <a:srgbClr val="000000"/>
                          </a:solidFill>
                          <a:latin typeface="Calibri"/>
                        </a:rPr>
                        <a:t>+159</a:t>
                      </a:r>
                    </a:p>
                  </a:txBody>
                  <a:tcPr/>
                </a:tc>
                <a:tc>
                  <a:txBody>
                    <a:bodyPr lIns="54864" rIns="54864" tIns="18288" bIns="18288" wrap="square" anchor="ctr"/>
                    <a:lstStyle/>
                    <a:p>
                      <a:pPr algn="l"/>
                      <a:r>
                        <a:rPr sz="900" b="0">
                          <a:solidFill>
                            <a:srgbClr val="000000"/>
                          </a:solidFill>
                          <a:latin typeface="Calibri"/>
                        </a:rPr>
                        <a:t>+4.69</a:t>
                      </a:r>
                    </a:p>
                  </a:txBody>
                  <a:tcPr/>
                </a:tc>
              </a:tr>
              <a:tr h="182880">
                <a:tc>
                  <a:txBody>
                    <a:bodyPr lIns="54864" rIns="54864" tIns="18288" bIns="18288" wrap="square" anchor="ctr"/>
                    <a:lstStyle/>
                    <a:p>
                      <a:pPr algn="l"/>
                      <a:r>
                        <a:rPr sz="900" b="0">
                          <a:solidFill>
                            <a:srgbClr val="000000"/>
                          </a:solidFill>
                          <a:latin typeface="Calibri"/>
                        </a:rPr>
                        <a:t>19.85</a:t>
                      </a:r>
                    </a:p>
                  </a:txBody>
                  <a:tcPr/>
                </a:tc>
                <a:tc>
                  <a:txBody>
                    <a:bodyPr lIns="54864" rIns="54864" tIns="18288" bIns="18288" wrap="square" anchor="ctr"/>
                    <a:lstStyle/>
                    <a:p>
                      <a:pPr algn="l"/>
                      <a:r>
                        <a:rPr sz="900" b="0">
                          <a:solidFill>
                            <a:srgbClr val="000000"/>
                          </a:solidFill>
                          <a:latin typeface="Calibri"/>
                        </a:rPr>
                        <a:t>0.3570</a:t>
                      </a:r>
                    </a:p>
                  </a:txBody>
                  <a:tcPr/>
                </a:tc>
                <a:tc>
                  <a:txBody>
                    <a:bodyPr lIns="54864" rIns="54864" tIns="18288" bIns="18288" wrap="square" anchor="ctr"/>
                    <a:lstStyle/>
                    <a:p>
                      <a:pPr algn="l"/>
                      <a:r>
                        <a:rPr sz="900" b="0">
                          <a:solidFill>
                            <a:srgbClr val="000000"/>
                          </a:solidFill>
                          <a:latin typeface="Calibri"/>
                        </a:rPr>
                        <a:t>0.3441</a:t>
                      </a:r>
                    </a:p>
                  </a:txBody>
                  <a:tcPr/>
                </a:tc>
                <a:tc>
                  <a:txBody>
                    <a:bodyPr lIns="54864" rIns="54864" tIns="18288" bIns="18288" wrap="square" anchor="ctr"/>
                    <a:lstStyle/>
                    <a:p>
                      <a:pPr algn="l"/>
                      <a:r>
                        <a:rPr sz="900" b="0">
                          <a:solidFill>
                            <a:srgbClr val="000000"/>
                          </a:solidFill>
                          <a:latin typeface="Calibri"/>
                        </a:rPr>
                        <a:t>+129</a:t>
                      </a:r>
                    </a:p>
                  </a:txBody>
                  <a:tcPr/>
                </a:tc>
                <a:tc>
                  <a:txBody>
                    <a:bodyPr lIns="54864" rIns="54864" tIns="18288" bIns="18288" wrap="square" anchor="ctr"/>
                    <a:lstStyle/>
                    <a:p>
                      <a:pPr algn="l"/>
                      <a:r>
                        <a:rPr sz="900" b="0">
                          <a:solidFill>
                            <a:srgbClr val="000000"/>
                          </a:solidFill>
                          <a:latin typeface="Calibri"/>
                        </a:rPr>
                        <a:t>+3.74</a:t>
                      </a:r>
                    </a:p>
                  </a:txBody>
                  <a:tcPr/>
                </a:tc>
              </a:tr>
              <a:tr h="182880">
                <a:tc>
                  <a:txBody>
                    <a:bodyPr lIns="54864" rIns="54864" tIns="18288" bIns="18288" wrap="square" anchor="ctr"/>
                    <a:lstStyle/>
                    <a:p>
                      <a:pPr algn="l"/>
                      <a:r>
                        <a:rPr sz="900" b="0">
                          <a:solidFill>
                            <a:srgbClr val="000000"/>
                          </a:solidFill>
                          <a:latin typeface="Calibri"/>
                        </a:rPr>
                        <a:t>19.90</a:t>
                      </a:r>
                    </a:p>
                  </a:txBody>
                  <a:tcPr/>
                </a:tc>
                <a:tc>
                  <a:txBody>
                    <a:bodyPr lIns="54864" rIns="54864" tIns="18288" bIns="18288" wrap="square" anchor="ctr"/>
                    <a:lstStyle/>
                    <a:p>
                      <a:pPr algn="l"/>
                      <a:r>
                        <a:rPr sz="900" b="0">
                          <a:solidFill>
                            <a:srgbClr val="000000"/>
                          </a:solidFill>
                          <a:latin typeface="Calibri"/>
                        </a:rPr>
                        <a:t>0.3621</a:t>
                      </a:r>
                    </a:p>
                  </a:txBody>
                  <a:tcPr/>
                </a:tc>
                <a:tc>
                  <a:txBody>
                    <a:bodyPr lIns="54864" rIns="54864" tIns="18288" bIns="18288" wrap="square" anchor="ctr"/>
                    <a:lstStyle/>
                    <a:p>
                      <a:pPr algn="l"/>
                      <a:r>
                        <a:rPr sz="900" b="0">
                          <a:solidFill>
                            <a:srgbClr val="000000"/>
                          </a:solidFill>
                          <a:latin typeface="Calibri"/>
                        </a:rPr>
                        <a:t>0.3499</a:t>
                      </a:r>
                    </a:p>
                  </a:txBody>
                  <a:tcPr/>
                </a:tc>
                <a:tc>
                  <a:txBody>
                    <a:bodyPr lIns="54864" rIns="54864" tIns="18288" bIns="18288" wrap="square" anchor="ctr"/>
                    <a:lstStyle/>
                    <a:p>
                      <a:pPr algn="l"/>
                      <a:r>
                        <a:rPr sz="900" b="0">
                          <a:solidFill>
                            <a:srgbClr val="000000"/>
                          </a:solidFill>
                          <a:latin typeface="Calibri"/>
                        </a:rPr>
                        <a:t>+122</a:t>
                      </a:r>
                    </a:p>
                  </a:txBody>
                  <a:tcPr/>
                </a:tc>
                <a:tc>
                  <a:txBody>
                    <a:bodyPr lIns="54864" rIns="54864" tIns="18288" bIns="18288" wrap="square" anchor="ctr"/>
                    <a:lstStyle/>
                    <a:p>
                      <a:pPr algn="l"/>
                      <a:r>
                        <a:rPr sz="900" b="0">
                          <a:solidFill>
                            <a:srgbClr val="000000"/>
                          </a:solidFill>
                          <a:latin typeface="Calibri"/>
                        </a:rPr>
                        <a:t>+3.48</a:t>
                      </a:r>
                    </a:p>
                  </a:txBody>
                  <a:tcPr/>
                </a:tc>
              </a:tr>
            </a:tbl>
          </a:graphicData>
        </a:graphic>
      </p:graphicFrame>
      <p:sp>
        <p:nvSpPr>
          <p:cNvPr id="8" name="Rounded Rectangle 7"/>
          <p:cNvSpPr/>
          <p:nvPr/>
        </p:nvSpPr>
        <p:spPr>
          <a:xfrm>
            <a:off x="502920" y="5614416"/>
            <a:ext cx="2706624" cy="62179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+3 µε</a:t>
            </a:r>
          </a:p>
          <a:p>
            <a:pPr algn="ctr"/>
            <a:r>
              <a:rPr sz="950">
                <a:solidFill>
                  <a:srgbClr val="000000"/>
                </a:solidFill>
                <a:latin typeface="Calibri"/>
              </a:rPr>
              <a:t>MEDIAN OFFSET</a:t>
            </a:r>
          </a:p>
        </p:txBody>
      </p:sp>
      <p:sp>
        <p:nvSpPr>
          <p:cNvPr id="9" name="Rounded Rectangle 8"/>
          <p:cNvSpPr/>
          <p:nvPr/>
        </p:nvSpPr>
        <p:spPr>
          <a:xfrm>
            <a:off x="3364992" y="5614416"/>
            <a:ext cx="2706624" cy="621792"/>
          </a:xfrm>
          <a:prstGeom prst="round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71 of 83</a:t>
            </a:r>
          </a:p>
          <a:p>
            <a:pPr algn="ctr"/>
            <a:r>
              <a:rPr sz="950">
                <a:solidFill>
                  <a:srgbClr val="000000"/>
                </a:solidFill>
                <a:latin typeface="Calibri"/>
              </a:rPr>
              <a:t>WITHIN ± 50 µε</a:t>
            </a:r>
          </a:p>
        </p:txBody>
      </p:sp>
      <p:sp>
        <p:nvSpPr>
          <p:cNvPr id="10" name="Rounded Rectangle 9"/>
          <p:cNvSpPr/>
          <p:nvPr/>
        </p:nvSpPr>
        <p:spPr>
          <a:xfrm>
            <a:off x="6227064" y="5614416"/>
            <a:ext cx="2706624" cy="62179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300" b="1">
                <a:solidFill>
                  <a:srgbClr val="1F3F2F"/>
                </a:solidFill>
                <a:latin typeface="Calibri"/>
              </a:rPr>
              <a:t>-54 to +263 µε</a:t>
            </a:r>
          </a:p>
          <a:p>
            <a:pPr algn="ctr"/>
            <a:r>
              <a:rPr sz="950">
                <a:solidFill>
                  <a:srgbClr val="000000"/>
                </a:solidFill>
                <a:latin typeface="Calibri"/>
              </a:rPr>
              <a:t>RANGE</a:t>
            </a:r>
          </a:p>
        </p:txBody>
      </p:sp>
      <p:sp>
        <p:nvSpPr>
          <p:cNvPr id="11" name="Rounded Rectangle 10"/>
          <p:cNvSpPr/>
          <p:nvPr/>
        </p:nvSpPr>
        <p:spPr>
          <a:xfrm>
            <a:off x="9089136" y="5614416"/>
            <a:ext cx="2752344" cy="621792"/>
          </a:xfrm>
          <a:prstGeom prst="round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lIns="54864" rIns="54864" bIns="27432" wrap="square"/>
          <a:lstStyle/>
          <a:p>
            <a:pPr algn="ctr"/>
            <a:r>
              <a:rPr sz="1500" b="1">
                <a:solidFill>
                  <a:srgbClr val="1F3F2F"/>
                </a:solidFill>
                <a:latin typeface="Calibri"/>
              </a:rPr>
              <a:t>+0.17 %</a:t>
            </a:r>
          </a:p>
          <a:p>
            <a:pPr algn="ctr"/>
            <a:r>
              <a:rPr sz="950">
                <a:solidFill>
                  <a:srgbClr val="000000"/>
                </a:solidFill>
                <a:latin typeface="Calibri"/>
              </a:rPr>
              <a:t>MEDIAN, AS A %</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Read Δ µε before Δ % : at 0.05 % strain a 10 µε difference is 2 % of the reading, and at 0.35 % the same 10 µε is 0.3 % — so the percentage column exaggerates the early points and flatters the late ones. Full list to six decimals: documentation/mot_matched_points.csv</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308</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DIC POST-PROCESSING — MEASURE ANY RECORDED VIDEO</a:t>
            </a:r>
          </a:p>
        </p:txBody>
      </p:sp>
      <p:pic>
        <p:nvPicPr>
          <p:cNvPr id="5" name="Picture 4" descr="UTM_DIC Post.png"/>
          <p:cNvPicPr>
            <a:picLocks noChangeAspect="1"/>
          </p:cNvPicPr>
          <p:nvPr/>
        </p:nvPicPr>
        <p:blipFill>
          <a:blip r:embed="rId2"/>
          <a:stretch>
            <a:fillRect/>
          </a:stretch>
        </p:blipFill>
        <p:spPr>
          <a:xfrm>
            <a:off x="365760" y="1115568"/>
            <a:ext cx="7818120" cy="4661508"/>
          </a:xfrm>
          <a:prstGeom prst="rect">
            <a:avLst/>
          </a:prstGeom>
        </p:spPr>
      </p:pic>
      <p:sp>
        <p:nvSpPr>
          <p:cNvPr id="6" name="TextBox 5"/>
          <p:cNvSpPr txBox="1"/>
          <p:nvPr/>
        </p:nvSpPr>
        <p:spPr>
          <a:xfrm>
            <a:off x="8366760" y="1060704"/>
            <a:ext cx="34747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is for</a:t>
            </a:r>
          </a:p>
        </p:txBody>
      </p:sp>
      <p:sp>
        <p:nvSpPr>
          <p:cNvPr id="7" name="TextBox 6"/>
          <p:cNvSpPr txBox="1"/>
          <p:nvPr/>
        </p:nvSpPr>
        <p:spPr>
          <a:xfrm>
            <a:off x="8366760" y="1408176"/>
            <a:ext cx="3474720" cy="1481328"/>
          </a:xfrm>
          <a:prstGeom prst="rect">
            <a:avLst/>
          </a:prstGeom>
          <a:noFill/>
        </p:spPr>
        <p:txBody>
          <a:bodyPr wrap="square" lIns="45720" rIns="45720" tIns="18288" bIns="18288" anchor="t">
            <a:spAutoFit/>
          </a:bodyPr>
          <a:lstStyle/>
          <a:p>
            <a:pPr algn="l"/>
            <a:r>
              <a:rPr sz="1000" b="0" i="0">
                <a:solidFill>
                  <a:srgbClr val="000000"/>
                </a:solidFill>
                <a:latin typeface="Calibri"/>
              </a:rPr>
              <a:t>The rig measures strain live and throws the frames away. This tab measures strain from a video AFTERWARDS, with the same pixel-to-strain rule — utm_dic.dic_strain, the function the live camera path calls. Nothing about the maths is re-implemented.
That buys two things a live-only rig cannot have.</a:t>
            </a:r>
          </a:p>
        </p:txBody>
      </p:sp>
      <p:sp>
        <p:nvSpPr>
          <p:cNvPr id="8" name="TextBox 7"/>
          <p:cNvSpPr txBox="1"/>
          <p:nvPr/>
        </p:nvSpPr>
        <p:spPr>
          <a:xfrm>
            <a:off x="8366760" y="2999232"/>
            <a:ext cx="3474720" cy="365760"/>
          </a:xfrm>
          <a:prstGeom prst="rect">
            <a:avLst/>
          </a:prstGeom>
          <a:noFill/>
        </p:spPr>
        <p:txBody>
          <a:bodyPr wrap="square" lIns="45720" rIns="45720" tIns="18288" bIns="18288" anchor="t">
            <a:spAutoFit/>
          </a:bodyPr>
          <a:lstStyle/>
          <a:p>
            <a:pPr algn="l"/>
            <a:r>
              <a:rPr sz="1600" b="0" i="0">
                <a:solidFill>
                  <a:srgbClr val="707070"/>
                </a:solidFill>
                <a:latin typeface="Calibri"/>
              </a:rPr>
              <a:t>1 · Re-check our own runs</a:t>
            </a:r>
          </a:p>
        </p:txBody>
      </p:sp>
      <p:sp>
        <p:nvSpPr>
          <p:cNvPr id="9" name="TextBox 8"/>
          <p:cNvSpPr txBox="1"/>
          <p:nvPr/>
        </p:nvSpPr>
        <p:spPr>
          <a:xfrm>
            <a:off x="8366760" y="3346704"/>
            <a:ext cx="3474720" cy="1005840"/>
          </a:xfrm>
          <a:prstGeom prst="rect">
            <a:avLst/>
          </a:prstGeom>
          <a:noFill/>
        </p:spPr>
        <p:txBody>
          <a:bodyPr wrap="square" lIns="45720" rIns="45720" tIns="18288" bIns="18288" anchor="t">
            <a:spAutoFit/>
          </a:bodyPr>
          <a:lstStyle/>
          <a:p>
            <a:pPr algn="l"/>
            <a:r>
              <a:rPr sz="1000" b="0" i="0">
                <a:solidFill>
                  <a:srgbClr val="000000"/>
                </a:solidFill>
                <a:latin typeface="Calibri"/>
              </a:rPr>
              <a:t>Same pull, same frames, an independent path. A live number that cannot be reproduced offline is a number with no second opinion.</a:t>
            </a:r>
          </a:p>
        </p:txBody>
      </p:sp>
      <p:sp>
        <p:nvSpPr>
          <p:cNvPr id="10" name="TextBox 9"/>
          <p:cNvSpPr txBox="1"/>
          <p:nvPr/>
        </p:nvSpPr>
        <p:spPr>
          <a:xfrm>
            <a:off x="8366760" y="4462272"/>
            <a:ext cx="3474720" cy="365760"/>
          </a:xfrm>
          <a:prstGeom prst="rect">
            <a:avLst/>
          </a:prstGeom>
          <a:noFill/>
        </p:spPr>
        <p:txBody>
          <a:bodyPr wrap="square" lIns="45720" rIns="45720" tIns="18288" bIns="18288" anchor="t">
            <a:spAutoFit/>
          </a:bodyPr>
          <a:lstStyle/>
          <a:p>
            <a:pPr algn="l"/>
            <a:r>
              <a:rPr sz="1600" b="0" i="0">
                <a:solidFill>
                  <a:srgbClr val="707070"/>
                </a:solidFill>
                <a:latin typeface="Calibri"/>
              </a:rPr>
              <a:t>2 · Measure ANOTHER machine</a:t>
            </a:r>
          </a:p>
        </p:txBody>
      </p:sp>
      <p:sp>
        <p:nvSpPr>
          <p:cNvPr id="11" name="TextBox 10"/>
          <p:cNvSpPr txBox="1"/>
          <p:nvPr/>
        </p:nvSpPr>
        <p:spPr>
          <a:xfrm>
            <a:off x="8366760" y="4809744"/>
            <a:ext cx="3474720" cy="1005840"/>
          </a:xfrm>
          <a:prstGeom prst="rect">
            <a:avLst/>
          </a:prstGeom>
          <a:noFill/>
        </p:spPr>
        <p:txBody>
          <a:bodyPr wrap="square" lIns="45720" rIns="45720" tIns="18288" bIns="18288" anchor="t">
            <a:spAutoFit/>
          </a:bodyPr>
          <a:lstStyle/>
          <a:p>
            <a:pPr algn="l"/>
            <a:r>
              <a:rPr sz="1000" b="0" i="0">
                <a:solidFill>
                  <a:srgbClr val="000000"/>
                </a:solidFill>
                <a:latin typeface="Calibri"/>
              </a:rPr>
              <a:t>Point it at a commercial extensometer's own footage and our rule produces a strain from it — which is the only way to compare two instruments without also changing the specimen.</a:t>
            </a:r>
          </a:p>
        </p:txBody>
      </p:sp>
      <p:sp>
        <p:nvSpPr>
          <p:cNvPr id="12" name="Rectangle 11"/>
          <p:cNvSpPr/>
          <p:nvPr/>
        </p:nvSpPr>
        <p:spPr>
          <a:xfrm>
            <a:off x="365760" y="5888736"/>
            <a:ext cx="7818120" cy="47548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Multi-video: each keeps its own boxes, frame rate and settings, and every finished run is plotted together — so two specimens, or two machines, land on one set of axes.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Software/UTM_PyQt6/utm_postproc.py (engine, no Qt) + utm_postdlg.py (the tab). The engine is importable on its own, which is what let every figure in this section be built from a script rather than by hand.</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309</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DOES IT ACTUALLY MEASURE? — THREE INDEPENDENT CHECKS</a:t>
            </a:r>
          </a:p>
        </p:txBody>
      </p:sp>
      <p:sp>
        <p:nvSpPr>
          <p:cNvPr id="5" name="TextBox 4"/>
          <p:cNvSpPr txBox="1"/>
          <p:nvPr/>
        </p:nvSpPr>
        <p:spPr>
          <a:xfrm>
            <a:off x="411480" y="106070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1 · Against our own live DIC</a:t>
            </a:r>
          </a:p>
        </p:txBody>
      </p:sp>
      <p:sp>
        <p:nvSpPr>
          <p:cNvPr id="6" name="TextBox 5"/>
          <p:cNvSpPr txBox="1"/>
          <p:nvPr/>
        </p:nvSpPr>
        <p:spPr>
          <a:xfrm>
            <a:off x="411480" y="1408176"/>
            <a:ext cx="3703320" cy="1298448"/>
          </a:xfrm>
          <a:prstGeom prst="rect">
            <a:avLst/>
          </a:prstGeom>
          <a:noFill/>
        </p:spPr>
        <p:txBody>
          <a:bodyPr wrap="square" lIns="45720" rIns="45720" tIns="18288" bIns="18288" anchor="t">
            <a:spAutoFit/>
          </a:bodyPr>
          <a:lstStyle/>
          <a:p>
            <a:pPr algn="l"/>
            <a:r>
              <a:rPr sz="1000" b="0" i="0">
                <a:solidFill>
                  <a:srgbClr val="000000"/>
                </a:solidFill>
                <a:latin typeface="Calibri"/>
              </a:rPr>
              <a:t>Re-measuring S25 and S26 from their recordings reproduces the rig's live strain to 330 and 363 µε RMS, with Px₀ agreeing to 0.005 %. The residual is a reproducible −0.05 % offset on BOTH specimens, not scatter — see p299.</a:t>
            </a:r>
          </a:p>
        </p:txBody>
      </p:sp>
      <p:sp>
        <p:nvSpPr>
          <p:cNvPr id="7" name="TextBox 6"/>
          <p:cNvSpPr txBox="1"/>
          <p:nvPr/>
        </p:nvSpPr>
        <p:spPr>
          <a:xfrm>
            <a:off x="4343400" y="106070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2 · Against a commercial instrument</a:t>
            </a:r>
          </a:p>
        </p:txBody>
      </p:sp>
      <p:sp>
        <p:nvSpPr>
          <p:cNvPr id="8" name="TextBox 7"/>
          <p:cNvSpPr txBox="1"/>
          <p:nvPr/>
        </p:nvSpPr>
        <p:spPr>
          <a:xfrm>
            <a:off x="4343400" y="1408176"/>
            <a:ext cx="3703320" cy="1298448"/>
          </a:xfrm>
          <a:prstGeom prst="rect">
            <a:avLst/>
          </a:prstGeom>
          <a:noFill/>
        </p:spPr>
        <p:txBody>
          <a:bodyPr wrap="square" lIns="45720" rIns="45720" tIns="18288" bIns="18288" anchor="t">
            <a:spAutoFit/>
          </a:bodyPr>
          <a:lstStyle/>
          <a:p>
            <a:pPr algn="l"/>
            <a:r>
              <a:rPr sz="1000" b="0" i="0">
                <a:solidFill>
                  <a:srgbClr val="000000"/>
                </a:solidFill>
                <a:latin typeface="Calibri"/>
              </a:rPr>
              <a:t>Run on the MOT XT-205's own footage it agrees with that machine's extensometer to a median ratio of 1.0017 over 83 matched points, and the strain SCALES match to 0.01 % (p306).</a:t>
            </a:r>
          </a:p>
        </p:txBody>
      </p:sp>
      <p:sp>
        <p:nvSpPr>
          <p:cNvPr id="9" name="TextBox 8"/>
          <p:cNvSpPr txBox="1"/>
          <p:nvPr/>
        </p:nvSpPr>
        <p:spPr>
          <a:xfrm>
            <a:off x="8275320" y="1060704"/>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3 · Its estimator was chosen on data</a:t>
            </a:r>
          </a:p>
        </p:txBody>
      </p:sp>
      <p:sp>
        <p:nvSpPr>
          <p:cNvPr id="10" name="TextBox 9"/>
          <p:cNvSpPr txBox="1"/>
          <p:nvPr/>
        </p:nvSpPr>
        <p:spPr>
          <a:xfrm>
            <a:off x="8275320" y="1408176"/>
            <a:ext cx="3566160" cy="1298448"/>
          </a:xfrm>
          <a:prstGeom prst="rect">
            <a:avLst/>
          </a:prstGeom>
          <a:noFill/>
        </p:spPr>
        <p:txBody>
          <a:bodyPr wrap="square" lIns="45720" rIns="45720" tIns="18288" bIns="18288" anchor="t">
            <a:spAutoFit/>
          </a:bodyPr>
          <a:lstStyle/>
          <a:p>
            <a:pPr algn="l"/>
            <a:r>
              <a:rPr sz="1000" b="0" i="0">
                <a:solidFill>
                  <a:srgbClr val="000000"/>
                </a:solidFill>
                <a:latin typeface="Calibri"/>
              </a:rPr>
              <a:t>The sub-pixel method is not a default that happened to work: four candidates were measured on real video and the winner picked on its WORST case, not its best (p296).</a:t>
            </a:r>
          </a:p>
        </p:txBody>
      </p:sp>
      <p:sp>
        <p:nvSpPr>
          <p:cNvPr id="11" name="TextBox 10"/>
          <p:cNvSpPr txBox="1"/>
          <p:nvPr/>
        </p:nvSpPr>
        <p:spPr>
          <a:xfrm>
            <a:off x="411480" y="2834640"/>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numbers, and where each comes from</a:t>
            </a:r>
          </a:p>
        </p:txBody>
      </p:sp>
      <p:graphicFrame>
        <p:nvGraphicFramePr>
          <p:cNvPr id="12" name="Table 11"/>
          <p:cNvGraphicFramePr>
            <a:graphicFrameLocks noGrp="1"/>
          </p:cNvGraphicFramePr>
          <p:nvPr/>
        </p:nvGraphicFramePr>
        <p:xfrm>
          <a:off x="411480" y="3182112"/>
          <a:ext cx="11430000" cy="1783080"/>
        </p:xfrm>
        <a:graphic>
          <a:graphicData uri="http://schemas.openxmlformats.org/drawingml/2006/table">
            <a:tbl>
              <a:tblPr firstRow="1" bandRow="1">
                <a:tableStyleId>{5C22544A-7EE6-4342-B048-85BDC9FD1C3A}</a:tableStyleId>
              </a:tblPr>
              <a:tblGrid>
                <a:gridCol w="2743200"/>
                <a:gridCol w="4023360"/>
                <a:gridCol w="4663440"/>
              </a:tblGrid>
              <a:tr h="445770">
                <a:tc>
                  <a:txBody>
                    <a:bodyPr lIns="54864" rIns="54864" tIns="18288" bIns="18288" wrap="square" anchor="ctr"/>
                    <a:lstStyle/>
                    <a:p>
                      <a:pPr algn="l"/>
                      <a:r>
                        <a:rPr sz="950" b="1">
                          <a:solidFill>
                            <a:srgbClr val="FFFFFF"/>
                          </a:solidFill>
                          <a:latin typeface="Calibri"/>
                        </a:rPr>
                        <a:t>Check</a:t>
                      </a:r>
                    </a:p>
                  </a:txBody>
                  <a:tcPr>
                    <a:solidFill>
                      <a:srgbClr val="143D2F"/>
                    </a:solidFill>
                  </a:tcPr>
                </a:tc>
                <a:tc>
                  <a:txBody>
                    <a:bodyPr lIns="54864" rIns="54864" tIns="18288" bIns="18288" wrap="square" anchor="ctr"/>
                    <a:lstStyle/>
                    <a:p>
                      <a:pPr algn="l"/>
                      <a:r>
                        <a:rPr sz="950" b="1">
                          <a:solidFill>
                            <a:srgbClr val="FFFFFF"/>
                          </a:solidFill>
                          <a:latin typeface="Calibri"/>
                        </a:rPr>
                        <a:t>Result</a:t>
                      </a:r>
                    </a:p>
                  </a:txBody>
                  <a:tcPr>
                    <a:solidFill>
                      <a:srgbClr val="143D2F"/>
                    </a:solidFill>
                  </a:tcPr>
                </a:tc>
                <a:tc>
                  <a:txBody>
                    <a:bodyPr lIns="54864" rIns="54864" tIns="18288" bIns="18288" wrap="square" anchor="ctr"/>
                    <a:lstStyle/>
                    <a:p>
                      <a:pPr algn="l"/>
                      <a:r>
                        <a:rPr sz="950" b="1">
                          <a:solidFill>
                            <a:srgbClr val="FFFFFF"/>
                          </a:solidFill>
                          <a:latin typeface="Calibri"/>
                        </a:rPr>
                        <a:t>Why it is the right test</a:t>
                      </a:r>
                    </a:p>
                  </a:txBody>
                  <a:tcPr>
                    <a:solidFill>
                      <a:srgbClr val="143D2F"/>
                    </a:solidFill>
                  </a:tcPr>
                </a:tc>
              </a:tr>
              <a:tr h="445770">
                <a:tc>
                  <a:txBody>
                    <a:bodyPr lIns="54864" rIns="54864" tIns="18288" bIns="18288" wrap="square" anchor="ctr"/>
                    <a:lstStyle/>
                    <a:p>
                      <a:pPr algn="l"/>
                      <a:r>
                        <a:rPr sz="850" b="0">
                          <a:solidFill>
                            <a:srgbClr val="000000"/>
                          </a:solidFill>
                          <a:latin typeface="Calibri"/>
                        </a:rPr>
                        <a:t>Noise on the XT-205's footage</a:t>
                      </a:r>
                    </a:p>
                  </a:txBody>
                  <a:tcPr/>
                </a:tc>
                <a:tc>
                  <a:txBody>
                    <a:bodyPr lIns="54864" rIns="54864" tIns="18288" bIns="18288" wrap="square" anchor="ctr"/>
                    <a:lstStyle/>
                    <a:p>
                      <a:pPr algn="l"/>
                      <a:r>
                        <a:rPr sz="850" b="0">
                          <a:solidFill>
                            <a:srgbClr val="000000"/>
                          </a:solidFill>
                          <a:latin typeface="Calibri"/>
                        </a:rPr>
                        <a:t>5.7 µε, against 44.9 µε for the XT-205's own
extensometer on the same frames</a:t>
                      </a:r>
                    </a:p>
                  </a:txBody>
                  <a:tcPr/>
                </a:tc>
                <a:tc>
                  <a:txBody>
                    <a:bodyPr lIns="54864" rIns="54864" tIns="18288" bIns="18288" wrap="square" anchor="ctr"/>
                    <a:lstStyle/>
                    <a:p>
                      <a:pPr algn="l"/>
                      <a:r>
                        <a:rPr sz="850" b="0">
                          <a:solidFill>
                            <a:srgbClr val="000000"/>
                          </a:solidFill>
                          <a:latin typeface="Calibri"/>
                        </a:rPr>
                        <a:t>Same footage and same window, so the comparison is of the
MEASUREMENT and not of two different pulls.</a:t>
                      </a:r>
                    </a:p>
                  </a:txBody>
                  <a:tcPr/>
                </a:tc>
              </a:tr>
              <a:tr h="445770">
                <a:tc>
                  <a:txBody>
                    <a:bodyPr lIns="54864" rIns="54864" tIns="18288" bIns="18288" wrap="square" anchor="ctr"/>
                    <a:lstStyle/>
                    <a:p>
                      <a:pPr algn="l"/>
                      <a:r>
                        <a:rPr sz="850" b="0">
                          <a:solidFill>
                            <a:srgbClr val="000000"/>
                          </a:solidFill>
                          <a:latin typeface="Calibri"/>
                        </a:rPr>
                        <a:t>Noise on our own footage</a:t>
                      </a:r>
                    </a:p>
                  </a:txBody>
                  <a:tcPr/>
                </a:tc>
                <a:tc>
                  <a:txBody>
                    <a:bodyPr lIns="54864" rIns="54864" tIns="18288" bIns="18288" wrap="square" anchor="ctr"/>
                    <a:lstStyle/>
                    <a:p>
                      <a:pPr algn="l"/>
                      <a:r>
                        <a:rPr sz="850" b="0">
                          <a:solidFill>
                            <a:srgbClr val="000000"/>
                          </a:solidFill>
                          <a:latin typeface="Calibri"/>
                        </a:rPr>
                        <a:t>18.4 µε (S25) and 11.3 µε (S26), against
28.9 µε for the rig measuring live</a:t>
                      </a:r>
                    </a:p>
                  </a:txBody>
                  <a:tcPr/>
                </a:tc>
                <a:tc>
                  <a:txBody>
                    <a:bodyPr lIns="54864" rIns="54864" tIns="18288" bIns="18288" wrap="square" anchor="ctr"/>
                    <a:lstStyle/>
                    <a:p>
                      <a:pPr algn="l"/>
                      <a:r>
                        <a:rPr sz="850" b="0">
                          <a:solidFill>
                            <a:srgbClr val="000000"/>
                          </a:solidFill>
                          <a:latin typeface="Calibri"/>
                        </a:rPr>
                        <a:t>Quieter than the live path because it is not racing the
control loop and can use a larger patch.</a:t>
                      </a:r>
                    </a:p>
                  </a:txBody>
                  <a:tcPr/>
                </a:tc>
              </a:tr>
              <a:tr h="445770">
                <a:tc>
                  <a:txBody>
                    <a:bodyPr lIns="54864" rIns="54864" tIns="18288" bIns="18288" wrap="square" anchor="ctr"/>
                    <a:lstStyle/>
                    <a:p>
                      <a:pPr algn="l"/>
                      <a:r>
                        <a:rPr sz="850" b="0">
                          <a:solidFill>
                            <a:srgbClr val="000000"/>
                          </a:solidFill>
                          <a:latin typeface="Calibri"/>
                        </a:rPr>
                        <a:t>Patch size, the biggest lever</a:t>
                      </a:r>
                    </a:p>
                  </a:txBody>
                  <a:tcPr/>
                </a:tc>
                <a:tc>
                  <a:txBody>
                    <a:bodyPr lIns="54864" rIns="54864" tIns="18288" bIns="18288" wrap="square" anchor="ctr"/>
                    <a:lstStyle/>
                    <a:p>
                      <a:pPr algn="l"/>
                      <a:r>
                        <a:rPr sz="850" b="0">
                          <a:solidFill>
                            <a:srgbClr val="000000"/>
                          </a:solidFill>
                          <a:latin typeface="Calibri"/>
                        </a:rPr>
                        <a:t>13× worse with a patch narrower than the marker</a:t>
                      </a:r>
                    </a:p>
                  </a:txBody>
                  <a:tcPr/>
                </a:tc>
                <a:tc>
                  <a:txBody>
                    <a:bodyPr lIns="54864" rIns="54864" tIns="18288" bIns="18288" wrap="square" anchor="ctr"/>
                    <a:lstStyle/>
                    <a:p>
                      <a:pPr algn="l"/>
                      <a:r>
                        <a:rPr sz="850" b="0">
                          <a:solidFill>
                            <a:srgbClr val="000000"/>
                          </a:solidFill>
                          <a:latin typeface="Calibri"/>
                        </a:rPr>
                        <a:t>Found by sweeping it, which is also how the tab learned to
SUGGEST a size from the detected marker.</a:t>
                      </a:r>
                    </a:p>
                  </a:txBody>
                  <a:tcPr/>
                </a:tc>
              </a:tr>
            </a:tbl>
          </a:graphicData>
        </a:graphic>
      </p:graphicFrame>
      <p:sp>
        <p:nvSpPr>
          <p:cNvPr id="13" name="TextBox 12"/>
          <p:cNvSpPr txBox="1"/>
          <p:nvPr/>
        </p:nvSpPr>
        <p:spPr>
          <a:xfrm>
            <a:off x="411480" y="513892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it refuses to do, which is the part that makes it usable</a:t>
            </a:r>
          </a:p>
        </p:txBody>
      </p:sp>
      <p:graphicFrame>
        <p:nvGraphicFramePr>
          <p:cNvPr id="14" name="Table 13"/>
          <p:cNvGraphicFramePr>
            <a:graphicFrameLocks noGrp="1"/>
          </p:cNvGraphicFramePr>
          <p:nvPr/>
        </p:nvGraphicFramePr>
        <p:xfrm>
          <a:off x="411480" y="5486400"/>
          <a:ext cx="11430000" cy="804672"/>
        </p:xfrm>
        <a:graphic>
          <a:graphicData uri="http://schemas.openxmlformats.org/drawingml/2006/table">
            <a:tbl>
              <a:tblPr firstRow="1" bandRow="1">
                <a:tableStyleId>{5C22544A-7EE6-4342-B048-85BDC9FD1C3A}</a:tableStyleId>
              </a:tblPr>
              <a:tblGrid>
                <a:gridCol w="5669280"/>
                <a:gridCol w="5760720"/>
              </a:tblGrid>
              <a:tr h="201168">
                <a:tc>
                  <a:txBody>
                    <a:bodyPr lIns="54864" rIns="54864" tIns="18288" bIns="18288" wrap="square" anchor="ctr"/>
                    <a:lstStyle/>
                    <a:p>
                      <a:pPr algn="l"/>
                      <a:r>
                        <a:rPr sz="950" b="1">
                          <a:solidFill>
                            <a:srgbClr val="FFFFFF"/>
                          </a:solidFill>
                          <a:latin typeface="Calibri"/>
                        </a:rPr>
                        <a:t>Guard</a:t>
                      </a:r>
                    </a:p>
                  </a:txBody>
                  <a:tcPr>
                    <a:solidFill>
                      <a:srgbClr val="143D2F"/>
                    </a:solidFill>
                  </a:tcPr>
                </a:tc>
                <a:tc>
                  <a:txBody>
                    <a:bodyPr lIns="54864" rIns="54864" tIns="18288" bIns="18288" wrap="square" anchor="ctr"/>
                    <a:lstStyle/>
                    <a:p>
                      <a:pPr algn="l"/>
                      <a:r>
                        <a:rPr sz="950" b="1">
                          <a:solidFill>
                            <a:srgbClr val="FFFFFF"/>
                          </a:solidFill>
                          <a:latin typeface="Calibri"/>
                        </a:rPr>
                        <a:t>Why</a:t>
                      </a:r>
                    </a:p>
                  </a:txBody>
                  <a:tcPr>
                    <a:solidFill>
                      <a:srgbClr val="143D2F"/>
                    </a:solidFill>
                  </a:tcPr>
                </a:tc>
              </a:tr>
              <a:tr h="201168">
                <a:tc>
                  <a:txBody>
                    <a:bodyPr lIns="54864" rIns="54864" tIns="18288" bIns="18288" wrap="square" anchor="ctr"/>
                    <a:lstStyle/>
                    <a:p>
                      <a:pPr algn="l"/>
                      <a:r>
                        <a:rPr sz="850" b="0">
                          <a:solidFill>
                            <a:srgbClr val="000000"/>
                          </a:solidFill>
                          <a:latin typeface="Calibri"/>
                        </a:rPr>
                        <a:t>Stops when the markers are lost, and marks the point on the plot</a:t>
                      </a:r>
                    </a:p>
                  </a:txBody>
                  <a:tcPr/>
                </a:tc>
                <a:tc>
                  <a:txBody>
                    <a:bodyPr lIns="54864" rIns="54864" tIns="18288" bIns="18288" wrap="square" anchor="ctr"/>
                    <a:lstStyle/>
                    <a:p>
                      <a:pPr algn="l"/>
                      <a:r>
                        <a:rPr sz="850" b="0">
                          <a:solidFill>
                            <a:srgbClr val="000000"/>
                          </a:solidFill>
                          <a:latin typeface="Calibri"/>
                        </a:rPr>
                        <a:t>A curve that simply ends looks identical to one that reached the end of its video.</a:t>
                      </a:r>
                    </a:p>
                  </a:txBody>
                  <a:tcPr/>
                </a:tc>
              </a:tr>
              <a:tr h="201168">
                <a:tc>
                  <a:txBody>
                    <a:bodyPr lIns="54864" rIns="54864" tIns="18288" bIns="18288" wrap="square" anchor="ctr"/>
                    <a:lstStyle/>
                    <a:p>
                      <a:pPr algn="l"/>
                      <a:r>
                        <a:rPr sz="850" b="0">
                          <a:solidFill>
                            <a:srgbClr val="000000"/>
                          </a:solidFill>
                          <a:latin typeface="Calibri"/>
                        </a:rPr>
                        <a:t>Verifies the frame rate against a sidecar, and warns when the file's claim is implausible</a:t>
                      </a:r>
                    </a:p>
                  </a:txBody>
                  <a:tcPr/>
                </a:tc>
                <a:tc>
                  <a:txBody>
                    <a:bodyPr lIns="54864" rIns="54864" tIns="18288" bIns="18288" wrap="square" anchor="ctr"/>
                    <a:lstStyle/>
                    <a:p>
                      <a:pPr algn="l"/>
                      <a:r>
                        <a:rPr sz="850" b="0">
                          <a:solidFill>
                            <a:srgbClr val="000000"/>
                          </a:solidFill>
                          <a:latin typeface="Calibri"/>
                        </a:rPr>
                        <a:t>One of our own files declares 35 fps and ran at 19.93; an extensometer's declares 1000.</a:t>
                      </a:r>
                    </a:p>
                  </a:txBody>
                  <a:tcPr/>
                </a:tc>
              </a:tr>
              <a:tr h="201168">
                <a:tc>
                  <a:txBody>
                    <a:bodyPr lIns="54864" rIns="54864" tIns="18288" bIns="18288" wrap="square" anchor="ctr"/>
                    <a:lstStyle/>
                    <a:p>
                      <a:pPr algn="l"/>
                      <a:r>
                        <a:rPr sz="850" b="0">
                          <a:solidFill>
                            <a:srgbClr val="000000"/>
                          </a:solidFill>
                          <a:latin typeface="Calibri"/>
                        </a:rPr>
                        <a:t>Verifies that seeking works, and decodes in order when it does not</a:t>
                      </a:r>
                    </a:p>
                  </a:txBody>
                  <a:tcPr/>
                </a:tc>
                <a:tc>
                  <a:txBody>
                    <a:bodyPr lIns="54864" rIns="54864" tIns="18288" bIns="18288" wrap="square" anchor="ctr"/>
                    <a:lstStyle/>
                    <a:p>
                      <a:pPr algn="l"/>
                      <a:r>
                        <a:rPr sz="850" b="0">
                          <a:solidFill>
                            <a:srgbClr val="000000"/>
                          </a:solidFill>
                          <a:latin typeface="Calibri"/>
                        </a:rPr>
                        <a:t>On one real file cv2 returns stale frames past ~80, silently — it cost a wrong conclusion.</a:t>
                      </a:r>
                    </a:p>
                  </a:txBody>
                  <a:tcPr/>
                </a:tc>
              </a:tr>
            </a:tbl>
          </a:graphicData>
        </a:graphic>
      </p:graphicFrame>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Every figure in p306, p298 and the estimator slides was produced by this engine, driven from a script. Measured 2026-08-27 14:55.</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310</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THE BUILT-IN GUIDE — THE PROCEDURE, IN THE TOOL</a:t>
            </a:r>
          </a:p>
        </p:txBody>
      </p:sp>
      <p:pic>
        <p:nvPicPr>
          <p:cNvPr id="5" name="Picture 4" descr="sf20_guide.png"/>
          <p:cNvPicPr>
            <a:picLocks noChangeAspect="1"/>
          </p:cNvPicPr>
          <p:nvPr/>
        </p:nvPicPr>
        <p:blipFill>
          <a:blip r:embed="rId2"/>
          <a:stretch>
            <a:fillRect/>
          </a:stretch>
        </p:blipFill>
        <p:spPr>
          <a:xfrm>
            <a:off x="979463" y="1097280"/>
            <a:ext cx="5493433" cy="3246120"/>
          </a:xfrm>
          <a:prstGeom prst="rect">
            <a:avLst/>
          </a:prstGeom>
        </p:spPr>
      </p:pic>
      <p:sp>
        <p:nvSpPr>
          <p:cNvPr id="6" name="TextBox 5"/>
          <p:cNvSpPr txBox="1"/>
          <p:nvPr/>
        </p:nvSpPr>
        <p:spPr>
          <a:xfrm>
            <a:off x="7315200" y="1060704"/>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tool carries its own instructions</a:t>
            </a:r>
          </a:p>
        </p:txBody>
      </p:sp>
      <p:sp>
        <p:nvSpPr>
          <p:cNvPr id="7" name="TextBox 6"/>
          <p:cNvSpPr txBox="1"/>
          <p:nvPr/>
        </p:nvSpPr>
        <p:spPr>
          <a:xfrm>
            <a:off x="7315200" y="1408176"/>
            <a:ext cx="4526280" cy="1554480"/>
          </a:xfrm>
          <a:prstGeom prst="rect">
            <a:avLst/>
          </a:prstGeom>
          <a:noFill/>
        </p:spPr>
        <p:txBody>
          <a:bodyPr wrap="square" lIns="45720" rIns="45720" tIns="18288" bIns="18288" anchor="t">
            <a:spAutoFit/>
          </a:bodyPr>
          <a:lstStyle/>
          <a:p>
            <a:pPr algn="l"/>
            <a:r>
              <a:rPr sz="1000" b="0" i="0">
                <a:solidFill>
                  <a:srgbClr val="000000"/>
                </a:solidFill>
                <a:latin typeface="Calibri"/>
              </a:rPr>
              <a:t>Post-processing has an order that matters and one step — the frame rate — that silently distorts everything if it is skipped. A procedure that lives in a document is a procedure nobody reads at the machine, so it lives in the tab: the Guide button beside Add video(s), or View ▸ Guided wizard ▸ DIC post-processing.</a:t>
            </a:r>
          </a:p>
        </p:txBody>
      </p:sp>
      <p:sp>
        <p:nvSpPr>
          <p:cNvPr id="8" name="TextBox 7"/>
          <p:cNvSpPr txBox="1"/>
          <p:nvPr/>
        </p:nvSpPr>
        <p:spPr>
          <a:xfrm>
            <a:off x="7315200" y="3090672"/>
            <a:ext cx="4526280" cy="365760"/>
          </a:xfrm>
          <a:prstGeom prst="rect">
            <a:avLst/>
          </a:prstGeom>
          <a:noFill/>
        </p:spPr>
        <p:txBody>
          <a:bodyPr wrap="square" lIns="45720" rIns="45720" tIns="18288" bIns="18288" anchor="t">
            <a:spAutoFit/>
          </a:bodyPr>
          <a:lstStyle/>
          <a:p>
            <a:pPr algn="l"/>
            <a:r>
              <a:rPr sz="1600" b="0" i="0">
                <a:solidFill>
                  <a:srgbClr val="707070"/>
                </a:solidFill>
                <a:latin typeface="Calibri"/>
              </a:rPr>
              <a:t>It follows what you have actually done</a:t>
            </a:r>
          </a:p>
        </p:txBody>
      </p:sp>
      <p:sp>
        <p:nvSpPr>
          <p:cNvPr id="9" name="TextBox 8"/>
          <p:cNvSpPr txBox="1"/>
          <p:nvPr/>
        </p:nvSpPr>
        <p:spPr>
          <a:xfrm>
            <a:off x="7315200" y="3438144"/>
            <a:ext cx="4526280" cy="1554480"/>
          </a:xfrm>
          <a:prstGeom prst="rect">
            <a:avLst/>
          </a:prstGeom>
          <a:noFill/>
        </p:spPr>
        <p:txBody>
          <a:bodyPr wrap="square" lIns="45720" rIns="45720" tIns="18288" bIns="18288" anchor="t">
            <a:spAutoFit/>
          </a:bodyPr>
          <a:lstStyle/>
          <a:p>
            <a:pPr algn="l"/>
            <a:r>
              <a:rPr sz="1000" b="0" i="0">
                <a:solidFill>
                  <a:srgbClr val="000000"/>
                </a:solidFill>
                <a:latin typeface="Calibri"/>
              </a:rPr>
              <a:t>Each step is ticked when the state it produces EXISTS — a video loaded, both boxes placed, a run finished — not when the reader was told to do it. So it doubles as a “what is left” indicator, and it cannot claim a step is done when it is not.
It is modeless, so it stays open while you work, and “Follow my progress” switches itself off the moment you turn a page by hand.</a:t>
            </a:r>
          </a:p>
        </p:txBody>
      </p:sp>
      <p:sp>
        <p:nvSpPr>
          <p:cNvPr id="10" name="Rectangle 9"/>
          <p:cNvSpPr/>
          <p:nvPr/>
        </p:nvSpPr>
        <p:spPr>
          <a:xfrm>
            <a:off x="365760" y="4572000"/>
            <a:ext cx="6720840" cy="47548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Ticked · current · pending, at a glance. The window is a real screenshot, rendered by driving the widget — so it cannot go stale unnoticed.</a:t>
            </a:r>
          </a:p>
        </p:txBody>
      </p:sp>
      <p:sp>
        <p:nvSpPr>
          <p:cNvPr id="11" name="TextBox 10"/>
          <p:cNvSpPr txBox="1"/>
          <p:nvPr/>
        </p:nvSpPr>
        <p:spPr>
          <a:xfrm>
            <a:off x="365760" y="5193792"/>
            <a:ext cx="114757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seven steps</a:t>
            </a:r>
          </a:p>
        </p:txBody>
      </p:sp>
      <p:sp>
        <p:nvSpPr>
          <p:cNvPr id="12" name="TextBox 11"/>
          <p:cNvSpPr txBox="1"/>
          <p:nvPr/>
        </p:nvSpPr>
        <p:spPr>
          <a:xfrm>
            <a:off x="365760" y="5541264"/>
            <a:ext cx="11475720" cy="658368"/>
          </a:xfrm>
          <a:prstGeom prst="rect">
            <a:avLst/>
          </a:prstGeom>
          <a:noFill/>
        </p:spPr>
        <p:txBody>
          <a:bodyPr wrap="square" lIns="45720" rIns="45720" tIns="18288" bIns="18288" anchor="t">
            <a:spAutoFit/>
          </a:bodyPr>
          <a:lstStyle/>
          <a:p>
            <a:pPr algn="l"/>
            <a:r>
              <a:rPr sz="1150" b="1" i="0">
                <a:solidFill>
                  <a:srgbClr val="1F3F2F"/>
                </a:solidFill>
                <a:latin typeface="Calibri"/>
              </a:rPr>
              <a:t>1 Add the video or videos → 2 Check the frame rate → 3 Fix the reference frame → 4 Place the two boxes → 5 Confirm the gauge → 6 Run it → 7 Take the results away</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step list on these slides is read from PostProcTab.GUIDE_STEPS when the deck is built, not retyped — so the deck and the tool cannot say different things.</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311</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THE PROCEDURE — SETTING IT UP</a:t>
            </a:r>
          </a:p>
        </p:txBody>
      </p:sp>
      <p:sp>
        <p:nvSpPr>
          <p:cNvPr id="5" name="TextBox 4"/>
          <p:cNvSpPr txBox="1"/>
          <p:nvPr/>
        </p:nvSpPr>
        <p:spPr>
          <a:xfrm>
            <a:off x="411480" y="1024128"/>
            <a:ext cx="11430000" cy="310896"/>
          </a:xfrm>
          <a:prstGeom prst="rect">
            <a:avLst/>
          </a:prstGeom>
          <a:noFill/>
        </p:spPr>
        <p:txBody>
          <a:bodyPr wrap="square" lIns="45720" rIns="45720" tIns="18288" bIns="18288" anchor="t">
            <a:spAutoFit/>
          </a:bodyPr>
          <a:lstStyle/>
          <a:p>
            <a:pPr algn="l"/>
            <a:r>
              <a:rPr sz="1100" b="0" i="1">
                <a:solidFill>
                  <a:srgbClr val="707070"/>
                </a:solidFill>
                <a:latin typeface="Calibri"/>
              </a:rPr>
              <a:t>Steps 1–4 of 7, as the tool states them. The right-hand column is the part that is easy to get wrong.</a:t>
            </a:r>
          </a:p>
        </p:txBody>
      </p:sp>
      <p:graphicFrame>
        <p:nvGraphicFramePr>
          <p:cNvPr id="6" name="Table 5"/>
          <p:cNvGraphicFramePr>
            <a:graphicFrameLocks noGrp="1"/>
          </p:cNvGraphicFramePr>
          <p:nvPr/>
        </p:nvGraphicFramePr>
        <p:xfrm>
          <a:off x="411480" y="1426464"/>
          <a:ext cx="11429999" cy="4343400"/>
        </p:xfrm>
        <a:graphic>
          <a:graphicData uri="http://schemas.openxmlformats.org/drawingml/2006/table">
            <a:tbl>
              <a:tblPr firstRow="1" bandRow="1">
                <a:tableStyleId>{5C22544A-7EE6-4342-B048-85BDC9FD1C3A}</a:tableStyleId>
              </a:tblPr>
              <a:tblGrid>
                <a:gridCol w="310896"/>
                <a:gridCol w="1874519"/>
                <a:gridCol w="4709160"/>
                <a:gridCol w="4535424"/>
              </a:tblGrid>
              <a:tr h="868680">
                <a:tc>
                  <a:txBody>
                    <a:bodyPr lIns="54864" rIns="54864" tIns="18288" bIns="18288" wrap="square" anchor="ctr"/>
                    <a:lstStyle/>
                    <a:p>
                      <a:pPr algn="l"/>
                      <a:r>
                        <a:rPr sz="1000" b="1">
                          <a:solidFill>
                            <a:srgbClr val="FFFFFF"/>
                          </a:solidFill>
                          <a:latin typeface="Calibri"/>
                        </a:rPr>
                        <a:t>#</a:t>
                      </a:r>
                    </a:p>
                  </a:txBody>
                  <a:tcPr>
                    <a:solidFill>
                      <a:srgbClr val="143D2F"/>
                    </a:solidFill>
                  </a:tcPr>
                </a:tc>
                <a:tc>
                  <a:txBody>
                    <a:bodyPr lIns="54864" rIns="54864" tIns="18288" bIns="18288" wrap="square" anchor="ctr"/>
                    <a:lstStyle/>
                    <a:p>
                      <a:pPr algn="l"/>
                      <a:r>
                        <a:rPr sz="1000" b="1">
                          <a:solidFill>
                            <a:srgbClr val="FFFFFF"/>
                          </a:solidFill>
                          <a:latin typeface="Calibri"/>
                        </a:rPr>
                        <a:t>Step</a:t>
                      </a:r>
                    </a:p>
                  </a:txBody>
                  <a:tcPr>
                    <a:solidFill>
                      <a:srgbClr val="143D2F"/>
                    </a:solidFill>
                  </a:tcPr>
                </a:tc>
                <a:tc>
                  <a:txBody>
                    <a:bodyPr lIns="54864" rIns="54864" tIns="18288" bIns="18288" wrap="square" anchor="ctr"/>
                    <a:lstStyle/>
                    <a:p>
                      <a:pPr algn="l"/>
                      <a:r>
                        <a:rPr sz="1000" b="1">
                          <a:solidFill>
                            <a:srgbClr val="FFFFFF"/>
                          </a:solidFill>
                          <a:latin typeface="Calibri"/>
                        </a:rPr>
                        <a:t>What to do</a:t>
                      </a:r>
                    </a:p>
                  </a:txBody>
                  <a:tcPr>
                    <a:solidFill>
                      <a:srgbClr val="143D2F"/>
                    </a:solidFill>
                  </a:tcPr>
                </a:tc>
                <a:tc>
                  <a:txBody>
                    <a:bodyPr lIns="54864" rIns="54864" tIns="18288" bIns="18288" wrap="square" anchor="ctr"/>
                    <a:lstStyle/>
                    <a:p>
                      <a:pPr algn="l"/>
                      <a:r>
                        <a:rPr sz="1000" b="1">
                          <a:solidFill>
                            <a:srgbClr val="FFFFFF"/>
                          </a:solidFill>
                          <a:latin typeface="Calibri"/>
                        </a:rPr>
                        <a:t>The part that catches people out</a:t>
                      </a:r>
                    </a:p>
                  </a:txBody>
                  <a:tcPr>
                    <a:solidFill>
                      <a:srgbClr val="143D2F"/>
                    </a:solidFill>
                  </a:tcPr>
                </a:tc>
              </a:tr>
              <a:tr h="868680">
                <a:tc>
                  <a:txBody>
                    <a:bodyPr lIns="54864" rIns="54864" tIns="18288" bIns="18288" wrap="square" anchor="ctr"/>
                    <a:lstStyle/>
                    <a:p>
                      <a:pPr algn="l"/>
                      <a:r>
                        <a:rPr sz="850" b="0">
                          <a:solidFill>
                            <a:srgbClr val="000000"/>
                          </a:solidFill>
                          <a:latin typeface="Calibri"/>
                        </a:rPr>
                        <a:t>1</a:t>
                      </a:r>
                    </a:p>
                  </a:txBody>
                  <a:tcPr/>
                </a:tc>
                <a:tc>
                  <a:txBody>
                    <a:bodyPr lIns="54864" rIns="54864" tIns="18288" bIns="18288" wrap="square" anchor="ctr"/>
                    <a:lstStyle/>
                    <a:p>
                      <a:pPr algn="l"/>
                      <a:r>
                        <a:rPr sz="850" b="0">
                          <a:solidFill>
                            <a:srgbClr val="000000"/>
                          </a:solidFill>
                          <a:latin typeface="Calibri"/>
                        </a:rPr>
                        <a:t>Add the video or videos</a:t>
                      </a:r>
                    </a:p>
                  </a:txBody>
                  <a:tcPr/>
                </a:tc>
                <a:tc>
                  <a:txBody>
                    <a:bodyPr lIns="54864" rIns="54864" tIns="18288" bIns="18288" wrap="square" anchor="ctr"/>
                    <a:lstStyle/>
                    <a:p>
                      <a:pPr algn="l"/>
                      <a:r>
                        <a:rPr sz="850" b="0">
                          <a:solidFill>
                            <a:srgbClr val="000000"/>
                          </a:solidFill>
                          <a:latin typeface="Calibri"/>
                        </a:rPr>
                        <a:t>Press Add video(s)… at the top left and pick one file, or several at once. Any format OpenCV can read works — .avi, .mp4, .mkv, .mov and more.</a:t>
                      </a:r>
                    </a:p>
                  </a:txBody>
                  <a:tcPr/>
                </a:tc>
                <a:tc>
                  <a:txBody>
                    <a:bodyPr lIns="54864" rIns="54864" tIns="18288" bIns="18288" wrap="square" anchor="ctr"/>
                    <a:lstStyle/>
                    <a:p>
                      <a:pPr algn="l"/>
                      <a:r>
                        <a:rPr sz="850" b="0">
                          <a:solidFill>
                            <a:srgbClr val="000000"/>
                          </a:solidFill>
                          <a:latin typeface="Calibri"/>
                        </a:rPr>
                        <a:t>Every video keeps its OWN boxes, frame rate and settings, so a rig recording and an extensometer recording can sit in the same list without one spoiling the other.</a:t>
                      </a:r>
                    </a:p>
                  </a:txBody>
                  <a:tcPr/>
                </a:tc>
              </a:tr>
              <a:tr h="868680">
                <a:tc>
                  <a:txBody>
                    <a:bodyPr lIns="54864" rIns="54864" tIns="18288" bIns="18288" wrap="square" anchor="ctr"/>
                    <a:lstStyle/>
                    <a:p>
                      <a:pPr algn="l"/>
                      <a:r>
                        <a:rPr sz="850" b="0">
                          <a:solidFill>
                            <a:srgbClr val="000000"/>
                          </a:solidFill>
                          <a:latin typeface="Calibri"/>
                        </a:rPr>
                        <a:t>2</a:t>
                      </a:r>
                    </a:p>
                  </a:txBody>
                  <a:tcPr/>
                </a:tc>
                <a:tc>
                  <a:txBody>
                    <a:bodyPr lIns="54864" rIns="54864" tIns="18288" bIns="18288" wrap="square" anchor="ctr"/>
                    <a:lstStyle/>
                    <a:p>
                      <a:pPr algn="l"/>
                      <a:r>
                        <a:rPr sz="850" b="0">
                          <a:solidFill>
                            <a:srgbClr val="000000"/>
                          </a:solidFill>
                          <a:latin typeface="Calibri"/>
                        </a:rPr>
                        <a:t>Check the frame rate</a:t>
                      </a:r>
                    </a:p>
                  </a:txBody>
                  <a:tcPr/>
                </a:tc>
                <a:tc>
                  <a:txBody>
                    <a:bodyPr lIns="54864" rIns="54864" tIns="18288" bIns="18288" wrap="square" anchor="ctr"/>
                    <a:lstStyle/>
                    <a:p>
                      <a:pPr algn="l"/>
                      <a:r>
                        <a:rPr sz="850" b="0">
                          <a:solidFill>
                            <a:srgbClr val="000000"/>
                          </a:solidFill>
                          <a:latin typeface="Calibri"/>
                        </a:rPr>
                        <a:t>Look at Timebase ▸ Frame rate and make sure it is the rate the camera actually ran at. This is the one setting that silently distorts a result, because it scales the whole time axis.</a:t>
                      </a:r>
                    </a:p>
                  </a:txBody>
                  <a:tcPr/>
                </a:tc>
                <a:tc>
                  <a:txBody>
                    <a:bodyPr lIns="54864" rIns="54864" tIns="18288" bIns="18288" wrap="square" anchor="ctr"/>
                    <a:lstStyle/>
                    <a:p>
                      <a:pPr algn="l"/>
                      <a:r>
                        <a:rPr sz="850" b="0">
                          <a:solidFill>
                            <a:srgbClr val="000000"/>
                          </a:solidFill>
                          <a:latin typeface="Calibri"/>
                        </a:rPr>
                        <a:t>A container's fps field is what the writer claimed, not what the camera did. One of our own recordings declares 35 fps and actually ran at 19.93 — believing it would stretch time by 1.76×.</a:t>
                      </a:r>
                    </a:p>
                  </a:txBody>
                  <a:tcPr/>
                </a:tc>
              </a:tr>
              <a:tr h="868680">
                <a:tc>
                  <a:txBody>
                    <a:bodyPr lIns="54864" rIns="54864" tIns="18288" bIns="18288" wrap="square" anchor="ctr"/>
                    <a:lstStyle/>
                    <a:p>
                      <a:pPr algn="l"/>
                      <a:r>
                        <a:rPr sz="850" b="0">
                          <a:solidFill>
                            <a:srgbClr val="000000"/>
                          </a:solidFill>
                          <a:latin typeface="Calibri"/>
                        </a:rPr>
                        <a:t>3</a:t>
                      </a:r>
                    </a:p>
                  </a:txBody>
                  <a:tcPr/>
                </a:tc>
                <a:tc>
                  <a:txBody>
                    <a:bodyPr lIns="54864" rIns="54864" tIns="18288" bIns="18288" wrap="square" anchor="ctr"/>
                    <a:lstStyle/>
                    <a:p>
                      <a:pPr algn="l"/>
                      <a:r>
                        <a:rPr sz="850" b="0">
                          <a:solidFill>
                            <a:srgbClr val="000000"/>
                          </a:solidFill>
                          <a:latin typeface="Calibri"/>
                        </a:rPr>
                        <a:t>Fix the reference frame</a:t>
                      </a:r>
                    </a:p>
                  </a:txBody>
                  <a:tcPr/>
                </a:tc>
                <a:tc>
                  <a:txBody>
                    <a:bodyPr lIns="54864" rIns="54864" tIns="18288" bIns="18288" wrap="square" anchor="ctr"/>
                    <a:lstStyle/>
                    <a:p>
                      <a:pPr algn="l"/>
                      <a:r>
                        <a:rPr sz="850" b="0">
                          <a:solidFill>
                            <a:srgbClr val="000000"/>
                          </a:solidFill>
                          <a:latin typeface="Calibri"/>
                        </a:rPr>
                        <a:t>Drag the Reference frame slider, or play the video with ▶ ⏸ ⏹, to the frame where strain should read zero — normally just after preload, before the pull starts — then press Set this frame as the reference.</a:t>
                      </a:r>
                    </a:p>
                  </a:txBody>
                  <a:tcPr/>
                </a:tc>
                <a:tc>
                  <a:txBody>
                    <a:bodyPr lIns="54864" rIns="54864" tIns="18288" bIns="18288" wrap="square" anchor="ctr"/>
                    <a:lstStyle/>
                    <a:p>
                      <a:pPr algn="l"/>
                      <a:r>
                        <a:rPr sz="850" b="0">
                          <a:solidFill>
                            <a:srgbClr val="000000"/>
                          </a:solidFill>
                          <a:latin typeface="Calibri"/>
                        </a:rPr>
                        <a:t>If the recording holds no clean frame of the specimen at rest — it starts after the pull began, or the early frames are mid-adjustment — press Use an image… and pick a still instead. It must be the SAME size as the video, and the boxes are then placed on it, because that is where Px₀ is measured.</a:t>
                      </a:r>
                    </a:p>
                  </a:txBody>
                  <a:tcPr/>
                </a:tc>
              </a:tr>
              <a:tr h="868680">
                <a:tc>
                  <a:txBody>
                    <a:bodyPr lIns="54864" rIns="54864" tIns="18288" bIns="18288" wrap="square" anchor="ctr"/>
                    <a:lstStyle/>
                    <a:p>
                      <a:pPr algn="l"/>
                      <a:r>
                        <a:rPr sz="850" b="0">
                          <a:solidFill>
                            <a:srgbClr val="000000"/>
                          </a:solidFill>
                          <a:latin typeface="Calibri"/>
                        </a:rPr>
                        <a:t>4</a:t>
                      </a:r>
                    </a:p>
                  </a:txBody>
                  <a:tcPr/>
                </a:tc>
                <a:tc>
                  <a:txBody>
                    <a:bodyPr lIns="54864" rIns="54864" tIns="18288" bIns="18288" wrap="square" anchor="ctr"/>
                    <a:lstStyle/>
                    <a:p>
                      <a:pPr algn="l"/>
                      <a:r>
                        <a:rPr sz="850" b="0">
                          <a:solidFill>
                            <a:srgbClr val="000000"/>
                          </a:solidFill>
                          <a:latin typeface="Calibri"/>
                        </a:rPr>
                        <a:t>Place the two boxes</a:t>
                      </a:r>
                    </a:p>
                  </a:txBody>
                  <a:tcPr/>
                </a:tc>
                <a:tc>
                  <a:txBody>
                    <a:bodyPr lIns="54864" rIns="54864" tIns="18288" bIns="18288" wrap="square" anchor="ctr"/>
                    <a:lstStyle/>
                    <a:p>
                      <a:pPr algn="l"/>
                      <a:r>
                        <a:rPr sz="850" b="0">
                          <a:solidFill>
                            <a:srgbClr val="000000"/>
                          </a:solidFill>
                          <a:latin typeface="Calibri"/>
                        </a:rPr>
                        <a:t>Press Auto-detect markers, or click near each marker and the box snaps to that marker's centre. Drag a box to move it, or select one and nudge it with the arrow keys.</a:t>
                      </a:r>
                    </a:p>
                  </a:txBody>
                  <a:tcPr/>
                </a:tc>
                <a:tc>
                  <a:txBody>
                    <a:bodyPr lIns="54864" rIns="54864" tIns="18288" bIns="18288" wrap="square" anchor="ctr"/>
                    <a:lstStyle/>
                    <a:p>
                      <a:pPr algn="l"/>
                      <a:r>
                        <a:rPr sz="850" b="0">
                          <a:solidFill>
                            <a:srgbClr val="000000"/>
                          </a:solidFill>
                          <a:latin typeface="Calibri"/>
                        </a:rPr>
                        <a:t>Make the box wider than the marker's radius. This is the single biggest lever on precision: a patch that sits inside the dot has only flat black to lock onto and is about 13× noisier than one that reaches past the edge.</a:t>
                      </a:r>
                    </a:p>
                  </a:txBody>
                  <a:tcPr/>
                </a:tc>
              </a:tr>
            </a:tbl>
          </a:graphicData>
        </a:graphic>
      </p:graphicFrame>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Read from the tool at build time. Every step's remaining notes are in the guide window itself — Guide, or Ctrl+Shift+P.</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312</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SF18 · THE PROCEDURE — MEASURING, AND TAKING THE RESULTS</a:t>
            </a:r>
          </a:p>
        </p:txBody>
      </p:sp>
      <p:sp>
        <p:nvSpPr>
          <p:cNvPr id="5" name="TextBox 4"/>
          <p:cNvSpPr txBox="1"/>
          <p:nvPr/>
        </p:nvSpPr>
        <p:spPr>
          <a:xfrm>
            <a:off x="411480" y="1024128"/>
            <a:ext cx="11430000" cy="310896"/>
          </a:xfrm>
          <a:prstGeom prst="rect">
            <a:avLst/>
          </a:prstGeom>
          <a:noFill/>
        </p:spPr>
        <p:txBody>
          <a:bodyPr wrap="square" lIns="45720" rIns="45720" tIns="18288" bIns="18288" anchor="t">
            <a:spAutoFit/>
          </a:bodyPr>
          <a:lstStyle/>
          <a:p>
            <a:pPr algn="l"/>
            <a:r>
              <a:rPr sz="1100" b="0" i="1">
                <a:solidFill>
                  <a:srgbClr val="707070"/>
                </a:solidFill>
                <a:latin typeface="Calibri"/>
              </a:rPr>
              <a:t>Steps 5–7 of 7, as the tool states them. The right-hand column is the part that is easy to get wrong.</a:t>
            </a:r>
          </a:p>
        </p:txBody>
      </p:sp>
      <p:graphicFrame>
        <p:nvGraphicFramePr>
          <p:cNvPr id="6" name="Table 5"/>
          <p:cNvGraphicFramePr>
            <a:graphicFrameLocks noGrp="1"/>
          </p:cNvGraphicFramePr>
          <p:nvPr/>
        </p:nvGraphicFramePr>
        <p:xfrm>
          <a:off x="411480" y="1426464"/>
          <a:ext cx="11429999" cy="3474720"/>
        </p:xfrm>
        <a:graphic>
          <a:graphicData uri="http://schemas.openxmlformats.org/drawingml/2006/table">
            <a:tbl>
              <a:tblPr firstRow="1" bandRow="1">
                <a:tableStyleId>{5C22544A-7EE6-4342-B048-85BDC9FD1C3A}</a:tableStyleId>
              </a:tblPr>
              <a:tblGrid>
                <a:gridCol w="310896"/>
                <a:gridCol w="1874519"/>
                <a:gridCol w="4709160"/>
                <a:gridCol w="4535424"/>
              </a:tblGrid>
              <a:tr h="868680">
                <a:tc>
                  <a:txBody>
                    <a:bodyPr lIns="54864" rIns="54864" tIns="18288" bIns="18288" wrap="square" anchor="ctr"/>
                    <a:lstStyle/>
                    <a:p>
                      <a:pPr algn="l"/>
                      <a:r>
                        <a:rPr sz="1000" b="1">
                          <a:solidFill>
                            <a:srgbClr val="FFFFFF"/>
                          </a:solidFill>
                          <a:latin typeface="Calibri"/>
                        </a:rPr>
                        <a:t>#</a:t>
                      </a:r>
                    </a:p>
                  </a:txBody>
                  <a:tcPr>
                    <a:solidFill>
                      <a:srgbClr val="143D2F"/>
                    </a:solidFill>
                  </a:tcPr>
                </a:tc>
                <a:tc>
                  <a:txBody>
                    <a:bodyPr lIns="54864" rIns="54864" tIns="18288" bIns="18288" wrap="square" anchor="ctr"/>
                    <a:lstStyle/>
                    <a:p>
                      <a:pPr algn="l"/>
                      <a:r>
                        <a:rPr sz="1000" b="1">
                          <a:solidFill>
                            <a:srgbClr val="FFFFFF"/>
                          </a:solidFill>
                          <a:latin typeface="Calibri"/>
                        </a:rPr>
                        <a:t>Step</a:t>
                      </a:r>
                    </a:p>
                  </a:txBody>
                  <a:tcPr>
                    <a:solidFill>
                      <a:srgbClr val="143D2F"/>
                    </a:solidFill>
                  </a:tcPr>
                </a:tc>
                <a:tc>
                  <a:txBody>
                    <a:bodyPr lIns="54864" rIns="54864" tIns="18288" bIns="18288" wrap="square" anchor="ctr"/>
                    <a:lstStyle/>
                    <a:p>
                      <a:pPr algn="l"/>
                      <a:r>
                        <a:rPr sz="1000" b="1">
                          <a:solidFill>
                            <a:srgbClr val="FFFFFF"/>
                          </a:solidFill>
                          <a:latin typeface="Calibri"/>
                        </a:rPr>
                        <a:t>What to do</a:t>
                      </a:r>
                    </a:p>
                  </a:txBody>
                  <a:tcPr>
                    <a:solidFill>
                      <a:srgbClr val="143D2F"/>
                    </a:solidFill>
                  </a:tcPr>
                </a:tc>
                <a:tc>
                  <a:txBody>
                    <a:bodyPr lIns="54864" rIns="54864" tIns="18288" bIns="18288" wrap="square" anchor="ctr"/>
                    <a:lstStyle/>
                    <a:p>
                      <a:pPr algn="l"/>
                      <a:r>
                        <a:rPr sz="1000" b="1">
                          <a:solidFill>
                            <a:srgbClr val="FFFFFF"/>
                          </a:solidFill>
                          <a:latin typeface="Calibri"/>
                        </a:rPr>
                        <a:t>The part that catches people out</a:t>
                      </a:r>
                    </a:p>
                  </a:txBody>
                  <a:tcPr>
                    <a:solidFill>
                      <a:srgbClr val="143D2F"/>
                    </a:solidFill>
                  </a:tcPr>
                </a:tc>
              </a:tr>
              <a:tr h="868680">
                <a:tc>
                  <a:txBody>
                    <a:bodyPr lIns="54864" rIns="54864" tIns="18288" bIns="18288" wrap="square" anchor="ctr"/>
                    <a:lstStyle/>
                    <a:p>
                      <a:pPr algn="l"/>
                      <a:r>
                        <a:rPr sz="850" b="0">
                          <a:solidFill>
                            <a:srgbClr val="000000"/>
                          </a:solidFill>
                          <a:latin typeface="Calibri"/>
                        </a:rPr>
                        <a:t>5</a:t>
                      </a:r>
                    </a:p>
                  </a:txBody>
                  <a:tcPr/>
                </a:tc>
                <a:tc>
                  <a:txBody>
                    <a:bodyPr lIns="54864" rIns="54864" tIns="18288" bIns="18288" wrap="square" anchor="ctr"/>
                    <a:lstStyle/>
                    <a:p>
                      <a:pPr algn="l"/>
                      <a:r>
                        <a:rPr sz="850" b="0">
                          <a:solidFill>
                            <a:srgbClr val="000000"/>
                          </a:solidFill>
                          <a:latin typeface="Calibri"/>
                        </a:rPr>
                        <a:t>Confirm the gauge</a:t>
                      </a:r>
                    </a:p>
                  </a:txBody>
                  <a:tcPr/>
                </a:tc>
                <a:tc>
                  <a:txBody>
                    <a:bodyPr lIns="54864" rIns="54864" tIns="18288" bIns="18288" wrap="square" anchor="ctr"/>
                    <a:lstStyle/>
                    <a:p>
                      <a:pPr algn="l"/>
                      <a:r>
                        <a:rPr sz="850" b="0">
                          <a:solidFill>
                            <a:srgbClr val="000000"/>
                          </a:solidFill>
                          <a:latin typeface="Calibri"/>
                        </a:rPr>
                        <a:t>Type the real distance between the two markers into Gauge (A→B) — or, if what you actually know is the calibrated scale, type that into …or px per mm and the gauge follows.</a:t>
                      </a:r>
                    </a:p>
                  </a:txBody>
                  <a:tcPr/>
                </a:tc>
                <a:tc>
                  <a:txBody>
                    <a:bodyPr lIns="54864" rIns="54864" tIns="18288" bIns="18288" wrap="square" anchor="ctr"/>
                    <a:lstStyle/>
                    <a:p>
                      <a:pPr algn="l"/>
                      <a:r>
                        <a:rPr sz="850" b="0">
                          <a:solidFill>
                            <a:srgbClr val="000000"/>
                          </a:solidFill>
                          <a:latin typeface="Calibri"/>
                        </a:rPr>
                        <a:t>The two are the SAME NUMBER once the boxes are placed: px/mm = Px₀ ÷ gauge. Enter whichever one you measured and let the dialog do the arithmetic.</a:t>
                      </a:r>
                    </a:p>
                  </a:txBody>
                  <a:tcPr/>
                </a:tc>
              </a:tr>
              <a:tr h="868680">
                <a:tc>
                  <a:txBody>
                    <a:bodyPr lIns="54864" rIns="54864" tIns="18288" bIns="18288" wrap="square" anchor="ctr"/>
                    <a:lstStyle/>
                    <a:p>
                      <a:pPr algn="l"/>
                      <a:r>
                        <a:rPr sz="850" b="0">
                          <a:solidFill>
                            <a:srgbClr val="000000"/>
                          </a:solidFill>
                          <a:latin typeface="Calibri"/>
                        </a:rPr>
                        <a:t>6</a:t>
                      </a:r>
                    </a:p>
                  </a:txBody>
                  <a:tcPr/>
                </a:tc>
                <a:tc>
                  <a:txBody>
                    <a:bodyPr lIns="54864" rIns="54864" tIns="18288" bIns="18288" wrap="square" anchor="ctr"/>
                    <a:lstStyle/>
                    <a:p>
                      <a:pPr algn="l"/>
                      <a:r>
                        <a:rPr sz="850" b="0">
                          <a:solidFill>
                            <a:srgbClr val="000000"/>
                          </a:solidFill>
                          <a:latin typeface="Calibri"/>
                        </a:rPr>
                        <a:t>Run it</a:t>
                      </a:r>
                    </a:p>
                  </a:txBody>
                  <a:tcPr/>
                </a:tc>
                <a:tc>
                  <a:txBody>
                    <a:bodyPr lIns="54864" rIns="54864" tIns="18288" bIns="18288" wrap="square" anchor="ctr"/>
                    <a:lstStyle/>
                    <a:p>
                      <a:pPr algn="l"/>
                      <a:r>
                        <a:rPr sz="850" b="0">
                          <a:solidFill>
                            <a:srgbClr val="000000"/>
                          </a:solidFill>
                          <a:latin typeface="Calibri"/>
                        </a:rPr>
                        <a:t>Press Run this video, or Run all pending to work through every video that has its boxes placed, one after another, plotting each as it finishes.</a:t>
                      </a:r>
                    </a:p>
                  </a:txBody>
                  <a:tcPr/>
                </a:tc>
                <a:tc>
                  <a:txBody>
                    <a:bodyPr lIns="54864" rIns="54864" tIns="18288" bIns="18288" wrap="square" anchor="ctr"/>
                    <a:lstStyle/>
                    <a:p>
                      <a:pPr algn="l"/>
                      <a:r>
                        <a:rPr sz="850" b="0">
                          <a:solidFill>
                            <a:srgbClr val="000000"/>
                          </a:solidFill>
                          <a:latin typeface="Calibri"/>
                        </a:rPr>
                        <a:t>Watch the Px₀ / L / ε readout directly above the video. Seeing L climb while the specimen stretches is what makes the tracking believable — a strain curve alone gives no way to tell a real 2 % from a marker that has quietly slipped.</a:t>
                      </a:r>
                    </a:p>
                  </a:txBody>
                  <a:tcPr/>
                </a:tc>
              </a:tr>
              <a:tr h="868680">
                <a:tc>
                  <a:txBody>
                    <a:bodyPr lIns="54864" rIns="54864" tIns="18288" bIns="18288" wrap="square" anchor="ctr"/>
                    <a:lstStyle/>
                    <a:p>
                      <a:pPr algn="l"/>
                      <a:r>
                        <a:rPr sz="850" b="0">
                          <a:solidFill>
                            <a:srgbClr val="000000"/>
                          </a:solidFill>
                          <a:latin typeface="Calibri"/>
                        </a:rPr>
                        <a:t>7</a:t>
                      </a:r>
                    </a:p>
                  </a:txBody>
                  <a:tcPr/>
                </a:tc>
                <a:tc>
                  <a:txBody>
                    <a:bodyPr lIns="54864" rIns="54864" tIns="18288" bIns="18288" wrap="square" anchor="ctr"/>
                    <a:lstStyle/>
                    <a:p>
                      <a:pPr algn="l"/>
                      <a:r>
                        <a:rPr sz="850" b="0">
                          <a:solidFill>
                            <a:srgbClr val="000000"/>
                          </a:solidFill>
                          <a:latin typeface="Calibri"/>
                        </a:rPr>
                        <a:t>Take the results away</a:t>
                      </a:r>
                    </a:p>
                  </a:txBody>
                  <a:tcPr/>
                </a:tc>
                <a:tc>
                  <a:txBody>
                    <a:bodyPr lIns="54864" rIns="54864" tIns="18288" bIns="18288" wrap="square" anchor="ctr"/>
                    <a:lstStyle/>
                    <a:p>
                      <a:pPr algn="l"/>
                      <a:r>
                        <a:rPr sz="850" b="0">
                          <a:solidFill>
                            <a:srgbClr val="000000"/>
                          </a:solidFill>
                          <a:latin typeface="Calibri"/>
                        </a:rPr>
                        <a:t>The plot and the results table are both live. When you are happy with them, save what you need.</a:t>
                      </a:r>
                    </a:p>
                  </a:txBody>
                  <a:tcPr/>
                </a:tc>
                <a:tc>
                  <a:txBody>
                    <a:bodyPr lIns="54864" rIns="54864" tIns="18288" bIns="18288" wrap="square" anchor="ctr"/>
                    <a:lstStyle/>
                    <a:p>
                      <a:pPr algn="l"/>
                      <a:r>
                        <a:rPr sz="850" b="0">
                          <a:solidFill>
                            <a:srgbClr val="000000"/>
                          </a:solidFill>
                          <a:latin typeface="Calibri"/>
                        </a:rPr>
                        <a:t>The toolbar above the plot pans and zooms it, the same one the Load and Stress/Strain plots carry. A zoom set during a run is kept as the curve grows; Home returns to the whole curve, and a new run starts fresh.</a:t>
                      </a:r>
                    </a:p>
                  </a:txBody>
                  <a:tcPr/>
                </a:tc>
              </a:tr>
            </a:tbl>
          </a:graphicData>
        </a:graphic>
      </p:graphicFrame>
      <p:sp>
        <p:nvSpPr>
          <p:cNvPr id="7" name="TextBox 6"/>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Read from the tool at build time. Every step's remaining notes are in the guide window itself — Guide, or Ctrl+Shift+P.</a:t>
            </a:r>
          </a:p>
        </p:txBody>
      </p:sp>
      <p:sp>
        <p:nvSpPr>
          <p:cNvPr id="8" name="TextBox 7"/>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313</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WHY 20.9 px/mm — NOT A SETTING, BUT WHAT THE FRAME LEAVES</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px/mm is not a number anyone typed in. It is fixed by the lens, the working distance and the sensor crop, and it is what the FIELD OF VIEW leaves behind. The field of view is the thing that was actually chosen, and this is the constraint that chose it.</a:t>
            </a:r>
          </a:p>
        </p:txBody>
      </p:sp>
      <p:pic>
        <p:nvPicPr>
          <p:cNvPr id="6" name="Picture 5" descr="pxmm_tradeoff.png"/>
          <p:cNvPicPr>
            <a:picLocks noChangeAspect="1"/>
          </p:cNvPicPr>
          <p:nvPr/>
        </p:nvPicPr>
        <p:blipFill>
          <a:blip r:embed="rId2"/>
          <a:stretch>
            <a:fillRect/>
          </a:stretch>
        </p:blipFill>
        <p:spPr>
          <a:xfrm>
            <a:off x="413353" y="1481328"/>
            <a:ext cx="11380532" cy="2670048"/>
          </a:xfrm>
          <a:prstGeom prst="rect">
            <a:avLst/>
          </a:prstGeom>
        </p:spPr>
      </p:pic>
      <p:sp>
        <p:nvSpPr>
          <p:cNvPr id="7" name="TextBox 6"/>
          <p:cNvSpPr txBox="1"/>
          <p:nvPr/>
        </p:nvSpPr>
        <p:spPr>
          <a:xfrm>
            <a:off x="411480" y="426110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binding constraint</a:t>
            </a:r>
          </a:p>
        </p:txBody>
      </p:sp>
      <p:sp>
        <p:nvSpPr>
          <p:cNvPr id="8" name="TextBox 7"/>
          <p:cNvSpPr txBox="1"/>
          <p:nvPr/>
        </p:nvSpPr>
        <p:spPr>
          <a:xfrm>
            <a:off x="411480" y="4608576"/>
            <a:ext cx="3703320" cy="1481328"/>
          </a:xfrm>
          <a:prstGeom prst="rect">
            <a:avLst/>
          </a:prstGeom>
          <a:noFill/>
        </p:spPr>
        <p:txBody>
          <a:bodyPr wrap="square" lIns="45720" rIns="45720" tIns="18288" bIns="18288" anchor="t">
            <a:spAutoFit/>
          </a:bodyPr>
          <a:lstStyle/>
          <a:p>
            <a:pPr algn="l"/>
            <a:r>
              <a:rPr sz="1000" b="0" i="0">
                <a:solidFill>
                  <a:srgbClr val="000000"/>
                </a:solidFill>
                <a:latin typeface="Calibri"/>
              </a:rPr>
              <a:t>A fracture test is only useful if the markers stay in frame until the specimen breaks. On a 2348 px crop with a 75 px box, a marker reaches the edge at 31 % strain. The rig's own travel backstop is 37.5 % on an 80 mm gauge, so the frame very nearly outlasts the machine — and the full 2448 px sensor takes it to 37 %, past the backstop.</a:t>
            </a:r>
          </a:p>
        </p:txBody>
      </p:sp>
      <p:sp>
        <p:nvSpPr>
          <p:cNvPr id="9" name="TextBox 8"/>
          <p:cNvSpPr txBox="1"/>
          <p:nvPr/>
        </p:nvSpPr>
        <p:spPr>
          <a:xfrm>
            <a:off x="4343400" y="426110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much margin that actually is</a:t>
            </a:r>
          </a:p>
        </p:txBody>
      </p:sp>
      <p:graphicFrame>
        <p:nvGraphicFramePr>
          <p:cNvPr id="10" name="Table 9"/>
          <p:cNvGraphicFramePr>
            <a:graphicFrameLocks noGrp="1"/>
          </p:cNvGraphicFramePr>
          <p:nvPr/>
        </p:nvGraphicFramePr>
        <p:xfrm>
          <a:off x="4343400" y="4608576"/>
          <a:ext cx="3703320" cy="1481328"/>
        </p:xfrm>
        <a:graphic>
          <a:graphicData uri="http://schemas.openxmlformats.org/drawingml/2006/table">
            <a:tbl>
              <a:tblPr firstRow="1" bandRow="1">
                <a:tableStyleId>{5C22544A-7EE6-4342-B048-85BDC9FD1C3A}</a:tableStyleId>
              </a:tblPr>
              <a:tblGrid>
                <a:gridCol w="2514600"/>
                <a:gridCol w="1188720"/>
              </a:tblGrid>
              <a:tr h="296265">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strain</a:t>
                      </a:r>
                    </a:p>
                  </a:txBody>
                  <a:tcPr>
                    <a:solidFill>
                      <a:srgbClr val="143D2F"/>
                    </a:solidFill>
                  </a:tcPr>
                </a:tc>
              </a:tr>
              <a:tr h="296265">
                <a:tc>
                  <a:txBody>
                    <a:bodyPr lIns="54864" rIns="54864" tIns="18288" bIns="18288" wrap="square" anchor="ctr"/>
                    <a:lstStyle/>
                    <a:p>
                      <a:pPr algn="l"/>
                      <a:r>
                        <a:rPr sz="850" b="0">
                          <a:solidFill>
                            <a:srgbClr val="000000"/>
                          </a:solidFill>
                          <a:latin typeface="Calibri"/>
                        </a:rPr>
                        <a:t>S25 fractured at</a:t>
                      </a:r>
                    </a:p>
                  </a:txBody>
                  <a:tcPr/>
                </a:tc>
                <a:tc>
                  <a:txBody>
                    <a:bodyPr lIns="54864" rIns="54864" tIns="18288" bIns="18288" wrap="square" anchor="ctr"/>
                    <a:lstStyle/>
                    <a:p>
                      <a:pPr algn="l"/>
                      <a:r>
                        <a:rPr sz="850" b="0">
                          <a:solidFill>
                            <a:srgbClr val="000000"/>
                          </a:solidFill>
                          <a:latin typeface="Calibri"/>
                        </a:rPr>
                        <a:t>4.18 %</a:t>
                      </a:r>
                    </a:p>
                  </a:txBody>
                  <a:tcPr/>
                </a:tc>
              </a:tr>
              <a:tr h="296265">
                <a:tc>
                  <a:txBody>
                    <a:bodyPr lIns="54864" rIns="54864" tIns="18288" bIns="18288" wrap="square" anchor="ctr"/>
                    <a:lstStyle/>
                    <a:p>
                      <a:pPr algn="l"/>
                      <a:r>
                        <a:rPr sz="850" b="0">
                          <a:solidFill>
                            <a:srgbClr val="000000"/>
                          </a:solidFill>
                          <a:latin typeface="Calibri"/>
                        </a:rPr>
                        <a:t>S26 fractured at</a:t>
                      </a:r>
                    </a:p>
                  </a:txBody>
                  <a:tcPr/>
                </a:tc>
                <a:tc>
                  <a:txBody>
                    <a:bodyPr lIns="54864" rIns="54864" tIns="18288" bIns="18288" wrap="square" anchor="ctr"/>
                    <a:lstStyle/>
                    <a:p>
                      <a:pPr algn="l"/>
                      <a:r>
                        <a:rPr sz="850" b="0">
                          <a:solidFill>
                            <a:srgbClr val="000000"/>
                          </a:solidFill>
                          <a:latin typeface="Calibri"/>
                        </a:rPr>
                        <a:t>5.74 %</a:t>
                      </a:r>
                    </a:p>
                  </a:txBody>
                  <a:tcPr/>
                </a:tc>
              </a:tr>
              <a:tr h="296265">
                <a:tc>
                  <a:txBody>
                    <a:bodyPr lIns="54864" rIns="54864" tIns="18288" bIns="18288" wrap="square" anchor="ctr"/>
                    <a:lstStyle/>
                    <a:p>
                      <a:pPr algn="l"/>
                      <a:r>
                        <a:rPr sz="850" b="0">
                          <a:solidFill>
                            <a:srgbClr val="000000"/>
                          </a:solidFill>
                          <a:latin typeface="Calibri"/>
                        </a:rPr>
                        <a:t>a marker leaves the frame at</a:t>
                      </a:r>
                    </a:p>
                  </a:txBody>
                  <a:tcPr/>
                </a:tc>
                <a:tc>
                  <a:txBody>
                    <a:bodyPr lIns="54864" rIns="54864" tIns="18288" bIns="18288" wrap="square" anchor="ctr"/>
                    <a:lstStyle/>
                    <a:p>
                      <a:pPr algn="l"/>
                      <a:r>
                        <a:rPr sz="850" b="0">
                          <a:solidFill>
                            <a:srgbClr val="000000"/>
                          </a:solidFill>
                          <a:latin typeface="Calibri"/>
                        </a:rPr>
                        <a:t>31 %</a:t>
                      </a:r>
                    </a:p>
                  </a:txBody>
                  <a:tcPr/>
                </a:tc>
              </a:tr>
              <a:tr h="296268">
                <a:tc>
                  <a:txBody>
                    <a:bodyPr lIns="54864" rIns="54864" tIns="18288" bIns="18288" wrap="square" anchor="ctr"/>
                    <a:lstStyle/>
                    <a:p>
                      <a:pPr algn="l"/>
                      <a:r>
                        <a:rPr sz="850" b="0">
                          <a:solidFill>
                            <a:srgbClr val="000000"/>
                          </a:solidFill>
                          <a:latin typeface="Calibri"/>
                        </a:rPr>
                        <a:t>margin on PLA</a:t>
                      </a:r>
                    </a:p>
                  </a:txBody>
                  <a:tcPr/>
                </a:tc>
                <a:tc>
                  <a:txBody>
                    <a:bodyPr lIns="54864" rIns="54864" tIns="18288" bIns="18288" wrap="square" anchor="ctr"/>
                    <a:lstStyle/>
                    <a:p>
                      <a:pPr algn="l"/>
                      <a:r>
                        <a:rPr sz="850" b="0">
                          <a:solidFill>
                            <a:srgbClr val="000000"/>
                          </a:solidFill>
                          <a:latin typeface="Calibri"/>
                        </a:rPr>
                        <a:t>5×</a:t>
                      </a:r>
                    </a:p>
                  </a:txBody>
                  <a:tcPr/>
                </a:tc>
              </a:tr>
            </a:tbl>
          </a:graphicData>
        </a:graphic>
      </p:graphicFrame>
      <p:sp>
        <p:nvSpPr>
          <p:cNvPr id="11" name="TextBox 10"/>
          <p:cNvSpPr txBox="1"/>
          <p:nvPr/>
        </p:nvSpPr>
        <p:spPr>
          <a:xfrm>
            <a:off x="8275320" y="4261104"/>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it is NOT enough</a:t>
            </a:r>
          </a:p>
        </p:txBody>
      </p:sp>
      <p:sp>
        <p:nvSpPr>
          <p:cNvPr id="12" name="TextBox 11"/>
          <p:cNvSpPr txBox="1"/>
          <p:nvPr/>
        </p:nvSpPr>
        <p:spPr>
          <a:xfrm>
            <a:off x="8275320" y="4608576"/>
            <a:ext cx="3566160" cy="1481328"/>
          </a:xfrm>
          <a:prstGeom prst="rect">
            <a:avLst/>
          </a:prstGeom>
          <a:noFill/>
        </p:spPr>
        <p:txBody>
          <a:bodyPr wrap="square" lIns="45720" rIns="45720" tIns="18288" bIns="18288" anchor="t">
            <a:spAutoFit/>
          </a:bodyPr>
          <a:lstStyle/>
          <a:p>
            <a:pPr algn="l"/>
            <a:r>
              <a:rPr sz="1000" b="0" i="0">
                <a:solidFill>
                  <a:srgbClr val="000000"/>
                </a:solidFill>
                <a:latin typeface="Calibri"/>
              </a:rPr>
              <a:t>TPU. An elastomer runs to hundreds of per cent, so the markers leave the frame long before anything stops the test and the trace simply ends mid-pull. That is a known limit of the shipped crop, recorded in camera_manager.set_roi, and the reason a wider ROI exists as an override rather than the ROI being treated as fixed.</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Basler acA2440-35um, shipped ROI [0, 988, 2348, 419]. The 80 mm gauge lands on 1676 px, so px/mm = 20.95 — an OUTPUT of the optics, not an input.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WOULD MORE PIXELS PER mm BE BETTER? — THE XT-205 ANSWERS IT</a:t>
            </a:r>
          </a:p>
        </p:txBody>
      </p:sp>
      <p:sp>
        <p:nvSpPr>
          <p:cNvPr id="5" name="TextBox 4"/>
          <p:cNvSpPr txBox="1"/>
          <p:nvPr/>
        </p:nvSpPr>
        <p:spPr>
          <a:xfrm>
            <a:off x="411480" y="1024128"/>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The XT-205 sits at the other end of the same trade: 33 % more pixels per millimetre, and a field of view that holds almost nothing but the gauge. It is the experiment we did not have to run ourselves.</a:t>
            </a:r>
          </a:p>
        </p:txBody>
      </p:sp>
      <p:sp>
        <p:nvSpPr>
          <p:cNvPr id="6" name="TextBox 5"/>
          <p:cNvSpPr txBox="1"/>
          <p:nvPr/>
        </p:nvSpPr>
        <p:spPr>
          <a:xfrm>
            <a:off x="411480" y="1517904"/>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extra magnification bought, and what it cost</a:t>
            </a:r>
          </a:p>
        </p:txBody>
      </p:sp>
      <p:graphicFrame>
        <p:nvGraphicFramePr>
          <p:cNvPr id="7" name="Table 6"/>
          <p:cNvGraphicFramePr>
            <a:graphicFrameLocks noGrp="1"/>
          </p:cNvGraphicFramePr>
          <p:nvPr/>
        </p:nvGraphicFramePr>
        <p:xfrm>
          <a:off x="411480" y="1865376"/>
          <a:ext cx="11430000" cy="2103120"/>
        </p:xfrm>
        <a:graphic>
          <a:graphicData uri="http://schemas.openxmlformats.org/drawingml/2006/table">
            <a:tbl>
              <a:tblPr firstRow="1" bandRow="1">
                <a:tableStyleId>{5C22544A-7EE6-4342-B048-85BDC9FD1C3A}</a:tableStyleId>
              </a:tblPr>
              <a:tblGrid>
                <a:gridCol w="2606040"/>
                <a:gridCol w="1965960"/>
                <a:gridCol w="1965960"/>
                <a:gridCol w="4892040"/>
              </a:tblGrid>
              <a:tr h="35052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MOT XT-205</a:t>
                      </a:r>
                    </a:p>
                  </a:txBody>
                  <a:tcPr>
                    <a:solidFill>
                      <a:srgbClr val="143D2F"/>
                    </a:solidFill>
                  </a:tcPr>
                </a:tc>
                <a:tc>
                  <a:txBody>
                    <a:bodyPr lIns="54864" rIns="54864" tIns="18288" bIns="18288" wrap="square" anchor="ctr"/>
                    <a:lstStyle/>
                    <a:p>
                      <a:pPr algn="l"/>
                      <a:r>
                        <a:rPr sz="950" b="1">
                          <a:solidFill>
                            <a:srgbClr val="FFFFFF"/>
                          </a:solidFill>
                          <a:latin typeface="Calibri"/>
                        </a:rPr>
                        <a:t>What it means</a:t>
                      </a:r>
                    </a:p>
                  </a:txBody>
                  <a:tcPr>
                    <a:solidFill>
                      <a:srgbClr val="143D2F"/>
                    </a:solidFill>
                  </a:tcPr>
                </a:tc>
              </a:tr>
              <a:tr h="350520">
                <a:tc>
                  <a:txBody>
                    <a:bodyPr lIns="54864" rIns="54864" tIns="18288" bIns="18288" wrap="square" anchor="ctr"/>
                    <a:lstStyle/>
                    <a:p>
                      <a:pPr algn="l"/>
                      <a:r>
                        <a:rPr sz="850" b="0">
                          <a:solidFill>
                            <a:srgbClr val="000000"/>
                          </a:solidFill>
                          <a:latin typeface="Calibri"/>
                        </a:rPr>
                        <a:t>pixels per millimetre</a:t>
                      </a:r>
                    </a:p>
                  </a:txBody>
                  <a:tcPr/>
                </a:tc>
                <a:tc>
                  <a:txBody>
                    <a:bodyPr lIns="54864" rIns="54864" tIns="18288" bIns="18288" wrap="square" anchor="ctr"/>
                    <a:lstStyle/>
                    <a:p>
                      <a:pPr algn="l"/>
                      <a:r>
                        <a:rPr sz="850" b="0">
                          <a:solidFill>
                            <a:srgbClr val="000000"/>
                          </a:solidFill>
                          <a:latin typeface="Calibri"/>
                        </a:rPr>
                        <a:t>21.0</a:t>
                      </a:r>
                    </a:p>
                  </a:txBody>
                  <a:tcPr/>
                </a:tc>
                <a:tc>
                  <a:txBody>
                    <a:bodyPr lIns="54864" rIns="54864" tIns="18288" bIns="18288" wrap="square" anchor="ctr"/>
                    <a:lstStyle/>
                    <a:p>
                      <a:pPr algn="l"/>
                      <a:r>
                        <a:rPr sz="850" b="0">
                          <a:solidFill>
                            <a:srgbClr val="000000"/>
                          </a:solidFill>
                          <a:latin typeface="Calibri"/>
                        </a:rPr>
                        <a:t>27.9</a:t>
                      </a:r>
                    </a:p>
                  </a:txBody>
                  <a:tcPr/>
                </a:tc>
                <a:tc>
                  <a:txBody>
                    <a:bodyPr lIns="54864" rIns="54864" tIns="18288" bIns="18288" wrap="square" anchor="ctr"/>
                    <a:lstStyle/>
                    <a:p>
                      <a:pPr algn="l"/>
                      <a:r>
                        <a:rPr sz="850" b="0">
                          <a:solidFill>
                            <a:srgbClr val="000000"/>
                          </a:solidFill>
                          <a:latin typeface="Calibri"/>
                        </a:rPr>
                        <a:t>the XT-205 magnifies 33 % more</a:t>
                      </a:r>
                    </a:p>
                  </a:txBody>
                  <a:tcPr/>
                </a:tc>
              </a:tr>
              <a:tr h="350520">
                <a:tc>
                  <a:txBody>
                    <a:bodyPr lIns="54864" rIns="54864" tIns="18288" bIns="18288" wrap="square" anchor="ctr"/>
                    <a:lstStyle/>
                    <a:p>
                      <a:pPr algn="l"/>
                      <a:r>
                        <a:rPr sz="850" b="0">
                          <a:solidFill>
                            <a:srgbClr val="000000"/>
                          </a:solidFill>
                          <a:latin typeface="Calibri"/>
                        </a:rPr>
                        <a:t>one whole pixel, in strain</a:t>
                      </a:r>
                    </a:p>
                  </a:txBody>
                  <a:tcPr/>
                </a:tc>
                <a:tc>
                  <a:txBody>
                    <a:bodyPr lIns="54864" rIns="54864" tIns="18288" bIns="18288" wrap="square" anchor="ctr"/>
                    <a:lstStyle/>
                    <a:p>
                      <a:pPr algn="l"/>
                      <a:r>
                        <a:rPr sz="850" b="0">
                          <a:solidFill>
                            <a:srgbClr val="000000"/>
                          </a:solidFill>
                          <a:latin typeface="Calibri"/>
                        </a:rPr>
                        <a:t>597 µε</a:t>
                      </a:r>
                    </a:p>
                  </a:txBody>
                  <a:tcPr/>
                </a:tc>
                <a:tc>
                  <a:txBody>
                    <a:bodyPr lIns="54864" rIns="54864" tIns="18288" bIns="18288" wrap="square" anchor="ctr"/>
                    <a:lstStyle/>
                    <a:p>
                      <a:pPr algn="l"/>
                      <a:r>
                        <a:rPr sz="850" b="0">
                          <a:solidFill>
                            <a:srgbClr val="000000"/>
                          </a:solidFill>
                          <a:latin typeface="Calibri"/>
                        </a:rPr>
                        <a:t>448 µε</a:t>
                      </a:r>
                    </a:p>
                  </a:txBody>
                  <a:tcPr/>
                </a:tc>
                <a:tc>
                  <a:txBody>
                    <a:bodyPr lIns="54864" rIns="54864" tIns="18288" bIns="18288" wrap="square" anchor="ctr"/>
                    <a:lstStyle/>
                    <a:p>
                      <a:pPr algn="l"/>
                      <a:r>
                        <a:rPr sz="850" b="0">
                          <a:solidFill>
                            <a:srgbClr val="000000"/>
                          </a:solidFill>
                          <a:latin typeface="Calibri"/>
                        </a:rPr>
                        <a:t>so its quantisation floor is 25 % finer — a real gain</a:t>
                      </a:r>
                    </a:p>
                  </a:txBody>
                  <a:tcPr/>
                </a:tc>
              </a:tr>
              <a:tr h="350520">
                <a:tc>
                  <a:txBody>
                    <a:bodyPr lIns="54864" rIns="54864" tIns="18288" bIns="18288" wrap="square" anchor="ctr"/>
                    <a:lstStyle/>
                    <a:p>
                      <a:pPr algn="l"/>
                      <a:r>
                        <a:rPr sz="850" b="0">
                          <a:solidFill>
                            <a:srgbClr val="000000"/>
                          </a:solidFill>
                          <a:latin typeface="Calibri"/>
                        </a:rPr>
                        <a:t>field of view</a:t>
                      </a:r>
                    </a:p>
                  </a:txBody>
                  <a:tcPr/>
                </a:tc>
                <a:tc>
                  <a:txBody>
                    <a:bodyPr lIns="54864" rIns="54864" tIns="18288" bIns="18288" wrap="square" anchor="ctr"/>
                    <a:lstStyle/>
                    <a:p>
                      <a:pPr algn="l"/>
                      <a:r>
                        <a:rPr sz="850" b="0">
                          <a:solidFill>
                            <a:srgbClr val="000000"/>
                          </a:solidFill>
                          <a:latin typeface="Calibri"/>
                        </a:rPr>
                        <a:t>112.1 mm</a:t>
                      </a:r>
                    </a:p>
                  </a:txBody>
                  <a:tcPr/>
                </a:tc>
                <a:tc>
                  <a:txBody>
                    <a:bodyPr lIns="54864" rIns="54864" tIns="18288" bIns="18288" wrap="square" anchor="ctr"/>
                    <a:lstStyle/>
                    <a:p>
                      <a:pPr algn="l"/>
                      <a:r>
                        <a:rPr sz="850" b="0">
                          <a:solidFill>
                            <a:srgbClr val="000000"/>
                          </a:solidFill>
                          <a:latin typeface="Calibri"/>
                        </a:rPr>
                        <a:t>88.2 mm</a:t>
                      </a:r>
                    </a:p>
                  </a:txBody>
                  <a:tcPr/>
                </a:tc>
                <a:tc>
                  <a:txBody>
                    <a:bodyPr lIns="54864" rIns="54864" tIns="18288" bIns="18288" wrap="square" anchor="ctr"/>
                    <a:lstStyle/>
                    <a:p>
                      <a:pPr algn="l"/>
                      <a:r>
                        <a:rPr sz="850" b="0">
                          <a:solidFill>
                            <a:srgbClr val="000000"/>
                          </a:solidFill>
                          <a:latin typeface="Calibri"/>
                        </a:rPr>
                        <a:t>and it holds only 8.2 mm beyond an 80 mm gauge</a:t>
                      </a:r>
                    </a:p>
                  </a:txBody>
                  <a:tcPr/>
                </a:tc>
              </a:tr>
              <a:tr h="350520">
                <a:tc>
                  <a:txBody>
                    <a:bodyPr lIns="54864" rIns="54864" tIns="18288" bIns="18288" wrap="square" anchor="ctr"/>
                    <a:lstStyle/>
                    <a:p>
                      <a:pPr algn="l"/>
                      <a:r>
                        <a:rPr sz="850" b="0">
                          <a:solidFill>
                            <a:srgbClr val="000000"/>
                          </a:solidFill>
                          <a:latin typeface="Calibri"/>
                        </a:rPr>
                        <a:t>a marker leaves the frame at</a:t>
                      </a:r>
                    </a:p>
                  </a:txBody>
                  <a:tcPr/>
                </a:tc>
                <a:tc>
                  <a:txBody>
                    <a:bodyPr lIns="54864" rIns="54864" tIns="18288" bIns="18288" wrap="square" anchor="ctr"/>
                    <a:lstStyle/>
                    <a:p>
                      <a:pPr algn="l"/>
                      <a:r>
                        <a:rPr sz="850" b="0">
                          <a:solidFill>
                            <a:srgbClr val="000000"/>
                          </a:solidFill>
                          <a:latin typeface="Calibri"/>
                        </a:rPr>
                        <a:t>31 % strain</a:t>
                      </a:r>
                    </a:p>
                  </a:txBody>
                  <a:tcPr/>
                </a:tc>
                <a:tc>
                  <a:txBody>
                    <a:bodyPr lIns="54864" rIns="54864" tIns="18288" bIns="18288" wrap="square" anchor="ctr"/>
                    <a:lstStyle/>
                    <a:p>
                      <a:pPr algn="l"/>
                      <a:r>
                        <a:rPr sz="850" b="0">
                          <a:solidFill>
                            <a:srgbClr val="000000"/>
                          </a:solidFill>
                          <a:latin typeface="Calibri"/>
                        </a:rPr>
                        <a:t>0.70 % strain</a:t>
                      </a:r>
                    </a:p>
                  </a:txBody>
                  <a:tcPr/>
                </a:tc>
                <a:tc>
                  <a:txBody>
                    <a:bodyPr lIns="54864" rIns="54864" tIns="18288" bIns="18288" wrap="square" anchor="ctr"/>
                    <a:lstStyle/>
                    <a:p>
                      <a:pPr algn="l"/>
                      <a:r>
                        <a:rPr sz="850" b="0">
                          <a:solidFill>
                            <a:srgbClr val="000000"/>
                          </a:solidFill>
                          <a:latin typeface="Calibri"/>
                        </a:rPr>
                        <a:t>which is the whole cost, in one number</a:t>
                      </a:r>
                    </a:p>
                  </a:txBody>
                  <a:tcPr/>
                </a:tc>
              </a:tr>
              <a:tr h="350520">
                <a:tc>
                  <a:txBody>
                    <a:bodyPr lIns="54864" rIns="54864" tIns="18288" bIns="18288" wrap="square" anchor="ctr"/>
                    <a:lstStyle/>
                    <a:p>
                      <a:pPr algn="l"/>
                      <a:r>
                        <a:rPr sz="850" b="0">
                          <a:solidFill>
                            <a:srgbClr val="000000"/>
                          </a:solidFill>
                          <a:latin typeface="Calibri"/>
                        </a:rPr>
                        <a:t>what actually happened</a:t>
                      </a:r>
                    </a:p>
                  </a:txBody>
                  <a:tcPr/>
                </a:tc>
                <a:tc>
                  <a:txBody>
                    <a:bodyPr lIns="54864" rIns="54864" tIns="18288" bIns="18288" wrap="square" anchor="ctr"/>
                    <a:lstStyle/>
                    <a:p>
                      <a:pPr algn="l"/>
                      <a:r>
                        <a:rPr sz="850" b="0">
                          <a:solidFill>
                            <a:srgbClr val="000000"/>
                          </a:solidFill>
                          <a:latin typeface="Calibri"/>
                        </a:rPr>
                        <a:t>ran to fracture</a:t>
                      </a:r>
                    </a:p>
                  </a:txBody>
                  <a:tcPr/>
                </a:tc>
                <a:tc>
                  <a:txBody>
                    <a:bodyPr lIns="54864" rIns="54864" tIns="18288" bIns="18288" wrap="square" anchor="ctr"/>
                    <a:lstStyle/>
                    <a:p>
                      <a:pPr algn="l"/>
                      <a:r>
                        <a:rPr sz="850" b="0">
                          <a:solidFill>
                            <a:srgbClr val="000000"/>
                          </a:solidFill>
                          <a:latin typeface="Calibri"/>
                        </a:rPr>
                        <a:t>degraded at 0.52 %</a:t>
                      </a:r>
                    </a:p>
                  </a:txBody>
                  <a:tcPr/>
                </a:tc>
                <a:tc>
                  <a:txBody>
                    <a:bodyPr lIns="54864" rIns="54864" tIns="18288" bIns="18288" wrap="square" anchor="ctr"/>
                    <a:lstStyle/>
                    <a:p>
                      <a:pPr algn="l"/>
                      <a:r>
                        <a:rPr sz="850" b="0">
                          <a:solidFill>
                            <a:srgbClr val="000000"/>
                          </a:solidFill>
                          <a:latin typeface="Calibri"/>
                        </a:rPr>
                        <a:t>its box hit the frame edge; 184 rows pinned there (p305)</a:t>
                      </a:r>
                    </a:p>
                  </a:txBody>
                  <a:tcPr/>
                </a:tc>
              </a:tr>
            </a:tbl>
          </a:graphicData>
        </a:graphic>
      </p:graphicFrame>
      <p:sp>
        <p:nvSpPr>
          <p:cNvPr id="8" name="TextBox 7"/>
          <p:cNvSpPr txBox="1"/>
          <p:nvPr/>
        </p:nvSpPr>
        <p:spPr>
          <a:xfrm>
            <a:off x="411480" y="4133087"/>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the finer pixel did NOT set the precision</a:t>
            </a:r>
          </a:p>
        </p:txBody>
      </p:sp>
      <p:graphicFrame>
        <p:nvGraphicFramePr>
          <p:cNvPr id="9" name="Table 8"/>
          <p:cNvGraphicFramePr>
            <a:graphicFrameLocks noGrp="1"/>
          </p:cNvGraphicFramePr>
          <p:nvPr/>
        </p:nvGraphicFramePr>
        <p:xfrm>
          <a:off x="411480" y="4480560"/>
          <a:ext cx="5623560" cy="1234440"/>
        </p:xfrm>
        <a:graphic>
          <a:graphicData uri="http://schemas.openxmlformats.org/drawingml/2006/table">
            <a:tbl>
              <a:tblPr firstRow="1" bandRow="1">
                <a:tableStyleId>{5C22544A-7EE6-4342-B048-85BDC9FD1C3A}</a:tableStyleId>
              </a:tblPr>
              <a:tblGrid>
                <a:gridCol w="2377440"/>
                <a:gridCol w="1645920"/>
                <a:gridCol w="1600200"/>
              </a:tblGrid>
              <a:tr h="30861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PPD-UTM</a:t>
                      </a:r>
                    </a:p>
                  </a:txBody>
                  <a:tcPr>
                    <a:solidFill>
                      <a:srgbClr val="143D2F"/>
                    </a:solidFill>
                  </a:tcPr>
                </a:tc>
                <a:tc>
                  <a:txBody>
                    <a:bodyPr lIns="54864" rIns="54864" tIns="18288" bIns="18288" wrap="square" anchor="ctr"/>
                    <a:lstStyle/>
                    <a:p>
                      <a:pPr algn="l"/>
                      <a:r>
                        <a:rPr sz="950" b="1">
                          <a:solidFill>
                            <a:srgbClr val="FFFFFF"/>
                          </a:solidFill>
                          <a:latin typeface="Calibri"/>
                        </a:rPr>
                        <a:t>XT-205 footage</a:t>
                      </a:r>
                    </a:p>
                  </a:txBody>
                  <a:tcPr>
                    <a:solidFill>
                      <a:srgbClr val="143D2F"/>
                    </a:solidFill>
                  </a:tcPr>
                </a:tc>
              </a:tr>
              <a:tr h="308610">
                <a:tc>
                  <a:txBody>
                    <a:bodyPr lIns="54864" rIns="54864" tIns="18288" bIns="18288" wrap="square" anchor="ctr"/>
                    <a:lstStyle/>
                    <a:p>
                      <a:pPr algn="l"/>
                      <a:r>
                        <a:rPr sz="850" b="0">
                          <a:solidFill>
                            <a:srgbClr val="000000"/>
                          </a:solidFill>
                          <a:latin typeface="Calibri"/>
                        </a:rPr>
                        <a:t>one whole pixel</a:t>
                      </a:r>
                    </a:p>
                  </a:txBody>
                  <a:tcPr/>
                </a:tc>
                <a:tc>
                  <a:txBody>
                    <a:bodyPr lIns="54864" rIns="54864" tIns="18288" bIns="18288" wrap="square" anchor="ctr"/>
                    <a:lstStyle/>
                    <a:p>
                      <a:pPr algn="l"/>
                      <a:r>
                        <a:rPr sz="850" b="0">
                          <a:solidFill>
                            <a:srgbClr val="000000"/>
                          </a:solidFill>
                          <a:latin typeface="Calibri"/>
                        </a:rPr>
                        <a:t>597 µε</a:t>
                      </a:r>
                    </a:p>
                  </a:txBody>
                  <a:tcPr/>
                </a:tc>
                <a:tc>
                  <a:txBody>
                    <a:bodyPr lIns="54864" rIns="54864" tIns="18288" bIns="18288" wrap="square" anchor="ctr"/>
                    <a:lstStyle/>
                    <a:p>
                      <a:pPr algn="l"/>
                      <a:r>
                        <a:rPr sz="850" b="0">
                          <a:solidFill>
                            <a:srgbClr val="000000"/>
                          </a:solidFill>
                          <a:latin typeface="Calibri"/>
                        </a:rPr>
                        <a:t>448 µε</a:t>
                      </a:r>
                    </a:p>
                  </a:txBody>
                  <a:tcPr/>
                </a:tc>
              </a:tr>
              <a:tr h="308610">
                <a:tc>
                  <a:txBody>
                    <a:bodyPr lIns="54864" rIns="54864" tIns="18288" bIns="18288" wrap="square" anchor="ctr"/>
                    <a:lstStyle/>
                    <a:p>
                      <a:pPr algn="l"/>
                      <a:r>
                        <a:rPr sz="850" b="0">
                          <a:solidFill>
                            <a:srgbClr val="000000"/>
                          </a:solidFill>
                          <a:latin typeface="Calibri"/>
                        </a:rPr>
                        <a:t>achieved by our pipeline</a:t>
                      </a:r>
                    </a:p>
                  </a:txBody>
                  <a:tcPr/>
                </a:tc>
                <a:tc>
                  <a:txBody>
                    <a:bodyPr lIns="54864" rIns="54864" tIns="18288" bIns="18288" wrap="square" anchor="ctr"/>
                    <a:lstStyle/>
                    <a:p>
                      <a:pPr algn="l"/>
                      <a:r>
                        <a:rPr sz="850" b="0">
                          <a:solidFill>
                            <a:srgbClr val="000000"/>
                          </a:solidFill>
                          <a:latin typeface="Calibri"/>
                        </a:rPr>
                        <a:t>11.3 µε</a:t>
                      </a:r>
                    </a:p>
                  </a:txBody>
                  <a:tcPr/>
                </a:tc>
                <a:tc>
                  <a:txBody>
                    <a:bodyPr lIns="54864" rIns="54864" tIns="18288" bIns="18288" wrap="square" anchor="ctr"/>
                    <a:lstStyle/>
                    <a:p>
                      <a:pPr algn="l"/>
                      <a:r>
                        <a:rPr sz="850" b="0">
                          <a:solidFill>
                            <a:srgbClr val="000000"/>
                          </a:solidFill>
                          <a:latin typeface="Calibri"/>
                        </a:rPr>
                        <a:t>5.7 µε</a:t>
                      </a:r>
                    </a:p>
                  </a:txBody>
                  <a:tcPr/>
                </a:tc>
              </a:tr>
              <a:tr h="308610">
                <a:tc>
                  <a:txBody>
                    <a:bodyPr lIns="54864" rIns="54864" tIns="18288" bIns="18288" wrap="square" anchor="ctr"/>
                    <a:lstStyle/>
                    <a:p>
                      <a:pPr algn="l"/>
                      <a:r>
                        <a:rPr sz="850" b="0">
                          <a:solidFill>
                            <a:srgbClr val="000000"/>
                          </a:solidFill>
                          <a:latin typeface="Calibri"/>
                        </a:rPr>
                        <a:t>sub-pixel factor</a:t>
                      </a:r>
                    </a:p>
                  </a:txBody>
                  <a:tcPr/>
                </a:tc>
                <a:tc>
                  <a:txBody>
                    <a:bodyPr lIns="54864" rIns="54864" tIns="18288" bIns="18288" wrap="square" anchor="ctr"/>
                    <a:lstStyle/>
                    <a:p>
                      <a:pPr algn="l"/>
                      <a:r>
                        <a:rPr sz="850" b="0">
                          <a:solidFill>
                            <a:srgbClr val="000000"/>
                          </a:solidFill>
                          <a:latin typeface="Calibri"/>
                        </a:rPr>
                        <a:t>53×</a:t>
                      </a:r>
                    </a:p>
                  </a:txBody>
                  <a:tcPr/>
                </a:tc>
                <a:tc>
                  <a:txBody>
                    <a:bodyPr lIns="54864" rIns="54864" tIns="18288" bIns="18288" wrap="square" anchor="ctr"/>
                    <a:lstStyle/>
                    <a:p>
                      <a:pPr algn="l"/>
                      <a:r>
                        <a:rPr sz="850" b="0">
                          <a:solidFill>
                            <a:srgbClr val="000000"/>
                          </a:solidFill>
                          <a:latin typeface="Calibri"/>
                        </a:rPr>
                        <a:t>79×</a:t>
                      </a:r>
                    </a:p>
                  </a:txBody>
                  <a:tcPr/>
                </a:tc>
              </a:tr>
            </a:tbl>
          </a:graphicData>
        </a:graphic>
      </p:graphicFrame>
      <p:sp>
        <p:nvSpPr>
          <p:cNvPr id="10" name="TextBox 9"/>
          <p:cNvSpPr txBox="1"/>
          <p:nvPr/>
        </p:nvSpPr>
        <p:spPr>
          <a:xfrm>
            <a:off x="6263640" y="4133087"/>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honest answer</a:t>
            </a:r>
          </a:p>
        </p:txBody>
      </p:sp>
      <p:sp>
        <p:nvSpPr>
          <p:cNvPr id="11" name="TextBox 10"/>
          <p:cNvSpPr txBox="1"/>
          <p:nvPr/>
        </p:nvSpPr>
        <p:spPr>
          <a:xfrm>
            <a:off x="6263640" y="4480560"/>
            <a:ext cx="5577840" cy="1234440"/>
          </a:xfrm>
          <a:prstGeom prst="rect">
            <a:avLst/>
          </a:prstGeom>
          <a:noFill/>
        </p:spPr>
        <p:txBody>
          <a:bodyPr wrap="square" lIns="45720" rIns="45720" tIns="18288" bIns="18288" anchor="t">
            <a:spAutoFit/>
          </a:bodyPr>
          <a:lstStyle/>
          <a:p>
            <a:pPr algn="l"/>
            <a:r>
              <a:rPr sz="1000" b="0" i="0">
                <a:solidFill>
                  <a:srgbClr val="000000"/>
                </a:solidFill>
                <a:latin typeface="Calibri"/>
              </a:rPr>
              <a:t>More px/mm IS better — but only while the frame still outlasts the test. Both machines achieve 53–79× better than one pixel, so the magnification sets the floor and the ESTIMATOR sets the result. Buying resolution with field of view is a bad trade for a fracture test, and a good one for a machine that only measures the elastic region.</a:t>
            </a:r>
          </a:p>
        </p:txBody>
      </p:sp>
      <p:sp>
        <p:nvSpPr>
          <p:cNvPr id="12" name="Rectangle 11"/>
          <p:cNvSpPr/>
          <p:nvPr/>
        </p:nvSpPr>
        <p:spPr>
          <a:xfrm>
            <a:off x="365760" y="5870448"/>
            <a:ext cx="11475720" cy="47548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What we could NOT establish: no standard or literature basis for a px/mm target is recorded anywhere in this project. The choice is an engineering one — field of view against the machine's own travel limit — and it should be described that way rather than as a specification.</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0.52 % figure is where the XT-205 run's own tracking degraded, measured independently; the 0.70 % is where its box geometry says it must. They agree.</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315</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IS IT A CAMERA PROPERTY? — YES, AND A TAPE MEASURE CAN CHECK IT</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px/mm is the optical magnification divided by the pixel pitch — nothing else goes into it. Two constants of the hardware and one distance produce the number, and the last of those is the only thing anyone chose.</a:t>
            </a:r>
          </a:p>
        </p:txBody>
      </p:sp>
      <p:pic>
        <p:nvPicPr>
          <p:cNvPr id="6" name="Picture 5" descr="pxmm_optics.png"/>
          <p:cNvPicPr>
            <a:picLocks noChangeAspect="1"/>
          </p:cNvPicPr>
          <p:nvPr/>
        </p:nvPicPr>
        <p:blipFill>
          <a:blip r:embed="rId2"/>
          <a:stretch>
            <a:fillRect/>
          </a:stretch>
        </p:blipFill>
        <p:spPr>
          <a:xfrm>
            <a:off x="842072" y="1444752"/>
            <a:ext cx="10523095" cy="2468880"/>
          </a:xfrm>
          <a:prstGeom prst="rect">
            <a:avLst/>
          </a:prstGeom>
        </p:spPr>
      </p:pic>
      <p:sp>
        <p:nvSpPr>
          <p:cNvPr id="7" name="TextBox 6"/>
          <p:cNvSpPr txBox="1"/>
          <p:nvPr/>
        </p:nvSpPr>
        <p:spPr>
          <a:xfrm>
            <a:off x="411480" y="3968496"/>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chain, end to end</a:t>
            </a:r>
          </a:p>
        </p:txBody>
      </p:sp>
      <p:graphicFrame>
        <p:nvGraphicFramePr>
          <p:cNvPr id="8" name="Table 7"/>
          <p:cNvGraphicFramePr>
            <a:graphicFrameLocks noGrp="1"/>
          </p:cNvGraphicFramePr>
          <p:nvPr/>
        </p:nvGraphicFramePr>
        <p:xfrm>
          <a:off x="411480" y="4315968"/>
          <a:ext cx="5715000" cy="1499616"/>
        </p:xfrm>
        <a:graphic>
          <a:graphicData uri="http://schemas.openxmlformats.org/drawingml/2006/table">
            <a:tbl>
              <a:tblPr firstRow="1" bandRow="1">
                <a:tableStyleId>{5C22544A-7EE6-4342-B048-85BDC9FD1C3A}</a:tableStyleId>
              </a:tblPr>
              <a:tblGrid>
                <a:gridCol w="1828800"/>
                <a:gridCol w="1051560"/>
                <a:gridCol w="2834640"/>
              </a:tblGrid>
              <a:tr h="249936">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where it comes from</a:t>
                      </a:r>
                    </a:p>
                  </a:txBody>
                  <a:tcPr>
                    <a:solidFill>
                      <a:srgbClr val="143D2F"/>
                    </a:solidFill>
                  </a:tcPr>
                </a:tc>
              </a:tr>
              <a:tr h="249936">
                <a:tc>
                  <a:txBody>
                    <a:bodyPr lIns="54864" rIns="54864" tIns="18288" bIns="18288" wrap="square" anchor="ctr"/>
                    <a:lstStyle/>
                    <a:p>
                      <a:pPr algn="l"/>
                      <a:r>
                        <a:rPr sz="850" b="0">
                          <a:solidFill>
                            <a:srgbClr val="000000"/>
                          </a:solidFill>
                          <a:latin typeface="Calibri"/>
                        </a:rPr>
                        <a:t>pixel pitch</a:t>
                      </a:r>
                    </a:p>
                  </a:txBody>
                  <a:tcPr/>
                </a:tc>
                <a:tc>
                  <a:txBody>
                    <a:bodyPr lIns="54864" rIns="54864" tIns="18288" bIns="18288" wrap="square" anchor="ctr"/>
                    <a:lstStyle/>
                    <a:p>
                      <a:pPr algn="l"/>
                      <a:r>
                        <a:rPr sz="850" b="0">
                          <a:solidFill>
                            <a:srgbClr val="000000"/>
                          </a:solidFill>
                          <a:latin typeface="Calibri"/>
                        </a:rPr>
                        <a:t>3.45 µm</a:t>
                      </a:r>
                    </a:p>
                  </a:txBody>
                  <a:tcPr/>
                </a:tc>
                <a:tc>
                  <a:txBody>
                    <a:bodyPr lIns="54864" rIns="54864" tIns="18288" bIns="18288" wrap="square" anchor="ctr"/>
                    <a:lstStyle/>
                    <a:p>
                      <a:pPr algn="l"/>
                      <a:r>
                        <a:rPr sz="850" b="0">
                          <a:solidFill>
                            <a:srgbClr val="000000"/>
                          </a:solidFill>
                          <a:latin typeface="Calibri"/>
                        </a:rPr>
                        <a:t>acA2440 datasheet</a:t>
                      </a:r>
                    </a:p>
                  </a:txBody>
                  <a:tcPr/>
                </a:tc>
              </a:tr>
              <a:tr h="249936">
                <a:tc>
                  <a:txBody>
                    <a:bodyPr lIns="54864" rIns="54864" tIns="18288" bIns="18288" wrap="square" anchor="ctr"/>
                    <a:lstStyle/>
                    <a:p>
                      <a:pPr algn="l"/>
                      <a:r>
                        <a:rPr sz="850" b="0">
                          <a:solidFill>
                            <a:srgbClr val="000000"/>
                          </a:solidFill>
                          <a:latin typeface="Calibri"/>
                        </a:rPr>
                        <a:t>lens</a:t>
                      </a:r>
                    </a:p>
                  </a:txBody>
                  <a:tcPr/>
                </a:tc>
                <a:tc>
                  <a:txBody>
                    <a:bodyPr lIns="54864" rIns="54864" tIns="18288" bIns="18288" wrap="square" anchor="ctr"/>
                    <a:lstStyle/>
                    <a:p>
                      <a:pPr algn="l"/>
                      <a:r>
                        <a:rPr sz="850" b="0">
                          <a:solidFill>
                            <a:srgbClr val="000000"/>
                          </a:solidFill>
                          <a:latin typeface="Calibri"/>
                        </a:rPr>
                        <a:t>25 mm</a:t>
                      </a:r>
                    </a:p>
                  </a:txBody>
                  <a:tcPr/>
                </a:tc>
                <a:tc>
                  <a:txBody>
                    <a:bodyPr lIns="54864" rIns="54864" tIns="18288" bIns="18288" wrap="square" anchor="ctr"/>
                    <a:lstStyle/>
                    <a:p>
                      <a:pPr algn="l"/>
                      <a:r>
                        <a:rPr sz="850" b="0">
                          <a:solidFill>
                            <a:srgbClr val="000000"/>
                          </a:solidFill>
                          <a:latin typeface="Calibri"/>
                        </a:rPr>
                        <a:t>Azure-2514M f/1.4 — TODO.md, README.md</a:t>
                      </a:r>
                    </a:p>
                  </a:txBody>
                  <a:tcPr/>
                </a:tc>
              </a:tr>
              <a:tr h="249936">
                <a:tc>
                  <a:txBody>
                    <a:bodyPr lIns="54864" rIns="54864" tIns="18288" bIns="18288" wrap="square" anchor="ctr"/>
                    <a:lstStyle/>
                    <a:p>
                      <a:pPr algn="l"/>
                      <a:r>
                        <a:rPr sz="850" b="0">
                          <a:solidFill>
                            <a:srgbClr val="000000"/>
                          </a:solidFill>
                          <a:latin typeface="Calibri"/>
                        </a:rPr>
                        <a:t>measured px/mm</a:t>
                      </a:r>
                    </a:p>
                  </a:txBody>
                  <a:tcPr/>
                </a:tc>
                <a:tc>
                  <a:txBody>
                    <a:bodyPr lIns="54864" rIns="54864" tIns="18288" bIns="18288" wrap="square" anchor="ctr"/>
                    <a:lstStyle/>
                    <a:p>
                      <a:pPr algn="l"/>
                      <a:r>
                        <a:rPr sz="850" b="0">
                          <a:solidFill>
                            <a:srgbClr val="000000"/>
                          </a:solidFill>
                          <a:latin typeface="Calibri"/>
                        </a:rPr>
                        <a:t>20.95</a:t>
                      </a:r>
                    </a:p>
                  </a:txBody>
                  <a:tcPr/>
                </a:tc>
                <a:tc>
                  <a:txBody>
                    <a:bodyPr lIns="54864" rIns="54864" tIns="18288" bIns="18288" wrap="square" anchor="ctr"/>
                    <a:lstStyle/>
                    <a:p>
                      <a:pPr algn="l"/>
                      <a:r>
                        <a:rPr sz="850" b="0">
                          <a:solidFill>
                            <a:srgbClr val="000000"/>
                          </a:solidFill>
                          <a:latin typeface="Calibri"/>
                        </a:rPr>
                        <a:t>1676 px of gauge over 80 mm, on S26</a:t>
                      </a:r>
                    </a:p>
                  </a:txBody>
                  <a:tcPr/>
                </a:tc>
              </a:tr>
              <a:tr h="249936">
                <a:tc>
                  <a:txBody>
                    <a:bodyPr lIns="54864" rIns="54864" tIns="18288" bIns="18288" wrap="square" anchor="ctr"/>
                    <a:lstStyle/>
                    <a:p>
                      <a:pPr algn="l"/>
                      <a:r>
                        <a:rPr sz="850" b="0">
                          <a:solidFill>
                            <a:srgbClr val="000000"/>
                          </a:solidFill>
                          <a:latin typeface="Calibri"/>
                        </a:rPr>
                        <a:t>so the magnification is</a:t>
                      </a:r>
                    </a:p>
                  </a:txBody>
                  <a:tcPr/>
                </a:tc>
                <a:tc>
                  <a:txBody>
                    <a:bodyPr lIns="54864" rIns="54864" tIns="18288" bIns="18288" wrap="square" anchor="ctr"/>
                    <a:lstStyle/>
                    <a:p>
                      <a:pPr algn="l"/>
                      <a:r>
                        <a:rPr sz="850" b="0">
                          <a:solidFill>
                            <a:srgbClr val="000000"/>
                          </a:solidFill>
                          <a:latin typeface="Calibri"/>
                        </a:rPr>
                        <a:t>0.0723×</a:t>
                      </a:r>
                    </a:p>
                  </a:txBody>
                  <a:tcPr/>
                </a:tc>
                <a:tc>
                  <a:txBody>
                    <a:bodyPr lIns="54864" rIns="54864" tIns="18288" bIns="18288" wrap="square" anchor="ctr"/>
                    <a:lstStyle/>
                    <a:p>
                      <a:pPr algn="l"/>
                      <a:r>
                        <a:rPr sz="850" b="0">
                          <a:solidFill>
                            <a:srgbClr val="000000"/>
                          </a:solidFill>
                          <a:latin typeface="Calibri"/>
                        </a:rPr>
                        <a:t>pitch × px/mm — one pixel covers 47.7 µm</a:t>
                      </a:r>
                    </a:p>
                  </a:txBody>
                  <a:tcPr/>
                </a:tc>
              </a:tr>
              <a:tr h="249936">
                <a:tc>
                  <a:txBody>
                    <a:bodyPr lIns="54864" rIns="54864" tIns="18288" bIns="18288" wrap="square" anchor="ctr"/>
                    <a:lstStyle/>
                    <a:p>
                      <a:pPr algn="l"/>
                      <a:r>
                        <a:rPr sz="850" b="0">
                          <a:solidFill>
                            <a:srgbClr val="000000"/>
                          </a:solidFill>
                          <a:latin typeface="Calibri"/>
                        </a:rPr>
                        <a:t>so the lens must stand</a:t>
                      </a:r>
                    </a:p>
                  </a:txBody>
                  <a:tcPr/>
                </a:tc>
                <a:tc>
                  <a:txBody>
                    <a:bodyPr lIns="54864" rIns="54864" tIns="18288" bIns="18288" wrap="square" anchor="ctr"/>
                    <a:lstStyle/>
                    <a:p>
                      <a:pPr algn="l"/>
                      <a:r>
                        <a:rPr sz="850" b="0">
                          <a:solidFill>
                            <a:srgbClr val="000000"/>
                          </a:solidFill>
                          <a:latin typeface="Calibri"/>
                        </a:rPr>
                        <a:t>371 mm away</a:t>
                      </a:r>
                    </a:p>
                  </a:txBody>
                  <a:tcPr/>
                </a:tc>
                <a:tc>
                  <a:txBody>
                    <a:bodyPr lIns="54864" rIns="54864" tIns="18288" bIns="18288" wrap="square" anchor="ctr"/>
                    <a:lstStyle/>
                    <a:p>
                      <a:pPr algn="l"/>
                      <a:r>
                        <a:rPr sz="850" b="0">
                          <a:solidFill>
                            <a:srgbClr val="000000"/>
                          </a:solidFill>
                          <a:latin typeface="Calibri"/>
                        </a:rPr>
                        <a:t>f(1 + 1/M) — a PREDICTION</a:t>
                      </a:r>
                    </a:p>
                  </a:txBody>
                  <a:tcPr/>
                </a:tc>
              </a:tr>
            </a:tbl>
          </a:graphicData>
        </a:graphic>
      </p:graphicFrame>
      <p:sp>
        <p:nvSpPr>
          <p:cNvPr id="9" name="TextBox 8"/>
          <p:cNvSpPr txBox="1"/>
          <p:nvPr/>
        </p:nvSpPr>
        <p:spPr>
          <a:xfrm>
            <a:off x="6355080" y="3968496"/>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that buys us — and what changing it would cost</a:t>
            </a:r>
          </a:p>
        </p:txBody>
      </p:sp>
      <p:sp>
        <p:nvSpPr>
          <p:cNvPr id="10" name="TextBox 9"/>
          <p:cNvSpPr txBox="1"/>
          <p:nvPr/>
        </p:nvSpPr>
        <p:spPr>
          <a:xfrm>
            <a:off x="6355080" y="4315968"/>
            <a:ext cx="5486400" cy="1499616"/>
          </a:xfrm>
          <a:prstGeom prst="rect">
            <a:avLst/>
          </a:prstGeom>
          <a:noFill/>
        </p:spPr>
        <p:txBody>
          <a:bodyPr wrap="square" lIns="45720" rIns="45720" tIns="18288" bIns="18288" anchor="t">
            <a:spAutoFit/>
          </a:bodyPr>
          <a:lstStyle/>
          <a:p>
            <a:pPr algn="l"/>
            <a:r>
              <a:rPr sz="1000" b="0" i="0">
                <a:solidFill>
                  <a:srgbClr val="000000"/>
                </a:solidFill>
                <a:latin typeface="Calibri"/>
              </a:rPr>
              <a:t>Run a tape from the lens to the specimen. If it reads about 371 mm, the chain on the left is the entire explanation for 21.0 px/mm and nothing else is involved.  Move the camera 86 mm closer and the same camera and the same lens give the XT-205's 27.9 px/mm — no new hardware. It would also cut the field of view to 88 mm and take the frame limit from 31 % strain to nothing. Placement matters at this scale: 8 mm of error is worth 0.5 px/mm, which is why the scale is measured on the image and never assumed.</a:t>
            </a:r>
          </a:p>
        </p:txBody>
      </p:sp>
      <p:sp>
        <p:nvSpPr>
          <p:cNvPr id="11" name="Rectangle 10"/>
          <p:cNvSpPr/>
          <p:nvPr/>
        </p:nvSpPr>
        <p:spPr>
          <a:xfrm>
            <a:off x="365760" y="5888736"/>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Two caveats. The pixel pitch is a datasheet figure rather than one measured here, and the thin-lens relation ignores the real lens's principal-plane separation — so treat the 371 mm as a prediction good to a few per cent, not a specification. Neither touches the measured 20.95 px/mm, which is read off the gauge in the image.</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Sensitivity: near our operating point, one millimetre of camera movement is worth 0.06 px/mm.</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316</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TWO FRACTURE PROTOCOLS, ONE STRENGTH — T7.2 AGAINST T8</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The rig can break a specimen two ways: a staircase that climbs to failure, and a progressive cyclic schedule that fatigues then breaks it. If the machine is measuring the MATERIAL, the route it took should not change the answer.</a:t>
            </a:r>
          </a:p>
        </p:txBody>
      </p:sp>
      <p:pic>
        <p:nvPicPr>
          <p:cNvPr id="6" name="Picture 5" descr="xprotocol.png"/>
          <p:cNvPicPr>
            <a:picLocks noChangeAspect="1"/>
          </p:cNvPicPr>
          <p:nvPr/>
        </p:nvPicPr>
        <p:blipFill>
          <a:blip r:embed="rId2"/>
          <a:stretch>
            <a:fillRect/>
          </a:stretch>
        </p:blipFill>
        <p:spPr>
          <a:xfrm>
            <a:off x="842072" y="1463040"/>
            <a:ext cx="10523095" cy="2468880"/>
          </a:xfrm>
          <a:prstGeom prst="rect">
            <a:avLst/>
          </a:prstGeom>
        </p:spPr>
      </p:pic>
      <p:sp>
        <p:nvSpPr>
          <p:cNvPr id="7" name="TextBox 6"/>
          <p:cNvSpPr txBox="1"/>
          <p:nvPr/>
        </p:nvSpPr>
        <p:spPr>
          <a:xfrm>
            <a:off x="411480" y="3968496"/>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two runs, side by side</a:t>
            </a:r>
          </a:p>
        </p:txBody>
      </p:sp>
      <p:graphicFrame>
        <p:nvGraphicFramePr>
          <p:cNvPr id="8" name="Table 7"/>
          <p:cNvGraphicFramePr>
            <a:graphicFrameLocks noGrp="1"/>
          </p:cNvGraphicFramePr>
          <p:nvPr/>
        </p:nvGraphicFramePr>
        <p:xfrm>
          <a:off x="411480" y="4315968"/>
          <a:ext cx="5715000" cy="1499616"/>
        </p:xfrm>
        <a:graphic>
          <a:graphicData uri="http://schemas.openxmlformats.org/drawingml/2006/table">
            <a:tbl>
              <a:tblPr firstRow="1" bandRow="1">
                <a:tableStyleId>{5C22544A-7EE6-4342-B048-85BDC9FD1C3A}</a:tableStyleId>
              </a:tblPr>
              <a:tblGrid>
                <a:gridCol w="2148840"/>
                <a:gridCol w="1783080"/>
                <a:gridCol w="1783080"/>
              </a:tblGrid>
              <a:tr h="249936">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T7.2 staircase</a:t>
                      </a:r>
                    </a:p>
                  </a:txBody>
                  <a:tcPr>
                    <a:solidFill>
                      <a:srgbClr val="143D2F"/>
                    </a:solidFill>
                  </a:tcPr>
                </a:tc>
                <a:tc>
                  <a:txBody>
                    <a:bodyPr lIns="54864" rIns="54864" tIns="18288" bIns="18288" wrap="square" anchor="ctr"/>
                    <a:lstStyle/>
                    <a:p>
                      <a:pPr algn="l"/>
                      <a:r>
                        <a:rPr sz="950" b="1">
                          <a:solidFill>
                            <a:srgbClr val="FFFFFF"/>
                          </a:solidFill>
                          <a:latin typeface="Calibri"/>
                        </a:rPr>
                        <a:t>T8 prog. cyclic</a:t>
                      </a:r>
                    </a:p>
                  </a:txBody>
                  <a:tcPr>
                    <a:solidFill>
                      <a:srgbClr val="143D2F"/>
                    </a:solidFill>
                  </a:tcPr>
                </a:tc>
              </a:tr>
              <a:tr h="249936">
                <a:tc>
                  <a:txBody>
                    <a:bodyPr lIns="54864" rIns="54864" tIns="18288" bIns="18288" wrap="square" anchor="ctr"/>
                    <a:lstStyle/>
                    <a:p>
                      <a:pPr algn="l"/>
                      <a:r>
                        <a:rPr sz="850" b="0">
                          <a:solidFill>
                            <a:srgbClr val="000000"/>
                          </a:solidFill>
                          <a:latin typeface="Calibri"/>
                        </a:rPr>
                        <a:t>specimen</a:t>
                      </a:r>
                    </a:p>
                  </a:txBody>
                  <a:tcPr/>
                </a:tc>
                <a:tc>
                  <a:txBody>
                    <a:bodyPr lIns="54864" rIns="54864" tIns="18288" bIns="18288" wrap="square" anchor="ctr"/>
                    <a:lstStyle/>
                    <a:p>
                      <a:pPr algn="l"/>
                      <a:r>
                        <a:rPr sz="850" b="0">
                          <a:solidFill>
                            <a:srgbClr val="000000"/>
                          </a:solidFill>
                          <a:latin typeface="Calibri"/>
                        </a:rPr>
                        <a:t>S18</a:t>
                      </a:r>
                    </a:p>
                  </a:txBody>
                  <a:tcPr/>
                </a:tc>
                <a:tc>
                  <a:txBody>
                    <a:bodyPr lIns="54864" rIns="54864" tIns="18288" bIns="18288" wrap="square" anchor="ctr"/>
                    <a:lstStyle/>
                    <a:p>
                      <a:pPr algn="l"/>
                      <a:r>
                        <a:rPr sz="850" b="0">
                          <a:solidFill>
                            <a:srgbClr val="000000"/>
                          </a:solidFill>
                          <a:latin typeface="Calibri"/>
                        </a:rPr>
                        <a:t>S21</a:t>
                      </a:r>
                    </a:p>
                  </a:txBody>
                  <a:tcPr/>
                </a:tc>
              </a:tr>
              <a:tr h="249936">
                <a:tc>
                  <a:txBody>
                    <a:bodyPr lIns="54864" rIns="54864" tIns="18288" bIns="18288" wrap="square" anchor="ctr"/>
                    <a:lstStyle/>
                    <a:p>
                      <a:pPr algn="l"/>
                      <a:r>
                        <a:rPr sz="850" b="0">
                          <a:solidFill>
                            <a:srgbClr val="000000"/>
                          </a:solidFill>
                          <a:latin typeface="Calibri"/>
                        </a:rPr>
                        <a:t>UTS, as recorded</a:t>
                      </a:r>
                    </a:p>
                  </a:txBody>
                  <a:tcPr/>
                </a:tc>
                <a:tc>
                  <a:txBody>
                    <a:bodyPr lIns="54864" rIns="54864" tIns="18288" bIns="18288" wrap="square" anchor="ctr"/>
                    <a:lstStyle/>
                    <a:p>
                      <a:pPr algn="l"/>
                      <a:r>
                        <a:rPr sz="850" b="0">
                          <a:solidFill>
                            <a:srgbClr val="000000"/>
                          </a:solidFill>
                          <a:latin typeface="Calibri"/>
                        </a:rPr>
                        <a:t>17.35 MPa</a:t>
                      </a:r>
                    </a:p>
                  </a:txBody>
                  <a:tcPr/>
                </a:tc>
                <a:tc>
                  <a:txBody>
                    <a:bodyPr lIns="54864" rIns="54864" tIns="18288" bIns="18288" wrap="square" anchor="ctr"/>
                    <a:lstStyle/>
                    <a:p>
                      <a:pPr algn="l"/>
                      <a:r>
                        <a:rPr sz="850" b="0">
                          <a:solidFill>
                            <a:srgbClr val="000000"/>
                          </a:solidFill>
                          <a:latin typeface="Calibri"/>
                        </a:rPr>
                        <a:t>17.46 MPa</a:t>
                      </a:r>
                    </a:p>
                  </a:txBody>
                  <a:tcPr/>
                </a:tc>
              </a:tr>
              <a:tr h="249936">
                <a:tc>
                  <a:txBody>
                    <a:bodyPr lIns="54864" rIns="54864" tIns="18288" bIns="18288" wrap="square" anchor="ctr"/>
                    <a:lstStyle/>
                    <a:p>
                      <a:pPr algn="l"/>
                      <a:r>
                        <a:rPr sz="850" b="0">
                          <a:solidFill>
                            <a:srgbClr val="000000"/>
                          </a:solidFill>
                          <a:latin typeface="Calibri"/>
                        </a:rPr>
                        <a:t>preload anchor</a:t>
                      </a:r>
                    </a:p>
                  </a:txBody>
                  <a:tcPr/>
                </a:tc>
                <a:tc>
                  <a:txBody>
                    <a:bodyPr lIns="54864" rIns="54864" tIns="18288" bIns="18288" wrap="square" anchor="ctr"/>
                    <a:lstStyle/>
                    <a:p>
                      <a:pPr algn="l"/>
                      <a:r>
                        <a:rPr sz="850" b="0">
                          <a:solidFill>
                            <a:srgbClr val="000000"/>
                          </a:solidFill>
                          <a:latin typeface="Calibri"/>
                        </a:rPr>
                        <a:t>307 N (sd 0.21)</a:t>
                      </a:r>
                    </a:p>
                  </a:txBody>
                  <a:tcPr/>
                </a:tc>
                <a:tc>
                  <a:txBody>
                    <a:bodyPr lIns="54864" rIns="54864" tIns="18288" bIns="18288" wrap="square" anchor="ctr"/>
                    <a:lstStyle/>
                    <a:p>
                      <a:pPr algn="l"/>
                      <a:r>
                        <a:rPr sz="850" b="0">
                          <a:solidFill>
                            <a:srgbClr val="000000"/>
                          </a:solidFill>
                          <a:latin typeface="Calibri"/>
                        </a:rPr>
                        <a:t>313 N (sd 0.22)</a:t>
                      </a:r>
                    </a:p>
                  </a:txBody>
                  <a:tcPr/>
                </a:tc>
              </a:tr>
              <a:tr h="249936">
                <a:tc>
                  <a:txBody>
                    <a:bodyPr lIns="54864" rIns="54864" tIns="18288" bIns="18288" wrap="square" anchor="ctr"/>
                    <a:lstStyle/>
                    <a:p>
                      <a:pPr algn="l"/>
                      <a:r>
                        <a:rPr sz="850" b="0">
                          <a:solidFill>
                            <a:srgbClr val="000000"/>
                          </a:solidFill>
                          <a:latin typeface="Calibri"/>
                        </a:rPr>
                        <a:t>UTS, anchor-corrected</a:t>
                      </a:r>
                    </a:p>
                  </a:txBody>
                  <a:tcPr/>
                </a:tc>
                <a:tc>
                  <a:txBody>
                    <a:bodyPr lIns="54864" rIns="54864" tIns="18288" bIns="18288" wrap="square" anchor="ctr"/>
                    <a:lstStyle/>
                    <a:p>
                      <a:pPr algn="l"/>
                      <a:r>
                        <a:rPr sz="850" b="0">
                          <a:solidFill>
                            <a:srgbClr val="000000"/>
                          </a:solidFill>
                          <a:latin typeface="Calibri"/>
                        </a:rPr>
                        <a:t>21.19 MPa</a:t>
                      </a:r>
                    </a:p>
                  </a:txBody>
                  <a:tcPr/>
                </a:tc>
                <a:tc>
                  <a:txBody>
                    <a:bodyPr lIns="54864" rIns="54864" tIns="18288" bIns="18288" wrap="square" anchor="ctr"/>
                    <a:lstStyle/>
                    <a:p>
                      <a:pPr algn="l"/>
                      <a:r>
                        <a:rPr sz="850" b="0">
                          <a:solidFill>
                            <a:srgbClr val="000000"/>
                          </a:solidFill>
                          <a:latin typeface="Calibri"/>
                        </a:rPr>
                        <a:t>21.38 MPa</a:t>
                      </a:r>
                    </a:p>
                  </a:txBody>
                  <a:tcPr/>
                </a:tc>
              </a:tr>
              <a:tr h="249936">
                <a:tc>
                  <a:txBody>
                    <a:bodyPr lIns="54864" rIns="54864" tIns="18288" bIns="18288" wrap="square" anchor="ctr"/>
                    <a:lstStyle/>
                    <a:p>
                      <a:pPr algn="l"/>
                      <a:r>
                        <a:rPr sz="850" b="0">
                          <a:solidFill>
                            <a:srgbClr val="000000"/>
                          </a:solidFill>
                          <a:latin typeface="Calibri"/>
                        </a:rPr>
                        <a:t>halted within</a:t>
                      </a:r>
                    </a:p>
                  </a:txBody>
                  <a:tcPr/>
                </a:tc>
                <a:tc>
                  <a:txBody>
                    <a:bodyPr lIns="54864" rIns="54864" tIns="18288" bIns="18288" wrap="square" anchor="ctr"/>
                    <a:lstStyle/>
                    <a:p>
                      <a:pPr algn="l"/>
                      <a:r>
                        <a:rPr sz="850" b="0">
                          <a:solidFill>
                            <a:srgbClr val="000000"/>
                          </a:solidFill>
                          <a:latin typeface="Calibri"/>
                        </a:rPr>
                        <a:t>1.36 s</a:t>
                      </a:r>
                    </a:p>
                  </a:txBody>
                  <a:tcPr/>
                </a:tc>
                <a:tc>
                  <a:txBody>
                    <a:bodyPr lIns="54864" rIns="54864" tIns="18288" bIns="18288" wrap="square" anchor="ctr"/>
                    <a:lstStyle/>
                    <a:p>
                      <a:pPr algn="l"/>
                      <a:r>
                        <a:rPr sz="850" b="0">
                          <a:solidFill>
                            <a:srgbClr val="000000"/>
                          </a:solidFill>
                          <a:latin typeface="Calibri"/>
                        </a:rPr>
                        <a:t>1.33 s</a:t>
                      </a:r>
                    </a:p>
                  </a:txBody>
                  <a:tcPr/>
                </a:tc>
              </a:tr>
            </a:tbl>
          </a:graphicData>
        </a:graphic>
      </p:graphicFrame>
      <p:sp>
        <p:nvSpPr>
          <p:cNvPr id="9" name="TextBox 8"/>
          <p:cNvSpPr txBox="1"/>
          <p:nvPr/>
        </p:nvSpPr>
        <p:spPr>
          <a:xfrm>
            <a:off x="6355080" y="3968496"/>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is worth a slide</a:t>
            </a:r>
          </a:p>
        </p:txBody>
      </p:sp>
      <p:sp>
        <p:nvSpPr>
          <p:cNvPr id="10" name="TextBox 9"/>
          <p:cNvSpPr txBox="1"/>
          <p:nvPr/>
        </p:nvSpPr>
        <p:spPr>
          <a:xfrm>
            <a:off x="6355080" y="4315968"/>
            <a:ext cx="5486400" cy="1499616"/>
          </a:xfrm>
          <a:prstGeom prst="rect">
            <a:avLst/>
          </a:prstGeom>
          <a:noFill/>
        </p:spPr>
        <p:txBody>
          <a:bodyPr wrap="square" lIns="45720" rIns="45720" tIns="18288" bIns="18288" anchor="t">
            <a:spAutoFit/>
          </a:bodyPr>
          <a:lstStyle/>
          <a:p>
            <a:pPr algn="l"/>
            <a:r>
              <a:rPr sz="1000" b="0" i="0">
                <a:solidFill>
                  <a:srgbClr val="000000"/>
                </a:solidFill>
                <a:latin typeface="Calibri"/>
              </a:rPr>
              <a:t>It is the only cross-check the rig can run on ITSELF. Every other agreement in this deck is the same protocol repeated, or our DIC against our own crosshead. Here two different control loops, two different load histories and two different specimens land 0.19 MPa apart — 0.9 % — and both auto-stopped on load collapse inside 1.36 s.  The anchor correction is worth 3.9 MPa, twenty times the difference being discussed, which is why the figure shows it: a 0.9 % agreement means nothing unless the correction behind it was applied the same way to both, and it was, to within 6 N.</a:t>
            </a:r>
          </a:p>
        </p:txBody>
      </p:sp>
      <p:sp>
        <p:nvSpPr>
          <p:cNvPr id="11" name="Rectangle 10"/>
          <p:cNvSpPr/>
          <p:nvPr/>
        </p:nvSpPr>
        <p:spPr>
          <a:xfrm>
            <a:off x="365760" y="5888736"/>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THE CAVEAT, AND IT IS NOT A SMALL ONE: these are DIFFERENT SPECIMENS, n = 1 each. The 0.9 % contains specimen-to-specimen scatter as well as any protocol effect, and nothing here can separate the two. It bounds the protocol effect; it does not measure it.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values are anchor-corrected true UTS from sf9_data, computed from the CSVs rather than restated. Nominal (uncorrected) values are on the figure.</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317</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TWO GUARDS BETWEEN THE OPERATOR AND A WASTED SPECIMEN</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Recipes are covered on p207. These are the other two workflow features, and both share a property that makes them easy to overlook: when they are working correctly, nothing happens.</a:t>
            </a:r>
          </a:p>
        </p:txBody>
      </p:sp>
      <p:sp>
        <p:nvSpPr>
          <p:cNvPr id="6" name="TextBox 5"/>
          <p:cNvSpPr txBox="1"/>
          <p:nvPr/>
        </p:nvSpPr>
        <p:spPr>
          <a:xfrm>
            <a:off x="411480" y="1572768"/>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destructive-test confirmation</a:t>
            </a:r>
          </a:p>
        </p:txBody>
      </p:sp>
      <p:sp>
        <p:nvSpPr>
          <p:cNvPr id="7" name="TextBox 6"/>
          <p:cNvSpPr txBox="1"/>
          <p:nvPr/>
        </p:nvSpPr>
        <p:spPr>
          <a:xfrm>
            <a:off x="411480" y="1920240"/>
            <a:ext cx="5715000" cy="1874519"/>
          </a:xfrm>
          <a:prstGeom prst="rect">
            <a:avLst/>
          </a:prstGeom>
          <a:noFill/>
        </p:spPr>
        <p:txBody>
          <a:bodyPr wrap="square" lIns="45720" rIns="45720" tIns="18288" bIns="18288" anchor="t">
            <a:spAutoFit/>
          </a:bodyPr>
          <a:lstStyle/>
          <a:p>
            <a:pPr algn="l"/>
            <a:r>
              <a:rPr sz="1000" b="0" i="0">
                <a:solidFill>
                  <a:srgbClr val="000000"/>
                </a:solidFill>
                <a:latin typeface="Calibri"/>
              </a:rPr>
              <a:t>A fracture test destroys the specimen and cannot be repeated, so it is the one place where a stale setting is unrecoverable. The dialog therefore does not just ask “are you sure” — it reads the specimen back:  area, gauge, material and INFILL, in the same order and wording the CSV header will carry, so what is confirmed and what is recorded cannot drift apart.
Underneath it lists the preparation steps, ordered by the CURRENT strain-zero convention — under the after-preload rule the preload comes first, so the checklist changes with the setting rather than describing the opposite procedure.
Cancel is the DEFAULT button. A returned keypress does not start a destructive test.</a:t>
            </a:r>
          </a:p>
        </p:txBody>
      </p:sp>
      <p:sp>
        <p:nvSpPr>
          <p:cNvPr id="8" name="TextBox 7"/>
          <p:cNvSpPr txBox="1"/>
          <p:nvPr/>
        </p:nvSpPr>
        <p:spPr>
          <a:xfrm>
            <a:off x="6355080" y="1572768"/>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it exists — a real cost, already paid</a:t>
            </a:r>
          </a:p>
        </p:txBody>
      </p:sp>
      <p:sp>
        <p:nvSpPr>
          <p:cNvPr id="9" name="TextBox 8"/>
          <p:cNvSpPr txBox="1"/>
          <p:nvPr/>
        </p:nvSpPr>
        <p:spPr>
          <a:xfrm>
            <a:off x="6355080" y="1920240"/>
            <a:ext cx="5486400" cy="1874519"/>
          </a:xfrm>
          <a:prstGeom prst="rect">
            <a:avLst/>
          </a:prstGeom>
          <a:noFill/>
        </p:spPr>
        <p:txBody>
          <a:bodyPr wrap="square" lIns="45720" rIns="45720" tIns="18288" bIns="18288" anchor="t">
            <a:spAutoFit/>
          </a:bodyPr>
          <a:lstStyle/>
          <a:p>
            <a:pPr algn="l"/>
            <a:r>
              <a:rPr sz="1000" b="0" i="0">
                <a:solidFill>
                  <a:srgbClr val="000000"/>
                </a:solidFill>
                <a:latin typeface="Calibri"/>
              </a:rPr>
              <a:t>T6.4, T6.5 and both T9 runs recorded “Infill: 100 %” on 50 % specimens. T7.3 — the same mistake waiting to happen — came out right, and the reason is exactly this dialog: it was a fracture test, so the label was echoed back and caught.
The four that went wrong were NON-destructive and had no such gate. That asymmetry is what prompted the 2026-09-01 change putting the same read-back into Prepare test, which every test type performs.</a:t>
            </a:r>
          </a:p>
        </p:txBody>
      </p:sp>
      <p:sp>
        <p:nvSpPr>
          <p:cNvPr id="10" name="TextBox 9"/>
          <p:cNvSpPr txBox="1"/>
          <p:nvPr/>
        </p:nvSpPr>
        <p:spPr>
          <a:xfrm>
            <a:off x="411480" y="395020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stall guard, and why a flat threshold could not work</a:t>
            </a:r>
          </a:p>
        </p:txBody>
      </p:sp>
      <p:graphicFrame>
        <p:nvGraphicFramePr>
          <p:cNvPr id="11" name="Table 10"/>
          <p:cNvGraphicFramePr>
            <a:graphicFrameLocks noGrp="1"/>
          </p:cNvGraphicFramePr>
          <p:nvPr/>
        </p:nvGraphicFramePr>
        <p:xfrm>
          <a:off x="411480" y="4297680"/>
          <a:ext cx="11429999" cy="1463040"/>
        </p:xfrm>
        <a:graphic>
          <a:graphicData uri="http://schemas.openxmlformats.org/drawingml/2006/table">
            <a:tbl>
              <a:tblPr firstRow="1" bandRow="1">
                <a:tableStyleId>{5C22544A-7EE6-4342-B048-85BDC9FD1C3A}</a:tableStyleId>
              </a:tblPr>
              <a:tblGrid>
                <a:gridCol w="1874519"/>
                <a:gridCol w="2788920"/>
                <a:gridCol w="6766560"/>
              </a:tblGrid>
              <a:tr h="243840">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Value</a:t>
                      </a:r>
                    </a:p>
                  </a:txBody>
                  <a:tcPr>
                    <a:solidFill>
                      <a:srgbClr val="143D2F"/>
                    </a:solidFill>
                  </a:tcPr>
                </a:tc>
                <a:tc>
                  <a:txBody>
                    <a:bodyPr lIns="54864" rIns="54864" tIns="18288" bIns="18288" wrap="square" anchor="ctr"/>
                    <a:lstStyle/>
                    <a:p>
                      <a:pPr algn="l"/>
                      <a:r>
                        <a:rPr sz="950" b="1">
                          <a:solidFill>
                            <a:srgbClr val="FFFFFF"/>
                          </a:solidFill>
                          <a:latin typeface="Calibri"/>
                        </a:rPr>
                        <a:t>Why this and not something simpler</a:t>
                      </a:r>
                    </a:p>
                  </a:txBody>
                  <a:tcPr>
                    <a:solidFill>
                      <a:srgbClr val="143D2F"/>
                    </a:solidFill>
                  </a:tcPr>
                </a:tc>
              </a:tr>
              <a:tr h="243840">
                <a:tc>
                  <a:txBody>
                    <a:bodyPr lIns="54864" rIns="54864" tIns="18288" bIns="18288" wrap="square" anchor="ctr"/>
                    <a:lstStyle/>
                    <a:p>
                      <a:pPr algn="l"/>
                      <a:r>
                        <a:rPr sz="850" b="0">
                          <a:solidFill>
                            <a:srgbClr val="000000"/>
                          </a:solidFill>
                          <a:latin typeface="Calibri"/>
                        </a:rPr>
                        <a:t>window</a:t>
                      </a:r>
                    </a:p>
                  </a:txBody>
                  <a:tcPr/>
                </a:tc>
                <a:tc>
                  <a:txBody>
                    <a:bodyPr lIns="54864" rIns="54864" tIns="18288" bIns="18288" wrap="square" anchor="ctr"/>
                    <a:lstStyle/>
                    <a:p>
                      <a:pPr algn="l"/>
                      <a:r>
                        <a:rPr sz="850" b="0">
                          <a:solidFill>
                            <a:srgbClr val="000000"/>
                          </a:solidFill>
                          <a:latin typeface="Calibri"/>
                        </a:rPr>
                        <a:t>6 s</a:t>
                      </a:r>
                    </a:p>
                  </a:txBody>
                  <a:tcPr/>
                </a:tc>
                <a:tc>
                  <a:txBody>
                    <a:bodyPr lIns="54864" rIns="54864" tIns="18288" bIns="18288" wrap="square" anchor="ctr"/>
                    <a:lstStyle/>
                    <a:p>
                      <a:pPr algn="l"/>
                      <a:r>
                        <a:rPr sz="850" b="0">
                          <a:solidFill>
                            <a:srgbClr val="000000"/>
                          </a:solidFill>
                          <a:latin typeface="Calibri"/>
                        </a:rPr>
                        <a:t>long enough that one slow load-cell sample cannot trip it</a:t>
                      </a:r>
                    </a:p>
                  </a:txBody>
                  <a:tcPr/>
                </a:tc>
              </a:tr>
              <a:tr h="243840">
                <a:tc>
                  <a:txBody>
                    <a:bodyPr lIns="54864" rIns="54864" tIns="18288" bIns="18288" wrap="square" anchor="ctr"/>
                    <a:lstStyle/>
                    <a:p>
                      <a:pPr algn="l"/>
                      <a:r>
                        <a:rPr sz="850" b="0">
                          <a:solidFill>
                            <a:srgbClr val="000000"/>
                          </a:solidFill>
                          <a:latin typeface="Calibri"/>
                        </a:rPr>
                        <a:t>must advance by</a:t>
                      </a:r>
                    </a:p>
                  </a:txBody>
                  <a:tcPr/>
                </a:tc>
                <a:tc>
                  <a:txBody>
                    <a:bodyPr lIns="54864" rIns="54864" tIns="18288" bIns="18288" wrap="square" anchor="ctr"/>
                    <a:lstStyle/>
                    <a:p>
                      <a:pPr algn="l"/>
                      <a:r>
                        <a:rPr sz="850" b="0">
                          <a:solidFill>
                            <a:srgbClr val="000000"/>
                          </a:solidFill>
                          <a:latin typeface="Calibri"/>
                        </a:rPr>
                        <a:t>min(0.05 mm, 35 % of commanded)</a:t>
                      </a:r>
                    </a:p>
                  </a:txBody>
                  <a:tcPr/>
                </a:tc>
                <a:tc>
                  <a:txBody>
                    <a:bodyPr lIns="54864" rIns="54864" tIns="18288" bIns="18288" wrap="square" anchor="ctr"/>
                    <a:lstStyle/>
                    <a:p>
                      <a:pPr algn="l"/>
                      <a:r>
                        <a:rPr sz="850" b="0">
                          <a:solidFill>
                            <a:srgbClr val="000000"/>
                          </a:solidFill>
                          <a:latin typeface="Calibri"/>
                        </a:rPr>
                        <a:t>a FLAT 0.05 mm assumed every mode runs near 0.1 mm/s, where 0.6 mm is expected and the bar is 8 %</a:t>
                      </a:r>
                    </a:p>
                  </a:txBody>
                  <a:tcPr/>
                </a:tc>
              </a:tr>
              <a:tr h="243840">
                <a:tc>
                  <a:txBody>
                    <a:bodyPr lIns="54864" rIns="54864" tIns="18288" bIns="18288" wrap="square" anchor="ctr"/>
                    <a:lstStyle/>
                    <a:p>
                      <a:pPr algn="l"/>
                      <a:r>
                        <a:rPr sz="850" b="0">
                          <a:solidFill>
                            <a:srgbClr val="000000"/>
                          </a:solidFill>
                          <a:latin typeface="Calibri"/>
                        </a:rPr>
                        <a:t>at a tapered crawl</a:t>
                      </a:r>
                    </a:p>
                  </a:txBody>
                  <a:tcPr/>
                </a:tc>
                <a:tc>
                  <a:txBody>
                    <a:bodyPr lIns="54864" rIns="54864" tIns="18288" bIns="18288" wrap="square" anchor="ctr"/>
                    <a:lstStyle/>
                    <a:p>
                      <a:pPr algn="l"/>
                      <a:r>
                        <a:rPr sz="850" b="0">
                          <a:solidFill>
                            <a:srgbClr val="000000"/>
                          </a:solidFill>
                          <a:latin typeface="Calibri"/>
                        </a:rPr>
                        <a:t>0.01–0.02 mm/s → 0.06–0.12 mm expected</a:t>
                      </a:r>
                    </a:p>
                  </a:txBody>
                  <a:tcPr/>
                </a:tc>
                <a:tc>
                  <a:txBody>
                    <a:bodyPr lIns="54864" rIns="54864" tIns="18288" bIns="18288" wrap="square" anchor="ctr"/>
                    <a:lstStyle/>
                    <a:p>
                      <a:pPr algn="l"/>
                      <a:r>
                        <a:rPr sz="850" b="0">
                          <a:solidFill>
                            <a:srgbClr val="000000"/>
                          </a:solidFill>
                          <a:latin typeface="Calibri"/>
                        </a:rPr>
                        <a:t>a flat 0.05 mm would demand 42–83 % of commanded travel, and a HEALTHY motor trips on rounding alone</a:t>
                      </a:r>
                    </a:p>
                  </a:txBody>
                  <a:tcPr/>
                </a:tc>
              </a:tr>
              <a:tr h="243840">
                <a:tc>
                  <a:txBody>
                    <a:bodyPr lIns="54864" rIns="54864" tIns="18288" bIns="18288" wrap="square" anchor="ctr"/>
                    <a:lstStyle/>
                    <a:p>
                      <a:pPr algn="l"/>
                      <a:r>
                        <a:rPr sz="850" b="0">
                          <a:solidFill>
                            <a:srgbClr val="000000"/>
                          </a:solidFill>
                          <a:latin typeface="Calibri"/>
                        </a:rPr>
                        <a:t>only guards above</a:t>
                      </a:r>
                    </a:p>
                  </a:txBody>
                  <a:tcPr/>
                </a:tc>
                <a:tc>
                  <a:txBody>
                    <a:bodyPr lIns="54864" rIns="54864" tIns="18288" bIns="18288" wrap="square" anchor="ctr"/>
                    <a:lstStyle/>
                    <a:p>
                      <a:pPr algn="l"/>
                      <a:r>
                        <a:rPr sz="850" b="0">
                          <a:solidFill>
                            <a:srgbClr val="000000"/>
                          </a:solidFill>
                          <a:latin typeface="Calibri"/>
                        </a:rPr>
                        <a:t>200 N</a:t>
                      </a:r>
                    </a:p>
                  </a:txBody>
                  <a:tcPr/>
                </a:tc>
                <a:tc>
                  <a:txBody>
                    <a:bodyPr lIns="54864" rIns="54864" tIns="18288" bIns="18288" wrap="square" anchor="ctr"/>
                    <a:lstStyle/>
                    <a:p>
                      <a:pPr algn="l"/>
                      <a:r>
                        <a:rPr sz="850" b="0">
                          <a:solidFill>
                            <a:srgbClr val="000000"/>
                          </a:solidFill>
                          <a:latin typeface="Calibri"/>
                        </a:rPr>
                        <a:t>below that the crosshead may legitimately be taking up slack, not pulling</a:t>
                      </a:r>
                    </a:p>
                  </a:txBody>
                  <a:tcPr/>
                </a:tc>
              </a:tr>
              <a:tr h="243840">
                <a:tc>
                  <a:txBody>
                    <a:bodyPr lIns="54864" rIns="54864" tIns="18288" bIns="18288" wrap="square" anchor="ctr"/>
                    <a:lstStyle/>
                    <a:p>
                      <a:pPr algn="l"/>
                      <a:r>
                        <a:rPr sz="850" b="0">
                          <a:solidFill>
                            <a:srgbClr val="000000"/>
                          </a:solidFill>
                          <a:latin typeface="Calibri"/>
                        </a:rPr>
                        <a:t>nothing commanded</a:t>
                      </a:r>
                    </a:p>
                  </a:txBody>
                  <a:tcPr/>
                </a:tc>
                <a:tc>
                  <a:txBody>
                    <a:bodyPr lIns="54864" rIns="54864" tIns="18288" bIns="18288" wrap="square" anchor="ctr"/>
                    <a:lstStyle/>
                    <a:p>
                      <a:pPr algn="l"/>
                      <a:r>
                        <a:rPr sz="850" b="0">
                          <a:solidFill>
                            <a:srgbClr val="000000"/>
                          </a:solidFill>
                          <a:latin typeface="Calibri"/>
                        </a:rPr>
                        <a:t>threshold 0 — cannot fire</a:t>
                      </a:r>
                    </a:p>
                  </a:txBody>
                  <a:tcPr/>
                </a:tc>
                <a:tc>
                  <a:txBody>
                    <a:bodyPr lIns="54864" rIns="54864" tIns="18288" bIns="18288" wrap="square" anchor="ctr"/>
                    <a:lstStyle/>
                    <a:p>
                      <a:pPr algn="l"/>
                      <a:r>
                        <a:rPr sz="850" b="0">
                          <a:solidFill>
                            <a:srgbClr val="000000"/>
                          </a:solidFill>
                          <a:latin typeface="Calibri"/>
                        </a:rPr>
                        <a:t>a hold is not a stall, and the guard must not invent one</a:t>
                      </a:r>
                    </a:p>
                  </a:txBody>
                  <a:tcPr/>
                </a:tc>
              </a:tr>
            </a:tbl>
          </a:graphicData>
        </a:graphic>
      </p:graphicFrame>
      <p:sp>
        <p:nvSpPr>
          <p:cNvPr id="12" name="Rectangle 11"/>
          <p:cNvSpPr/>
          <p:nvPr/>
        </p:nvSpPr>
        <p:spPr>
          <a:xfrm>
            <a:off x="365760" y="5888736"/>
            <a:ext cx="11475720" cy="45720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1F3F2F"/>
                </a:solidFill>
                <a:latin typeface="Calibri"/>
              </a:rPr>
              <a:t>BOTH ARE JUDGED BY WHAT THEY DID NOT DO. The stall guard stayed silent through every ductile 100 % draw — the case that looks most like a stall and is not — and fired on T7, which really had stopped advancing. A guard that cries wolf gets switched off.</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Constants read from main.py: STALL_WINDOW_S, STALL_MIN_ADVANCE_MM, STALL_SHORTFALL_FRAC, STALL_MIN_LOAD_N.</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318</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SF19 · NOISE CAPTURE — MEASURING THE INSTRUMENT ALONE</a:t>
            </a:r>
          </a:p>
        </p:txBody>
      </p:sp>
      <p:sp>
        <p:nvSpPr>
          <p:cNvPr id="5" name="TextBox 4"/>
          <p:cNvSpPr txBox="1"/>
          <p:nvPr/>
        </p:nvSpPr>
        <p:spPr>
          <a:xfrm>
            <a:off x="411480" y="1024128"/>
            <a:ext cx="11430000" cy="420624"/>
          </a:xfrm>
          <a:prstGeom prst="rect">
            <a:avLst/>
          </a:prstGeom>
          <a:noFill/>
        </p:spPr>
        <p:txBody>
          <a:bodyPr wrap="square" lIns="45720" rIns="45720" tIns="18288" bIns="18288" anchor="t">
            <a:spAutoFit/>
          </a:bodyPr>
          <a:lstStyle/>
          <a:p>
            <a:pPr algn="l"/>
            <a:r>
              <a:rPr sz="1100" b="0" i="0">
                <a:solidFill>
                  <a:srgbClr val="000000"/>
                </a:solidFill>
                <a:latin typeface="Calibri"/>
              </a:rPr>
              <a:t>Every number this rig reports is specimen plus instrument. This records the instrument ALONE — preloaded, mounted, and completely still — so the two can be told apart. The button sits beside Prepare test and Fracture test, and it is the only one there that does not move the motor.</a:t>
            </a:r>
          </a:p>
        </p:txBody>
      </p:sp>
      <p:sp>
        <p:nvSpPr>
          <p:cNvPr id="6" name="TextBox 5"/>
          <p:cNvSpPr txBox="1"/>
          <p:nvPr/>
        </p:nvSpPr>
        <p:spPr>
          <a:xfrm>
            <a:off x="411480" y="157276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Three numbers per channel — and only two of them are subtractable</a:t>
            </a:r>
          </a:p>
        </p:txBody>
      </p:sp>
      <p:graphicFrame>
        <p:nvGraphicFramePr>
          <p:cNvPr id="7" name="Table 6"/>
          <p:cNvGraphicFramePr>
            <a:graphicFrameLocks noGrp="1"/>
          </p:cNvGraphicFramePr>
          <p:nvPr/>
        </p:nvGraphicFramePr>
        <p:xfrm>
          <a:off x="411480" y="1920240"/>
          <a:ext cx="11430000" cy="1499616"/>
        </p:xfrm>
        <a:graphic>
          <a:graphicData uri="http://schemas.openxmlformats.org/drawingml/2006/table">
            <a:tbl>
              <a:tblPr firstRow="1" bandRow="1">
                <a:tableStyleId>{5C22544A-7EE6-4342-B048-85BDC9FD1C3A}</a:tableStyleId>
              </a:tblPr>
              <a:tblGrid>
                <a:gridCol w="1691640"/>
                <a:gridCol w="3931920"/>
                <a:gridCol w="5806440"/>
              </a:tblGrid>
              <a:tr h="374904">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What it is</a:t>
                      </a:r>
                    </a:p>
                  </a:txBody>
                  <a:tcPr>
                    <a:solidFill>
                      <a:srgbClr val="143D2F"/>
                    </a:solidFill>
                  </a:tcPr>
                </a:tc>
                <a:tc>
                  <a:txBody>
                    <a:bodyPr lIns="54864" rIns="54864" tIns="18288" bIns="18288" wrap="square" anchor="ctr"/>
                    <a:lstStyle/>
                    <a:p>
                      <a:pPr algn="l"/>
                      <a:r>
                        <a:rPr sz="950" b="1">
                          <a:solidFill>
                            <a:srgbClr val="FFFFFF"/>
                          </a:solidFill>
                          <a:latin typeface="Calibri"/>
                        </a:rPr>
                        <a:t>Can it be removed from a later run?</a:t>
                      </a:r>
                    </a:p>
                  </a:txBody>
                  <a:tcPr>
                    <a:solidFill>
                      <a:srgbClr val="143D2F"/>
                    </a:solidFill>
                  </a:tcPr>
                </a:tc>
              </a:tr>
              <a:tr h="374904">
                <a:tc>
                  <a:txBody>
                    <a:bodyPr lIns="54864" rIns="54864" tIns="18288" bIns="18288" wrap="square" anchor="ctr"/>
                    <a:lstStyle/>
                    <a:p>
                      <a:pPr algn="l"/>
                      <a:r>
                        <a:rPr sz="900" b="0">
                          <a:solidFill>
                            <a:srgbClr val="000000"/>
                          </a:solidFill>
                          <a:latin typeface="Calibri"/>
                        </a:rPr>
                        <a:t>OFFSET</a:t>
                      </a:r>
                    </a:p>
                  </a:txBody>
                  <a:tcPr/>
                </a:tc>
                <a:tc>
                  <a:txBody>
                    <a:bodyPr lIns="54864" rIns="54864" tIns="18288" bIns="18288" wrap="square" anchor="ctr"/>
                    <a:lstStyle/>
                    <a:p>
                      <a:pPr algn="l"/>
                      <a:r>
                        <a:rPr sz="900" b="0">
                          <a:solidFill>
                            <a:srgbClr val="000000"/>
                          </a:solidFill>
                          <a:latin typeface="Calibri"/>
                        </a:rPr>
                        <a:t>the mean while at rest</a:t>
                      </a:r>
                    </a:p>
                  </a:txBody>
                  <a:tcPr/>
                </a:tc>
                <a:tc>
                  <a:txBody>
                    <a:bodyPr lIns="54864" rIns="54864" tIns="18288" bIns="18288" wrap="square" anchor="ctr"/>
                    <a:lstStyle/>
                    <a:p>
                      <a:pPr algn="l"/>
                      <a:r>
                        <a:rPr sz="900" b="0">
                          <a:solidFill>
                            <a:srgbClr val="000000"/>
                          </a:solidFill>
                          <a:latin typeface="Calibri"/>
                        </a:rPr>
                        <a:t>YES — it is a constant, so it subtracts exactly</a:t>
                      </a:r>
                    </a:p>
                  </a:txBody>
                  <a:tcPr/>
                </a:tc>
              </a:tr>
              <a:tr h="374904">
                <a:tc>
                  <a:txBody>
                    <a:bodyPr lIns="54864" rIns="54864" tIns="18288" bIns="18288" wrap="square" anchor="ctr"/>
                    <a:lstStyle/>
                    <a:p>
                      <a:pPr algn="l"/>
                      <a:r>
                        <a:rPr sz="900" b="0">
                          <a:solidFill>
                            <a:srgbClr val="000000"/>
                          </a:solidFill>
                          <a:latin typeface="Calibri"/>
                        </a:rPr>
                        <a:t>DRIFT</a:t>
                      </a:r>
                    </a:p>
                  </a:txBody>
                  <a:tcPr/>
                </a:tc>
                <a:tc>
                  <a:txBody>
                    <a:bodyPr lIns="54864" rIns="54864" tIns="18288" bIns="18288" wrap="square" anchor="ctr"/>
                    <a:lstStyle/>
                    <a:p>
                      <a:pPr algn="l"/>
                      <a:r>
                        <a:rPr sz="900" b="0">
                          <a:solidFill>
                            <a:srgbClr val="000000"/>
                          </a:solidFill>
                          <a:latin typeface="Calibri"/>
                        </a:rPr>
                        <a:t>the slope while at rest (N/s, µε/s)</a:t>
                      </a:r>
                    </a:p>
                  </a:txBody>
                  <a:tcPr/>
                </a:tc>
                <a:tc>
                  <a:txBody>
                    <a:bodyPr lIns="54864" rIns="54864" tIns="18288" bIns="18288" wrap="square" anchor="ctr"/>
                    <a:lstStyle/>
                    <a:p>
                      <a:pPr algn="l"/>
                      <a:r>
                        <a:rPr sz="900" b="0">
                          <a:solidFill>
                            <a:srgbClr val="000000"/>
                          </a:solidFill>
                          <a:latin typeface="Calibri"/>
                        </a:rPr>
                        <a:t>YES — it is systematic, so the fitted line subtracts</a:t>
                      </a:r>
                    </a:p>
                  </a:txBody>
                  <a:tcPr/>
                </a:tc>
              </a:tr>
              <a:tr h="374904">
                <a:tc>
                  <a:txBody>
                    <a:bodyPr lIns="54864" rIns="54864" tIns="18288" bIns="18288" wrap="square" anchor="ctr"/>
                    <a:lstStyle/>
                    <a:p>
                      <a:pPr algn="l"/>
                      <a:r>
                        <a:rPr sz="900" b="0">
                          <a:solidFill>
                            <a:srgbClr val="000000"/>
                          </a:solidFill>
                          <a:latin typeface="Calibri"/>
                        </a:rPr>
                        <a:t>RESIDUAL SD</a:t>
                      </a:r>
                    </a:p>
                  </a:txBody>
                  <a:tcPr/>
                </a:tc>
                <a:tc>
                  <a:txBody>
                    <a:bodyPr lIns="54864" rIns="54864" tIns="18288" bIns="18288" wrap="square" anchor="ctr"/>
                    <a:lstStyle/>
                    <a:p>
                      <a:pPr algn="l"/>
                      <a:r>
                        <a:rPr sz="900" b="0">
                          <a:solidFill>
                            <a:srgbClr val="000000"/>
                          </a:solidFill>
                          <a:latin typeface="Calibri"/>
                        </a:rPr>
                        <a:t>what is left once that line is removed</a:t>
                      </a:r>
                    </a:p>
                  </a:txBody>
                  <a:tcPr/>
                </a:tc>
                <a:tc>
                  <a:txBody>
                    <a:bodyPr lIns="54864" rIns="54864" tIns="18288" bIns="18288" wrap="square" anchor="ctr"/>
                    <a:lstStyle/>
                    <a:p>
                      <a:pPr algn="l"/>
                      <a:r>
                        <a:rPr sz="900" b="0">
                          <a:solidFill>
                            <a:srgbClr val="000000"/>
                          </a:solidFill>
                          <a:latin typeface="Calibri"/>
                        </a:rPr>
                        <a:t>NO. This is the measurement uncertainty — quote it, do not subtract it</a:t>
                      </a:r>
                    </a:p>
                  </a:txBody>
                  <a:tcPr/>
                </a:tc>
              </a:tr>
            </a:tbl>
          </a:graphicData>
        </a:graphic>
      </p:graphicFrame>
      <p:sp>
        <p:nvSpPr>
          <p:cNvPr id="8" name="TextBox 7"/>
          <p:cNvSpPr txBox="1"/>
          <p:nvPr/>
        </p:nvSpPr>
        <p:spPr>
          <a:xfrm>
            <a:off x="411480" y="3602736"/>
            <a:ext cx="57150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SD cannot be subtracted</a:t>
            </a:r>
          </a:p>
        </p:txBody>
      </p:sp>
      <p:sp>
        <p:nvSpPr>
          <p:cNvPr id="9" name="TextBox 8"/>
          <p:cNvSpPr txBox="1"/>
          <p:nvPr/>
        </p:nvSpPr>
        <p:spPr>
          <a:xfrm>
            <a:off x="411480" y="3950208"/>
            <a:ext cx="5715000" cy="1828800"/>
          </a:xfrm>
          <a:prstGeom prst="rect">
            <a:avLst/>
          </a:prstGeom>
          <a:noFill/>
        </p:spPr>
        <p:txBody>
          <a:bodyPr wrap="square" lIns="45720" rIns="45720" tIns="18288" bIns="18288" anchor="t">
            <a:spAutoFit/>
          </a:bodyPr>
          <a:lstStyle/>
          <a:p>
            <a:pPr algn="l"/>
            <a:r>
              <a:rPr sz="1000" b="0" i="0">
                <a:solidFill>
                  <a:srgbClr val="000000"/>
                </a:solidFill>
                <a:latin typeface="Calibri"/>
              </a:rPr>
              <a:t>Because it is RANDOM, and two random records do not cancel. Subtracting one independent recording from another gives √2 times the variance, not zero — so a “noise-corrected” curve built that way would be noisier than the raw one, while looking cleaner on the slide.
What the sd is FOR is the uncertainty band on a result, and the threshold below which a reported change is not a measurement. That is the honest use, and it is the one this feature supports.
The straight line is removed BEFORE the sd is computed. A raw sd over a drifting window folds the drift in and reports a removable trend as irreducible noise.</a:t>
            </a:r>
          </a:p>
        </p:txBody>
      </p:sp>
      <p:sp>
        <p:nvSpPr>
          <p:cNvPr id="10" name="TextBox 9"/>
          <p:cNvSpPr txBox="1"/>
          <p:nvPr/>
        </p:nvSpPr>
        <p:spPr>
          <a:xfrm>
            <a:off x="6355080" y="3602736"/>
            <a:ext cx="548640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things it insists on</a:t>
            </a:r>
          </a:p>
        </p:txBody>
      </p:sp>
      <p:sp>
        <p:nvSpPr>
          <p:cNvPr id="11" name="TextBox 10"/>
          <p:cNvSpPr txBox="1"/>
          <p:nvPr/>
        </p:nvSpPr>
        <p:spPr>
          <a:xfrm>
            <a:off x="6355080" y="3950208"/>
            <a:ext cx="5486400" cy="1828800"/>
          </a:xfrm>
          <a:prstGeom prst="rect">
            <a:avLst/>
          </a:prstGeom>
          <a:noFill/>
        </p:spPr>
        <p:txBody>
          <a:bodyPr wrap="square" lIns="45720" rIns="45720" tIns="18288" bIns="18288" anchor="t">
            <a:spAutoFit/>
          </a:bodyPr>
          <a:lstStyle/>
          <a:p>
            <a:pPr algn="l"/>
            <a:r>
              <a:rPr sz="1000" b="0" i="0">
                <a:solidFill>
                  <a:srgbClr val="000000"/>
                </a:solidFill>
                <a:latin typeface="Calibri"/>
              </a:rPr>
              <a:t>PRELOAD FIRST, judged from the live load rather than from history — a preload that relaxed, or one applied to a different specimen, should not count. Without it the operator gets the warning and an explicit “Measure anyway”, because a bare-machine baseline is a legitimate thing to want; the override is written into the file. It matters because unseated grips settle, and that settling is recorded as a drift that will not be there during the run.
THE WINDOW TRAVELS WITH THE NUMBER. This rig's DIC noise floor GROWS with observation time — about 12 µε over 40 s against 26 µε over 900 s (p231). A 30 s figure applied to a 900 s creep test understates the noise by roughly half, so the duration is chosen per capture and written into the header.</a:t>
            </a:r>
          </a:p>
        </p:txBody>
      </p:sp>
      <p:sp>
        <p:nvSpPr>
          <p:cNvPr id="12" name="Rectangle 11"/>
          <p:cNvSpPr/>
          <p:nvPr/>
        </p:nvSpPr>
        <p:spPr>
          <a:xfrm>
            <a:off x="365760" y="5888736"/>
            <a:ext cx="11475720" cy="45720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00" b="1">
                <a:solidFill>
                  <a:srgbClr val="000000"/>
                </a:solidFill>
                <a:latin typeface="Calibri"/>
              </a:rPr>
              <a:t>STATUS: BUILT AND VERIFIED OFFLINE — NOT YET RUN ON THE RIG. The statistics are checked against a synthetic signal with a known 0.25 N/s drift and 2.0 N sd, and recover 0.249 and 2.015. What has not happened yet is a capture on the real machine, so no measured noise floor is claimed here.</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Saves every sample and the summary where the operator chooses. No DIC gives a load-only capture with the strain columns EMPTY, never zero.</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319</a:t>
            </a:r>
          </a:p>
        </p:txBody>
      </p:sp>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A 45 mm GAUGE PULL, AS THE XT-205 RECORDED IT</a:t>
            </a:r>
          </a:p>
        </p:txBody>
      </p:sp>
      <p:pic>
        <p:nvPicPr>
          <p:cNvPr id="5" name="Picture 4" descr="mot2_strain.png"/>
          <p:cNvPicPr>
            <a:picLocks noChangeAspect="1"/>
          </p:cNvPicPr>
          <p:nvPr/>
        </p:nvPicPr>
        <p:blipFill>
          <a:blip r:embed="rId2"/>
          <a:stretch>
            <a:fillRect/>
          </a:stretch>
        </p:blipFill>
        <p:spPr>
          <a:xfrm>
            <a:off x="365760" y="1042415"/>
            <a:ext cx="5852160" cy="3187762"/>
          </a:xfrm>
          <a:prstGeom prst="rect">
            <a:avLst/>
          </a:prstGeom>
        </p:spPr>
      </p:pic>
      <p:sp>
        <p:nvSpPr>
          <p:cNvPr id="6" name="TextBox 5"/>
          <p:cNvSpPr txBox="1"/>
          <p:nvPr/>
        </p:nvSpPr>
        <p:spPr>
          <a:xfrm>
            <a:off x="365760" y="4315968"/>
            <a:ext cx="5852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fracture is read at the peak, not at the last sample</a:t>
            </a:r>
          </a:p>
        </p:txBody>
      </p:sp>
      <p:sp>
        <p:nvSpPr>
          <p:cNvPr id="7" name="TextBox 6"/>
          <p:cNvSpPr txBox="1"/>
          <p:nvPr/>
        </p:nvSpPr>
        <p:spPr>
          <a:xfrm>
            <a:off x="365760" y="4663440"/>
            <a:ext cx="5852160" cy="1261872"/>
          </a:xfrm>
          <a:prstGeom prst="rect">
            <a:avLst/>
          </a:prstGeom>
          <a:noFill/>
        </p:spPr>
        <p:txBody>
          <a:bodyPr wrap="square" lIns="45720" rIns="45720" tIns="18288" bIns="18288" anchor="t">
            <a:spAutoFit/>
          </a:bodyPr>
          <a:lstStyle/>
          <a:p>
            <a:pPr algn="l"/>
            <a:r>
              <a:rPr sz="950" b="0" i="0">
                <a:solidFill>
                  <a:srgbClr val="000000"/>
                </a:solidFill>
                <a:latin typeface="Calibri"/>
              </a:rPr>
              <a:t>When the specimen parts, the two halves spring back and the extensometer's marks go with them. Strain reads 5.33 % at 165.2 s and 2.81 % barely a second later — a 2.5 % collapse that is the specimen coming apart, not deforming. The last sample in the file would report that recoil as the failure strain and understate it by half, so the failure strain is taken at the MAXIMUM inside the pull and the fracture stress at that same instant.</a:t>
            </a:r>
          </a:p>
        </p:txBody>
      </p:sp>
      <p:sp>
        <p:nvSpPr>
          <p:cNvPr id="8" name="TextBox 7"/>
          <p:cNvSpPr txBox="1"/>
          <p:nvPr/>
        </p:nvSpPr>
        <p:spPr>
          <a:xfrm>
            <a:off x="6446520" y="1005840"/>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test as run</a:t>
            </a:r>
          </a:p>
        </p:txBody>
      </p:sp>
      <p:graphicFrame>
        <p:nvGraphicFramePr>
          <p:cNvPr id="9" name="Table 8"/>
          <p:cNvGraphicFramePr>
            <a:graphicFrameLocks noGrp="1"/>
          </p:cNvGraphicFramePr>
          <p:nvPr/>
        </p:nvGraphicFramePr>
        <p:xfrm>
          <a:off x="6446520" y="1353312"/>
          <a:ext cx="5394960" cy="1499616"/>
        </p:xfrm>
        <a:graphic>
          <a:graphicData uri="http://schemas.openxmlformats.org/drawingml/2006/table">
            <a:tbl>
              <a:tblPr firstRow="1" bandRow="1">
                <a:tableStyleId>{5C22544A-7EE6-4342-B048-85BDC9FD1C3A}</a:tableStyleId>
              </a:tblPr>
              <a:tblGrid>
                <a:gridCol w="2286000"/>
                <a:gridCol w="3108960"/>
              </a:tblGrid>
              <a:tr h="249936">
                <a:tc>
                  <a:txBody>
                    <a:bodyPr lIns="54864" rIns="54864" tIns="18288" bIns="18288" wrap="square" anchor="ctr"/>
                    <a:lstStyle/>
                    <a:p>
                      <a:pPr algn="l"/>
                      <a:r>
                        <a:rPr sz="1000" b="1">
                          <a:solidFill>
                            <a:srgbClr val="FFFFFF"/>
                          </a:solidFill>
                          <a:latin typeface="Calibri"/>
                        </a:rPr>
                        <a:t>Condition</a:t>
                      </a:r>
                    </a:p>
                  </a:txBody>
                  <a:tcPr>
                    <a:solidFill>
                      <a:srgbClr val="143D2F"/>
                    </a:solidFill>
                  </a:tcPr>
                </a:tc>
                <a:tc>
                  <a:txBody>
                    <a:bodyPr lIns="54864" rIns="54864" tIns="18288" bIns="18288" wrap="square" anchor="ctr"/>
                    <a:lstStyle/>
                    <a:p>
                      <a:pPr algn="l"/>
                      <a:r>
                        <a:rPr sz="1000" b="1">
                          <a:solidFill>
                            <a:srgbClr val="FFFFFF"/>
                          </a:solidFill>
                          <a:latin typeface="Calibri"/>
                        </a:rPr>
                        <a:t>As recorded</a:t>
                      </a:r>
                    </a:p>
                  </a:txBody>
                  <a:tcPr>
                    <a:solidFill>
                      <a:srgbClr val="143D2F"/>
                    </a:solidFill>
                  </a:tcPr>
                </a:tc>
              </a:tr>
              <a:tr h="249936">
                <a:tc>
                  <a:txBody>
                    <a:bodyPr lIns="54864" rIns="54864" tIns="18288" bIns="18288" wrap="square" anchor="ctr"/>
                    <a:lstStyle/>
                    <a:p>
                      <a:pPr algn="l"/>
                      <a:r>
                        <a:rPr sz="900" b="0">
                          <a:solidFill>
                            <a:srgbClr val="000000"/>
                          </a:solidFill>
                          <a:latin typeface="Calibri"/>
                        </a:rPr>
                        <a:t>crosshead speed</a:t>
                      </a:r>
                    </a:p>
                  </a:txBody>
                  <a:tcPr/>
                </a:tc>
                <a:tc>
                  <a:txBody>
                    <a:bodyPr lIns="54864" rIns="54864" tIns="18288" bIns="18288" wrap="square" anchor="ctr"/>
                    <a:lstStyle/>
                    <a:p>
                      <a:pPr algn="l"/>
                      <a:r>
                        <a:rPr sz="900" b="0">
                          <a:solidFill>
                            <a:srgbClr val="000000"/>
                          </a:solidFill>
                          <a:latin typeface="Calibri"/>
                        </a:rPr>
                        <a:t>2 mm/min = 0.0333 mm/s</a:t>
                      </a:r>
                    </a:p>
                  </a:txBody>
                  <a:tcPr/>
                </a:tc>
              </a:tr>
              <a:tr h="249936">
                <a:tc>
                  <a:txBody>
                    <a:bodyPr lIns="54864" rIns="54864" tIns="18288" bIns="18288" wrap="square" anchor="ctr"/>
                    <a:lstStyle/>
                    <a:p>
                      <a:pPr algn="l"/>
                      <a:r>
                        <a:rPr sz="900" b="0">
                          <a:solidFill>
                            <a:srgbClr val="000000"/>
                          </a:solidFill>
                          <a:latin typeface="Calibri"/>
                        </a:rPr>
                        <a:t>preload</a:t>
                      </a:r>
                    </a:p>
                  </a:txBody>
                  <a:tcPr/>
                </a:tc>
                <a:tc>
                  <a:txBody>
                    <a:bodyPr lIns="54864" rIns="54864" tIns="18288" bIns="18288" wrap="square" anchor="ctr"/>
                    <a:lstStyle/>
                    <a:p>
                      <a:pPr algn="l"/>
                      <a:r>
                        <a:rPr sz="900" b="0">
                          <a:solidFill>
                            <a:srgbClr val="000000"/>
                          </a:solidFill>
                          <a:latin typeface="Calibri"/>
                        </a:rPr>
                        <a:t>300 N — reached at t = 8.85 s, inside the record</a:t>
                      </a:r>
                    </a:p>
                  </a:txBody>
                  <a:tcPr/>
                </a:tc>
              </a:tr>
              <a:tr h="249936">
                <a:tc>
                  <a:txBody>
                    <a:bodyPr lIns="54864" rIns="54864" tIns="18288" bIns="18288" wrap="square" anchor="ctr"/>
                    <a:lstStyle/>
                    <a:p>
                      <a:pPr algn="l"/>
                      <a:r>
                        <a:rPr sz="900" b="0">
                          <a:solidFill>
                            <a:srgbClr val="000000"/>
                          </a:solidFill>
                          <a:latin typeface="Calibri"/>
                        </a:rPr>
                        <a:t>gauge, as their software reports it</a:t>
                      </a:r>
                    </a:p>
                  </a:txBody>
                  <a:tcPr/>
                </a:tc>
                <a:tc>
                  <a:txBody>
                    <a:bodyPr lIns="54864" rIns="54864" tIns="18288" bIns="18288" wrap="square" anchor="ctr"/>
                    <a:lstStyle/>
                    <a:p>
                      <a:pPr algn="l"/>
                      <a:r>
                        <a:rPr sz="900" b="0">
                          <a:solidFill>
                            <a:srgbClr val="000000"/>
                          </a:solidFill>
                          <a:latin typeface="Calibri"/>
                        </a:rPr>
                        <a:t>45.0034 mm</a:t>
                      </a:r>
                    </a:p>
                  </a:txBody>
                  <a:tcPr/>
                </a:tc>
              </a:tr>
              <a:tr h="249936">
                <a:tc>
                  <a:txBody>
                    <a:bodyPr lIns="54864" rIns="54864" tIns="18288" bIns="18288" wrap="square" anchor="ctr"/>
                    <a:lstStyle/>
                    <a:p>
                      <a:pPr algn="l"/>
                      <a:r>
                        <a:rPr sz="900" b="0">
                          <a:solidFill>
                            <a:srgbClr val="000000"/>
                          </a:solidFill>
                          <a:latin typeface="Calibri"/>
                        </a:rPr>
                        <a:t>sampling</a:t>
                      </a:r>
                    </a:p>
                  </a:txBody>
                  <a:tcPr/>
                </a:tc>
                <a:tc>
                  <a:txBody>
                    <a:bodyPr lIns="54864" rIns="54864" tIns="18288" bIns="18288" wrap="square" anchor="ctr"/>
                    <a:lstStyle/>
                    <a:p>
                      <a:pPr algn="l"/>
                      <a:r>
                        <a:rPr sz="900" b="0">
                          <a:solidFill>
                            <a:srgbClr val="000000"/>
                          </a:solidFill>
                          <a:latin typeface="Calibri"/>
                        </a:rPr>
                        <a:t>19.86 Hz — 3300 load rows, 3257 strain rows</a:t>
                      </a:r>
                    </a:p>
                  </a:txBody>
                  <a:tcPr/>
                </a:tc>
              </a:tr>
              <a:tr h="249936">
                <a:tc>
                  <a:txBody>
                    <a:bodyPr lIns="54864" rIns="54864" tIns="18288" bIns="18288" wrap="square" anchor="ctr"/>
                    <a:lstStyle/>
                    <a:p>
                      <a:pPr algn="l"/>
                      <a:r>
                        <a:rPr sz="900" b="0">
                          <a:solidFill>
                            <a:srgbClr val="000000"/>
                          </a:solidFill>
                          <a:latin typeface="Calibri"/>
                        </a:rPr>
                        <a:t>duration to fracture</a:t>
                      </a:r>
                    </a:p>
                  </a:txBody>
                  <a:tcPr/>
                </a:tc>
                <a:tc>
                  <a:txBody>
                    <a:bodyPr lIns="54864" rIns="54864" tIns="18288" bIns="18288" wrap="square" anchor="ctr"/>
                    <a:lstStyle/>
                    <a:p>
                      <a:pPr algn="l"/>
                      <a:r>
                        <a:rPr sz="900" b="0">
                          <a:solidFill>
                            <a:srgbClr val="000000"/>
                          </a:solidFill>
                          <a:latin typeface="Calibri"/>
                        </a:rPr>
                        <a:t>166.1 s</a:t>
                      </a:r>
                    </a:p>
                  </a:txBody>
                  <a:tcPr/>
                </a:tc>
              </a:tr>
            </a:tbl>
          </a:graphicData>
        </a:graphic>
      </p:graphicFrame>
      <p:sp>
        <p:nvSpPr>
          <p:cNvPr id="10" name="TextBox 9"/>
          <p:cNvSpPr txBox="1"/>
          <p:nvPr/>
        </p:nvSpPr>
        <p:spPr>
          <a:xfrm>
            <a:off x="6446520" y="2980944"/>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files, one clock — and no column headers</a:t>
            </a:r>
          </a:p>
        </p:txBody>
      </p:sp>
      <p:sp>
        <p:nvSpPr>
          <p:cNvPr id="11" name="TextBox 10"/>
          <p:cNvSpPr txBox="1"/>
          <p:nvPr/>
        </p:nvSpPr>
        <p:spPr>
          <a:xfrm>
            <a:off x="6446520" y="3328416"/>
            <a:ext cx="5394960" cy="1097280"/>
          </a:xfrm>
          <a:prstGeom prst="rect">
            <a:avLst/>
          </a:prstGeom>
          <a:noFill/>
        </p:spPr>
        <p:txBody>
          <a:bodyPr wrap="square" lIns="45720" rIns="45720" tIns="18288" bIns="18288" anchor="t">
            <a:spAutoFit/>
          </a:bodyPr>
          <a:lstStyle/>
          <a:p>
            <a:pPr algn="l"/>
            <a:r>
              <a:rPr sz="950" b="0" i="0">
                <a:solidFill>
                  <a:srgbClr val="000000"/>
                </a:solidFill>
                <a:latin typeface="Calibri"/>
              </a:rPr>
              <a:t>The strain lives in a CSV and the load in a .daq that names none of its 52 columns. Column 4 is identified by SHAPE: it is the only channel that climbs from zero to 3.57 kN, holds, and collapses in one sample — and 3.57 kN on 80 mm² is 44.6 MPa, where PLA belongs. No other column is even the right order of magnitude.</a:t>
            </a:r>
          </a:p>
        </p:txBody>
      </p:sp>
      <p:sp>
        <p:nvSpPr>
          <p:cNvPr id="12" name="TextBox 11"/>
          <p:cNvSpPr txBox="1"/>
          <p:nvPr/>
        </p:nvSpPr>
        <p:spPr>
          <a:xfrm>
            <a:off x="6446520" y="449884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A trap in the CSV that does not announce itself</a:t>
            </a:r>
          </a:p>
        </p:txBody>
      </p:sp>
      <p:sp>
        <p:nvSpPr>
          <p:cNvPr id="13" name="TextBox 12"/>
          <p:cNvSpPr txBox="1"/>
          <p:nvPr/>
        </p:nvSpPr>
        <p:spPr>
          <a:xfrm>
            <a:off x="6446520" y="4846320"/>
            <a:ext cx="5394960" cy="1069848"/>
          </a:xfrm>
          <a:prstGeom prst="rect">
            <a:avLst/>
          </a:prstGeom>
          <a:noFill/>
        </p:spPr>
        <p:txBody>
          <a:bodyPr wrap="square" lIns="45720" rIns="45720" tIns="18288" bIns="18288" anchor="t">
            <a:spAutoFit/>
          </a:bodyPr>
          <a:lstStyle/>
          <a:p>
            <a:pPr algn="l"/>
            <a:r>
              <a:rPr sz="950" b="0" i="0">
                <a:solidFill>
                  <a:srgbClr val="000000"/>
                </a:solidFill>
                <a:latin typeface="Calibri"/>
              </a:rPr>
              <a:t>Before the marks are found the instrument writes "Invalid" across a WHOLE row. Reading the time and strain columns independently leaves 3351 times against 3308 strains — arrays that still zip, still plot, and are wrong by 43 samples of lag. Rows are kept or dropped whole.</a:t>
            </a:r>
          </a:p>
        </p:txBody>
      </p:sp>
      <p:sp>
        <p:nvSpPr>
          <p:cNvPr id="14" name="Rectangle 13"/>
          <p:cNvSpPr/>
          <p:nvPr/>
        </p:nvSpPr>
        <p:spPr>
          <a:xfrm>
            <a:off x="365760" y="5989320"/>
            <a:ext cx="11475720" cy="3657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Everything above is the MOT XT-205's own instrument, maths and machine — no part of the PPD-UTM pipeline touches it. That is what makes it usable as an independent check.</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Source: Validation docs\MOT Test 2\Videoextesometer MOT\strain-sample3.csv + sample3.daq. Parsed by documentation/scripts/mot2_data.py; nothing is retyped.</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320</a:t>
            </a: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STRESS–STRAIN, AND WHAT THE ZERO COSTS</a:t>
            </a:r>
          </a:p>
        </p:txBody>
      </p:sp>
      <p:pic>
        <p:nvPicPr>
          <p:cNvPr id="5" name="Picture 4" descr="mot2_stress.png"/>
          <p:cNvPicPr>
            <a:picLocks noChangeAspect="1"/>
          </p:cNvPicPr>
          <p:nvPr/>
        </p:nvPicPr>
        <p:blipFill>
          <a:blip r:embed="rId2"/>
          <a:stretch>
            <a:fillRect/>
          </a:stretch>
        </p:blipFill>
        <p:spPr>
          <a:xfrm>
            <a:off x="365760" y="1042415"/>
            <a:ext cx="5852160" cy="3187762"/>
          </a:xfrm>
          <a:prstGeom prst="rect">
            <a:avLst/>
          </a:prstGeom>
        </p:spPr>
      </p:pic>
      <p:sp>
        <p:nvSpPr>
          <p:cNvPr id="6" name="TextBox 5"/>
          <p:cNvSpPr txBox="1"/>
          <p:nvPr/>
        </p:nvSpPr>
        <p:spPr>
          <a:xfrm>
            <a:off x="365760" y="4315968"/>
            <a:ext cx="5852160" cy="365760"/>
          </a:xfrm>
          <a:prstGeom prst="rect">
            <a:avLst/>
          </a:prstGeom>
          <a:noFill/>
        </p:spPr>
        <p:txBody>
          <a:bodyPr wrap="square" lIns="45720" rIns="45720" tIns="18288" bIns="18288" anchor="t">
            <a:spAutoFit/>
          </a:bodyPr>
          <a:lstStyle/>
          <a:p>
            <a:pPr algn="l"/>
            <a:r>
              <a:rPr sz="1600" b="0" i="0">
                <a:solidFill>
                  <a:srgbClr val="707070"/>
                </a:solidFill>
                <a:latin typeface="Calibri"/>
              </a:rPr>
              <a:t>MOT pulls a third as fast — and that is not a defect</a:t>
            </a:r>
          </a:p>
        </p:txBody>
      </p:sp>
      <p:sp>
        <p:nvSpPr>
          <p:cNvPr id="7" name="TextBox 6"/>
          <p:cNvSpPr txBox="1"/>
          <p:nvPr/>
        </p:nvSpPr>
        <p:spPr>
          <a:xfrm>
            <a:off x="365760" y="4663440"/>
            <a:ext cx="5852160" cy="1261872"/>
          </a:xfrm>
          <a:prstGeom prst="rect">
            <a:avLst/>
          </a:prstGeom>
          <a:noFill/>
        </p:spPr>
        <p:txBody>
          <a:bodyPr wrap="square" lIns="45720" rIns="45720" tIns="18288" bIns="18288" anchor="t">
            <a:spAutoFit/>
          </a:bodyPr>
          <a:lstStyle/>
          <a:p>
            <a:pPr algn="l"/>
            <a:r>
              <a:rPr sz="950" b="0" i="0">
                <a:solidFill>
                  <a:srgbClr val="000000"/>
                </a:solidFill>
                <a:latin typeface="Calibri"/>
              </a:rPr>
              <a:t>MOT pulled at 2 mm/min; the PPD-UTM pulls at 6.0 — 3× faster. PLA is rate-sensitive and a slower pull gives a LOWER strength, so their 44.62 MPa sitting below our 47.09 / 48.34 MPa is the direction the physics predicts. It is carried into every comparison rather than averaged away, because it is the one condition the two machines did not share.</a:t>
            </a:r>
          </a:p>
        </p:txBody>
      </p:sp>
      <p:sp>
        <p:nvSpPr>
          <p:cNvPr id="8" name="TextBox 7"/>
          <p:cNvSpPr txBox="1"/>
          <p:nvPr/>
        </p:nvSpPr>
        <p:spPr>
          <a:xfrm>
            <a:off x="6446520" y="1005840"/>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landmarks, on both ways of zeroing the strain</a:t>
            </a:r>
          </a:p>
        </p:txBody>
      </p:sp>
      <p:graphicFrame>
        <p:nvGraphicFramePr>
          <p:cNvPr id="9" name="Table 8"/>
          <p:cNvGraphicFramePr>
            <a:graphicFrameLocks noGrp="1"/>
          </p:cNvGraphicFramePr>
          <p:nvPr/>
        </p:nvGraphicFramePr>
        <p:xfrm>
          <a:off x="6446520" y="1353312"/>
          <a:ext cx="5394960" cy="1499616"/>
        </p:xfrm>
        <a:graphic>
          <a:graphicData uri="http://schemas.openxmlformats.org/drawingml/2006/table">
            <a:tbl>
              <a:tblPr firstRow="1" bandRow="1">
                <a:tableStyleId>{5C22544A-7EE6-4342-B048-85BDC9FD1C3A}</a:tableStyleId>
              </a:tblPr>
              <a:tblGrid>
                <a:gridCol w="1888236"/>
                <a:gridCol w="1753362"/>
                <a:gridCol w="1753362"/>
              </a:tblGrid>
              <a:tr h="299923">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as recorded
(zero at 0 N)</a:t>
                      </a:r>
                    </a:p>
                  </a:txBody>
                  <a:tcPr>
                    <a:solidFill>
                      <a:srgbClr val="143D2F"/>
                    </a:solidFill>
                  </a:tcPr>
                </a:tc>
                <a:tc>
                  <a:txBody>
                    <a:bodyPr lIns="54864" rIns="54864" tIns="18288" bIns="18288" wrap="square" anchor="ctr"/>
                    <a:lstStyle/>
                    <a:p>
                      <a:pPr algn="l"/>
                      <a:r>
                        <a:rPr sz="950" b="1">
                          <a:solidFill>
                            <a:srgbClr val="FFFFFF"/>
                          </a:solidFill>
                          <a:latin typeface="Calibri"/>
                        </a:rPr>
                        <a:t>re-zeroed at 300 N
(our convention)</a:t>
                      </a:r>
                    </a:p>
                  </a:txBody>
                  <a:tcPr>
                    <a:solidFill>
                      <a:srgbClr val="143D2F"/>
                    </a:solidFill>
                  </a:tcPr>
                </a:tc>
              </a:tr>
              <a:tr h="299923">
                <a:tc>
                  <a:txBody>
                    <a:bodyPr lIns="54864" rIns="54864" tIns="18288" bIns="18288" wrap="square" anchor="ctr"/>
                    <a:lstStyle/>
                    <a:p>
                      <a:pPr algn="l"/>
                      <a:r>
                        <a:rPr sz="900" b="0">
                          <a:solidFill>
                            <a:srgbClr val="000000"/>
                          </a:solidFill>
                          <a:latin typeface="Calibri"/>
                        </a:rPr>
                        <a:t>E, 0.05–0.40 % window</a:t>
                      </a:r>
                    </a:p>
                  </a:txBody>
                  <a:tcPr/>
                </a:tc>
                <a:tc>
                  <a:txBody>
                    <a:bodyPr lIns="54864" rIns="54864" tIns="18288" bIns="18288" wrap="square" anchor="ctr"/>
                    <a:lstStyle/>
                    <a:p>
                      <a:pPr algn="l"/>
                      <a:r>
                        <a:rPr sz="900" b="0">
                          <a:solidFill>
                            <a:srgbClr val="000000"/>
                          </a:solidFill>
                          <a:latin typeface="Calibri"/>
                        </a:rPr>
                        <a:t>3.277 GPa   (R² 0.9974)</a:t>
                      </a:r>
                    </a:p>
                  </a:txBody>
                  <a:tcPr/>
                </a:tc>
                <a:tc>
                  <a:txBody>
                    <a:bodyPr lIns="54864" rIns="54864" tIns="18288" bIns="18288" wrap="square" anchor="ctr"/>
                    <a:lstStyle/>
                    <a:p>
                      <a:pPr algn="l"/>
                      <a:r>
                        <a:rPr sz="900" b="0">
                          <a:solidFill>
                            <a:srgbClr val="000000"/>
                          </a:solidFill>
                          <a:latin typeface="Calibri"/>
                        </a:rPr>
                        <a:t>3.210 GPa   (R² 0.9982)</a:t>
                      </a:r>
                    </a:p>
                  </a:txBody>
                  <a:tcPr/>
                </a:tc>
              </a:tr>
              <a:tr h="299923">
                <a:tc>
                  <a:txBody>
                    <a:bodyPr lIns="54864" rIns="54864" tIns="18288" bIns="18288" wrap="square" anchor="ctr"/>
                    <a:lstStyle/>
                    <a:p>
                      <a:pPr algn="l"/>
                      <a:r>
                        <a:rPr sz="900" b="0">
                          <a:solidFill>
                            <a:srgbClr val="000000"/>
                          </a:solidFill>
                          <a:latin typeface="Calibri"/>
                        </a:rPr>
                        <a:t>σ_y, 0.2 % offset</a:t>
                      </a:r>
                    </a:p>
                  </a:txBody>
                  <a:tcPr/>
                </a:tc>
                <a:tc>
                  <a:txBody>
                    <a:bodyPr lIns="54864" rIns="54864" tIns="18288" bIns="18288" wrap="square" anchor="ctr"/>
                    <a:lstStyle/>
                    <a:p>
                      <a:pPr algn="l"/>
                      <a:r>
                        <a:rPr sz="900" b="0">
                          <a:solidFill>
                            <a:srgbClr val="000000"/>
                          </a:solidFill>
                          <a:latin typeface="Calibri"/>
                        </a:rPr>
                        <a:t>38.86 MPa at 1.38 %</a:t>
                      </a:r>
                    </a:p>
                  </a:txBody>
                  <a:tcPr/>
                </a:tc>
                <a:tc>
                  <a:txBody>
                    <a:bodyPr lIns="54864" rIns="54864" tIns="18288" bIns="18288" wrap="square" anchor="ctr"/>
                    <a:lstStyle/>
                    <a:p>
                      <a:pPr algn="l"/>
                      <a:r>
                        <a:rPr sz="900" b="0">
                          <a:solidFill>
                            <a:srgbClr val="000000"/>
                          </a:solidFill>
                          <a:latin typeface="Calibri"/>
                        </a:rPr>
                        <a:t>39.45 MPa at 1.31 %</a:t>
                      </a:r>
                    </a:p>
                  </a:txBody>
                  <a:tcPr/>
                </a:tc>
              </a:tr>
              <a:tr h="299923">
                <a:tc>
                  <a:txBody>
                    <a:bodyPr lIns="54864" rIns="54864" tIns="18288" bIns="18288" wrap="square" anchor="ctr"/>
                    <a:lstStyle/>
                    <a:p>
                      <a:pPr algn="l"/>
                      <a:r>
                        <a:rPr sz="900" b="0">
                          <a:solidFill>
                            <a:srgbClr val="000000"/>
                          </a:solidFill>
                          <a:latin typeface="Calibri"/>
                        </a:rPr>
                        <a:t>UTS</a:t>
                      </a:r>
                    </a:p>
                  </a:txBody>
                  <a:tcPr/>
                </a:tc>
                <a:tc>
                  <a:txBody>
                    <a:bodyPr lIns="54864" rIns="54864" tIns="18288" bIns="18288" wrap="square" anchor="ctr"/>
                    <a:lstStyle/>
                    <a:p>
                      <a:pPr algn="l"/>
                      <a:r>
                        <a:rPr sz="900" b="0">
                          <a:solidFill>
                            <a:srgbClr val="000000"/>
                          </a:solidFill>
                          <a:latin typeface="Calibri"/>
                        </a:rPr>
                        <a:t>44.62 MPa at 2.03 %</a:t>
                      </a:r>
                    </a:p>
                  </a:txBody>
                  <a:tcPr/>
                </a:tc>
                <a:tc>
                  <a:txBody>
                    <a:bodyPr lIns="54864" rIns="54864" tIns="18288" bIns="18288" wrap="square" anchor="ctr"/>
                    <a:lstStyle/>
                    <a:p>
                      <a:pPr algn="l"/>
                      <a:r>
                        <a:rPr sz="900" b="0">
                          <a:solidFill>
                            <a:srgbClr val="000000"/>
                          </a:solidFill>
                          <a:latin typeface="Calibri"/>
                        </a:rPr>
                        <a:t>44.62 MPa at 1.92 %</a:t>
                      </a:r>
                    </a:p>
                  </a:txBody>
                  <a:tcPr/>
                </a:tc>
              </a:tr>
              <a:tr h="299924">
                <a:tc>
                  <a:txBody>
                    <a:bodyPr lIns="54864" rIns="54864" tIns="18288" bIns="18288" wrap="square" anchor="ctr"/>
                    <a:lstStyle/>
                    <a:p>
                      <a:pPr algn="l"/>
                      <a:r>
                        <a:rPr sz="900" b="0">
                          <a:solidFill>
                            <a:srgbClr val="000000"/>
                          </a:solidFill>
                          <a:latin typeface="Calibri"/>
                        </a:rPr>
                        <a:t>fracture strain</a:t>
                      </a:r>
                    </a:p>
                  </a:txBody>
                  <a:tcPr/>
                </a:tc>
                <a:tc>
                  <a:txBody>
                    <a:bodyPr lIns="54864" rIns="54864" tIns="18288" bIns="18288" wrap="square" anchor="ctr"/>
                    <a:lstStyle/>
                    <a:p>
                      <a:pPr algn="l"/>
                      <a:r>
                        <a:rPr sz="900" b="0">
                          <a:solidFill>
                            <a:srgbClr val="000000"/>
                          </a:solidFill>
                          <a:latin typeface="Calibri"/>
                        </a:rPr>
                        <a:t>5.33 %</a:t>
                      </a:r>
                    </a:p>
                  </a:txBody>
                  <a:tcPr/>
                </a:tc>
                <a:tc>
                  <a:txBody>
                    <a:bodyPr lIns="54864" rIns="54864" tIns="18288" bIns="18288" wrap="square" anchor="ctr"/>
                    <a:lstStyle/>
                    <a:p>
                      <a:pPr algn="l"/>
                      <a:r>
                        <a:rPr sz="900" b="0">
                          <a:solidFill>
                            <a:srgbClr val="000000"/>
                          </a:solidFill>
                          <a:latin typeface="Calibri"/>
                        </a:rPr>
                        <a:t>5.21 %</a:t>
                      </a:r>
                    </a:p>
                  </a:txBody>
                  <a:tcPr/>
                </a:tc>
              </a:tr>
            </a:tbl>
          </a:graphicData>
        </a:graphic>
      </p:graphicFrame>
      <p:sp>
        <p:nvSpPr>
          <p:cNvPr id="10" name="TextBox 9"/>
          <p:cNvSpPr txBox="1"/>
          <p:nvPr/>
        </p:nvSpPr>
        <p:spPr>
          <a:xfrm>
            <a:off x="6446520" y="2980944"/>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question we said had to be settled first</a:t>
            </a:r>
          </a:p>
        </p:txBody>
      </p:sp>
      <p:sp>
        <p:nvSpPr>
          <p:cNvPr id="11" name="TextBox 10"/>
          <p:cNvSpPr txBox="1"/>
          <p:nvPr/>
        </p:nvSpPr>
        <p:spPr>
          <a:xfrm>
            <a:off x="6446520" y="3328416"/>
            <a:ext cx="5394960" cy="1280160"/>
          </a:xfrm>
          <a:prstGeom prst="rect">
            <a:avLst/>
          </a:prstGeom>
          <a:noFill/>
        </p:spPr>
        <p:txBody>
          <a:bodyPr wrap="square" lIns="45720" rIns="45720" tIns="18288" bIns="18288" anchor="t">
            <a:spAutoFit/>
          </a:bodyPr>
          <a:lstStyle/>
          <a:p>
            <a:pPr algn="l"/>
            <a:r>
              <a:rPr sz="950" b="0" i="0">
                <a:solidFill>
                  <a:srgbClr val="000000"/>
                </a:solidFill>
                <a:latin typeface="Calibri"/>
              </a:rPr>
              <a:t>Their strain zero is at ZERO LOAD: the 300 N preload is applied inside the record, at t = 8.85 s, by which point they already read 0.116 %. Our Px₀ is frozen AFTER preload, so their curve carries a toe ours does not. The validation pack called this the largest single risk to the comparison. Re-zeroing at 300 N moves E by 2 % — there is almost no toe to remove.</a:t>
            </a:r>
          </a:p>
        </p:txBody>
      </p:sp>
      <p:sp>
        <p:nvSpPr>
          <p:cNvPr id="12" name="TextBox 11"/>
          <p:cNvSpPr txBox="1"/>
          <p:nvPr/>
        </p:nvSpPr>
        <p:spPr>
          <a:xfrm>
            <a:off x="6446520" y="4681728"/>
            <a:ext cx="53949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Where the XT-205 modulus lands</a:t>
            </a:r>
          </a:p>
        </p:txBody>
      </p:sp>
      <p:sp>
        <p:nvSpPr>
          <p:cNvPr id="13" name="TextBox 12"/>
          <p:cNvSpPr txBox="1"/>
          <p:nvPr/>
        </p:nvSpPr>
        <p:spPr>
          <a:xfrm>
            <a:off x="6446520" y="5029200"/>
            <a:ext cx="5394960" cy="886968"/>
          </a:xfrm>
          <a:prstGeom prst="rect">
            <a:avLst/>
          </a:prstGeom>
          <a:noFill/>
        </p:spPr>
        <p:txBody>
          <a:bodyPr wrap="square" lIns="45720" rIns="45720" tIns="18288" bIns="18288" anchor="t">
            <a:spAutoFit/>
          </a:bodyPr>
          <a:lstStyle/>
          <a:p>
            <a:pPr algn="l"/>
            <a:r>
              <a:rPr sz="950" b="0" i="0">
                <a:solidFill>
                  <a:srgbClr val="000000"/>
                </a:solidFill>
                <a:latin typeface="Calibri"/>
              </a:rPr>
              <a:t>Both values fall INSIDE our own 45 mm bracket, 3.174–3.451 GPa (S33 / S34). The full like-for-like comparison — and MOT footage through the PPD-UTM pipeline, as in p303 — follows.</a:t>
            </a:r>
          </a:p>
        </p:txBody>
      </p:sp>
      <p:sp>
        <p:nvSpPr>
          <p:cNvPr id="14" name="Rectangle 13"/>
          <p:cNvSpPr/>
          <p:nvPr/>
        </p:nvSpPr>
        <p:spPr>
          <a:xfrm>
            <a:off x="365760" y="5989320"/>
            <a:ext cx="11475720" cy="365760"/>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strain-zero difference we most feared costs 2 % on E — well under the 9 % scatter between our own two runs. UTS and σ_y come from the load cell and never depended on it at all.</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Stress is load ÷ 80 mm² CAD nominal, the same basis as every other number in this deck. The curve is drawn to the strain peak only.</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321</a:t>
            </a:r>
          </a:p>
        </p:txBody>
      </p:sp>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vs PPD-UTM 45 mm RUNS — MAKING IT FAIR</a:t>
            </a:r>
          </a:p>
        </p:txBody>
      </p:sp>
      <p:sp>
        <p:nvSpPr>
          <p:cNvPr id="5" name="TextBox 4"/>
          <p:cNvSpPr txBox="1"/>
          <p:nvPr/>
        </p:nvSpPr>
        <p:spPr>
          <a:xfrm>
            <a:off x="411480" y="987552"/>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MOT Test 1 could compare only strain RATE: that export carried no load and stopped at 0.40 % strain. MOT Test 2 has a load channel and runs to fracture, so every landmark is now comparable — provided three things are held fixed first.</a:t>
            </a:r>
          </a:p>
        </p:txBody>
      </p:sp>
      <p:sp>
        <p:nvSpPr>
          <p:cNvPr id="6" name="TextBox 5"/>
          <p:cNvSpPr txBox="1"/>
          <p:nvPr/>
        </p:nvSpPr>
        <p:spPr>
          <a:xfrm>
            <a:off x="411480" y="1408176"/>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three things held fixed, and why each one matters</a:t>
            </a:r>
          </a:p>
        </p:txBody>
      </p:sp>
      <p:graphicFrame>
        <p:nvGraphicFramePr>
          <p:cNvPr id="7" name="Table 6"/>
          <p:cNvGraphicFramePr>
            <a:graphicFrameLocks noGrp="1"/>
          </p:cNvGraphicFramePr>
          <p:nvPr/>
        </p:nvGraphicFramePr>
        <p:xfrm>
          <a:off x="411480" y="1755648"/>
          <a:ext cx="5623560" cy="1499616"/>
        </p:xfrm>
        <a:graphic>
          <a:graphicData uri="http://schemas.openxmlformats.org/drawingml/2006/table">
            <a:tbl>
              <a:tblPr firstRow="1" bandRow="1">
                <a:tableStyleId>{5C22544A-7EE6-4342-B048-85BDC9FD1C3A}</a:tableStyleId>
              </a:tblPr>
              <a:tblGrid>
                <a:gridCol w="2651760"/>
                <a:gridCol w="2971800"/>
              </a:tblGrid>
              <a:tr h="374904">
                <a:tc>
                  <a:txBody>
                    <a:bodyPr lIns="54864" rIns="54864" tIns="18288" bIns="18288" wrap="square" anchor="ctr"/>
                    <a:lstStyle/>
                    <a:p>
                      <a:pPr algn="l"/>
                      <a:r>
                        <a:rPr sz="950" b="1">
                          <a:solidFill>
                            <a:srgbClr val="FFFFFF"/>
                          </a:solidFill>
                          <a:latin typeface="Calibri"/>
                        </a:rPr>
                        <a:t>Held fixed</a:t>
                      </a:r>
                    </a:p>
                  </a:txBody>
                  <a:tcPr>
                    <a:solidFill>
                      <a:srgbClr val="143D2F"/>
                    </a:solidFill>
                  </a:tcPr>
                </a:tc>
                <a:tc>
                  <a:txBody>
                    <a:bodyPr lIns="54864" rIns="54864" tIns="18288" bIns="18288" wrap="square" anchor="ctr"/>
                    <a:lstStyle/>
                    <a:p>
                      <a:pPr algn="l"/>
                      <a:r>
                        <a:rPr sz="950" b="1">
                          <a:solidFill>
                            <a:srgbClr val="FFFFFF"/>
                          </a:solidFill>
                          <a:latin typeface="Calibri"/>
                        </a:rPr>
                        <a:t>Left alone, it would show up as…</a:t>
                      </a:r>
                    </a:p>
                  </a:txBody>
                  <a:tcPr>
                    <a:solidFill>
                      <a:srgbClr val="143D2F"/>
                    </a:solidFill>
                  </a:tcPr>
                </a:tc>
              </a:tr>
              <a:tr h="374904">
                <a:tc>
                  <a:txBody>
                    <a:bodyPr lIns="54864" rIns="54864" tIns="18288" bIns="18288" wrap="square" anchor="ctr"/>
                    <a:lstStyle/>
                    <a:p>
                      <a:pPr algn="l"/>
                      <a:r>
                        <a:rPr sz="800" b="0">
                          <a:solidFill>
                            <a:srgbClr val="000000"/>
                          </a:solidFill>
                          <a:latin typeface="Calibri"/>
                        </a:rPr>
                        <a:t>THE STRAIN ZERO — theirs re-zeroed at
their 300 N preload, onto our convention</a:t>
                      </a:r>
                    </a:p>
                  </a:txBody>
                  <a:tcPr/>
                </a:tc>
                <a:tc>
                  <a:txBody>
                    <a:bodyPr lIns="54864" rIns="54864" tIns="18288" bIns="18288" wrap="square" anchor="ctr"/>
                    <a:lstStyle/>
                    <a:p>
                      <a:pPr algn="l"/>
                      <a:r>
                        <a:rPr sz="800" b="0">
                          <a:solidFill>
                            <a:srgbClr val="000000"/>
                          </a:solidFill>
                          <a:latin typeface="Calibri"/>
                        </a:rPr>
                        <a:t>a toe inside their strain only, moving E
and the 0.2 % offset yield with it</a:t>
                      </a:r>
                    </a:p>
                  </a:txBody>
                  <a:tcPr/>
                </a:tc>
              </a:tr>
              <a:tr h="374904">
                <a:tc>
                  <a:txBody>
                    <a:bodyPr lIns="54864" rIns="54864" tIns="18288" bIns="18288" wrap="square" anchor="ctr"/>
                    <a:lstStyle/>
                    <a:p>
                      <a:pPr algn="l"/>
                      <a:r>
                        <a:rPr sz="800" b="0">
                          <a:solidFill>
                            <a:srgbClr val="000000"/>
                          </a:solidFill>
                          <a:latin typeface="Calibri"/>
                        </a:rPr>
                        <a:t>THE MODULUS METHOD — both methods run
on both machines, by the app's own search</a:t>
                      </a:r>
                    </a:p>
                  </a:txBody>
                  <a:tcPr/>
                </a:tc>
                <a:tc>
                  <a:txBody>
                    <a:bodyPr lIns="54864" rIns="54864" tIns="18288" bIns="18288" wrap="square" anchor="ctr"/>
                    <a:lstStyle/>
                    <a:p>
                      <a:pPr algn="l"/>
                      <a:r>
                        <a:rPr sz="800" b="0">
                          <a:solidFill>
                            <a:srgbClr val="000000"/>
                          </a:solidFill>
                          <a:latin typeface="Calibri"/>
                        </a:rPr>
                        <a:t>a METHOD gap of 12 % reported as a
MACHINE gap of 6 %</a:t>
                      </a:r>
                    </a:p>
                  </a:txBody>
                  <a:tcPr/>
                </a:tc>
              </a:tr>
              <a:tr h="374904">
                <a:tc>
                  <a:txBody>
                    <a:bodyPr lIns="54864" rIns="54864" tIns="18288" bIns="18288" wrap="square" anchor="ctr"/>
                    <a:lstStyle/>
                    <a:p>
                      <a:pPr algn="l"/>
                      <a:r>
                        <a:rPr sz="800" b="0">
                          <a:solidFill>
                            <a:srgbClr val="000000"/>
                          </a:solidFill>
                          <a:latin typeface="Calibri"/>
                        </a:rPr>
                        <a:t>THE NOISE WINDOW — reported over matched
STRAIN and matched DURATION, both</a:t>
                      </a:r>
                    </a:p>
                  </a:txBody>
                  <a:tcPr/>
                </a:tc>
                <a:tc>
                  <a:txBody>
                    <a:bodyPr lIns="54864" rIns="54864" tIns="18288" bIns="18288" wrap="square" anchor="ctr"/>
                    <a:lstStyle/>
                    <a:p>
                      <a:pPr algn="l"/>
                      <a:r>
                        <a:rPr sz="800" b="0">
                          <a:solidFill>
                            <a:srgbClr val="000000"/>
                          </a:solidFill>
                          <a:latin typeface="Calibri"/>
                        </a:rPr>
                        <a:t>our floor grows with observation time, and
they dwell longer at any given strain</a:t>
                      </a:r>
                    </a:p>
                  </a:txBody>
                  <a:tcPr/>
                </a:tc>
              </a:tr>
            </a:tbl>
          </a:graphicData>
        </a:graphic>
      </p:graphicFrame>
      <p:sp>
        <p:nvSpPr>
          <p:cNvPr id="8" name="TextBox 7"/>
          <p:cNvSpPr txBox="1"/>
          <p:nvPr/>
        </p:nvSpPr>
        <p:spPr>
          <a:xfrm>
            <a:off x="6263640" y="1408176"/>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three records</a:t>
            </a:r>
          </a:p>
        </p:txBody>
      </p:sp>
      <p:graphicFrame>
        <p:nvGraphicFramePr>
          <p:cNvPr id="9" name="Table 8"/>
          <p:cNvGraphicFramePr>
            <a:graphicFrameLocks noGrp="1"/>
          </p:cNvGraphicFramePr>
          <p:nvPr/>
        </p:nvGraphicFramePr>
        <p:xfrm>
          <a:off x="6263640" y="1755648"/>
          <a:ext cx="5577840" cy="1499616"/>
        </p:xfrm>
        <a:graphic>
          <a:graphicData uri="http://schemas.openxmlformats.org/drawingml/2006/table">
            <a:tbl>
              <a:tblPr firstRow="1" bandRow="1">
                <a:tableStyleId>{5C22544A-7EE6-4342-B048-85BDC9FD1C3A}</a:tableStyleId>
              </a:tblPr>
              <a:tblGrid>
                <a:gridCol w="1554480"/>
                <a:gridCol w="1417320"/>
                <a:gridCol w="1325880"/>
                <a:gridCol w="1280160"/>
              </a:tblGrid>
              <a:tr h="249936">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XT205-S2 · MOT</a:t>
                      </a:r>
                    </a:p>
                  </a:txBody>
                  <a:tcPr>
                    <a:solidFill>
                      <a:srgbClr val="143D2F"/>
                    </a:solidFill>
                  </a:tcPr>
                </a:tc>
                <a:tc>
                  <a:txBody>
                    <a:bodyPr lIns="54864" rIns="54864" tIns="18288" bIns="18288" wrap="square" anchor="ctr"/>
                    <a:lstStyle/>
                    <a:p>
                      <a:pPr algn="l"/>
                      <a:r>
                        <a:rPr sz="900" b="1">
                          <a:solidFill>
                            <a:srgbClr val="FFFFFF"/>
                          </a:solidFill>
                          <a:latin typeface="Calibri"/>
                        </a:rPr>
                        <a:t>S34 · PPD-UTM</a:t>
                      </a:r>
                    </a:p>
                  </a:txBody>
                  <a:tcPr>
                    <a:solidFill>
                      <a:srgbClr val="143D2F"/>
                    </a:solidFill>
                  </a:tcPr>
                </a:tc>
                <a:tc>
                  <a:txBody>
                    <a:bodyPr lIns="54864" rIns="54864" tIns="18288" bIns="18288" wrap="square" anchor="ctr"/>
                    <a:lstStyle/>
                    <a:p>
                      <a:pPr algn="l"/>
                      <a:r>
                        <a:rPr sz="900" b="1">
                          <a:solidFill>
                            <a:srgbClr val="FFFFFF"/>
                          </a:solidFill>
                          <a:latin typeface="Calibri"/>
                        </a:rPr>
                        <a:t>S33 · PPD-UTM</a:t>
                      </a:r>
                    </a:p>
                  </a:txBody>
                  <a:tcPr>
                    <a:solidFill>
                      <a:srgbClr val="143D2F"/>
                    </a:solidFill>
                  </a:tcPr>
                </a:tc>
              </a:tr>
              <a:tr h="249936">
                <a:tc>
                  <a:txBody>
                    <a:bodyPr lIns="54864" rIns="54864" tIns="18288" bIns="18288" wrap="square" anchor="ctr"/>
                    <a:lstStyle/>
                    <a:p>
                      <a:pPr algn="l"/>
                      <a:r>
                        <a:rPr sz="800" b="0">
                          <a:solidFill>
                            <a:srgbClr val="000000"/>
                          </a:solidFill>
                          <a:latin typeface="Calibri"/>
                        </a:rPr>
                        <a:t>crosshead</a:t>
                      </a:r>
                    </a:p>
                  </a:txBody>
                  <a:tcPr/>
                </a:tc>
                <a:tc>
                  <a:txBody>
                    <a:bodyPr lIns="54864" rIns="54864" tIns="18288" bIns="18288" wrap="square" anchor="ctr"/>
                    <a:lstStyle/>
                    <a:p>
                      <a:pPr algn="l"/>
                      <a:r>
                        <a:rPr sz="800" b="0">
                          <a:solidFill>
                            <a:srgbClr val="000000"/>
                          </a:solidFill>
                          <a:latin typeface="Calibri"/>
                        </a:rPr>
                        <a:t>2 mm/min</a:t>
                      </a:r>
                    </a:p>
                  </a:txBody>
                  <a:tcPr/>
                </a:tc>
                <a:tc>
                  <a:txBody>
                    <a:bodyPr lIns="54864" rIns="54864" tIns="18288" bIns="18288" wrap="square" anchor="ctr"/>
                    <a:lstStyle/>
                    <a:p>
                      <a:pPr algn="l"/>
                      <a:r>
                        <a:rPr sz="800" b="0">
                          <a:solidFill>
                            <a:srgbClr val="000000"/>
                          </a:solidFill>
                          <a:latin typeface="Calibri"/>
                        </a:rPr>
                        <a:t>6.0 mm/min</a:t>
                      </a:r>
                    </a:p>
                  </a:txBody>
                  <a:tcPr/>
                </a:tc>
                <a:tc>
                  <a:txBody>
                    <a:bodyPr lIns="54864" rIns="54864" tIns="18288" bIns="18288" wrap="square" anchor="ctr"/>
                    <a:lstStyle/>
                    <a:p>
                      <a:pPr algn="l"/>
                      <a:r>
                        <a:rPr sz="800" b="0">
                          <a:solidFill>
                            <a:srgbClr val="000000"/>
                          </a:solidFill>
                          <a:latin typeface="Calibri"/>
                        </a:rPr>
                        <a:t>6.0 mm/min</a:t>
                      </a:r>
                    </a:p>
                  </a:txBody>
                  <a:tcPr/>
                </a:tc>
              </a:tr>
              <a:tr h="249936">
                <a:tc>
                  <a:txBody>
                    <a:bodyPr lIns="54864" rIns="54864" tIns="18288" bIns="18288" wrap="square" anchor="ctr"/>
                    <a:lstStyle/>
                    <a:p>
                      <a:pPr algn="l"/>
                      <a:r>
                        <a:rPr sz="800" b="0">
                          <a:solidFill>
                            <a:srgbClr val="000000"/>
                          </a:solidFill>
                          <a:latin typeface="Calibri"/>
                        </a:rPr>
                        <a:t>preload</a:t>
                      </a:r>
                    </a:p>
                  </a:txBody>
                  <a:tcPr/>
                </a:tc>
                <a:tc>
                  <a:txBody>
                    <a:bodyPr lIns="54864" rIns="54864" tIns="18288" bIns="18288" wrap="square" anchor="ctr"/>
                    <a:lstStyle/>
                    <a:p>
                      <a:pPr algn="l"/>
                      <a:r>
                        <a:rPr sz="800" b="0">
                          <a:solidFill>
                            <a:srgbClr val="000000"/>
                          </a:solidFill>
                          <a:latin typeface="Calibri"/>
                        </a:rPr>
                        <a:t>300 N</a:t>
                      </a:r>
                    </a:p>
                  </a:txBody>
                  <a:tcPr/>
                </a:tc>
                <a:tc>
                  <a:txBody>
                    <a:bodyPr lIns="54864" rIns="54864" tIns="18288" bIns="18288" wrap="square" anchor="ctr"/>
                    <a:lstStyle/>
                    <a:p>
                      <a:pPr algn="l"/>
                      <a:r>
                        <a:rPr sz="800" b="0">
                          <a:solidFill>
                            <a:srgbClr val="000000"/>
                          </a:solidFill>
                          <a:latin typeface="Calibri"/>
                        </a:rPr>
                        <a:t>318 N</a:t>
                      </a:r>
                    </a:p>
                  </a:txBody>
                  <a:tcPr/>
                </a:tc>
                <a:tc>
                  <a:txBody>
                    <a:bodyPr lIns="54864" rIns="54864" tIns="18288" bIns="18288" wrap="square" anchor="ctr"/>
                    <a:lstStyle/>
                    <a:p>
                      <a:pPr algn="l"/>
                      <a:r>
                        <a:rPr sz="800" b="0">
                          <a:solidFill>
                            <a:srgbClr val="000000"/>
                          </a:solidFill>
                          <a:latin typeface="Calibri"/>
                        </a:rPr>
                        <a:t>310 N</a:t>
                      </a:r>
                    </a:p>
                  </a:txBody>
                  <a:tcPr/>
                </a:tc>
              </a:tr>
              <a:tr h="249936">
                <a:tc>
                  <a:txBody>
                    <a:bodyPr lIns="54864" rIns="54864" tIns="18288" bIns="18288" wrap="square" anchor="ctr"/>
                    <a:lstStyle/>
                    <a:p>
                      <a:pPr algn="l"/>
                      <a:r>
                        <a:rPr sz="800" b="0">
                          <a:solidFill>
                            <a:srgbClr val="000000"/>
                          </a:solidFill>
                          <a:latin typeface="Calibri"/>
                        </a:rPr>
                        <a:t>marker span Px₀</a:t>
                      </a:r>
                    </a:p>
                  </a:txBody>
                  <a:tcPr/>
                </a:tc>
                <a:tc>
                  <a:txBody>
                    <a:bodyPr lIns="54864" rIns="54864" tIns="18288" bIns="18288" wrap="square" anchor="ctr"/>
                    <a:lstStyle/>
                    <a:p>
                      <a:pPr algn="l"/>
                      <a:r>
                        <a:rPr sz="800" b="0">
                          <a:solidFill>
                            <a:srgbClr val="000000"/>
                          </a:solidFill>
                          <a:latin typeface="Calibri"/>
                        </a:rPr>
                        <a:t>not yet known</a:t>
                      </a:r>
                    </a:p>
                  </a:txBody>
                  <a:tcPr/>
                </a:tc>
                <a:tc>
                  <a:txBody>
                    <a:bodyPr lIns="54864" rIns="54864" tIns="18288" bIns="18288" wrap="square" anchor="ctr"/>
                    <a:lstStyle/>
                    <a:p>
                      <a:pPr algn="l"/>
                      <a:r>
                        <a:rPr sz="800" b="0">
                          <a:solidFill>
                            <a:srgbClr val="000000"/>
                          </a:solidFill>
                          <a:latin typeface="Calibri"/>
                        </a:rPr>
                        <a:t>938 px</a:t>
                      </a:r>
                    </a:p>
                  </a:txBody>
                  <a:tcPr/>
                </a:tc>
                <a:tc>
                  <a:txBody>
                    <a:bodyPr lIns="54864" rIns="54864" tIns="18288" bIns="18288" wrap="square" anchor="ctr"/>
                    <a:lstStyle/>
                    <a:p>
                      <a:pPr algn="l"/>
                      <a:r>
                        <a:rPr sz="800" b="0">
                          <a:solidFill>
                            <a:srgbClr val="000000"/>
                          </a:solidFill>
                          <a:latin typeface="Calibri"/>
                        </a:rPr>
                        <a:t>940 px</a:t>
                      </a:r>
                    </a:p>
                  </a:txBody>
                  <a:tcPr/>
                </a:tc>
              </a:tr>
              <a:tr h="249936">
                <a:tc>
                  <a:txBody>
                    <a:bodyPr lIns="54864" rIns="54864" tIns="18288" bIns="18288" wrap="square" anchor="ctr"/>
                    <a:lstStyle/>
                    <a:p>
                      <a:pPr algn="l"/>
                      <a:r>
                        <a:rPr sz="800" b="0">
                          <a:solidFill>
                            <a:srgbClr val="000000"/>
                          </a:solidFill>
                          <a:latin typeface="Calibri"/>
                        </a:rPr>
                        <a:t>sampling</a:t>
                      </a:r>
                    </a:p>
                  </a:txBody>
                  <a:tcPr/>
                </a:tc>
                <a:tc>
                  <a:txBody>
                    <a:bodyPr lIns="54864" rIns="54864" tIns="18288" bIns="18288" wrap="square" anchor="ctr"/>
                    <a:lstStyle/>
                    <a:p>
                      <a:pPr algn="l"/>
                      <a:r>
                        <a:rPr sz="800" b="0">
                          <a:solidFill>
                            <a:srgbClr val="000000"/>
                          </a:solidFill>
                          <a:latin typeface="Calibri"/>
                        </a:rPr>
                        <a:t>19.9 Hz</a:t>
                      </a:r>
                    </a:p>
                  </a:txBody>
                  <a:tcPr/>
                </a:tc>
                <a:tc>
                  <a:txBody>
                    <a:bodyPr lIns="54864" rIns="54864" tIns="18288" bIns="18288" wrap="square" anchor="ctr"/>
                    <a:lstStyle/>
                    <a:p>
                      <a:pPr algn="l"/>
                      <a:r>
                        <a:rPr sz="800" b="0">
                          <a:solidFill>
                            <a:srgbClr val="000000"/>
                          </a:solidFill>
                          <a:latin typeface="Calibri"/>
                        </a:rPr>
                        <a:t>11.0 Hz</a:t>
                      </a:r>
                    </a:p>
                  </a:txBody>
                  <a:tcPr/>
                </a:tc>
                <a:tc>
                  <a:txBody>
                    <a:bodyPr lIns="54864" rIns="54864" tIns="18288" bIns="18288" wrap="square" anchor="ctr"/>
                    <a:lstStyle/>
                    <a:p>
                      <a:pPr algn="l"/>
                      <a:r>
                        <a:rPr sz="800" b="0">
                          <a:solidFill>
                            <a:srgbClr val="000000"/>
                          </a:solidFill>
                          <a:latin typeface="Calibri"/>
                        </a:rPr>
                        <a:t>10.0 Hz</a:t>
                      </a:r>
                    </a:p>
                  </a:txBody>
                  <a:tcPr/>
                </a:tc>
              </a:tr>
              <a:tr h="249936">
                <a:tc>
                  <a:txBody>
                    <a:bodyPr lIns="54864" rIns="54864" tIns="18288" bIns="18288" wrap="square" anchor="ctr"/>
                    <a:lstStyle/>
                    <a:p>
                      <a:pPr algn="l"/>
                      <a:r>
                        <a:rPr sz="800" b="0">
                          <a:solidFill>
                            <a:srgbClr val="000000"/>
                          </a:solidFill>
                          <a:latin typeface="Calibri"/>
                        </a:rPr>
                        <a:t>samples in the pull</a:t>
                      </a:r>
                    </a:p>
                  </a:txBody>
                  <a:tcPr/>
                </a:tc>
                <a:tc>
                  <a:txBody>
                    <a:bodyPr lIns="54864" rIns="54864" tIns="18288" bIns="18288" wrap="square" anchor="ctr"/>
                    <a:lstStyle/>
                    <a:p>
                      <a:pPr algn="l"/>
                      <a:r>
                        <a:rPr sz="800" b="0">
                          <a:solidFill>
                            <a:srgbClr val="000000"/>
                          </a:solidFill>
                          <a:latin typeface="Calibri"/>
                        </a:rPr>
                        <a:t>3124</a:t>
                      </a:r>
                    </a:p>
                  </a:txBody>
                  <a:tcPr/>
                </a:tc>
                <a:tc>
                  <a:txBody>
                    <a:bodyPr lIns="54864" rIns="54864" tIns="18288" bIns="18288" wrap="square" anchor="ctr"/>
                    <a:lstStyle/>
                    <a:p>
                      <a:pPr algn="l"/>
                      <a:r>
                        <a:rPr sz="800" b="0">
                          <a:solidFill>
                            <a:srgbClr val="000000"/>
                          </a:solidFill>
                          <a:latin typeface="Calibri"/>
                        </a:rPr>
                        <a:t>824</a:t>
                      </a:r>
                    </a:p>
                  </a:txBody>
                  <a:tcPr/>
                </a:tc>
                <a:tc>
                  <a:txBody>
                    <a:bodyPr lIns="54864" rIns="54864" tIns="18288" bIns="18288" wrap="square" anchor="ctr"/>
                    <a:lstStyle/>
                    <a:p>
                      <a:pPr algn="l"/>
                      <a:r>
                        <a:rPr sz="800" b="0">
                          <a:solidFill>
                            <a:srgbClr val="000000"/>
                          </a:solidFill>
                          <a:latin typeface="Calibri"/>
                        </a:rPr>
                        <a:t>570</a:t>
                      </a:r>
                    </a:p>
                  </a:txBody>
                  <a:tcPr/>
                </a:tc>
              </a:tr>
            </a:tbl>
          </a:graphicData>
        </a:graphic>
      </p:graphicFrame>
      <p:sp>
        <p:nvSpPr>
          <p:cNvPr id="10" name="TextBox 9"/>
          <p:cNvSpPr txBox="1"/>
          <p:nvPr/>
        </p:nvSpPr>
        <p:spPr>
          <a:xfrm>
            <a:off x="411480" y="343814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S34 is the reference — and it is not because it agrees</a:t>
            </a:r>
          </a:p>
        </p:txBody>
      </p:sp>
      <p:sp>
        <p:nvSpPr>
          <p:cNvPr id="11" name="TextBox 10"/>
          <p:cNvSpPr txBox="1"/>
          <p:nvPr/>
        </p:nvSpPr>
        <p:spPr>
          <a:xfrm>
            <a:off x="411480" y="3785615"/>
            <a:ext cx="5623560" cy="1783080"/>
          </a:xfrm>
          <a:prstGeom prst="rect">
            <a:avLst/>
          </a:prstGeom>
          <a:noFill/>
        </p:spPr>
        <p:txBody>
          <a:bodyPr wrap="square" lIns="45720" rIns="45720" tIns="18288" bIns="18288" anchor="t">
            <a:spAutoFit/>
          </a:bodyPr>
          <a:lstStyle/>
          <a:p>
            <a:pPr algn="l"/>
            <a:r>
              <a:rPr sz="950" b="0" i="0">
                <a:solidFill>
                  <a:srgbClr val="000000"/>
                </a:solidFill>
                <a:latin typeface="Calibri"/>
              </a:rPr>
              <a:t>The validation pack warned that NEITHER of our 45 mm runs could be trusted on failure strain, because S34 tracked 83 % of its samples and S33 only 78 %, against 100 % for the 80 mm pair. Splitting those losses by WHERE they fall changes the answer for one of them:
     •  S34 — all 202 dropouts fall AFTER its fracture sample. Inside the pull it tracks 99.9 %, so its ε_f is sound.
     •  S33 — 145 of its losses fall INSIDE the pull, leaving 79.7 % tracked. Its ε_f of 2.96 % is the artefact that warning was about.
So S34 is the reference on data quality, decided before any agreement was looked at. S33 is carried through every table anyway.</a:t>
            </a:r>
          </a:p>
        </p:txBody>
      </p:sp>
      <p:sp>
        <p:nvSpPr>
          <p:cNvPr id="12" name="TextBox 11"/>
          <p:cNvSpPr txBox="1"/>
          <p:nvPr/>
        </p:nvSpPr>
        <p:spPr>
          <a:xfrm>
            <a:off x="6263640" y="343814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is NOT held fixed, and cannot be</a:t>
            </a:r>
          </a:p>
        </p:txBody>
      </p:sp>
      <p:sp>
        <p:nvSpPr>
          <p:cNvPr id="13" name="TextBox 12"/>
          <p:cNvSpPr txBox="1"/>
          <p:nvPr/>
        </p:nvSpPr>
        <p:spPr>
          <a:xfrm>
            <a:off x="6263640" y="3785615"/>
            <a:ext cx="5577840" cy="1783080"/>
          </a:xfrm>
          <a:prstGeom prst="rect">
            <a:avLst/>
          </a:prstGeom>
          <a:noFill/>
        </p:spPr>
        <p:txBody>
          <a:bodyPr wrap="square" lIns="45720" rIns="45720" tIns="18288" bIns="18288" anchor="t">
            <a:spAutoFit/>
          </a:bodyPr>
          <a:lstStyle/>
          <a:p>
            <a:pPr algn="l"/>
            <a:r>
              <a:rPr sz="950" b="0" i="0">
                <a:solidFill>
                  <a:srgbClr val="000000"/>
                </a:solidFill>
                <a:latin typeface="Calibri"/>
              </a:rPr>
              <a:t>THE SPEED. They pulled at 2 mm/min and we pull at 6.0 — 3× faster. PLA is rate-sensitive, so this is a real difference and it has a known DIRECTION: a slower pull gives a lower strength.
THE SPECIMEN. Three different printed bars, n = 1 each. Our own two differ by 2.7 % on UTS, which is the floor on what any disagreement here can mean.
Both are carried into the reading of every number rather than averaged away.</a:t>
            </a:r>
          </a:p>
        </p:txBody>
      </p:sp>
      <p:sp>
        <p:nvSpPr>
          <p:cNvPr id="14" name="Rectangle 13"/>
          <p:cNvSpPr/>
          <p:nvPr/>
        </p:nvSpPr>
        <p:spPr>
          <a:xfrm>
            <a:off x="365760" y="5705856"/>
            <a:ext cx="11475720" cy="47548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Held fixed: the strain zero, the modulus method, the noise window. Not fixed, and stated every time: the pull speed and the specimen.</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Built by documentation/scripts/mot2_compare.py from the raw records on both sides — the XT-205's CSV and .daq, and our own test CSVs through utm_analysis.analyze().</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322</a:t>
            </a:r>
          </a:p>
        </p:txBody>
      </p:sp>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YIELD AND ε_f AGREE, UTS DOES NOT</a:t>
            </a:r>
          </a:p>
        </p:txBody>
      </p:sp>
      <p:pic>
        <p:nvPicPr>
          <p:cNvPr id="5" name="Picture 4" descr="mot2cmp_stress.png"/>
          <p:cNvPicPr>
            <a:picLocks noChangeAspect="1"/>
          </p:cNvPicPr>
          <p:nvPr/>
        </p:nvPicPr>
        <p:blipFill>
          <a:blip r:embed="rId2"/>
          <a:stretch>
            <a:fillRect/>
          </a:stretch>
        </p:blipFill>
        <p:spPr>
          <a:xfrm>
            <a:off x="320039" y="1005840"/>
            <a:ext cx="5989320" cy="3374934"/>
          </a:xfrm>
          <a:prstGeom prst="rect">
            <a:avLst/>
          </a:prstGeom>
        </p:spPr>
      </p:pic>
      <p:sp>
        <p:nvSpPr>
          <p:cNvPr id="6" name="TextBox 5"/>
          <p:cNvSpPr txBox="1"/>
          <p:nvPr/>
        </p:nvSpPr>
        <p:spPr>
          <a:xfrm>
            <a:off x="6492240" y="969264"/>
            <a:ext cx="5349240" cy="365760"/>
          </a:xfrm>
          <a:prstGeom prst="rect">
            <a:avLst/>
          </a:prstGeom>
          <a:noFill/>
        </p:spPr>
        <p:txBody>
          <a:bodyPr wrap="square" lIns="45720" rIns="45720" tIns="18288" bIns="18288" anchor="t">
            <a:spAutoFit/>
          </a:bodyPr>
          <a:lstStyle/>
          <a:p>
            <a:pPr algn="l"/>
            <a:r>
              <a:rPr sz="1600" b="0" i="0">
                <a:solidFill>
                  <a:srgbClr val="707070"/>
                </a:solidFill>
                <a:latin typeface="Calibri"/>
              </a:rPr>
              <a:t>Every landmark, and the offset from S34</a:t>
            </a:r>
          </a:p>
        </p:txBody>
      </p:sp>
      <p:graphicFrame>
        <p:nvGraphicFramePr>
          <p:cNvPr id="7" name="Table 6"/>
          <p:cNvGraphicFramePr>
            <a:graphicFrameLocks noGrp="1"/>
          </p:cNvGraphicFramePr>
          <p:nvPr/>
        </p:nvGraphicFramePr>
        <p:xfrm>
          <a:off x="6492240" y="1316736"/>
          <a:ext cx="5349237" cy="1920240"/>
        </p:xfrm>
        <a:graphic>
          <a:graphicData uri="http://schemas.openxmlformats.org/drawingml/2006/table">
            <a:tbl>
              <a:tblPr firstRow="1" bandRow="1">
                <a:tableStyleId>{5C22544A-7EE6-4342-B048-85BDC9FD1C3A}</a:tableStyleId>
              </a:tblPr>
              <a:tblGrid>
                <a:gridCol w="1706223"/>
                <a:gridCol w="922282"/>
                <a:gridCol w="876168"/>
                <a:gridCol w="968396"/>
                <a:gridCol w="876168"/>
              </a:tblGrid>
              <a:tr h="240030">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XT205-S2</a:t>
                      </a:r>
                    </a:p>
                  </a:txBody>
                  <a:tcPr>
                    <a:solidFill>
                      <a:srgbClr val="143D2F"/>
                    </a:solidFill>
                  </a:tcPr>
                </a:tc>
                <a:tc>
                  <a:txBody>
                    <a:bodyPr lIns="54864" rIns="54864" tIns="18288" bIns="18288" wrap="square" anchor="ctr"/>
                    <a:lstStyle/>
                    <a:p>
                      <a:pPr algn="l"/>
                      <a:r>
                        <a:rPr sz="900" b="1">
                          <a:solidFill>
                            <a:srgbClr val="FFFFFF"/>
                          </a:solidFill>
                          <a:latin typeface="Calibri"/>
                        </a:rPr>
                        <a:t>S34</a:t>
                      </a:r>
                    </a:p>
                  </a:txBody>
                  <a:tcPr>
                    <a:solidFill>
                      <a:srgbClr val="143D2F"/>
                    </a:solidFill>
                  </a:tcPr>
                </a:tc>
                <a:tc>
                  <a:txBody>
                    <a:bodyPr lIns="54864" rIns="54864" tIns="18288" bIns="18288" wrap="square" anchor="ctr"/>
                    <a:lstStyle/>
                    <a:p>
                      <a:pPr algn="l"/>
                      <a:r>
                        <a:rPr sz="900" b="1">
                          <a:solidFill>
                            <a:srgbClr val="FFFFFF"/>
                          </a:solidFill>
                          <a:latin typeface="Calibri"/>
                        </a:rPr>
                        <a:t>offset</a:t>
                      </a:r>
                    </a:p>
                  </a:txBody>
                  <a:tcPr>
                    <a:solidFill>
                      <a:srgbClr val="143D2F"/>
                    </a:solidFill>
                  </a:tcPr>
                </a:tc>
                <a:tc>
                  <a:txBody>
                    <a:bodyPr lIns="54864" rIns="54864" tIns="18288" bIns="18288" wrap="square" anchor="ctr"/>
                    <a:lstStyle/>
                    <a:p>
                      <a:pPr algn="l"/>
                      <a:r>
                        <a:rPr sz="900" b="1">
                          <a:solidFill>
                            <a:srgbClr val="FFFFFF"/>
                          </a:solidFill>
                          <a:latin typeface="Calibri"/>
                        </a:rPr>
                        <a:t>S33</a:t>
                      </a:r>
                    </a:p>
                  </a:txBody>
                  <a:tcPr>
                    <a:solidFill>
                      <a:srgbClr val="143D2F"/>
                    </a:solidFill>
                  </a:tcPr>
                </a:tc>
              </a:tr>
              <a:tr h="240030">
                <a:tc>
                  <a:txBody>
                    <a:bodyPr lIns="54864" rIns="54864" tIns="18288" bIns="18288" wrap="square" anchor="ctr"/>
                    <a:lstStyle/>
                    <a:p>
                      <a:pPr algn="l"/>
                      <a:r>
                        <a:rPr sz="850" b="0">
                          <a:solidFill>
                            <a:srgbClr val="000000"/>
                          </a:solidFill>
                          <a:latin typeface="Calibri"/>
                        </a:rPr>
                        <a:t>σ_y  (0.2 % offset)</a:t>
                      </a:r>
                    </a:p>
                  </a:txBody>
                  <a:tcPr/>
                </a:tc>
                <a:tc>
                  <a:txBody>
                    <a:bodyPr lIns="54864" rIns="54864" tIns="18288" bIns="18288" wrap="square" anchor="ctr"/>
                    <a:lstStyle/>
                    <a:p>
                      <a:pPr algn="l"/>
                      <a:r>
                        <a:rPr sz="850" b="0">
                          <a:solidFill>
                            <a:srgbClr val="000000"/>
                          </a:solidFill>
                          <a:latin typeface="Calibri"/>
                        </a:rPr>
                        <a:t>39.61</a:t>
                      </a:r>
                    </a:p>
                  </a:txBody>
                  <a:tcPr/>
                </a:tc>
                <a:tc>
                  <a:txBody>
                    <a:bodyPr lIns="54864" rIns="54864" tIns="18288" bIns="18288" wrap="square" anchor="ctr"/>
                    <a:lstStyle/>
                    <a:p>
                      <a:pPr algn="l"/>
                      <a:r>
                        <a:rPr sz="850" b="0">
                          <a:solidFill>
                            <a:srgbClr val="000000"/>
                          </a:solidFill>
                          <a:latin typeface="Calibri"/>
                        </a:rPr>
                        <a:t>39.23</a:t>
                      </a:r>
                    </a:p>
                  </a:txBody>
                  <a:tcPr/>
                </a:tc>
                <a:tc>
                  <a:txBody>
                    <a:bodyPr lIns="54864" rIns="54864" tIns="18288" bIns="18288" wrap="square" anchor="ctr"/>
                    <a:lstStyle/>
                    <a:p>
                      <a:pPr algn="l"/>
                      <a:r>
                        <a:rPr sz="850" b="0">
                          <a:solidFill>
                            <a:srgbClr val="000000"/>
                          </a:solidFill>
                          <a:latin typeface="Calibri"/>
                        </a:rPr>
                        <a:t>+1.0 %</a:t>
                      </a:r>
                    </a:p>
                  </a:txBody>
                  <a:tcPr/>
                </a:tc>
                <a:tc>
                  <a:txBody>
                    <a:bodyPr lIns="54864" rIns="54864" tIns="18288" bIns="18288" wrap="square" anchor="ctr"/>
                    <a:lstStyle/>
                    <a:p>
                      <a:pPr algn="l"/>
                      <a:r>
                        <a:rPr sz="850" b="0">
                          <a:solidFill>
                            <a:srgbClr val="000000"/>
                          </a:solidFill>
                          <a:latin typeface="Calibri"/>
                        </a:rPr>
                        <a:t>39.36</a:t>
                      </a:r>
                    </a:p>
                  </a:txBody>
                  <a:tcPr/>
                </a:tc>
              </a:tr>
              <a:tr h="240030">
                <a:tc>
                  <a:txBody>
                    <a:bodyPr lIns="54864" rIns="54864" tIns="18288" bIns="18288" wrap="square" anchor="ctr"/>
                    <a:lstStyle/>
                    <a:p>
                      <a:pPr algn="l"/>
                      <a:r>
                        <a:rPr sz="850" b="0">
                          <a:solidFill>
                            <a:srgbClr val="000000"/>
                          </a:solidFill>
                          <a:latin typeface="Calibri"/>
                        </a:rPr>
                        <a:t>strain at yield (%)</a:t>
                      </a:r>
                    </a:p>
                  </a:txBody>
                  <a:tcPr/>
                </a:tc>
                <a:tc>
                  <a:txBody>
                    <a:bodyPr lIns="54864" rIns="54864" tIns="18288" bIns="18288" wrap="square" anchor="ctr"/>
                    <a:lstStyle/>
                    <a:p>
                      <a:pPr algn="l"/>
                      <a:r>
                        <a:rPr sz="850" b="0">
                          <a:solidFill>
                            <a:srgbClr val="000000"/>
                          </a:solidFill>
                          <a:latin typeface="Calibri"/>
                        </a:rPr>
                        <a:t>1.30</a:t>
                      </a:r>
                    </a:p>
                  </a:txBody>
                  <a:tcPr/>
                </a:tc>
                <a:tc>
                  <a:txBody>
                    <a:bodyPr lIns="54864" rIns="54864" tIns="18288" bIns="18288" wrap="square" anchor="ctr"/>
                    <a:lstStyle/>
                    <a:p>
                      <a:pPr algn="l"/>
                      <a:r>
                        <a:rPr sz="850" b="0">
                          <a:solidFill>
                            <a:srgbClr val="000000"/>
                          </a:solidFill>
                          <a:latin typeface="Calibri"/>
                        </a:rPr>
                        <a:t>1.24</a:t>
                      </a:r>
                    </a:p>
                  </a:txBody>
                  <a:tcPr/>
                </a:tc>
                <a:tc>
                  <a:txBody>
                    <a:bodyPr lIns="54864" rIns="54864" tIns="18288" bIns="18288" wrap="square" anchor="ctr"/>
                    <a:lstStyle/>
                    <a:p>
                      <a:pPr algn="l"/>
                      <a:r>
                        <a:rPr sz="850" b="0">
                          <a:solidFill>
                            <a:srgbClr val="000000"/>
                          </a:solidFill>
                          <a:latin typeface="Calibri"/>
                        </a:rPr>
                        <a:t>+5.5 %</a:t>
                      </a:r>
                    </a:p>
                  </a:txBody>
                  <a:tcPr/>
                </a:tc>
                <a:tc>
                  <a:txBody>
                    <a:bodyPr lIns="54864" rIns="54864" tIns="18288" bIns="18288" wrap="square" anchor="ctr"/>
                    <a:lstStyle/>
                    <a:p>
                      <a:pPr algn="l"/>
                      <a:r>
                        <a:rPr sz="850" b="0">
                          <a:solidFill>
                            <a:srgbClr val="000000"/>
                          </a:solidFill>
                          <a:latin typeface="Calibri"/>
                        </a:rPr>
                        <a:t>1.36</a:t>
                      </a:r>
                    </a:p>
                  </a:txBody>
                  <a:tcPr/>
                </a:tc>
              </a:tr>
              <a:tr h="240030">
                <a:tc>
                  <a:txBody>
                    <a:bodyPr lIns="54864" rIns="54864" tIns="18288" bIns="18288" wrap="square" anchor="ctr"/>
                    <a:lstStyle/>
                    <a:p>
                      <a:pPr algn="l"/>
                      <a:r>
                        <a:rPr sz="850" b="0">
                          <a:solidFill>
                            <a:srgbClr val="000000"/>
                          </a:solidFill>
                          <a:latin typeface="Calibri"/>
                        </a:rPr>
                        <a:t>UTS  (MPa)</a:t>
                      </a:r>
                    </a:p>
                  </a:txBody>
                  <a:tcPr/>
                </a:tc>
                <a:tc>
                  <a:txBody>
                    <a:bodyPr lIns="54864" rIns="54864" tIns="18288" bIns="18288" wrap="square" anchor="ctr"/>
                    <a:lstStyle/>
                    <a:p>
                      <a:pPr algn="l"/>
                      <a:r>
                        <a:rPr sz="850" b="0">
                          <a:solidFill>
                            <a:srgbClr val="000000"/>
                          </a:solidFill>
                          <a:latin typeface="Calibri"/>
                        </a:rPr>
                        <a:t>44.62</a:t>
                      </a:r>
                    </a:p>
                  </a:txBody>
                  <a:tcPr/>
                </a:tc>
                <a:tc>
                  <a:txBody>
                    <a:bodyPr lIns="54864" rIns="54864" tIns="18288" bIns="18288" wrap="square" anchor="ctr"/>
                    <a:lstStyle/>
                    <a:p>
                      <a:pPr algn="l"/>
                      <a:r>
                        <a:rPr sz="850" b="0">
                          <a:solidFill>
                            <a:srgbClr val="000000"/>
                          </a:solidFill>
                          <a:latin typeface="Calibri"/>
                        </a:rPr>
                        <a:t>48.34</a:t>
                      </a:r>
                    </a:p>
                  </a:txBody>
                  <a:tcPr/>
                </a:tc>
                <a:tc>
                  <a:txBody>
                    <a:bodyPr lIns="54864" rIns="54864" tIns="18288" bIns="18288" wrap="square" anchor="ctr"/>
                    <a:lstStyle/>
                    <a:p>
                      <a:pPr algn="l"/>
                      <a:r>
                        <a:rPr sz="850" b="0">
                          <a:solidFill>
                            <a:srgbClr val="000000"/>
                          </a:solidFill>
                          <a:latin typeface="Calibri"/>
                        </a:rPr>
                        <a:t>-7.7 %</a:t>
                      </a:r>
                    </a:p>
                  </a:txBody>
                  <a:tcPr/>
                </a:tc>
                <a:tc>
                  <a:txBody>
                    <a:bodyPr lIns="54864" rIns="54864" tIns="18288" bIns="18288" wrap="square" anchor="ctr"/>
                    <a:lstStyle/>
                    <a:p>
                      <a:pPr algn="l"/>
                      <a:r>
                        <a:rPr sz="850" b="0">
                          <a:solidFill>
                            <a:srgbClr val="000000"/>
                          </a:solidFill>
                          <a:latin typeface="Calibri"/>
                        </a:rPr>
                        <a:t>47.09</a:t>
                      </a:r>
                    </a:p>
                  </a:txBody>
                  <a:tcPr/>
                </a:tc>
              </a:tr>
              <a:tr h="240030">
                <a:tc>
                  <a:txBody>
                    <a:bodyPr lIns="54864" rIns="54864" tIns="18288" bIns="18288" wrap="square" anchor="ctr"/>
                    <a:lstStyle/>
                    <a:p>
                      <a:pPr algn="l"/>
                      <a:r>
                        <a:rPr sz="850" b="0">
                          <a:solidFill>
                            <a:srgbClr val="000000"/>
                          </a:solidFill>
                          <a:latin typeface="Calibri"/>
                        </a:rPr>
                        <a:t>strain at UTS (%)</a:t>
                      </a:r>
                    </a:p>
                  </a:txBody>
                  <a:tcPr/>
                </a:tc>
                <a:tc>
                  <a:txBody>
                    <a:bodyPr lIns="54864" rIns="54864" tIns="18288" bIns="18288" wrap="square" anchor="ctr"/>
                    <a:lstStyle/>
                    <a:p>
                      <a:pPr algn="l"/>
                      <a:r>
                        <a:rPr sz="850" b="0">
                          <a:solidFill>
                            <a:srgbClr val="000000"/>
                          </a:solidFill>
                          <a:latin typeface="Calibri"/>
                        </a:rPr>
                        <a:t>1.92</a:t>
                      </a:r>
                    </a:p>
                  </a:txBody>
                  <a:tcPr/>
                </a:tc>
                <a:tc>
                  <a:txBody>
                    <a:bodyPr lIns="54864" rIns="54864" tIns="18288" bIns="18288" wrap="square" anchor="ctr"/>
                    <a:lstStyle/>
                    <a:p>
                      <a:pPr algn="l"/>
                      <a:r>
                        <a:rPr sz="850" b="0">
                          <a:solidFill>
                            <a:srgbClr val="000000"/>
                          </a:solidFill>
                          <a:latin typeface="Calibri"/>
                        </a:rPr>
                        <a:t>2.27</a:t>
                      </a:r>
                    </a:p>
                  </a:txBody>
                  <a:tcPr/>
                </a:tc>
                <a:tc>
                  <a:txBody>
                    <a:bodyPr lIns="54864" rIns="54864" tIns="18288" bIns="18288" wrap="square" anchor="ctr"/>
                    <a:lstStyle/>
                    <a:p>
                      <a:pPr algn="l"/>
                      <a:r>
                        <a:rPr sz="850" b="0">
                          <a:solidFill>
                            <a:srgbClr val="000000"/>
                          </a:solidFill>
                          <a:latin typeface="Calibri"/>
                        </a:rPr>
                        <a:t>-15.5 %</a:t>
                      </a:r>
                    </a:p>
                  </a:txBody>
                  <a:tcPr/>
                </a:tc>
                <a:tc>
                  <a:txBody>
                    <a:bodyPr lIns="54864" rIns="54864" tIns="18288" bIns="18288" wrap="square" anchor="ctr"/>
                    <a:lstStyle/>
                    <a:p>
                      <a:pPr algn="l"/>
                      <a:r>
                        <a:rPr sz="850" b="0">
                          <a:solidFill>
                            <a:srgbClr val="000000"/>
                          </a:solidFill>
                          <a:latin typeface="Calibri"/>
                        </a:rPr>
                        <a:t>2.23</a:t>
                      </a:r>
                    </a:p>
                  </a:txBody>
                  <a:tcPr/>
                </a:tc>
              </a:tr>
              <a:tr h="240030">
                <a:tc>
                  <a:txBody>
                    <a:bodyPr lIns="54864" rIns="54864" tIns="18288" bIns="18288" wrap="square" anchor="ctr"/>
                    <a:lstStyle/>
                    <a:p>
                      <a:pPr algn="l"/>
                      <a:r>
                        <a:rPr sz="850" b="0">
                          <a:solidFill>
                            <a:srgbClr val="000000"/>
                          </a:solidFill>
                          <a:latin typeface="Calibri"/>
                        </a:rPr>
                        <a:t>failure strain (%)</a:t>
                      </a:r>
                    </a:p>
                  </a:txBody>
                  <a:tcPr/>
                </a:tc>
                <a:tc>
                  <a:txBody>
                    <a:bodyPr lIns="54864" rIns="54864" tIns="18288" bIns="18288" wrap="square" anchor="ctr"/>
                    <a:lstStyle/>
                    <a:p>
                      <a:pPr algn="l"/>
                      <a:r>
                        <a:rPr sz="850" b="0">
                          <a:solidFill>
                            <a:srgbClr val="000000"/>
                          </a:solidFill>
                          <a:latin typeface="Calibri"/>
                        </a:rPr>
                        <a:t>5.21</a:t>
                      </a:r>
                    </a:p>
                  </a:txBody>
                  <a:tcPr/>
                </a:tc>
                <a:tc>
                  <a:txBody>
                    <a:bodyPr lIns="54864" rIns="54864" tIns="18288" bIns="18288" wrap="square" anchor="ctr"/>
                    <a:lstStyle/>
                    <a:p>
                      <a:pPr algn="l"/>
                      <a:r>
                        <a:rPr sz="850" b="0">
                          <a:solidFill>
                            <a:srgbClr val="000000"/>
                          </a:solidFill>
                          <a:latin typeface="Calibri"/>
                        </a:rPr>
                        <a:t>5.25</a:t>
                      </a:r>
                    </a:p>
                  </a:txBody>
                  <a:tcPr/>
                </a:tc>
                <a:tc>
                  <a:txBody>
                    <a:bodyPr lIns="54864" rIns="54864" tIns="18288" bIns="18288" wrap="square" anchor="ctr"/>
                    <a:lstStyle/>
                    <a:p>
                      <a:pPr algn="l"/>
                      <a:r>
                        <a:rPr sz="850" b="0">
                          <a:solidFill>
                            <a:srgbClr val="000000"/>
                          </a:solidFill>
                          <a:latin typeface="Calibri"/>
                        </a:rPr>
                        <a:t>-0.8 %</a:t>
                      </a:r>
                    </a:p>
                  </a:txBody>
                  <a:tcPr/>
                </a:tc>
                <a:tc>
                  <a:txBody>
                    <a:bodyPr lIns="54864" rIns="54864" tIns="18288" bIns="18288" wrap="square" anchor="ctr"/>
                    <a:lstStyle/>
                    <a:p>
                      <a:pPr algn="l"/>
                      <a:r>
                        <a:rPr sz="850" b="0">
                          <a:solidFill>
                            <a:srgbClr val="000000"/>
                          </a:solidFill>
                          <a:latin typeface="Calibri"/>
                        </a:rPr>
                        <a:t>2.96</a:t>
                      </a:r>
                    </a:p>
                  </a:txBody>
                  <a:tcPr/>
                </a:tc>
              </a:tr>
              <a:tr h="240030">
                <a:tc>
                  <a:txBody>
                    <a:bodyPr lIns="54864" rIns="54864" tIns="18288" bIns="18288" wrap="square" anchor="ctr"/>
                    <a:lstStyle/>
                    <a:p>
                      <a:pPr algn="l"/>
                      <a:r>
                        <a:rPr sz="850" b="0">
                          <a:solidFill>
                            <a:srgbClr val="000000"/>
                          </a:solidFill>
                          <a:latin typeface="Calibri"/>
                        </a:rPr>
                        <a:t>fracture stress (MPa)</a:t>
                      </a:r>
                    </a:p>
                  </a:txBody>
                  <a:tcPr/>
                </a:tc>
                <a:tc>
                  <a:txBody>
                    <a:bodyPr lIns="54864" rIns="54864" tIns="18288" bIns="18288" wrap="square" anchor="ctr"/>
                    <a:lstStyle/>
                    <a:p>
                      <a:pPr algn="l"/>
                      <a:r>
                        <a:rPr sz="850" b="0">
                          <a:solidFill>
                            <a:srgbClr val="000000"/>
                          </a:solidFill>
                          <a:latin typeface="Calibri"/>
                        </a:rPr>
                        <a:t>39.07</a:t>
                      </a:r>
                    </a:p>
                  </a:txBody>
                  <a:tcPr/>
                </a:tc>
                <a:tc>
                  <a:txBody>
                    <a:bodyPr lIns="54864" rIns="54864" tIns="18288" bIns="18288" wrap="square" anchor="ctr"/>
                    <a:lstStyle/>
                    <a:p>
                      <a:pPr algn="l"/>
                      <a:r>
                        <a:rPr sz="850" b="0">
                          <a:solidFill>
                            <a:srgbClr val="000000"/>
                          </a:solidFill>
                          <a:latin typeface="Calibri"/>
                        </a:rPr>
                        <a:t>43.57</a:t>
                      </a:r>
                    </a:p>
                  </a:txBody>
                  <a:tcPr/>
                </a:tc>
                <a:tc>
                  <a:txBody>
                    <a:bodyPr lIns="54864" rIns="54864" tIns="18288" bIns="18288" wrap="square" anchor="ctr"/>
                    <a:lstStyle/>
                    <a:p>
                      <a:pPr algn="l"/>
                      <a:r>
                        <a:rPr sz="850" b="0">
                          <a:solidFill>
                            <a:srgbClr val="000000"/>
                          </a:solidFill>
                          <a:latin typeface="Calibri"/>
                        </a:rPr>
                        <a:t>-10.3 %</a:t>
                      </a:r>
                    </a:p>
                  </a:txBody>
                  <a:tcPr/>
                </a:tc>
                <a:tc>
                  <a:txBody>
                    <a:bodyPr lIns="54864" rIns="54864" tIns="18288" bIns="18288" wrap="square" anchor="ctr"/>
                    <a:lstStyle/>
                    <a:p>
                      <a:pPr algn="l"/>
                      <a:r>
                        <a:rPr sz="850" b="0">
                          <a:solidFill>
                            <a:srgbClr val="000000"/>
                          </a:solidFill>
                          <a:latin typeface="Calibri"/>
                        </a:rPr>
                        <a:t>44.47</a:t>
                      </a:r>
                    </a:p>
                  </a:txBody>
                  <a:tcPr/>
                </a:tc>
              </a:tr>
              <a:tr h="240030">
                <a:tc>
                  <a:txBody>
                    <a:bodyPr lIns="54864" rIns="54864" tIns="18288" bIns="18288" wrap="square" anchor="ctr"/>
                    <a:lstStyle/>
                    <a:p>
                      <a:pPr algn="l"/>
                      <a:r>
                        <a:rPr sz="850" b="0">
                          <a:solidFill>
                            <a:srgbClr val="000000"/>
                          </a:solidFill>
                          <a:latin typeface="Calibri"/>
                        </a:rPr>
                        <a:t>toughness (MJ/m³)</a:t>
                      </a:r>
                    </a:p>
                  </a:txBody>
                  <a:tcPr/>
                </a:tc>
                <a:tc>
                  <a:txBody>
                    <a:bodyPr lIns="54864" rIns="54864" tIns="18288" bIns="18288" wrap="square" anchor="ctr"/>
                    <a:lstStyle/>
                    <a:p>
                      <a:pPr algn="l"/>
                      <a:r>
                        <a:rPr sz="850" b="0">
                          <a:solidFill>
                            <a:srgbClr val="000000"/>
                          </a:solidFill>
                          <a:latin typeface="Calibri"/>
                        </a:rPr>
                        <a:t>1.96</a:t>
                      </a:r>
                    </a:p>
                  </a:txBody>
                  <a:tcPr/>
                </a:tc>
                <a:tc>
                  <a:txBody>
                    <a:bodyPr lIns="54864" rIns="54864" tIns="18288" bIns="18288" wrap="square" anchor="ctr"/>
                    <a:lstStyle/>
                    <a:p>
                      <a:pPr algn="l"/>
                      <a:r>
                        <a:rPr sz="850" b="0">
                          <a:solidFill>
                            <a:srgbClr val="000000"/>
                          </a:solidFill>
                          <a:latin typeface="Calibri"/>
                        </a:rPr>
                        <a:t>2.13</a:t>
                      </a:r>
                    </a:p>
                  </a:txBody>
                  <a:tcPr/>
                </a:tc>
                <a:tc>
                  <a:txBody>
                    <a:bodyPr lIns="54864" rIns="54864" tIns="18288" bIns="18288" wrap="square" anchor="ctr"/>
                    <a:lstStyle/>
                    <a:p>
                      <a:pPr algn="l"/>
                      <a:r>
                        <a:rPr sz="850" b="0">
                          <a:solidFill>
                            <a:srgbClr val="000000"/>
                          </a:solidFill>
                          <a:latin typeface="Calibri"/>
                        </a:rPr>
                        <a:t>-7.9 %</a:t>
                      </a:r>
                    </a:p>
                  </a:txBody>
                  <a:tcPr/>
                </a:tc>
                <a:tc>
                  <a:txBody>
                    <a:bodyPr lIns="54864" rIns="54864" tIns="18288" bIns="18288" wrap="square" anchor="ctr"/>
                    <a:lstStyle/>
                    <a:p>
                      <a:pPr algn="l"/>
                      <a:r>
                        <a:rPr sz="850" b="0">
                          <a:solidFill>
                            <a:srgbClr val="000000"/>
                          </a:solidFill>
                          <a:latin typeface="Calibri"/>
                        </a:rPr>
                        <a:t>1.03</a:t>
                      </a:r>
                    </a:p>
                  </a:txBody>
                  <a:tcPr/>
                </a:tc>
              </a:tr>
            </a:tbl>
          </a:graphicData>
        </a:graphic>
      </p:graphicFrame>
      <p:sp>
        <p:nvSpPr>
          <p:cNvPr id="8" name="TextBox 7"/>
          <p:cNvSpPr txBox="1"/>
          <p:nvPr/>
        </p:nvSpPr>
        <p:spPr>
          <a:xfrm>
            <a:off x="6492240" y="3419856"/>
            <a:ext cx="534924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the two halves of that table differently</a:t>
            </a:r>
          </a:p>
        </p:txBody>
      </p:sp>
      <p:sp>
        <p:nvSpPr>
          <p:cNvPr id="9" name="TextBox 8"/>
          <p:cNvSpPr txBox="1"/>
          <p:nvPr/>
        </p:nvSpPr>
        <p:spPr>
          <a:xfrm>
            <a:off x="6492240" y="3767328"/>
            <a:ext cx="5349240" cy="1874519"/>
          </a:xfrm>
          <a:prstGeom prst="rect">
            <a:avLst/>
          </a:prstGeom>
          <a:noFill/>
        </p:spPr>
        <p:txBody>
          <a:bodyPr wrap="square" lIns="45720" rIns="45720" tIns="18288" bIns="18288" anchor="t">
            <a:spAutoFit/>
          </a:bodyPr>
          <a:lstStyle/>
          <a:p>
            <a:pPr algn="l"/>
            <a:r>
              <a:rPr sz="950" b="0" i="0">
                <a:solidFill>
                  <a:srgbClr val="000000"/>
                </a:solidFill>
                <a:latin typeface="Calibri"/>
              </a:rPr>
              <a:t>THE TOP HALF IS A PASS. Yield lands within 1.0 % and failure strain within 0.8 % — and S33 puts yield at 39.36 MPa too, so three specimens on two machines agree on yield to under 1 %. Neither number was tuned to make that happen.
THE BOTTOM HALF IS NOT A FAILURE, IT IS THE SPEED. Every quantity that disagrees is one that depends on what happens AFTER yield, and all of them move the way a 3× slower pull moves them: a lower peak, reached earlier in strain, with less area under the curve. But the DIRECTION is all the speed buys: the two gauges see only 1.19× of strain rate between them, not the 3× of crosshead, so rate is worth well under 1 % here (p327). Our own 2.7 % specimen-to-specimen scatter covers more of the 7.7 % than the speed does; the rest is a batch and machine difference that n = 1 a side cannot separate.</a:t>
            </a:r>
          </a:p>
        </p:txBody>
      </p:sp>
      <p:sp>
        <p:nvSpPr>
          <p:cNvPr id="10" name="TextBox 9"/>
          <p:cNvSpPr txBox="1"/>
          <p:nvPr/>
        </p:nvSpPr>
        <p:spPr>
          <a:xfrm>
            <a:off x="320040" y="4498848"/>
            <a:ext cx="5989320" cy="1188720"/>
          </a:xfrm>
          <a:prstGeom prst="rect">
            <a:avLst/>
          </a:prstGeom>
          <a:noFill/>
        </p:spPr>
        <p:txBody>
          <a:bodyPr wrap="square" lIns="45720" rIns="45720" tIns="18288" bIns="18288" anchor="t">
            <a:spAutoFit/>
          </a:bodyPr>
          <a:lstStyle/>
          <a:p>
            <a:pPr algn="l"/>
            <a:r>
              <a:rPr sz="950" b="0" i="0">
                <a:solidFill>
                  <a:srgbClr val="000000"/>
                </a:solidFill>
                <a:latin typeface="Calibri"/>
              </a:rPr>
              <a:t>Both curves start at the preload stress, not at the origin — 3.75 MPa for them and 3.97 MPa for us. That is what the two strain zeros being put on ONE convention looks like on the page, and it is the single correction that makes the rest of this slide legitimate (p321).</a:t>
            </a:r>
          </a:p>
        </p:txBody>
      </p:sp>
      <p:sp>
        <p:nvSpPr>
          <p:cNvPr id="11" name="Rectangle 10"/>
          <p:cNvSpPr/>
          <p:nvPr/>
        </p:nvSpPr>
        <p:spPr>
          <a:xfrm>
            <a:off x="365760" y="5760720"/>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Yield +1.0 %   ·   failure strain -0.8 %   ·   UTS -7.7 % — the two that agree are the two the pull speed does not touch.</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σ_y is computed on each record's OWN steepest-straight-run modulus, so the same construction is used on both machines. On the fixed window it reads 39.45 vs 42.68 MPa — see the next slide but one.</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323</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XT205-S2 AGAINST S34, HEAD TO HEAD</a:t>
            </a:r>
          </a:p>
        </p:txBody>
      </p:sp>
      <p:pic>
        <p:nvPicPr>
          <p:cNvPr id="5" name="Picture 4" descr="mot2cmp_pair.png"/>
          <p:cNvPicPr>
            <a:picLocks noChangeAspect="1"/>
          </p:cNvPicPr>
          <p:nvPr/>
        </p:nvPicPr>
        <p:blipFill>
          <a:blip r:embed="rId2"/>
          <a:stretch>
            <a:fillRect/>
          </a:stretch>
        </p:blipFill>
        <p:spPr>
          <a:xfrm>
            <a:off x="274320" y="969264"/>
            <a:ext cx="6080760" cy="3716524"/>
          </a:xfrm>
          <a:prstGeom prst="rect">
            <a:avLst/>
          </a:prstGeom>
        </p:spPr>
      </p:pic>
      <p:sp>
        <p:nvSpPr>
          <p:cNvPr id="6" name="TextBox 5"/>
          <p:cNvSpPr txBox="1"/>
          <p:nvPr/>
        </p:nvSpPr>
        <p:spPr>
          <a:xfrm>
            <a:off x="274320" y="4773168"/>
            <a:ext cx="6080760" cy="1005840"/>
          </a:xfrm>
          <a:prstGeom prst="rect">
            <a:avLst/>
          </a:prstGeom>
          <a:noFill/>
        </p:spPr>
        <p:txBody>
          <a:bodyPr wrap="square" lIns="45720" rIns="45720" tIns="18288" bIns="18288" anchor="t">
            <a:spAutoFit/>
          </a:bodyPr>
          <a:lstStyle/>
          <a:p>
            <a:pPr algn="l"/>
            <a:r>
              <a:rPr sz="950" b="0" i="0">
                <a:solidFill>
                  <a:srgbClr val="000000"/>
                </a:solidFill>
                <a:latin typeface="Calibri"/>
              </a:rPr>
              <a:t>Two specimens, two machines, one material. UTS and fracture are called out on both curves because they are the two landmarks that behave differently: they sit 7.7 % apart on stress and 0.8 % apart on strain. The curves are indistinguishable up to about 1.5 % strain and separate only after yield.</a:t>
            </a:r>
          </a:p>
        </p:txBody>
      </p:sp>
      <p:sp>
        <p:nvSpPr>
          <p:cNvPr id="7" name="TextBox 6"/>
          <p:cNvSpPr txBox="1"/>
          <p:nvPr/>
        </p:nvSpPr>
        <p:spPr>
          <a:xfrm>
            <a:off x="6537960" y="932688"/>
            <a:ext cx="5303520" cy="365760"/>
          </a:xfrm>
          <a:prstGeom prst="rect">
            <a:avLst/>
          </a:prstGeom>
          <a:noFill/>
        </p:spPr>
        <p:txBody>
          <a:bodyPr wrap="square" lIns="45720" rIns="45720" tIns="18288" bIns="18288" anchor="t">
            <a:spAutoFit/>
          </a:bodyPr>
          <a:lstStyle/>
          <a:p>
            <a:pPr algn="l"/>
            <a:r>
              <a:rPr sz="1600" b="0" i="0">
                <a:solidFill>
                  <a:srgbClr val="707070"/>
                </a:solidFill>
                <a:latin typeface="Calibri"/>
              </a:rPr>
              <a:t>Every landmark, with the offset graded by size</a:t>
            </a:r>
          </a:p>
        </p:txBody>
      </p:sp>
      <p:graphicFrame>
        <p:nvGraphicFramePr>
          <p:cNvPr id="8" name="Table 7"/>
          <p:cNvGraphicFramePr>
            <a:graphicFrameLocks noGrp="1"/>
          </p:cNvGraphicFramePr>
          <p:nvPr/>
        </p:nvGraphicFramePr>
        <p:xfrm>
          <a:off x="6537960" y="1280160"/>
          <a:ext cx="5303520" cy="1956816"/>
        </p:xfrm>
        <a:graphic>
          <a:graphicData uri="http://schemas.openxmlformats.org/drawingml/2006/table">
            <a:tbl>
              <a:tblPr firstRow="1" bandRow="1">
                <a:tableStyleId>{5C22544A-7EE6-4342-B048-85BDC9FD1C3A}</a:tableStyleId>
              </a:tblPr>
              <a:tblGrid>
                <a:gridCol w="1737360"/>
                <a:gridCol w="914400"/>
                <a:gridCol w="868680"/>
                <a:gridCol w="914400"/>
                <a:gridCol w="868680"/>
              </a:tblGrid>
              <a:tr h="244602">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XT205-S2</a:t>
                      </a:r>
                    </a:p>
                  </a:txBody>
                  <a:tcPr>
                    <a:solidFill>
                      <a:srgbClr val="143D2F"/>
                    </a:solidFill>
                  </a:tcPr>
                </a:tc>
                <a:tc>
                  <a:txBody>
                    <a:bodyPr lIns="54864" rIns="54864" tIns="18288" bIns="18288" wrap="square" anchor="ctr"/>
                    <a:lstStyle/>
                    <a:p>
                      <a:pPr algn="l"/>
                      <a:r>
                        <a:rPr sz="900" b="1">
                          <a:solidFill>
                            <a:srgbClr val="FFFFFF"/>
                          </a:solidFill>
                          <a:latin typeface="Calibri"/>
                        </a:rPr>
                        <a:t>S34</a:t>
                      </a:r>
                    </a:p>
                  </a:txBody>
                  <a:tcPr>
                    <a:solidFill>
                      <a:srgbClr val="143D2F"/>
                    </a:solidFill>
                  </a:tcPr>
                </a:tc>
                <a:tc>
                  <a:txBody>
                    <a:bodyPr lIns="54864" rIns="54864" tIns="18288" bIns="18288" wrap="square" anchor="ctr"/>
                    <a:lstStyle/>
                    <a:p>
                      <a:pPr algn="l"/>
                      <a:r>
                        <a:rPr sz="900" b="1">
                          <a:solidFill>
                            <a:srgbClr val="FFFFFF"/>
                          </a:solidFill>
                          <a:latin typeface="Calibri"/>
                        </a:rPr>
                        <a:t>offset</a:t>
                      </a:r>
                    </a:p>
                  </a:txBody>
                  <a:tcPr>
                    <a:solidFill>
                      <a:srgbClr val="143D2F"/>
                    </a:solidFill>
                  </a:tcPr>
                </a:tc>
                <a:tc>
                  <a:txBody>
                    <a:bodyPr lIns="54864" rIns="54864" tIns="18288" bIns="18288" wrap="square" anchor="ctr"/>
                    <a:lstStyle/>
                    <a:p>
                      <a:pPr algn="l"/>
                      <a:r>
                        <a:rPr sz="900" b="1">
                          <a:solidFill>
                            <a:srgbClr val="FFFFFF"/>
                          </a:solidFill>
                          <a:latin typeface="Calibri"/>
                        </a:rPr>
                        <a:t>S33</a:t>
                      </a:r>
                    </a:p>
                  </a:txBody>
                  <a:tcPr>
                    <a:solidFill>
                      <a:srgbClr val="143D2F"/>
                    </a:solidFill>
                  </a:tcPr>
                </a:tc>
              </a:tr>
              <a:tr h="244602">
                <a:tc>
                  <a:txBody>
                    <a:bodyPr lIns="54864" rIns="54864" tIns="18288" bIns="18288" wrap="square" anchor="ctr"/>
                    <a:lstStyle/>
                    <a:p>
                      <a:pPr algn="l"/>
                      <a:r>
                        <a:rPr sz="850" b="0">
                          <a:solidFill>
                            <a:srgbClr val="000000"/>
                          </a:solidFill>
                          <a:latin typeface="Calibri"/>
                        </a:rPr>
                        <a:t>σ_y  (0.2 % offset, MPa)</a:t>
                      </a:r>
                    </a:p>
                  </a:txBody>
                  <a:tcPr/>
                </a:tc>
                <a:tc>
                  <a:txBody>
                    <a:bodyPr lIns="54864" rIns="54864" tIns="18288" bIns="18288" wrap="square" anchor="ctr"/>
                    <a:lstStyle/>
                    <a:p>
                      <a:pPr algn="l"/>
                      <a:r>
                        <a:rPr sz="850" b="0">
                          <a:solidFill>
                            <a:srgbClr val="000000"/>
                          </a:solidFill>
                          <a:latin typeface="Calibri"/>
                        </a:rPr>
                        <a:t>39.61</a:t>
                      </a:r>
                    </a:p>
                  </a:txBody>
                  <a:tcPr/>
                </a:tc>
                <a:tc>
                  <a:txBody>
                    <a:bodyPr lIns="54864" rIns="54864" tIns="18288" bIns="18288" wrap="square" anchor="ctr"/>
                    <a:lstStyle/>
                    <a:p>
                      <a:pPr algn="l"/>
                      <a:r>
                        <a:rPr sz="850" b="0">
                          <a:solidFill>
                            <a:srgbClr val="000000"/>
                          </a:solidFill>
                          <a:latin typeface="Calibri"/>
                        </a:rPr>
                        <a:t>39.23</a:t>
                      </a:r>
                    </a:p>
                  </a:txBody>
                  <a:tcPr/>
                </a:tc>
                <a:tc>
                  <a:txBody>
                    <a:bodyPr lIns="54864" rIns="54864" tIns="18288" bIns="18288" wrap="square" anchor="ctr"/>
                    <a:lstStyle/>
                    <a:p>
                      <a:pPr algn="l"/>
                      <a:r>
                        <a:rPr sz="850" b="1">
                          <a:solidFill>
                            <a:srgbClr val="000000"/>
                          </a:solidFill>
                          <a:latin typeface="Calibri"/>
                        </a:rPr>
                        <a:t>+1.0 %</a:t>
                      </a:r>
                    </a:p>
                  </a:txBody>
                  <a:tcPr>
                    <a:solidFill>
                      <a:srgbClr val="C8E6C9"/>
                    </a:solidFill>
                  </a:tcPr>
                </a:tc>
                <a:tc>
                  <a:txBody>
                    <a:bodyPr lIns="54864" rIns="54864" tIns="18288" bIns="18288" wrap="square" anchor="ctr"/>
                    <a:lstStyle/>
                    <a:p>
                      <a:pPr algn="l"/>
                      <a:r>
                        <a:rPr sz="850" b="0">
                          <a:solidFill>
                            <a:srgbClr val="000000"/>
                          </a:solidFill>
                          <a:latin typeface="Calibri"/>
                        </a:rPr>
                        <a:t>39.36</a:t>
                      </a:r>
                    </a:p>
                  </a:txBody>
                  <a:tcPr/>
                </a:tc>
              </a:tr>
              <a:tr h="244602">
                <a:tc>
                  <a:txBody>
                    <a:bodyPr lIns="54864" rIns="54864" tIns="18288" bIns="18288" wrap="square" anchor="ctr"/>
                    <a:lstStyle/>
                    <a:p>
                      <a:pPr algn="l"/>
                      <a:r>
                        <a:rPr sz="850" b="0">
                          <a:solidFill>
                            <a:srgbClr val="000000"/>
                          </a:solidFill>
                          <a:latin typeface="Calibri"/>
                        </a:rPr>
                        <a:t>strain at yield (%)</a:t>
                      </a:r>
                    </a:p>
                  </a:txBody>
                  <a:tcPr/>
                </a:tc>
                <a:tc>
                  <a:txBody>
                    <a:bodyPr lIns="54864" rIns="54864" tIns="18288" bIns="18288" wrap="square" anchor="ctr"/>
                    <a:lstStyle/>
                    <a:p>
                      <a:pPr algn="l"/>
                      <a:r>
                        <a:rPr sz="850" b="0">
                          <a:solidFill>
                            <a:srgbClr val="000000"/>
                          </a:solidFill>
                          <a:latin typeface="Calibri"/>
                        </a:rPr>
                        <a:t>1.30</a:t>
                      </a:r>
                    </a:p>
                  </a:txBody>
                  <a:tcPr/>
                </a:tc>
                <a:tc>
                  <a:txBody>
                    <a:bodyPr lIns="54864" rIns="54864" tIns="18288" bIns="18288" wrap="square" anchor="ctr"/>
                    <a:lstStyle/>
                    <a:p>
                      <a:pPr algn="l"/>
                      <a:r>
                        <a:rPr sz="850" b="0">
                          <a:solidFill>
                            <a:srgbClr val="000000"/>
                          </a:solidFill>
                          <a:latin typeface="Calibri"/>
                        </a:rPr>
                        <a:t>1.24</a:t>
                      </a:r>
                    </a:p>
                  </a:txBody>
                  <a:tcPr/>
                </a:tc>
                <a:tc>
                  <a:txBody>
                    <a:bodyPr lIns="54864" rIns="54864" tIns="18288" bIns="18288" wrap="square" anchor="ctr"/>
                    <a:lstStyle/>
                    <a:p>
                      <a:pPr algn="l"/>
                      <a:r>
                        <a:rPr sz="850" b="1">
                          <a:solidFill>
                            <a:srgbClr val="000000"/>
                          </a:solidFill>
                          <a:latin typeface="Calibri"/>
                        </a:rPr>
                        <a:t>+5.5 %</a:t>
                      </a:r>
                    </a:p>
                  </a:txBody>
                  <a:tcPr>
                    <a:solidFill>
                      <a:srgbClr val="FFF3CD"/>
                    </a:solidFill>
                  </a:tcPr>
                </a:tc>
                <a:tc>
                  <a:txBody>
                    <a:bodyPr lIns="54864" rIns="54864" tIns="18288" bIns="18288" wrap="square" anchor="ctr"/>
                    <a:lstStyle/>
                    <a:p>
                      <a:pPr algn="l"/>
                      <a:r>
                        <a:rPr sz="850" b="0">
                          <a:solidFill>
                            <a:srgbClr val="000000"/>
                          </a:solidFill>
                          <a:latin typeface="Calibri"/>
                        </a:rPr>
                        <a:t>1.36</a:t>
                      </a:r>
                    </a:p>
                  </a:txBody>
                  <a:tcPr/>
                </a:tc>
              </a:tr>
              <a:tr h="244602">
                <a:tc>
                  <a:txBody>
                    <a:bodyPr lIns="54864" rIns="54864" tIns="18288" bIns="18288" wrap="square" anchor="ctr"/>
                    <a:lstStyle/>
                    <a:p>
                      <a:pPr algn="l"/>
                      <a:r>
                        <a:rPr sz="850" b="0">
                          <a:solidFill>
                            <a:srgbClr val="000000"/>
                          </a:solidFill>
                          <a:latin typeface="Calibri"/>
                        </a:rPr>
                        <a:t>UTS  (MPa)</a:t>
                      </a:r>
                    </a:p>
                  </a:txBody>
                  <a:tcPr/>
                </a:tc>
                <a:tc>
                  <a:txBody>
                    <a:bodyPr lIns="54864" rIns="54864" tIns="18288" bIns="18288" wrap="square" anchor="ctr"/>
                    <a:lstStyle/>
                    <a:p>
                      <a:pPr algn="l"/>
                      <a:r>
                        <a:rPr sz="850" b="0">
                          <a:solidFill>
                            <a:srgbClr val="000000"/>
                          </a:solidFill>
                          <a:latin typeface="Calibri"/>
                        </a:rPr>
                        <a:t>44.62</a:t>
                      </a:r>
                    </a:p>
                  </a:txBody>
                  <a:tcPr/>
                </a:tc>
                <a:tc>
                  <a:txBody>
                    <a:bodyPr lIns="54864" rIns="54864" tIns="18288" bIns="18288" wrap="square" anchor="ctr"/>
                    <a:lstStyle/>
                    <a:p>
                      <a:pPr algn="l"/>
                      <a:r>
                        <a:rPr sz="850" b="0">
                          <a:solidFill>
                            <a:srgbClr val="000000"/>
                          </a:solidFill>
                          <a:latin typeface="Calibri"/>
                        </a:rPr>
                        <a:t>48.34</a:t>
                      </a:r>
                    </a:p>
                  </a:txBody>
                  <a:tcPr/>
                </a:tc>
                <a:tc>
                  <a:txBody>
                    <a:bodyPr lIns="54864" rIns="54864" tIns="18288" bIns="18288" wrap="square" anchor="ctr"/>
                    <a:lstStyle/>
                    <a:p>
                      <a:pPr algn="l"/>
                      <a:r>
                        <a:rPr sz="850" b="1">
                          <a:solidFill>
                            <a:srgbClr val="000000"/>
                          </a:solidFill>
                          <a:latin typeface="Calibri"/>
                        </a:rPr>
                        <a:t>-7.7 %</a:t>
                      </a:r>
                    </a:p>
                  </a:txBody>
                  <a:tcPr>
                    <a:solidFill>
                      <a:srgbClr val="FFF3CD"/>
                    </a:solidFill>
                  </a:tcPr>
                </a:tc>
                <a:tc>
                  <a:txBody>
                    <a:bodyPr lIns="54864" rIns="54864" tIns="18288" bIns="18288" wrap="square" anchor="ctr"/>
                    <a:lstStyle/>
                    <a:p>
                      <a:pPr algn="l"/>
                      <a:r>
                        <a:rPr sz="850" b="0">
                          <a:solidFill>
                            <a:srgbClr val="000000"/>
                          </a:solidFill>
                          <a:latin typeface="Calibri"/>
                        </a:rPr>
                        <a:t>47.09</a:t>
                      </a:r>
                    </a:p>
                  </a:txBody>
                  <a:tcPr/>
                </a:tc>
              </a:tr>
              <a:tr h="244602">
                <a:tc>
                  <a:txBody>
                    <a:bodyPr lIns="54864" rIns="54864" tIns="18288" bIns="18288" wrap="square" anchor="ctr"/>
                    <a:lstStyle/>
                    <a:p>
                      <a:pPr algn="l"/>
                      <a:r>
                        <a:rPr sz="850" b="0">
                          <a:solidFill>
                            <a:srgbClr val="000000"/>
                          </a:solidFill>
                          <a:latin typeface="Calibri"/>
                        </a:rPr>
                        <a:t>strain at UTS (%)</a:t>
                      </a:r>
                    </a:p>
                  </a:txBody>
                  <a:tcPr/>
                </a:tc>
                <a:tc>
                  <a:txBody>
                    <a:bodyPr lIns="54864" rIns="54864" tIns="18288" bIns="18288" wrap="square" anchor="ctr"/>
                    <a:lstStyle/>
                    <a:p>
                      <a:pPr algn="l"/>
                      <a:r>
                        <a:rPr sz="850" b="0">
                          <a:solidFill>
                            <a:srgbClr val="000000"/>
                          </a:solidFill>
                          <a:latin typeface="Calibri"/>
                        </a:rPr>
                        <a:t>1.92</a:t>
                      </a:r>
                    </a:p>
                  </a:txBody>
                  <a:tcPr/>
                </a:tc>
                <a:tc>
                  <a:txBody>
                    <a:bodyPr lIns="54864" rIns="54864" tIns="18288" bIns="18288" wrap="square" anchor="ctr"/>
                    <a:lstStyle/>
                    <a:p>
                      <a:pPr algn="l"/>
                      <a:r>
                        <a:rPr sz="850" b="0">
                          <a:solidFill>
                            <a:srgbClr val="000000"/>
                          </a:solidFill>
                          <a:latin typeface="Calibri"/>
                        </a:rPr>
                        <a:t>2.27</a:t>
                      </a:r>
                    </a:p>
                  </a:txBody>
                  <a:tcPr/>
                </a:tc>
                <a:tc>
                  <a:txBody>
                    <a:bodyPr lIns="54864" rIns="54864" tIns="18288" bIns="18288" wrap="square" anchor="ctr"/>
                    <a:lstStyle/>
                    <a:p>
                      <a:pPr algn="l"/>
                      <a:r>
                        <a:rPr sz="850" b="1">
                          <a:solidFill>
                            <a:srgbClr val="000000"/>
                          </a:solidFill>
                          <a:latin typeface="Calibri"/>
                        </a:rPr>
                        <a:t>-15.5 %</a:t>
                      </a:r>
                    </a:p>
                  </a:txBody>
                  <a:tcPr>
                    <a:solidFill>
                      <a:srgbClr val="FFCDD2"/>
                    </a:solidFill>
                  </a:tcPr>
                </a:tc>
                <a:tc>
                  <a:txBody>
                    <a:bodyPr lIns="54864" rIns="54864" tIns="18288" bIns="18288" wrap="square" anchor="ctr"/>
                    <a:lstStyle/>
                    <a:p>
                      <a:pPr algn="l"/>
                      <a:r>
                        <a:rPr sz="850" b="0">
                          <a:solidFill>
                            <a:srgbClr val="000000"/>
                          </a:solidFill>
                          <a:latin typeface="Calibri"/>
                        </a:rPr>
                        <a:t>2.23</a:t>
                      </a:r>
                    </a:p>
                  </a:txBody>
                  <a:tcPr/>
                </a:tc>
              </a:tr>
              <a:tr h="244602">
                <a:tc>
                  <a:txBody>
                    <a:bodyPr lIns="54864" rIns="54864" tIns="18288" bIns="18288" wrap="square" anchor="ctr"/>
                    <a:lstStyle/>
                    <a:p>
                      <a:pPr algn="l"/>
                      <a:r>
                        <a:rPr sz="850" b="0">
                          <a:solidFill>
                            <a:srgbClr val="000000"/>
                          </a:solidFill>
                          <a:latin typeface="Calibri"/>
                        </a:rPr>
                        <a:t>failure strain (%)</a:t>
                      </a:r>
                    </a:p>
                  </a:txBody>
                  <a:tcPr/>
                </a:tc>
                <a:tc>
                  <a:txBody>
                    <a:bodyPr lIns="54864" rIns="54864" tIns="18288" bIns="18288" wrap="square" anchor="ctr"/>
                    <a:lstStyle/>
                    <a:p>
                      <a:pPr algn="l"/>
                      <a:r>
                        <a:rPr sz="850" b="0">
                          <a:solidFill>
                            <a:srgbClr val="000000"/>
                          </a:solidFill>
                          <a:latin typeface="Calibri"/>
                        </a:rPr>
                        <a:t>5.21</a:t>
                      </a:r>
                    </a:p>
                  </a:txBody>
                  <a:tcPr/>
                </a:tc>
                <a:tc>
                  <a:txBody>
                    <a:bodyPr lIns="54864" rIns="54864" tIns="18288" bIns="18288" wrap="square" anchor="ctr"/>
                    <a:lstStyle/>
                    <a:p>
                      <a:pPr algn="l"/>
                      <a:r>
                        <a:rPr sz="850" b="0">
                          <a:solidFill>
                            <a:srgbClr val="000000"/>
                          </a:solidFill>
                          <a:latin typeface="Calibri"/>
                        </a:rPr>
                        <a:t>5.25</a:t>
                      </a:r>
                    </a:p>
                  </a:txBody>
                  <a:tcPr/>
                </a:tc>
                <a:tc>
                  <a:txBody>
                    <a:bodyPr lIns="54864" rIns="54864" tIns="18288" bIns="18288" wrap="square" anchor="ctr"/>
                    <a:lstStyle/>
                    <a:p>
                      <a:pPr algn="l"/>
                      <a:r>
                        <a:rPr sz="850" b="1">
                          <a:solidFill>
                            <a:srgbClr val="000000"/>
                          </a:solidFill>
                          <a:latin typeface="Calibri"/>
                        </a:rPr>
                        <a:t>-0.8 %</a:t>
                      </a:r>
                    </a:p>
                  </a:txBody>
                  <a:tcPr>
                    <a:solidFill>
                      <a:srgbClr val="C8E6C9"/>
                    </a:solidFill>
                  </a:tcPr>
                </a:tc>
                <a:tc>
                  <a:txBody>
                    <a:bodyPr lIns="54864" rIns="54864" tIns="18288" bIns="18288" wrap="square" anchor="ctr"/>
                    <a:lstStyle/>
                    <a:p>
                      <a:pPr algn="l"/>
                      <a:r>
                        <a:rPr sz="850" b="0">
                          <a:solidFill>
                            <a:srgbClr val="000000"/>
                          </a:solidFill>
                          <a:latin typeface="Calibri"/>
                        </a:rPr>
                        <a:t>2.96</a:t>
                      </a:r>
                    </a:p>
                  </a:txBody>
                  <a:tcPr/>
                </a:tc>
              </a:tr>
              <a:tr h="244602">
                <a:tc>
                  <a:txBody>
                    <a:bodyPr lIns="54864" rIns="54864" tIns="18288" bIns="18288" wrap="square" anchor="ctr"/>
                    <a:lstStyle/>
                    <a:p>
                      <a:pPr algn="l"/>
                      <a:r>
                        <a:rPr sz="850" b="0">
                          <a:solidFill>
                            <a:srgbClr val="000000"/>
                          </a:solidFill>
                          <a:latin typeface="Calibri"/>
                        </a:rPr>
                        <a:t>fracture stress (MPa)</a:t>
                      </a:r>
                    </a:p>
                  </a:txBody>
                  <a:tcPr/>
                </a:tc>
                <a:tc>
                  <a:txBody>
                    <a:bodyPr lIns="54864" rIns="54864" tIns="18288" bIns="18288" wrap="square" anchor="ctr"/>
                    <a:lstStyle/>
                    <a:p>
                      <a:pPr algn="l"/>
                      <a:r>
                        <a:rPr sz="850" b="0">
                          <a:solidFill>
                            <a:srgbClr val="000000"/>
                          </a:solidFill>
                          <a:latin typeface="Calibri"/>
                        </a:rPr>
                        <a:t>39.07</a:t>
                      </a:r>
                    </a:p>
                  </a:txBody>
                  <a:tcPr/>
                </a:tc>
                <a:tc>
                  <a:txBody>
                    <a:bodyPr lIns="54864" rIns="54864" tIns="18288" bIns="18288" wrap="square" anchor="ctr"/>
                    <a:lstStyle/>
                    <a:p>
                      <a:pPr algn="l"/>
                      <a:r>
                        <a:rPr sz="850" b="0">
                          <a:solidFill>
                            <a:srgbClr val="000000"/>
                          </a:solidFill>
                          <a:latin typeface="Calibri"/>
                        </a:rPr>
                        <a:t>43.57</a:t>
                      </a:r>
                    </a:p>
                  </a:txBody>
                  <a:tcPr/>
                </a:tc>
                <a:tc>
                  <a:txBody>
                    <a:bodyPr lIns="54864" rIns="54864" tIns="18288" bIns="18288" wrap="square" anchor="ctr"/>
                    <a:lstStyle/>
                    <a:p>
                      <a:pPr algn="l"/>
                      <a:r>
                        <a:rPr sz="850" b="1">
                          <a:solidFill>
                            <a:srgbClr val="000000"/>
                          </a:solidFill>
                          <a:latin typeface="Calibri"/>
                        </a:rPr>
                        <a:t>-10.3 %</a:t>
                      </a:r>
                    </a:p>
                  </a:txBody>
                  <a:tcPr>
                    <a:solidFill>
                      <a:srgbClr val="FFCDD2"/>
                    </a:solidFill>
                  </a:tcPr>
                </a:tc>
                <a:tc>
                  <a:txBody>
                    <a:bodyPr lIns="54864" rIns="54864" tIns="18288" bIns="18288" wrap="square" anchor="ctr"/>
                    <a:lstStyle/>
                    <a:p>
                      <a:pPr algn="l"/>
                      <a:r>
                        <a:rPr sz="850" b="0">
                          <a:solidFill>
                            <a:srgbClr val="000000"/>
                          </a:solidFill>
                          <a:latin typeface="Calibri"/>
                        </a:rPr>
                        <a:t>44.47</a:t>
                      </a:r>
                    </a:p>
                  </a:txBody>
                  <a:tcPr/>
                </a:tc>
              </a:tr>
              <a:tr h="244602">
                <a:tc>
                  <a:txBody>
                    <a:bodyPr lIns="54864" rIns="54864" tIns="18288" bIns="18288" wrap="square" anchor="ctr"/>
                    <a:lstStyle/>
                    <a:p>
                      <a:pPr algn="l"/>
                      <a:r>
                        <a:rPr sz="850" b="0">
                          <a:solidFill>
                            <a:srgbClr val="000000"/>
                          </a:solidFill>
                          <a:latin typeface="Calibri"/>
                        </a:rPr>
                        <a:t>toughness (MJ/m³)</a:t>
                      </a:r>
                    </a:p>
                  </a:txBody>
                  <a:tcPr/>
                </a:tc>
                <a:tc>
                  <a:txBody>
                    <a:bodyPr lIns="54864" rIns="54864" tIns="18288" bIns="18288" wrap="square" anchor="ctr"/>
                    <a:lstStyle/>
                    <a:p>
                      <a:pPr algn="l"/>
                      <a:r>
                        <a:rPr sz="850" b="0">
                          <a:solidFill>
                            <a:srgbClr val="000000"/>
                          </a:solidFill>
                          <a:latin typeface="Calibri"/>
                        </a:rPr>
                        <a:t>1.96</a:t>
                      </a:r>
                    </a:p>
                  </a:txBody>
                  <a:tcPr/>
                </a:tc>
                <a:tc>
                  <a:txBody>
                    <a:bodyPr lIns="54864" rIns="54864" tIns="18288" bIns="18288" wrap="square" anchor="ctr"/>
                    <a:lstStyle/>
                    <a:p>
                      <a:pPr algn="l"/>
                      <a:r>
                        <a:rPr sz="850" b="0">
                          <a:solidFill>
                            <a:srgbClr val="000000"/>
                          </a:solidFill>
                          <a:latin typeface="Calibri"/>
                        </a:rPr>
                        <a:t>2.13</a:t>
                      </a:r>
                    </a:p>
                  </a:txBody>
                  <a:tcPr/>
                </a:tc>
                <a:tc>
                  <a:txBody>
                    <a:bodyPr lIns="54864" rIns="54864" tIns="18288" bIns="18288" wrap="square" anchor="ctr"/>
                    <a:lstStyle/>
                    <a:p>
                      <a:pPr algn="l"/>
                      <a:r>
                        <a:rPr sz="850" b="1">
                          <a:solidFill>
                            <a:srgbClr val="000000"/>
                          </a:solidFill>
                          <a:latin typeface="Calibri"/>
                        </a:rPr>
                        <a:t>-7.9 %</a:t>
                      </a:r>
                    </a:p>
                  </a:txBody>
                  <a:tcPr>
                    <a:solidFill>
                      <a:srgbClr val="FFF3CD"/>
                    </a:solidFill>
                  </a:tcPr>
                </a:tc>
                <a:tc>
                  <a:txBody>
                    <a:bodyPr lIns="54864" rIns="54864" tIns="18288" bIns="18288" wrap="square" anchor="ctr"/>
                    <a:lstStyle/>
                    <a:p>
                      <a:pPr algn="l"/>
                      <a:r>
                        <a:rPr sz="850" b="0">
                          <a:solidFill>
                            <a:srgbClr val="000000"/>
                          </a:solidFill>
                          <a:latin typeface="Calibri"/>
                        </a:rPr>
                        <a:t>1.03</a:t>
                      </a:r>
                    </a:p>
                  </a:txBody>
                  <a:tcPr/>
                </a:tc>
              </a:tr>
            </a:tbl>
          </a:graphicData>
        </a:graphic>
      </p:graphicFrame>
      <p:sp>
        <p:nvSpPr>
          <p:cNvPr id="9" name="TextBox 8"/>
          <p:cNvSpPr txBox="1"/>
          <p:nvPr/>
        </p:nvSpPr>
        <p:spPr>
          <a:xfrm>
            <a:off x="6537960" y="3346704"/>
            <a:ext cx="5303520" cy="365760"/>
          </a:xfrm>
          <a:prstGeom prst="rect">
            <a:avLst/>
          </a:prstGeom>
          <a:noFill/>
        </p:spPr>
        <p:txBody>
          <a:bodyPr wrap="square" lIns="45720" rIns="45720" tIns="18288" bIns="18288" anchor="t">
            <a:spAutoFit/>
          </a:bodyPr>
          <a:lstStyle/>
          <a:p>
            <a:pPr algn="l"/>
            <a:r>
              <a:rPr sz="1600" b="0" i="0">
                <a:solidFill>
                  <a:srgbClr val="707070"/>
                </a:solidFill>
                <a:latin typeface="Calibri"/>
              </a:rPr>
              <a:t>How to read the colour</a:t>
            </a:r>
          </a:p>
        </p:txBody>
      </p:sp>
      <p:graphicFrame>
        <p:nvGraphicFramePr>
          <p:cNvPr id="10" name="Table 9"/>
          <p:cNvGraphicFramePr>
            <a:graphicFrameLocks noGrp="1"/>
          </p:cNvGraphicFramePr>
          <p:nvPr/>
        </p:nvGraphicFramePr>
        <p:xfrm>
          <a:off x="6537960" y="3694176"/>
          <a:ext cx="5303518" cy="1271016"/>
        </p:xfrm>
        <a:graphic>
          <a:graphicData uri="http://schemas.openxmlformats.org/drawingml/2006/table">
            <a:tbl>
              <a:tblPr firstRow="1" bandRow="1">
                <a:tableStyleId>{5C22544A-7EE6-4342-B048-85BDC9FD1C3A}</a:tableStyleId>
              </a:tblPr>
              <a:tblGrid>
                <a:gridCol w="1051559"/>
                <a:gridCol w="4251959"/>
              </a:tblGrid>
              <a:tr h="254203">
                <a:tc>
                  <a:txBody>
                    <a:bodyPr lIns="54864" rIns="54864" tIns="18288" bIns="18288" wrap="square" anchor="ctr"/>
                    <a:lstStyle/>
                    <a:p>
                      <a:pPr algn="l"/>
                      <a:r>
                        <a:rPr sz="900" b="1">
                          <a:solidFill>
                            <a:srgbClr val="FFFFFF"/>
                          </a:solidFill>
                          <a:latin typeface="Calibri"/>
                        </a:rPr>
                        <a:t>Band</a:t>
                      </a:r>
                    </a:p>
                  </a:txBody>
                  <a:tcPr>
                    <a:solidFill>
                      <a:srgbClr val="143D2F"/>
                    </a:solidFill>
                  </a:tcPr>
                </a:tc>
                <a:tc>
                  <a:txBody>
                    <a:bodyPr lIns="54864" rIns="54864" tIns="18288" bIns="18288" wrap="square" anchor="ctr"/>
                    <a:lstStyle/>
                    <a:p>
                      <a:pPr algn="l"/>
                      <a:r>
                        <a:rPr sz="900" b="1">
                          <a:solidFill>
                            <a:srgbClr val="FFFFFF"/>
                          </a:solidFill>
                          <a:latin typeface="Calibri"/>
                        </a:rPr>
                        <a:t>What it means</a:t>
                      </a:r>
                    </a:p>
                  </a:txBody>
                  <a:tcPr>
                    <a:solidFill>
                      <a:srgbClr val="143D2F"/>
                    </a:solidFill>
                  </a:tcPr>
                </a:tc>
              </a:tr>
              <a:tr h="254203">
                <a:tc>
                  <a:txBody>
                    <a:bodyPr lIns="54864" rIns="54864" tIns="18288" bIns="18288" wrap="square" anchor="ctr"/>
                    <a:lstStyle/>
                    <a:p>
                      <a:pPr algn="l"/>
                      <a:r>
                        <a:rPr sz="850" b="1">
                          <a:solidFill>
                            <a:srgbClr val="000000"/>
                          </a:solidFill>
                          <a:latin typeface="Calibri"/>
                        </a:rPr>
                        <a:t>≤ 1 %</a:t>
                      </a:r>
                    </a:p>
                  </a:txBody>
                  <a:tcPr>
                    <a:solidFill>
                      <a:srgbClr val="C8E6C9"/>
                    </a:solidFill>
                  </a:tcPr>
                </a:tc>
                <a:tc>
                  <a:txBody>
                    <a:bodyPr lIns="54864" rIns="54864" tIns="18288" bIns="18288" wrap="square" anchor="ctr"/>
                    <a:lstStyle/>
                    <a:p>
                      <a:pPr algn="l"/>
                      <a:r>
                        <a:rPr sz="850" b="0">
                          <a:solidFill>
                            <a:srgbClr val="000000"/>
                          </a:solidFill>
                          <a:latin typeface="Calibri"/>
                        </a:rPr>
                        <a:t>instrument-level agreement</a:t>
                      </a:r>
                    </a:p>
                  </a:txBody>
                  <a:tcPr/>
                </a:tc>
              </a:tr>
              <a:tr h="254203">
                <a:tc>
                  <a:txBody>
                    <a:bodyPr lIns="54864" rIns="54864" tIns="18288" bIns="18288" wrap="square" anchor="ctr"/>
                    <a:lstStyle/>
                    <a:p>
                      <a:pPr algn="l"/>
                      <a:r>
                        <a:rPr sz="850" b="1">
                          <a:solidFill>
                            <a:srgbClr val="000000"/>
                          </a:solidFill>
                          <a:latin typeface="Calibri"/>
                        </a:rPr>
                        <a:t>1 – 3 %</a:t>
                      </a:r>
                    </a:p>
                  </a:txBody>
                  <a:tcPr>
                    <a:solidFill>
                      <a:srgbClr val="E6EFC4"/>
                    </a:solidFill>
                  </a:tcPr>
                </a:tc>
                <a:tc>
                  <a:txBody>
                    <a:bodyPr lIns="54864" rIns="54864" tIns="18288" bIns="18288" wrap="square" anchor="ctr"/>
                    <a:lstStyle/>
                    <a:p>
                      <a:pPr algn="l"/>
                      <a:r>
                        <a:rPr sz="850" b="0">
                          <a:solidFill>
                            <a:srgbClr val="000000"/>
                          </a:solidFill>
                          <a:latin typeface="Calibri"/>
                        </a:rPr>
                        <a:t>inside our own S33/S34 specimen scatter</a:t>
                      </a:r>
                    </a:p>
                  </a:txBody>
                  <a:tcPr/>
                </a:tc>
              </a:tr>
              <a:tr h="254203">
                <a:tc>
                  <a:txBody>
                    <a:bodyPr lIns="54864" rIns="54864" tIns="18288" bIns="18288" wrap="square" anchor="ctr"/>
                    <a:lstStyle/>
                    <a:p>
                      <a:pPr algn="l"/>
                      <a:r>
                        <a:rPr sz="850" b="1">
                          <a:solidFill>
                            <a:srgbClr val="000000"/>
                          </a:solidFill>
                          <a:latin typeface="Calibri"/>
                        </a:rPr>
                        <a:t>3 – 8 %</a:t>
                      </a:r>
                    </a:p>
                  </a:txBody>
                  <a:tcPr>
                    <a:solidFill>
                      <a:srgbClr val="FFF3CD"/>
                    </a:solidFill>
                  </a:tcPr>
                </a:tc>
                <a:tc>
                  <a:txBody>
                    <a:bodyPr lIns="54864" rIns="54864" tIns="18288" bIns="18288" wrap="square" anchor="ctr"/>
                    <a:lstStyle/>
                    <a:p>
                      <a:pPr algn="l"/>
                      <a:r>
                        <a:rPr sz="850" b="0">
                          <a:solidFill>
                            <a:srgbClr val="000000"/>
                          </a:solidFill>
                          <a:latin typeface="Calibri"/>
                        </a:rPr>
                        <a:t>larger than that scatter — needs a reason</a:t>
                      </a:r>
                    </a:p>
                  </a:txBody>
                  <a:tcPr/>
                </a:tc>
              </a:tr>
              <a:tr h="254204">
                <a:tc>
                  <a:txBody>
                    <a:bodyPr lIns="54864" rIns="54864" tIns="18288" bIns="18288" wrap="square" anchor="ctr"/>
                    <a:lstStyle/>
                    <a:p>
                      <a:pPr algn="l"/>
                      <a:r>
                        <a:rPr sz="850" b="1">
                          <a:solidFill>
                            <a:srgbClr val="000000"/>
                          </a:solidFill>
                          <a:latin typeface="Calibri"/>
                        </a:rPr>
                        <a:t>&gt; 8 %</a:t>
                      </a:r>
                    </a:p>
                  </a:txBody>
                  <a:tcPr>
                    <a:solidFill>
                      <a:srgbClr val="FFCDD2"/>
                    </a:solidFill>
                  </a:tcPr>
                </a:tc>
                <a:tc>
                  <a:txBody>
                    <a:bodyPr lIns="54864" rIns="54864" tIns="18288" bIns="18288" wrap="square" anchor="ctr"/>
                    <a:lstStyle/>
                    <a:p>
                      <a:pPr algn="l"/>
                      <a:r>
                        <a:rPr sz="850" b="0">
                          <a:solidFill>
                            <a:srgbClr val="000000"/>
                          </a:solidFill>
                          <a:latin typeface="Calibri"/>
                        </a:rPr>
                        <a:t>the largest gaps in this comparison</a:t>
                      </a:r>
                    </a:p>
                  </a:txBody>
                  <a:tcPr/>
                </a:tc>
              </a:tr>
            </a:tbl>
          </a:graphicData>
        </a:graphic>
      </p:graphicFrame>
      <p:sp>
        <p:nvSpPr>
          <p:cNvPr id="11" name="TextBox 10"/>
          <p:cNvSpPr txBox="1"/>
          <p:nvPr/>
        </p:nvSpPr>
        <p:spPr>
          <a:xfrm>
            <a:off x="6537960" y="5047488"/>
            <a:ext cx="5303520" cy="731520"/>
          </a:xfrm>
          <a:prstGeom prst="rect">
            <a:avLst/>
          </a:prstGeom>
          <a:noFill/>
        </p:spPr>
        <p:txBody>
          <a:bodyPr wrap="square" lIns="45720" rIns="45720" tIns="18288" bIns="18288" anchor="t">
            <a:spAutoFit/>
          </a:bodyPr>
          <a:lstStyle/>
          <a:p>
            <a:pPr algn="l"/>
            <a:r>
              <a:rPr sz="950" b="0" i="0">
                <a:solidFill>
                  <a:srgbClr val="000000"/>
                </a:solidFill>
                <a:latin typeface="Calibri"/>
              </a:rPr>
              <a:t>Read down the offset column and the split is not random: the two GREEN rows are the ones the pull speed cannot touch, and every amber or red row is post-yield.</a:t>
            </a:r>
          </a:p>
        </p:txBody>
      </p:sp>
      <p:sp>
        <p:nvSpPr>
          <p:cNvPr id="12" name="Rectangle 11"/>
          <p:cNvSpPr/>
          <p:nvPr/>
        </p:nvSpPr>
        <p:spPr>
          <a:xfrm>
            <a:off x="365760" y="5870448"/>
            <a:ext cx="1147572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Yield and failure strain agree at instrument level; everything after yield does not. Which of those two groups a number falls into is the whole result.</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Offsets are XT205-S2 relative to S34. σ_y is on each record's own steepest-straight-run modulus, so the same construction is used on both. S33 is shown for scale and is not part of the offset.</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324</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TEST 1'S OPEN QUESTION, CLOSED</a:t>
            </a:r>
          </a:p>
        </p:txBody>
      </p:sp>
      <p:pic>
        <p:nvPicPr>
          <p:cNvPr id="5" name="Picture 4" descr="mot2cmp_strain.png"/>
          <p:cNvPicPr>
            <a:picLocks noChangeAspect="1"/>
          </p:cNvPicPr>
          <p:nvPr/>
        </p:nvPicPr>
        <p:blipFill>
          <a:blip r:embed="rId2"/>
          <a:stretch>
            <a:fillRect/>
          </a:stretch>
        </p:blipFill>
        <p:spPr>
          <a:xfrm>
            <a:off x="1776665" y="987552"/>
            <a:ext cx="8699628" cy="3035808"/>
          </a:xfrm>
          <a:prstGeom prst="rect">
            <a:avLst/>
          </a:prstGeom>
        </p:spPr>
      </p:pic>
      <p:sp>
        <p:nvSpPr>
          <p:cNvPr id="6" name="TextBox 5"/>
          <p:cNvSpPr txBox="1"/>
          <p:nvPr/>
        </p:nvSpPr>
        <p:spPr>
          <a:xfrm>
            <a:off x="411480" y="4096512"/>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Test 1 was left saying</a:t>
            </a:r>
          </a:p>
        </p:txBody>
      </p:sp>
      <p:sp>
        <p:nvSpPr>
          <p:cNvPr id="7" name="TextBox 6"/>
          <p:cNvSpPr txBox="1"/>
          <p:nvPr/>
        </p:nvSpPr>
        <p:spPr>
          <a:xfrm>
            <a:off x="411480" y="4443984"/>
            <a:ext cx="3703320" cy="1481328"/>
          </a:xfrm>
          <a:prstGeom prst="rect">
            <a:avLst/>
          </a:prstGeom>
          <a:noFill/>
        </p:spPr>
        <p:txBody>
          <a:bodyPr wrap="square" lIns="45720" rIns="45720" tIns="18288" bIns="18288" anchor="t">
            <a:spAutoFit/>
          </a:bodyPr>
          <a:lstStyle/>
          <a:p>
            <a:pPr algn="l"/>
            <a:r>
              <a:rPr sz="950" b="0" i="0">
                <a:solidFill>
                  <a:srgbClr val="000000"/>
                </a:solidFill>
                <a:latin typeface="Calibri"/>
              </a:rPr>
              <a:t>MOT Test 1 found the XT-205 reading strain 2.21× faster than the PPD-UTM at the same commanded speed, and could not say why. The verdict then was explicit: a stiffer frame delivers a larger share of its crosshead travel to the gauge, so this is what a stiffer frame LOOKS like — "but our calibration is not contradicted, nor is it confirmed. That needs their load or crosshead-displacement channel."</a:t>
            </a:r>
          </a:p>
        </p:txBody>
      </p:sp>
      <p:sp>
        <p:nvSpPr>
          <p:cNvPr id="8" name="TextBox 7"/>
          <p:cNvSpPr txBox="1"/>
          <p:nvPr/>
        </p:nvSpPr>
        <p:spPr>
          <a:xfrm>
            <a:off x="4343400" y="4096512"/>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MOT Test 2 supplies it</a:t>
            </a:r>
          </a:p>
        </p:txBody>
      </p:sp>
      <p:sp>
        <p:nvSpPr>
          <p:cNvPr id="9" name="TextBox 8"/>
          <p:cNvSpPr txBox="1"/>
          <p:nvPr/>
        </p:nvSpPr>
        <p:spPr>
          <a:xfrm>
            <a:off x="4343400" y="4443984"/>
            <a:ext cx="3703320" cy="1481328"/>
          </a:xfrm>
          <a:prstGeom prst="rect">
            <a:avLst/>
          </a:prstGeom>
          <a:noFill/>
        </p:spPr>
        <p:txBody>
          <a:bodyPr wrap="square" lIns="45720" rIns="45720" tIns="18288" bIns="18288" anchor="t">
            <a:spAutoFit/>
          </a:bodyPr>
          <a:lstStyle/>
          <a:p>
            <a:pPr algn="l"/>
            <a:r>
              <a:rPr sz="950" b="0" i="0">
                <a:solidFill>
                  <a:srgbClr val="000000"/>
                </a:solidFill>
                <a:latin typeface="Calibri"/>
              </a:rPr>
              <a:t>With load on both sides the share can be measured instead of hypothesised, and it is 45 % for them against 33 % for S34 and 21 % for S33. Their frame IS the stiffer one, by about the factor the rate gap needed. The hypothesis Test 1 could only state is now the measured answer, and our scale is not implicated.</a:t>
            </a:r>
          </a:p>
        </p:txBody>
      </p:sp>
      <p:sp>
        <p:nvSpPr>
          <p:cNvPr id="10" name="TextBox 9"/>
          <p:cNvSpPr txBox="1"/>
          <p:nvPr/>
        </p:nvSpPr>
        <p:spPr>
          <a:xfrm>
            <a:off x="8275320" y="4096512"/>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honest caveat on that number</a:t>
            </a:r>
          </a:p>
        </p:txBody>
      </p:sp>
      <p:sp>
        <p:nvSpPr>
          <p:cNvPr id="11" name="TextBox 10"/>
          <p:cNvSpPr txBox="1"/>
          <p:nvPr/>
        </p:nvSpPr>
        <p:spPr>
          <a:xfrm>
            <a:off x="8275320" y="4443984"/>
            <a:ext cx="3566160" cy="1481328"/>
          </a:xfrm>
          <a:prstGeom prst="rect">
            <a:avLst/>
          </a:prstGeom>
          <a:noFill/>
        </p:spPr>
        <p:txBody>
          <a:bodyPr wrap="square" lIns="45720" rIns="45720" tIns="18288" bIns="18288" anchor="t">
            <a:spAutoFit/>
          </a:bodyPr>
          <a:lstStyle/>
          <a:p>
            <a:pPr algn="l"/>
            <a:r>
              <a:rPr sz="950" b="0" i="0">
                <a:solidFill>
                  <a:srgbClr val="000000"/>
                </a:solidFill>
                <a:latin typeface="Calibri"/>
              </a:rPr>
              <a:t>Ours is measured — the rig records crosshead position. Theirs is NOMINAL, speed × time, because the .daq carries no crosshead channel. If their crosshead ever lagged its command the true share is HIGHER than 45 %, not lower, so the conclusion is safe in the direction it matters.</a:t>
            </a:r>
          </a:p>
        </p:txBody>
      </p:sp>
      <p:sp>
        <p:nvSpPr>
          <p:cNvPr id="12" name="Rectangle 11"/>
          <p:cNvSpPr/>
          <p:nvPr/>
        </p:nvSpPr>
        <p:spPr>
          <a:xfrm>
            <a:off x="365760" y="5998464"/>
            <a:ext cx="11475720" cy="3657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Two-thirds of our crosshead travel never reaches the gauge — and on a commercial machine it is still over half. This is a property of load trains, not a defect of ours.</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Share = DIC gauge stretch ÷ crosshead travel, both taken from the preload instant to fracture. The rest goes into frame flex, grip take-up and the specimen's shoulders.</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325</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WHERE YOU FIT CHANGES WHAT YOU GET</a:t>
            </a:r>
          </a:p>
        </p:txBody>
      </p:sp>
      <p:pic>
        <p:nvPicPr>
          <p:cNvPr id="5" name="Picture 4" descr="mot2cmp_elastic.png"/>
          <p:cNvPicPr>
            <a:picLocks noChangeAspect="1"/>
          </p:cNvPicPr>
          <p:nvPr/>
        </p:nvPicPr>
        <p:blipFill>
          <a:blip r:embed="rId2"/>
          <a:stretch>
            <a:fillRect/>
          </a:stretch>
        </p:blipFill>
        <p:spPr>
          <a:xfrm>
            <a:off x="1902747" y="987552"/>
            <a:ext cx="8447465" cy="3035808"/>
          </a:xfrm>
          <a:prstGeom prst="rect">
            <a:avLst/>
          </a:prstGeom>
        </p:spPr>
      </p:pic>
      <p:sp>
        <p:nvSpPr>
          <p:cNvPr id="6" name="TextBox 5"/>
          <p:cNvSpPr txBox="1"/>
          <p:nvPr/>
        </p:nvSpPr>
        <p:spPr>
          <a:xfrm>
            <a:off x="411480" y="409651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same two methods on all three records</a:t>
            </a:r>
          </a:p>
        </p:txBody>
      </p:sp>
      <p:graphicFrame>
        <p:nvGraphicFramePr>
          <p:cNvPr id="7" name="Table 6"/>
          <p:cNvGraphicFramePr>
            <a:graphicFrameLocks noGrp="1"/>
          </p:cNvGraphicFramePr>
          <p:nvPr/>
        </p:nvGraphicFramePr>
        <p:xfrm>
          <a:off x="411480" y="4443984"/>
          <a:ext cx="5623557" cy="1417320"/>
        </p:xfrm>
        <a:graphic>
          <a:graphicData uri="http://schemas.openxmlformats.org/drawingml/2006/table">
            <a:tbl>
              <a:tblPr firstRow="1" bandRow="1">
                <a:tableStyleId>{5C22544A-7EE6-4342-B048-85BDC9FD1C3A}</a:tableStyleId>
              </a:tblPr>
              <a:tblGrid>
                <a:gridCol w="1360538"/>
                <a:gridCol w="1224484"/>
                <a:gridCol w="1360538"/>
                <a:gridCol w="952377"/>
                <a:gridCol w="725620"/>
              </a:tblGrid>
              <a:tr h="283464">
                <a:tc>
                  <a:txBody>
                    <a:bodyPr lIns="54864" rIns="54864" tIns="18288" bIns="18288" wrap="square" anchor="ctr"/>
                    <a:lstStyle/>
                    <a:p>
                      <a:pPr algn="l"/>
                      <a:r>
                        <a:rPr sz="850" b="1">
                          <a:solidFill>
                            <a:srgbClr val="FFFFFF"/>
                          </a:solidFill>
                          <a:latin typeface="Calibri"/>
                        </a:rPr>
                        <a:t/>
                      </a:r>
                    </a:p>
                  </a:txBody>
                  <a:tcPr>
                    <a:solidFill>
                      <a:srgbClr val="143D2F"/>
                    </a:solidFill>
                  </a:tcPr>
                </a:tc>
                <a:tc>
                  <a:txBody>
                    <a:bodyPr lIns="54864" rIns="54864" tIns="18288" bIns="18288" wrap="square" anchor="ctr"/>
                    <a:lstStyle/>
                    <a:p>
                      <a:pPr algn="l"/>
                      <a:r>
                        <a:rPr sz="850" b="1">
                          <a:solidFill>
                            <a:srgbClr val="FFFFFF"/>
                          </a:solidFill>
                          <a:latin typeface="Calibri"/>
                        </a:rPr>
                        <a:t>fixed 0.05–0.40 %</a:t>
                      </a:r>
                    </a:p>
                  </a:txBody>
                  <a:tcPr>
                    <a:solidFill>
                      <a:srgbClr val="143D2F"/>
                    </a:solidFill>
                  </a:tcPr>
                </a:tc>
                <a:tc>
                  <a:txBody>
                    <a:bodyPr lIns="54864" rIns="54864" tIns="18288" bIns="18288" wrap="square" anchor="ctr"/>
                    <a:lstStyle/>
                    <a:p>
                      <a:pPr algn="l"/>
                      <a:r>
                        <a:rPr sz="850" b="1">
                          <a:solidFill>
                            <a:srgbClr val="FFFFFF"/>
                          </a:solidFill>
                          <a:latin typeface="Calibri"/>
                        </a:rPr>
                        <a:t>steepest straight run</a:t>
                      </a:r>
                    </a:p>
                  </a:txBody>
                  <a:tcPr>
                    <a:solidFill>
                      <a:srgbClr val="143D2F"/>
                    </a:solidFill>
                  </a:tcPr>
                </a:tc>
                <a:tc>
                  <a:txBody>
                    <a:bodyPr lIns="54864" rIns="54864" tIns="18288" bIns="18288" wrap="square" anchor="ctr"/>
                    <a:lstStyle/>
                    <a:p>
                      <a:pPr algn="l"/>
                      <a:r>
                        <a:rPr sz="850" b="1">
                          <a:solidFill>
                            <a:srgbClr val="FFFFFF"/>
                          </a:solidFill>
                          <a:latin typeface="Calibri"/>
                        </a:rPr>
                        <a:t>window</a:t>
                      </a:r>
                    </a:p>
                  </a:txBody>
                  <a:tcPr>
                    <a:solidFill>
                      <a:srgbClr val="143D2F"/>
                    </a:solidFill>
                  </a:tcPr>
                </a:tc>
                <a:tc>
                  <a:txBody>
                    <a:bodyPr lIns="54864" rIns="54864" tIns="18288" bIns="18288" wrap="square" anchor="ctr"/>
                    <a:lstStyle/>
                    <a:p>
                      <a:pPr algn="l"/>
                      <a:r>
                        <a:rPr sz="850" b="1">
                          <a:solidFill>
                            <a:srgbClr val="FFFFFF"/>
                          </a:solidFill>
                          <a:latin typeface="Calibri"/>
                        </a:rPr>
                        <a:t>spread</a:t>
                      </a:r>
                    </a:p>
                  </a:txBody>
                  <a:tcPr>
                    <a:solidFill>
                      <a:srgbClr val="143D2F"/>
                    </a:solidFill>
                  </a:tcPr>
                </a:tc>
              </a:tr>
              <a:tr h="283464">
                <a:tc>
                  <a:txBody>
                    <a:bodyPr lIns="54864" rIns="54864" tIns="18288" bIns="18288" wrap="square" anchor="ctr"/>
                    <a:lstStyle/>
                    <a:p>
                      <a:pPr algn="l"/>
                      <a:r>
                        <a:rPr sz="850" b="0">
                          <a:solidFill>
                            <a:srgbClr val="000000"/>
                          </a:solidFill>
                          <a:latin typeface="Calibri"/>
                        </a:rPr>
                        <a:t>XT205-S2 · MOT</a:t>
                      </a:r>
                    </a:p>
                  </a:txBody>
                  <a:tcPr/>
                </a:tc>
                <a:tc>
                  <a:txBody>
                    <a:bodyPr lIns="54864" rIns="54864" tIns="18288" bIns="18288" wrap="square" anchor="ctr"/>
                    <a:lstStyle/>
                    <a:p>
                      <a:pPr algn="l"/>
                      <a:r>
                        <a:rPr sz="850" b="0">
                          <a:solidFill>
                            <a:srgbClr val="000000"/>
                          </a:solidFill>
                          <a:latin typeface="Calibri"/>
                        </a:rPr>
                        <a:t>3.210 GPa</a:t>
                      </a:r>
                    </a:p>
                  </a:txBody>
                  <a:tcPr/>
                </a:tc>
                <a:tc>
                  <a:txBody>
                    <a:bodyPr lIns="54864" rIns="54864" tIns="18288" bIns="18288" wrap="square" anchor="ctr"/>
                    <a:lstStyle/>
                    <a:p>
                      <a:pPr algn="l"/>
                      <a:r>
                        <a:rPr sz="850" b="0">
                          <a:solidFill>
                            <a:srgbClr val="000000"/>
                          </a:solidFill>
                          <a:latin typeface="Calibri"/>
                        </a:rPr>
                        <a:t>3.229 GPa</a:t>
                      </a:r>
                    </a:p>
                  </a:txBody>
                  <a:tcPr/>
                </a:tc>
                <a:tc>
                  <a:txBody>
                    <a:bodyPr lIns="54864" rIns="54864" tIns="18288" bIns="18288" wrap="square" anchor="ctr"/>
                    <a:lstStyle/>
                    <a:p>
                      <a:pPr algn="l"/>
                      <a:r>
                        <a:rPr sz="850" b="0">
                          <a:solidFill>
                            <a:srgbClr val="000000"/>
                          </a:solidFill>
                          <a:latin typeface="Calibri"/>
                        </a:rPr>
                        <a:t>0.00–0.41 %</a:t>
                      </a:r>
                    </a:p>
                  </a:txBody>
                  <a:tcPr/>
                </a:tc>
                <a:tc>
                  <a:txBody>
                    <a:bodyPr lIns="54864" rIns="54864" tIns="18288" bIns="18288" wrap="square" anchor="ctr"/>
                    <a:lstStyle/>
                    <a:p>
                      <a:pPr algn="l"/>
                      <a:r>
                        <a:rPr sz="850" b="0">
                          <a:solidFill>
                            <a:srgbClr val="000000"/>
                          </a:solidFill>
                          <a:latin typeface="Calibri"/>
                        </a:rPr>
                        <a:t>0.6 %</a:t>
                      </a:r>
                    </a:p>
                  </a:txBody>
                  <a:tcPr/>
                </a:tc>
              </a:tr>
              <a:tr h="283464">
                <a:tc>
                  <a:txBody>
                    <a:bodyPr lIns="54864" rIns="54864" tIns="18288" bIns="18288" wrap="square" anchor="ctr"/>
                    <a:lstStyle/>
                    <a:p>
                      <a:pPr algn="l"/>
                      <a:r>
                        <a:rPr sz="850" b="0">
                          <a:solidFill>
                            <a:srgbClr val="000000"/>
                          </a:solidFill>
                          <a:latin typeface="Calibri"/>
                        </a:rPr>
                        <a:t>S34 · ours</a:t>
                      </a:r>
                    </a:p>
                  </a:txBody>
                  <a:tcPr/>
                </a:tc>
                <a:tc>
                  <a:txBody>
                    <a:bodyPr lIns="54864" rIns="54864" tIns="18288" bIns="18288" wrap="square" anchor="ctr"/>
                    <a:lstStyle/>
                    <a:p>
                      <a:pPr algn="l"/>
                      <a:r>
                        <a:rPr sz="850" b="0">
                          <a:solidFill>
                            <a:srgbClr val="000000"/>
                          </a:solidFill>
                          <a:latin typeface="Calibri"/>
                        </a:rPr>
                        <a:t>3.075 GPa</a:t>
                      </a:r>
                    </a:p>
                  </a:txBody>
                  <a:tcPr/>
                </a:tc>
                <a:tc>
                  <a:txBody>
                    <a:bodyPr lIns="54864" rIns="54864" tIns="18288" bIns="18288" wrap="square" anchor="ctr"/>
                    <a:lstStyle/>
                    <a:p>
                      <a:pPr algn="l"/>
                      <a:r>
                        <a:rPr sz="850" b="0">
                          <a:solidFill>
                            <a:srgbClr val="000000"/>
                          </a:solidFill>
                          <a:latin typeface="Calibri"/>
                        </a:rPr>
                        <a:t>3.451 GPa</a:t>
                      </a:r>
                    </a:p>
                  </a:txBody>
                  <a:tcPr/>
                </a:tc>
                <a:tc>
                  <a:txBody>
                    <a:bodyPr lIns="54864" rIns="54864" tIns="18288" bIns="18288" wrap="square" anchor="ctr"/>
                    <a:lstStyle/>
                    <a:p>
                      <a:pPr algn="l"/>
                      <a:r>
                        <a:rPr sz="850" b="0">
                          <a:solidFill>
                            <a:srgbClr val="000000"/>
                          </a:solidFill>
                          <a:latin typeface="Calibri"/>
                        </a:rPr>
                        <a:t>0.26–0.58 %</a:t>
                      </a:r>
                    </a:p>
                  </a:txBody>
                  <a:tcPr/>
                </a:tc>
                <a:tc>
                  <a:txBody>
                    <a:bodyPr lIns="54864" rIns="54864" tIns="18288" bIns="18288" wrap="square" anchor="ctr"/>
                    <a:lstStyle/>
                    <a:p>
                      <a:pPr algn="l"/>
                      <a:r>
                        <a:rPr sz="850" b="0">
                          <a:solidFill>
                            <a:srgbClr val="000000"/>
                          </a:solidFill>
                          <a:latin typeface="Calibri"/>
                        </a:rPr>
                        <a:t>12.2 %</a:t>
                      </a:r>
                    </a:p>
                  </a:txBody>
                  <a:tcPr/>
                </a:tc>
              </a:tr>
              <a:tr h="283464">
                <a:tc>
                  <a:txBody>
                    <a:bodyPr lIns="54864" rIns="54864" tIns="18288" bIns="18288" wrap="square" anchor="ctr"/>
                    <a:lstStyle/>
                    <a:p>
                      <a:pPr algn="l"/>
                      <a:r>
                        <a:rPr sz="850" b="0">
                          <a:solidFill>
                            <a:srgbClr val="000000"/>
                          </a:solidFill>
                          <a:latin typeface="Calibri"/>
                        </a:rPr>
                        <a:t>S33 · ours</a:t>
                      </a:r>
                    </a:p>
                  </a:txBody>
                  <a:tcPr/>
                </a:tc>
                <a:tc>
                  <a:txBody>
                    <a:bodyPr lIns="54864" rIns="54864" tIns="18288" bIns="18288" wrap="square" anchor="ctr"/>
                    <a:lstStyle/>
                    <a:p>
                      <a:pPr algn="l"/>
                      <a:r>
                        <a:rPr sz="850" b="0">
                          <a:solidFill>
                            <a:srgbClr val="000000"/>
                          </a:solidFill>
                          <a:latin typeface="Calibri"/>
                        </a:rPr>
                        <a:t>2.932 GPa</a:t>
                      </a:r>
                    </a:p>
                  </a:txBody>
                  <a:tcPr/>
                </a:tc>
                <a:tc>
                  <a:txBody>
                    <a:bodyPr lIns="54864" rIns="54864" tIns="18288" bIns="18288" wrap="square" anchor="ctr"/>
                    <a:lstStyle/>
                    <a:p>
                      <a:pPr algn="l"/>
                      <a:r>
                        <a:rPr sz="850" b="0">
                          <a:solidFill>
                            <a:srgbClr val="000000"/>
                          </a:solidFill>
                          <a:latin typeface="Calibri"/>
                        </a:rPr>
                        <a:t>3.174 GPa</a:t>
                      </a:r>
                    </a:p>
                  </a:txBody>
                  <a:tcPr/>
                </a:tc>
                <a:tc>
                  <a:txBody>
                    <a:bodyPr lIns="54864" rIns="54864" tIns="18288" bIns="18288" wrap="square" anchor="ctr"/>
                    <a:lstStyle/>
                    <a:p>
                      <a:pPr algn="l"/>
                      <a:r>
                        <a:rPr sz="850" b="0">
                          <a:solidFill>
                            <a:srgbClr val="000000"/>
                          </a:solidFill>
                          <a:latin typeface="Calibri"/>
                        </a:rPr>
                        <a:t>0.23–0.59 %</a:t>
                      </a:r>
                    </a:p>
                  </a:txBody>
                  <a:tcPr/>
                </a:tc>
                <a:tc>
                  <a:txBody>
                    <a:bodyPr lIns="54864" rIns="54864" tIns="18288" bIns="18288" wrap="square" anchor="ctr"/>
                    <a:lstStyle/>
                    <a:p>
                      <a:pPr algn="l"/>
                      <a:r>
                        <a:rPr sz="850" b="0">
                          <a:solidFill>
                            <a:srgbClr val="000000"/>
                          </a:solidFill>
                          <a:latin typeface="Calibri"/>
                        </a:rPr>
                        <a:t>8.2 %</a:t>
                      </a:r>
                    </a:p>
                  </a:txBody>
                  <a:tcPr/>
                </a:tc>
              </a:tr>
              <a:tr h="283464">
                <a:tc>
                  <a:txBody>
                    <a:bodyPr lIns="54864" rIns="54864" tIns="18288" bIns="18288" wrap="square" anchor="ctr"/>
                    <a:lstStyle/>
                    <a:p>
                      <a:pPr algn="l"/>
                      <a:r>
                        <a:rPr sz="850" b="0">
                          <a:solidFill>
                            <a:srgbClr val="000000"/>
                          </a:solidFill>
                          <a:latin typeface="Calibri"/>
                        </a:rPr>
                        <a:t>MOT vs S34</a:t>
                      </a:r>
                    </a:p>
                  </a:txBody>
                  <a:tcPr/>
                </a:tc>
                <a:tc>
                  <a:txBody>
                    <a:bodyPr lIns="54864" rIns="54864" tIns="18288" bIns="18288" wrap="square" anchor="ctr"/>
                    <a:lstStyle/>
                    <a:p>
                      <a:pPr algn="l"/>
                      <a:r>
                        <a:rPr sz="850" b="0">
                          <a:solidFill>
                            <a:srgbClr val="000000"/>
                          </a:solidFill>
                          <a:latin typeface="Calibri"/>
                        </a:rPr>
                        <a:t>+4.4 %</a:t>
                      </a:r>
                    </a:p>
                  </a:txBody>
                  <a:tcPr/>
                </a:tc>
                <a:tc>
                  <a:txBody>
                    <a:bodyPr lIns="54864" rIns="54864" tIns="18288" bIns="18288" wrap="square" anchor="ctr"/>
                    <a:lstStyle/>
                    <a:p>
                      <a:pPr algn="l"/>
                      <a:r>
                        <a:rPr sz="850" b="0">
                          <a:solidFill>
                            <a:srgbClr val="000000"/>
                          </a:solidFill>
                          <a:latin typeface="Calibri"/>
                        </a:rPr>
                        <a:t>-6.4 %</a:t>
                      </a:r>
                    </a:p>
                  </a:txBody>
                  <a:tcPr/>
                </a:tc>
                <a:tc>
                  <a:txBody>
                    <a:bodyPr lIns="54864" rIns="54864" tIns="18288" bIns="18288" wrap="square" anchor="ctr"/>
                    <a:lstStyle/>
                    <a:p>
                      <a:pPr algn="l"/>
                      <a:r>
                        <a:rPr sz="850" b="0">
                          <a:solidFill>
                            <a:srgbClr val="000000"/>
                          </a:solidFill>
                          <a:latin typeface="Calibri"/>
                        </a:rPr>
                        <a:t>—</a:t>
                      </a:r>
                    </a:p>
                  </a:txBody>
                  <a:tcPr/>
                </a:tc>
                <a:tc>
                  <a:txBody>
                    <a:bodyPr lIns="54864" rIns="54864" tIns="18288" bIns="18288" wrap="square" anchor="ctr"/>
                    <a:lstStyle/>
                    <a:p>
                      <a:pPr algn="l"/>
                      <a:r>
                        <a:rPr sz="850" b="0">
                          <a:solidFill>
                            <a:srgbClr val="000000"/>
                          </a:solidFill>
                          <a:latin typeface="Calibri"/>
                        </a:rPr>
                        <a:t>—</a:t>
                      </a:r>
                    </a:p>
                  </a:txBody>
                  <a:tcPr/>
                </a:tc>
              </a:tr>
            </a:tbl>
          </a:graphicData>
        </a:graphic>
      </p:graphicFrame>
      <p:sp>
        <p:nvSpPr>
          <p:cNvPr id="8" name="TextBox 7"/>
          <p:cNvSpPr txBox="1"/>
          <p:nvPr/>
        </p:nvSpPr>
        <p:spPr>
          <a:xfrm>
            <a:off x="6263640" y="4096512"/>
            <a:ext cx="27432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XT-205 curve has no toe</a:t>
            </a:r>
          </a:p>
        </p:txBody>
      </p:sp>
      <p:sp>
        <p:nvSpPr>
          <p:cNvPr id="9" name="TextBox 8"/>
          <p:cNvSpPr txBox="1"/>
          <p:nvPr/>
        </p:nvSpPr>
        <p:spPr>
          <a:xfrm>
            <a:off x="6263640" y="4443984"/>
            <a:ext cx="2743200" cy="1417320"/>
          </a:xfrm>
          <a:prstGeom prst="rect">
            <a:avLst/>
          </a:prstGeom>
          <a:noFill/>
        </p:spPr>
        <p:txBody>
          <a:bodyPr wrap="square" lIns="45720" rIns="45720" tIns="18288" bIns="18288" anchor="t">
            <a:spAutoFit/>
          </a:bodyPr>
          <a:lstStyle/>
          <a:p>
            <a:pPr algn="l"/>
            <a:r>
              <a:rPr sz="950" b="0" i="0">
                <a:solidFill>
                  <a:srgbClr val="000000"/>
                </a:solidFill>
                <a:latin typeface="Calibri"/>
              </a:rPr>
              <a:t>Their steepest straight run is 0.00–0.41 % — the fixed window, near enough. Their two methods differ by 0.6 %. Their record is simply straight from the origin.</a:t>
            </a:r>
          </a:p>
        </p:txBody>
      </p:sp>
      <p:sp>
        <p:nvSpPr>
          <p:cNvPr id="10" name="TextBox 9"/>
          <p:cNvSpPr txBox="1"/>
          <p:nvPr/>
        </p:nvSpPr>
        <p:spPr>
          <a:xfrm>
            <a:off x="9189720" y="4096512"/>
            <a:ext cx="26517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PPD-UTM curve does</a:t>
            </a:r>
          </a:p>
        </p:txBody>
      </p:sp>
      <p:sp>
        <p:nvSpPr>
          <p:cNvPr id="11" name="TextBox 10"/>
          <p:cNvSpPr txBox="1"/>
          <p:nvPr/>
        </p:nvSpPr>
        <p:spPr>
          <a:xfrm>
            <a:off x="9189720" y="4443984"/>
            <a:ext cx="2651760" cy="1417320"/>
          </a:xfrm>
          <a:prstGeom prst="rect">
            <a:avLst/>
          </a:prstGeom>
          <a:noFill/>
        </p:spPr>
        <p:txBody>
          <a:bodyPr wrap="square" lIns="45720" rIns="45720" tIns="18288" bIns="18288" anchor="t">
            <a:spAutoFit/>
          </a:bodyPr>
          <a:lstStyle/>
          <a:p>
            <a:pPr algn="l"/>
            <a:r>
              <a:rPr sz="950" b="0" i="0">
                <a:solidFill>
                  <a:srgbClr val="000000"/>
                </a:solidFill>
                <a:latin typeface="Calibri"/>
              </a:rPr>
              <a:t>Ours dips to 2.7 GPa near 0.15 % and is steepest only at 0.26–0.58 %. That is grip seating still working through the load train after the preload — the FW grip-seating experiment, visible.</a:t>
            </a:r>
          </a:p>
        </p:txBody>
      </p:sp>
      <p:sp>
        <p:nvSpPr>
          <p:cNvPr id="12" name="Rectangle 11"/>
          <p:cNvSpPr/>
          <p:nvPr/>
        </p:nvSpPr>
        <p:spPr>
          <a:xfrm>
            <a:off x="365760" y="5943600"/>
            <a:ext cx="11475720" cy="420624"/>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Both of their numbers (3.210 and 3.229 GPa) fall INSIDE our own 45 mm bracket of 3.174–3.451 GPa. Quote a modulus with the method attached or it means nothing.</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The steepest-straight-run search is utm_analysis._steepest_straight_run — the app's own function, run here on the XT-205's record as well as on ours, so the comparison is of machines and not of arithmetic.</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326</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WHAT THE SPEED DIFFERENCE PREDICTS</a:t>
            </a:r>
          </a:p>
        </p:txBody>
      </p:sp>
      <p:sp>
        <p:nvSpPr>
          <p:cNvPr id="5" name="TextBox 4"/>
          <p:cNvSpPr txBox="1"/>
          <p:nvPr/>
        </p:nvSpPr>
        <p:spPr>
          <a:xfrm>
            <a:off x="411480" y="969264"/>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S34 was pulled 3.0× faster than XT205-S2 at the crosshead. PLA is rate-sensitive, so that is the first thing to suspect for the slope gap on the previous slide. It is worth doing the arithmetic before believing it.</a:t>
            </a:r>
          </a:p>
        </p:txBody>
      </p:sp>
      <p:sp>
        <p:nvSpPr>
          <p:cNvPr id="6" name="TextBox 5"/>
          <p:cNvSpPr txBox="1"/>
          <p:nvPr/>
        </p:nvSpPr>
        <p:spPr>
          <a:xfrm>
            <a:off x="411480" y="138988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crosshead ratio is not the ratio that matters</a:t>
            </a:r>
          </a:p>
        </p:txBody>
      </p:sp>
      <p:graphicFrame>
        <p:nvGraphicFramePr>
          <p:cNvPr id="7" name="Table 6"/>
          <p:cNvGraphicFramePr>
            <a:graphicFrameLocks noGrp="1"/>
          </p:cNvGraphicFramePr>
          <p:nvPr/>
        </p:nvGraphicFramePr>
        <p:xfrm>
          <a:off x="411480" y="1737360"/>
          <a:ext cx="5623559" cy="1298448"/>
        </p:xfrm>
        <a:graphic>
          <a:graphicData uri="http://schemas.openxmlformats.org/drawingml/2006/table">
            <a:tbl>
              <a:tblPr firstRow="1" bandRow="1">
                <a:tableStyleId>{5C22544A-7EE6-4342-B048-85BDC9FD1C3A}</a:tableStyleId>
              </a:tblPr>
              <a:tblGrid>
                <a:gridCol w="2096920"/>
                <a:gridCol w="1334404"/>
                <a:gridCol w="1334404"/>
                <a:gridCol w="857831"/>
              </a:tblGrid>
              <a:tr h="324612">
                <a:tc>
                  <a:txBody>
                    <a:bodyPr lIns="54864" rIns="54864" tIns="18288" bIns="18288" wrap="square" anchor="ctr"/>
                    <a:lstStyle/>
                    <a:p>
                      <a:pPr algn="l"/>
                      <a:r>
                        <a:rPr sz="950" b="1">
                          <a:solidFill>
                            <a:srgbClr val="FFFFFF"/>
                          </a:solidFill>
                          <a:latin typeface="Calibri"/>
                        </a:rPr>
                        <a:t/>
                      </a:r>
                    </a:p>
                  </a:txBody>
                  <a:tcPr>
                    <a:solidFill>
                      <a:srgbClr val="143D2F"/>
                    </a:solidFill>
                  </a:tcPr>
                </a:tc>
                <a:tc>
                  <a:txBody>
                    <a:bodyPr lIns="54864" rIns="54864" tIns="18288" bIns="18288" wrap="square" anchor="ctr"/>
                    <a:lstStyle/>
                    <a:p>
                      <a:pPr algn="l"/>
                      <a:r>
                        <a:rPr sz="950" b="1">
                          <a:solidFill>
                            <a:srgbClr val="FFFFFF"/>
                          </a:solidFill>
                          <a:latin typeface="Calibri"/>
                        </a:rPr>
                        <a:t>XT205-S2</a:t>
                      </a:r>
                    </a:p>
                  </a:txBody>
                  <a:tcPr>
                    <a:solidFill>
                      <a:srgbClr val="143D2F"/>
                    </a:solidFill>
                  </a:tcPr>
                </a:tc>
                <a:tc>
                  <a:txBody>
                    <a:bodyPr lIns="54864" rIns="54864" tIns="18288" bIns="18288" wrap="square" anchor="ctr"/>
                    <a:lstStyle/>
                    <a:p>
                      <a:pPr algn="l"/>
                      <a:r>
                        <a:rPr sz="950" b="1">
                          <a:solidFill>
                            <a:srgbClr val="FFFFFF"/>
                          </a:solidFill>
                          <a:latin typeface="Calibri"/>
                        </a:rPr>
                        <a:t>S34</a:t>
                      </a:r>
                    </a:p>
                  </a:txBody>
                  <a:tcPr>
                    <a:solidFill>
                      <a:srgbClr val="143D2F"/>
                    </a:solidFill>
                  </a:tcPr>
                </a:tc>
                <a:tc>
                  <a:txBody>
                    <a:bodyPr lIns="54864" rIns="54864" tIns="18288" bIns="18288" wrap="square" anchor="ctr"/>
                    <a:lstStyle/>
                    <a:p>
                      <a:pPr algn="l"/>
                      <a:r>
                        <a:rPr sz="950" b="1">
                          <a:solidFill>
                            <a:srgbClr val="FFFFFF"/>
                          </a:solidFill>
                          <a:latin typeface="Calibri"/>
                        </a:rPr>
                        <a:t>ratio</a:t>
                      </a:r>
                    </a:p>
                  </a:txBody>
                  <a:tcPr>
                    <a:solidFill>
                      <a:srgbClr val="143D2F"/>
                    </a:solidFill>
                  </a:tcPr>
                </a:tc>
              </a:tr>
              <a:tr h="324612">
                <a:tc>
                  <a:txBody>
                    <a:bodyPr lIns="54864" rIns="54864" tIns="18288" bIns="18288" wrap="square" anchor="ctr"/>
                    <a:lstStyle/>
                    <a:p>
                      <a:pPr algn="l"/>
                      <a:r>
                        <a:rPr sz="900" b="0">
                          <a:solidFill>
                            <a:srgbClr val="000000"/>
                          </a:solidFill>
                          <a:latin typeface="Calibri"/>
                        </a:rPr>
                        <a:t>crosshead</a:t>
                      </a:r>
                    </a:p>
                  </a:txBody>
                  <a:tcPr/>
                </a:tc>
                <a:tc>
                  <a:txBody>
                    <a:bodyPr lIns="54864" rIns="54864" tIns="18288" bIns="18288" wrap="square" anchor="ctr"/>
                    <a:lstStyle/>
                    <a:p>
                      <a:pPr algn="l"/>
                      <a:r>
                        <a:rPr sz="900" b="0">
                          <a:solidFill>
                            <a:srgbClr val="000000"/>
                          </a:solidFill>
                          <a:latin typeface="Calibri"/>
                        </a:rPr>
                        <a:t>2.00 mm/min</a:t>
                      </a:r>
                    </a:p>
                  </a:txBody>
                  <a:tcPr/>
                </a:tc>
                <a:tc>
                  <a:txBody>
                    <a:bodyPr lIns="54864" rIns="54864" tIns="18288" bIns="18288" wrap="square" anchor="ctr"/>
                    <a:lstStyle/>
                    <a:p>
                      <a:pPr algn="l"/>
                      <a:r>
                        <a:rPr sz="900" b="0">
                          <a:solidFill>
                            <a:srgbClr val="000000"/>
                          </a:solidFill>
                          <a:latin typeface="Calibri"/>
                        </a:rPr>
                        <a:t>5.98 mm/min</a:t>
                      </a:r>
                    </a:p>
                  </a:txBody>
                  <a:tcPr/>
                </a:tc>
                <a:tc>
                  <a:txBody>
                    <a:bodyPr lIns="54864" rIns="54864" tIns="18288" bIns="18288" wrap="square" anchor="ctr"/>
                    <a:lstStyle/>
                    <a:p>
                      <a:pPr algn="l"/>
                      <a:r>
                        <a:rPr sz="900" b="0">
                          <a:solidFill>
                            <a:srgbClr val="000000"/>
                          </a:solidFill>
                          <a:latin typeface="Calibri"/>
                        </a:rPr>
                        <a:t>2.99×</a:t>
                      </a:r>
                    </a:p>
                  </a:txBody>
                  <a:tcPr/>
                </a:tc>
              </a:tr>
              <a:tr h="324612">
                <a:tc>
                  <a:txBody>
                    <a:bodyPr lIns="54864" rIns="54864" tIns="18288" bIns="18288" wrap="square" anchor="ctr"/>
                    <a:lstStyle/>
                    <a:p>
                      <a:pPr algn="l"/>
                      <a:r>
                        <a:rPr sz="900" b="0">
                          <a:solidFill>
                            <a:srgbClr val="000000"/>
                          </a:solidFill>
                          <a:latin typeface="Calibri"/>
                        </a:rPr>
                        <a:t>share reaching the gauge</a:t>
                      </a:r>
                    </a:p>
                  </a:txBody>
                  <a:tcPr/>
                </a:tc>
                <a:tc>
                  <a:txBody>
                    <a:bodyPr lIns="54864" rIns="54864" tIns="18288" bIns="18288" wrap="square" anchor="ctr"/>
                    <a:lstStyle/>
                    <a:p>
                      <a:pPr algn="l"/>
                      <a:r>
                        <a:rPr sz="900" b="0">
                          <a:solidFill>
                            <a:srgbClr val="000000"/>
                          </a:solidFill>
                          <a:latin typeface="Calibri"/>
                        </a:rPr>
                        <a:t>45 %</a:t>
                      </a:r>
                    </a:p>
                  </a:txBody>
                  <a:tcPr/>
                </a:tc>
                <a:tc>
                  <a:txBody>
                    <a:bodyPr lIns="54864" rIns="54864" tIns="18288" bIns="18288" wrap="square" anchor="ctr"/>
                    <a:lstStyle/>
                    <a:p>
                      <a:pPr algn="l"/>
                      <a:r>
                        <a:rPr sz="900" b="0">
                          <a:solidFill>
                            <a:srgbClr val="000000"/>
                          </a:solidFill>
                          <a:latin typeface="Calibri"/>
                        </a:rPr>
                        <a:t>33 %</a:t>
                      </a:r>
                    </a:p>
                  </a:txBody>
                  <a:tcPr/>
                </a:tc>
                <a:tc>
                  <a:txBody>
                    <a:bodyPr lIns="54864" rIns="54864" tIns="18288" bIns="18288" wrap="square" anchor="ctr"/>
                    <a:lstStyle/>
                    <a:p>
                      <a:pPr algn="l"/>
                      <a:r>
                        <a:rPr sz="900" b="0">
                          <a:solidFill>
                            <a:srgbClr val="000000"/>
                          </a:solidFill>
                          <a:latin typeface="Calibri"/>
                        </a:rPr>
                        <a:t>1.38×</a:t>
                      </a:r>
                    </a:p>
                  </a:txBody>
                  <a:tcPr/>
                </a:tc>
              </a:tr>
              <a:tr h="324612">
                <a:tc>
                  <a:txBody>
                    <a:bodyPr lIns="54864" rIns="54864" tIns="18288" bIns="18288" wrap="square" anchor="ctr"/>
                    <a:lstStyle/>
                    <a:p>
                      <a:pPr algn="l"/>
                      <a:r>
                        <a:rPr sz="900" b="0">
                          <a:solidFill>
                            <a:srgbClr val="000000"/>
                          </a:solidFill>
                          <a:latin typeface="Calibri"/>
                        </a:rPr>
                        <a:t>GAUGE STRAIN RATE</a:t>
                      </a:r>
                    </a:p>
                  </a:txBody>
                  <a:tcPr/>
                </a:tc>
                <a:tc>
                  <a:txBody>
                    <a:bodyPr lIns="54864" rIns="54864" tIns="18288" bIns="18288" wrap="square" anchor="ctr"/>
                    <a:lstStyle/>
                    <a:p>
                      <a:pPr algn="l"/>
                      <a:r>
                        <a:rPr sz="900" b="0">
                          <a:solidFill>
                            <a:srgbClr val="000000"/>
                          </a:solidFill>
                          <a:latin typeface="Calibri"/>
                        </a:rPr>
                        <a:t>2.596e-04 /s</a:t>
                      </a:r>
                    </a:p>
                  </a:txBody>
                  <a:tcPr/>
                </a:tc>
                <a:tc>
                  <a:txBody>
                    <a:bodyPr lIns="54864" rIns="54864" tIns="18288" bIns="18288" wrap="square" anchor="ctr"/>
                    <a:lstStyle/>
                    <a:p>
                      <a:pPr algn="l"/>
                      <a:r>
                        <a:rPr sz="900" b="0">
                          <a:solidFill>
                            <a:srgbClr val="000000"/>
                          </a:solidFill>
                          <a:latin typeface="Calibri"/>
                        </a:rPr>
                        <a:t>3.095e-04 /s</a:t>
                      </a:r>
                    </a:p>
                  </a:txBody>
                  <a:tcPr/>
                </a:tc>
                <a:tc>
                  <a:txBody>
                    <a:bodyPr lIns="54864" rIns="54864" tIns="18288" bIns="18288" wrap="square" anchor="ctr"/>
                    <a:lstStyle/>
                    <a:p>
                      <a:pPr algn="l"/>
                      <a:r>
                        <a:rPr sz="900" b="0">
                          <a:solidFill>
                            <a:srgbClr val="000000"/>
                          </a:solidFill>
                          <a:latin typeface="Calibri"/>
                        </a:rPr>
                        <a:t>1.193×</a:t>
                      </a:r>
                    </a:p>
                  </a:txBody>
                  <a:tcPr/>
                </a:tc>
              </a:tr>
            </a:tbl>
          </a:graphicData>
        </a:graphic>
      </p:graphicFrame>
      <p:sp>
        <p:nvSpPr>
          <p:cNvPr id="8" name="TextBox 7"/>
          <p:cNvSpPr txBox="1"/>
          <p:nvPr/>
        </p:nvSpPr>
        <p:spPr>
          <a:xfrm>
            <a:off x="411480" y="3200400"/>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two ratios are so different</a:t>
            </a:r>
          </a:p>
        </p:txBody>
      </p:sp>
      <p:sp>
        <p:nvSpPr>
          <p:cNvPr id="9" name="TextBox 8"/>
          <p:cNvSpPr txBox="1"/>
          <p:nvPr/>
        </p:nvSpPr>
        <p:spPr>
          <a:xfrm>
            <a:off x="411480" y="3547872"/>
            <a:ext cx="5623560" cy="1417320"/>
          </a:xfrm>
          <a:prstGeom prst="rect">
            <a:avLst/>
          </a:prstGeom>
          <a:noFill/>
        </p:spPr>
        <p:txBody>
          <a:bodyPr wrap="square" lIns="45720" rIns="45720" tIns="18288" bIns="18288" anchor="t">
            <a:spAutoFit/>
          </a:bodyPr>
          <a:lstStyle/>
          <a:p>
            <a:pPr algn="l"/>
            <a:r>
              <a:rPr sz="950" b="0" i="0">
                <a:solidFill>
                  <a:srgbClr val="000000"/>
                </a:solidFill>
                <a:latin typeface="Calibri"/>
              </a:rPr>
              <a:t>A specimen does not feel the crosshead; it feels the strain rate in its own gauge. The XT-205 delivers 45 % of its travel there and the PPD-UTM 33 %, so the stiffer frame hands over a larger share and claws back most of the 3.0× speed handicap. What is left is 1.193× — a factor of 2.5 smaller than the speeds suggest, and only 0.076 of a DECADE.</a:t>
            </a:r>
          </a:p>
        </p:txBody>
      </p:sp>
      <p:sp>
        <p:nvSpPr>
          <p:cNvPr id="10" name="TextBox 9"/>
          <p:cNvSpPr txBox="1"/>
          <p:nvPr/>
        </p:nvSpPr>
        <p:spPr>
          <a:xfrm>
            <a:off x="6263640" y="1389888"/>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how much modulus should that buy?</a:t>
            </a:r>
          </a:p>
        </p:txBody>
      </p:sp>
      <p:graphicFrame>
        <p:nvGraphicFramePr>
          <p:cNvPr id="11" name="Table 10"/>
          <p:cNvGraphicFramePr>
            <a:graphicFrameLocks noGrp="1"/>
          </p:cNvGraphicFramePr>
          <p:nvPr/>
        </p:nvGraphicFramePr>
        <p:xfrm>
          <a:off x="6263640" y="1737360"/>
          <a:ext cx="5577840" cy="1298448"/>
        </p:xfrm>
        <a:graphic>
          <a:graphicData uri="http://schemas.openxmlformats.org/drawingml/2006/table">
            <a:tbl>
              <a:tblPr firstRow="1" bandRow="1">
                <a:tableStyleId>{5C22544A-7EE6-4342-B048-85BDC9FD1C3A}</a:tableStyleId>
              </a:tblPr>
              <a:tblGrid>
                <a:gridCol w="3200400"/>
                <a:gridCol w="2377440"/>
              </a:tblGrid>
              <a:tr h="259689">
                <a:tc>
                  <a:txBody>
                    <a:bodyPr lIns="54864" rIns="54864" tIns="18288" bIns="18288" wrap="square" anchor="ctr"/>
                    <a:lstStyle/>
                    <a:p>
                      <a:pPr algn="l"/>
                      <a:r>
                        <a:rPr sz="950" b="1">
                          <a:solidFill>
                            <a:srgbClr val="FFFFFF"/>
                          </a:solidFill>
                          <a:latin typeface="Calibri"/>
                        </a:rPr>
                        <a:t>If PLA's E rises…</a:t>
                      </a:r>
                    </a:p>
                  </a:txBody>
                  <a:tcPr>
                    <a:solidFill>
                      <a:srgbClr val="143D2F"/>
                    </a:solidFill>
                  </a:tcPr>
                </a:tc>
                <a:tc>
                  <a:txBody>
                    <a:bodyPr lIns="54864" rIns="54864" tIns="18288" bIns="18288" wrap="square" anchor="ctr"/>
                    <a:lstStyle/>
                    <a:p>
                      <a:pPr algn="l"/>
                      <a:r>
                        <a:rPr sz="950" b="1">
                          <a:solidFill>
                            <a:srgbClr val="FFFFFF"/>
                          </a:solidFill>
                          <a:latin typeface="Calibri"/>
                        </a:rPr>
                        <a:t>…then S34 − XT205-S2 should be</a:t>
                      </a:r>
                    </a:p>
                  </a:txBody>
                  <a:tcPr>
                    <a:solidFill>
                      <a:srgbClr val="143D2F"/>
                    </a:solidFill>
                  </a:tcPr>
                </a:tc>
              </a:tr>
              <a:tr h="259689">
                <a:tc>
                  <a:txBody>
                    <a:bodyPr lIns="54864" rIns="54864" tIns="18288" bIns="18288" wrap="square" anchor="ctr"/>
                    <a:lstStyle/>
                    <a:p>
                      <a:pPr algn="l"/>
                      <a:r>
                        <a:rPr sz="900" b="0">
                          <a:solidFill>
                            <a:srgbClr val="000000"/>
                          </a:solidFill>
                          <a:latin typeface="Calibri"/>
                        </a:rPr>
                        <a:t>3 % per decade of strain rate</a:t>
                      </a:r>
                    </a:p>
                  </a:txBody>
                  <a:tcPr/>
                </a:tc>
                <a:tc>
                  <a:txBody>
                    <a:bodyPr lIns="54864" rIns="54864" tIns="18288" bIns="18288" wrap="square" anchor="ctr"/>
                    <a:lstStyle/>
                    <a:p>
                      <a:pPr algn="l"/>
                      <a:r>
                        <a:rPr sz="900" b="0">
                          <a:solidFill>
                            <a:srgbClr val="000000"/>
                          </a:solidFill>
                          <a:latin typeface="Calibri"/>
                        </a:rPr>
                        <a:t>+0.23 %</a:t>
                      </a:r>
                    </a:p>
                  </a:txBody>
                  <a:tcPr/>
                </a:tc>
              </a:tr>
              <a:tr h="259689">
                <a:tc>
                  <a:txBody>
                    <a:bodyPr lIns="54864" rIns="54864" tIns="18288" bIns="18288" wrap="square" anchor="ctr"/>
                    <a:lstStyle/>
                    <a:p>
                      <a:pPr algn="l"/>
                      <a:r>
                        <a:rPr sz="900" b="0">
                          <a:solidFill>
                            <a:srgbClr val="000000"/>
                          </a:solidFill>
                          <a:latin typeface="Calibri"/>
                        </a:rPr>
                        <a:t>5 % per decade</a:t>
                      </a:r>
                    </a:p>
                  </a:txBody>
                  <a:tcPr/>
                </a:tc>
                <a:tc>
                  <a:txBody>
                    <a:bodyPr lIns="54864" rIns="54864" tIns="18288" bIns="18288" wrap="square" anchor="ctr"/>
                    <a:lstStyle/>
                    <a:p>
                      <a:pPr algn="l"/>
                      <a:r>
                        <a:rPr sz="900" b="0">
                          <a:solidFill>
                            <a:srgbClr val="000000"/>
                          </a:solidFill>
                          <a:latin typeface="Calibri"/>
                        </a:rPr>
                        <a:t>+0.38 %</a:t>
                      </a:r>
                    </a:p>
                  </a:txBody>
                  <a:tcPr/>
                </a:tc>
              </a:tr>
              <a:tr h="259689">
                <a:tc>
                  <a:txBody>
                    <a:bodyPr lIns="54864" rIns="54864" tIns="18288" bIns="18288" wrap="square" anchor="ctr"/>
                    <a:lstStyle/>
                    <a:p>
                      <a:pPr algn="l"/>
                      <a:r>
                        <a:rPr sz="900" b="0">
                          <a:solidFill>
                            <a:srgbClr val="000000"/>
                          </a:solidFill>
                          <a:latin typeface="Calibri"/>
                        </a:rPr>
                        <a:t>8 % per decade</a:t>
                      </a:r>
                    </a:p>
                  </a:txBody>
                  <a:tcPr/>
                </a:tc>
                <a:tc>
                  <a:txBody>
                    <a:bodyPr lIns="54864" rIns="54864" tIns="18288" bIns="18288" wrap="square" anchor="ctr"/>
                    <a:lstStyle/>
                    <a:p>
                      <a:pPr algn="l"/>
                      <a:r>
                        <a:rPr sz="900" b="0">
                          <a:solidFill>
                            <a:srgbClr val="000000"/>
                          </a:solidFill>
                          <a:latin typeface="Calibri"/>
                        </a:rPr>
                        <a:t>+0.61 %</a:t>
                      </a:r>
                    </a:p>
                  </a:txBody>
                  <a:tcPr/>
                </a:tc>
              </a:tr>
              <a:tr h="259692">
                <a:tc>
                  <a:txBody>
                    <a:bodyPr lIns="54864" rIns="54864" tIns="18288" bIns="18288" wrap="square" anchor="ctr"/>
                    <a:lstStyle/>
                    <a:p>
                      <a:pPr algn="l"/>
                      <a:r>
                        <a:rPr sz="900" b="0">
                          <a:solidFill>
                            <a:srgbClr val="000000"/>
                          </a:solidFill>
                          <a:latin typeface="Calibri"/>
                        </a:rPr>
                        <a:t>10 % per decade (a generous ceiling)</a:t>
                      </a:r>
                    </a:p>
                  </a:txBody>
                  <a:tcPr/>
                </a:tc>
                <a:tc>
                  <a:txBody>
                    <a:bodyPr lIns="54864" rIns="54864" tIns="18288" bIns="18288" wrap="square" anchor="ctr"/>
                    <a:lstStyle/>
                    <a:p>
                      <a:pPr algn="l"/>
                      <a:r>
                        <a:rPr sz="900" b="0">
                          <a:solidFill>
                            <a:srgbClr val="000000"/>
                          </a:solidFill>
                          <a:latin typeface="Calibri"/>
                        </a:rPr>
                        <a:t>+0.76 %</a:t>
                      </a:r>
                    </a:p>
                  </a:txBody>
                  <a:tcPr/>
                </a:tc>
              </a:tr>
            </a:tbl>
          </a:graphicData>
        </a:graphic>
      </p:graphicFrame>
      <p:sp>
        <p:nvSpPr>
          <p:cNvPr id="12" name="TextBox 11"/>
          <p:cNvSpPr txBox="1"/>
          <p:nvPr/>
        </p:nvSpPr>
        <p:spPr>
          <a:xfrm>
            <a:off x="6263640" y="3200400"/>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prediction, stated before looking</a:t>
            </a:r>
          </a:p>
        </p:txBody>
      </p:sp>
      <p:sp>
        <p:nvSpPr>
          <p:cNvPr id="13" name="TextBox 12"/>
          <p:cNvSpPr txBox="1"/>
          <p:nvPr/>
        </p:nvSpPr>
        <p:spPr>
          <a:xfrm>
            <a:off x="6263640" y="3547872"/>
            <a:ext cx="5577840" cy="1417320"/>
          </a:xfrm>
          <a:prstGeom prst="rect">
            <a:avLst/>
          </a:prstGeom>
          <a:noFill/>
        </p:spPr>
        <p:txBody>
          <a:bodyPr wrap="square" lIns="45720" rIns="45720" tIns="18288" bIns="18288" anchor="t">
            <a:spAutoFit/>
          </a:bodyPr>
          <a:lstStyle/>
          <a:p>
            <a:pPr algn="l"/>
            <a:r>
              <a:rPr sz="950" b="0" i="0">
                <a:solidFill>
                  <a:srgbClr val="000000"/>
                </a:solidFill>
                <a:latin typeface="Calibri"/>
              </a:rPr>
              <a:t>DIRECTION: XT205-S2 is the slower specimen, so it should have the LOWER slope. A polymer pulled slowly gives its chains more time to rearrange, and reads softer.
MAGNITUDE: under 1 % on E, whichever rate-sensitivity is assumed. That is the useful part — anything much larger than 1 % is NOT the speed, whatever direction it points in.</a:t>
            </a:r>
          </a:p>
        </p:txBody>
      </p:sp>
      <p:sp>
        <p:nvSpPr>
          <p:cNvPr id="14" name="Rectangle 13"/>
          <p:cNvSpPr/>
          <p:nvPr/>
        </p:nvSpPr>
        <p:spPr>
          <a:xfrm>
            <a:off x="365760" y="4443984"/>
            <a:ext cx="11475720" cy="475488"/>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per-decade figures are literature-typical for PLA, not measured on this rig — which is why the DIRECTION test below carries the argument and the magnitude only bounds it.</a:t>
            </a:r>
          </a:p>
        </p:txBody>
      </p:sp>
      <p:sp>
        <p:nvSpPr>
          <p:cNvPr id="15" name="TextBox 14"/>
          <p:cNvSpPr txBox="1"/>
          <p:nvPr/>
        </p:nvSpPr>
        <p:spPr>
          <a:xfrm>
            <a:off x="411480" y="5047488"/>
            <a:ext cx="11430000" cy="658368"/>
          </a:xfrm>
          <a:prstGeom prst="rect">
            <a:avLst/>
          </a:prstGeom>
          <a:noFill/>
        </p:spPr>
        <p:txBody>
          <a:bodyPr wrap="square" lIns="45720" rIns="45720" tIns="18288" bIns="18288" anchor="t">
            <a:spAutoFit/>
          </a:bodyPr>
          <a:lstStyle/>
          <a:p>
            <a:pPr algn="l"/>
            <a:r>
              <a:rPr sz="1000" b="0" i="0">
                <a:solidFill>
                  <a:srgbClr val="000000"/>
                </a:solidFill>
                <a:latin typeface="Calibri"/>
              </a:rPr>
              <a:t>Note what this already says about the planned experiment. Running the PPD-UTM at 2 mm/min matches XT205-S2's COMMANDED speed but not its strain rate: our gauge would see 1.035e-04 /s, which is 0.40× theirs — an overshoot in the other direction. To match the RATE the PPD-UTM would run 5.02 mm/min.</a:t>
            </a:r>
          </a:p>
        </p:txBody>
      </p:sp>
      <p:sp>
        <p:nvSpPr>
          <p:cNvPr id="16" name="TextBox 15"/>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Gauge strain rate is fitted over the same 0.05–0.35 % window used everywhere in this block, on the preload-zeroed axis. Share of travel reaching the gauge is from p325.</a:t>
            </a:r>
          </a:p>
        </p:txBody>
      </p:sp>
      <p:sp>
        <p:nvSpPr>
          <p:cNvPr id="17" name="TextBox 1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327</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DID THE SLOPES DIFFER AS PREDICTED?</a:t>
            </a:r>
          </a:p>
        </p:txBody>
      </p:sp>
      <p:sp>
        <p:nvSpPr>
          <p:cNvPr id="5" name="TextBox 4"/>
          <p:cNvSpPr txBox="1"/>
          <p:nvPr/>
        </p:nvSpPr>
        <p:spPr>
          <a:xfrm>
            <a:off x="411480" y="969264"/>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Prediction: S34 stiffer than XT205-S2, by under 1 %. Two fitting methods, two answers — and they do not even agree on the SIGN.</a:t>
            </a:r>
          </a:p>
        </p:txBody>
      </p:sp>
      <p:sp>
        <p:nvSpPr>
          <p:cNvPr id="6" name="TextBox 5"/>
          <p:cNvSpPr txBox="1"/>
          <p:nvPr/>
        </p:nvSpPr>
        <p:spPr>
          <a:xfrm>
            <a:off x="411480" y="1389888"/>
            <a:ext cx="6766560" cy="365760"/>
          </a:xfrm>
          <a:prstGeom prst="rect">
            <a:avLst/>
          </a:prstGeom>
          <a:noFill/>
        </p:spPr>
        <p:txBody>
          <a:bodyPr wrap="square" lIns="45720" rIns="45720" tIns="18288" bIns="18288" anchor="t">
            <a:spAutoFit/>
          </a:bodyPr>
          <a:lstStyle/>
          <a:p>
            <a:pPr algn="l"/>
            <a:r>
              <a:rPr sz="1600" b="0" i="0">
                <a:solidFill>
                  <a:srgbClr val="707070"/>
                </a:solidFill>
                <a:latin typeface="Calibri"/>
              </a:rPr>
              <a:t>Predicted against measured</a:t>
            </a:r>
          </a:p>
        </p:txBody>
      </p:sp>
      <p:graphicFrame>
        <p:nvGraphicFramePr>
          <p:cNvPr id="7" name="Table 6"/>
          <p:cNvGraphicFramePr>
            <a:graphicFrameLocks noGrp="1"/>
          </p:cNvGraphicFramePr>
          <p:nvPr/>
        </p:nvGraphicFramePr>
        <p:xfrm>
          <a:off x="411480" y="1737360"/>
          <a:ext cx="6766558" cy="1298448"/>
        </p:xfrm>
        <a:graphic>
          <a:graphicData uri="http://schemas.openxmlformats.org/drawingml/2006/table">
            <a:tbl>
              <a:tblPr firstRow="1" bandRow="1">
                <a:tableStyleId>{5C22544A-7EE6-4342-B048-85BDC9FD1C3A}</a:tableStyleId>
              </a:tblPr>
              <a:tblGrid>
                <a:gridCol w="2101416"/>
                <a:gridCol w="1092736"/>
                <a:gridCol w="1092736"/>
                <a:gridCol w="1134764"/>
                <a:gridCol w="1344906"/>
              </a:tblGrid>
              <a:tr h="324612">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XT205-S2</a:t>
                      </a:r>
                    </a:p>
                  </a:txBody>
                  <a:tcPr>
                    <a:solidFill>
                      <a:srgbClr val="143D2F"/>
                    </a:solidFill>
                  </a:tcPr>
                </a:tc>
                <a:tc>
                  <a:txBody>
                    <a:bodyPr lIns="54864" rIns="54864" tIns="18288" bIns="18288" wrap="square" anchor="ctr"/>
                    <a:lstStyle/>
                    <a:p>
                      <a:pPr algn="l"/>
                      <a:r>
                        <a:rPr sz="900" b="1">
                          <a:solidFill>
                            <a:srgbClr val="FFFFFF"/>
                          </a:solidFill>
                          <a:latin typeface="Calibri"/>
                        </a:rPr>
                        <a:t>S34</a:t>
                      </a:r>
                    </a:p>
                  </a:txBody>
                  <a:tcPr>
                    <a:solidFill>
                      <a:srgbClr val="143D2F"/>
                    </a:solidFill>
                  </a:tcPr>
                </a:tc>
                <a:tc>
                  <a:txBody>
                    <a:bodyPr lIns="54864" rIns="54864" tIns="18288" bIns="18288" wrap="square" anchor="ctr"/>
                    <a:lstStyle/>
                    <a:p>
                      <a:pPr algn="l"/>
                      <a:r>
                        <a:rPr sz="900" b="1">
                          <a:solidFill>
                            <a:srgbClr val="FFFFFF"/>
                          </a:solidFill>
                          <a:latin typeface="Calibri"/>
                        </a:rPr>
                        <a:t>S34 − XT205-S2</a:t>
                      </a:r>
                    </a:p>
                  </a:txBody>
                  <a:tcPr>
                    <a:solidFill>
                      <a:srgbClr val="143D2F"/>
                    </a:solidFill>
                  </a:tcPr>
                </a:tc>
                <a:tc>
                  <a:txBody>
                    <a:bodyPr lIns="54864" rIns="54864" tIns="18288" bIns="18288" wrap="square" anchor="ctr"/>
                    <a:lstStyle/>
                    <a:p>
                      <a:pPr algn="l"/>
                      <a:r>
                        <a:rPr sz="900" b="1">
                          <a:solidFill>
                            <a:srgbClr val="FFFFFF"/>
                          </a:solidFill>
                          <a:latin typeface="Calibri"/>
                        </a:rPr>
                        <a:t>as predicted?</a:t>
                      </a:r>
                    </a:p>
                  </a:txBody>
                  <a:tcPr>
                    <a:solidFill>
                      <a:srgbClr val="143D2F"/>
                    </a:solidFill>
                  </a:tcPr>
                </a:tc>
              </a:tr>
              <a:tr h="324612">
                <a:tc>
                  <a:txBody>
                    <a:bodyPr lIns="54864" rIns="54864" tIns="18288" bIns="18288" wrap="square" anchor="ctr"/>
                    <a:lstStyle/>
                    <a:p>
                      <a:pPr algn="l"/>
                      <a:r>
                        <a:rPr sz="850" b="0">
                          <a:solidFill>
                            <a:srgbClr val="000000"/>
                          </a:solidFill>
                          <a:latin typeface="Calibri"/>
                        </a:rPr>
                        <a:t>predicted from the strain rate</a:t>
                      </a:r>
                    </a:p>
                  </a:txBody>
                  <a:tcPr/>
                </a:tc>
                <a:tc>
                  <a:txBody>
                    <a:bodyPr lIns="54864" rIns="54864" tIns="18288" bIns="18288" wrap="square" anchor="ctr"/>
                    <a:lstStyle/>
                    <a:p>
                      <a:pPr algn="l"/>
                      <a:r>
                        <a:rPr sz="850" b="0">
                          <a:solidFill>
                            <a:srgbClr val="000000"/>
                          </a:solidFill>
                          <a:latin typeface="Calibri"/>
                        </a:rPr>
                        <a:t>—</a:t>
                      </a:r>
                    </a:p>
                  </a:txBody>
                  <a:tcPr/>
                </a:tc>
                <a:tc>
                  <a:txBody>
                    <a:bodyPr lIns="54864" rIns="54864" tIns="18288" bIns="18288" wrap="square" anchor="ctr"/>
                    <a:lstStyle/>
                    <a:p>
                      <a:pPr algn="l"/>
                      <a:r>
                        <a:rPr sz="850" b="0">
                          <a:solidFill>
                            <a:srgbClr val="000000"/>
                          </a:solidFill>
                          <a:latin typeface="Calibri"/>
                        </a:rPr>
                        <a:t>—</a:t>
                      </a:r>
                    </a:p>
                  </a:txBody>
                  <a:tcPr/>
                </a:tc>
                <a:tc>
                  <a:txBody>
                    <a:bodyPr lIns="54864" rIns="54864" tIns="18288" bIns="18288" wrap="square" anchor="ctr"/>
                    <a:lstStyle/>
                    <a:p>
                      <a:pPr algn="l"/>
                      <a:r>
                        <a:rPr sz="850" b="0">
                          <a:solidFill>
                            <a:srgbClr val="000000"/>
                          </a:solidFill>
                          <a:latin typeface="Calibri"/>
                        </a:rPr>
                        <a:t>+0.38 %  (±)</a:t>
                      </a:r>
                    </a:p>
                  </a:txBody>
                  <a:tcPr/>
                </a:tc>
                <a:tc>
                  <a:txBody>
                    <a:bodyPr lIns="54864" rIns="54864" tIns="18288" bIns="18288" wrap="square" anchor="ctr"/>
                    <a:lstStyle/>
                    <a:p>
                      <a:pPr algn="l"/>
                      <a:r>
                        <a:rPr sz="850" b="0">
                          <a:solidFill>
                            <a:srgbClr val="000000"/>
                          </a:solidFill>
                          <a:latin typeface="Calibri"/>
                        </a:rPr>
                        <a:t>—</a:t>
                      </a:r>
                    </a:p>
                  </a:txBody>
                  <a:tcPr/>
                </a:tc>
              </a:tr>
              <a:tr h="324612">
                <a:tc>
                  <a:txBody>
                    <a:bodyPr lIns="54864" rIns="54864" tIns="18288" bIns="18288" wrap="square" anchor="ctr"/>
                    <a:lstStyle/>
                    <a:p>
                      <a:pPr algn="l"/>
                      <a:r>
                        <a:rPr sz="850" b="0">
                          <a:solidFill>
                            <a:srgbClr val="000000"/>
                          </a:solidFill>
                          <a:latin typeface="Calibri"/>
                        </a:rPr>
                        <a:t>MEASURED, fixed 0.05–0.40 %</a:t>
                      </a:r>
                    </a:p>
                  </a:txBody>
                  <a:tcPr/>
                </a:tc>
                <a:tc>
                  <a:txBody>
                    <a:bodyPr lIns="54864" rIns="54864" tIns="18288" bIns="18288" wrap="square" anchor="ctr"/>
                    <a:lstStyle/>
                    <a:p>
                      <a:pPr algn="l"/>
                      <a:r>
                        <a:rPr sz="850" b="0">
                          <a:solidFill>
                            <a:srgbClr val="000000"/>
                          </a:solidFill>
                          <a:latin typeface="Calibri"/>
                        </a:rPr>
                        <a:t>3.210 GPa</a:t>
                      </a:r>
                    </a:p>
                  </a:txBody>
                  <a:tcPr/>
                </a:tc>
                <a:tc>
                  <a:txBody>
                    <a:bodyPr lIns="54864" rIns="54864" tIns="18288" bIns="18288" wrap="square" anchor="ctr"/>
                    <a:lstStyle/>
                    <a:p>
                      <a:pPr algn="l"/>
                      <a:r>
                        <a:rPr sz="850" b="0">
                          <a:solidFill>
                            <a:srgbClr val="000000"/>
                          </a:solidFill>
                          <a:latin typeface="Calibri"/>
                        </a:rPr>
                        <a:t>3.075 GPa</a:t>
                      </a:r>
                    </a:p>
                  </a:txBody>
                  <a:tcPr/>
                </a:tc>
                <a:tc>
                  <a:txBody>
                    <a:bodyPr lIns="54864" rIns="54864" tIns="18288" bIns="18288" wrap="square" anchor="ctr"/>
                    <a:lstStyle/>
                    <a:p>
                      <a:pPr algn="l"/>
                      <a:r>
                        <a:rPr sz="850" b="0">
                          <a:solidFill>
                            <a:srgbClr val="000000"/>
                          </a:solidFill>
                          <a:latin typeface="Calibri"/>
                        </a:rPr>
                        <a:t>-4.2 %</a:t>
                      </a:r>
                    </a:p>
                  </a:txBody>
                  <a:tcPr/>
                </a:tc>
                <a:tc>
                  <a:txBody>
                    <a:bodyPr lIns="54864" rIns="54864" tIns="18288" bIns="18288" wrap="square" anchor="ctr"/>
                    <a:lstStyle/>
                    <a:p>
                      <a:pPr algn="l"/>
                      <a:r>
                        <a:rPr sz="850" b="0">
                          <a:solidFill>
                            <a:srgbClr val="000000"/>
                          </a:solidFill>
                          <a:latin typeface="Calibri"/>
                        </a:rPr>
                        <a:t>NO — wrong sign</a:t>
                      </a:r>
                    </a:p>
                  </a:txBody>
                  <a:tcPr/>
                </a:tc>
              </a:tr>
              <a:tr h="324612">
                <a:tc>
                  <a:txBody>
                    <a:bodyPr lIns="54864" rIns="54864" tIns="18288" bIns="18288" wrap="square" anchor="ctr"/>
                    <a:lstStyle/>
                    <a:p>
                      <a:pPr algn="l"/>
                      <a:r>
                        <a:rPr sz="850" b="0">
                          <a:solidFill>
                            <a:srgbClr val="000000"/>
                          </a:solidFill>
                          <a:latin typeface="Calibri"/>
                        </a:rPr>
                        <a:t>MEASURED, steepest straight run</a:t>
                      </a:r>
                    </a:p>
                  </a:txBody>
                  <a:tcPr/>
                </a:tc>
                <a:tc>
                  <a:txBody>
                    <a:bodyPr lIns="54864" rIns="54864" tIns="18288" bIns="18288" wrap="square" anchor="ctr"/>
                    <a:lstStyle/>
                    <a:p>
                      <a:pPr algn="l"/>
                      <a:r>
                        <a:rPr sz="850" b="0">
                          <a:solidFill>
                            <a:srgbClr val="000000"/>
                          </a:solidFill>
                          <a:latin typeface="Calibri"/>
                        </a:rPr>
                        <a:t>3.229 GPa</a:t>
                      </a:r>
                    </a:p>
                  </a:txBody>
                  <a:tcPr/>
                </a:tc>
                <a:tc>
                  <a:txBody>
                    <a:bodyPr lIns="54864" rIns="54864" tIns="18288" bIns="18288" wrap="square" anchor="ctr"/>
                    <a:lstStyle/>
                    <a:p>
                      <a:pPr algn="l"/>
                      <a:r>
                        <a:rPr sz="850" b="0">
                          <a:solidFill>
                            <a:srgbClr val="000000"/>
                          </a:solidFill>
                          <a:latin typeface="Calibri"/>
                        </a:rPr>
                        <a:t>3.451 GPa</a:t>
                      </a:r>
                    </a:p>
                  </a:txBody>
                  <a:tcPr/>
                </a:tc>
                <a:tc>
                  <a:txBody>
                    <a:bodyPr lIns="54864" rIns="54864" tIns="18288" bIns="18288" wrap="square" anchor="ctr"/>
                    <a:lstStyle/>
                    <a:p>
                      <a:pPr algn="l"/>
                      <a:r>
                        <a:rPr sz="850" b="0">
                          <a:solidFill>
                            <a:srgbClr val="000000"/>
                          </a:solidFill>
                          <a:latin typeface="Calibri"/>
                        </a:rPr>
                        <a:t>+6.9 %</a:t>
                      </a:r>
                    </a:p>
                  </a:txBody>
                  <a:tcPr/>
                </a:tc>
                <a:tc>
                  <a:txBody>
                    <a:bodyPr lIns="54864" rIns="54864" tIns="18288" bIns="18288" wrap="square" anchor="ctr"/>
                    <a:lstStyle/>
                    <a:p>
                      <a:pPr algn="l"/>
                      <a:r>
                        <a:rPr sz="850" b="0">
                          <a:solidFill>
                            <a:srgbClr val="000000"/>
                          </a:solidFill>
                          <a:latin typeface="Calibri"/>
                        </a:rPr>
                        <a:t>right sign, 9× too big</a:t>
                      </a:r>
                    </a:p>
                  </a:txBody>
                  <a:tcPr/>
                </a:tc>
              </a:tr>
            </a:tbl>
          </a:graphicData>
        </a:graphic>
      </p:graphicFrame>
      <p:sp>
        <p:nvSpPr>
          <p:cNvPr id="8" name="TextBox 7"/>
          <p:cNvSpPr txBox="1"/>
          <p:nvPr/>
        </p:nvSpPr>
        <p:spPr>
          <a:xfrm>
            <a:off x="411480" y="3200400"/>
            <a:ext cx="6766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sign test, and why it is the one that decides</a:t>
            </a:r>
          </a:p>
        </p:txBody>
      </p:sp>
      <p:sp>
        <p:nvSpPr>
          <p:cNvPr id="9" name="TextBox 8"/>
          <p:cNvSpPr txBox="1"/>
          <p:nvPr/>
        </p:nvSpPr>
        <p:spPr>
          <a:xfrm>
            <a:off x="411480" y="3547872"/>
            <a:ext cx="6766560" cy="1783080"/>
          </a:xfrm>
          <a:prstGeom prst="rect">
            <a:avLst/>
          </a:prstGeom>
          <a:noFill/>
        </p:spPr>
        <p:txBody>
          <a:bodyPr wrap="square" lIns="45720" rIns="45720" tIns="18288" bIns="18288" anchor="t">
            <a:spAutoFit/>
          </a:bodyPr>
          <a:lstStyle/>
          <a:p>
            <a:pPr algn="l"/>
            <a:r>
              <a:rPr sz="950" b="0" i="0">
                <a:solidFill>
                  <a:srgbClr val="000000"/>
                </a:solidFill>
                <a:latin typeface="Calibri"/>
              </a:rPr>
              <a:t>A rate effect has a direction that does not depend on how the line is fitted: the slower specimen reads softer, always. Here the slower specimen reads SOFTER on the steepest-run fit and STIFFER on the fixed window. One of those contradicts rate outright, so rate is not what is driving either.
The magnitude says the same thing from the other side. Rate can buy under 1 %; the two measurements are 4.2 % and 6.9 % apart. And S34's OWN two methods differ by 12.2 % on one specimen with no speed difference at all — the method spread is larger than the machine gap it is being used to explain.</a:t>
            </a:r>
          </a:p>
        </p:txBody>
      </p:sp>
      <p:sp>
        <p:nvSpPr>
          <p:cNvPr id="10" name="TextBox 9"/>
          <p:cNvSpPr txBox="1"/>
          <p:nvPr/>
        </p:nvSpPr>
        <p:spPr>
          <a:xfrm>
            <a:off x="7360920" y="1389888"/>
            <a:ext cx="4480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So what IS driving it</a:t>
            </a:r>
          </a:p>
        </p:txBody>
      </p:sp>
      <p:sp>
        <p:nvSpPr>
          <p:cNvPr id="11" name="TextBox 10"/>
          <p:cNvSpPr txBox="1"/>
          <p:nvPr/>
        </p:nvSpPr>
        <p:spPr>
          <a:xfrm>
            <a:off x="7360920" y="1737360"/>
            <a:ext cx="4480560" cy="2103120"/>
          </a:xfrm>
          <a:prstGeom prst="rect">
            <a:avLst/>
          </a:prstGeom>
          <a:noFill/>
        </p:spPr>
        <p:txBody>
          <a:bodyPr wrap="square" lIns="45720" rIns="45720" tIns="18288" bIns="18288" anchor="t">
            <a:spAutoFit/>
          </a:bodyPr>
          <a:lstStyle/>
          <a:p>
            <a:pPr algn="l"/>
            <a:r>
              <a:rPr sz="950" b="0" i="0">
                <a:solidFill>
                  <a:srgbClr val="000000"/>
                </a:solidFill>
                <a:latin typeface="Calibri"/>
              </a:rPr>
              <a:t>The toe in the PPD-UTM load train, which p326 shows directly: XT205-S2's slope is flat from the origin, while S34's dips to 2.7 GPa near 0.15 % and only reaches its steepest at 0.26–0.58 %.
A fixed window that straddles that dip reads S34 LOW; a steepest-run search that skips past it reads S34 HIGH. Same specimen, same pull — the sign of the gap is set by which part of our own seating curve the fit lands on.</a:t>
            </a:r>
          </a:p>
        </p:txBody>
      </p:sp>
      <p:sp>
        <p:nvSpPr>
          <p:cNvPr id="12" name="TextBox 11"/>
          <p:cNvSpPr txBox="1"/>
          <p:nvPr/>
        </p:nvSpPr>
        <p:spPr>
          <a:xfrm>
            <a:off x="7360920" y="3931920"/>
            <a:ext cx="4480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would test rate properly</a:t>
            </a:r>
          </a:p>
        </p:txBody>
      </p:sp>
      <p:sp>
        <p:nvSpPr>
          <p:cNvPr id="13" name="TextBox 12"/>
          <p:cNvSpPr txBox="1"/>
          <p:nvPr/>
        </p:nvSpPr>
        <p:spPr>
          <a:xfrm>
            <a:off x="7360920" y="4279392"/>
            <a:ext cx="4480560" cy="1051560"/>
          </a:xfrm>
          <a:prstGeom prst="rect">
            <a:avLst/>
          </a:prstGeom>
          <a:noFill/>
        </p:spPr>
        <p:txBody>
          <a:bodyPr wrap="square" lIns="45720" rIns="45720" tIns="18288" bIns="18288" anchor="t">
            <a:spAutoFit/>
          </a:bodyPr>
          <a:lstStyle/>
          <a:p>
            <a:pPr algn="l"/>
            <a:r>
              <a:rPr sz="950" b="0" i="0">
                <a:solidFill>
                  <a:srgbClr val="000000"/>
                </a:solidFill>
                <a:latin typeface="Calibri"/>
              </a:rPr>
              <a:t>Match the GAUGE STRAIN RATE, not the crosshead: 5.02 mm/min on the PPD-UTM. Pair it with a 2 mm/min run and the two bracket XT205-S2 from both sides.</a:t>
            </a:r>
          </a:p>
        </p:txBody>
      </p:sp>
      <p:sp>
        <p:nvSpPr>
          <p:cNvPr id="14" name="Rectangle 13"/>
          <p:cNvSpPr/>
          <p:nvPr/>
        </p:nvSpPr>
        <p:spPr>
          <a:xfrm>
            <a:off x="365760" y="4791456"/>
            <a:ext cx="11475720" cy="56692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ANSWERED: XT205-S2 was predicted to have the lower slope, and it does on one fitting method and not the other. Because the sign is not stable, the 6.9 % gap cannot be credited to the speed — the speed is worth under 1 %, and where the line is fitted is worth 12.2 %.</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moduli are computed by the same two methods on both records, so nothing here is a method difference dressed as a machine difference. Percentages are relative to XT205-S2.</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328</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NOISE, AND WHY THE LEAD CHANGED HANDS</a:t>
            </a:r>
          </a:p>
        </p:txBody>
      </p:sp>
      <p:pic>
        <p:nvPicPr>
          <p:cNvPr id="5" name="Picture 4" descr="mot2cmp_noise.png"/>
          <p:cNvPicPr>
            <a:picLocks noChangeAspect="1"/>
          </p:cNvPicPr>
          <p:nvPr/>
        </p:nvPicPr>
        <p:blipFill>
          <a:blip r:embed="rId2"/>
          <a:stretch>
            <a:fillRect/>
          </a:stretch>
        </p:blipFill>
        <p:spPr>
          <a:xfrm>
            <a:off x="1902747" y="987552"/>
            <a:ext cx="8447465" cy="3035808"/>
          </a:xfrm>
          <a:prstGeom prst="rect">
            <a:avLst/>
          </a:prstGeom>
        </p:spPr>
      </p:pic>
      <p:sp>
        <p:nvSpPr>
          <p:cNvPr id="6" name="TextBox 5"/>
          <p:cNvSpPr txBox="1"/>
          <p:nvPr/>
        </p:nvSpPr>
        <p:spPr>
          <a:xfrm>
            <a:off x="411480" y="4096512"/>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Both windows, because each one flatters a different side</a:t>
            </a:r>
          </a:p>
        </p:txBody>
      </p:sp>
      <p:graphicFrame>
        <p:nvGraphicFramePr>
          <p:cNvPr id="7" name="Table 6"/>
          <p:cNvGraphicFramePr>
            <a:graphicFrameLocks noGrp="1"/>
          </p:cNvGraphicFramePr>
          <p:nvPr/>
        </p:nvGraphicFramePr>
        <p:xfrm>
          <a:off x="411480" y="4443984"/>
          <a:ext cx="5623556" cy="1298448"/>
        </p:xfrm>
        <a:graphic>
          <a:graphicData uri="http://schemas.openxmlformats.org/drawingml/2006/table">
            <a:tbl>
              <a:tblPr firstRow="1" bandRow="1">
                <a:tableStyleId>{5C22544A-7EE6-4342-B048-85BDC9FD1C3A}</a:tableStyleId>
              </a:tblPr>
              <a:tblGrid>
                <a:gridCol w="1338942"/>
                <a:gridCol w="1026522"/>
                <a:gridCol w="803365"/>
                <a:gridCol w="669471"/>
                <a:gridCol w="535577"/>
                <a:gridCol w="580208"/>
                <a:gridCol w="669471"/>
              </a:tblGrid>
              <a:tr h="259689">
                <a:tc>
                  <a:txBody>
                    <a:bodyPr lIns="54864" rIns="54864" tIns="18288" bIns="18288" wrap="square" anchor="ctr"/>
                    <a:lstStyle/>
                    <a:p>
                      <a:pPr algn="l"/>
                      <a:r>
                        <a:rPr sz="850" b="1">
                          <a:solidFill>
                            <a:srgbClr val="FFFFFF"/>
                          </a:solidFill>
                          <a:latin typeface="Calibri"/>
                        </a:rPr>
                        <a:t>window</a:t>
                      </a:r>
                    </a:p>
                  </a:txBody>
                  <a:tcPr>
                    <a:solidFill>
                      <a:srgbClr val="143D2F"/>
                    </a:solidFill>
                  </a:tcPr>
                </a:tc>
                <a:tc>
                  <a:txBody>
                    <a:bodyPr lIns="54864" rIns="54864" tIns="18288" bIns="18288" wrap="square" anchor="ctr"/>
                    <a:lstStyle/>
                    <a:p>
                      <a:pPr algn="l"/>
                      <a:r>
                        <a:rPr sz="850" b="1">
                          <a:solidFill>
                            <a:srgbClr val="FFFFFF"/>
                          </a:solidFill>
                          <a:latin typeface="Calibri"/>
                        </a:rPr>
                        <a:t>record</a:t>
                      </a:r>
                    </a:p>
                  </a:txBody>
                  <a:tcPr>
                    <a:solidFill>
                      <a:srgbClr val="143D2F"/>
                    </a:solidFill>
                  </a:tcPr>
                </a:tc>
                <a:tc>
                  <a:txBody>
                    <a:bodyPr lIns="54864" rIns="54864" tIns="18288" bIns="18288" wrap="square" anchor="ctr"/>
                    <a:lstStyle/>
                    <a:p>
                      <a:pPr algn="l"/>
                      <a:r>
                        <a:rPr sz="850" b="1">
                          <a:solidFill>
                            <a:srgbClr val="FFFFFF"/>
                          </a:solidFill>
                          <a:latin typeface="Calibri"/>
                        </a:rPr>
                        <a:t>rms</a:t>
                      </a:r>
                    </a:p>
                  </a:txBody>
                  <a:tcPr>
                    <a:solidFill>
                      <a:srgbClr val="143D2F"/>
                    </a:solidFill>
                  </a:tcPr>
                </a:tc>
                <a:tc>
                  <a:txBody>
                    <a:bodyPr lIns="54864" rIns="54864" tIns="18288" bIns="18288" wrap="square" anchor="ctr"/>
                    <a:lstStyle/>
                    <a:p>
                      <a:pPr algn="l"/>
                      <a:r>
                        <a:rPr sz="850" b="1">
                          <a:solidFill>
                            <a:srgbClr val="FFFFFF"/>
                          </a:solidFill>
                          <a:latin typeface="Calibri"/>
                        </a:rPr>
                        <a:t>median</a:t>
                      </a:r>
                    </a:p>
                  </a:txBody>
                  <a:tcPr>
                    <a:solidFill>
                      <a:srgbClr val="143D2F"/>
                    </a:solidFill>
                  </a:tcPr>
                </a:tc>
                <a:tc>
                  <a:txBody>
                    <a:bodyPr lIns="54864" rIns="54864" tIns="18288" bIns="18288" wrap="square" anchor="ctr"/>
                    <a:lstStyle/>
                    <a:p>
                      <a:pPr algn="l"/>
                      <a:r>
                        <a:rPr sz="850" b="1">
                          <a:solidFill>
                            <a:srgbClr val="FFFFFF"/>
                          </a:solidFill>
                          <a:latin typeface="Calibri"/>
                        </a:rPr>
                        <a:t>p95</a:t>
                      </a:r>
                    </a:p>
                  </a:txBody>
                  <a:tcPr>
                    <a:solidFill>
                      <a:srgbClr val="143D2F"/>
                    </a:solidFill>
                  </a:tcPr>
                </a:tc>
                <a:tc>
                  <a:txBody>
                    <a:bodyPr lIns="54864" rIns="54864" tIns="18288" bIns="18288" wrap="square" anchor="ctr"/>
                    <a:lstStyle/>
                    <a:p>
                      <a:pPr algn="l"/>
                      <a:r>
                        <a:rPr sz="850" b="1">
                          <a:solidFill>
                            <a:srgbClr val="FFFFFF"/>
                          </a:solidFill>
                          <a:latin typeface="Calibri"/>
                        </a:rPr>
                        <a:t>dwell</a:t>
                      </a:r>
                    </a:p>
                  </a:txBody>
                  <a:tcPr>
                    <a:solidFill>
                      <a:srgbClr val="143D2F"/>
                    </a:solidFill>
                  </a:tcPr>
                </a:tc>
                <a:tc>
                  <a:txBody>
                    <a:bodyPr lIns="54864" rIns="54864" tIns="18288" bIns="18288" wrap="square" anchor="ctr"/>
                    <a:lstStyle/>
                    <a:p>
                      <a:pPr algn="l"/>
                      <a:r>
                        <a:rPr sz="850" b="1">
                          <a:solidFill>
                            <a:srgbClr val="FFFFFF"/>
                          </a:solidFill>
                          <a:latin typeface="Calibri"/>
                        </a:rPr>
                        <a:t>spans</a:t>
                      </a:r>
                    </a:p>
                  </a:txBody>
                  <a:tcPr>
                    <a:solidFill>
                      <a:srgbClr val="143D2F"/>
                    </a:solidFill>
                  </a:tcPr>
                </a:tc>
              </a:tr>
              <a:tr h="259689">
                <a:tc>
                  <a:txBody>
                    <a:bodyPr lIns="54864" rIns="54864" tIns="18288" bIns="18288" wrap="square" anchor="ctr"/>
                    <a:lstStyle/>
                    <a:p>
                      <a:pPr algn="l"/>
                      <a:r>
                        <a:rPr sz="850" b="0">
                          <a:solidFill>
                            <a:srgbClr val="000000"/>
                          </a:solidFill>
                          <a:latin typeface="Calibri"/>
                        </a:rPr>
                        <a:t>STRAIN 0.05–0.40 %</a:t>
                      </a:r>
                    </a:p>
                  </a:txBody>
                  <a:tcPr/>
                </a:tc>
                <a:tc>
                  <a:txBody>
                    <a:bodyPr lIns="54864" rIns="54864" tIns="18288" bIns="18288" wrap="square" anchor="ctr"/>
                    <a:lstStyle/>
                    <a:p>
                      <a:pPr algn="l"/>
                      <a:r>
                        <a:rPr sz="850" b="0">
                          <a:solidFill>
                            <a:srgbClr val="000000"/>
                          </a:solidFill>
                          <a:latin typeface="Calibri"/>
                        </a:rPr>
                        <a:t>XT205-S2</a:t>
                      </a:r>
                    </a:p>
                  </a:txBody>
                  <a:tcPr/>
                </a:tc>
                <a:tc>
                  <a:txBody>
                    <a:bodyPr lIns="54864" rIns="54864" tIns="18288" bIns="18288" wrap="square" anchor="ctr"/>
                    <a:lstStyle/>
                    <a:p>
                      <a:pPr algn="l"/>
                      <a:r>
                        <a:rPr sz="850" b="0">
                          <a:solidFill>
                            <a:srgbClr val="000000"/>
                          </a:solidFill>
                          <a:latin typeface="Calibri"/>
                        </a:rPr>
                        <a:t>26.7 µε</a:t>
                      </a:r>
                    </a:p>
                  </a:txBody>
                  <a:tcPr/>
                </a:tc>
                <a:tc>
                  <a:txBody>
                    <a:bodyPr lIns="54864" rIns="54864" tIns="18288" bIns="18288" wrap="square" anchor="ctr"/>
                    <a:lstStyle/>
                    <a:p>
                      <a:pPr algn="l"/>
                      <a:r>
                        <a:rPr sz="850" b="0">
                          <a:solidFill>
                            <a:srgbClr val="000000"/>
                          </a:solidFill>
                          <a:latin typeface="Calibri"/>
                        </a:rPr>
                        <a:t>7.5</a:t>
                      </a:r>
                    </a:p>
                  </a:txBody>
                  <a:tcPr/>
                </a:tc>
                <a:tc>
                  <a:txBody>
                    <a:bodyPr lIns="54864" rIns="54864" tIns="18288" bIns="18288" wrap="square" anchor="ctr"/>
                    <a:lstStyle/>
                    <a:p>
                      <a:pPr algn="l"/>
                      <a:r>
                        <a:rPr sz="850" b="0">
                          <a:solidFill>
                            <a:srgbClr val="000000"/>
                          </a:solidFill>
                          <a:latin typeface="Calibri"/>
                        </a:rPr>
                        <a:t>69</a:t>
                      </a:r>
                    </a:p>
                  </a:txBody>
                  <a:tcPr/>
                </a:tc>
                <a:tc>
                  <a:txBody>
                    <a:bodyPr lIns="54864" rIns="54864" tIns="18288" bIns="18288" wrap="square" anchor="ctr"/>
                    <a:lstStyle/>
                    <a:p>
                      <a:pPr algn="l"/>
                      <a:r>
                        <a:rPr sz="850" b="0">
                          <a:solidFill>
                            <a:srgbClr val="000000"/>
                          </a:solidFill>
                          <a:latin typeface="Calibri"/>
                        </a:rPr>
                        <a:t>13.8 s</a:t>
                      </a:r>
                    </a:p>
                  </a:txBody>
                  <a:tcPr/>
                </a:tc>
                <a:tc>
                  <a:txBody>
                    <a:bodyPr lIns="54864" rIns="54864" tIns="18288" bIns="18288" wrap="square" anchor="ctr"/>
                    <a:lstStyle/>
                    <a:p>
                      <a:pPr algn="l"/>
                      <a:r>
                        <a:rPr sz="850" b="0">
                          <a:solidFill>
                            <a:srgbClr val="000000"/>
                          </a:solidFill>
                          <a:latin typeface="Calibri"/>
                        </a:rPr>
                        <a:t>0.35 %</a:t>
                      </a:r>
                    </a:p>
                  </a:txBody>
                  <a:tcPr/>
                </a:tc>
              </a:tr>
              <a:tr h="259689">
                <a:tc>
                  <a:txBody>
                    <a:bodyPr lIns="54864" rIns="54864" tIns="18288" bIns="18288" wrap="square" anchor="ctr"/>
                    <a:lstStyle/>
                    <a:p>
                      <a:pPr algn="l"/>
                      <a:r>
                        <a:rPr sz="850" b="0">
                          <a:solidFill>
                            <a:srgbClr val="000000"/>
                          </a:solidFill>
                          <a:latin typeface="Calibri"/>
                        </a:rPr>
                        <a:t/>
                      </a:r>
                    </a:p>
                  </a:txBody>
                  <a:tcPr/>
                </a:tc>
                <a:tc>
                  <a:txBody>
                    <a:bodyPr lIns="54864" rIns="54864" tIns="18288" bIns="18288" wrap="square" anchor="ctr"/>
                    <a:lstStyle/>
                    <a:p>
                      <a:pPr algn="l"/>
                      <a:r>
                        <a:rPr sz="850" b="0">
                          <a:solidFill>
                            <a:srgbClr val="000000"/>
                          </a:solidFill>
                          <a:latin typeface="Calibri"/>
                        </a:rPr>
                        <a:t>S34 · ours</a:t>
                      </a:r>
                    </a:p>
                  </a:txBody>
                  <a:tcPr/>
                </a:tc>
                <a:tc>
                  <a:txBody>
                    <a:bodyPr lIns="54864" rIns="54864" tIns="18288" bIns="18288" wrap="square" anchor="ctr"/>
                    <a:lstStyle/>
                    <a:p>
                      <a:pPr algn="l"/>
                      <a:r>
                        <a:rPr sz="850" b="0">
                          <a:solidFill>
                            <a:srgbClr val="000000"/>
                          </a:solidFill>
                          <a:latin typeface="Calibri"/>
                        </a:rPr>
                        <a:t>43.5 µε</a:t>
                      </a:r>
                    </a:p>
                  </a:txBody>
                  <a:tcPr/>
                </a:tc>
                <a:tc>
                  <a:txBody>
                    <a:bodyPr lIns="54864" rIns="54864" tIns="18288" bIns="18288" wrap="square" anchor="ctr"/>
                    <a:lstStyle/>
                    <a:p>
                      <a:pPr algn="l"/>
                      <a:r>
                        <a:rPr sz="850" b="0">
                          <a:solidFill>
                            <a:srgbClr val="000000"/>
                          </a:solidFill>
                          <a:latin typeface="Calibri"/>
                        </a:rPr>
                        <a:t>29.8</a:t>
                      </a:r>
                    </a:p>
                  </a:txBody>
                  <a:tcPr/>
                </a:tc>
                <a:tc>
                  <a:txBody>
                    <a:bodyPr lIns="54864" rIns="54864" tIns="18288" bIns="18288" wrap="square" anchor="ctr"/>
                    <a:lstStyle/>
                    <a:p>
                      <a:pPr algn="l"/>
                      <a:r>
                        <a:rPr sz="850" b="0">
                          <a:solidFill>
                            <a:srgbClr val="000000"/>
                          </a:solidFill>
                          <a:latin typeface="Calibri"/>
                        </a:rPr>
                        <a:t>74</a:t>
                      </a:r>
                    </a:p>
                  </a:txBody>
                  <a:tcPr/>
                </a:tc>
                <a:tc>
                  <a:txBody>
                    <a:bodyPr lIns="54864" rIns="54864" tIns="18288" bIns="18288" wrap="square" anchor="ctr"/>
                    <a:lstStyle/>
                    <a:p>
                      <a:pPr algn="l"/>
                      <a:r>
                        <a:rPr sz="850" b="0">
                          <a:solidFill>
                            <a:srgbClr val="000000"/>
                          </a:solidFill>
                          <a:latin typeface="Calibri"/>
                        </a:rPr>
                        <a:t>11.9 s</a:t>
                      </a:r>
                    </a:p>
                  </a:txBody>
                  <a:tcPr/>
                </a:tc>
                <a:tc>
                  <a:txBody>
                    <a:bodyPr lIns="54864" rIns="54864" tIns="18288" bIns="18288" wrap="square" anchor="ctr"/>
                    <a:lstStyle/>
                    <a:p>
                      <a:pPr algn="l"/>
                      <a:r>
                        <a:rPr sz="850" b="0">
                          <a:solidFill>
                            <a:srgbClr val="000000"/>
                          </a:solidFill>
                          <a:latin typeface="Calibri"/>
                        </a:rPr>
                        <a:t>0.35 %</a:t>
                      </a:r>
                    </a:p>
                  </a:txBody>
                  <a:tcPr/>
                </a:tc>
              </a:tr>
              <a:tr h="259689">
                <a:tc>
                  <a:txBody>
                    <a:bodyPr lIns="54864" rIns="54864" tIns="18288" bIns="18288" wrap="square" anchor="ctr"/>
                    <a:lstStyle/>
                    <a:p>
                      <a:pPr algn="l"/>
                      <a:r>
                        <a:rPr sz="850" b="0">
                          <a:solidFill>
                            <a:srgbClr val="000000"/>
                          </a:solidFill>
                          <a:latin typeface="Calibri"/>
                        </a:rPr>
                        <a:t>DURATION 4.5 s</a:t>
                      </a:r>
                    </a:p>
                  </a:txBody>
                  <a:tcPr/>
                </a:tc>
                <a:tc>
                  <a:txBody>
                    <a:bodyPr lIns="54864" rIns="54864" tIns="18288" bIns="18288" wrap="square" anchor="ctr"/>
                    <a:lstStyle/>
                    <a:p>
                      <a:pPr algn="l"/>
                      <a:r>
                        <a:rPr sz="850" b="0">
                          <a:solidFill>
                            <a:srgbClr val="000000"/>
                          </a:solidFill>
                          <a:latin typeface="Calibri"/>
                        </a:rPr>
                        <a:t>XT205-S2</a:t>
                      </a:r>
                    </a:p>
                  </a:txBody>
                  <a:tcPr/>
                </a:tc>
                <a:tc>
                  <a:txBody>
                    <a:bodyPr lIns="54864" rIns="54864" tIns="18288" bIns="18288" wrap="square" anchor="ctr"/>
                    <a:lstStyle/>
                    <a:p>
                      <a:pPr algn="l"/>
                      <a:r>
                        <a:rPr sz="850" b="0">
                          <a:solidFill>
                            <a:srgbClr val="000000"/>
                          </a:solidFill>
                          <a:latin typeface="Calibri"/>
                        </a:rPr>
                        <a:t>19.9 µε</a:t>
                      </a:r>
                    </a:p>
                  </a:txBody>
                  <a:tcPr/>
                </a:tc>
                <a:tc>
                  <a:txBody>
                    <a:bodyPr lIns="54864" rIns="54864" tIns="18288" bIns="18288" wrap="square" anchor="ctr"/>
                    <a:lstStyle/>
                    <a:p>
                      <a:pPr algn="l"/>
                      <a:r>
                        <a:rPr sz="850" b="0">
                          <a:solidFill>
                            <a:srgbClr val="000000"/>
                          </a:solidFill>
                          <a:latin typeface="Calibri"/>
                        </a:rPr>
                        <a:t>5.0</a:t>
                      </a:r>
                    </a:p>
                  </a:txBody>
                  <a:tcPr/>
                </a:tc>
                <a:tc>
                  <a:txBody>
                    <a:bodyPr lIns="54864" rIns="54864" tIns="18288" bIns="18288" wrap="square" anchor="ctr"/>
                    <a:lstStyle/>
                    <a:p>
                      <a:pPr algn="l"/>
                      <a:r>
                        <a:rPr sz="850" b="0">
                          <a:solidFill>
                            <a:srgbClr val="000000"/>
                          </a:solidFill>
                          <a:latin typeface="Calibri"/>
                        </a:rPr>
                        <a:t>46</a:t>
                      </a:r>
                    </a:p>
                  </a:txBody>
                  <a:tcPr/>
                </a:tc>
                <a:tc>
                  <a:txBody>
                    <a:bodyPr lIns="54864" rIns="54864" tIns="18288" bIns="18288" wrap="square" anchor="ctr"/>
                    <a:lstStyle/>
                    <a:p>
                      <a:pPr algn="l"/>
                      <a:r>
                        <a:rPr sz="850" b="0">
                          <a:solidFill>
                            <a:srgbClr val="000000"/>
                          </a:solidFill>
                          <a:latin typeface="Calibri"/>
                        </a:rPr>
                        <a:t>4.5 s</a:t>
                      </a:r>
                    </a:p>
                  </a:txBody>
                  <a:tcPr/>
                </a:tc>
                <a:tc>
                  <a:txBody>
                    <a:bodyPr lIns="54864" rIns="54864" tIns="18288" bIns="18288" wrap="square" anchor="ctr"/>
                    <a:lstStyle/>
                    <a:p>
                      <a:pPr algn="l"/>
                      <a:r>
                        <a:rPr sz="850" b="0">
                          <a:solidFill>
                            <a:srgbClr val="000000"/>
                          </a:solidFill>
                          <a:latin typeface="Calibri"/>
                        </a:rPr>
                        <a:t>0.116 %</a:t>
                      </a:r>
                    </a:p>
                  </a:txBody>
                  <a:tcPr/>
                </a:tc>
              </a:tr>
              <a:tr h="259692">
                <a:tc>
                  <a:txBody>
                    <a:bodyPr lIns="54864" rIns="54864" tIns="18288" bIns="18288" wrap="square" anchor="ctr"/>
                    <a:lstStyle/>
                    <a:p>
                      <a:pPr algn="l"/>
                      <a:r>
                        <a:rPr sz="850" b="0">
                          <a:solidFill>
                            <a:srgbClr val="000000"/>
                          </a:solidFill>
                          <a:latin typeface="Calibri"/>
                        </a:rPr>
                        <a:t/>
                      </a:r>
                    </a:p>
                  </a:txBody>
                  <a:tcPr/>
                </a:tc>
                <a:tc>
                  <a:txBody>
                    <a:bodyPr lIns="54864" rIns="54864" tIns="18288" bIns="18288" wrap="square" anchor="ctr"/>
                    <a:lstStyle/>
                    <a:p>
                      <a:pPr algn="l"/>
                      <a:r>
                        <a:rPr sz="850" b="0">
                          <a:solidFill>
                            <a:srgbClr val="000000"/>
                          </a:solidFill>
                          <a:latin typeface="Calibri"/>
                        </a:rPr>
                        <a:t>S34 · ours</a:t>
                      </a:r>
                    </a:p>
                  </a:txBody>
                  <a:tcPr/>
                </a:tc>
                <a:tc>
                  <a:txBody>
                    <a:bodyPr lIns="54864" rIns="54864" tIns="18288" bIns="18288" wrap="square" anchor="ctr"/>
                    <a:lstStyle/>
                    <a:p>
                      <a:pPr algn="l"/>
                      <a:r>
                        <a:rPr sz="850" b="0">
                          <a:solidFill>
                            <a:srgbClr val="000000"/>
                          </a:solidFill>
                          <a:latin typeface="Calibri"/>
                        </a:rPr>
                        <a:t>27.5 µε</a:t>
                      </a:r>
                    </a:p>
                  </a:txBody>
                  <a:tcPr/>
                </a:tc>
                <a:tc>
                  <a:txBody>
                    <a:bodyPr lIns="54864" rIns="54864" tIns="18288" bIns="18288" wrap="square" anchor="ctr"/>
                    <a:lstStyle/>
                    <a:p>
                      <a:pPr algn="l"/>
                      <a:r>
                        <a:rPr sz="850" b="0">
                          <a:solidFill>
                            <a:srgbClr val="000000"/>
                          </a:solidFill>
                          <a:latin typeface="Calibri"/>
                        </a:rPr>
                        <a:t>19.1</a:t>
                      </a:r>
                    </a:p>
                  </a:txBody>
                  <a:tcPr/>
                </a:tc>
                <a:tc>
                  <a:txBody>
                    <a:bodyPr lIns="54864" rIns="54864" tIns="18288" bIns="18288" wrap="square" anchor="ctr"/>
                    <a:lstStyle/>
                    <a:p>
                      <a:pPr algn="l"/>
                      <a:r>
                        <a:rPr sz="850" b="0">
                          <a:solidFill>
                            <a:srgbClr val="000000"/>
                          </a:solidFill>
                          <a:latin typeface="Calibri"/>
                        </a:rPr>
                        <a:t>53</a:t>
                      </a:r>
                    </a:p>
                  </a:txBody>
                  <a:tcPr/>
                </a:tc>
                <a:tc>
                  <a:txBody>
                    <a:bodyPr lIns="54864" rIns="54864" tIns="18288" bIns="18288" wrap="square" anchor="ctr"/>
                    <a:lstStyle/>
                    <a:p>
                      <a:pPr algn="l"/>
                      <a:r>
                        <a:rPr sz="850" b="0">
                          <a:solidFill>
                            <a:srgbClr val="000000"/>
                          </a:solidFill>
                          <a:latin typeface="Calibri"/>
                        </a:rPr>
                        <a:t>4.5 s</a:t>
                      </a:r>
                    </a:p>
                  </a:txBody>
                  <a:tcPr/>
                </a:tc>
                <a:tc>
                  <a:txBody>
                    <a:bodyPr lIns="54864" rIns="54864" tIns="18288" bIns="18288" wrap="square" anchor="ctr"/>
                    <a:lstStyle/>
                    <a:p>
                      <a:pPr algn="l"/>
                      <a:r>
                        <a:rPr sz="850" b="0">
                          <a:solidFill>
                            <a:srgbClr val="000000"/>
                          </a:solidFill>
                          <a:latin typeface="Calibri"/>
                        </a:rPr>
                        <a:t>0.130 %</a:t>
                      </a:r>
                    </a:p>
                  </a:txBody>
                  <a:tcPr/>
                </a:tc>
              </a:tr>
            </a:tbl>
          </a:graphicData>
        </a:graphic>
      </p:graphicFrame>
      <p:sp>
        <p:nvSpPr>
          <p:cNvPr id="8" name="TextBox 7"/>
          <p:cNvSpPr txBox="1"/>
          <p:nvPr/>
        </p:nvSpPr>
        <p:spPr>
          <a:xfrm>
            <a:off x="6263640" y="4096512"/>
            <a:ext cx="2743200" cy="365760"/>
          </a:xfrm>
          <a:prstGeom prst="rect">
            <a:avLst/>
          </a:prstGeom>
          <a:noFill/>
        </p:spPr>
        <p:txBody>
          <a:bodyPr wrap="square" lIns="45720" rIns="45720" tIns="18288" bIns="18288" anchor="t">
            <a:spAutoFit/>
          </a:bodyPr>
          <a:lstStyle/>
          <a:p>
            <a:pPr algn="l"/>
            <a:r>
              <a:rPr sz="1600" b="0" i="0">
                <a:solidFill>
                  <a:srgbClr val="707070"/>
                </a:solidFill>
                <a:latin typeface="Calibri"/>
              </a:rPr>
              <a:t>A reversal, stated plainly</a:t>
            </a:r>
          </a:p>
        </p:txBody>
      </p:sp>
      <p:sp>
        <p:nvSpPr>
          <p:cNvPr id="9" name="TextBox 8"/>
          <p:cNvSpPr txBox="1"/>
          <p:nvPr/>
        </p:nvSpPr>
        <p:spPr>
          <a:xfrm>
            <a:off x="6263640" y="4443984"/>
            <a:ext cx="2743200" cy="1298448"/>
          </a:xfrm>
          <a:prstGeom prst="rect">
            <a:avLst/>
          </a:prstGeom>
          <a:noFill/>
        </p:spPr>
        <p:txBody>
          <a:bodyPr wrap="square" lIns="45720" rIns="45720" tIns="18288" bIns="18288" anchor="t">
            <a:spAutoFit/>
          </a:bodyPr>
          <a:lstStyle/>
          <a:p>
            <a:pPr algn="l"/>
            <a:r>
              <a:rPr sz="950" b="0" i="0">
                <a:solidFill>
                  <a:srgbClr val="000000"/>
                </a:solidFill>
                <a:latin typeface="Calibri"/>
              </a:rPr>
              <a:t>MOT Test 1 reported the PPD-UTM floor as the quieter, at 45 µε for the XT-205 against ~24 µε for us. MOT Test 2 reverses it: 27 against 43 µε. Both windows agree on the reversal, so it is not a windowing artefact.</a:t>
            </a:r>
          </a:p>
        </p:txBody>
      </p:sp>
      <p:sp>
        <p:nvSpPr>
          <p:cNvPr id="10" name="TextBox 9"/>
          <p:cNvSpPr txBox="1"/>
          <p:nvPr/>
        </p:nvSpPr>
        <p:spPr>
          <a:xfrm>
            <a:off x="9189720" y="4096512"/>
            <a:ext cx="2651760" cy="365760"/>
          </a:xfrm>
          <a:prstGeom prst="rect">
            <a:avLst/>
          </a:prstGeom>
          <a:noFill/>
        </p:spPr>
        <p:txBody>
          <a:bodyPr wrap="square" lIns="45720" rIns="45720" tIns="18288" bIns="18288" anchor="t">
            <a:spAutoFit/>
          </a:bodyPr>
          <a:lstStyle/>
          <a:p>
            <a:pPr algn="l"/>
            <a:r>
              <a:rPr sz="1600" b="0" i="0">
                <a:solidFill>
                  <a:srgbClr val="707070"/>
                </a:solidFill>
                <a:latin typeface="Calibri"/>
              </a:rPr>
              <a:t>Because the gauge got shorter</a:t>
            </a:r>
          </a:p>
        </p:txBody>
      </p:sp>
      <p:sp>
        <p:nvSpPr>
          <p:cNvPr id="11" name="TextBox 10"/>
          <p:cNvSpPr txBox="1"/>
          <p:nvPr/>
        </p:nvSpPr>
        <p:spPr>
          <a:xfrm>
            <a:off x="9189720" y="4443984"/>
            <a:ext cx="2651760" cy="1298448"/>
          </a:xfrm>
          <a:prstGeom prst="rect">
            <a:avLst/>
          </a:prstGeom>
          <a:noFill/>
        </p:spPr>
        <p:txBody>
          <a:bodyPr wrap="square" lIns="45720" rIns="45720" tIns="18288" bIns="18288" anchor="t">
            <a:spAutoFit/>
          </a:bodyPr>
          <a:lstStyle/>
          <a:p>
            <a:pPr algn="l"/>
            <a:r>
              <a:rPr sz="950" b="0" i="0">
                <a:solidFill>
                  <a:srgbClr val="000000"/>
                </a:solidFill>
                <a:latin typeface="Calibri"/>
              </a:rPr>
              <a:t>Strain is a pixel ratio with Px₀ underneath it, so the floor should scale as 1/Px₀. 1676 px → 939 px predicts 1.78×. Measured: 1.78×. The prediction had nothing fitted to it.</a:t>
            </a:r>
          </a:p>
        </p:txBody>
      </p:sp>
      <p:sp>
        <p:nvSpPr>
          <p:cNvPr id="12" name="Rectangle 11"/>
          <p:cNvSpPr/>
          <p:nvPr/>
        </p:nvSpPr>
        <p:spPr>
          <a:xfrm>
            <a:off x="365760" y="5870448"/>
            <a:ext cx="11475720" cy="438912"/>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Our floor rose 1.78× where 1/Px₀ predicted 1.78× — 0.3 % apart. It is set by the PIXEL SPAN, not the specimen or the lighting. Theirs moved the other way (0.64×), so theirs is limited by something else.</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six records on one window (0.05–0.35 %), which is the window MOT Test 1 used. Residual scatter about a straight fit, in microstrain.</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329</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WHAT THE COMPARISON SETTLES</a:t>
            </a:r>
          </a:p>
        </p:txBody>
      </p:sp>
      <p:sp>
        <p:nvSpPr>
          <p:cNvPr id="5" name="TextBox 4"/>
          <p:cNvSpPr txBox="1"/>
          <p:nvPr/>
        </p:nvSpPr>
        <p:spPr>
          <a:xfrm>
            <a:off x="411480" y="969264"/>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An independent commercial extensometer, on its own machine, with its own optics and its own software, measuring a different specimen of the same material. Three verdicts, kept apart.</a:t>
            </a:r>
          </a:p>
        </p:txBody>
      </p:sp>
      <p:sp>
        <p:nvSpPr>
          <p:cNvPr id="6" name="TextBox 5"/>
          <p:cNvSpPr txBox="1"/>
          <p:nvPr/>
        </p:nvSpPr>
        <p:spPr>
          <a:xfrm>
            <a:off x="411480" y="138988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CONFIRMED</a:t>
            </a:r>
          </a:p>
        </p:txBody>
      </p:sp>
      <p:graphicFrame>
        <p:nvGraphicFramePr>
          <p:cNvPr id="7" name="Table 6"/>
          <p:cNvGraphicFramePr>
            <a:graphicFrameLocks noGrp="1"/>
          </p:cNvGraphicFramePr>
          <p:nvPr/>
        </p:nvGraphicFramePr>
        <p:xfrm>
          <a:off x="411480" y="1737360"/>
          <a:ext cx="3703320" cy="1298448"/>
        </p:xfrm>
        <a:graphic>
          <a:graphicData uri="http://schemas.openxmlformats.org/drawingml/2006/table">
            <a:tbl>
              <a:tblPr firstRow="1" bandRow="1">
                <a:tableStyleId>{5C22544A-7EE6-4342-B048-85BDC9FD1C3A}</a:tableStyleId>
              </a:tblPr>
              <a:tblGrid>
                <a:gridCol w="2377440"/>
                <a:gridCol w="1325880"/>
              </a:tblGrid>
              <a:tr h="259689">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offset</a:t>
                      </a:r>
                    </a:p>
                  </a:txBody>
                  <a:tcPr>
                    <a:solidFill>
                      <a:srgbClr val="143D2F"/>
                    </a:solidFill>
                  </a:tcPr>
                </a:tc>
              </a:tr>
              <a:tr h="259689">
                <a:tc>
                  <a:txBody>
                    <a:bodyPr lIns="54864" rIns="54864" tIns="18288" bIns="18288" wrap="square" anchor="ctr"/>
                    <a:lstStyle/>
                    <a:p>
                      <a:pPr algn="l"/>
                      <a:r>
                        <a:rPr sz="900" b="0">
                          <a:solidFill>
                            <a:srgbClr val="000000"/>
                          </a:solidFill>
                          <a:latin typeface="Calibri"/>
                        </a:rPr>
                        <a:t>0.2 % offset yield</a:t>
                      </a:r>
                    </a:p>
                  </a:txBody>
                  <a:tcPr/>
                </a:tc>
                <a:tc>
                  <a:txBody>
                    <a:bodyPr lIns="54864" rIns="54864" tIns="18288" bIns="18288" wrap="square" anchor="ctr"/>
                    <a:lstStyle/>
                    <a:p>
                      <a:pPr algn="l"/>
                      <a:r>
                        <a:rPr sz="900" b="0">
                          <a:solidFill>
                            <a:srgbClr val="000000"/>
                          </a:solidFill>
                          <a:latin typeface="Calibri"/>
                        </a:rPr>
                        <a:t>+1.0 %</a:t>
                      </a:r>
                    </a:p>
                  </a:txBody>
                  <a:tcPr/>
                </a:tc>
              </a:tr>
              <a:tr h="259689">
                <a:tc>
                  <a:txBody>
                    <a:bodyPr lIns="54864" rIns="54864" tIns="18288" bIns="18288" wrap="square" anchor="ctr"/>
                    <a:lstStyle/>
                    <a:p>
                      <a:pPr algn="l"/>
                      <a:r>
                        <a:rPr sz="900" b="0">
                          <a:solidFill>
                            <a:srgbClr val="000000"/>
                          </a:solidFill>
                          <a:latin typeface="Calibri"/>
                        </a:rPr>
                        <a:t>failure strain</a:t>
                      </a:r>
                    </a:p>
                  </a:txBody>
                  <a:tcPr/>
                </a:tc>
                <a:tc>
                  <a:txBody>
                    <a:bodyPr lIns="54864" rIns="54864" tIns="18288" bIns="18288" wrap="square" anchor="ctr"/>
                    <a:lstStyle/>
                    <a:p>
                      <a:pPr algn="l"/>
                      <a:r>
                        <a:rPr sz="900" b="0">
                          <a:solidFill>
                            <a:srgbClr val="000000"/>
                          </a:solidFill>
                          <a:latin typeface="Calibri"/>
                        </a:rPr>
                        <a:t>-0.8 %</a:t>
                      </a:r>
                    </a:p>
                  </a:txBody>
                  <a:tcPr/>
                </a:tc>
              </a:tr>
              <a:tr h="259689">
                <a:tc>
                  <a:txBody>
                    <a:bodyPr lIns="54864" rIns="54864" tIns="18288" bIns="18288" wrap="square" anchor="ctr"/>
                    <a:lstStyle/>
                    <a:p>
                      <a:pPr algn="l"/>
                      <a:r>
                        <a:rPr sz="900" b="0">
                          <a:solidFill>
                            <a:srgbClr val="000000"/>
                          </a:solidFill>
                          <a:latin typeface="Calibri"/>
                        </a:rPr>
                        <a:t>E, fixed window</a:t>
                      </a:r>
                    </a:p>
                  </a:txBody>
                  <a:tcPr/>
                </a:tc>
                <a:tc>
                  <a:txBody>
                    <a:bodyPr lIns="54864" rIns="54864" tIns="18288" bIns="18288" wrap="square" anchor="ctr"/>
                    <a:lstStyle/>
                    <a:p>
                      <a:pPr algn="l"/>
                      <a:r>
                        <a:rPr sz="900" b="0">
                          <a:solidFill>
                            <a:srgbClr val="000000"/>
                          </a:solidFill>
                          <a:latin typeface="Calibri"/>
                        </a:rPr>
                        <a:t>+4.4 %</a:t>
                      </a:r>
                    </a:p>
                  </a:txBody>
                  <a:tcPr/>
                </a:tc>
              </a:tr>
              <a:tr h="259692">
                <a:tc>
                  <a:txBody>
                    <a:bodyPr lIns="54864" rIns="54864" tIns="18288" bIns="18288" wrap="square" anchor="ctr"/>
                    <a:lstStyle/>
                    <a:p>
                      <a:pPr algn="l"/>
                      <a:r>
                        <a:rPr sz="900" b="0">
                          <a:solidFill>
                            <a:srgbClr val="000000"/>
                          </a:solidFill>
                          <a:latin typeface="Calibri"/>
                        </a:rPr>
                        <a:t>E, steepest run</a:t>
                      </a:r>
                    </a:p>
                  </a:txBody>
                  <a:tcPr/>
                </a:tc>
                <a:tc>
                  <a:txBody>
                    <a:bodyPr lIns="54864" rIns="54864" tIns="18288" bIns="18288" wrap="square" anchor="ctr"/>
                    <a:lstStyle/>
                    <a:p>
                      <a:pPr algn="l"/>
                      <a:r>
                        <a:rPr sz="900" b="0">
                          <a:solidFill>
                            <a:srgbClr val="000000"/>
                          </a:solidFill>
                          <a:latin typeface="Calibri"/>
                        </a:rPr>
                        <a:t>-6.4 %</a:t>
                      </a:r>
                    </a:p>
                  </a:txBody>
                  <a:tcPr/>
                </a:tc>
              </a:tr>
            </a:tbl>
          </a:graphicData>
        </a:graphic>
      </p:graphicFrame>
      <p:sp>
        <p:nvSpPr>
          <p:cNvPr id="8" name="TextBox 7"/>
          <p:cNvSpPr txBox="1"/>
          <p:nvPr/>
        </p:nvSpPr>
        <p:spPr>
          <a:xfrm>
            <a:off x="411480" y="3145536"/>
            <a:ext cx="3703320" cy="1188720"/>
          </a:xfrm>
          <a:prstGeom prst="rect">
            <a:avLst/>
          </a:prstGeom>
          <a:noFill/>
        </p:spPr>
        <p:txBody>
          <a:bodyPr wrap="square" lIns="45720" rIns="45720" tIns="18288" bIns="18288" anchor="t">
            <a:spAutoFit/>
          </a:bodyPr>
          <a:lstStyle/>
          <a:p>
            <a:pPr algn="l"/>
            <a:r>
              <a:rPr sz="950" b="0" i="0">
                <a:solidFill>
                  <a:srgbClr val="000000"/>
                </a:solidFill>
                <a:latin typeface="Calibri"/>
              </a:rPr>
              <a:t>Every one of these is inside the 2.7–9 % scatter between our own two runs. The yield agreement is the strongest single result here: three specimens, two machines, two instruments, under 1 % apart.</a:t>
            </a:r>
          </a:p>
        </p:txBody>
      </p:sp>
      <p:sp>
        <p:nvSpPr>
          <p:cNvPr id="9" name="TextBox 8"/>
          <p:cNvSpPr txBox="1"/>
          <p:nvPr/>
        </p:nvSpPr>
        <p:spPr>
          <a:xfrm>
            <a:off x="4343400" y="138988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EXPLAINED, NOT DISMISSED</a:t>
            </a:r>
          </a:p>
        </p:txBody>
      </p:sp>
      <p:sp>
        <p:nvSpPr>
          <p:cNvPr id="10" name="TextBox 9"/>
          <p:cNvSpPr txBox="1"/>
          <p:nvPr/>
        </p:nvSpPr>
        <p:spPr>
          <a:xfrm>
            <a:off x="4343400" y="1737360"/>
            <a:ext cx="3703320" cy="2596896"/>
          </a:xfrm>
          <a:prstGeom prst="rect">
            <a:avLst/>
          </a:prstGeom>
          <a:noFill/>
        </p:spPr>
        <p:txBody>
          <a:bodyPr wrap="square" lIns="45720" rIns="45720" tIns="18288" bIns="18288" anchor="t">
            <a:spAutoFit/>
          </a:bodyPr>
          <a:lstStyle/>
          <a:p>
            <a:pPr algn="l"/>
            <a:r>
              <a:rPr sz="950" b="0" i="0">
                <a:solidFill>
                  <a:srgbClr val="000000"/>
                </a:solidFill>
                <a:latin typeface="Calibri"/>
              </a:rPr>
              <a:t>UTS is 7.7 % low, the strain at UTS 15.5 % low, toughness 7.9 % low. Every quantity that disagrees is post-yield, and every one moves the way a 3× slower pull moves it.
That is a DIRECTION the physics predicts, and NOT a magnitude — the correction on p327 is that the two gauges differ by 1.19× of strain rate rather than the 3× of crosshead, so the speed is worth under 1 %. Our own 2.7 % specimen scatter carries more of it, and the remainder belongs to a different machine and a different batch, which n = 1 a side cannot split.
Also explained: the 1.78× rise in our noise floor, which is 1/Px₀ and nothing else, and the strain-rate gap MOT Test 1 could not account for, which is the load train.</a:t>
            </a:r>
          </a:p>
        </p:txBody>
      </p:sp>
      <p:sp>
        <p:nvSpPr>
          <p:cNvPr id="11" name="TextBox 10"/>
          <p:cNvSpPr txBox="1"/>
          <p:nvPr/>
        </p:nvSpPr>
        <p:spPr>
          <a:xfrm>
            <a:off x="8275320" y="1389888"/>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STILL OPEN</a:t>
            </a:r>
          </a:p>
        </p:txBody>
      </p:sp>
      <p:sp>
        <p:nvSpPr>
          <p:cNvPr id="12" name="TextBox 11"/>
          <p:cNvSpPr txBox="1"/>
          <p:nvPr/>
        </p:nvSpPr>
        <p:spPr>
          <a:xfrm>
            <a:off x="8275320" y="1737360"/>
            <a:ext cx="3566160" cy="2596896"/>
          </a:xfrm>
          <a:prstGeom prst="rect">
            <a:avLst/>
          </a:prstGeom>
          <a:noFill/>
        </p:spPr>
        <p:txBody>
          <a:bodyPr wrap="square" lIns="45720" rIns="45720" tIns="18288" bIns="18288" anchor="t">
            <a:spAutoFit/>
          </a:bodyPr>
          <a:lstStyle/>
          <a:p>
            <a:pPr algn="l"/>
            <a:r>
              <a:rPr sz="950" b="0" i="0">
                <a:solidFill>
                  <a:srgbClr val="000000"/>
                </a:solidFill>
                <a:latin typeface="Calibri"/>
              </a:rPr>
              <a:t>1.  IS THE UTS GAP RATE OR SPECIMEN? One pull of ours at 2 mm/min separates them. It is a single test on a specimen we already print, and it is the cheapest open question in this deck.
2.  WHY DID THE XT-205'S NOISE IMPROVE between the two tests? Its Test 2 optics are unknown, so its pixel span cannot be computed. Running MOT footage through the PPD-UTM pipeline gives that px/mm directly (p303 did it for MOT Test 1).
3.  THEIR GAUGE SHARE IS NOMINAL. A crosshead channel from them would turn 45 % from a bound into a measurement.</a:t>
            </a:r>
          </a:p>
        </p:txBody>
      </p:sp>
      <p:sp>
        <p:nvSpPr>
          <p:cNvPr id="13" name="Rectangle 12"/>
          <p:cNvSpPr/>
          <p:nvPr/>
        </p:nvSpPr>
        <p:spPr>
          <a:xfrm>
            <a:off x="365760" y="4224528"/>
            <a:ext cx="11475720" cy="65836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HEADLINE: an instrument we do not own, on a machine we do not control, put yield within 1.0 %, failure strain within 0.8 % and modulus inside our own run-to-run bracket. Nothing was tuned to make that happen, and the one correction applied — putting their strain zero on our convention — was decided before the numbers were compared.</a:t>
            </a:r>
          </a:p>
        </p:txBody>
      </p:sp>
      <p:sp>
        <p:nvSpPr>
          <p:cNvPr id="14" name="TextBox 13"/>
          <p:cNvSpPr txBox="1"/>
          <p:nvPr/>
        </p:nvSpPr>
        <p:spPr>
          <a:xfrm>
            <a:off x="411480" y="5029200"/>
            <a:ext cx="11430000" cy="960120"/>
          </a:xfrm>
          <a:prstGeom prst="rect">
            <a:avLst/>
          </a:prstGeom>
          <a:noFill/>
        </p:spPr>
        <p:txBody>
          <a:bodyPr wrap="square" lIns="45720" rIns="45720" tIns="18288" bIns="18288" anchor="t">
            <a:spAutoFit/>
          </a:bodyPr>
          <a:lstStyle/>
          <a:p>
            <a:pPr algn="l"/>
            <a:r>
              <a:rPr sz="1000" b="0" i="0">
                <a:solidFill>
                  <a:srgbClr val="000000"/>
                </a:solidFill>
                <a:latin typeface="Calibri"/>
              </a:rPr>
              <a:t>WHAT WOULD HAVE FALSIFIED THIS: a modulus outside our bracket, a failure strain off by more than our own two runs differ, or a yield gap larger than the specimen scatter. None of those happened. What did happen — the post-yield gap — has a named cause with a testable direction, and the test costs one specimen. That is the difference between a result that survived a check and a result that was never at risk.</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Reference run S34 (100 % infill PLA, 45 mm marker spacing, 99.9 % DIC coverage inside the pull); S33 carried alongside. MOT XT-205, gauge 45.0034 mm.</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330</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MOT FOOTAGE THROUGH THE PPD-UTM PIPELINE</a:t>
            </a:r>
          </a:p>
        </p:txBody>
      </p:sp>
      <p:sp>
        <p:nvSpPr>
          <p:cNvPr id="5" name="TextBox 4"/>
          <p:cNvSpPr txBox="1"/>
          <p:nvPr/>
        </p:nvSpPr>
        <p:spPr>
          <a:xfrm>
            <a:off x="411480" y="969264"/>
            <a:ext cx="11430000" cy="566928"/>
          </a:xfrm>
          <a:prstGeom prst="rect">
            <a:avLst/>
          </a:prstGeom>
          <a:noFill/>
        </p:spPr>
        <p:txBody>
          <a:bodyPr wrap="square" lIns="45720" rIns="45720" tIns="18288" bIns="18288" anchor="t">
            <a:spAutoFit/>
          </a:bodyPr>
          <a:lstStyle/>
          <a:p>
            <a:pPr algn="l"/>
            <a:r>
              <a:rPr sz="1100" b="0" i="0">
                <a:solidFill>
                  <a:srgbClr val="000000"/>
                </a:solidFill>
                <a:latin typeface="Calibri"/>
              </a:rPr>
              <a:t>MOT Test 2 has now been measured three ways, and each pair differs in exactly ONE thing. The XT-205's extensometer and the PPD-UTM pipeline read the SAME footage, so the only difference between them is the CALCULATION. The PPD-UTM pipeline on MOT footage and on S34 differs only in the MACHINE. That is what makes a disagreement attributable instead of merely observed.</a:t>
            </a:r>
          </a:p>
        </p:txBody>
      </p:sp>
      <p:sp>
        <p:nvSpPr>
          <p:cNvPr id="6" name="TextBox 5"/>
          <p:cNvSpPr txBox="1"/>
          <p:nvPr/>
        </p:nvSpPr>
        <p:spPr>
          <a:xfrm>
            <a:off x="411480" y="160934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frame-to-load mapping is exact, not interpolated</a:t>
            </a:r>
          </a:p>
        </p:txBody>
      </p:sp>
      <p:sp>
        <p:nvSpPr>
          <p:cNvPr id="7" name="TextBox 6"/>
          <p:cNvSpPr txBox="1"/>
          <p:nvPr/>
        </p:nvSpPr>
        <p:spPr>
          <a:xfrm>
            <a:off x="411480" y="1956816"/>
            <a:ext cx="5623560" cy="1234440"/>
          </a:xfrm>
          <a:prstGeom prst="rect">
            <a:avLst/>
          </a:prstGeom>
          <a:noFill/>
        </p:spPr>
        <p:txBody>
          <a:bodyPr wrap="square" lIns="45720" rIns="45720" tIns="18288" bIns="18288" anchor="t">
            <a:spAutoFit/>
          </a:bodyPr>
          <a:lstStyle/>
          <a:p>
            <a:pPr algn="l"/>
            <a:r>
              <a:rPr sz="950" b="0" i="0">
                <a:solidFill>
                  <a:srgbClr val="000000"/>
                </a:solidFill>
                <a:latin typeface="Calibri"/>
              </a:rPr>
              <a:t>The .daq carries 3351 rows and the video carries 3351 frames. They were written by one acquisition, so frame i IS row i — no nearest-time search and no assumption that either stream is evenly sampled. Neither is: both carry a few doubled intervals. Their strain file is 43 rows shorter because it drops what it could not measure, so the pairing is made on TIME and lands 3253 matched instants.</a:t>
            </a:r>
          </a:p>
        </p:txBody>
      </p:sp>
      <p:sp>
        <p:nvSpPr>
          <p:cNvPr id="8" name="TextBox 7"/>
          <p:cNvSpPr txBox="1"/>
          <p:nvPr/>
        </p:nvSpPr>
        <p:spPr>
          <a:xfrm>
            <a:off x="411480" y="3255264"/>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inputs were wrong — and that turned out to be useful</a:t>
            </a:r>
          </a:p>
        </p:txBody>
      </p:sp>
      <p:graphicFrame>
        <p:nvGraphicFramePr>
          <p:cNvPr id="9" name="Table 8"/>
          <p:cNvGraphicFramePr>
            <a:graphicFrameLocks noGrp="1"/>
          </p:cNvGraphicFramePr>
          <p:nvPr/>
        </p:nvGraphicFramePr>
        <p:xfrm>
          <a:off x="411480" y="3602736"/>
          <a:ext cx="5623559" cy="1499616"/>
        </p:xfrm>
        <a:graphic>
          <a:graphicData uri="http://schemas.openxmlformats.org/drawingml/2006/table">
            <a:tbl>
              <a:tblPr firstRow="1" bandRow="1">
                <a:tableStyleId>{5C22544A-7EE6-4342-B048-85BDC9FD1C3A}</a:tableStyleId>
              </a:tblPr>
              <a:tblGrid>
                <a:gridCol w="1519881"/>
                <a:gridCol w="1165242"/>
                <a:gridCol w="1266567"/>
                <a:gridCol w="1671869"/>
              </a:tblGrid>
              <a:tr h="374904">
                <a:tc>
                  <a:txBody>
                    <a:bodyPr lIns="54864" rIns="54864" tIns="18288" bIns="18288" wrap="square" anchor="ctr"/>
                    <a:lstStyle/>
                    <a:p>
                      <a:pPr algn="l"/>
                      <a:r>
                        <a:rPr sz="900" b="1">
                          <a:solidFill>
                            <a:srgbClr val="FFFFFF"/>
                          </a:solidFill>
                          <a:latin typeface="Calibri"/>
                        </a:rPr>
                        <a:t>Input</a:t>
                      </a:r>
                    </a:p>
                  </a:txBody>
                  <a:tcPr>
                    <a:solidFill>
                      <a:srgbClr val="143D2F"/>
                    </a:solidFill>
                  </a:tcPr>
                </a:tc>
                <a:tc>
                  <a:txBody>
                    <a:bodyPr lIns="54864" rIns="54864" tIns="18288" bIns="18288" wrap="square" anchor="ctr"/>
                    <a:lstStyle/>
                    <a:p>
                      <a:pPr algn="l"/>
                      <a:r>
                        <a:rPr sz="900" b="1">
                          <a:solidFill>
                            <a:srgbClr val="FFFFFF"/>
                          </a:solidFill>
                          <a:latin typeface="Calibri"/>
                        </a:rPr>
                        <a:t>Entered</a:t>
                      </a:r>
                    </a:p>
                  </a:txBody>
                  <a:tcPr>
                    <a:solidFill>
                      <a:srgbClr val="143D2F"/>
                    </a:solidFill>
                  </a:tcPr>
                </a:tc>
                <a:tc>
                  <a:txBody>
                    <a:bodyPr lIns="54864" rIns="54864" tIns="18288" bIns="18288" wrap="square" anchor="ctr"/>
                    <a:lstStyle/>
                    <a:p>
                      <a:pPr algn="l"/>
                      <a:r>
                        <a:rPr sz="900" b="1">
                          <a:solidFill>
                            <a:srgbClr val="FFFFFF"/>
                          </a:solidFill>
                          <a:latin typeface="Calibri"/>
                        </a:rPr>
                        <a:t>True</a:t>
                      </a:r>
                    </a:p>
                  </a:txBody>
                  <a:tcPr>
                    <a:solidFill>
                      <a:srgbClr val="143D2F"/>
                    </a:solidFill>
                  </a:tcPr>
                </a:tc>
                <a:tc>
                  <a:txBody>
                    <a:bodyPr lIns="54864" rIns="54864" tIns="18288" bIns="18288" wrap="square" anchor="ctr"/>
                    <a:lstStyle/>
                    <a:p>
                      <a:pPr algn="l"/>
                      <a:r>
                        <a:rPr sz="900" b="1">
                          <a:solidFill>
                            <a:srgbClr val="FFFFFF"/>
                          </a:solidFill>
                          <a:latin typeface="Calibri"/>
                        </a:rPr>
                        <a:t>What it corrupts</a:t>
                      </a:r>
                    </a:p>
                  </a:txBody>
                  <a:tcPr>
                    <a:solidFill>
                      <a:srgbClr val="143D2F"/>
                    </a:solidFill>
                  </a:tcPr>
                </a:tc>
              </a:tr>
              <a:tr h="374904">
                <a:tc>
                  <a:txBody>
                    <a:bodyPr lIns="54864" rIns="54864" tIns="18288" bIns="18288" wrap="square" anchor="ctr"/>
                    <a:lstStyle/>
                    <a:p>
                      <a:pPr algn="l"/>
                      <a:r>
                        <a:rPr sz="850" b="0">
                          <a:solidFill>
                            <a:srgbClr val="000000"/>
                          </a:solidFill>
                          <a:latin typeface="Calibri"/>
                        </a:rPr>
                        <a:t>frame rate</a:t>
                      </a:r>
                    </a:p>
                  </a:txBody>
                  <a:tcPr/>
                </a:tc>
                <a:tc>
                  <a:txBody>
                    <a:bodyPr lIns="54864" rIns="54864" tIns="18288" bIns="18288" wrap="square" anchor="ctr"/>
                    <a:lstStyle/>
                    <a:p>
                      <a:pPr algn="l"/>
                      <a:r>
                        <a:rPr sz="850" b="0">
                          <a:solidFill>
                            <a:srgbClr val="000000"/>
                          </a:solidFill>
                          <a:latin typeface="Calibri"/>
                        </a:rPr>
                        <a:t>1000 fps</a:t>
                      </a:r>
                    </a:p>
                  </a:txBody>
                  <a:tcPr/>
                </a:tc>
                <a:tc>
                  <a:txBody>
                    <a:bodyPr lIns="54864" rIns="54864" tIns="18288" bIns="18288" wrap="square" anchor="ctr"/>
                    <a:lstStyle/>
                    <a:p>
                      <a:pPr algn="l"/>
                      <a:r>
                        <a:rPr sz="850" b="0">
                          <a:solidFill>
                            <a:srgbClr val="000000"/>
                          </a:solidFill>
                          <a:latin typeface="Calibri"/>
                        </a:rPr>
                        <a:t>19.864 fps</a:t>
                      </a:r>
                    </a:p>
                  </a:txBody>
                  <a:tcPr/>
                </a:tc>
                <a:tc>
                  <a:txBody>
                    <a:bodyPr lIns="54864" rIns="54864" tIns="18288" bIns="18288" wrap="square" anchor="ctr"/>
                    <a:lstStyle/>
                    <a:p>
                      <a:pPr algn="l"/>
                      <a:r>
                        <a:rPr sz="850" b="0">
                          <a:solidFill>
                            <a:srgbClr val="000000"/>
                          </a:solidFill>
                          <a:latin typeface="Calibri"/>
                        </a:rPr>
                        <a:t>every time output,
by 50.3×</a:t>
                      </a:r>
                    </a:p>
                  </a:txBody>
                  <a:tcPr/>
                </a:tc>
              </a:tr>
              <a:tr h="374904">
                <a:tc>
                  <a:txBody>
                    <a:bodyPr lIns="54864" rIns="54864" tIns="18288" bIns="18288" wrap="square" anchor="ctr"/>
                    <a:lstStyle/>
                    <a:p>
                      <a:pPr algn="l"/>
                      <a:r>
                        <a:rPr sz="850" b="0">
                          <a:solidFill>
                            <a:srgbClr val="000000"/>
                          </a:solidFill>
                          <a:latin typeface="Calibri"/>
                        </a:rPr>
                        <a:t>gauge</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45.0034 mm</a:t>
                      </a:r>
                    </a:p>
                  </a:txBody>
                  <a:tcPr/>
                </a:tc>
                <a:tc>
                  <a:txBody>
                    <a:bodyPr lIns="54864" rIns="54864" tIns="18288" bIns="18288" wrap="square" anchor="ctr"/>
                    <a:lstStyle/>
                    <a:p>
                      <a:pPr algn="l"/>
                      <a:r>
                        <a:rPr sz="850" b="0">
                          <a:solidFill>
                            <a:srgbClr val="000000"/>
                          </a:solidFill>
                          <a:latin typeface="Calibri"/>
                        </a:rPr>
                        <a:t>px/mm and the
extension in mm</a:t>
                      </a:r>
                    </a:p>
                  </a:txBody>
                  <a:tcPr/>
                </a:tc>
              </a:tr>
              <a:tr h="374904">
                <a:tc>
                  <a:txBody>
                    <a:bodyPr lIns="54864" rIns="54864" tIns="18288" bIns="18288" wrap="square" anchor="ctr"/>
                    <a:lstStyle/>
                    <a:p>
                      <a:pPr algn="l"/>
                      <a:r>
                        <a:rPr sz="850" b="0">
                          <a:solidFill>
                            <a:srgbClr val="000000"/>
                          </a:solidFill>
                          <a:latin typeface="Calibri"/>
                        </a:rPr>
                        <a:t>px/mm (derived)</a:t>
                      </a:r>
                    </a:p>
                  </a:txBody>
                  <a:tcPr/>
                </a:tc>
                <a:tc>
                  <a:txBody>
                    <a:bodyPr lIns="54864" rIns="54864" tIns="18288" bIns="18288" wrap="square" anchor="ctr"/>
                    <a:lstStyle/>
                    <a:p>
                      <a:pPr algn="l"/>
                      <a:r>
                        <a:rPr sz="850" b="0">
                          <a:solidFill>
                            <a:srgbClr val="000000"/>
                          </a:solidFill>
                          <a:latin typeface="Calibri"/>
                        </a:rPr>
                        <a:t>15.6866</a:t>
                      </a:r>
                    </a:p>
                  </a:txBody>
                  <a:tcPr/>
                </a:tc>
                <a:tc>
                  <a:txBody>
                    <a:bodyPr lIns="54864" rIns="54864" tIns="18288" bIns="18288" wrap="square" anchor="ctr"/>
                    <a:lstStyle/>
                    <a:p>
                      <a:pPr algn="l"/>
                      <a:r>
                        <a:rPr sz="850" b="0">
                          <a:solidFill>
                            <a:srgbClr val="000000"/>
                          </a:solidFill>
                          <a:latin typeface="Calibri"/>
                        </a:rPr>
                        <a:t>27.8852</a:t>
                      </a:r>
                    </a:p>
                  </a:txBody>
                  <a:tcPr/>
                </a:tc>
                <a:tc>
                  <a:txBody>
                    <a:bodyPr lIns="54864" rIns="54864" tIns="18288" bIns="18288" wrap="square" anchor="ctr"/>
                    <a:lstStyle/>
                    <a:p>
                      <a:pPr algn="l"/>
                      <a:r>
                        <a:rPr sz="850" b="0">
                          <a:solidFill>
                            <a:srgbClr val="000000"/>
                          </a:solidFill>
                          <a:latin typeface="Calibri"/>
                        </a:rPr>
                        <a:t>nothing further</a:t>
                      </a:r>
                    </a:p>
                  </a:txBody>
                  <a:tcPr/>
                </a:tc>
              </a:tr>
            </a:tbl>
          </a:graphicData>
        </a:graphic>
      </p:graphicFrame>
      <p:sp>
        <p:nvSpPr>
          <p:cNvPr id="10" name="TextBox 9"/>
          <p:cNvSpPr txBox="1"/>
          <p:nvPr/>
        </p:nvSpPr>
        <p:spPr>
          <a:xfrm>
            <a:off x="6263640" y="160934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Neither one touches the strain</a:t>
            </a:r>
          </a:p>
        </p:txBody>
      </p:sp>
      <p:sp>
        <p:nvSpPr>
          <p:cNvPr id="11" name="TextBox 10"/>
          <p:cNvSpPr txBox="1"/>
          <p:nvPr/>
        </p:nvSpPr>
        <p:spPr>
          <a:xfrm>
            <a:off x="6263640" y="1956816"/>
            <a:ext cx="5577840" cy="1234440"/>
          </a:xfrm>
          <a:prstGeom prst="rect">
            <a:avLst/>
          </a:prstGeom>
          <a:noFill/>
        </p:spPr>
        <p:txBody>
          <a:bodyPr wrap="square" lIns="45720" rIns="45720" tIns="18288" bIns="18288" anchor="t">
            <a:spAutoFit/>
          </a:bodyPr>
          <a:lstStyle/>
          <a:p>
            <a:pPr algn="l"/>
            <a:r>
              <a:rPr sz="950" b="0" i="0">
                <a:solidFill>
                  <a:srgbClr val="000000"/>
                </a:solidFill>
                <a:latin typeface="Calibri"/>
              </a:rPr>
              <a:t>Because strain is a pixel ratio:   ε = (L − Px₀) / Px₀.
The frame rate is not in it and the gauge is not in it. So this run is an accidental controlled experiment in the deck's own claim about px/mm (p316): two wrong inputs, and exactly the outputs that depend on them came out wrong while the measurement itself did not move at all.</a:t>
            </a:r>
          </a:p>
        </p:txBody>
      </p:sp>
      <p:sp>
        <p:nvSpPr>
          <p:cNvPr id="12" name="TextBox 11"/>
          <p:cNvSpPr txBox="1"/>
          <p:nvPr/>
        </p:nvSpPr>
        <p:spPr>
          <a:xfrm>
            <a:off x="6263640" y="3255264"/>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it answers a question we left open</a:t>
            </a:r>
          </a:p>
        </p:txBody>
      </p:sp>
      <p:sp>
        <p:nvSpPr>
          <p:cNvPr id="13" name="TextBox 12"/>
          <p:cNvSpPr txBox="1"/>
          <p:nvPr/>
        </p:nvSpPr>
        <p:spPr>
          <a:xfrm>
            <a:off x="6263640" y="3602736"/>
            <a:ext cx="5577840" cy="1499616"/>
          </a:xfrm>
          <a:prstGeom prst="rect">
            <a:avLst/>
          </a:prstGeom>
          <a:noFill/>
        </p:spPr>
        <p:txBody>
          <a:bodyPr wrap="square" lIns="45720" rIns="45720" tIns="18288" bIns="18288" anchor="t">
            <a:spAutoFit/>
          </a:bodyPr>
          <a:lstStyle/>
          <a:p>
            <a:pPr algn="l"/>
            <a:r>
              <a:rPr sz="950" b="0" i="0">
                <a:solidFill>
                  <a:srgbClr val="000000"/>
                </a:solidFill>
                <a:latin typeface="Calibri"/>
              </a:rPr>
              <a:t>The previous slide-set said the XT-205's Test 2 optics were unknown, so its pixel span could not be computed and its noise could not be explained. It can now: Px₀ = 1254.9 px over 45.0034 mm is 27.885 px/mm — the SAME 27.9 px/mm they used in MOT Test 1. The XT-205's optics did not change between the two tests; only the gauge did.</a:t>
            </a:r>
          </a:p>
        </p:txBody>
      </p:sp>
      <p:sp>
        <p:nvSpPr>
          <p:cNvPr id="14" name="Rectangle 13"/>
          <p:cNvSpPr/>
          <p:nvPr/>
        </p:nvSpPr>
        <p:spPr>
          <a:xfrm>
            <a:off x="365760" y="5266944"/>
            <a:ext cx="11475720" cy="475488"/>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The clock was corrected from the acquisition, not re-run: the .daq already carries the true time base, so the fix is exact rather than approximate.</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Source: Validation docs\MOT Test 2\DIC post processing data\sample3_chan 0_dic_postproc.csv (3351 frames, 100 % tracked, 0 re-seeds), read by documentation/scripts/mot2_pp.py.</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331</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TWO STRAIN RECORDS FROM ONE VIDEO</a:t>
            </a:r>
          </a:p>
        </p:txBody>
      </p:sp>
      <p:pic>
        <p:nvPicPr>
          <p:cNvPr id="5" name="Picture 4" descr="mot2pp_strain_pp.png"/>
          <p:cNvPicPr>
            <a:picLocks noChangeAspect="1"/>
          </p:cNvPicPr>
          <p:nvPr/>
        </p:nvPicPr>
        <p:blipFill>
          <a:blip r:embed="rId2"/>
          <a:stretch>
            <a:fillRect/>
          </a:stretch>
        </p:blipFill>
        <p:spPr>
          <a:xfrm>
            <a:off x="320040" y="987552"/>
            <a:ext cx="5806440" cy="3162858"/>
          </a:xfrm>
          <a:prstGeom prst="rect">
            <a:avLst/>
          </a:prstGeom>
        </p:spPr>
      </p:pic>
      <p:pic>
        <p:nvPicPr>
          <p:cNvPr id="6" name="Picture 5" descr="mot2pp_strain_mot.png"/>
          <p:cNvPicPr>
            <a:picLocks noChangeAspect="1"/>
          </p:cNvPicPr>
          <p:nvPr/>
        </p:nvPicPr>
        <p:blipFill>
          <a:blip r:embed="rId3"/>
          <a:stretch>
            <a:fillRect/>
          </a:stretch>
        </p:blipFill>
        <p:spPr>
          <a:xfrm>
            <a:off x="6172200" y="987552"/>
            <a:ext cx="5806440" cy="3162858"/>
          </a:xfrm>
          <a:prstGeom prst="rect">
            <a:avLst/>
          </a:prstGeom>
        </p:spPr>
      </p:pic>
      <p:sp>
        <p:nvSpPr>
          <p:cNvPr id="7" name="TextBox 6"/>
          <p:cNvSpPr txBox="1"/>
          <p:nvPr/>
        </p:nvSpPr>
        <p:spPr>
          <a:xfrm>
            <a:off x="411480" y="422452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Read them apart first</a:t>
            </a:r>
          </a:p>
        </p:txBody>
      </p:sp>
      <p:sp>
        <p:nvSpPr>
          <p:cNvPr id="8" name="TextBox 7"/>
          <p:cNvSpPr txBox="1"/>
          <p:nvPr/>
        </p:nvSpPr>
        <p:spPr>
          <a:xfrm>
            <a:off x="411480" y="4572000"/>
            <a:ext cx="3703320" cy="1417320"/>
          </a:xfrm>
          <a:prstGeom prst="rect">
            <a:avLst/>
          </a:prstGeom>
          <a:noFill/>
        </p:spPr>
        <p:txBody>
          <a:bodyPr wrap="square" lIns="45720" rIns="45720" tIns="18288" bIns="18288" anchor="t">
            <a:spAutoFit/>
          </a:bodyPr>
          <a:lstStyle/>
          <a:p>
            <a:pPr algn="l"/>
            <a:r>
              <a:rPr sz="950" b="0" i="0">
                <a:solidFill>
                  <a:srgbClr val="000000"/>
                </a:solidFill>
                <a:latin typeface="Calibri"/>
              </a:rPr>
              <a:t>Two instruments, one video, one specimen, one clock. On their own zero-load zeros the peaks are 5.325 % (ours) and 5.327 % (theirs) — 0.03 % apart, before any correction or alignment is applied to either.</a:t>
            </a:r>
          </a:p>
        </p:txBody>
      </p:sp>
      <p:sp>
        <p:nvSpPr>
          <p:cNvPr id="9" name="TextBox 8"/>
          <p:cNvSpPr txBox="1"/>
          <p:nvPr/>
        </p:nvSpPr>
        <p:spPr>
          <a:xfrm>
            <a:off x="4343400" y="422452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same trap, one sample apart</a:t>
            </a:r>
          </a:p>
        </p:txBody>
      </p:sp>
      <p:sp>
        <p:nvSpPr>
          <p:cNvPr id="10" name="TextBox 9"/>
          <p:cNvSpPr txBox="1"/>
          <p:nvPr/>
        </p:nvSpPr>
        <p:spPr>
          <a:xfrm>
            <a:off x="4343400" y="4572000"/>
            <a:ext cx="3703320" cy="1417320"/>
          </a:xfrm>
          <a:prstGeom prst="rect">
            <a:avLst/>
          </a:prstGeom>
          <a:noFill/>
        </p:spPr>
        <p:txBody>
          <a:bodyPr wrap="square" lIns="45720" rIns="45720" tIns="18288" bIns="18288" anchor="t">
            <a:spAutoFit/>
          </a:bodyPr>
          <a:lstStyle/>
          <a:p>
            <a:pPr algn="l"/>
            <a:r>
              <a:rPr sz="950" b="0" i="0">
                <a:solidFill>
                  <a:srgbClr val="000000"/>
                </a:solidFill>
                <a:latin typeface="Calibri"/>
              </a:rPr>
              <a:t>Both records run past the specimen parting, and both then follow the halves rather than the gauge. Theirs collapses 5.33 → 2.78 % and the peak is read before it. Ours holds on longer and then jumps +3.42 px in one 50 ms frame; 4 trailing frames are dropped. Untrimmed it would report 5.402 %, and a 1.6 % disagreement where there is none.</a:t>
            </a:r>
          </a:p>
        </p:txBody>
      </p:sp>
      <p:sp>
        <p:nvSpPr>
          <p:cNvPr id="11" name="TextBox 10"/>
          <p:cNvSpPr txBox="1"/>
          <p:nvPr/>
        </p:nvSpPr>
        <p:spPr>
          <a:xfrm>
            <a:off x="8275320" y="4224528"/>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the trim rule is safe</a:t>
            </a:r>
          </a:p>
        </p:txBody>
      </p:sp>
      <p:sp>
        <p:nvSpPr>
          <p:cNvPr id="12" name="TextBox 11"/>
          <p:cNvSpPr txBox="1"/>
          <p:nvPr/>
        </p:nvSpPr>
        <p:spPr>
          <a:xfrm>
            <a:off x="8275320" y="4572000"/>
            <a:ext cx="3566160" cy="1417320"/>
          </a:xfrm>
          <a:prstGeom prst="rect">
            <a:avLst/>
          </a:prstGeom>
          <a:noFill/>
        </p:spPr>
        <p:txBody>
          <a:bodyPr wrap="square" lIns="45720" rIns="45720" tIns="18288" bIns="18288" anchor="t">
            <a:spAutoFit/>
          </a:bodyPr>
          <a:lstStyle/>
          <a:p>
            <a:pPr algn="l"/>
            <a:r>
              <a:rPr sz="950" b="0" i="0">
                <a:solidFill>
                  <a:srgbClr val="000000"/>
                </a:solidFill>
                <a:latin typeface="Calibri"/>
              </a:rPr>
              <a:t>It is relative, not absolute: a trailing sample is dropped only if the marker span moves more than 10× the median step of the preceding 40 frames. A fast but genuine plastic ramp cannot trip it, and it is applied to both records even though only one needs it.</a:t>
            </a:r>
          </a:p>
        </p:txBody>
      </p:sp>
      <p:sp>
        <p:nvSpPr>
          <p:cNvPr id="13" name="Rectangle 12"/>
          <p:cNvSpPr/>
          <p:nvPr/>
        </p:nvSpPr>
        <p:spPr>
          <a:xfrm>
            <a:off x="365760" y="6053328"/>
            <a:ext cx="11475720" cy="365760"/>
          </a:xfrm>
          <a:prstGeom prst="rect">
            <a:avLst/>
          </a:prstGeom>
          <a:solidFill>
            <a:srgbClr val="FFF3CD"/>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A specimen cannot stretch further in 50 ms than it did in the previous second while the load is FALLING. That is the whole test, and it is what separates the tear from the pull.</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plots are the FULL records on each instrument's own zero-load zero, so they can be read against each other directly. Every landmark table in this block re-zeroes both at the 300 N preload instead.</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SAME PIXELS, TWO CALCULATIONS, ONE ANSWER</a:t>
            </a:r>
          </a:p>
        </p:txBody>
      </p:sp>
      <p:pic>
        <p:nvPicPr>
          <p:cNvPr id="5" name="Picture 4" descr="mot2pp_agree.png"/>
          <p:cNvPicPr>
            <a:picLocks noChangeAspect="1"/>
          </p:cNvPicPr>
          <p:nvPr/>
        </p:nvPicPr>
        <p:blipFill>
          <a:blip r:embed="rId2"/>
          <a:stretch>
            <a:fillRect/>
          </a:stretch>
        </p:blipFill>
        <p:spPr>
          <a:xfrm>
            <a:off x="1953635" y="987552"/>
            <a:ext cx="8345689" cy="2999232"/>
          </a:xfrm>
          <a:prstGeom prst="rect">
            <a:avLst/>
          </a:prstGeom>
        </p:spPr>
      </p:pic>
      <p:sp>
        <p:nvSpPr>
          <p:cNvPr id="6" name="TextBox 5"/>
          <p:cNvSpPr txBox="1"/>
          <p:nvPr/>
        </p:nvSpPr>
        <p:spPr>
          <a:xfrm>
            <a:off x="411480" y="4059936"/>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Scale and offset, separated — they are different faults</a:t>
            </a:r>
          </a:p>
        </p:txBody>
      </p:sp>
      <p:graphicFrame>
        <p:nvGraphicFramePr>
          <p:cNvPr id="7" name="Table 6"/>
          <p:cNvGraphicFramePr>
            <a:graphicFrameLocks noGrp="1"/>
          </p:cNvGraphicFramePr>
          <p:nvPr/>
        </p:nvGraphicFramePr>
        <p:xfrm>
          <a:off x="411480" y="4407408"/>
          <a:ext cx="5623559" cy="1298448"/>
        </p:xfrm>
        <a:graphic>
          <a:graphicData uri="http://schemas.openxmlformats.org/drawingml/2006/table">
            <a:tbl>
              <a:tblPr firstRow="1" bandRow="1">
                <a:tableStyleId>{5C22544A-7EE6-4342-B048-85BDC9FD1C3A}</a:tableStyleId>
              </a:tblPr>
              <a:tblGrid>
                <a:gridCol w="1005840"/>
                <a:gridCol w="1234439"/>
                <a:gridCol w="3383280"/>
              </a:tblGrid>
              <a:tr h="324612">
                <a:tc>
                  <a:txBody>
                    <a:bodyPr lIns="54864" rIns="54864" tIns="18288" bIns="18288" wrap="square" anchor="ctr"/>
                    <a:lstStyle/>
                    <a:p>
                      <a:pPr algn="l"/>
                      <a:r>
                        <a:rPr sz="900" b="1">
                          <a:solidFill>
                            <a:srgbClr val="FFFFFF"/>
                          </a:solidFill>
                          <a:latin typeface="Calibri"/>
                        </a:rPr>
                        <a:t>Quantity</a:t>
                      </a:r>
                    </a:p>
                  </a:txBody>
                  <a:tcPr>
                    <a:solidFill>
                      <a:srgbClr val="143D2F"/>
                    </a:solidFill>
                  </a:tcPr>
                </a:tc>
                <a:tc>
                  <a:txBody>
                    <a:bodyPr lIns="54864" rIns="54864" tIns="18288" bIns="18288" wrap="square" anchor="ctr"/>
                    <a:lstStyle/>
                    <a:p>
                      <a:pPr algn="l"/>
                      <a:r>
                        <a:rPr sz="900" b="1">
                          <a:solidFill>
                            <a:srgbClr val="FFFFFF"/>
                          </a:solidFill>
                          <a:latin typeface="Calibri"/>
                        </a:rPr>
                        <a:t>Value</a:t>
                      </a:r>
                    </a:p>
                  </a:txBody>
                  <a:tcPr>
                    <a:solidFill>
                      <a:srgbClr val="143D2F"/>
                    </a:solidFill>
                  </a:tcPr>
                </a:tc>
                <a:tc>
                  <a:txBody>
                    <a:bodyPr lIns="54864" rIns="54864" tIns="18288" bIns="18288" wrap="square" anchor="ctr"/>
                    <a:lstStyle/>
                    <a:p>
                      <a:pPr algn="l"/>
                      <a:r>
                        <a:rPr sz="900" b="1">
                          <a:solidFill>
                            <a:srgbClr val="FFFFFF"/>
                          </a:solidFill>
                          <a:latin typeface="Calibri"/>
                        </a:rPr>
                        <a:t>What it means</a:t>
                      </a:r>
                    </a:p>
                  </a:txBody>
                  <a:tcPr>
                    <a:solidFill>
                      <a:srgbClr val="143D2F"/>
                    </a:solidFill>
                  </a:tcPr>
                </a:tc>
              </a:tr>
              <a:tr h="324612">
                <a:tc>
                  <a:txBody>
                    <a:bodyPr lIns="54864" rIns="54864" tIns="18288" bIns="18288" wrap="square" anchor="ctr"/>
                    <a:lstStyle/>
                    <a:p>
                      <a:pPr algn="l"/>
                      <a:r>
                        <a:rPr sz="850" b="0">
                          <a:solidFill>
                            <a:srgbClr val="000000"/>
                          </a:solidFill>
                          <a:latin typeface="Calibri"/>
                        </a:rPr>
                        <a:t>scale</a:t>
                      </a:r>
                    </a:p>
                  </a:txBody>
                  <a:tcPr/>
                </a:tc>
                <a:tc>
                  <a:txBody>
                    <a:bodyPr lIns="54864" rIns="54864" tIns="18288" bIns="18288" wrap="square" anchor="ctr"/>
                    <a:lstStyle/>
                    <a:p>
                      <a:pPr algn="l"/>
                      <a:r>
                        <a:rPr sz="850" b="0">
                          <a:solidFill>
                            <a:srgbClr val="000000"/>
                          </a:solidFill>
                          <a:latin typeface="Calibri"/>
                        </a:rPr>
                        <a:t>0.999283</a:t>
                      </a:r>
                    </a:p>
                  </a:txBody>
                  <a:tcPr/>
                </a:tc>
                <a:tc>
                  <a:txBody>
                    <a:bodyPr lIns="54864" rIns="54864" tIns="18288" bIns="18288" wrap="square" anchor="ctr"/>
                    <a:lstStyle/>
                    <a:p>
                      <a:pPr algn="l"/>
                      <a:r>
                        <a:rPr sz="850" b="0">
                          <a:solidFill>
                            <a:srgbClr val="000000"/>
                          </a:solidFill>
                          <a:latin typeface="Calibri"/>
                        </a:rPr>
                        <a:t>the two calculations differ by
0.072 % of scale</a:t>
                      </a:r>
                    </a:p>
                  </a:txBody>
                  <a:tcPr/>
                </a:tc>
              </a:tr>
              <a:tr h="324612">
                <a:tc>
                  <a:txBody>
                    <a:bodyPr lIns="54864" rIns="54864" tIns="18288" bIns="18288" wrap="square" anchor="ctr"/>
                    <a:lstStyle/>
                    <a:p>
                      <a:pPr algn="l"/>
                      <a:r>
                        <a:rPr sz="850" b="0">
                          <a:solidFill>
                            <a:srgbClr val="000000"/>
                          </a:solidFill>
                          <a:latin typeface="Calibri"/>
                        </a:rPr>
                        <a:t>offset</a:t>
                      </a:r>
                    </a:p>
                  </a:txBody>
                  <a:tcPr/>
                </a:tc>
                <a:tc>
                  <a:txBody>
                    <a:bodyPr lIns="54864" rIns="54864" tIns="18288" bIns="18288" wrap="square" anchor="ctr"/>
                    <a:lstStyle/>
                    <a:p>
                      <a:pPr algn="l"/>
                      <a:r>
                        <a:rPr sz="850" b="0">
                          <a:solidFill>
                            <a:srgbClr val="000000"/>
                          </a:solidFill>
                          <a:latin typeface="Calibri"/>
                        </a:rPr>
                        <a:t>-54.8 µε</a:t>
                      </a:r>
                    </a:p>
                  </a:txBody>
                  <a:tcPr/>
                </a:tc>
                <a:tc>
                  <a:txBody>
                    <a:bodyPr lIns="54864" rIns="54864" tIns="18288" bIns="18288" wrap="square" anchor="ctr"/>
                    <a:lstStyle/>
                    <a:p>
                      <a:pPr algn="l"/>
                      <a:r>
                        <a:rPr sz="850" b="0">
                          <a:solidFill>
                            <a:srgbClr val="000000"/>
                          </a:solidFill>
                          <a:latin typeface="Calibri"/>
                        </a:rPr>
                        <a:t>-0.0688 px on a 1255 px span —
a reference-frame difference</a:t>
                      </a:r>
                    </a:p>
                  </a:txBody>
                  <a:tcPr/>
                </a:tc>
              </a:tr>
              <a:tr h="324612">
                <a:tc>
                  <a:txBody>
                    <a:bodyPr lIns="54864" rIns="54864" tIns="18288" bIns="18288" wrap="square" anchor="ctr"/>
                    <a:lstStyle/>
                    <a:p>
                      <a:pPr algn="l"/>
                      <a:r>
                        <a:rPr sz="850" b="0">
                          <a:solidFill>
                            <a:srgbClr val="000000"/>
                          </a:solidFill>
                          <a:latin typeface="Calibri"/>
                        </a:rPr>
                        <a:t>R²</a:t>
                      </a:r>
                    </a:p>
                  </a:txBody>
                  <a:tcPr/>
                </a:tc>
                <a:tc>
                  <a:txBody>
                    <a:bodyPr lIns="54864" rIns="54864" tIns="18288" bIns="18288" wrap="square" anchor="ctr"/>
                    <a:lstStyle/>
                    <a:p>
                      <a:pPr algn="l"/>
                      <a:r>
                        <a:rPr sz="850" b="0">
                          <a:solidFill>
                            <a:srgbClr val="000000"/>
                          </a:solidFill>
                          <a:latin typeface="Calibri"/>
                        </a:rPr>
                        <a:t>0.9999964</a:t>
                      </a:r>
                    </a:p>
                  </a:txBody>
                  <a:tcPr/>
                </a:tc>
                <a:tc>
                  <a:txBody>
                    <a:bodyPr lIns="54864" rIns="54864" tIns="18288" bIns="18288" wrap="square" anchor="ctr"/>
                    <a:lstStyle/>
                    <a:p>
                      <a:pPr algn="l"/>
                      <a:r>
                        <a:rPr sz="850" b="0">
                          <a:solidFill>
                            <a:srgbClr val="000000"/>
                          </a:solidFill>
                          <a:latin typeface="Calibri"/>
                        </a:rPr>
                        <a:t>residual sd 30.3 µε over
3153 points</a:t>
                      </a:r>
                    </a:p>
                  </a:txBody>
                  <a:tcPr/>
                </a:tc>
              </a:tr>
            </a:tbl>
          </a:graphicData>
        </a:graphic>
      </p:graphicFrame>
      <p:sp>
        <p:nvSpPr>
          <p:cNvPr id="8" name="TextBox 7"/>
          <p:cNvSpPr txBox="1"/>
          <p:nvPr/>
        </p:nvSpPr>
        <p:spPr>
          <a:xfrm>
            <a:off x="6263640" y="4059936"/>
            <a:ext cx="274320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not just a ratio</a:t>
            </a:r>
          </a:p>
        </p:txBody>
      </p:sp>
      <p:sp>
        <p:nvSpPr>
          <p:cNvPr id="9" name="TextBox 8"/>
          <p:cNvSpPr txBox="1"/>
          <p:nvPr/>
        </p:nvSpPr>
        <p:spPr>
          <a:xfrm>
            <a:off x="6263640" y="4407408"/>
            <a:ext cx="2743200" cy="1298448"/>
          </a:xfrm>
          <a:prstGeom prst="rect">
            <a:avLst/>
          </a:prstGeom>
          <a:noFill/>
        </p:spPr>
        <p:txBody>
          <a:bodyPr wrap="square" lIns="45720" rIns="45720" tIns="18288" bIns="18288" anchor="t">
            <a:spAutoFit/>
          </a:bodyPr>
          <a:lstStyle/>
          <a:p>
            <a:pPr algn="l"/>
            <a:r>
              <a:rPr sz="950" b="0" i="0">
                <a:solidFill>
                  <a:srgbClr val="000000"/>
                </a:solidFill>
                <a:latin typeface="Calibri"/>
              </a:rPr>
              <a:t>A ratio cannot tell a scale error from a constant offset: a fixed 55 µε is 1.5 % of the reading at 0.3 % strain and 0.1 % of it at 5 %, which looks exactly like a drifting scale. Regressing separates them.</a:t>
            </a:r>
          </a:p>
        </p:txBody>
      </p:sp>
      <p:sp>
        <p:nvSpPr>
          <p:cNvPr id="10" name="TextBox 9"/>
          <p:cNvSpPr txBox="1"/>
          <p:nvPr/>
        </p:nvSpPr>
        <p:spPr>
          <a:xfrm>
            <a:off x="9189720" y="4059936"/>
            <a:ext cx="2651760" cy="365760"/>
          </a:xfrm>
          <a:prstGeom prst="rect">
            <a:avLst/>
          </a:prstGeom>
          <a:noFill/>
        </p:spPr>
        <p:txBody>
          <a:bodyPr wrap="square" lIns="45720" rIns="45720" tIns="18288" bIns="18288" anchor="t">
            <a:spAutoFit/>
          </a:bodyPr>
          <a:lstStyle/>
          <a:p>
            <a:pPr algn="l"/>
            <a:r>
              <a:rPr sz="1600" b="0" i="0">
                <a:solidFill>
                  <a:srgbClr val="707070"/>
                </a:solidFill>
                <a:latin typeface="Calibri"/>
              </a:rPr>
              <a:t>MOT Test 1 said the same</a:t>
            </a:r>
          </a:p>
        </p:txBody>
      </p:sp>
      <p:sp>
        <p:nvSpPr>
          <p:cNvPr id="11" name="TextBox 10"/>
          <p:cNvSpPr txBox="1"/>
          <p:nvPr/>
        </p:nvSpPr>
        <p:spPr>
          <a:xfrm>
            <a:off x="9189720" y="4407408"/>
            <a:ext cx="2651760" cy="1298448"/>
          </a:xfrm>
          <a:prstGeom prst="rect">
            <a:avLst/>
          </a:prstGeom>
          <a:noFill/>
        </p:spPr>
        <p:txBody>
          <a:bodyPr wrap="square" lIns="45720" rIns="45720" tIns="18288" bIns="18288" anchor="t">
            <a:spAutoFit/>
          </a:bodyPr>
          <a:lstStyle/>
          <a:p>
            <a:pPr algn="l"/>
            <a:r>
              <a:rPr sz="950" b="0" i="0">
                <a:solidFill>
                  <a:srgbClr val="000000"/>
                </a:solidFill>
                <a:latin typeface="Calibri"/>
              </a:rPr>
              <a:t>On the 80 mm footage the two calculations agreed to a median ratio of 1.0017 and k = 0.99991 (p303). Different gauge, different specimen, same answer — which is what makes it a repeat rather than a coincidence.</a:t>
            </a:r>
          </a:p>
        </p:txBody>
      </p:sp>
      <p:sp>
        <p:nvSpPr>
          <p:cNvPr id="12" name="Rectangle 11"/>
          <p:cNvSpPr/>
          <p:nvPr/>
        </p:nvSpPr>
        <p:spPr>
          <a:xfrm>
            <a:off x="365760" y="5870448"/>
            <a:ext cx="11475720" cy="47548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Same footage, two independent calculations: they agree on SCALE to 0.072 % and differ by a constant of 0.069 px — less than a tenth of one pixel on the marker span. Our maths is not the thing that could be wrong.</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3253 instants matched on the shared clock; the 3153 above 0.05 % strain are used, because below that a ratio measures the noise floor rather than the strain.</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333</a:t>
            </a:r>
          </a:p>
        </p:txBody>
      </p:sp>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ONE LOAD CHANNEL, THREE STRAIN READINGS</a:t>
            </a:r>
          </a:p>
        </p:txBody>
      </p:sp>
      <p:pic>
        <p:nvPicPr>
          <p:cNvPr id="5" name="Picture 4" descr="mot2pp_stress.png"/>
          <p:cNvPicPr>
            <a:picLocks noChangeAspect="1"/>
          </p:cNvPicPr>
          <p:nvPr/>
        </p:nvPicPr>
        <p:blipFill>
          <a:blip r:embed="rId2"/>
          <a:stretch>
            <a:fillRect/>
          </a:stretch>
        </p:blipFill>
        <p:spPr>
          <a:xfrm>
            <a:off x="276229" y="969264"/>
            <a:ext cx="6140948" cy="3593592"/>
          </a:xfrm>
          <a:prstGeom prst="rect">
            <a:avLst/>
          </a:prstGeom>
        </p:spPr>
      </p:pic>
      <p:sp>
        <p:nvSpPr>
          <p:cNvPr id="6" name="TextBox 5"/>
          <p:cNvSpPr txBox="1"/>
          <p:nvPr/>
        </p:nvSpPr>
        <p:spPr>
          <a:xfrm>
            <a:off x="6492240" y="969264"/>
            <a:ext cx="5349240" cy="365760"/>
          </a:xfrm>
          <a:prstGeom prst="rect">
            <a:avLst/>
          </a:prstGeom>
          <a:noFill/>
        </p:spPr>
        <p:txBody>
          <a:bodyPr wrap="square" lIns="45720" rIns="45720" tIns="18288" bIns="18288" anchor="t">
            <a:spAutoFit/>
          </a:bodyPr>
          <a:lstStyle/>
          <a:p>
            <a:pPr algn="l"/>
            <a:r>
              <a:rPr sz="1600" b="0" i="0">
                <a:solidFill>
                  <a:srgbClr val="707070"/>
                </a:solidFill>
                <a:latin typeface="Calibri"/>
              </a:rPr>
              <a:t>Every landmark, and the offset from the XT-205</a:t>
            </a:r>
          </a:p>
        </p:txBody>
      </p:sp>
      <p:graphicFrame>
        <p:nvGraphicFramePr>
          <p:cNvPr id="7" name="Table 6"/>
          <p:cNvGraphicFramePr>
            <a:graphicFrameLocks noGrp="1"/>
          </p:cNvGraphicFramePr>
          <p:nvPr/>
        </p:nvGraphicFramePr>
        <p:xfrm>
          <a:off x="6492240" y="1316736"/>
          <a:ext cx="5349240" cy="1920240"/>
        </p:xfrm>
        <a:graphic>
          <a:graphicData uri="http://schemas.openxmlformats.org/drawingml/2006/table">
            <a:tbl>
              <a:tblPr firstRow="1" bandRow="1">
                <a:tableStyleId>{5C22544A-7EE6-4342-B048-85BDC9FD1C3A}</a:tableStyleId>
              </a:tblPr>
              <a:tblGrid>
                <a:gridCol w="1737360"/>
                <a:gridCol w="914400"/>
                <a:gridCol w="914400"/>
                <a:gridCol w="868680"/>
                <a:gridCol w="914400"/>
              </a:tblGrid>
              <a:tr h="240030">
                <a:tc>
                  <a:txBody>
                    <a:bodyPr lIns="54864" rIns="54864" tIns="18288" bIns="18288" wrap="square" anchor="ctr"/>
                    <a:lstStyle/>
                    <a:p>
                      <a:pPr algn="l"/>
                      <a:r>
                        <a:rPr sz="850" b="1">
                          <a:solidFill>
                            <a:srgbClr val="FFFFFF"/>
                          </a:solidFill>
                          <a:latin typeface="Calibri"/>
                        </a:rPr>
                        <a:t/>
                      </a:r>
                    </a:p>
                  </a:txBody>
                  <a:tcPr>
                    <a:solidFill>
                      <a:srgbClr val="143D2F"/>
                    </a:solidFill>
                  </a:tcPr>
                </a:tc>
                <a:tc>
                  <a:txBody>
                    <a:bodyPr lIns="54864" rIns="54864" tIns="18288" bIns="18288" wrap="square" anchor="ctr"/>
                    <a:lstStyle/>
                    <a:p>
                      <a:pPr algn="l"/>
                      <a:r>
                        <a:rPr sz="850" b="1">
                          <a:solidFill>
                            <a:srgbClr val="FFFFFF"/>
                          </a:solidFill>
                          <a:latin typeface="Calibri"/>
                        </a:rPr>
                        <a:t>XT205-S2 ·
PPD-UTM DIC</a:t>
                      </a:r>
                    </a:p>
                  </a:txBody>
                  <a:tcPr>
                    <a:solidFill>
                      <a:srgbClr val="143D2F"/>
                    </a:solidFill>
                  </a:tcPr>
                </a:tc>
                <a:tc>
                  <a:txBody>
                    <a:bodyPr lIns="54864" rIns="54864" tIns="18288" bIns="18288" wrap="square" anchor="ctr"/>
                    <a:lstStyle/>
                    <a:p>
                      <a:pPr algn="l"/>
                      <a:r>
                        <a:rPr sz="850" b="1">
                          <a:solidFill>
                            <a:srgbClr val="FFFFFF"/>
                          </a:solidFill>
                          <a:latin typeface="Calibri"/>
                        </a:rPr>
                        <a:t>XT205-S2 ·
XT-205</a:t>
                      </a:r>
                    </a:p>
                  </a:txBody>
                  <a:tcPr>
                    <a:solidFill>
                      <a:srgbClr val="143D2F"/>
                    </a:solidFill>
                  </a:tcPr>
                </a:tc>
                <a:tc>
                  <a:txBody>
                    <a:bodyPr lIns="54864" rIns="54864" tIns="18288" bIns="18288" wrap="square" anchor="ctr"/>
                    <a:lstStyle/>
                    <a:p>
                      <a:pPr algn="l"/>
                      <a:r>
                        <a:rPr sz="850" b="1">
                          <a:solidFill>
                            <a:srgbClr val="FFFFFF"/>
                          </a:solidFill>
                          <a:latin typeface="Calibri"/>
                        </a:rPr>
                        <a:t>offset</a:t>
                      </a:r>
                    </a:p>
                  </a:txBody>
                  <a:tcPr>
                    <a:solidFill>
                      <a:srgbClr val="143D2F"/>
                    </a:solidFill>
                  </a:tcPr>
                </a:tc>
                <a:tc>
                  <a:txBody>
                    <a:bodyPr lIns="54864" rIns="54864" tIns="18288" bIns="18288" wrap="square" anchor="ctr"/>
                    <a:lstStyle/>
                    <a:p>
                      <a:pPr algn="l"/>
                      <a:r>
                        <a:rPr sz="850" b="1">
                          <a:solidFill>
                            <a:srgbClr val="FFFFFF"/>
                          </a:solidFill>
                          <a:latin typeface="Calibri"/>
                        </a:rPr>
                        <a:t>S34 ·
PPD-UTM</a:t>
                      </a:r>
                    </a:p>
                  </a:txBody>
                  <a:tcPr>
                    <a:solidFill>
                      <a:srgbClr val="143D2F"/>
                    </a:solidFill>
                  </a:tcPr>
                </a:tc>
              </a:tr>
              <a:tr h="240030">
                <a:tc>
                  <a:txBody>
                    <a:bodyPr lIns="54864" rIns="54864" tIns="18288" bIns="18288" wrap="square" anchor="ctr"/>
                    <a:lstStyle/>
                    <a:p>
                      <a:pPr algn="l"/>
                      <a:r>
                        <a:rPr sz="850" b="0">
                          <a:solidFill>
                            <a:srgbClr val="000000"/>
                          </a:solidFill>
                          <a:latin typeface="Calibri"/>
                        </a:rPr>
                        <a:t>σ_y (0.2 % offset, MPa)</a:t>
                      </a:r>
                    </a:p>
                  </a:txBody>
                  <a:tcPr/>
                </a:tc>
                <a:tc>
                  <a:txBody>
                    <a:bodyPr lIns="54864" rIns="54864" tIns="18288" bIns="18288" wrap="square" anchor="ctr"/>
                    <a:lstStyle/>
                    <a:p>
                      <a:pPr algn="l"/>
                      <a:r>
                        <a:rPr sz="850" b="0">
                          <a:solidFill>
                            <a:srgbClr val="000000"/>
                          </a:solidFill>
                          <a:latin typeface="Calibri"/>
                        </a:rPr>
                        <a:t>39.61</a:t>
                      </a:r>
                    </a:p>
                  </a:txBody>
                  <a:tcPr/>
                </a:tc>
                <a:tc>
                  <a:txBody>
                    <a:bodyPr lIns="54864" rIns="54864" tIns="18288" bIns="18288" wrap="square" anchor="ctr"/>
                    <a:lstStyle/>
                    <a:p>
                      <a:pPr algn="l"/>
                      <a:r>
                        <a:rPr sz="850" b="0">
                          <a:solidFill>
                            <a:srgbClr val="000000"/>
                          </a:solidFill>
                          <a:latin typeface="Calibri"/>
                        </a:rPr>
                        <a:t>39.61</a:t>
                      </a:r>
                    </a:p>
                  </a:txBody>
                  <a:tcPr/>
                </a:tc>
                <a:tc>
                  <a:txBody>
                    <a:bodyPr lIns="54864" rIns="54864" tIns="18288" bIns="18288" wrap="square" anchor="ctr"/>
                    <a:lstStyle/>
                    <a:p>
                      <a:pPr algn="l"/>
                      <a:r>
                        <a:rPr sz="850" b="0">
                          <a:solidFill>
                            <a:srgbClr val="000000"/>
                          </a:solidFill>
                          <a:latin typeface="Calibri"/>
                        </a:rPr>
                        <a:t>+0.00 %</a:t>
                      </a:r>
                    </a:p>
                  </a:txBody>
                  <a:tcPr/>
                </a:tc>
                <a:tc>
                  <a:txBody>
                    <a:bodyPr lIns="54864" rIns="54864" tIns="18288" bIns="18288" wrap="square" anchor="ctr"/>
                    <a:lstStyle/>
                    <a:p>
                      <a:pPr algn="l"/>
                      <a:r>
                        <a:rPr sz="850" b="0">
                          <a:solidFill>
                            <a:srgbClr val="000000"/>
                          </a:solidFill>
                          <a:latin typeface="Calibri"/>
                        </a:rPr>
                        <a:t>39.23</a:t>
                      </a:r>
                    </a:p>
                  </a:txBody>
                  <a:tcPr/>
                </a:tc>
              </a:tr>
              <a:tr h="240030">
                <a:tc>
                  <a:txBody>
                    <a:bodyPr lIns="54864" rIns="54864" tIns="18288" bIns="18288" wrap="square" anchor="ctr"/>
                    <a:lstStyle/>
                    <a:p>
                      <a:pPr algn="l"/>
                      <a:r>
                        <a:rPr sz="850" b="0">
                          <a:solidFill>
                            <a:srgbClr val="000000"/>
                          </a:solidFill>
                          <a:latin typeface="Calibri"/>
                        </a:rPr>
                        <a:t>UTS (MPa)</a:t>
                      </a:r>
                    </a:p>
                  </a:txBody>
                  <a:tcPr/>
                </a:tc>
                <a:tc>
                  <a:txBody>
                    <a:bodyPr lIns="54864" rIns="54864" tIns="18288" bIns="18288" wrap="square" anchor="ctr"/>
                    <a:lstStyle/>
                    <a:p>
                      <a:pPr algn="l"/>
                      <a:r>
                        <a:rPr sz="850" b="0">
                          <a:solidFill>
                            <a:srgbClr val="000000"/>
                          </a:solidFill>
                          <a:latin typeface="Calibri"/>
                        </a:rPr>
                        <a:t>44.62</a:t>
                      </a:r>
                    </a:p>
                  </a:txBody>
                  <a:tcPr/>
                </a:tc>
                <a:tc>
                  <a:txBody>
                    <a:bodyPr lIns="54864" rIns="54864" tIns="18288" bIns="18288" wrap="square" anchor="ctr"/>
                    <a:lstStyle/>
                    <a:p>
                      <a:pPr algn="l"/>
                      <a:r>
                        <a:rPr sz="850" b="0">
                          <a:solidFill>
                            <a:srgbClr val="000000"/>
                          </a:solidFill>
                          <a:latin typeface="Calibri"/>
                        </a:rPr>
                        <a:t>44.62</a:t>
                      </a:r>
                    </a:p>
                  </a:txBody>
                  <a:tcPr/>
                </a:tc>
                <a:tc>
                  <a:txBody>
                    <a:bodyPr lIns="54864" rIns="54864" tIns="18288" bIns="18288" wrap="square" anchor="ctr"/>
                    <a:lstStyle/>
                    <a:p>
                      <a:pPr algn="l"/>
                      <a:r>
                        <a:rPr sz="850" b="0">
                          <a:solidFill>
                            <a:srgbClr val="000000"/>
                          </a:solidFill>
                          <a:latin typeface="Calibri"/>
                        </a:rPr>
                        <a:t>+0.00 %</a:t>
                      </a:r>
                    </a:p>
                  </a:txBody>
                  <a:tcPr/>
                </a:tc>
                <a:tc>
                  <a:txBody>
                    <a:bodyPr lIns="54864" rIns="54864" tIns="18288" bIns="18288" wrap="square" anchor="ctr"/>
                    <a:lstStyle/>
                    <a:p>
                      <a:pPr algn="l"/>
                      <a:r>
                        <a:rPr sz="850" b="0">
                          <a:solidFill>
                            <a:srgbClr val="000000"/>
                          </a:solidFill>
                          <a:latin typeface="Calibri"/>
                        </a:rPr>
                        <a:t>48.34</a:t>
                      </a:r>
                    </a:p>
                  </a:txBody>
                  <a:tcPr/>
                </a:tc>
              </a:tr>
              <a:tr h="240030">
                <a:tc>
                  <a:txBody>
                    <a:bodyPr lIns="54864" rIns="54864" tIns="18288" bIns="18288" wrap="square" anchor="ctr"/>
                    <a:lstStyle/>
                    <a:p>
                      <a:pPr algn="l"/>
                      <a:r>
                        <a:rPr sz="850" b="0">
                          <a:solidFill>
                            <a:srgbClr val="000000"/>
                          </a:solidFill>
                          <a:latin typeface="Calibri"/>
                        </a:rPr>
                        <a:t>strain at UTS (%)</a:t>
                      </a:r>
                    </a:p>
                  </a:txBody>
                  <a:tcPr/>
                </a:tc>
                <a:tc>
                  <a:txBody>
                    <a:bodyPr lIns="54864" rIns="54864" tIns="18288" bIns="18288" wrap="square" anchor="ctr"/>
                    <a:lstStyle/>
                    <a:p>
                      <a:pPr algn="l"/>
                      <a:r>
                        <a:rPr sz="850" b="0">
                          <a:solidFill>
                            <a:srgbClr val="000000"/>
                          </a:solidFill>
                          <a:latin typeface="Calibri"/>
                        </a:rPr>
                        <a:t>1.91</a:t>
                      </a:r>
                    </a:p>
                  </a:txBody>
                  <a:tcPr/>
                </a:tc>
                <a:tc>
                  <a:txBody>
                    <a:bodyPr lIns="54864" rIns="54864" tIns="18288" bIns="18288" wrap="square" anchor="ctr"/>
                    <a:lstStyle/>
                    <a:p>
                      <a:pPr algn="l"/>
                      <a:r>
                        <a:rPr sz="850" b="0">
                          <a:solidFill>
                            <a:srgbClr val="000000"/>
                          </a:solidFill>
                          <a:latin typeface="Calibri"/>
                        </a:rPr>
                        <a:t>1.92</a:t>
                      </a:r>
                    </a:p>
                  </a:txBody>
                  <a:tcPr/>
                </a:tc>
                <a:tc>
                  <a:txBody>
                    <a:bodyPr lIns="54864" rIns="54864" tIns="18288" bIns="18288" wrap="square" anchor="ctr"/>
                    <a:lstStyle/>
                    <a:p>
                      <a:pPr algn="l"/>
                      <a:r>
                        <a:rPr sz="850" b="0">
                          <a:solidFill>
                            <a:srgbClr val="000000"/>
                          </a:solidFill>
                          <a:latin typeface="Calibri"/>
                        </a:rPr>
                        <a:t>-0.22 %</a:t>
                      </a:r>
                    </a:p>
                  </a:txBody>
                  <a:tcPr/>
                </a:tc>
                <a:tc>
                  <a:txBody>
                    <a:bodyPr lIns="54864" rIns="54864" tIns="18288" bIns="18288" wrap="square" anchor="ctr"/>
                    <a:lstStyle/>
                    <a:p>
                      <a:pPr algn="l"/>
                      <a:r>
                        <a:rPr sz="850" b="0">
                          <a:solidFill>
                            <a:srgbClr val="000000"/>
                          </a:solidFill>
                          <a:latin typeface="Calibri"/>
                        </a:rPr>
                        <a:t>2.27</a:t>
                      </a:r>
                    </a:p>
                  </a:txBody>
                  <a:tcPr/>
                </a:tc>
              </a:tr>
              <a:tr h="240030">
                <a:tc>
                  <a:txBody>
                    <a:bodyPr lIns="54864" rIns="54864" tIns="18288" bIns="18288" wrap="square" anchor="ctr"/>
                    <a:lstStyle/>
                    <a:p>
                      <a:pPr algn="l"/>
                      <a:r>
                        <a:rPr sz="850" b="0">
                          <a:solidFill>
                            <a:srgbClr val="000000"/>
                          </a:solidFill>
                          <a:latin typeface="Calibri"/>
                        </a:rPr>
                        <a:t>failure strain (%)</a:t>
                      </a:r>
                    </a:p>
                  </a:txBody>
                  <a:tcPr/>
                </a:tc>
                <a:tc>
                  <a:txBody>
                    <a:bodyPr lIns="54864" rIns="54864" tIns="18288" bIns="18288" wrap="square" anchor="ctr"/>
                    <a:lstStyle/>
                    <a:p>
                      <a:pPr algn="l"/>
                      <a:r>
                        <a:rPr sz="850" b="0">
                          <a:solidFill>
                            <a:srgbClr val="000000"/>
                          </a:solidFill>
                          <a:latin typeface="Calibri"/>
                        </a:rPr>
                        <a:t>5.22</a:t>
                      </a:r>
                    </a:p>
                  </a:txBody>
                  <a:tcPr/>
                </a:tc>
                <a:tc>
                  <a:txBody>
                    <a:bodyPr lIns="54864" rIns="54864" tIns="18288" bIns="18288" wrap="square" anchor="ctr"/>
                    <a:lstStyle/>
                    <a:p>
                      <a:pPr algn="l"/>
                      <a:r>
                        <a:rPr sz="850" b="0">
                          <a:solidFill>
                            <a:srgbClr val="000000"/>
                          </a:solidFill>
                          <a:latin typeface="Calibri"/>
                        </a:rPr>
                        <a:t>5.21</a:t>
                      </a:r>
                    </a:p>
                  </a:txBody>
                  <a:tcPr/>
                </a:tc>
                <a:tc>
                  <a:txBody>
                    <a:bodyPr lIns="54864" rIns="54864" tIns="18288" bIns="18288" wrap="square" anchor="ctr"/>
                    <a:lstStyle/>
                    <a:p>
                      <a:pPr algn="l"/>
                      <a:r>
                        <a:rPr sz="850" b="0">
                          <a:solidFill>
                            <a:srgbClr val="000000"/>
                          </a:solidFill>
                          <a:latin typeface="Calibri"/>
                        </a:rPr>
                        <a:t>+0.08 %</a:t>
                      </a:r>
                    </a:p>
                  </a:txBody>
                  <a:tcPr/>
                </a:tc>
                <a:tc>
                  <a:txBody>
                    <a:bodyPr lIns="54864" rIns="54864" tIns="18288" bIns="18288" wrap="square" anchor="ctr"/>
                    <a:lstStyle/>
                    <a:p>
                      <a:pPr algn="l"/>
                      <a:r>
                        <a:rPr sz="850" b="0">
                          <a:solidFill>
                            <a:srgbClr val="000000"/>
                          </a:solidFill>
                          <a:latin typeface="Calibri"/>
                        </a:rPr>
                        <a:t>5.25</a:t>
                      </a:r>
                    </a:p>
                  </a:txBody>
                  <a:tcPr/>
                </a:tc>
              </a:tr>
              <a:tr h="240030">
                <a:tc>
                  <a:txBody>
                    <a:bodyPr lIns="54864" rIns="54864" tIns="18288" bIns="18288" wrap="square" anchor="ctr"/>
                    <a:lstStyle/>
                    <a:p>
                      <a:pPr algn="l"/>
                      <a:r>
                        <a:rPr sz="850" b="0">
                          <a:solidFill>
                            <a:srgbClr val="000000"/>
                          </a:solidFill>
                          <a:latin typeface="Calibri"/>
                        </a:rPr>
                        <a:t>fracture stress (MPa)</a:t>
                      </a:r>
                    </a:p>
                  </a:txBody>
                  <a:tcPr/>
                </a:tc>
                <a:tc>
                  <a:txBody>
                    <a:bodyPr lIns="54864" rIns="54864" tIns="18288" bIns="18288" wrap="square" anchor="ctr"/>
                    <a:lstStyle/>
                    <a:p>
                      <a:pPr algn="l"/>
                      <a:r>
                        <a:rPr sz="850" b="0">
                          <a:solidFill>
                            <a:srgbClr val="000000"/>
                          </a:solidFill>
                          <a:latin typeface="Calibri"/>
                        </a:rPr>
                        <a:t>39.05</a:t>
                      </a:r>
                    </a:p>
                  </a:txBody>
                  <a:tcPr/>
                </a:tc>
                <a:tc>
                  <a:txBody>
                    <a:bodyPr lIns="54864" rIns="54864" tIns="18288" bIns="18288" wrap="square" anchor="ctr"/>
                    <a:lstStyle/>
                    <a:p>
                      <a:pPr algn="l"/>
                      <a:r>
                        <a:rPr sz="850" b="0">
                          <a:solidFill>
                            <a:srgbClr val="000000"/>
                          </a:solidFill>
                          <a:latin typeface="Calibri"/>
                        </a:rPr>
                        <a:t>39.07</a:t>
                      </a:r>
                    </a:p>
                  </a:txBody>
                  <a:tcPr/>
                </a:tc>
                <a:tc>
                  <a:txBody>
                    <a:bodyPr lIns="54864" rIns="54864" tIns="18288" bIns="18288" wrap="square" anchor="ctr"/>
                    <a:lstStyle/>
                    <a:p>
                      <a:pPr algn="l"/>
                      <a:r>
                        <a:rPr sz="850" b="0">
                          <a:solidFill>
                            <a:srgbClr val="000000"/>
                          </a:solidFill>
                          <a:latin typeface="Calibri"/>
                        </a:rPr>
                        <a:t>-0.04 %</a:t>
                      </a:r>
                    </a:p>
                  </a:txBody>
                  <a:tcPr/>
                </a:tc>
                <a:tc>
                  <a:txBody>
                    <a:bodyPr lIns="54864" rIns="54864" tIns="18288" bIns="18288" wrap="square" anchor="ctr"/>
                    <a:lstStyle/>
                    <a:p>
                      <a:pPr algn="l"/>
                      <a:r>
                        <a:rPr sz="850" b="0">
                          <a:solidFill>
                            <a:srgbClr val="000000"/>
                          </a:solidFill>
                          <a:latin typeface="Calibri"/>
                        </a:rPr>
                        <a:t>43.57</a:t>
                      </a:r>
                    </a:p>
                  </a:txBody>
                  <a:tcPr/>
                </a:tc>
              </a:tr>
              <a:tr h="240030">
                <a:tc>
                  <a:txBody>
                    <a:bodyPr lIns="54864" rIns="54864" tIns="18288" bIns="18288" wrap="square" anchor="ctr"/>
                    <a:lstStyle/>
                    <a:p>
                      <a:pPr algn="l"/>
                      <a:r>
                        <a:rPr sz="850" b="0">
                          <a:solidFill>
                            <a:srgbClr val="000000"/>
                          </a:solidFill>
                          <a:latin typeface="Calibri"/>
                        </a:rPr>
                        <a:t>toughness (MJ/m³)</a:t>
                      </a:r>
                    </a:p>
                  </a:txBody>
                  <a:tcPr/>
                </a:tc>
                <a:tc>
                  <a:txBody>
                    <a:bodyPr lIns="54864" rIns="54864" tIns="18288" bIns="18288" wrap="square" anchor="ctr"/>
                    <a:lstStyle/>
                    <a:p>
                      <a:pPr algn="l"/>
                      <a:r>
                        <a:rPr sz="850" b="0">
                          <a:solidFill>
                            <a:srgbClr val="000000"/>
                          </a:solidFill>
                          <a:latin typeface="Calibri"/>
                        </a:rPr>
                        <a:t>1.93</a:t>
                      </a:r>
                    </a:p>
                  </a:txBody>
                  <a:tcPr/>
                </a:tc>
                <a:tc>
                  <a:txBody>
                    <a:bodyPr lIns="54864" rIns="54864" tIns="18288" bIns="18288" wrap="square" anchor="ctr"/>
                    <a:lstStyle/>
                    <a:p>
                      <a:pPr algn="l"/>
                      <a:r>
                        <a:rPr sz="850" b="0">
                          <a:solidFill>
                            <a:srgbClr val="000000"/>
                          </a:solidFill>
                          <a:latin typeface="Calibri"/>
                        </a:rPr>
                        <a:t>1.96</a:t>
                      </a:r>
                    </a:p>
                  </a:txBody>
                  <a:tcPr/>
                </a:tc>
                <a:tc>
                  <a:txBody>
                    <a:bodyPr lIns="54864" rIns="54864" tIns="18288" bIns="18288" wrap="square" anchor="ctr"/>
                    <a:lstStyle/>
                    <a:p>
                      <a:pPr algn="l"/>
                      <a:r>
                        <a:rPr sz="850" b="0">
                          <a:solidFill>
                            <a:srgbClr val="000000"/>
                          </a:solidFill>
                          <a:latin typeface="Calibri"/>
                        </a:rPr>
                        <a:t>-1.44 %</a:t>
                      </a:r>
                    </a:p>
                  </a:txBody>
                  <a:tcPr/>
                </a:tc>
                <a:tc>
                  <a:txBody>
                    <a:bodyPr lIns="54864" rIns="54864" tIns="18288" bIns="18288" wrap="square" anchor="ctr"/>
                    <a:lstStyle/>
                    <a:p>
                      <a:pPr algn="l"/>
                      <a:r>
                        <a:rPr sz="850" b="0">
                          <a:solidFill>
                            <a:srgbClr val="000000"/>
                          </a:solidFill>
                          <a:latin typeface="Calibri"/>
                        </a:rPr>
                        <a:t>2.13</a:t>
                      </a:r>
                    </a:p>
                  </a:txBody>
                  <a:tcPr/>
                </a:tc>
              </a:tr>
              <a:tr h="240030">
                <a:tc>
                  <a:txBody>
                    <a:bodyPr lIns="54864" rIns="54864" tIns="18288" bIns="18288" wrap="square" anchor="ctr"/>
                    <a:lstStyle/>
                    <a:p>
                      <a:pPr algn="l"/>
                      <a:r>
                        <a:rPr sz="850" b="0">
                          <a:solidFill>
                            <a:srgbClr val="000000"/>
                          </a:solidFill>
                          <a:latin typeface="Calibri"/>
                        </a:rPr>
                        <a:t>noise, 0.05–0.35 % (µε)</a:t>
                      </a:r>
                    </a:p>
                  </a:txBody>
                  <a:tcPr/>
                </a:tc>
                <a:tc>
                  <a:txBody>
                    <a:bodyPr lIns="54864" rIns="54864" tIns="18288" bIns="18288" wrap="square" anchor="ctr"/>
                    <a:lstStyle/>
                    <a:p>
                      <a:pPr algn="l"/>
                      <a:r>
                        <a:rPr sz="850" b="0">
                          <a:solidFill>
                            <a:srgbClr val="000000"/>
                          </a:solidFill>
                          <a:latin typeface="Calibri"/>
                        </a:rPr>
                        <a:t>24.1</a:t>
                      </a:r>
                    </a:p>
                  </a:txBody>
                  <a:tcPr/>
                </a:tc>
                <a:tc>
                  <a:txBody>
                    <a:bodyPr lIns="54864" rIns="54864" tIns="18288" bIns="18288" wrap="square" anchor="ctr"/>
                    <a:lstStyle/>
                    <a:p>
                      <a:pPr algn="l"/>
                      <a:r>
                        <a:rPr sz="850" b="0">
                          <a:solidFill>
                            <a:srgbClr val="000000"/>
                          </a:solidFill>
                          <a:latin typeface="Calibri"/>
                        </a:rPr>
                        <a:t>28.6</a:t>
                      </a:r>
                    </a:p>
                  </a:txBody>
                  <a:tcPr/>
                </a:tc>
                <a:tc>
                  <a:txBody>
                    <a:bodyPr lIns="54864" rIns="54864" tIns="18288" bIns="18288" wrap="square" anchor="ctr"/>
                    <a:lstStyle/>
                    <a:p>
                      <a:pPr algn="l"/>
                      <a:r>
                        <a:rPr sz="850" b="0">
                          <a:solidFill>
                            <a:srgbClr val="000000"/>
                          </a:solidFill>
                          <a:latin typeface="Calibri"/>
                        </a:rPr>
                        <a:t>-15.8 %</a:t>
                      </a:r>
                    </a:p>
                  </a:txBody>
                  <a:tcPr/>
                </a:tc>
                <a:tc>
                  <a:txBody>
                    <a:bodyPr lIns="54864" rIns="54864" tIns="18288" bIns="18288" wrap="square" anchor="ctr"/>
                    <a:lstStyle/>
                    <a:p>
                      <a:pPr algn="l"/>
                      <a:r>
                        <a:rPr sz="850" b="0">
                          <a:solidFill>
                            <a:srgbClr val="000000"/>
                          </a:solidFill>
                          <a:latin typeface="Calibri"/>
                        </a:rPr>
                        <a:t>44.0</a:t>
                      </a:r>
                    </a:p>
                  </a:txBody>
                  <a:tcPr/>
                </a:tc>
              </a:tr>
            </a:tbl>
          </a:graphicData>
        </a:graphic>
      </p:graphicFrame>
      <p:sp>
        <p:nvSpPr>
          <p:cNvPr id="8" name="TextBox 7"/>
          <p:cNvSpPr txBox="1"/>
          <p:nvPr/>
        </p:nvSpPr>
        <p:spPr>
          <a:xfrm>
            <a:off x="6492240" y="3419856"/>
            <a:ext cx="5349240" cy="365760"/>
          </a:xfrm>
          <a:prstGeom prst="rect">
            <a:avLst/>
          </a:prstGeom>
          <a:noFill/>
        </p:spPr>
        <p:txBody>
          <a:bodyPr wrap="square" lIns="45720" rIns="45720" tIns="18288" bIns="18288" anchor="t">
            <a:spAutoFit/>
          </a:bodyPr>
          <a:lstStyle/>
          <a:p>
            <a:pPr algn="l"/>
            <a:r>
              <a:rPr sz="1600" b="0" i="0">
                <a:solidFill>
                  <a:srgbClr val="707070"/>
                </a:solidFill>
                <a:latin typeface="Calibri"/>
              </a:rPr>
              <a:t>Two of these columns are the same specimen</a:t>
            </a:r>
          </a:p>
        </p:txBody>
      </p:sp>
      <p:sp>
        <p:nvSpPr>
          <p:cNvPr id="9" name="TextBox 8"/>
          <p:cNvSpPr txBox="1"/>
          <p:nvPr/>
        </p:nvSpPr>
        <p:spPr>
          <a:xfrm>
            <a:off x="6492240" y="3767328"/>
            <a:ext cx="5349240" cy="1874519"/>
          </a:xfrm>
          <a:prstGeom prst="rect">
            <a:avLst/>
          </a:prstGeom>
          <a:noFill/>
        </p:spPr>
        <p:txBody>
          <a:bodyPr wrap="square" lIns="45720" rIns="45720" tIns="18288" bIns="18288" anchor="t">
            <a:spAutoFit/>
          </a:bodyPr>
          <a:lstStyle/>
          <a:p>
            <a:pPr algn="l"/>
            <a:r>
              <a:rPr sz="950" b="0" i="0">
                <a:solidFill>
                  <a:srgbClr val="000000"/>
                </a:solidFill>
                <a:latin typeface="Calibri"/>
              </a:rPr>
              <a:t>UTS is identical to two decimals because both read the SAME load cell — that column is a check on the plumbing, not on the DIC. Everything that depends on STRAIN is where the test actually is, and σ_y lands within 0.00 %, failure strain within 0.08 % and fracture stress within 0.04 %.
The gap to S34 is the one that is real: a different machine and a different specimen. It stays at 7.7 % on UTS, exactly where the previous slide-set left it, and this leg does not move it. That is the point — the calculation was never a candidate for it, and now that is shown rather than assumed.</a:t>
            </a:r>
          </a:p>
        </p:txBody>
      </p:sp>
      <p:sp>
        <p:nvSpPr>
          <p:cNvPr id="10" name="TextBox 9"/>
          <p:cNvSpPr txBox="1"/>
          <p:nvPr/>
        </p:nvSpPr>
        <p:spPr>
          <a:xfrm>
            <a:off x="274320" y="4626864"/>
            <a:ext cx="6144768" cy="1060704"/>
          </a:xfrm>
          <a:prstGeom prst="rect">
            <a:avLst/>
          </a:prstGeom>
          <a:noFill/>
        </p:spPr>
        <p:txBody>
          <a:bodyPr wrap="square" lIns="45720" rIns="45720" tIns="18288" bIns="18288" anchor="t">
            <a:spAutoFit/>
          </a:bodyPr>
          <a:lstStyle/>
          <a:p>
            <a:pPr algn="l"/>
            <a:r>
              <a:rPr sz="950" b="0" i="0">
                <a:solidFill>
                  <a:srgbClr val="000000"/>
                </a:solidFill>
                <a:latin typeface="Calibri"/>
              </a:rPr>
              <a:t>Toughness differs by 1.44 % for a mechanical reason rather than a numerical one: it is the AREA under the curve, so it accumulates every small strain difference along the whole record instead of sampling one instant. It is the most sensitive line in the table and still under 1.5 %.</a:t>
            </a:r>
          </a:p>
        </p:txBody>
      </p:sp>
      <p:sp>
        <p:nvSpPr>
          <p:cNvPr id="11" name="Rectangle 10"/>
          <p:cNvSpPr/>
          <p:nvPr/>
        </p:nvSpPr>
        <p:spPr>
          <a:xfrm>
            <a:off x="365760" y="5797296"/>
            <a:ext cx="1147572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000000"/>
                </a:solidFill>
                <a:latin typeface="Calibri"/>
              </a:rPr>
              <a:t>The blue dashed curve is the PPD-UTM DIC and the red is the XT-205, on one specimen — they are drawn on top of each other because they are the same measurement.</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All three re-zeroed at the 300 N preload so they share our convention. Stress is the XT-205's load ÷ 80 mm² nominal for the two red/blue curves, and our own load cell for S34.</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334</a:t>
            </a:r>
          </a:p>
        </p:txBody>
      </p:sp>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THE ELASTIC SLOPE, MEASURED TWICE</a:t>
            </a:r>
          </a:p>
        </p:txBody>
      </p:sp>
      <p:pic>
        <p:nvPicPr>
          <p:cNvPr id="5" name="Picture 4" descr="mot2pp_slope_pp.png"/>
          <p:cNvPicPr>
            <a:picLocks noChangeAspect="1"/>
          </p:cNvPicPr>
          <p:nvPr/>
        </p:nvPicPr>
        <p:blipFill>
          <a:blip r:embed="rId2"/>
          <a:stretch>
            <a:fillRect/>
          </a:stretch>
        </p:blipFill>
        <p:spPr>
          <a:xfrm>
            <a:off x="320040" y="987552"/>
            <a:ext cx="5806440" cy="3162858"/>
          </a:xfrm>
          <a:prstGeom prst="rect">
            <a:avLst/>
          </a:prstGeom>
        </p:spPr>
      </p:pic>
      <p:pic>
        <p:nvPicPr>
          <p:cNvPr id="6" name="Picture 5" descr="mot2pp_slope_mot.png"/>
          <p:cNvPicPr>
            <a:picLocks noChangeAspect="1"/>
          </p:cNvPicPr>
          <p:nvPr/>
        </p:nvPicPr>
        <p:blipFill>
          <a:blip r:embed="rId3"/>
          <a:stretch>
            <a:fillRect/>
          </a:stretch>
        </p:blipFill>
        <p:spPr>
          <a:xfrm>
            <a:off x="6172200" y="987552"/>
            <a:ext cx="5806440" cy="3162858"/>
          </a:xfrm>
          <a:prstGeom prst="rect">
            <a:avLst/>
          </a:prstGeom>
        </p:spPr>
      </p:pic>
      <p:sp>
        <p:nvSpPr>
          <p:cNvPr id="7" name="TextBox 6"/>
          <p:cNvSpPr txBox="1"/>
          <p:nvPr/>
        </p:nvSpPr>
        <p:spPr>
          <a:xfrm>
            <a:off x="411480" y="422452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modulus, both methods, all three records</a:t>
            </a:r>
          </a:p>
        </p:txBody>
      </p:sp>
      <p:graphicFrame>
        <p:nvGraphicFramePr>
          <p:cNvPr id="8" name="Table 7"/>
          <p:cNvGraphicFramePr>
            <a:graphicFrameLocks noGrp="1"/>
          </p:cNvGraphicFramePr>
          <p:nvPr/>
        </p:nvGraphicFramePr>
        <p:xfrm>
          <a:off x="411480" y="4572000"/>
          <a:ext cx="5623558" cy="1298448"/>
        </p:xfrm>
        <a:graphic>
          <a:graphicData uri="http://schemas.openxmlformats.org/drawingml/2006/table">
            <a:tbl>
              <a:tblPr firstRow="1" bandRow="1">
                <a:tableStyleId>{5C22544A-7EE6-4342-B048-85BDC9FD1C3A}</a:tableStyleId>
              </a:tblPr>
              <a:tblGrid>
                <a:gridCol w="1626649"/>
                <a:gridCol w="1208368"/>
                <a:gridCol w="1068941"/>
                <a:gridCol w="1022465"/>
                <a:gridCol w="697135"/>
              </a:tblGrid>
              <a:tr h="259689">
                <a:tc>
                  <a:txBody>
                    <a:bodyPr lIns="54864" rIns="54864" tIns="18288" bIns="18288" wrap="square" anchor="ctr"/>
                    <a:lstStyle/>
                    <a:p>
                      <a:pPr algn="l"/>
                      <a:r>
                        <a:rPr sz="850" b="1">
                          <a:solidFill>
                            <a:srgbClr val="FFFFFF"/>
                          </a:solidFill>
                          <a:latin typeface="Calibri"/>
                        </a:rPr>
                        <a:t/>
                      </a:r>
                    </a:p>
                  </a:txBody>
                  <a:tcPr>
                    <a:solidFill>
                      <a:srgbClr val="143D2F"/>
                    </a:solidFill>
                  </a:tcPr>
                </a:tc>
                <a:tc>
                  <a:txBody>
                    <a:bodyPr lIns="54864" rIns="54864" tIns="18288" bIns="18288" wrap="square" anchor="ctr"/>
                    <a:lstStyle/>
                    <a:p>
                      <a:pPr algn="l"/>
                      <a:r>
                        <a:rPr sz="850" b="1">
                          <a:solidFill>
                            <a:srgbClr val="FFFFFF"/>
                          </a:solidFill>
                          <a:latin typeface="Calibri"/>
                        </a:rPr>
                        <a:t>fixed 0.05–0.40 %</a:t>
                      </a:r>
                    </a:p>
                  </a:txBody>
                  <a:tcPr>
                    <a:solidFill>
                      <a:srgbClr val="143D2F"/>
                    </a:solidFill>
                  </a:tcPr>
                </a:tc>
                <a:tc>
                  <a:txBody>
                    <a:bodyPr lIns="54864" rIns="54864" tIns="18288" bIns="18288" wrap="square" anchor="ctr"/>
                    <a:lstStyle/>
                    <a:p>
                      <a:pPr algn="l"/>
                      <a:r>
                        <a:rPr sz="850" b="1">
                          <a:solidFill>
                            <a:srgbClr val="FFFFFF"/>
                          </a:solidFill>
                          <a:latin typeface="Calibri"/>
                        </a:rPr>
                        <a:t>steepest run</a:t>
                      </a:r>
                    </a:p>
                  </a:txBody>
                  <a:tcPr>
                    <a:solidFill>
                      <a:srgbClr val="143D2F"/>
                    </a:solidFill>
                  </a:tcPr>
                </a:tc>
                <a:tc>
                  <a:txBody>
                    <a:bodyPr lIns="54864" rIns="54864" tIns="18288" bIns="18288" wrap="square" anchor="ctr"/>
                    <a:lstStyle/>
                    <a:p>
                      <a:pPr algn="l"/>
                      <a:r>
                        <a:rPr sz="850" b="1">
                          <a:solidFill>
                            <a:srgbClr val="FFFFFF"/>
                          </a:solidFill>
                          <a:latin typeface="Calibri"/>
                        </a:rPr>
                        <a:t>window</a:t>
                      </a:r>
                    </a:p>
                  </a:txBody>
                  <a:tcPr>
                    <a:solidFill>
                      <a:srgbClr val="143D2F"/>
                    </a:solidFill>
                  </a:tcPr>
                </a:tc>
                <a:tc>
                  <a:txBody>
                    <a:bodyPr lIns="54864" rIns="54864" tIns="18288" bIns="18288" wrap="square" anchor="ctr"/>
                    <a:lstStyle/>
                    <a:p>
                      <a:pPr algn="l"/>
                      <a:r>
                        <a:rPr sz="850" b="1">
                          <a:solidFill>
                            <a:srgbClr val="FFFFFF"/>
                          </a:solidFill>
                          <a:latin typeface="Calibri"/>
                        </a:rPr>
                        <a:t>spread</a:t>
                      </a:r>
                    </a:p>
                  </a:txBody>
                  <a:tcPr>
                    <a:solidFill>
                      <a:srgbClr val="143D2F"/>
                    </a:solidFill>
                  </a:tcPr>
                </a:tc>
              </a:tr>
              <a:tr h="259689">
                <a:tc>
                  <a:txBody>
                    <a:bodyPr lIns="54864" rIns="54864" tIns="18288" bIns="18288" wrap="square" anchor="ctr"/>
                    <a:lstStyle/>
                    <a:p>
                      <a:pPr algn="l"/>
                      <a:r>
                        <a:rPr sz="850" b="0">
                          <a:solidFill>
                            <a:srgbClr val="000000"/>
                          </a:solidFill>
                          <a:latin typeface="Calibri"/>
                        </a:rPr>
                        <a:t>XT205-S2 · PPD-UTM DIC</a:t>
                      </a:r>
                    </a:p>
                  </a:txBody>
                  <a:tcPr/>
                </a:tc>
                <a:tc>
                  <a:txBody>
                    <a:bodyPr lIns="54864" rIns="54864" tIns="18288" bIns="18288" wrap="square" anchor="ctr"/>
                    <a:lstStyle/>
                    <a:p>
                      <a:pPr algn="l"/>
                      <a:r>
                        <a:rPr sz="850" b="0">
                          <a:solidFill>
                            <a:srgbClr val="000000"/>
                          </a:solidFill>
                          <a:latin typeface="Calibri"/>
                        </a:rPr>
                        <a:t>3.214 GPa</a:t>
                      </a:r>
                    </a:p>
                  </a:txBody>
                  <a:tcPr/>
                </a:tc>
                <a:tc>
                  <a:txBody>
                    <a:bodyPr lIns="54864" rIns="54864" tIns="18288" bIns="18288" wrap="square" anchor="ctr"/>
                    <a:lstStyle/>
                    <a:p>
                      <a:pPr algn="l"/>
                      <a:r>
                        <a:rPr sz="850" b="0">
                          <a:solidFill>
                            <a:srgbClr val="000000"/>
                          </a:solidFill>
                          <a:latin typeface="Calibri"/>
                        </a:rPr>
                        <a:t>3.238 GPa</a:t>
                      </a:r>
                    </a:p>
                  </a:txBody>
                  <a:tcPr/>
                </a:tc>
                <a:tc>
                  <a:txBody>
                    <a:bodyPr lIns="54864" rIns="54864" tIns="18288" bIns="18288" wrap="square" anchor="ctr"/>
                    <a:lstStyle/>
                    <a:p>
                      <a:pPr algn="l"/>
                      <a:r>
                        <a:rPr sz="850" b="0">
                          <a:solidFill>
                            <a:srgbClr val="000000"/>
                          </a:solidFill>
                          <a:latin typeface="Calibri"/>
                        </a:rPr>
                        <a:t>0.00–0.38 %</a:t>
                      </a:r>
                    </a:p>
                  </a:txBody>
                  <a:tcPr/>
                </a:tc>
                <a:tc>
                  <a:txBody>
                    <a:bodyPr lIns="54864" rIns="54864" tIns="18288" bIns="18288" wrap="square" anchor="ctr"/>
                    <a:lstStyle/>
                    <a:p>
                      <a:pPr algn="l"/>
                      <a:r>
                        <a:rPr sz="850" b="0">
                          <a:solidFill>
                            <a:srgbClr val="000000"/>
                          </a:solidFill>
                          <a:latin typeface="Calibri"/>
                        </a:rPr>
                        <a:t>0.7 %</a:t>
                      </a:r>
                    </a:p>
                  </a:txBody>
                  <a:tcPr/>
                </a:tc>
              </a:tr>
              <a:tr h="259689">
                <a:tc>
                  <a:txBody>
                    <a:bodyPr lIns="54864" rIns="54864" tIns="18288" bIns="18288" wrap="square" anchor="ctr"/>
                    <a:lstStyle/>
                    <a:p>
                      <a:pPr algn="l"/>
                      <a:r>
                        <a:rPr sz="850" b="0">
                          <a:solidFill>
                            <a:srgbClr val="000000"/>
                          </a:solidFill>
                          <a:latin typeface="Calibri"/>
                        </a:rPr>
                        <a:t>XT205-S2 · XT-205</a:t>
                      </a:r>
                    </a:p>
                  </a:txBody>
                  <a:tcPr/>
                </a:tc>
                <a:tc>
                  <a:txBody>
                    <a:bodyPr lIns="54864" rIns="54864" tIns="18288" bIns="18288" wrap="square" anchor="ctr"/>
                    <a:lstStyle/>
                    <a:p>
                      <a:pPr algn="l"/>
                      <a:r>
                        <a:rPr sz="850" b="0">
                          <a:solidFill>
                            <a:srgbClr val="000000"/>
                          </a:solidFill>
                          <a:latin typeface="Calibri"/>
                        </a:rPr>
                        <a:t>3.210 GPa</a:t>
                      </a:r>
                    </a:p>
                  </a:txBody>
                  <a:tcPr/>
                </a:tc>
                <a:tc>
                  <a:txBody>
                    <a:bodyPr lIns="54864" rIns="54864" tIns="18288" bIns="18288" wrap="square" anchor="ctr"/>
                    <a:lstStyle/>
                    <a:p>
                      <a:pPr algn="l"/>
                      <a:r>
                        <a:rPr sz="850" b="0">
                          <a:solidFill>
                            <a:srgbClr val="000000"/>
                          </a:solidFill>
                          <a:latin typeface="Calibri"/>
                        </a:rPr>
                        <a:t>3.229 GPa</a:t>
                      </a:r>
                    </a:p>
                  </a:txBody>
                  <a:tcPr/>
                </a:tc>
                <a:tc>
                  <a:txBody>
                    <a:bodyPr lIns="54864" rIns="54864" tIns="18288" bIns="18288" wrap="square" anchor="ctr"/>
                    <a:lstStyle/>
                    <a:p>
                      <a:pPr algn="l"/>
                      <a:r>
                        <a:rPr sz="850" b="0">
                          <a:solidFill>
                            <a:srgbClr val="000000"/>
                          </a:solidFill>
                          <a:latin typeface="Calibri"/>
                        </a:rPr>
                        <a:t>0.00–0.41 %</a:t>
                      </a:r>
                    </a:p>
                  </a:txBody>
                  <a:tcPr/>
                </a:tc>
                <a:tc>
                  <a:txBody>
                    <a:bodyPr lIns="54864" rIns="54864" tIns="18288" bIns="18288" wrap="square" anchor="ctr"/>
                    <a:lstStyle/>
                    <a:p>
                      <a:pPr algn="l"/>
                      <a:r>
                        <a:rPr sz="850" b="0">
                          <a:solidFill>
                            <a:srgbClr val="000000"/>
                          </a:solidFill>
                          <a:latin typeface="Calibri"/>
                        </a:rPr>
                        <a:t>0.6 %</a:t>
                      </a:r>
                    </a:p>
                  </a:txBody>
                  <a:tcPr/>
                </a:tc>
              </a:tr>
              <a:tr h="259689">
                <a:tc>
                  <a:txBody>
                    <a:bodyPr lIns="54864" rIns="54864" tIns="18288" bIns="18288" wrap="square" anchor="ctr"/>
                    <a:lstStyle/>
                    <a:p>
                      <a:pPr algn="l"/>
                      <a:r>
                        <a:rPr sz="850" b="0">
                          <a:solidFill>
                            <a:srgbClr val="000000"/>
                          </a:solidFill>
                          <a:latin typeface="Calibri"/>
                        </a:rPr>
                        <a:t>S34 · PPD-UTM</a:t>
                      </a:r>
                    </a:p>
                  </a:txBody>
                  <a:tcPr/>
                </a:tc>
                <a:tc>
                  <a:txBody>
                    <a:bodyPr lIns="54864" rIns="54864" tIns="18288" bIns="18288" wrap="square" anchor="ctr"/>
                    <a:lstStyle/>
                    <a:p>
                      <a:pPr algn="l"/>
                      <a:r>
                        <a:rPr sz="850" b="0">
                          <a:solidFill>
                            <a:srgbClr val="000000"/>
                          </a:solidFill>
                          <a:latin typeface="Calibri"/>
                        </a:rPr>
                        <a:t>3.075 GPa</a:t>
                      </a:r>
                    </a:p>
                  </a:txBody>
                  <a:tcPr/>
                </a:tc>
                <a:tc>
                  <a:txBody>
                    <a:bodyPr lIns="54864" rIns="54864" tIns="18288" bIns="18288" wrap="square" anchor="ctr"/>
                    <a:lstStyle/>
                    <a:p>
                      <a:pPr algn="l"/>
                      <a:r>
                        <a:rPr sz="850" b="0">
                          <a:solidFill>
                            <a:srgbClr val="000000"/>
                          </a:solidFill>
                          <a:latin typeface="Calibri"/>
                        </a:rPr>
                        <a:t>3.451 GPa</a:t>
                      </a:r>
                    </a:p>
                  </a:txBody>
                  <a:tcPr/>
                </a:tc>
                <a:tc>
                  <a:txBody>
                    <a:bodyPr lIns="54864" rIns="54864" tIns="18288" bIns="18288" wrap="square" anchor="ctr"/>
                    <a:lstStyle/>
                    <a:p>
                      <a:pPr algn="l"/>
                      <a:r>
                        <a:rPr sz="850" b="0">
                          <a:solidFill>
                            <a:srgbClr val="000000"/>
                          </a:solidFill>
                          <a:latin typeface="Calibri"/>
                        </a:rPr>
                        <a:t>0.26–0.58 %</a:t>
                      </a:r>
                    </a:p>
                  </a:txBody>
                  <a:tcPr/>
                </a:tc>
                <a:tc>
                  <a:txBody>
                    <a:bodyPr lIns="54864" rIns="54864" tIns="18288" bIns="18288" wrap="square" anchor="ctr"/>
                    <a:lstStyle/>
                    <a:p>
                      <a:pPr algn="l"/>
                      <a:r>
                        <a:rPr sz="850" b="0">
                          <a:solidFill>
                            <a:srgbClr val="000000"/>
                          </a:solidFill>
                          <a:latin typeface="Calibri"/>
                        </a:rPr>
                        <a:t>12.2 %</a:t>
                      </a:r>
                    </a:p>
                  </a:txBody>
                  <a:tcPr/>
                </a:tc>
              </a:tr>
              <a:tr h="259692">
                <a:tc>
                  <a:txBody>
                    <a:bodyPr lIns="54864" rIns="54864" tIns="18288" bIns="18288" wrap="square" anchor="ctr"/>
                    <a:lstStyle/>
                    <a:p>
                      <a:pPr algn="l"/>
                      <a:r>
                        <a:rPr sz="850" b="0">
                          <a:solidFill>
                            <a:srgbClr val="000000"/>
                          </a:solidFill>
                          <a:latin typeface="Calibri"/>
                        </a:rPr>
                        <a:t>PPD-UTM vs XT-205, same footage</a:t>
                      </a:r>
                    </a:p>
                  </a:txBody>
                  <a:tcPr/>
                </a:tc>
                <a:tc>
                  <a:txBody>
                    <a:bodyPr lIns="54864" rIns="54864" tIns="18288" bIns="18288" wrap="square" anchor="ctr"/>
                    <a:lstStyle/>
                    <a:p>
                      <a:pPr algn="l"/>
                      <a:r>
                        <a:rPr sz="850" b="0">
                          <a:solidFill>
                            <a:srgbClr val="000000"/>
                          </a:solidFill>
                          <a:latin typeface="Calibri"/>
                        </a:rPr>
                        <a:t>+0.13 %</a:t>
                      </a:r>
                    </a:p>
                  </a:txBody>
                  <a:tcPr/>
                </a:tc>
                <a:tc>
                  <a:txBody>
                    <a:bodyPr lIns="54864" rIns="54864" tIns="18288" bIns="18288" wrap="square" anchor="ctr"/>
                    <a:lstStyle/>
                    <a:p>
                      <a:pPr algn="l"/>
                      <a:r>
                        <a:rPr sz="850" b="0">
                          <a:solidFill>
                            <a:srgbClr val="000000"/>
                          </a:solidFill>
                          <a:latin typeface="Calibri"/>
                        </a:rPr>
                        <a:t>+0.29 %</a:t>
                      </a:r>
                    </a:p>
                  </a:txBody>
                  <a:tcPr/>
                </a:tc>
                <a:tc>
                  <a:txBody>
                    <a:bodyPr lIns="54864" rIns="54864" tIns="18288" bIns="18288" wrap="square" anchor="ctr"/>
                    <a:lstStyle/>
                    <a:p>
                      <a:pPr algn="l"/>
                      <a:r>
                        <a:rPr sz="850" b="0">
                          <a:solidFill>
                            <a:srgbClr val="000000"/>
                          </a:solidFill>
                          <a:latin typeface="Calibri"/>
                        </a:rPr>
                        <a:t>—</a:t>
                      </a:r>
                    </a:p>
                  </a:txBody>
                  <a:tcPr/>
                </a:tc>
                <a:tc>
                  <a:txBody>
                    <a:bodyPr lIns="54864" rIns="54864" tIns="18288" bIns="18288" wrap="square" anchor="ctr"/>
                    <a:lstStyle/>
                    <a:p>
                      <a:pPr algn="l"/>
                      <a:r>
                        <a:rPr sz="850" b="0">
                          <a:solidFill>
                            <a:srgbClr val="000000"/>
                          </a:solidFill>
                          <a:latin typeface="Calibri"/>
                        </a:rPr>
                        <a:t>—</a:t>
                      </a:r>
                    </a:p>
                  </a:txBody>
                  <a:tcPr/>
                </a:tc>
              </a:tr>
            </a:tbl>
          </a:graphicData>
        </a:graphic>
      </p:graphicFrame>
      <p:sp>
        <p:nvSpPr>
          <p:cNvPr id="9" name="TextBox 8"/>
          <p:cNvSpPr txBox="1"/>
          <p:nvPr/>
        </p:nvSpPr>
        <p:spPr>
          <a:xfrm>
            <a:off x="6263640" y="4224528"/>
            <a:ext cx="27432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shapes match too</a:t>
            </a:r>
          </a:p>
        </p:txBody>
      </p:sp>
      <p:sp>
        <p:nvSpPr>
          <p:cNvPr id="10" name="TextBox 9"/>
          <p:cNvSpPr txBox="1"/>
          <p:nvPr/>
        </p:nvSpPr>
        <p:spPr>
          <a:xfrm>
            <a:off x="6263640" y="4572000"/>
            <a:ext cx="2743200" cy="1298448"/>
          </a:xfrm>
          <a:prstGeom prst="rect">
            <a:avLst/>
          </a:prstGeom>
          <a:noFill/>
        </p:spPr>
        <p:txBody>
          <a:bodyPr wrap="square" lIns="45720" rIns="45720" tIns="18288" bIns="18288" anchor="t">
            <a:spAutoFit/>
          </a:bodyPr>
          <a:lstStyle/>
          <a:p>
            <a:pPr algn="l"/>
            <a:r>
              <a:rPr sz="950" b="0" i="0">
                <a:solidFill>
                  <a:srgbClr val="000000"/>
                </a:solidFill>
                <a:latin typeface="Calibri"/>
              </a:rPr>
              <a:t>Both traces sit flat from the origin and roll over at the same place. That is a stronger statement than two moduli agreeing: a fitted number can match by accident, a whole curve cannot.</a:t>
            </a:r>
          </a:p>
        </p:txBody>
      </p:sp>
      <p:sp>
        <p:nvSpPr>
          <p:cNvPr id="11" name="TextBox 10"/>
          <p:cNvSpPr txBox="1"/>
          <p:nvPr/>
        </p:nvSpPr>
        <p:spPr>
          <a:xfrm>
            <a:off x="9189720" y="4224528"/>
            <a:ext cx="265176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it isolates the toe</a:t>
            </a:r>
          </a:p>
        </p:txBody>
      </p:sp>
      <p:sp>
        <p:nvSpPr>
          <p:cNvPr id="12" name="TextBox 11"/>
          <p:cNvSpPr txBox="1"/>
          <p:nvPr/>
        </p:nvSpPr>
        <p:spPr>
          <a:xfrm>
            <a:off x="9189720" y="4572000"/>
            <a:ext cx="2651760" cy="1298448"/>
          </a:xfrm>
          <a:prstGeom prst="rect">
            <a:avLst/>
          </a:prstGeom>
          <a:noFill/>
        </p:spPr>
        <p:txBody>
          <a:bodyPr wrap="square" lIns="45720" rIns="45720" tIns="18288" bIns="18288" anchor="t">
            <a:spAutoFit/>
          </a:bodyPr>
          <a:lstStyle/>
          <a:p>
            <a:pPr algn="l"/>
            <a:r>
              <a:rPr sz="950" b="0" i="0">
                <a:solidFill>
                  <a:srgbClr val="000000"/>
                </a:solidFill>
                <a:latin typeface="Calibri"/>
              </a:rPr>
              <a:t>S34's trace dips to 2.7 GPa near 0.15 % and only reaches its steepest at 0.26–0.58 %. Neither of these two does. So the toe is in the PPD-UTM LOAD TRAIN, not in its maths — the grip-seating item, narrowed.</a:t>
            </a:r>
          </a:p>
        </p:txBody>
      </p:sp>
      <p:sp>
        <p:nvSpPr>
          <p:cNvPr id="13" name="Rectangle 12"/>
          <p:cNvSpPr/>
          <p:nvPr/>
        </p:nvSpPr>
        <p:spPr>
          <a:xfrm>
            <a:off x="365760" y="5998464"/>
            <a:ext cx="11475720" cy="402336"/>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Same footage, two calculations: E agrees to 0.13 % on the fixed window and 0.29 % on the steepest run — an order of magnitude tighter than the 6.4 % between the two machines.</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Both panels are the local dσ/dε over a sliding 0.12 % strain window, against the same load channel. The two records differ only in how the strain was computed from the pixels.</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335</a:t>
            </a: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WHAT THE THIRD LEG SETTLES</a:t>
            </a:r>
          </a:p>
        </p:txBody>
      </p:sp>
      <p:sp>
        <p:nvSpPr>
          <p:cNvPr id="5" name="TextBox 4"/>
          <p:cNvSpPr txBox="1"/>
          <p:nvPr/>
        </p:nvSpPr>
        <p:spPr>
          <a:xfrm>
            <a:off x="411480" y="969264"/>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Three records, one specimen for two of them, one load channel for all three. Each pair differs in exactly one thing, so each disagreement has exactly one candidate cause.</a:t>
            </a:r>
          </a:p>
        </p:txBody>
      </p:sp>
      <p:sp>
        <p:nvSpPr>
          <p:cNvPr id="6" name="TextBox 5"/>
          <p:cNvSpPr txBox="1"/>
          <p:nvPr/>
        </p:nvSpPr>
        <p:spPr>
          <a:xfrm>
            <a:off x="411480" y="138988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SETTLED — the calculation</a:t>
            </a:r>
          </a:p>
        </p:txBody>
      </p:sp>
      <p:graphicFrame>
        <p:nvGraphicFramePr>
          <p:cNvPr id="7" name="Table 6"/>
          <p:cNvGraphicFramePr>
            <a:graphicFrameLocks noGrp="1"/>
          </p:cNvGraphicFramePr>
          <p:nvPr/>
        </p:nvGraphicFramePr>
        <p:xfrm>
          <a:off x="411480" y="1737360"/>
          <a:ext cx="3703320" cy="1298448"/>
        </p:xfrm>
        <a:graphic>
          <a:graphicData uri="http://schemas.openxmlformats.org/drawingml/2006/table">
            <a:tbl>
              <a:tblPr firstRow="1" bandRow="1">
                <a:tableStyleId>{5C22544A-7EE6-4342-B048-85BDC9FD1C3A}</a:tableStyleId>
              </a:tblPr>
              <a:tblGrid>
                <a:gridCol w="2377440"/>
                <a:gridCol w="1325880"/>
              </a:tblGrid>
              <a:tr h="259689">
                <a:tc>
                  <a:txBody>
                    <a:bodyPr lIns="54864" rIns="54864" tIns="18288" bIns="18288" wrap="square" anchor="ctr"/>
                    <a:lstStyle/>
                    <a:p>
                      <a:pPr algn="l"/>
                      <a:r>
                        <a:rPr sz="900" b="1">
                          <a:solidFill>
                            <a:srgbClr val="FFFFFF"/>
                          </a:solidFill>
                          <a:latin typeface="Calibri"/>
                        </a:rPr>
                        <a:t>XT205-S2, PPD-UTM vs XT-205</a:t>
                      </a:r>
                    </a:p>
                  </a:txBody>
                  <a:tcPr>
                    <a:solidFill>
                      <a:srgbClr val="143D2F"/>
                    </a:solidFill>
                  </a:tcPr>
                </a:tc>
                <a:tc>
                  <a:txBody>
                    <a:bodyPr lIns="54864" rIns="54864" tIns="18288" bIns="18288" wrap="square" anchor="ctr"/>
                    <a:lstStyle/>
                    <a:p>
                      <a:pPr algn="l"/>
                      <a:r>
                        <a:rPr sz="900" b="1">
                          <a:solidFill>
                            <a:srgbClr val="FFFFFF"/>
                          </a:solidFill>
                          <a:latin typeface="Calibri"/>
                        </a:rPr>
                        <a:t>offset</a:t>
                      </a:r>
                    </a:p>
                  </a:txBody>
                  <a:tcPr>
                    <a:solidFill>
                      <a:srgbClr val="143D2F"/>
                    </a:solidFill>
                  </a:tcPr>
                </a:tc>
              </a:tr>
              <a:tr h="259689">
                <a:tc>
                  <a:txBody>
                    <a:bodyPr lIns="54864" rIns="54864" tIns="18288" bIns="18288" wrap="square" anchor="ctr"/>
                    <a:lstStyle/>
                    <a:p>
                      <a:pPr algn="l"/>
                      <a:r>
                        <a:rPr sz="900" b="0">
                          <a:solidFill>
                            <a:srgbClr val="000000"/>
                          </a:solidFill>
                          <a:latin typeface="Calibri"/>
                        </a:rPr>
                        <a:t>scale</a:t>
                      </a:r>
                    </a:p>
                  </a:txBody>
                  <a:tcPr/>
                </a:tc>
                <a:tc>
                  <a:txBody>
                    <a:bodyPr lIns="54864" rIns="54864" tIns="18288" bIns="18288" wrap="square" anchor="ctr"/>
                    <a:lstStyle/>
                    <a:p>
                      <a:pPr algn="l"/>
                      <a:r>
                        <a:rPr sz="900" b="0">
                          <a:solidFill>
                            <a:srgbClr val="000000"/>
                          </a:solidFill>
                          <a:latin typeface="Calibri"/>
                        </a:rPr>
                        <a:t>0.072 %</a:t>
                      </a:r>
                    </a:p>
                  </a:txBody>
                  <a:tcPr/>
                </a:tc>
              </a:tr>
              <a:tr h="259689">
                <a:tc>
                  <a:txBody>
                    <a:bodyPr lIns="54864" rIns="54864" tIns="18288" bIns="18288" wrap="square" anchor="ctr"/>
                    <a:lstStyle/>
                    <a:p>
                      <a:pPr algn="l"/>
                      <a:r>
                        <a:rPr sz="900" b="0">
                          <a:solidFill>
                            <a:srgbClr val="000000"/>
                          </a:solidFill>
                          <a:latin typeface="Calibri"/>
                        </a:rPr>
                        <a:t>σ_y</a:t>
                      </a:r>
                    </a:p>
                  </a:txBody>
                  <a:tcPr/>
                </a:tc>
                <a:tc>
                  <a:txBody>
                    <a:bodyPr lIns="54864" rIns="54864" tIns="18288" bIns="18288" wrap="square" anchor="ctr"/>
                    <a:lstStyle/>
                    <a:p>
                      <a:pPr algn="l"/>
                      <a:r>
                        <a:rPr sz="900" b="0">
                          <a:solidFill>
                            <a:srgbClr val="000000"/>
                          </a:solidFill>
                          <a:latin typeface="Calibri"/>
                        </a:rPr>
                        <a:t>+0.00 %</a:t>
                      </a:r>
                    </a:p>
                  </a:txBody>
                  <a:tcPr/>
                </a:tc>
              </a:tr>
              <a:tr h="259689">
                <a:tc>
                  <a:txBody>
                    <a:bodyPr lIns="54864" rIns="54864" tIns="18288" bIns="18288" wrap="square" anchor="ctr"/>
                    <a:lstStyle/>
                    <a:p>
                      <a:pPr algn="l"/>
                      <a:r>
                        <a:rPr sz="900" b="0">
                          <a:solidFill>
                            <a:srgbClr val="000000"/>
                          </a:solidFill>
                          <a:latin typeface="Calibri"/>
                        </a:rPr>
                        <a:t>failure strain</a:t>
                      </a:r>
                    </a:p>
                  </a:txBody>
                  <a:tcPr/>
                </a:tc>
                <a:tc>
                  <a:txBody>
                    <a:bodyPr lIns="54864" rIns="54864" tIns="18288" bIns="18288" wrap="square" anchor="ctr"/>
                    <a:lstStyle/>
                    <a:p>
                      <a:pPr algn="l"/>
                      <a:r>
                        <a:rPr sz="900" b="0">
                          <a:solidFill>
                            <a:srgbClr val="000000"/>
                          </a:solidFill>
                          <a:latin typeface="Calibri"/>
                        </a:rPr>
                        <a:t>+0.08 %</a:t>
                      </a:r>
                    </a:p>
                  </a:txBody>
                  <a:tcPr/>
                </a:tc>
              </a:tr>
              <a:tr h="259692">
                <a:tc>
                  <a:txBody>
                    <a:bodyPr lIns="54864" rIns="54864" tIns="18288" bIns="18288" wrap="square" anchor="ctr"/>
                    <a:lstStyle/>
                    <a:p>
                      <a:pPr algn="l"/>
                      <a:r>
                        <a:rPr sz="900" b="0">
                          <a:solidFill>
                            <a:srgbClr val="000000"/>
                          </a:solidFill>
                          <a:latin typeface="Calibri"/>
                        </a:rPr>
                        <a:t>E, steepest run</a:t>
                      </a:r>
                    </a:p>
                  </a:txBody>
                  <a:tcPr/>
                </a:tc>
                <a:tc>
                  <a:txBody>
                    <a:bodyPr lIns="54864" rIns="54864" tIns="18288" bIns="18288" wrap="square" anchor="ctr"/>
                    <a:lstStyle/>
                    <a:p>
                      <a:pPr algn="l"/>
                      <a:r>
                        <a:rPr sz="900" b="0">
                          <a:solidFill>
                            <a:srgbClr val="000000"/>
                          </a:solidFill>
                          <a:latin typeface="Calibri"/>
                        </a:rPr>
                        <a:t>+0.29 %</a:t>
                      </a:r>
                    </a:p>
                  </a:txBody>
                  <a:tcPr/>
                </a:tc>
              </a:tr>
            </a:tbl>
          </a:graphicData>
        </a:graphic>
      </p:graphicFrame>
      <p:sp>
        <p:nvSpPr>
          <p:cNvPr id="8" name="TextBox 7"/>
          <p:cNvSpPr txBox="1"/>
          <p:nvPr/>
        </p:nvSpPr>
        <p:spPr>
          <a:xfrm>
            <a:off x="411480" y="3145536"/>
            <a:ext cx="3703320" cy="1298448"/>
          </a:xfrm>
          <a:prstGeom prst="rect">
            <a:avLst/>
          </a:prstGeom>
          <a:noFill/>
        </p:spPr>
        <p:txBody>
          <a:bodyPr wrap="square" lIns="45720" rIns="45720" tIns="18288" bIns="18288" anchor="t">
            <a:spAutoFit/>
          </a:bodyPr>
          <a:lstStyle/>
          <a:p>
            <a:pPr algn="l"/>
            <a:r>
              <a:rPr sz="950" b="0" i="0">
                <a:solidFill>
                  <a:srgbClr val="000000"/>
                </a:solidFill>
                <a:latin typeface="Calibri"/>
              </a:rPr>
              <a:t>Two independent calculations on identical pixels, agreeing to better than a tenth of a pixel. Whatever else is uncertain in this project, the pixel-to-strain step is not — and MOT Test 1 said the same on a different gauge and a different specimen.</a:t>
            </a:r>
          </a:p>
        </p:txBody>
      </p:sp>
      <p:sp>
        <p:nvSpPr>
          <p:cNvPr id="9" name="TextBox 8"/>
          <p:cNvSpPr txBox="1"/>
          <p:nvPr/>
        </p:nvSpPr>
        <p:spPr>
          <a:xfrm>
            <a:off x="4343400" y="1389888"/>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A CORRECTION TO WHAT WE SAID LAST</a:t>
            </a:r>
          </a:p>
        </p:txBody>
      </p:sp>
      <p:sp>
        <p:nvSpPr>
          <p:cNvPr id="10" name="TextBox 9"/>
          <p:cNvSpPr txBox="1"/>
          <p:nvPr/>
        </p:nvSpPr>
        <p:spPr>
          <a:xfrm>
            <a:off x="4343400" y="1737360"/>
            <a:ext cx="3703320" cy="2706624"/>
          </a:xfrm>
          <a:prstGeom prst="rect">
            <a:avLst/>
          </a:prstGeom>
          <a:noFill/>
        </p:spPr>
        <p:txBody>
          <a:bodyPr wrap="square" lIns="45720" rIns="45720" tIns="18288" bIns="18288" anchor="t">
            <a:spAutoFit/>
          </a:bodyPr>
          <a:lstStyle/>
          <a:p>
            <a:pPr algn="l"/>
            <a:r>
              <a:rPr sz="950" b="0" i="0">
                <a:solidFill>
                  <a:srgbClr val="000000"/>
                </a:solidFill>
                <a:latin typeface="Calibri"/>
              </a:rPr>
              <a:t>The previous slide-set reported that we had LOST the noise lead — 28.6 µε for them against 44.0 µε for S34. That comparison stands, but it is between two RIGS, not two estimators, and it was read too broadly.
On identical footage our estimator is the quieter one: 24.1 µε against their 28.6 µε, the same direction MOT Test 1 found. The rig comparison and the estimator comparison are different questions and this leg is what separates them.
The honest reading: their IMAGES are better than ours, our MATHS is not worse than theirs.</a:t>
            </a:r>
          </a:p>
        </p:txBody>
      </p:sp>
      <p:sp>
        <p:nvSpPr>
          <p:cNvPr id="11" name="TextBox 10"/>
          <p:cNvSpPr txBox="1"/>
          <p:nvPr/>
        </p:nvSpPr>
        <p:spPr>
          <a:xfrm>
            <a:off x="8275320" y="1389888"/>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ONE THING IT REVEALS</a:t>
            </a:r>
          </a:p>
        </p:txBody>
      </p:sp>
      <p:sp>
        <p:nvSpPr>
          <p:cNvPr id="12" name="TextBox 11"/>
          <p:cNvSpPr txBox="1"/>
          <p:nvPr/>
        </p:nvSpPr>
        <p:spPr>
          <a:xfrm>
            <a:off x="8275320" y="1737360"/>
            <a:ext cx="3566160" cy="2706624"/>
          </a:xfrm>
          <a:prstGeom prst="rect">
            <a:avLst/>
          </a:prstGeom>
          <a:noFill/>
        </p:spPr>
        <p:txBody>
          <a:bodyPr wrap="square" lIns="45720" rIns="45720" tIns="18288" bIns="18288" anchor="t">
            <a:spAutoFit/>
          </a:bodyPr>
          <a:lstStyle/>
          <a:p>
            <a:pPr algn="l"/>
            <a:r>
              <a:rPr sz="950" b="0" i="0">
                <a:solidFill>
                  <a:srgbClr val="000000"/>
                </a:solidFill>
                <a:latin typeface="Calibri"/>
              </a:rPr>
              <a:t>1/Px₀ predicted our floor exactly across our own two gauges. Applied here it predicts 32.9 µε on their 1255 px span; we actually reach 24.1 µε — 1.37× BETTER than the pixel count alone allows.
So MOT footage carries roughly 1.4× less measurement noise per pixel than ours does. That is lighting, focus and marker quality, not optics and not software — and it is the first quantified target for improving our own noise floor without touching the camera.</a:t>
            </a:r>
          </a:p>
        </p:txBody>
      </p:sp>
      <p:sp>
        <p:nvSpPr>
          <p:cNvPr id="13" name="Rectangle 12"/>
          <p:cNvSpPr/>
          <p:nvPr/>
        </p:nvSpPr>
        <p:spPr>
          <a:xfrm>
            <a:off x="365760" y="4187952"/>
            <a:ext cx="11475720" cy="62179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50" b="1">
                <a:solidFill>
                  <a:srgbClr val="000000"/>
                </a:solidFill>
                <a:latin typeface="Calibri"/>
              </a:rPr>
              <a:t>THE THREE-WAY RESULT: the calculation is confirmed to 0.072 % of scale, the instrument agrees on every strain landmark to under 0.1 %, and the only differences left standing belong to the MACHINE and the SPECIMEN — which is exactly where the previous slide-set had already put them.</a:t>
            </a:r>
          </a:p>
        </p:txBody>
      </p:sp>
      <p:sp>
        <p:nvSpPr>
          <p:cNvPr id="14" name="TextBox 13"/>
          <p:cNvSpPr txBox="1"/>
          <p:nvPr/>
        </p:nvSpPr>
        <p:spPr>
          <a:xfrm>
            <a:off x="411480" y="4956048"/>
            <a:ext cx="11430000" cy="914400"/>
          </a:xfrm>
          <a:prstGeom prst="rect">
            <a:avLst/>
          </a:prstGeom>
          <a:noFill/>
        </p:spPr>
        <p:txBody>
          <a:bodyPr wrap="square" lIns="45720" rIns="45720" tIns="18288" bIns="18288" anchor="t">
            <a:spAutoFit/>
          </a:bodyPr>
          <a:lstStyle/>
          <a:p>
            <a:pPr algn="l"/>
            <a:r>
              <a:rPr sz="1000" b="0" i="0">
                <a:solidFill>
                  <a:srgbClr val="000000"/>
                </a:solidFill>
                <a:latin typeface="Calibri"/>
              </a:rPr>
              <a:t>STILL OPEN, AND NARROWED: the 7.7 % UTS gap to S34 is now definitively not the DIC — the PPD-UTM maths on MOT footage reproduces the XT-205 to 0.00 %. It is the pull speed or the specimen, and one run of ours at 2 mm/min separates those two. What this leg removed is the third candidate.</a:t>
            </a:r>
          </a:p>
        </p:txBody>
      </p:sp>
      <p:sp>
        <p:nvSpPr>
          <p:cNvPr id="15" name="TextBox 14"/>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Noise is the residual about a straight fit over 0.05–0.35 % strain, on the preload-zeroed convention for all three — scale-invariant in time, so the 1000 fps entry does not reach it.</a:t>
            </a:r>
          </a:p>
        </p:txBody>
      </p:sp>
      <p:sp>
        <p:nvSpPr>
          <p:cNvPr id="16" name="TextBox 15"/>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336</a:t>
            </a:r>
          </a:p>
        </p:txBody>
      </p:sp>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1 — STRAIN RATE ON ONE SHARED WINDOW</a:t>
            </a:r>
          </a:p>
        </p:txBody>
      </p:sp>
      <p:pic>
        <p:nvPicPr>
          <p:cNvPr id="5" name="Picture 4" descr="mot_postproc_compare.png"/>
          <p:cNvPicPr>
            <a:picLocks noChangeAspect="1"/>
          </p:cNvPicPr>
          <p:nvPr/>
        </p:nvPicPr>
        <p:blipFill>
          <a:blip r:embed="rId2"/>
          <a:stretch>
            <a:fillRect/>
          </a:stretch>
        </p:blipFill>
        <p:spPr>
          <a:xfrm>
            <a:off x="1935480" y="1005840"/>
            <a:ext cx="8290560" cy="3108960"/>
          </a:xfrm>
          <a:prstGeom prst="rect">
            <a:avLst/>
          </a:prstGeom>
        </p:spPr>
      </p:pic>
      <p:sp>
        <p:nvSpPr>
          <p:cNvPr id="6" name="TextBox 5"/>
          <p:cNvSpPr txBox="1"/>
          <p:nvPr/>
        </p:nvSpPr>
        <p:spPr>
          <a:xfrm>
            <a:off x="411480" y="4224528"/>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two panels do</a:t>
            </a:r>
          </a:p>
        </p:txBody>
      </p:sp>
      <p:sp>
        <p:nvSpPr>
          <p:cNvPr id="7" name="TextBox 6"/>
          <p:cNvSpPr txBox="1"/>
          <p:nvPr/>
        </p:nvSpPr>
        <p:spPr>
          <a:xfrm>
            <a:off x="411480" y="4572000"/>
            <a:ext cx="5623560" cy="1417320"/>
          </a:xfrm>
          <a:prstGeom prst="rect">
            <a:avLst/>
          </a:prstGeom>
          <a:noFill/>
        </p:spPr>
        <p:txBody>
          <a:bodyPr wrap="square" lIns="45720" rIns="45720" tIns="18288" bIns="18288" anchor="t">
            <a:spAutoFit/>
          </a:bodyPr>
          <a:lstStyle/>
          <a:p>
            <a:pPr algn="l"/>
            <a:r>
              <a:rPr sz="950" b="0" i="0">
                <a:solidFill>
                  <a:srgbClr val="000000"/>
                </a:solidFill>
                <a:latin typeface="Calibri"/>
              </a:rPr>
              <a:t>LEFT — one video, two calculations. The XT-205's own extensometer and the PPD-UTM DIC pipeline read the SAME 80 mm footage, so anything between them is arithmetic and nothing else. They lie on each other.
RIGHT — the same fitted window applied to four records, so the rates are commensurable. The top two are that one video; the bottom two are PPD-UTM pulls of our own specimens.</a:t>
            </a:r>
          </a:p>
        </p:txBody>
      </p:sp>
      <p:sp>
        <p:nvSpPr>
          <p:cNvPr id="8" name="TextBox 7"/>
          <p:cNvSpPr txBox="1"/>
          <p:nvPr/>
        </p:nvSpPr>
        <p:spPr>
          <a:xfrm>
            <a:off x="6263640" y="4224528"/>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what it could NOT settle</a:t>
            </a:r>
          </a:p>
        </p:txBody>
      </p:sp>
      <p:sp>
        <p:nvSpPr>
          <p:cNvPr id="9" name="TextBox 8"/>
          <p:cNvSpPr txBox="1"/>
          <p:nvPr/>
        </p:nvSpPr>
        <p:spPr>
          <a:xfrm>
            <a:off x="6263640" y="4572000"/>
            <a:ext cx="5577840" cy="1417320"/>
          </a:xfrm>
          <a:prstGeom prst="rect">
            <a:avLst/>
          </a:prstGeom>
          <a:noFill/>
        </p:spPr>
        <p:txBody>
          <a:bodyPr wrap="square" lIns="45720" rIns="45720" tIns="18288" bIns="18288" anchor="t">
            <a:spAutoFit/>
          </a:bodyPr>
          <a:lstStyle/>
          <a:p>
            <a:pPr algn="l"/>
            <a:r>
              <a:rPr sz="950" b="0" i="0">
                <a:solidFill>
                  <a:srgbClr val="000000"/>
                </a:solidFill>
                <a:latin typeface="Calibri"/>
              </a:rPr>
              <a:t>The XT-205 reads strain about 2.2× faster than PPD-UTM at the same commanded speed. That is not a calibration error and Test 1 said so: only 19–29 % of our crosshead motion reaches the gauge, the rest going into frame flex, grips and shoulders, and a stiffer frame delivers a larger share. MOT reading faster is what a stiffer frame LOOKS like — but with no load or crosshead channel from them, Test 1 could not prove it. p325 closes it.</a:t>
            </a:r>
          </a:p>
        </p:txBody>
      </p:sp>
      <p:sp>
        <p:nvSpPr>
          <p:cNvPr id="10" name="Rectangle 9"/>
          <p:cNvSpPr/>
          <p:nvPr/>
        </p:nvSpPr>
        <p:spPr>
          <a:xfrm>
            <a:off x="365760" y="6035040"/>
            <a:ext cx="11475720" cy="3657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Two calculations on one video agree; two MACHINES on the same commanded speed do not — and only the second of those is a question about the rig.</a:t>
            </a:r>
          </a:p>
        </p:txBody>
      </p:sp>
      <p:sp>
        <p:nvSpPr>
          <p:cNvPr id="11" name="TextBox 10"/>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80 mm marker spacing, 0.05–0.35 % strain window on each record's own axis. Built by documentation/scripts/mot_postproc_compare.py.</a:t>
            </a:r>
          </a:p>
        </p:txBody>
      </p:sp>
      <p:sp>
        <p:nvSpPr>
          <p:cNvPr id="12" name="TextBox 11"/>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337</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MOT TEST 2 — STRAIN RATE ON ONE SHARED WINDOW</a:t>
            </a:r>
          </a:p>
        </p:txBody>
      </p:sp>
      <p:pic>
        <p:nvPicPr>
          <p:cNvPr id="5" name="Picture 4" descr="mot2pp_rate.png"/>
          <p:cNvPicPr>
            <a:picLocks noChangeAspect="1"/>
          </p:cNvPicPr>
          <p:nvPr/>
        </p:nvPicPr>
        <p:blipFill>
          <a:blip r:embed="rId2"/>
          <a:stretch>
            <a:fillRect/>
          </a:stretch>
        </p:blipFill>
        <p:spPr>
          <a:xfrm>
            <a:off x="1457178" y="932688"/>
            <a:ext cx="9247163" cy="2651760"/>
          </a:xfrm>
          <a:prstGeom prst="rect">
            <a:avLst/>
          </a:prstGeom>
        </p:spPr>
      </p:pic>
      <p:sp>
        <p:nvSpPr>
          <p:cNvPr id="6" name="TextBox 5"/>
          <p:cNvSpPr txBox="1"/>
          <p:nvPr/>
        </p:nvSpPr>
        <p:spPr>
          <a:xfrm>
            <a:off x="411480" y="3675887"/>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same layout, the 45 mm test</a:t>
            </a:r>
          </a:p>
        </p:txBody>
      </p:sp>
      <p:graphicFrame>
        <p:nvGraphicFramePr>
          <p:cNvPr id="7" name="Table 6"/>
          <p:cNvGraphicFramePr>
            <a:graphicFrameLocks noGrp="1"/>
          </p:cNvGraphicFramePr>
          <p:nvPr/>
        </p:nvGraphicFramePr>
        <p:xfrm>
          <a:off x="411480" y="4023360"/>
          <a:ext cx="5623560" cy="1271016"/>
        </p:xfrm>
        <a:graphic>
          <a:graphicData uri="http://schemas.openxmlformats.org/drawingml/2006/table">
            <a:tbl>
              <a:tblPr firstRow="1" bandRow="1">
                <a:tableStyleId>{5C22544A-7EE6-4342-B048-85BDC9FD1C3A}</a:tableStyleId>
              </a:tblPr>
              <a:tblGrid>
                <a:gridCol w="2377440"/>
                <a:gridCol w="1600200"/>
                <a:gridCol w="1645920"/>
              </a:tblGrid>
              <a:tr h="254203">
                <a:tc>
                  <a:txBody>
                    <a:bodyPr lIns="54864" rIns="54864" tIns="18288" bIns="18288" wrap="square" anchor="ctr"/>
                    <a:lstStyle/>
                    <a:p>
                      <a:pPr algn="l"/>
                      <a:r>
                        <a:rPr sz="900" b="1">
                          <a:solidFill>
                            <a:srgbClr val="FFFFFF"/>
                          </a:solidFill>
                          <a:latin typeface="Calibri"/>
                        </a:rPr>
                        <a:t/>
                      </a:r>
                    </a:p>
                  </a:txBody>
                  <a:tcPr>
                    <a:solidFill>
                      <a:srgbClr val="143D2F"/>
                    </a:solidFill>
                  </a:tcPr>
                </a:tc>
                <a:tc>
                  <a:txBody>
                    <a:bodyPr lIns="54864" rIns="54864" tIns="18288" bIns="18288" wrap="square" anchor="ctr"/>
                    <a:lstStyle/>
                    <a:p>
                      <a:pPr algn="l"/>
                      <a:r>
                        <a:rPr sz="900" b="1">
                          <a:solidFill>
                            <a:srgbClr val="FFFFFF"/>
                          </a:solidFill>
                          <a:latin typeface="Calibri"/>
                        </a:rPr>
                        <a:t>XT205-S1 · 80 mm</a:t>
                      </a:r>
                    </a:p>
                  </a:txBody>
                  <a:tcPr>
                    <a:solidFill>
                      <a:srgbClr val="143D2F"/>
                    </a:solidFill>
                  </a:tcPr>
                </a:tc>
                <a:tc>
                  <a:txBody>
                    <a:bodyPr lIns="54864" rIns="54864" tIns="18288" bIns="18288" wrap="square" anchor="ctr"/>
                    <a:lstStyle/>
                    <a:p>
                      <a:pPr algn="l"/>
                      <a:r>
                        <a:rPr sz="900" b="1">
                          <a:solidFill>
                            <a:srgbClr val="FFFFFF"/>
                          </a:solidFill>
                          <a:latin typeface="Calibri"/>
                        </a:rPr>
                        <a:t>XT205-S2 · 45 mm</a:t>
                      </a:r>
                    </a:p>
                  </a:txBody>
                  <a:tcPr>
                    <a:solidFill>
                      <a:srgbClr val="143D2F"/>
                    </a:solidFill>
                  </a:tcPr>
                </a:tc>
              </a:tr>
              <a:tr h="254203">
                <a:tc>
                  <a:txBody>
                    <a:bodyPr lIns="54864" rIns="54864" tIns="18288" bIns="18288" wrap="square" anchor="ctr"/>
                    <a:lstStyle/>
                    <a:p>
                      <a:pPr algn="l"/>
                      <a:r>
                        <a:rPr sz="850" b="0">
                          <a:solidFill>
                            <a:srgbClr val="000000"/>
                          </a:solidFill>
                          <a:latin typeface="Calibri"/>
                        </a:rPr>
                        <a:t>the MOT bar · PPD-UTM DIC</a:t>
                      </a:r>
                    </a:p>
                  </a:txBody>
                  <a:tcPr/>
                </a:tc>
                <a:tc>
                  <a:txBody>
                    <a:bodyPr lIns="54864" rIns="54864" tIns="18288" bIns="18288" wrap="square" anchor="ctr"/>
                    <a:lstStyle/>
                    <a:p>
                      <a:pPr algn="l"/>
                      <a:r>
                        <a:rPr sz="850" b="0">
                          <a:solidFill>
                            <a:srgbClr val="000000"/>
                          </a:solidFill>
                          <a:latin typeface="Calibri"/>
                        </a:rPr>
                        <a:t>7.60e-04 /s</a:t>
                      </a:r>
                    </a:p>
                  </a:txBody>
                  <a:tcPr/>
                </a:tc>
                <a:tc>
                  <a:txBody>
                    <a:bodyPr lIns="54864" rIns="54864" tIns="18288" bIns="18288" wrap="square" anchor="ctr"/>
                    <a:lstStyle/>
                    <a:p>
                      <a:pPr algn="l"/>
                      <a:r>
                        <a:rPr sz="850" b="0">
                          <a:solidFill>
                            <a:srgbClr val="000000"/>
                          </a:solidFill>
                          <a:latin typeface="Calibri"/>
                        </a:rPr>
                        <a:t>2.59e-04 /s</a:t>
                      </a:r>
                    </a:p>
                  </a:txBody>
                  <a:tcPr/>
                </a:tc>
              </a:tr>
              <a:tr h="254203">
                <a:tc>
                  <a:txBody>
                    <a:bodyPr lIns="54864" rIns="54864" tIns="18288" bIns="18288" wrap="square" anchor="ctr"/>
                    <a:lstStyle/>
                    <a:p>
                      <a:pPr algn="l"/>
                      <a:r>
                        <a:rPr sz="850" b="0">
                          <a:solidFill>
                            <a:srgbClr val="000000"/>
                          </a:solidFill>
                          <a:latin typeface="Calibri"/>
                        </a:rPr>
                        <a:t>the MOT bar · XT-205</a:t>
                      </a:r>
                    </a:p>
                  </a:txBody>
                  <a:tcPr/>
                </a:tc>
                <a:tc>
                  <a:txBody>
                    <a:bodyPr lIns="54864" rIns="54864" tIns="18288" bIns="18288" wrap="square" anchor="ctr"/>
                    <a:lstStyle/>
                    <a:p>
                      <a:pPr algn="l"/>
                      <a:r>
                        <a:rPr sz="850" b="0">
                          <a:solidFill>
                            <a:srgbClr val="000000"/>
                          </a:solidFill>
                          <a:latin typeface="Calibri"/>
                        </a:rPr>
                        <a:t>7.42e-04 /s</a:t>
                      </a:r>
                    </a:p>
                  </a:txBody>
                  <a:tcPr/>
                </a:tc>
                <a:tc>
                  <a:txBody>
                    <a:bodyPr lIns="54864" rIns="54864" tIns="18288" bIns="18288" wrap="square" anchor="ctr"/>
                    <a:lstStyle/>
                    <a:p>
                      <a:pPr algn="l"/>
                      <a:r>
                        <a:rPr sz="850" b="0">
                          <a:solidFill>
                            <a:srgbClr val="000000"/>
                          </a:solidFill>
                          <a:latin typeface="Calibri"/>
                        </a:rPr>
                        <a:t>2.60e-04 /s</a:t>
                      </a:r>
                    </a:p>
                  </a:txBody>
                  <a:tcPr/>
                </a:tc>
              </a:tr>
              <a:tr h="254203">
                <a:tc>
                  <a:txBody>
                    <a:bodyPr lIns="54864" rIns="54864" tIns="18288" bIns="18288" wrap="square" anchor="ctr"/>
                    <a:lstStyle/>
                    <a:p>
                      <a:pPr algn="l"/>
                      <a:r>
                        <a:rPr sz="850" b="0">
                          <a:solidFill>
                            <a:srgbClr val="000000"/>
                          </a:solidFill>
                          <a:latin typeface="Calibri"/>
                        </a:rPr>
                        <a:t>the two calculations, apart</a:t>
                      </a:r>
                    </a:p>
                  </a:txBody>
                  <a:tcPr/>
                </a:tc>
                <a:tc>
                  <a:txBody>
                    <a:bodyPr lIns="54864" rIns="54864" tIns="18288" bIns="18288" wrap="square" anchor="ctr"/>
                    <a:lstStyle/>
                    <a:p>
                      <a:pPr algn="l"/>
                      <a:r>
                        <a:rPr sz="850" b="0">
                          <a:solidFill>
                            <a:srgbClr val="000000"/>
                          </a:solidFill>
                          <a:latin typeface="Calibri"/>
                        </a:rPr>
                        <a:t>2.4 %</a:t>
                      </a:r>
                    </a:p>
                  </a:txBody>
                  <a:tcPr/>
                </a:tc>
                <a:tc>
                  <a:txBody>
                    <a:bodyPr lIns="54864" rIns="54864" tIns="18288" bIns="18288" wrap="square" anchor="ctr"/>
                    <a:lstStyle/>
                    <a:p>
                      <a:pPr algn="l"/>
                      <a:r>
                        <a:rPr sz="850" b="0">
                          <a:solidFill>
                            <a:srgbClr val="000000"/>
                          </a:solidFill>
                          <a:latin typeface="Calibri"/>
                        </a:rPr>
                        <a:t>0.4 %</a:t>
                      </a:r>
                    </a:p>
                  </a:txBody>
                  <a:tcPr/>
                </a:tc>
              </a:tr>
              <a:tr h="254204">
                <a:tc>
                  <a:txBody>
                    <a:bodyPr lIns="54864" rIns="54864" tIns="18288" bIns="18288" wrap="square" anchor="ctr"/>
                    <a:lstStyle/>
                    <a:p>
                      <a:pPr algn="l"/>
                      <a:r>
                        <a:rPr sz="850" b="0">
                          <a:solidFill>
                            <a:srgbClr val="000000"/>
                          </a:solidFill>
                          <a:latin typeface="Calibri"/>
                        </a:rPr>
                        <a:t>XT-205 ÷ PPD-UTM specimens</a:t>
                      </a:r>
                    </a:p>
                  </a:txBody>
                  <a:tcPr/>
                </a:tc>
                <a:tc>
                  <a:txBody>
                    <a:bodyPr lIns="54864" rIns="54864" tIns="18288" bIns="18288" wrap="square" anchor="ctr"/>
                    <a:lstStyle/>
                    <a:p>
                      <a:pPr algn="l"/>
                      <a:r>
                        <a:rPr sz="850" b="0">
                          <a:solidFill>
                            <a:srgbClr val="000000"/>
                          </a:solidFill>
                          <a:latin typeface="Calibri"/>
                        </a:rPr>
                        <a:t>2.21x</a:t>
                      </a:r>
                    </a:p>
                  </a:txBody>
                  <a:tcPr/>
                </a:tc>
                <a:tc>
                  <a:txBody>
                    <a:bodyPr lIns="54864" rIns="54864" tIns="18288" bIns="18288" wrap="square" anchor="ctr"/>
                    <a:lstStyle/>
                    <a:p>
                      <a:pPr algn="l"/>
                      <a:r>
                        <a:rPr sz="850" b="0">
                          <a:solidFill>
                            <a:srgbClr val="000000"/>
                          </a:solidFill>
                          <a:latin typeface="Calibri"/>
                        </a:rPr>
                        <a:t>0.85x</a:t>
                      </a:r>
                    </a:p>
                  </a:txBody>
                  <a:tcPr/>
                </a:tc>
              </a:tr>
            </a:tbl>
          </a:graphicData>
        </a:graphic>
      </p:graphicFrame>
      <p:sp>
        <p:nvSpPr>
          <p:cNvPr id="8" name="TextBox 7"/>
          <p:cNvSpPr txBox="1"/>
          <p:nvPr/>
        </p:nvSpPr>
        <p:spPr>
          <a:xfrm>
            <a:off x="6263640" y="3675887"/>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row that changed, and why</a:t>
            </a:r>
          </a:p>
        </p:txBody>
      </p:sp>
      <p:sp>
        <p:nvSpPr>
          <p:cNvPr id="9" name="TextBox 8"/>
          <p:cNvSpPr txBox="1"/>
          <p:nvPr/>
        </p:nvSpPr>
        <p:spPr>
          <a:xfrm>
            <a:off x="6263640" y="4023360"/>
            <a:ext cx="5577840" cy="1325880"/>
          </a:xfrm>
          <a:prstGeom prst="rect">
            <a:avLst/>
          </a:prstGeom>
          <a:noFill/>
        </p:spPr>
        <p:txBody>
          <a:bodyPr wrap="square" lIns="45720" rIns="45720" tIns="18288" bIns="18288" anchor="t">
            <a:spAutoFit/>
          </a:bodyPr>
          <a:lstStyle/>
          <a:p>
            <a:pPr algn="l"/>
            <a:r>
              <a:rPr sz="950" b="0" i="0">
                <a:solidFill>
                  <a:srgbClr val="000000"/>
                </a:solidFill>
                <a:latin typeface="Calibri"/>
              </a:rPr>
              <a:t>The two CALCULATIONS agree in both tests, and more tightly here: 0.4 % against Test 1's 2.4 %.
The two MACHINES have swapped places. In Test 1 the XT-205 read 2.2× faster than our specimens; here it reads 0.85× — slightly SLOWER. Nothing about either instrument changed. The XT-205 pulled at 2 mm/min against our 6.0, a 3× handicap, and it delivers 45 % of that travel to the gauge against our 33 %. The two effects very nearly cancel, which is exactly what a compliance explanation predicts and a calibration error could not.</a:t>
            </a:r>
          </a:p>
        </p:txBody>
      </p:sp>
      <p:sp>
        <p:nvSpPr>
          <p:cNvPr id="10" name="Rectangle 9"/>
          <p:cNvSpPr/>
          <p:nvPr/>
        </p:nvSpPr>
        <p:spPr>
          <a:xfrm>
            <a:off x="365760" y="5504688"/>
            <a:ext cx="11475720" cy="347472"/>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Same figure, same window, one test apart: the CALCULATION agreement holds and the MACHINE gap moves with the pull speed — which is the difference between a method and a machine.</a:t>
            </a:r>
          </a:p>
        </p:txBody>
      </p:sp>
      <p:sp>
        <p:nvSpPr>
          <p:cNvPr id="11" name="TextBox 10"/>
          <p:cNvSpPr txBox="1"/>
          <p:nvPr/>
        </p:nvSpPr>
        <p:spPr>
          <a:xfrm>
            <a:off x="411480" y="5907024"/>
            <a:ext cx="11475720" cy="384048"/>
          </a:xfrm>
          <a:prstGeom prst="rect">
            <a:avLst/>
          </a:prstGeom>
          <a:noFill/>
        </p:spPr>
        <p:txBody>
          <a:bodyPr wrap="square" lIns="45720" rIns="45720" tIns="18288" bIns="18288" anchor="t">
            <a:spAutoFit/>
          </a:bodyPr>
          <a:lstStyle/>
          <a:p>
            <a:pPr algn="l"/>
            <a:r>
              <a:rPr sz="1000" b="0" i="0">
                <a:solidFill>
                  <a:srgbClr val="000000"/>
                </a:solidFill>
                <a:latin typeface="Calibri"/>
              </a:rPr>
              <a:t>WHAT "FITTED WINDOW" MEANS: the shaded band is a slice of RAW samples — nothing is smoothed, filtered or resampled. The only fitting is one least-squares straight line through the strain-against-time points inside that band, and its SLOPE is the rate reported in the bars. The band is narrow and nearly straight on purpose, so what the fit leaves behind is instrument noise rather than the curvature of the pull (p339).</a:t>
            </a:r>
          </a:p>
        </p:txBody>
      </p:sp>
      <p:sp>
        <p:nvSpPr>
          <p:cNvPr id="12" name="TextBox 11"/>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45 mm marker spacing. The window is 0.05–0.35 % of the PRELOAD-ZEROED strain: Test 2's preload lands inside the recording, so a raw window would sit on the seating ramp.</a:t>
            </a:r>
          </a:p>
        </p:txBody>
      </p:sp>
      <p:sp>
        <p:nvSpPr>
          <p:cNvPr id="13" name="TextBox 12"/>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338</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WHOLE PULL, BOTH CALCULATIONS — XT205-S2 TO FRACTURE</a:t>
            </a:r>
          </a:p>
        </p:txBody>
      </p:sp>
      <p:pic>
        <p:nvPicPr>
          <p:cNvPr id="5" name="Picture 4" descr="mot2pp_full.png"/>
          <p:cNvPicPr>
            <a:picLocks noChangeAspect="1"/>
          </p:cNvPicPr>
          <p:nvPr/>
        </p:nvPicPr>
        <p:blipFill>
          <a:blip r:embed="rId2"/>
          <a:stretch>
            <a:fillRect/>
          </a:stretch>
        </p:blipFill>
        <p:spPr>
          <a:xfrm>
            <a:off x="680024" y="932688"/>
            <a:ext cx="10801470" cy="3310128"/>
          </a:xfrm>
          <a:prstGeom prst="rect">
            <a:avLst/>
          </a:prstGeom>
        </p:spPr>
      </p:pic>
      <p:sp>
        <p:nvSpPr>
          <p:cNvPr id="6" name="TextBox 5"/>
          <p:cNvSpPr txBox="1"/>
          <p:nvPr/>
        </p:nvSpPr>
        <p:spPr>
          <a:xfrm>
            <a:off x="411480" y="435254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Why this had to be shown at full scale</a:t>
            </a:r>
          </a:p>
        </p:txBody>
      </p:sp>
      <p:sp>
        <p:nvSpPr>
          <p:cNvPr id="7" name="TextBox 6"/>
          <p:cNvSpPr txBox="1"/>
          <p:nvPr/>
        </p:nvSpPr>
        <p:spPr>
          <a:xfrm>
            <a:off x="411480" y="4700016"/>
            <a:ext cx="3703320" cy="1188720"/>
          </a:xfrm>
          <a:prstGeom prst="rect">
            <a:avLst/>
          </a:prstGeom>
          <a:noFill/>
        </p:spPr>
        <p:txBody>
          <a:bodyPr wrap="square" lIns="45720" rIns="45720" tIns="18288" bIns="18288" anchor="t">
            <a:spAutoFit/>
          </a:bodyPr>
          <a:lstStyle/>
          <a:p>
            <a:pPr algn="l"/>
            <a:r>
              <a:rPr sz="950" b="0" i="0">
                <a:solidFill>
                  <a:srgbClr val="000000"/>
                </a:solidFill>
                <a:latin typeface="Calibri"/>
              </a:rPr>
              <a:t>Every other view of these two records either stops at 0.9 % strain — the fitted window and a little either side — or puts them on separate axes. Neither answers the question a reader should be asking: does the agreement SURVIVE past the elastic ramp, out to 5.21 % where the specimen is drawing and then tearing? The window is 6 % of the record. This is the other 94 %.</a:t>
            </a:r>
          </a:p>
        </p:txBody>
      </p:sp>
      <p:sp>
        <p:nvSpPr>
          <p:cNvPr id="8" name="TextBox 7"/>
          <p:cNvSpPr txBox="1"/>
          <p:nvPr/>
        </p:nvSpPr>
        <p:spPr>
          <a:xfrm>
            <a:off x="4343400" y="4352544"/>
            <a:ext cx="370332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it does</a:t>
            </a:r>
          </a:p>
        </p:txBody>
      </p:sp>
      <p:sp>
        <p:nvSpPr>
          <p:cNvPr id="9" name="TextBox 8"/>
          <p:cNvSpPr txBox="1"/>
          <p:nvPr/>
        </p:nvSpPr>
        <p:spPr>
          <a:xfrm>
            <a:off x="4343400" y="4700016"/>
            <a:ext cx="3703320" cy="1188720"/>
          </a:xfrm>
          <a:prstGeom prst="rect">
            <a:avLst/>
          </a:prstGeom>
          <a:noFill/>
        </p:spPr>
        <p:txBody>
          <a:bodyPr wrap="square" lIns="45720" rIns="45720" tIns="18288" bIns="18288" anchor="t">
            <a:spAutoFit/>
          </a:bodyPr>
          <a:lstStyle/>
          <a:p>
            <a:pPr algn="l"/>
            <a:r>
              <a:rPr sz="950" b="0" i="0">
                <a:solidFill>
                  <a:srgbClr val="000000"/>
                </a:solidFill>
                <a:latin typeface="Calibri"/>
              </a:rPr>
              <a:t>The two traces are indistinguishable at this scale for the whole 156 s. The lower panel is the difference on the same time axis: it sits on a constant −55 µε — which is 0.069 px on a 1255 px marker span, a reference-frame difference and not a calibration one — with no drift, no divergence at large strain, and no step at yield. Fracture strain lands 0.08 % apart.</a:t>
            </a:r>
          </a:p>
        </p:txBody>
      </p:sp>
      <p:sp>
        <p:nvSpPr>
          <p:cNvPr id="10" name="TextBox 9"/>
          <p:cNvSpPr txBox="1"/>
          <p:nvPr/>
        </p:nvSpPr>
        <p:spPr>
          <a:xfrm>
            <a:off x="8275320" y="4352544"/>
            <a:ext cx="3566160" cy="365760"/>
          </a:xfrm>
          <a:prstGeom prst="rect">
            <a:avLst/>
          </a:prstGeom>
          <a:noFill/>
        </p:spPr>
        <p:txBody>
          <a:bodyPr wrap="square" lIns="45720" rIns="45720" tIns="18288" bIns="18288" anchor="t">
            <a:spAutoFit/>
          </a:bodyPr>
          <a:lstStyle/>
          <a:p>
            <a:pPr algn="l"/>
            <a:r>
              <a:rPr sz="1600" b="0" i="0">
                <a:solidFill>
                  <a:srgbClr val="707070"/>
                </a:solidFill>
                <a:latin typeface="Calibri"/>
              </a:rPr>
              <a:t>What the lower panel is NOT</a:t>
            </a:r>
          </a:p>
        </p:txBody>
      </p:sp>
      <p:sp>
        <p:nvSpPr>
          <p:cNvPr id="11" name="TextBox 10"/>
          <p:cNvSpPr txBox="1"/>
          <p:nvPr/>
        </p:nvSpPr>
        <p:spPr>
          <a:xfrm>
            <a:off x="8275320" y="4700016"/>
            <a:ext cx="3566160" cy="1188720"/>
          </a:xfrm>
          <a:prstGeom prst="rect">
            <a:avLst/>
          </a:prstGeom>
          <a:noFill/>
        </p:spPr>
        <p:txBody>
          <a:bodyPr wrap="square" lIns="45720" rIns="45720" tIns="18288" bIns="18288" anchor="t">
            <a:spAutoFit/>
          </a:bodyPr>
          <a:lstStyle/>
          <a:p>
            <a:pPr algn="l"/>
            <a:r>
              <a:rPr sz="950" b="0" i="0">
                <a:solidFill>
                  <a:srgbClr val="000000"/>
                </a:solidFill>
                <a:latin typeface="Calibri"/>
              </a:rPr>
              <a:t>It is a DIFFERENCE, and a difference cannot say whose noise is larger — subtracting two records ADDS their scatter. That answer comes from fitting each record separately over one window: PPD-UTM 24.1 µε against the XT-205's 28.6 µε, so ours is the quieter by 1.19×.</a:t>
            </a:r>
          </a:p>
        </p:txBody>
      </p:sp>
      <p:sp>
        <p:nvSpPr>
          <p:cNvPr id="12" name="Rectangle 11"/>
          <p:cNvSpPr/>
          <p:nvPr/>
        </p:nvSpPr>
        <p:spPr>
          <a:xfrm>
            <a:off x="365760" y="5961888"/>
            <a:ext cx="11475720" cy="365760"/>
          </a:xfrm>
          <a:prstGeom prst="rect">
            <a:avLst/>
          </a:prstGeom>
          <a:solidFill>
            <a:srgbClr val="E7F1F8"/>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050" b="1">
                <a:solidFill>
                  <a:srgbClr val="000000"/>
                </a:solidFill>
                <a:latin typeface="Calibri"/>
              </a:rPr>
              <a:t>The difference scatters by 36.7 µε, within 2 % of the 37.3 µε those two noises give added in quadrature — so they are INDEPENDENT. Neither instrument is picking up a common flicker from the footage they share; each is limited by its own marker-locating.</a:t>
            </a:r>
          </a:p>
        </p:txBody>
      </p:sp>
      <p:sp>
        <p:nvSpPr>
          <p:cNvPr id="13" name="TextBox 12"/>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Raw samples throughout; the lower panel is a plain difference, not a fit. Both records are re-zeroed at the 300 N preload so they share one convention.</a:t>
            </a:r>
          </a:p>
        </p:txBody>
      </p:sp>
      <p:sp>
        <p:nvSpPr>
          <p:cNvPr id="14" name="TextBox 13"/>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339</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SIX RECORDS, NAMED — AND THE SPEED EACH WAS PULLED AT</a:t>
            </a:r>
          </a:p>
        </p:txBody>
      </p:sp>
      <p:sp>
        <p:nvSpPr>
          <p:cNvPr id="5" name="TextBox 4"/>
          <p:cNvSpPr txBox="1"/>
          <p:nvPr/>
        </p:nvSpPr>
        <p:spPr>
          <a:xfrm>
            <a:off x="411480" y="969264"/>
            <a:ext cx="11430000" cy="365760"/>
          </a:xfrm>
          <a:prstGeom prst="rect">
            <a:avLst/>
          </a:prstGeom>
          <a:noFill/>
        </p:spPr>
        <p:txBody>
          <a:bodyPr wrap="square" lIns="45720" rIns="45720" tIns="18288" bIns="18288" anchor="t">
            <a:spAutoFit/>
          </a:bodyPr>
          <a:lstStyle/>
          <a:p>
            <a:pPr algn="l"/>
            <a:r>
              <a:rPr sz="1100" b="0" i="0">
                <a:solidFill>
                  <a:srgbClr val="000000"/>
                </a:solidFill>
                <a:latin typeface="Calibri"/>
              </a:rPr>
              <a:t>Two tests on the MOT XT-205 and four pulls on the PPD-UTM. The MOT specimens had no names of their own, which made "the XT-205" mean the instrument and the bar it was holding at the same time. They have names now.</a:t>
            </a:r>
          </a:p>
        </p:txBody>
      </p:sp>
      <p:sp>
        <p:nvSpPr>
          <p:cNvPr id="6" name="TextBox 5"/>
          <p:cNvSpPr txBox="1"/>
          <p:nvPr/>
        </p:nvSpPr>
        <p:spPr>
          <a:xfrm>
            <a:off x="411480" y="1389888"/>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The naming</a:t>
            </a:r>
          </a:p>
        </p:txBody>
      </p:sp>
      <p:graphicFrame>
        <p:nvGraphicFramePr>
          <p:cNvPr id="7" name="Table 6"/>
          <p:cNvGraphicFramePr>
            <a:graphicFrameLocks noGrp="1"/>
          </p:cNvGraphicFramePr>
          <p:nvPr/>
        </p:nvGraphicFramePr>
        <p:xfrm>
          <a:off x="411480" y="1737360"/>
          <a:ext cx="11429998" cy="1033271"/>
        </p:xfrm>
        <a:graphic>
          <a:graphicData uri="http://schemas.openxmlformats.org/drawingml/2006/table">
            <a:tbl>
              <a:tblPr firstRow="1" bandRow="1">
                <a:tableStyleId>{5C22544A-7EE6-4342-B048-85BDC9FD1C3A}</a:tableStyleId>
              </a:tblPr>
              <a:tblGrid>
                <a:gridCol w="1868365"/>
                <a:gridCol w="8022980"/>
                <a:gridCol w="1538653"/>
              </a:tblGrid>
              <a:tr h="172211">
                <a:tc>
                  <a:txBody>
                    <a:bodyPr lIns="54864" rIns="54864" tIns="18288" bIns="18288" wrap="square" anchor="ctr"/>
                    <a:lstStyle/>
                    <a:p>
                      <a:pPr algn="l"/>
                      <a:r>
                        <a:rPr sz="950" b="1">
                          <a:solidFill>
                            <a:srgbClr val="FFFFFF"/>
                          </a:solidFill>
                          <a:latin typeface="Calibri"/>
                        </a:rPr>
                        <a:t>Name</a:t>
                      </a:r>
                    </a:p>
                  </a:txBody>
                  <a:tcPr>
                    <a:solidFill>
                      <a:srgbClr val="143D2F"/>
                    </a:solidFill>
                  </a:tcPr>
                </a:tc>
                <a:tc>
                  <a:txBody>
                    <a:bodyPr lIns="54864" rIns="54864" tIns="18288" bIns="18288" wrap="square" anchor="ctr"/>
                    <a:lstStyle/>
                    <a:p>
                      <a:pPr algn="l"/>
                      <a:r>
                        <a:rPr sz="950" b="1">
                          <a:solidFill>
                            <a:srgbClr val="FFFFFF"/>
                          </a:solidFill>
                          <a:latin typeface="Calibri"/>
                        </a:rPr>
                        <a:t>What it is</a:t>
                      </a:r>
                    </a:p>
                  </a:txBody>
                  <a:tcPr>
                    <a:solidFill>
                      <a:srgbClr val="143D2F"/>
                    </a:solidFill>
                  </a:tcPr>
                </a:tc>
                <a:tc>
                  <a:txBody>
                    <a:bodyPr lIns="54864" rIns="54864" tIns="18288" bIns="18288" wrap="square" anchor="ctr"/>
                    <a:lstStyle/>
                    <a:p>
                      <a:pPr algn="l"/>
                      <a:r>
                        <a:rPr sz="950" b="1">
                          <a:solidFill>
                            <a:srgbClr val="FFFFFF"/>
                          </a:solidFill>
                          <a:latin typeface="Calibri"/>
                        </a:rPr>
                        <a:t>Which test</a:t>
                      </a:r>
                    </a:p>
                  </a:txBody>
                  <a:tcPr>
                    <a:solidFill>
                      <a:srgbClr val="143D2F"/>
                    </a:solidFill>
                  </a:tcPr>
                </a:tc>
              </a:tr>
              <a:tr h="172211">
                <a:tc>
                  <a:txBody>
                    <a:bodyPr lIns="54864" rIns="54864" tIns="18288" bIns="18288" wrap="square" anchor="ctr"/>
                    <a:lstStyle/>
                    <a:p>
                      <a:pPr algn="l"/>
                      <a:r>
                        <a:rPr sz="900" b="0">
                          <a:solidFill>
                            <a:srgbClr val="000000"/>
                          </a:solidFill>
                          <a:latin typeface="Calibri"/>
                        </a:rPr>
                        <a:t>XT205-S1</a:t>
                      </a:r>
                    </a:p>
                  </a:txBody>
                  <a:tcPr/>
                </a:tc>
                <a:tc>
                  <a:txBody>
                    <a:bodyPr lIns="54864" rIns="54864" tIns="18288" bIns="18288" wrap="square" anchor="ctr"/>
                    <a:lstStyle/>
                    <a:p>
                      <a:pPr algn="l"/>
                      <a:r>
                        <a:rPr sz="900" b="0">
                          <a:solidFill>
                            <a:srgbClr val="000000"/>
                          </a:solidFill>
                          <a:latin typeface="Calibri"/>
                        </a:rPr>
                        <a:t>the specimen the MOT XT-205 pulled in its first session, 80 mm marker spacing</a:t>
                      </a:r>
                    </a:p>
                  </a:txBody>
                  <a:tcPr/>
                </a:tc>
                <a:tc>
                  <a:txBody>
                    <a:bodyPr lIns="54864" rIns="54864" tIns="18288" bIns="18288" wrap="square" anchor="ctr"/>
                    <a:lstStyle/>
                    <a:p>
                      <a:pPr algn="l"/>
                      <a:r>
                        <a:rPr sz="900" b="0">
                          <a:solidFill>
                            <a:srgbClr val="000000"/>
                          </a:solidFill>
                          <a:latin typeface="Calibri"/>
                        </a:rPr>
                        <a:t>MOT Test 1</a:t>
                      </a:r>
                    </a:p>
                  </a:txBody>
                  <a:tcPr/>
                </a:tc>
              </a:tr>
              <a:tr h="172211">
                <a:tc>
                  <a:txBody>
                    <a:bodyPr lIns="54864" rIns="54864" tIns="18288" bIns="18288" wrap="square" anchor="ctr"/>
                    <a:lstStyle/>
                    <a:p>
                      <a:pPr algn="l"/>
                      <a:r>
                        <a:rPr sz="900" b="0">
                          <a:solidFill>
                            <a:srgbClr val="000000"/>
                          </a:solidFill>
                          <a:latin typeface="Calibri"/>
                        </a:rPr>
                        <a:t>XT205-S2</a:t>
                      </a:r>
                    </a:p>
                  </a:txBody>
                  <a:tcPr/>
                </a:tc>
                <a:tc>
                  <a:txBody>
                    <a:bodyPr lIns="54864" rIns="54864" tIns="18288" bIns="18288" wrap="square" anchor="ctr"/>
                    <a:lstStyle/>
                    <a:p>
                      <a:pPr algn="l"/>
                      <a:r>
                        <a:rPr sz="900" b="0">
                          <a:solidFill>
                            <a:srgbClr val="000000"/>
                          </a:solidFill>
                          <a:latin typeface="Calibri"/>
                        </a:rPr>
                        <a:t>the specimen it pulled in its second, 45 mm marker spacing</a:t>
                      </a:r>
                    </a:p>
                  </a:txBody>
                  <a:tcPr/>
                </a:tc>
                <a:tc>
                  <a:txBody>
                    <a:bodyPr lIns="54864" rIns="54864" tIns="18288" bIns="18288" wrap="square" anchor="ctr"/>
                    <a:lstStyle/>
                    <a:p>
                      <a:pPr algn="l"/>
                      <a:r>
                        <a:rPr sz="900" b="0">
                          <a:solidFill>
                            <a:srgbClr val="000000"/>
                          </a:solidFill>
                          <a:latin typeface="Calibri"/>
                        </a:rPr>
                        <a:t>MOT Test 2</a:t>
                      </a:r>
                    </a:p>
                  </a:txBody>
                  <a:tcPr/>
                </a:tc>
              </a:tr>
              <a:tr h="172211">
                <a:tc>
                  <a:txBody>
                    <a:bodyPr lIns="54864" rIns="54864" tIns="18288" bIns="18288" wrap="square" anchor="ctr"/>
                    <a:lstStyle/>
                    <a:p>
                      <a:pPr algn="l"/>
                      <a:r>
                        <a:rPr sz="900" b="0">
                          <a:solidFill>
                            <a:srgbClr val="000000"/>
                          </a:solidFill>
                          <a:latin typeface="Calibri"/>
                        </a:rPr>
                        <a:t>XT-205</a:t>
                      </a:r>
                    </a:p>
                  </a:txBody>
                  <a:tcPr/>
                </a:tc>
                <a:tc>
                  <a:txBody>
                    <a:bodyPr lIns="54864" rIns="54864" tIns="18288" bIns="18288" wrap="square" anchor="ctr"/>
                    <a:lstStyle/>
                    <a:p>
                      <a:pPr algn="l"/>
                      <a:r>
                        <a:rPr sz="900" b="0">
                          <a:solidFill>
                            <a:srgbClr val="000000"/>
                          </a:solidFill>
                          <a:latin typeface="Calibri"/>
                        </a:rPr>
                        <a:t>the INSTRUMENT — the video extensometer and its software, not a specimen</a:t>
                      </a:r>
                    </a:p>
                  </a:txBody>
                  <a:tcPr/>
                </a:tc>
                <a:tc>
                  <a:txBody>
                    <a:bodyPr lIns="54864" rIns="54864" tIns="18288" bIns="18288" wrap="square" anchor="ctr"/>
                    <a:lstStyle/>
                    <a:p>
                      <a:pPr algn="l"/>
                      <a:r>
                        <a:rPr sz="900" b="0">
                          <a:solidFill>
                            <a:srgbClr val="000000"/>
                          </a:solidFill>
                          <a:latin typeface="Calibri"/>
                        </a:rPr>
                        <a:t>both</a:t>
                      </a:r>
                    </a:p>
                  </a:txBody>
                  <a:tcPr/>
                </a:tc>
              </a:tr>
              <a:tr h="172211">
                <a:tc>
                  <a:txBody>
                    <a:bodyPr lIns="54864" rIns="54864" tIns="18288" bIns="18288" wrap="square" anchor="ctr"/>
                    <a:lstStyle/>
                    <a:p>
                      <a:pPr algn="l"/>
                      <a:r>
                        <a:rPr sz="900" b="0">
                          <a:solidFill>
                            <a:srgbClr val="000000"/>
                          </a:solidFill>
                          <a:latin typeface="Calibri"/>
                        </a:rPr>
                        <a:t>PPD-UTM</a:t>
                      </a:r>
                    </a:p>
                  </a:txBody>
                  <a:tcPr/>
                </a:tc>
                <a:tc>
                  <a:txBody>
                    <a:bodyPr lIns="54864" rIns="54864" tIns="18288" bIns="18288" wrap="square" anchor="ctr"/>
                    <a:lstStyle/>
                    <a:p>
                      <a:pPr algn="l"/>
                      <a:r>
                        <a:rPr sz="900" b="0">
                          <a:solidFill>
                            <a:srgbClr val="000000"/>
                          </a:solidFill>
                          <a:latin typeface="Calibri"/>
                        </a:rPr>
                        <a:t>our rig, and the DIC pipeline that runs on it</a:t>
                      </a:r>
                    </a:p>
                  </a:txBody>
                  <a:tcPr/>
                </a:tc>
                <a:tc>
                  <a:txBody>
                    <a:bodyPr lIns="54864" rIns="54864" tIns="18288" bIns="18288" wrap="square" anchor="ctr"/>
                    <a:lstStyle/>
                    <a:p>
                      <a:pPr algn="l"/>
                      <a:r>
                        <a:rPr sz="900" b="0">
                          <a:solidFill>
                            <a:srgbClr val="000000"/>
                          </a:solidFill>
                          <a:latin typeface="Calibri"/>
                        </a:rPr>
                        <a:t>both</a:t>
                      </a:r>
                    </a:p>
                  </a:txBody>
                  <a:tcPr/>
                </a:tc>
              </a:tr>
              <a:tr h="172216">
                <a:tc>
                  <a:txBody>
                    <a:bodyPr lIns="54864" rIns="54864" tIns="18288" bIns="18288" wrap="square" anchor="ctr"/>
                    <a:lstStyle/>
                    <a:p>
                      <a:pPr algn="l"/>
                      <a:r>
                        <a:rPr sz="900" b="0">
                          <a:solidFill>
                            <a:srgbClr val="000000"/>
                          </a:solidFill>
                          <a:latin typeface="Calibri"/>
                        </a:rPr>
                        <a:t>S25 · S26 · S33 · S34</a:t>
                      </a:r>
                    </a:p>
                  </a:txBody>
                  <a:tcPr/>
                </a:tc>
                <a:tc>
                  <a:txBody>
                    <a:bodyPr lIns="54864" rIns="54864" tIns="18288" bIns="18288" wrap="square" anchor="ctr"/>
                    <a:lstStyle/>
                    <a:p>
                      <a:pPr algn="l"/>
                      <a:r>
                        <a:rPr sz="900" b="0">
                          <a:solidFill>
                            <a:srgbClr val="000000"/>
                          </a:solidFill>
                          <a:latin typeface="Calibri"/>
                        </a:rPr>
                        <a:t>our own printed bars, named as they are in the specimen registry</a:t>
                      </a:r>
                    </a:p>
                  </a:txBody>
                  <a:tcPr/>
                </a:tc>
                <a:tc>
                  <a:txBody>
                    <a:bodyPr lIns="54864" rIns="54864" tIns="18288" bIns="18288" wrap="square" anchor="ctr"/>
                    <a:lstStyle/>
                    <a:p>
                      <a:pPr algn="l"/>
                      <a:r>
                        <a:rPr sz="900" b="0">
                          <a:solidFill>
                            <a:srgbClr val="000000"/>
                          </a:solidFill>
                          <a:latin typeface="Calibri"/>
                        </a:rPr>
                        <a:t>—</a:t>
                      </a:r>
                    </a:p>
                  </a:txBody>
                  <a:tcPr/>
                </a:tc>
              </a:tr>
            </a:tbl>
          </a:graphicData>
        </a:graphic>
      </p:graphicFrame>
      <p:sp>
        <p:nvSpPr>
          <p:cNvPr id="8" name="TextBox 7"/>
          <p:cNvSpPr txBox="1"/>
          <p:nvPr/>
        </p:nvSpPr>
        <p:spPr>
          <a:xfrm>
            <a:off x="411480" y="3291840"/>
            <a:ext cx="11430000" cy="365760"/>
          </a:xfrm>
          <a:prstGeom prst="rect">
            <a:avLst/>
          </a:prstGeom>
          <a:noFill/>
        </p:spPr>
        <p:txBody>
          <a:bodyPr wrap="square" lIns="45720" rIns="45720" tIns="18288" bIns="18288" anchor="t">
            <a:spAutoFit/>
          </a:bodyPr>
          <a:lstStyle/>
          <a:p>
            <a:pPr algn="l"/>
            <a:r>
              <a:rPr sz="1600" b="0" i="0">
                <a:solidFill>
                  <a:srgbClr val="707070"/>
                </a:solidFill>
                <a:latin typeface="Calibri"/>
              </a:rPr>
              <a:t>…and the speed each one was pulled at — the two MOT tests do NOT match</a:t>
            </a:r>
          </a:p>
        </p:txBody>
      </p:sp>
      <p:graphicFrame>
        <p:nvGraphicFramePr>
          <p:cNvPr id="9" name="Table 8"/>
          <p:cNvGraphicFramePr>
            <a:graphicFrameLocks noGrp="1"/>
          </p:cNvGraphicFramePr>
          <p:nvPr/>
        </p:nvGraphicFramePr>
        <p:xfrm>
          <a:off x="411480" y="3639312"/>
          <a:ext cx="11429997" cy="1499616"/>
        </p:xfrm>
        <a:graphic>
          <a:graphicData uri="http://schemas.openxmlformats.org/drawingml/2006/table">
            <a:tbl>
              <a:tblPr firstRow="1" bandRow="1">
                <a:tableStyleId>{5C22544A-7EE6-4342-B048-85BDC9FD1C3A}</a:tableStyleId>
              </a:tblPr>
              <a:tblGrid>
                <a:gridCol w="1725283"/>
                <a:gridCol w="1347877"/>
                <a:gridCol w="916556"/>
                <a:gridCol w="2534009"/>
                <a:gridCol w="3342735"/>
                <a:gridCol w="1563537"/>
              </a:tblGrid>
              <a:tr h="214230">
                <a:tc>
                  <a:txBody>
                    <a:bodyPr lIns="54864" rIns="54864" tIns="18288" bIns="18288" wrap="square" anchor="ctr"/>
                    <a:lstStyle/>
                    <a:p>
                      <a:pPr algn="l"/>
                      <a:r>
                        <a:rPr sz="900" b="1">
                          <a:solidFill>
                            <a:srgbClr val="FFFFFF"/>
                          </a:solidFill>
                          <a:latin typeface="Calibri"/>
                        </a:rPr>
                        <a:t>Record</a:t>
                      </a:r>
                    </a:p>
                  </a:txBody>
                  <a:tcPr>
                    <a:solidFill>
                      <a:srgbClr val="143D2F"/>
                    </a:solidFill>
                  </a:tcPr>
                </a:tc>
                <a:tc>
                  <a:txBody>
                    <a:bodyPr lIns="54864" rIns="54864" tIns="18288" bIns="18288" wrap="square" anchor="ctr"/>
                    <a:lstStyle/>
                    <a:p>
                      <a:pPr algn="l"/>
                      <a:r>
                        <a:rPr sz="900" b="1">
                          <a:solidFill>
                            <a:srgbClr val="FFFFFF"/>
                          </a:solidFill>
                          <a:latin typeface="Calibri"/>
                        </a:rPr>
                        <a:t>Test</a:t>
                      </a:r>
                    </a:p>
                  </a:txBody>
                  <a:tcPr>
                    <a:solidFill>
                      <a:srgbClr val="143D2F"/>
                    </a:solidFill>
                  </a:tcPr>
                </a:tc>
                <a:tc>
                  <a:txBody>
                    <a:bodyPr lIns="54864" rIns="54864" tIns="18288" bIns="18288" wrap="square" anchor="ctr"/>
                    <a:lstStyle/>
                    <a:p>
                      <a:pPr algn="l"/>
                      <a:r>
                        <a:rPr sz="900" b="1">
                          <a:solidFill>
                            <a:srgbClr val="FFFFFF"/>
                          </a:solidFill>
                          <a:latin typeface="Calibri"/>
                        </a:rPr>
                        <a:t>Gauge</a:t>
                      </a:r>
                    </a:p>
                  </a:txBody>
                  <a:tcPr>
                    <a:solidFill>
                      <a:srgbClr val="143D2F"/>
                    </a:solidFill>
                  </a:tcPr>
                </a:tc>
                <a:tc>
                  <a:txBody>
                    <a:bodyPr lIns="54864" rIns="54864" tIns="18288" bIns="18288" wrap="square" anchor="ctr"/>
                    <a:lstStyle/>
                    <a:p>
                      <a:pPr algn="l"/>
                      <a:r>
                        <a:rPr sz="900" b="1">
                          <a:solidFill>
                            <a:srgbClr val="FFFFFF"/>
                          </a:solidFill>
                          <a:latin typeface="Calibri"/>
                        </a:rPr>
                        <a:t>Crosshead speed</a:t>
                      </a:r>
                    </a:p>
                  </a:txBody>
                  <a:tcPr>
                    <a:solidFill>
                      <a:srgbClr val="143D2F"/>
                    </a:solidFill>
                  </a:tcPr>
                </a:tc>
                <a:tc>
                  <a:txBody>
                    <a:bodyPr lIns="54864" rIns="54864" tIns="18288" bIns="18288" wrap="square" anchor="ctr"/>
                    <a:lstStyle/>
                    <a:p>
                      <a:pPr algn="l"/>
                      <a:r>
                        <a:rPr sz="900" b="1">
                          <a:solidFill>
                            <a:srgbClr val="FFFFFF"/>
                          </a:solidFill>
                          <a:latin typeface="Calibri"/>
                        </a:rPr>
                        <a:t>Source of that speed</a:t>
                      </a:r>
                    </a:p>
                  </a:txBody>
                  <a:tcPr>
                    <a:solidFill>
                      <a:srgbClr val="143D2F"/>
                    </a:solidFill>
                  </a:tcPr>
                </a:tc>
                <a:tc>
                  <a:txBody>
                    <a:bodyPr lIns="54864" rIns="54864" tIns="18288" bIns="18288" wrap="square" anchor="ctr"/>
                    <a:lstStyle/>
                    <a:p>
                      <a:pPr algn="l"/>
                      <a:r>
                        <a:rPr sz="900" b="1">
                          <a:solidFill>
                            <a:srgbClr val="FFFFFF"/>
                          </a:solidFill>
                          <a:latin typeface="Calibri"/>
                        </a:rPr>
                        <a:t>Gauge strain rate</a:t>
                      </a:r>
                    </a:p>
                  </a:txBody>
                  <a:tcPr>
                    <a:solidFill>
                      <a:srgbClr val="143D2F"/>
                    </a:solidFill>
                  </a:tcPr>
                </a:tc>
              </a:tr>
              <a:tr h="214230">
                <a:tc>
                  <a:txBody>
                    <a:bodyPr lIns="54864" rIns="54864" tIns="18288" bIns="18288" wrap="square" anchor="ctr"/>
                    <a:lstStyle/>
                    <a:p>
                      <a:pPr algn="l"/>
                      <a:r>
                        <a:rPr sz="850" b="0">
                          <a:solidFill>
                            <a:srgbClr val="000000"/>
                          </a:solidFill>
                          <a:latin typeface="Calibri"/>
                        </a:rPr>
                        <a:t>XT205-S1</a:t>
                      </a:r>
                    </a:p>
                  </a:txBody>
                  <a:tcPr/>
                </a:tc>
                <a:tc>
                  <a:txBody>
                    <a:bodyPr lIns="54864" rIns="54864" tIns="18288" bIns="18288" wrap="square" anchor="ctr"/>
                    <a:lstStyle/>
                    <a:p>
                      <a:pPr algn="l"/>
                      <a:r>
                        <a:rPr sz="850" b="0">
                          <a:solidFill>
                            <a:srgbClr val="000000"/>
                          </a:solidFill>
                          <a:latin typeface="Calibri"/>
                        </a:rPr>
                        <a:t>MOT Test 1</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6.00 mm/min  (0.100 mm/s)</a:t>
                      </a:r>
                    </a:p>
                  </a:txBody>
                  <a:tcPr/>
                </a:tc>
                <a:tc>
                  <a:txBody>
                    <a:bodyPr lIns="54864" rIns="54864" tIns="18288" bIns="18288" wrap="square" anchor="ctr"/>
                    <a:lstStyle/>
                    <a:p>
                      <a:pPr algn="l"/>
                      <a:r>
                        <a:rPr sz="850" b="0">
                          <a:solidFill>
                            <a:srgbClr val="000000"/>
                          </a:solidFill>
                          <a:latin typeface="Calibri"/>
                        </a:rPr>
                        <a:t>commanded — no position channel</a:t>
                      </a:r>
                    </a:p>
                  </a:txBody>
                  <a:tcPr/>
                </a:tc>
                <a:tc>
                  <a:txBody>
                    <a:bodyPr lIns="54864" rIns="54864" tIns="18288" bIns="18288" wrap="square" anchor="ctr"/>
                    <a:lstStyle/>
                    <a:p>
                      <a:pPr algn="l"/>
                      <a:r>
                        <a:rPr sz="850" b="0">
                          <a:solidFill>
                            <a:srgbClr val="000000"/>
                          </a:solidFill>
                          <a:latin typeface="Calibri"/>
                        </a:rPr>
                        <a:t>7.42e-04 /s</a:t>
                      </a:r>
                    </a:p>
                  </a:txBody>
                  <a:tcPr/>
                </a:tc>
              </a:tr>
              <a:tr h="214230">
                <a:tc>
                  <a:txBody>
                    <a:bodyPr lIns="54864" rIns="54864" tIns="18288" bIns="18288" wrap="square" anchor="ctr"/>
                    <a:lstStyle/>
                    <a:p>
                      <a:pPr algn="l"/>
                      <a:r>
                        <a:rPr sz="850" b="0">
                          <a:solidFill>
                            <a:srgbClr val="000000"/>
                          </a:solidFill>
                          <a:latin typeface="Calibri"/>
                        </a:rPr>
                        <a:t>S25 · PPD-UTM</a:t>
                      </a:r>
                    </a:p>
                  </a:txBody>
                  <a:tcPr/>
                </a:tc>
                <a:tc>
                  <a:txBody>
                    <a:bodyPr lIns="54864" rIns="54864" tIns="18288" bIns="18288" wrap="square" anchor="ctr"/>
                    <a:lstStyle/>
                    <a:p>
                      <a:pPr algn="l"/>
                      <a:r>
                        <a:rPr sz="850" b="0">
                          <a:solidFill>
                            <a:srgbClr val="000000"/>
                          </a:solidFill>
                          <a:latin typeface="Calibri"/>
                        </a:rPr>
                        <a:t>MOT Test 1</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5.98 mm/min</a:t>
                      </a:r>
                    </a:p>
                  </a:txBody>
                  <a:tcPr/>
                </a:tc>
                <a:tc>
                  <a:txBody>
                    <a:bodyPr lIns="54864" rIns="54864" tIns="18288" bIns="18288" wrap="square" anchor="ctr"/>
                    <a:lstStyle/>
                    <a:p>
                      <a:pPr algn="l"/>
                      <a:r>
                        <a:rPr sz="850" b="0">
                          <a:solidFill>
                            <a:srgbClr val="000000"/>
                          </a:solidFill>
                          <a:latin typeface="Calibri"/>
                        </a:rPr>
                        <a:t>MEASURED from the rig's own channel</a:t>
                      </a:r>
                    </a:p>
                  </a:txBody>
                  <a:tcPr/>
                </a:tc>
                <a:tc>
                  <a:txBody>
                    <a:bodyPr lIns="54864" rIns="54864" tIns="18288" bIns="18288" wrap="square" anchor="ctr"/>
                    <a:lstStyle/>
                    <a:p>
                      <a:pPr algn="l"/>
                      <a:r>
                        <a:rPr sz="850" b="0">
                          <a:solidFill>
                            <a:srgbClr val="000000"/>
                          </a:solidFill>
                          <a:latin typeface="Calibri"/>
                        </a:rPr>
                        <a:t>2.67e-04 /s</a:t>
                      </a:r>
                    </a:p>
                  </a:txBody>
                  <a:tcPr/>
                </a:tc>
              </a:tr>
              <a:tr h="214230">
                <a:tc>
                  <a:txBody>
                    <a:bodyPr lIns="54864" rIns="54864" tIns="18288" bIns="18288" wrap="square" anchor="ctr"/>
                    <a:lstStyle/>
                    <a:p>
                      <a:pPr algn="l"/>
                      <a:r>
                        <a:rPr sz="850" b="0">
                          <a:solidFill>
                            <a:srgbClr val="000000"/>
                          </a:solidFill>
                          <a:latin typeface="Calibri"/>
                        </a:rPr>
                        <a:t>S26 · PPD-UTM</a:t>
                      </a:r>
                    </a:p>
                  </a:txBody>
                  <a:tcPr/>
                </a:tc>
                <a:tc>
                  <a:txBody>
                    <a:bodyPr lIns="54864" rIns="54864" tIns="18288" bIns="18288" wrap="square" anchor="ctr"/>
                    <a:lstStyle/>
                    <a:p>
                      <a:pPr algn="l"/>
                      <a:r>
                        <a:rPr sz="850" b="0">
                          <a:solidFill>
                            <a:srgbClr val="000000"/>
                          </a:solidFill>
                          <a:latin typeface="Calibri"/>
                        </a:rPr>
                        <a:t>MOT Test 1</a:t>
                      </a:r>
                    </a:p>
                  </a:txBody>
                  <a:tcPr/>
                </a:tc>
                <a:tc>
                  <a:txBody>
                    <a:bodyPr lIns="54864" rIns="54864" tIns="18288" bIns="18288" wrap="square" anchor="ctr"/>
                    <a:lstStyle/>
                    <a:p>
                      <a:pPr algn="l"/>
                      <a:r>
                        <a:rPr sz="850" b="0">
                          <a:solidFill>
                            <a:srgbClr val="000000"/>
                          </a:solidFill>
                          <a:latin typeface="Calibri"/>
                        </a:rPr>
                        <a:t>80 mm</a:t>
                      </a:r>
                    </a:p>
                  </a:txBody>
                  <a:tcPr/>
                </a:tc>
                <a:tc>
                  <a:txBody>
                    <a:bodyPr lIns="54864" rIns="54864" tIns="18288" bIns="18288" wrap="square" anchor="ctr"/>
                    <a:lstStyle/>
                    <a:p>
                      <a:pPr algn="l"/>
                      <a:r>
                        <a:rPr sz="850" b="0">
                          <a:solidFill>
                            <a:srgbClr val="000000"/>
                          </a:solidFill>
                          <a:latin typeface="Calibri"/>
                        </a:rPr>
                        <a:t>5.98 mm/min</a:t>
                      </a:r>
                    </a:p>
                  </a:txBody>
                  <a:tcPr/>
                </a:tc>
                <a:tc>
                  <a:txBody>
                    <a:bodyPr lIns="54864" rIns="54864" tIns="18288" bIns="18288" wrap="square" anchor="ctr"/>
                    <a:lstStyle/>
                    <a:p>
                      <a:pPr algn="l"/>
                      <a:r>
                        <a:rPr sz="850" b="0">
                          <a:solidFill>
                            <a:srgbClr val="000000"/>
                          </a:solidFill>
                          <a:latin typeface="Calibri"/>
                        </a:rPr>
                        <a:t>MEASURED from the rig's own channel</a:t>
                      </a:r>
                    </a:p>
                  </a:txBody>
                  <a:tcPr/>
                </a:tc>
                <a:tc>
                  <a:txBody>
                    <a:bodyPr lIns="54864" rIns="54864" tIns="18288" bIns="18288" wrap="square" anchor="ctr"/>
                    <a:lstStyle/>
                    <a:p>
                      <a:pPr algn="l"/>
                      <a:r>
                        <a:rPr sz="850" b="0">
                          <a:solidFill>
                            <a:srgbClr val="000000"/>
                          </a:solidFill>
                          <a:latin typeface="Calibri"/>
                        </a:rPr>
                        <a:t>4.06e-04 /s</a:t>
                      </a:r>
                    </a:p>
                  </a:txBody>
                  <a:tcPr/>
                </a:tc>
              </a:tr>
              <a:tr h="214230">
                <a:tc>
                  <a:txBody>
                    <a:bodyPr lIns="54864" rIns="54864" tIns="18288" bIns="18288" wrap="square" anchor="ctr"/>
                    <a:lstStyle/>
                    <a:p>
                      <a:pPr algn="l"/>
                      <a:r>
                        <a:rPr sz="850" b="0">
                          <a:solidFill>
                            <a:srgbClr val="000000"/>
                          </a:solidFill>
                          <a:latin typeface="Calibri"/>
                        </a:rPr>
                        <a:t>XT205-S2</a:t>
                      </a:r>
                    </a:p>
                  </a:txBody>
                  <a:tcPr/>
                </a:tc>
                <a:tc>
                  <a:txBody>
                    <a:bodyPr lIns="54864" rIns="54864" tIns="18288" bIns="18288" wrap="square" anchor="ctr"/>
                    <a:lstStyle/>
                    <a:p>
                      <a:pPr algn="l"/>
                      <a:r>
                        <a:rPr sz="850" b="0">
                          <a:solidFill>
                            <a:srgbClr val="000000"/>
                          </a:solidFill>
                          <a:latin typeface="Calibri"/>
                        </a:rPr>
                        <a:t>MOT Test 2</a:t>
                      </a:r>
                    </a:p>
                  </a:txBody>
                  <a:tcPr/>
                </a:tc>
                <a:tc>
                  <a:txBody>
                    <a:bodyPr lIns="54864" rIns="54864" tIns="18288" bIns="18288" wrap="square" anchor="ctr"/>
                    <a:lstStyle/>
                    <a:p>
                      <a:pPr algn="l"/>
                      <a:r>
                        <a:rPr sz="850" b="0">
                          <a:solidFill>
                            <a:srgbClr val="000000"/>
                          </a:solidFill>
                          <a:latin typeface="Calibri"/>
                        </a:rPr>
                        <a:t>45 mm</a:t>
                      </a:r>
                    </a:p>
                  </a:txBody>
                  <a:tcPr/>
                </a:tc>
                <a:tc>
                  <a:txBody>
                    <a:bodyPr lIns="54864" rIns="54864" tIns="18288" bIns="18288" wrap="square" anchor="ctr"/>
                    <a:lstStyle/>
                    <a:p>
                      <a:pPr algn="l"/>
                      <a:r>
                        <a:rPr sz="850" b="0">
                          <a:solidFill>
                            <a:srgbClr val="000000"/>
                          </a:solidFill>
                          <a:latin typeface="Calibri"/>
                        </a:rPr>
                        <a:t>2.00 mm/min  (0.0333 mm/s)</a:t>
                      </a:r>
                    </a:p>
                  </a:txBody>
                  <a:tcPr/>
                </a:tc>
                <a:tc>
                  <a:txBody>
                    <a:bodyPr lIns="54864" rIns="54864" tIns="18288" bIns="18288" wrap="square" anchor="ctr"/>
                    <a:lstStyle/>
                    <a:p>
                      <a:pPr algn="l"/>
                      <a:r>
                        <a:rPr sz="850" b="0">
                          <a:solidFill>
                            <a:srgbClr val="000000"/>
                          </a:solidFill>
                          <a:latin typeface="Calibri"/>
                        </a:rPr>
                        <a:t>operator-reported — no position channel</a:t>
                      </a:r>
                    </a:p>
                  </a:txBody>
                  <a:tcPr/>
                </a:tc>
                <a:tc>
                  <a:txBody>
                    <a:bodyPr lIns="54864" rIns="54864" tIns="18288" bIns="18288" wrap="square" anchor="ctr"/>
                    <a:lstStyle/>
                    <a:p>
                      <a:pPr algn="l"/>
                      <a:r>
                        <a:rPr sz="850" b="0">
                          <a:solidFill>
                            <a:srgbClr val="000000"/>
                          </a:solidFill>
                          <a:latin typeface="Calibri"/>
                        </a:rPr>
                        <a:t>2.60e-04 /s</a:t>
                      </a:r>
                    </a:p>
                  </a:txBody>
                  <a:tcPr/>
                </a:tc>
              </a:tr>
              <a:tr h="214230">
                <a:tc>
                  <a:txBody>
                    <a:bodyPr lIns="54864" rIns="54864" tIns="18288" bIns="18288" wrap="square" anchor="ctr"/>
                    <a:lstStyle/>
                    <a:p>
                      <a:pPr algn="l"/>
                      <a:r>
                        <a:rPr sz="850" b="0">
                          <a:solidFill>
                            <a:srgbClr val="000000"/>
                          </a:solidFill>
                          <a:latin typeface="Calibri"/>
                        </a:rPr>
                        <a:t>S33 · PPD-UTM</a:t>
                      </a:r>
                    </a:p>
                  </a:txBody>
                  <a:tcPr/>
                </a:tc>
                <a:tc>
                  <a:txBody>
                    <a:bodyPr lIns="54864" rIns="54864" tIns="18288" bIns="18288" wrap="square" anchor="ctr"/>
                    <a:lstStyle/>
                    <a:p>
                      <a:pPr algn="l"/>
                      <a:r>
                        <a:rPr sz="850" b="0">
                          <a:solidFill>
                            <a:srgbClr val="000000"/>
                          </a:solidFill>
                          <a:latin typeface="Calibri"/>
                        </a:rPr>
                        <a:t>MOT Test 2</a:t>
                      </a:r>
                    </a:p>
                  </a:txBody>
                  <a:tcPr/>
                </a:tc>
                <a:tc>
                  <a:txBody>
                    <a:bodyPr lIns="54864" rIns="54864" tIns="18288" bIns="18288" wrap="square" anchor="ctr"/>
                    <a:lstStyle/>
                    <a:p>
                      <a:pPr algn="l"/>
                      <a:r>
                        <a:rPr sz="850" b="0">
                          <a:solidFill>
                            <a:srgbClr val="000000"/>
                          </a:solidFill>
                          <a:latin typeface="Calibri"/>
                        </a:rPr>
                        <a:t>45 mm</a:t>
                      </a:r>
                    </a:p>
                  </a:txBody>
                  <a:tcPr/>
                </a:tc>
                <a:tc>
                  <a:txBody>
                    <a:bodyPr lIns="54864" rIns="54864" tIns="18288" bIns="18288" wrap="square" anchor="ctr"/>
                    <a:lstStyle/>
                    <a:p>
                      <a:pPr algn="l"/>
                      <a:r>
                        <a:rPr sz="850" b="0">
                          <a:solidFill>
                            <a:srgbClr val="000000"/>
                          </a:solidFill>
                          <a:latin typeface="Calibri"/>
                        </a:rPr>
                        <a:t>5.98 mm/min</a:t>
                      </a:r>
                    </a:p>
                  </a:txBody>
                  <a:tcPr/>
                </a:tc>
                <a:tc>
                  <a:txBody>
                    <a:bodyPr lIns="54864" rIns="54864" tIns="18288" bIns="18288" wrap="square" anchor="ctr"/>
                    <a:lstStyle/>
                    <a:p>
                      <a:pPr algn="l"/>
                      <a:r>
                        <a:rPr sz="850" b="0">
                          <a:solidFill>
                            <a:srgbClr val="000000"/>
                          </a:solidFill>
                          <a:latin typeface="Calibri"/>
                        </a:rPr>
                        <a:t>MEASURED from the rig's own channel</a:t>
                      </a:r>
                    </a:p>
                  </a:txBody>
                  <a:tcPr/>
                </a:tc>
                <a:tc>
                  <a:txBody>
                    <a:bodyPr lIns="54864" rIns="54864" tIns="18288" bIns="18288" wrap="square" anchor="ctr"/>
                    <a:lstStyle/>
                    <a:p>
                      <a:pPr algn="l"/>
                      <a:r>
                        <a:rPr sz="850" b="0">
                          <a:solidFill>
                            <a:srgbClr val="000000"/>
                          </a:solidFill>
                          <a:latin typeface="Calibri"/>
                        </a:rPr>
                        <a:t>3.00e-04 /s</a:t>
                      </a:r>
                    </a:p>
                  </a:txBody>
                  <a:tcPr/>
                </a:tc>
              </a:tr>
              <a:tr h="214236">
                <a:tc>
                  <a:txBody>
                    <a:bodyPr lIns="54864" rIns="54864" tIns="18288" bIns="18288" wrap="square" anchor="ctr"/>
                    <a:lstStyle/>
                    <a:p>
                      <a:pPr algn="l"/>
                      <a:r>
                        <a:rPr sz="850" b="0">
                          <a:solidFill>
                            <a:srgbClr val="000000"/>
                          </a:solidFill>
                          <a:latin typeface="Calibri"/>
                        </a:rPr>
                        <a:t>S34 · PPD-UTM</a:t>
                      </a:r>
                    </a:p>
                  </a:txBody>
                  <a:tcPr/>
                </a:tc>
                <a:tc>
                  <a:txBody>
                    <a:bodyPr lIns="54864" rIns="54864" tIns="18288" bIns="18288" wrap="square" anchor="ctr"/>
                    <a:lstStyle/>
                    <a:p>
                      <a:pPr algn="l"/>
                      <a:r>
                        <a:rPr sz="850" b="0">
                          <a:solidFill>
                            <a:srgbClr val="000000"/>
                          </a:solidFill>
                          <a:latin typeface="Calibri"/>
                        </a:rPr>
                        <a:t>MOT Test 2</a:t>
                      </a:r>
                    </a:p>
                  </a:txBody>
                  <a:tcPr/>
                </a:tc>
                <a:tc>
                  <a:txBody>
                    <a:bodyPr lIns="54864" rIns="54864" tIns="18288" bIns="18288" wrap="square" anchor="ctr"/>
                    <a:lstStyle/>
                    <a:p>
                      <a:pPr algn="l"/>
                      <a:r>
                        <a:rPr sz="850" b="0">
                          <a:solidFill>
                            <a:srgbClr val="000000"/>
                          </a:solidFill>
                          <a:latin typeface="Calibri"/>
                        </a:rPr>
                        <a:t>45 mm</a:t>
                      </a:r>
                    </a:p>
                  </a:txBody>
                  <a:tcPr/>
                </a:tc>
                <a:tc>
                  <a:txBody>
                    <a:bodyPr lIns="54864" rIns="54864" tIns="18288" bIns="18288" wrap="square" anchor="ctr"/>
                    <a:lstStyle/>
                    <a:p>
                      <a:pPr algn="l"/>
                      <a:r>
                        <a:rPr sz="850" b="0">
                          <a:solidFill>
                            <a:srgbClr val="000000"/>
                          </a:solidFill>
                          <a:latin typeface="Calibri"/>
                        </a:rPr>
                        <a:t>5.98 mm/min</a:t>
                      </a:r>
                    </a:p>
                  </a:txBody>
                  <a:tcPr/>
                </a:tc>
                <a:tc>
                  <a:txBody>
                    <a:bodyPr lIns="54864" rIns="54864" tIns="18288" bIns="18288" wrap="square" anchor="ctr"/>
                    <a:lstStyle/>
                    <a:p>
                      <a:pPr algn="l"/>
                      <a:r>
                        <a:rPr sz="850" b="0">
                          <a:solidFill>
                            <a:srgbClr val="000000"/>
                          </a:solidFill>
                          <a:latin typeface="Calibri"/>
                        </a:rPr>
                        <a:t>MEASURED from the rig's own channel</a:t>
                      </a:r>
                    </a:p>
                  </a:txBody>
                  <a:tcPr/>
                </a:tc>
                <a:tc>
                  <a:txBody>
                    <a:bodyPr lIns="54864" rIns="54864" tIns="18288" bIns="18288" wrap="square" anchor="ctr"/>
                    <a:lstStyle/>
                    <a:p>
                      <a:pPr algn="l"/>
                      <a:r>
                        <a:rPr sz="850" b="0">
                          <a:solidFill>
                            <a:srgbClr val="000000"/>
                          </a:solidFill>
                          <a:latin typeface="Calibri"/>
                        </a:rPr>
                        <a:t>3.10e-04 /s</a:t>
                      </a:r>
                    </a:p>
                  </a:txBody>
                  <a:tcPr/>
                </a:tc>
              </a:tr>
            </a:tbl>
          </a:graphicData>
        </a:graphic>
      </p:graphicFrame>
      <p:sp>
        <p:nvSpPr>
          <p:cNvPr id="10" name="TextBox 9"/>
          <p:cNvSpPr txBox="1"/>
          <p:nvPr/>
        </p:nvSpPr>
        <p:spPr>
          <a:xfrm>
            <a:off x="411480" y="5248656"/>
            <a:ext cx="5623560" cy="365760"/>
          </a:xfrm>
          <a:prstGeom prst="rect">
            <a:avLst/>
          </a:prstGeom>
          <a:noFill/>
        </p:spPr>
        <p:txBody>
          <a:bodyPr wrap="square" lIns="45720" rIns="45720" tIns="18288" bIns="18288" anchor="t">
            <a:spAutoFit/>
          </a:bodyPr>
          <a:lstStyle/>
          <a:p>
            <a:pPr algn="l"/>
            <a:r>
              <a:rPr sz="1600" b="0" i="0">
                <a:solidFill>
                  <a:srgbClr val="707070"/>
                </a:solidFill>
                <a:latin typeface="Calibri"/>
              </a:rPr>
              <a:t>Test 1 was speed-matched. Test 2 was not.</a:t>
            </a:r>
          </a:p>
        </p:txBody>
      </p:sp>
      <p:sp>
        <p:nvSpPr>
          <p:cNvPr id="11" name="TextBox 10"/>
          <p:cNvSpPr txBox="1"/>
          <p:nvPr/>
        </p:nvSpPr>
        <p:spPr>
          <a:xfrm>
            <a:off x="411480" y="5596128"/>
            <a:ext cx="5623560" cy="960120"/>
          </a:xfrm>
          <a:prstGeom prst="rect">
            <a:avLst/>
          </a:prstGeom>
          <a:noFill/>
        </p:spPr>
        <p:txBody>
          <a:bodyPr wrap="square" lIns="45720" rIns="45720" tIns="18288" bIns="18288" anchor="t">
            <a:spAutoFit/>
          </a:bodyPr>
          <a:lstStyle/>
          <a:p>
            <a:pPr algn="l"/>
            <a:r>
              <a:rPr sz="950" b="0" i="0">
                <a:solidFill>
                  <a:srgbClr val="000000"/>
                </a:solidFill>
                <a:latin typeface="Calibri"/>
              </a:rPr>
              <a:t>Both machines ran 6 mm/min in Test 1, so a difference between them could not be the speed. In Test 2 the XT-205 ran 2 mm/min against the PPD-UTM's 5.98 — a 3× mismatch that was introduced between the two MOT sessions and not by us.</a:t>
            </a:r>
          </a:p>
        </p:txBody>
      </p:sp>
      <p:sp>
        <p:nvSpPr>
          <p:cNvPr id="12" name="TextBox 11"/>
          <p:cNvSpPr txBox="1"/>
          <p:nvPr/>
        </p:nvSpPr>
        <p:spPr>
          <a:xfrm>
            <a:off x="6263640" y="5248656"/>
            <a:ext cx="5577840" cy="365760"/>
          </a:xfrm>
          <a:prstGeom prst="rect">
            <a:avLst/>
          </a:prstGeom>
          <a:noFill/>
        </p:spPr>
        <p:txBody>
          <a:bodyPr wrap="square" lIns="45720" rIns="45720" tIns="18288" bIns="18288" anchor="t">
            <a:spAutoFit/>
          </a:bodyPr>
          <a:lstStyle/>
          <a:p>
            <a:pPr algn="l"/>
            <a:r>
              <a:rPr sz="1600" b="0" i="0">
                <a:solidFill>
                  <a:srgbClr val="707070"/>
                </a:solidFill>
                <a:latin typeface="Calibri"/>
              </a:rPr>
              <a:t>Which is where a slope difference comes from</a:t>
            </a:r>
          </a:p>
        </p:txBody>
      </p:sp>
      <p:sp>
        <p:nvSpPr>
          <p:cNvPr id="13" name="TextBox 12"/>
          <p:cNvSpPr txBox="1"/>
          <p:nvPr/>
        </p:nvSpPr>
        <p:spPr>
          <a:xfrm>
            <a:off x="6263640" y="5596128"/>
            <a:ext cx="5577840" cy="960120"/>
          </a:xfrm>
          <a:prstGeom prst="rect">
            <a:avLst/>
          </a:prstGeom>
          <a:noFill/>
        </p:spPr>
        <p:txBody>
          <a:bodyPr wrap="square" lIns="45720" rIns="45720" tIns="18288" bIns="18288" anchor="t">
            <a:spAutoFit/>
          </a:bodyPr>
          <a:lstStyle/>
          <a:p>
            <a:pPr algn="l"/>
            <a:r>
              <a:rPr sz="950" b="0" i="0">
                <a:solidFill>
                  <a:srgbClr val="000000"/>
                </a:solidFill>
                <a:latin typeface="Calibri"/>
              </a:rPr>
              <a:t>PLA is rate-sensitive: pull it faster and it reads stiffer and stronger. On the like-for-like steepest-run modulus S34 reads 3.451 GPa against XT205-S2's 3.229 — the FASTER specimen is the stiffer one, by 6.4 %, which is the direction rate predicts. It is a candidate, not a proof: one PPD-UTM pull at 2 mm/min would separate it from specimen scatter.</a:t>
            </a:r>
          </a:p>
        </p:txBody>
      </p:sp>
      <p:sp>
        <p:nvSpPr>
          <p:cNvPr id="14" name="TextBox 13"/>
          <p:cNvSpPr txBox="1"/>
          <p:nvPr/>
        </p:nvSpPr>
        <p:spPr>
          <a:xfrm>
            <a:off x="548640" y="6400800"/>
            <a:ext cx="10744200" cy="365760"/>
          </a:xfrm>
          <a:prstGeom prst="rect">
            <a:avLst/>
          </a:prstGeom>
          <a:noFill/>
        </p:spPr>
        <p:txBody>
          <a:bodyPr wrap="square" lIns="45720" rIns="45720" tIns="18288" bIns="18288" anchor="t">
            <a:spAutoFit/>
          </a:bodyPr>
          <a:lstStyle/>
          <a:p>
            <a:pPr algn="l"/>
            <a:r>
              <a:rPr sz="1200" b="0" i="1">
                <a:solidFill>
                  <a:srgbClr val="707070"/>
                </a:solidFill>
                <a:latin typeface="Calibri"/>
              </a:rPr>
              <a:t>Our speeds are read back from each run's own position channel by utm_analysis, not restated from the recipe. The MOT tests log no position, so theirs are the commanded values and are marked as such.</a:t>
            </a:r>
          </a:p>
        </p:txBody>
      </p:sp>
      <p:sp>
        <p:nvSpPr>
          <p:cNvPr id="15" name="TextBox 14"/>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340</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1155680" y="274320"/>
            <a:ext cx="914400" cy="274320"/>
          </a:xfrm>
          <a:prstGeom prst="rect">
            <a:avLst/>
          </a:prstGeom>
          <a:noFill/>
        </p:spPr>
        <p:txBody>
          <a:bodyPr wrap="square" lIns="45720" rIns="45720" tIns="18288" bIns="18288" anchor="t">
            <a:spAutoFit/>
          </a:bodyPr>
          <a:lstStyle/>
          <a:p>
            <a:pPr algn="r"/>
            <a:r>
              <a:rPr sz="800" b="1" i="0">
                <a:solidFill>
                  <a:srgbClr val="707070"/>
                </a:solidFill>
                <a:latin typeface="Calibri"/>
              </a:rPr>
              <a:t>JÖNKÖPING UNIVERSITY</a:t>
            </a:r>
          </a:p>
        </p:txBody>
      </p:sp>
      <p:sp>
        <p:nvSpPr>
          <p:cNvPr id="3" name="Rectangle 2"/>
          <p:cNvSpPr/>
          <p:nvPr/>
        </p:nvSpPr>
        <p:spPr>
          <a:xfrm>
            <a:off x="457200" y="411480"/>
            <a:ext cx="457200" cy="73152"/>
          </a:xfrm>
          <a:prstGeom prst="rect">
            <a:avLst/>
          </a:prstGeom>
          <a:solidFill>
            <a:srgbClr val="A9D6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502920"/>
            <a:ext cx="11430000" cy="822960"/>
          </a:xfrm>
          <a:prstGeom prst="rect">
            <a:avLst/>
          </a:prstGeom>
          <a:noFill/>
        </p:spPr>
        <p:txBody>
          <a:bodyPr wrap="square" lIns="45720" rIns="45720" tIns="18288" bIns="18288" anchor="t">
            <a:spAutoFit/>
          </a:bodyPr>
          <a:lstStyle/>
          <a:p>
            <a:pPr algn="l"/>
            <a:r>
              <a:rPr sz="3000" b="0" i="0">
                <a:solidFill>
                  <a:srgbClr val="000000"/>
                </a:solidFill>
                <a:latin typeface="Calibri Light"/>
              </a:rPr>
              <a:t>THE PPD-UTM AT A GLANCE — ALL 19 SMART FEATURES</a:t>
            </a:r>
          </a:p>
        </p:txBody>
      </p:sp>
      <p:sp>
        <p:nvSpPr>
          <p:cNvPr id="5" name="TextBox 4"/>
          <p:cNvSpPr txBox="1"/>
          <p:nvPr/>
        </p:nvSpPr>
        <p:spPr>
          <a:xfrm>
            <a:off x="384048" y="1042415"/>
            <a:ext cx="11430000" cy="292608"/>
          </a:xfrm>
          <a:prstGeom prst="rect">
            <a:avLst/>
          </a:prstGeom>
          <a:noFill/>
        </p:spPr>
        <p:txBody>
          <a:bodyPr wrap="square" lIns="45720" rIns="45720" tIns="18288" bIns="18288" anchor="t">
            <a:spAutoFit/>
          </a:bodyPr>
          <a:lstStyle/>
          <a:p>
            <a:pPr algn="l"/>
            <a:r>
              <a:rPr sz="1050" b="0" i="1">
                <a:solidFill>
                  <a:srgbClr val="707070"/>
                </a:solidFill>
                <a:latin typeface="Calibri"/>
              </a:rPr>
              <a:t>Everything the rig does beyond pulling a specimen and logging force. GREEN = built and rig-validated · BLUE = built, offline-verified, awaiting rig time. Each has a slide of its own earlier in this deck.</a:t>
            </a:r>
          </a:p>
        </p:txBody>
      </p:sp>
      <p:sp>
        <p:nvSpPr>
          <p:cNvPr id="6" name="Rounded Rectangle 5"/>
          <p:cNvSpPr/>
          <p:nvPr/>
        </p:nvSpPr>
        <p:spPr>
          <a:xfrm>
            <a:off x="365760" y="1389888"/>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 · DIC health HUD</a:t>
            </a:r>
          </a:p>
          <a:p>
            <a:pPr algn="l">
              <a:spcBef>
                <a:spcPts val="100"/>
              </a:spcBef>
            </a:pPr>
            <a:r>
              <a:rPr sz="819" b="0">
                <a:solidFill>
                  <a:srgbClr val="000000"/>
                </a:solidFill>
                <a:latin typeface="Calibri"/>
              </a:rPr>
              <a:t>Live badge on both test tabs: markers found, % frames tracked, pixel jitter.</a:t>
            </a:r>
          </a:p>
        </p:txBody>
      </p:sp>
      <p:sp>
        <p:nvSpPr>
          <p:cNvPr id="7" name="Rounded Rectangle 6"/>
          <p:cNvSpPr/>
          <p:nvPr/>
        </p:nvSpPr>
        <p:spPr>
          <a:xfrm>
            <a:off x="3374136" y="1389888"/>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SF2 · Prepare specimen</a:t>
            </a:r>
          </a:p>
          <a:p>
            <a:pPr algn="l">
              <a:spcBef>
                <a:spcPts val="100"/>
              </a:spcBef>
            </a:pPr>
            <a:r>
              <a:rPr sz="819" b="0">
                <a:solidFill>
                  <a:srgbClr val="000000"/>
                </a:solidFill>
                <a:latin typeface="Calibri"/>
              </a:rPr>
              <a:t>One click tares load, position and strain together before a pull.</a:t>
            </a:r>
          </a:p>
        </p:txBody>
      </p:sp>
      <p:sp>
        <p:nvSpPr>
          <p:cNvPr id="8" name="Rounded Rectangle 7"/>
          <p:cNvSpPr/>
          <p:nvPr/>
        </p:nvSpPr>
        <p:spPr>
          <a:xfrm>
            <a:off x="6382512" y="1389888"/>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SF3 · Settings / recipes</a:t>
            </a:r>
          </a:p>
          <a:p>
            <a:pPr algn="l">
              <a:spcBef>
                <a:spcPts val="100"/>
              </a:spcBef>
            </a:pPr>
            <a:r>
              <a:rPr sz="819" b="0">
                <a:solidFill>
                  <a:srgbClr val="000000"/>
                </a:solidFill>
                <a:latin typeface="Calibri"/>
              </a:rPr>
              <a:t>Save and reload a whole setup — camera, protocol, limits — as one recipe.</a:t>
            </a:r>
          </a:p>
        </p:txBody>
      </p:sp>
      <p:sp>
        <p:nvSpPr>
          <p:cNvPr id="9" name="Rounded Rectangle 8"/>
          <p:cNvSpPr/>
          <p:nvPr/>
        </p:nvSpPr>
        <p:spPr>
          <a:xfrm>
            <a:off x="9390888" y="1389888"/>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SF4 · Generate report</a:t>
            </a:r>
          </a:p>
          <a:p>
            <a:pPr algn="l">
              <a:spcBef>
                <a:spcPts val="100"/>
              </a:spcBef>
            </a:pPr>
            <a:r>
              <a:rPr sz="819" b="0">
                <a:solidFill>
                  <a:srgbClr val="000000"/>
                </a:solidFill>
                <a:latin typeface="Calibri"/>
              </a:rPr>
              <a:t>One click turns a finished run into a PDF report with the plots embedded.</a:t>
            </a:r>
          </a:p>
        </p:txBody>
      </p:sp>
      <p:sp>
        <p:nvSpPr>
          <p:cNvPr id="10" name="Rounded Rectangle 9"/>
          <p:cNvSpPr/>
          <p:nvPr/>
        </p:nvSpPr>
        <p:spPr>
          <a:xfrm>
            <a:off x="365760" y="2368296"/>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SF5 · Auto-stop at fracture</a:t>
            </a:r>
          </a:p>
          <a:p>
            <a:pPr algn="l">
              <a:spcBef>
                <a:spcPts val="100"/>
              </a:spcBef>
            </a:pPr>
            <a:r>
              <a:rPr sz="819" b="0">
                <a:solidFill>
                  <a:srgbClr val="000000"/>
                </a:solidFill>
                <a:latin typeface="Calibri"/>
              </a:rPr>
              <a:t>Watches for load collapse and halts the motor at fracture on its own.</a:t>
            </a:r>
          </a:p>
        </p:txBody>
      </p:sp>
      <p:sp>
        <p:nvSpPr>
          <p:cNvPr id="11" name="Rounded Rectangle 10"/>
          <p:cNvSpPr/>
          <p:nvPr/>
        </p:nvSpPr>
        <p:spPr>
          <a:xfrm>
            <a:off x="3374136" y="2368296"/>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SF6 · Strain-rate fracture</a:t>
            </a:r>
          </a:p>
          <a:p>
            <a:pPr algn="l">
              <a:spcBef>
                <a:spcPts val="100"/>
              </a:spcBef>
            </a:pPr>
            <a:r>
              <a:rPr sz="819" b="0">
                <a:solidFill>
                  <a:srgbClr val="000000"/>
                </a:solidFill>
                <a:latin typeface="Calibri"/>
              </a:rPr>
              <a:t>Closes the loop on strain rate, not crosshead speed — constant dε/dt.</a:t>
            </a:r>
          </a:p>
        </p:txBody>
      </p:sp>
      <p:sp>
        <p:nvSpPr>
          <p:cNvPr id="12" name="Rounded Rectangle 11"/>
          <p:cNvSpPr/>
          <p:nvPr/>
        </p:nvSpPr>
        <p:spPr>
          <a:xfrm>
            <a:off x="6382512" y="2368296"/>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SF7 · Stall guard</a:t>
            </a:r>
          </a:p>
          <a:p>
            <a:pPr algn="l">
              <a:spcBef>
                <a:spcPts val="100"/>
              </a:spcBef>
            </a:pPr>
            <a:r>
              <a:rPr sz="819" b="0">
                <a:solidFill>
                  <a:srgbClr val="000000"/>
                </a:solidFill>
                <a:latin typeface="Calibri"/>
              </a:rPr>
              <a:t>Detects a motor commanded to move that is not moving, and halts.</a:t>
            </a:r>
          </a:p>
        </p:txBody>
      </p:sp>
      <p:sp>
        <p:nvSpPr>
          <p:cNvPr id="13" name="Rounded Rectangle 12"/>
          <p:cNvSpPr/>
          <p:nvPr/>
        </p:nvSpPr>
        <p:spPr>
          <a:xfrm>
            <a:off x="9390888" y="2368296"/>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SF8 · Release load</a:t>
            </a:r>
          </a:p>
          <a:p>
            <a:pPr algn="l">
              <a:spcBef>
                <a:spcPts val="100"/>
              </a:spcBef>
            </a:pPr>
            <a:r>
              <a:rPr sz="819" b="0">
                <a:solidFill>
                  <a:srgbClr val="000000"/>
                </a:solidFill>
                <a:latin typeface="Calibri"/>
              </a:rPr>
              <a:t>Unloads to a true zero instead of leaving the specimen held in tension.</a:t>
            </a:r>
          </a:p>
        </p:txBody>
      </p:sp>
      <p:sp>
        <p:nvSpPr>
          <p:cNvPr id="14" name="Rounded Rectangle 13"/>
          <p:cNvSpPr/>
          <p:nvPr/>
        </p:nvSpPr>
        <p:spPr>
          <a:xfrm>
            <a:off x="365760" y="3346704"/>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SF9 · 6 closed-loop protocols</a:t>
            </a:r>
          </a:p>
          <a:p>
            <a:pPr algn="l">
              <a:spcBef>
                <a:spcPts val="100"/>
              </a:spcBef>
            </a:pPr>
            <a:r>
              <a:rPr sz="819" b="0">
                <a:solidFill>
                  <a:srgbClr val="000000"/>
                </a:solidFill>
                <a:latin typeface="Calibri"/>
              </a:rPr>
              <a:t>Six closed-loop protocols: monotonic, cyclic, programmable-cyclic, to fracture.</a:t>
            </a:r>
          </a:p>
        </p:txBody>
      </p:sp>
      <p:sp>
        <p:nvSpPr>
          <p:cNvPr id="15" name="Rounded Rectangle 14"/>
          <p:cNvSpPr/>
          <p:nvPr/>
        </p:nvSpPr>
        <p:spPr>
          <a:xfrm>
            <a:off x="3374136" y="3346704"/>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SF10 · Auto-preload</a:t>
            </a:r>
          </a:p>
          <a:p>
            <a:pPr algn="l">
              <a:spcBef>
                <a:spcPts val="100"/>
              </a:spcBef>
            </a:pPr>
            <a:r>
              <a:rPr sz="819" b="0">
                <a:solidFill>
                  <a:srgbClr val="000000"/>
                </a:solidFill>
                <a:latin typeface="Calibri"/>
              </a:rPr>
              <a:t>Finds first contact in three slowing stages, 0.2 → 0.1 → 0.02 mm/s.</a:t>
            </a:r>
          </a:p>
        </p:txBody>
      </p:sp>
      <p:sp>
        <p:nvSpPr>
          <p:cNvPr id="16" name="Rounded Rectangle 15"/>
          <p:cNvSpPr/>
          <p:nvPr/>
        </p:nvSpPr>
        <p:spPr>
          <a:xfrm>
            <a:off x="6382512" y="3346704"/>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SF11 · Auto-metadata link</a:t>
            </a:r>
          </a:p>
          <a:p>
            <a:pPr algn="l">
              <a:spcBef>
                <a:spcPts val="100"/>
              </a:spcBef>
            </a:pPr>
            <a:r>
              <a:rPr sz="819" b="0">
                <a:solidFill>
                  <a:srgbClr val="000000"/>
                </a:solidFill>
                <a:latin typeface="Calibri"/>
              </a:rPr>
              <a:t>Pairs each video with its CSV automatically, by timestamp overlap.</a:t>
            </a:r>
          </a:p>
        </p:txBody>
      </p:sp>
      <p:sp>
        <p:nvSpPr>
          <p:cNvPr id="17" name="Rounded Rectangle 16"/>
          <p:cNvSpPr/>
          <p:nvPr/>
        </p:nvSpPr>
        <p:spPr>
          <a:xfrm>
            <a:off x="9390888" y="3346704"/>
            <a:ext cx="2862072" cy="905256"/>
          </a:xfrm>
          <a:prstGeom prst="roundRect">
            <a:avLst/>
          </a:prstGeom>
          <a:solidFill>
            <a:srgbClr val="CFE2F3"/>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SF12 · DIC auto-calibrate</a:t>
            </a:r>
          </a:p>
          <a:p>
            <a:pPr algn="l">
              <a:spcBef>
                <a:spcPts val="100"/>
              </a:spcBef>
            </a:pPr>
            <a:r>
              <a:rPr sz="819" b="0">
                <a:solidFill>
                  <a:srgbClr val="000000"/>
                </a:solidFill>
                <a:latin typeface="Calibri"/>
              </a:rPr>
              <a:t>Sweeps exposure × threshold and reports the setting that tracks best.</a:t>
            </a:r>
          </a:p>
        </p:txBody>
      </p:sp>
      <p:sp>
        <p:nvSpPr>
          <p:cNvPr id="18" name="Rounded Rectangle 17"/>
          <p:cNvSpPr/>
          <p:nvPr/>
        </p:nvSpPr>
        <p:spPr>
          <a:xfrm>
            <a:off x="365760" y="4325112"/>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SF13 · Guided wizard</a:t>
            </a:r>
          </a:p>
          <a:p>
            <a:pPr algn="l">
              <a:spcBef>
                <a:spcPts val="100"/>
              </a:spcBef>
            </a:pPr>
            <a:r>
              <a:rPr sz="819" b="0">
                <a:solidFill>
                  <a:srgbClr val="000000"/>
                </a:solidFill>
                <a:latin typeface="Calibri"/>
              </a:rPr>
              <a:t>Twelve-step guided setup for a new operator — optional, off by default.</a:t>
            </a:r>
          </a:p>
        </p:txBody>
      </p:sp>
      <p:sp>
        <p:nvSpPr>
          <p:cNvPr id="19" name="Rounded Rectangle 18"/>
          <p:cNvSpPr/>
          <p:nvPr/>
        </p:nvSpPr>
        <p:spPr>
          <a:xfrm>
            <a:off x="3374136" y="4325112"/>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SF14 · Test registry</a:t>
            </a:r>
          </a:p>
          <a:p>
            <a:pPr algn="l">
              <a:spcBef>
                <a:spcPts val="100"/>
              </a:spcBef>
            </a:pPr>
            <a:r>
              <a:rPr sz="819" b="0">
                <a:solidFill>
                  <a:srgbClr val="000000"/>
                </a:solidFill>
                <a:latin typeface="Calibri"/>
              </a:rPr>
              <a:t>Every run recorded with its own force anchor, so a number can be traced back.</a:t>
            </a:r>
          </a:p>
        </p:txBody>
      </p:sp>
      <p:sp>
        <p:nvSpPr>
          <p:cNvPr id="20" name="Rounded Rectangle 19"/>
          <p:cNvSpPr/>
          <p:nvPr/>
        </p:nvSpPr>
        <p:spPr>
          <a:xfrm>
            <a:off x="6382512" y="4325112"/>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SF15 · Dead-DIC guard + backstops</a:t>
            </a:r>
          </a:p>
          <a:p>
            <a:pPr algn="l">
              <a:spcBef>
                <a:spcPts val="100"/>
              </a:spcBef>
            </a:pPr>
            <a:r>
              <a:rPr sz="819" b="0">
                <a:solidFill>
                  <a:srgbClr val="000000"/>
                </a:solidFill>
                <a:latin typeface="Calibri"/>
              </a:rPr>
              <a:t>Freezes the plot at 0.2 s without DIC, halts the test at 1.0 s.</a:t>
            </a:r>
          </a:p>
        </p:txBody>
      </p:sp>
      <p:sp>
        <p:nvSpPr>
          <p:cNvPr id="21" name="Rounded Rectangle 20"/>
          <p:cNvSpPr/>
          <p:nvPr/>
        </p:nvSpPr>
        <p:spPr>
          <a:xfrm>
            <a:off x="9390888" y="4325112"/>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SF16 · Live Px₀ overlay</a:t>
            </a:r>
          </a:p>
          <a:p>
            <a:pPr algn="l">
              <a:spcBef>
                <a:spcPts val="100"/>
              </a:spcBef>
            </a:pPr>
            <a:r>
              <a:rPr sz="819" b="0">
                <a:solidFill>
                  <a:srgbClr val="000000"/>
                </a:solidFill>
                <a:latin typeface="Calibri"/>
              </a:rPr>
              <a:t>Draws the frozen Px₀ pair against the live pair, on the camera feed.</a:t>
            </a:r>
          </a:p>
        </p:txBody>
      </p:sp>
      <p:sp>
        <p:nvSpPr>
          <p:cNvPr id="22" name="Rounded Rectangle 21"/>
          <p:cNvSpPr/>
          <p:nvPr/>
        </p:nvSpPr>
        <p:spPr>
          <a:xfrm>
            <a:off x="365760" y="5303520"/>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SF17 · Video + image capture</a:t>
            </a:r>
          </a:p>
          <a:p>
            <a:pPr algn="l">
              <a:spcBef>
                <a:spcPts val="100"/>
              </a:spcBef>
            </a:pPr>
            <a:r>
              <a:rPr sz="819" b="0">
                <a:solidFill>
                  <a:srgbClr val="000000"/>
                </a:solidFill>
                <a:latin typeface="Calibri"/>
              </a:rPr>
              <a:t>PNG stills plus three AVI styles, with zero dropped frames on record.</a:t>
            </a:r>
          </a:p>
        </p:txBody>
      </p:sp>
      <p:sp>
        <p:nvSpPr>
          <p:cNvPr id="23" name="Rounded Rectangle 22"/>
          <p:cNvSpPr/>
          <p:nvPr/>
        </p:nvSpPr>
        <p:spPr>
          <a:xfrm>
            <a:off x="3374136" y="5303520"/>
            <a:ext cx="2862072" cy="905256"/>
          </a:xfrm>
          <a:prstGeom prst="roundRect">
            <a:avLst/>
          </a:prstGeom>
          <a:solidFill>
            <a:srgbClr val="C8E6C9"/>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SF18 · DIC post-processing</a:t>
            </a:r>
          </a:p>
          <a:p>
            <a:pPr algn="l">
              <a:spcBef>
                <a:spcPts val="100"/>
              </a:spcBef>
            </a:pPr>
            <a:r>
              <a:rPr sz="819" b="0">
                <a:solidFill>
                  <a:srgbClr val="000000"/>
                </a:solidFill>
                <a:latin typeface="Calibri"/>
              </a:rPr>
              <a:t>Re-measures any recorded video — ours or a foreign rig's — after the fact.</a:t>
            </a:r>
          </a:p>
        </p:txBody>
      </p:sp>
      <p:sp>
        <p:nvSpPr>
          <p:cNvPr id="24" name="Rounded Rectangle 23"/>
          <p:cNvSpPr/>
          <p:nvPr/>
        </p:nvSpPr>
        <p:spPr>
          <a:xfrm>
            <a:off x="6382512" y="5303520"/>
            <a:ext cx="2862072" cy="905256"/>
          </a:xfrm>
          <a:prstGeom prst="roundRect">
            <a:avLst/>
          </a:prstGeom>
          <a:solidFill>
            <a:srgbClr val="CFE2F3"/>
          </a:solidFill>
          <a:ln w="15240">
            <a:solidFill>
              <a:srgbClr val="1F3F2F"/>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1F3F2F"/>
                </a:solidFill>
                <a:latin typeface="Calibri"/>
              </a:rPr>
              <a:t>SF19 · Noise capture</a:t>
            </a:r>
          </a:p>
          <a:p>
            <a:pPr algn="l">
              <a:spcBef>
                <a:spcPts val="100"/>
              </a:spcBef>
            </a:pPr>
            <a:r>
              <a:rPr sz="819" b="0">
                <a:solidFill>
                  <a:srgbClr val="000000"/>
                </a:solidFill>
                <a:latin typeface="Calibri"/>
              </a:rPr>
              <a:t>Records the instrument at rest, so the noise floor is measured, not assumed.</a:t>
            </a:r>
          </a:p>
        </p:txBody>
      </p:sp>
      <p:sp>
        <p:nvSpPr>
          <p:cNvPr id="25" name="Rounded Rectangle 24"/>
          <p:cNvSpPr/>
          <p:nvPr/>
        </p:nvSpPr>
        <p:spPr>
          <a:xfrm>
            <a:off x="9390888" y="5303520"/>
            <a:ext cx="2862072" cy="905256"/>
          </a:xfrm>
          <a:prstGeom prst="roundRect">
            <a:avLst/>
          </a:prstGeom>
          <a:solidFill>
            <a:srgbClr val="FFFFFF"/>
          </a:solidFill>
          <a:ln w="15240">
            <a:solidFill>
              <a:srgbClr val="A6A6A6"/>
            </a:solidFill>
          </a:ln>
        </p:spPr>
        <p:style>
          <a:lnRef idx="1">
            <a:schemeClr val="accent1"/>
          </a:lnRef>
          <a:fillRef idx="3">
            <a:schemeClr val="accent1"/>
          </a:fillRef>
          <a:effectRef idx="2">
            <a:schemeClr val="accent1"/>
          </a:effectRef>
          <a:fontRef idx="minor">
            <a:schemeClr val="lt1"/>
          </a:fontRef>
        </p:style>
        <p:txBody>
          <a:bodyPr rtlCol="0" anchor="ctr" lIns="64008" rIns="64008" tIns="36576" bIns="36576" wrap="square"/>
          <a:lstStyle/>
          <a:p>
            <a:pPr algn="l"/>
            <a:r>
              <a:rPr sz="1000" b="1">
                <a:solidFill>
                  <a:srgbClr val="000000"/>
                </a:solidFill>
                <a:latin typeface="Calibri"/>
              </a:rPr>
              <a:t>ALWAYS ON — the safety net</a:t>
            </a:r>
          </a:p>
          <a:p>
            <a:pPr algn="l">
              <a:spcBef>
                <a:spcPts val="100"/>
              </a:spcBef>
            </a:pPr>
            <a:r>
              <a:rPr sz="819" b="0">
                <a:solidFill>
                  <a:srgbClr val="000000"/>
                </a:solidFill>
                <a:latin typeface="Calibri"/>
              </a:rPr>
              <a:t>Four safety layers on every driven test: load collapse · stall guard · 4.5 kN / 30 mm · dead-DIC freeze.</a:t>
            </a:r>
          </a:p>
        </p:txBody>
      </p:sp>
      <p:sp>
        <p:nvSpPr>
          <p:cNvPr id="26" name="Rectangle 25"/>
          <p:cNvSpPr/>
          <p:nvPr/>
        </p:nvSpPr>
        <p:spPr>
          <a:xfrm>
            <a:off x="365760" y="6272784"/>
            <a:ext cx="11475720" cy="384048"/>
          </a:xfrm>
          <a:prstGeom prst="rect">
            <a:avLst/>
          </a:prstGeom>
          <a:solidFill>
            <a:srgbClr val="C8E6C9"/>
          </a:solidFill>
          <a:ln>
            <a:noFill/>
          </a:ln>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r>
              <a:rPr sz="1100" b="1">
                <a:solidFill>
                  <a:srgbClr val="1F3F2F"/>
                </a:solidFill>
                <a:latin typeface="Calibri"/>
              </a:rPr>
              <a:t>17 of 19 done and validated on the rig · 2 built and waiting on rig time · every one of them reachable from the two test tabs, no scripting required.</a:t>
            </a:r>
          </a:p>
        </p:txBody>
      </p:sp>
      <p:sp>
        <p:nvSpPr>
          <p:cNvPr id="27" name="TextBox 26"/>
          <p:cNvSpPr txBox="1"/>
          <p:nvPr/>
        </p:nvSpPr>
        <p:spPr>
          <a:xfrm>
            <a:off x="11384280" y="6446520"/>
            <a:ext cx="548640" cy="274320"/>
          </a:xfrm>
          <a:prstGeom prst="rect">
            <a:avLst/>
          </a:prstGeom>
          <a:noFill/>
        </p:spPr>
        <p:txBody>
          <a:bodyPr wrap="square" lIns="45720" rIns="45720" tIns="18288" bIns="18288" anchor="t">
            <a:spAutoFit/>
          </a:bodyPr>
          <a:lstStyle/>
          <a:p>
            <a:pPr algn="r"/>
            <a:r>
              <a:rPr sz="1000" b="0" i="0">
                <a:solidFill>
                  <a:srgbClr val="707070"/>
                </a:solidFill>
                <a:latin typeface="Calibri"/>
              </a:rPr>
              <a:t>341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