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hyperlink" Target="https://ieeexplore.ieee.org/document/4310076"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88.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13.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 Id="rId3" Type="http://schemas.openxmlformats.org/officeDocument/2006/relationships/image" Target="../media/image11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9.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 Id="rId3" Type="http://schemas.openxmlformats.org/officeDocument/2006/relationships/image" Target="../media/image135.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7.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image" Target="../media/image139.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p262</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p263</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p306–p310</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p316</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p266 · p267</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OTSU'S METHOD — WHAT IT DOES, AND WHAT IT ASSUMES</a:t>
            </a:r>
          </a:p>
        </p:txBody>
      </p:sp>
      <p:pic>
        <p:nvPicPr>
          <p:cNvPr id="5" name="Picture 4" descr="otsu_hist.png"/>
          <p:cNvPicPr>
            <a:picLocks noChangeAspect="1"/>
          </p:cNvPicPr>
          <p:nvPr/>
        </p:nvPicPr>
        <p:blipFill>
          <a:blip r:embed="rId2"/>
          <a:stretch>
            <a:fillRect/>
          </a:stretch>
        </p:blipFill>
        <p:spPr>
          <a:xfrm>
            <a:off x="320040" y="1042415"/>
            <a:ext cx="5806440" cy="3123161"/>
          </a:xfrm>
          <a:prstGeom prst="rect">
            <a:avLst/>
          </a:prstGeom>
        </p:spPr>
      </p:pic>
      <p:sp>
        <p:nvSpPr>
          <p:cNvPr id="6" name="TextBox 5"/>
          <p:cNvSpPr txBox="1"/>
          <p:nvPr/>
        </p:nvSpPr>
        <p:spPr>
          <a:xfrm>
            <a:off x="365760" y="4443984"/>
            <a:ext cx="5760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on the histogram above</a:t>
            </a:r>
          </a:p>
        </p:txBody>
      </p:sp>
      <p:sp>
        <p:nvSpPr>
          <p:cNvPr id="7" name="TextBox 6"/>
          <p:cNvSpPr txBox="1"/>
          <p:nvPr/>
        </p:nvSpPr>
        <p:spPr>
          <a:xfrm>
            <a:off x="365760" y="4791456"/>
            <a:ext cx="5760720" cy="1417320"/>
          </a:xfrm>
          <a:prstGeom prst="rect">
            <a:avLst/>
          </a:prstGeom>
          <a:noFill/>
        </p:spPr>
        <p:txBody>
          <a:bodyPr wrap="square" lIns="45720" rIns="45720" tIns="18288" bIns="18288" anchor="t">
            <a:spAutoFit/>
          </a:bodyPr>
          <a:lstStyle/>
          <a:p>
            <a:pPr algn="l"/>
            <a:r>
              <a:rPr sz="960" b="0" i="0">
                <a:solidFill>
                  <a:srgbClr val="000000"/>
                </a:solidFill>
                <a:latin typeface="Calibri"/>
              </a:rPr>
              <a:t>•  The dark mass at 25–100 is the specimen body.
•  The bright mass above 170 is the spray dots AND the grips.
•  Between them sits a broad valley — that is where any threshold has to go.
•  Otsu puts it at 131; the rig's Black preset uses 149. 18 grey levels apart, both inside the valley.</a:t>
            </a:r>
          </a:p>
        </p:txBody>
      </p:sp>
      <p:sp>
        <p:nvSpPr>
          <p:cNvPr id="8" name="TextBox 7"/>
          <p:cNvSpPr txBox="1"/>
          <p:nvPr/>
        </p:nvSpPr>
        <p:spPr>
          <a:xfrm>
            <a:off x="6400800" y="10058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 in one sentence</a:t>
            </a:r>
          </a:p>
        </p:txBody>
      </p:sp>
      <p:sp>
        <p:nvSpPr>
          <p:cNvPr id="9" name="TextBox 8"/>
          <p:cNvSpPr txBox="1"/>
          <p:nvPr/>
        </p:nvSpPr>
        <p:spPr>
          <a:xfrm>
            <a:off x="6400800" y="1353312"/>
            <a:ext cx="5440680" cy="1783080"/>
          </a:xfrm>
          <a:prstGeom prst="rect">
            <a:avLst/>
          </a:prstGeom>
          <a:noFill/>
        </p:spPr>
        <p:txBody>
          <a:bodyPr wrap="square" lIns="45720" rIns="45720" tIns="18288" bIns="18288" anchor="t">
            <a:spAutoFit/>
          </a:bodyPr>
          <a:lstStyle/>
          <a:p>
            <a:pPr algn="l"/>
            <a:r>
              <a:rPr sz="960" b="0" i="0">
                <a:solidFill>
                  <a:srgbClr val="000000"/>
                </a:solidFill>
                <a:latin typeface="Calibri"/>
              </a:rPr>
              <a:t>•  THE JOB: decide which pixels are “marker” and which are “background”. That needs one brightness number — above it is a marker, below it is not.
•  Otsu picks that number by itself, from the picture alone. No setting to turn, nothing to train, no guess about what the specimen looks like.
•  HOW: it tries all 254 possible numbers and keeps the one that leaves the two groups as tidy as possible — dark pixels alike, bright pixels alike.
•  Written out, it maximises   σ²b(t) = ω₀ω₁ (μ₀ − μ₁)²   (ω = group sizes, μ = group means), which is the same thing as making each group internally consistent.</a:t>
            </a:r>
          </a:p>
        </p:txBody>
      </p:sp>
      <p:sp>
        <p:nvSpPr>
          <p:cNvPr id="10" name="TextBox 9"/>
          <p:cNvSpPr txBox="1"/>
          <p:nvPr/>
        </p:nvSpPr>
        <p:spPr>
          <a:xfrm>
            <a:off x="6400800" y="3218688"/>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that is a respectable choice</a:t>
            </a:r>
          </a:p>
        </p:txBody>
      </p:sp>
      <p:sp>
        <p:nvSpPr>
          <p:cNvPr id="11" name="TextBox 10"/>
          <p:cNvSpPr txBox="1"/>
          <p:nvPr/>
        </p:nvSpPr>
        <p:spPr>
          <a:xfrm>
            <a:off x="6400800" y="3566160"/>
            <a:ext cx="5440680" cy="1234440"/>
          </a:xfrm>
          <a:prstGeom prst="rect">
            <a:avLst/>
          </a:prstGeom>
          <a:noFill/>
        </p:spPr>
        <p:txBody>
          <a:bodyPr wrap="square" lIns="45720" rIns="45720" tIns="18288" bIns="18288" anchor="t">
            <a:spAutoFit/>
          </a:bodyPr>
          <a:lstStyle/>
          <a:p>
            <a:pPr algn="l"/>
            <a:r>
              <a:rPr sz="960" b="0" i="0">
                <a:solidFill>
                  <a:srgbClr val="000000"/>
                </a:solidFill>
                <a:latin typeface="Calibri"/>
              </a:rPr>
              <a:t>•  It is Fisher's linear discriminant applied to the intensity histogram — a real statistical criterion, not a heuristic.
•  Non-parametric: it assumes no distribution, only that there are two classes.
•  Cheap — one pass over 256 bins, O(L). It can run on every frame.</a:t>
            </a:r>
          </a:p>
        </p:txBody>
      </p:sp>
      <p:sp>
        <p:nvSpPr>
          <p:cNvPr id="12" name="TextBox 11"/>
          <p:cNvSpPr txBox="1"/>
          <p:nvPr/>
        </p:nvSpPr>
        <p:spPr>
          <a:xfrm>
            <a:off x="6400800" y="4882896"/>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quietly assumes</a:t>
            </a:r>
          </a:p>
        </p:txBody>
      </p:sp>
      <p:sp>
        <p:nvSpPr>
          <p:cNvPr id="13" name="TextBox 12"/>
          <p:cNvSpPr txBox="1"/>
          <p:nvPr/>
        </p:nvSpPr>
        <p:spPr>
          <a:xfrm>
            <a:off x="6400800" y="5230368"/>
            <a:ext cx="5440680" cy="1051560"/>
          </a:xfrm>
          <a:prstGeom prst="rect">
            <a:avLst/>
          </a:prstGeom>
          <a:noFill/>
        </p:spPr>
        <p:txBody>
          <a:bodyPr wrap="square" lIns="45720" rIns="45720" tIns="18288" bIns="18288" anchor="t">
            <a:spAutoFit/>
          </a:bodyPr>
          <a:lstStyle/>
          <a:p>
            <a:pPr algn="l"/>
            <a:r>
              <a:rPr sz="960" b="0" i="0">
                <a:solidFill>
                  <a:srgbClr val="000000"/>
                </a:solidFill>
                <a:latin typeface="Calibri"/>
              </a:rPr>
              <a:t>•  A BIMODAL histogram with a deep, sharp valley.
•  Two classes of comparable SIZE and comparable VARIANCE — the derivation models them as two equal normals.
•  Even illumination and low noise.</a:t>
            </a:r>
          </a:p>
        </p:txBody>
      </p:sp>
      <p:sp>
        <p:nvSpPr>
          <p:cNvPr id="14" name="TextBox 13"/>
          <p:cNvSpPr txBox="1"/>
          <p:nvPr/>
        </p:nvSpPr>
        <p:spPr>
          <a:xfrm>
            <a:off x="365760" y="6272784"/>
            <a:ext cx="11430000" cy="274320"/>
          </a:xfrm>
          <a:prstGeom prst="rect">
            <a:avLst/>
          </a:prstGeom>
          <a:noFill/>
        </p:spPr>
        <p:txBody>
          <a:bodyPr wrap="square">
            <a:spAutoFit/>
          </a:bodyPr>
          <a:lstStyle/>
          <a:p>
            <a:r>
              <a:rPr sz="1000" u="sng">
                <a:solidFill>
                  <a:srgbClr val="1A5FB4"/>
                </a:solidFill>
                <a:latin typeface="Calibri"/>
                <a:hlinkClick r:id="rId3"/>
              </a:rPr>
              <a:t>Otsu 1979 — “A Threshold Selection Method from Gray-Level Histograms”, IEEE Trans. SMC 9(1):62–66   ·   ieeexplore.ieee.org/document/4310076</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READING THAT GRAPH — GREY LEVELS AND WHAT OTSU IS DOING</a:t>
            </a:r>
          </a:p>
        </p:txBody>
      </p:sp>
      <p:pic>
        <p:nvPicPr>
          <p:cNvPr id="5" name="Picture 4" descr="otsu_explain.png"/>
          <p:cNvPicPr>
            <a:picLocks noChangeAspect="1"/>
          </p:cNvPicPr>
          <p:nvPr/>
        </p:nvPicPr>
        <p:blipFill>
          <a:blip r:embed="rId2"/>
          <a:stretch>
            <a:fillRect/>
          </a:stretch>
        </p:blipFill>
        <p:spPr>
          <a:xfrm>
            <a:off x="1150727" y="969264"/>
            <a:ext cx="9860065" cy="3017520"/>
          </a:xfrm>
          <a:prstGeom prst="rect">
            <a:avLst/>
          </a:prstGeom>
        </p:spPr>
      </p:pic>
      <p:sp>
        <p:nvSpPr>
          <p:cNvPr id="6" name="TextBox 5"/>
          <p:cNvSpPr txBox="1"/>
          <p:nvPr/>
        </p:nvSpPr>
        <p:spPr>
          <a:xfrm>
            <a:off x="36576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“Grey level” — the number on a pixel</a:t>
            </a:r>
          </a:p>
        </p:txBody>
      </p:sp>
      <p:sp>
        <p:nvSpPr>
          <p:cNvPr id="7" name="TextBox 6"/>
          <p:cNvSpPr txBox="1"/>
          <p:nvPr/>
        </p:nvSpPr>
        <p:spPr>
          <a:xfrm>
            <a:off x="365760" y="4480560"/>
            <a:ext cx="3703320" cy="1691640"/>
          </a:xfrm>
          <a:prstGeom prst="rect">
            <a:avLst/>
          </a:prstGeom>
          <a:noFill/>
        </p:spPr>
        <p:txBody>
          <a:bodyPr wrap="square" lIns="45720" rIns="45720" tIns="18288" bIns="18288" anchor="t">
            <a:spAutoFit/>
          </a:bodyPr>
          <a:lstStyle/>
          <a:p>
            <a:pPr algn="l"/>
            <a:r>
              <a:rPr sz="960" b="0" i="0">
                <a:solidFill>
                  <a:srgbClr val="000000"/>
                </a:solidFill>
                <a:latin typeface="Calibri"/>
              </a:rPr>
              <a:t>•  The camera records no colour. Each pixel is ONE number: 0 is black, 255 is white, and everything between is a shade of grey.
•  The left panel is a real 8 × 6 corner of a frame with those numbers printed on it. Read across the top row and the marker's edge is visible as the numbers fall from 234 to 104.
•  Nothing is interpreted yet. This is just what the sensor wrote down.</a:t>
            </a:r>
          </a:p>
        </p:txBody>
      </p:sp>
      <p:sp>
        <p:nvSpPr>
          <p:cNvPr id="8" name="TextBox 7"/>
          <p:cNvSpPr txBox="1"/>
          <p:nvPr/>
        </p:nvSpPr>
        <p:spPr>
          <a:xfrm>
            <a:off x="425196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“Share of pixels” — a headcount</a:t>
            </a:r>
          </a:p>
        </p:txBody>
      </p:sp>
      <p:sp>
        <p:nvSpPr>
          <p:cNvPr id="9" name="TextBox 8"/>
          <p:cNvSpPr txBox="1"/>
          <p:nvPr/>
        </p:nvSpPr>
        <p:spPr>
          <a:xfrm>
            <a:off x="4251960" y="4480560"/>
            <a:ext cx="3703320" cy="1691640"/>
          </a:xfrm>
          <a:prstGeom prst="rect">
            <a:avLst/>
          </a:prstGeom>
          <a:noFill/>
        </p:spPr>
        <p:txBody>
          <a:bodyPr wrap="square" lIns="45720" rIns="45720" tIns="18288" bIns="18288" anchor="t">
            <a:spAutoFit/>
          </a:bodyPr>
          <a:lstStyle/>
          <a:p>
            <a:pPr algn="l"/>
            <a:r>
              <a:rPr sz="960" b="0" i="0">
                <a:solidFill>
                  <a:srgbClr val="000000"/>
                </a:solidFill>
                <a:latin typeface="Calibri"/>
              </a:rPr>
              <a:t>•  Go through every pixel in the picture and tally how many have each of the 256 numbers. That tally is the graph on the right.
•  The height is the SHARE: “this percentage of the picture is exactly this bright”.
•  The scale is logarithmic because the two markers are a fraction of one per cent of the pixels. On an ordinary scale the specimen body would be a spike and the markers would be an invisible flat line.</a:t>
            </a:r>
          </a:p>
        </p:txBody>
      </p:sp>
      <p:sp>
        <p:nvSpPr>
          <p:cNvPr id="10" name="TextBox 9"/>
          <p:cNvSpPr txBox="1"/>
          <p:nvPr/>
        </p:nvSpPr>
        <p:spPr>
          <a:xfrm>
            <a:off x="813816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Otsu does with it — plainly</a:t>
            </a:r>
          </a:p>
        </p:txBody>
      </p:sp>
      <p:sp>
        <p:nvSpPr>
          <p:cNvPr id="11" name="TextBox 10"/>
          <p:cNvSpPr txBox="1"/>
          <p:nvPr/>
        </p:nvSpPr>
        <p:spPr>
          <a:xfrm>
            <a:off x="8138160" y="4480560"/>
            <a:ext cx="3703320" cy="1691640"/>
          </a:xfrm>
          <a:prstGeom prst="rect">
            <a:avLst/>
          </a:prstGeom>
          <a:noFill/>
        </p:spPr>
        <p:txBody>
          <a:bodyPr wrap="square" lIns="45720" rIns="45720" tIns="18288" bIns="18288" anchor="t">
            <a:spAutoFit/>
          </a:bodyPr>
          <a:lstStyle/>
          <a:p>
            <a:pPr algn="l"/>
            <a:r>
              <a:rPr sz="960" b="0" i="0">
                <a:solidFill>
                  <a:srgbClr val="000000"/>
                </a:solidFill>
                <a:latin typeface="Calibri"/>
              </a:rPr>
              <a:t>•  It tries EVERY possible cut, 1 to 254, and for each one splits the pixels into a dark pile and a bright pile.
•  It keeps the cut where each pile is most alike INSIDE itself — where the two piles are most cleanly separated.
•  Like sorting a room of people into “short” and “tall”: you put the line where you get two tidy groups, not one where half the tall people end up with the short ones.
•  On this picture that lands at 131 — down in the valley, where few pixels live.</a:t>
            </a:r>
          </a:p>
        </p:txBody>
      </p:sp>
      <p:sp>
        <p:nvSpPr>
          <p:cNvPr id="12" name="Rectangle 11"/>
          <p:cNvSpPr/>
          <p:nvPr/>
        </p:nvSpPr>
        <p:spPr>
          <a:xfrm>
            <a:off x="365760" y="6272784"/>
            <a:ext cx="11475720" cy="32918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valley is the whole point: a threshold put where hardly any pixels sit can drift a little without changing which side anything falls on.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VALLEY ACTUALLY IS — READ OFF THE SPECIMEN</a:t>
            </a:r>
          </a:p>
        </p:txBody>
      </p:sp>
      <p:pic>
        <p:nvPicPr>
          <p:cNvPr id="5" name="Picture 4" descr="otsu_greymap.png"/>
          <p:cNvPicPr>
            <a:picLocks noChangeAspect="1"/>
          </p:cNvPicPr>
          <p:nvPr/>
        </p:nvPicPr>
        <p:blipFill>
          <a:blip r:embed="rId2"/>
          <a:stretch>
            <a:fillRect/>
          </a:stretch>
        </p:blipFill>
        <p:spPr>
          <a:xfrm>
            <a:off x="944645" y="896112"/>
            <a:ext cx="10272228" cy="3182112"/>
          </a:xfrm>
          <a:prstGeom prst="rect">
            <a:avLst/>
          </a:prstGeom>
        </p:spPr>
      </p:pic>
      <p:sp>
        <p:nvSpPr>
          <p:cNvPr id="6" name="TextBox 5"/>
          <p:cNvSpPr txBox="1"/>
          <p:nvPr/>
        </p:nvSpPr>
        <p:spPr>
          <a:xfrm>
            <a:off x="365760" y="420624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bands, as things you can point at</a:t>
            </a:r>
          </a:p>
        </p:txBody>
      </p:sp>
      <p:sp>
        <p:nvSpPr>
          <p:cNvPr id="7" name="TextBox 6"/>
          <p:cNvSpPr txBox="1"/>
          <p:nvPr/>
        </p:nvSpPr>
        <p:spPr>
          <a:xfrm>
            <a:off x="365760" y="4553712"/>
            <a:ext cx="3703320" cy="1645920"/>
          </a:xfrm>
          <a:prstGeom prst="rect">
            <a:avLst/>
          </a:prstGeom>
          <a:noFill/>
        </p:spPr>
        <p:txBody>
          <a:bodyPr wrap="square" lIns="45720" rIns="45720" tIns="18288" bIns="18288" anchor="t">
            <a:spAutoFit/>
          </a:bodyPr>
          <a:lstStyle/>
          <a:p>
            <a:pPr algn="l"/>
            <a:r>
              <a:rPr sz="960" b="0" i="0">
                <a:solidFill>
                  <a:srgbClr val="000000"/>
                </a:solidFill>
                <a:latin typeface="Calibri"/>
              </a:rPr>
              <a:t>•  25–100, the big peak — the specimen and the field behind it. Plain body reads 79, a dark print line 68, the background 61.
•  Above 150 — the two spray dots (234 at centre) and the grips (229).
•  101–150, the valley — 2.73 % of the frame. Every ring in amber above is one of these, and none of them is an object.</a:t>
            </a:r>
          </a:p>
        </p:txBody>
      </p:sp>
      <p:sp>
        <p:nvSpPr>
          <p:cNvPr id="8" name="TextBox 7"/>
          <p:cNvSpPr txBox="1"/>
          <p:nvPr/>
        </p:nvSpPr>
        <p:spPr>
          <a:xfrm>
            <a:off x="4251960" y="420624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correction worth making here</a:t>
            </a:r>
          </a:p>
        </p:txBody>
      </p:sp>
      <p:sp>
        <p:nvSpPr>
          <p:cNvPr id="9" name="TextBox 8"/>
          <p:cNvSpPr txBox="1"/>
          <p:nvPr/>
        </p:nvSpPr>
        <p:spPr>
          <a:xfrm>
            <a:off x="4251960" y="4553712"/>
            <a:ext cx="3703320" cy="1645920"/>
          </a:xfrm>
          <a:prstGeom prst="rect">
            <a:avLst/>
          </a:prstGeom>
          <a:noFill/>
        </p:spPr>
        <p:txBody>
          <a:bodyPr wrap="square" lIns="45720" rIns="45720" tIns="18288" bIns="18288" anchor="t">
            <a:spAutoFit/>
          </a:bodyPr>
          <a:lstStyle/>
          <a:p>
            <a:pPr algn="l"/>
            <a:r>
              <a:rPr sz="960" b="0" i="0">
                <a:solidFill>
                  <a:srgbClr val="000000"/>
                </a:solidFill>
                <a:latin typeface="Calibri"/>
              </a:rPr>
              <a:t>•  Calling the big peak “the specimen body” is a simplification. It is the specimen AND the dark field behind it.
•  Measured in the columns where both are visible: the body averages grey 79.3, the surround 66.4, and 99.6 % of BOTH fall in 25–100.
•  They are one peak because brightness cannot tell them apart — only position can. It does not matter here, because neither is anywhere near the cut.</a:t>
            </a:r>
          </a:p>
        </p:txBody>
      </p:sp>
      <p:sp>
        <p:nvSpPr>
          <p:cNvPr id="10" name="TextBox 9"/>
          <p:cNvSpPr txBox="1"/>
          <p:nvPr/>
        </p:nvSpPr>
        <p:spPr>
          <a:xfrm>
            <a:off x="8138160" y="420624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what IS in the valley?</a:t>
            </a:r>
          </a:p>
        </p:txBody>
      </p:sp>
      <p:sp>
        <p:nvSpPr>
          <p:cNvPr id="11" name="TextBox 10"/>
          <p:cNvSpPr txBox="1"/>
          <p:nvPr/>
        </p:nvSpPr>
        <p:spPr>
          <a:xfrm>
            <a:off x="8138160" y="4553712"/>
            <a:ext cx="3703320" cy="1645920"/>
          </a:xfrm>
          <a:prstGeom prst="rect">
            <a:avLst/>
          </a:prstGeom>
          <a:noFill/>
        </p:spPr>
        <p:txBody>
          <a:bodyPr wrap="square" lIns="45720" rIns="45720" tIns="18288" bIns="18288" anchor="t">
            <a:spAutoFit/>
          </a:bodyPr>
          <a:lstStyle/>
          <a:p>
            <a:pPr algn="l"/>
            <a:r>
              <a:rPr sz="960" b="0" i="0">
                <a:solidFill>
                  <a:srgbClr val="000000"/>
                </a:solidFill>
                <a:latin typeface="Calibri"/>
              </a:rPr>
              <a:t>•  Edges. A pixel lying across a boundary averages the bright side and the dark side, and the lens is not perfectly sharp — so a marker's rim reads 115 two pixels out, on its way from 234 to 79.
•  Glare. The grip is still at 150 some 98 px away from its own face.
•  One real oddity: a glint off a raised print artefact out on the gauge, peaking at 145. Next slide.</a:t>
            </a:r>
          </a:p>
        </p:txBody>
      </p:sp>
      <p:sp>
        <p:nvSpPr>
          <p:cNvPr id="12" name="Rectangle 11"/>
          <p:cNvSpPr/>
          <p:nvPr/>
        </p:nvSpPr>
        <p:spPr>
          <a:xfrm>
            <a:off x="365760" y="6272784"/>
            <a:ext cx="11475720" cy="32918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Nothing in this scene IS mid-grey. The valley is what you get at the boundaries between the things that are — which is exactly why a threshold is safe there.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VALLEY IS AN EDGE — AND MOSTLY THE GRIPS' EDGE</a:t>
            </a:r>
          </a:p>
        </p:txBody>
      </p:sp>
      <p:pic>
        <p:nvPicPr>
          <p:cNvPr id="5" name="Picture 4" descr="otsu_valley_where.png"/>
          <p:cNvPicPr>
            <a:picLocks noChangeAspect="1"/>
          </p:cNvPicPr>
          <p:nvPr/>
        </p:nvPicPr>
        <p:blipFill>
          <a:blip r:embed="rId2"/>
          <a:stretch>
            <a:fillRect/>
          </a:stretch>
        </p:blipFill>
        <p:spPr>
          <a:xfrm>
            <a:off x="1303020" y="896112"/>
            <a:ext cx="9555480" cy="3520440"/>
          </a:xfrm>
          <a:prstGeom prst="rect">
            <a:avLst/>
          </a:prstGeom>
        </p:spPr>
      </p:pic>
      <p:sp>
        <p:nvSpPr>
          <p:cNvPr id="6" name="TextBox 5"/>
          <p:cNvSpPr txBox="1"/>
          <p:nvPr/>
        </p:nvSpPr>
        <p:spPr>
          <a:xfrm>
            <a:off x="3657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every valley pixel sits</a:t>
            </a:r>
          </a:p>
        </p:txBody>
      </p:sp>
      <p:graphicFrame>
        <p:nvGraphicFramePr>
          <p:cNvPr id="7" name="Table 6"/>
          <p:cNvGraphicFramePr>
            <a:graphicFrameLocks noGrp="1"/>
          </p:cNvGraphicFramePr>
          <p:nvPr/>
        </p:nvGraphicFramePr>
        <p:xfrm>
          <a:off x="365760" y="4919472"/>
          <a:ext cx="5532120" cy="1042415"/>
        </p:xfrm>
        <a:graphic>
          <a:graphicData uri="http://schemas.openxmlformats.org/drawingml/2006/table">
            <a:tbl>
              <a:tblPr firstRow="1" bandRow="1">
                <a:tableStyleId>{5C22544A-7EE6-4342-B048-85BDC9FD1C3A}</a:tableStyleId>
              </a:tblPr>
              <a:tblGrid>
                <a:gridCol w="1691640"/>
                <a:gridCol w="1417320"/>
                <a:gridCol w="2423160"/>
              </a:tblGrid>
              <a:tr h="260603">
                <a:tc>
                  <a:txBody>
                    <a:bodyPr lIns="54864" rIns="54864" tIns="18288" bIns="18288" wrap="square" anchor="ctr"/>
                    <a:lstStyle/>
                    <a:p>
                      <a:pPr algn="l"/>
                      <a:r>
                        <a:rPr sz="950" b="1">
                          <a:solidFill>
                            <a:srgbClr val="FFFFFF"/>
                          </a:solidFill>
                          <a:latin typeface="Calibri"/>
                        </a:rPr>
                        <a:t>Nearest bright object</a:t>
                      </a:r>
                    </a:p>
                  </a:txBody>
                  <a:tcPr>
                    <a:solidFill>
                      <a:srgbClr val="143D2F"/>
                    </a:solidFill>
                  </a:tcPr>
                </a:tc>
                <a:tc>
                  <a:txBody>
                    <a:bodyPr lIns="54864" rIns="54864" tIns="18288" bIns="18288" wrap="square" anchor="ctr"/>
                    <a:lstStyle/>
                    <a:p>
                      <a:pPr algn="l"/>
                      <a:r>
                        <a:rPr sz="950" b="1">
                          <a:solidFill>
                            <a:srgbClr val="FFFFFF"/>
                          </a:solidFill>
                          <a:latin typeface="Calibri"/>
                        </a:rPr>
                        <a:t>share of the valley</a:t>
                      </a:r>
                    </a:p>
                  </a:txBody>
                  <a:tcPr>
                    <a:solidFill>
                      <a:srgbClr val="143D2F"/>
                    </a:solidFill>
                  </a:tcPr>
                </a:tc>
                <a:tc>
                  <a:txBody>
                    <a:bodyPr lIns="54864" rIns="54864" tIns="18288" bIns="18288" wrap="square" anchor="ctr"/>
                    <a:lstStyle/>
                    <a:p>
                      <a:pPr algn="l"/>
                      <a:r>
                        <a:rPr sz="950" b="1">
                          <a:solidFill>
                            <a:srgbClr val="FFFFFF"/>
                          </a:solidFill>
                          <a:latin typeface="Calibri"/>
                        </a:rPr>
                        <a:t>what those pixels are</a:t>
                      </a:r>
                    </a:p>
                  </a:txBody>
                  <a:tcPr>
                    <a:solidFill>
                      <a:srgbClr val="143D2F"/>
                    </a:solidFill>
                  </a:tcPr>
                </a:tc>
              </a:tr>
              <a:tr h="260603">
                <a:tc>
                  <a:txBody>
                    <a:bodyPr lIns="54864" rIns="54864" tIns="18288" bIns="18288" wrap="square" anchor="ctr"/>
                    <a:lstStyle/>
                    <a:p>
                      <a:pPr algn="l"/>
                      <a:r>
                        <a:rPr sz="919" b="0">
                          <a:solidFill>
                            <a:srgbClr val="000000"/>
                          </a:solidFill>
                          <a:latin typeface="Calibri"/>
                        </a:rPr>
                        <a:t>a GRIP</a:t>
                      </a:r>
                    </a:p>
                  </a:txBody>
                  <a:tcPr/>
                </a:tc>
                <a:tc>
                  <a:txBody>
                    <a:bodyPr lIns="54864" rIns="54864" tIns="18288" bIns="18288" wrap="square" anchor="ctr"/>
                    <a:lstStyle/>
                    <a:p>
                      <a:pPr algn="l"/>
                      <a:r>
                        <a:rPr sz="919" b="1">
                          <a:solidFill>
                            <a:srgbClr val="000000"/>
                          </a:solidFill>
                          <a:latin typeface="Calibri"/>
                        </a:rPr>
                        <a:t>80.3 %</a:t>
                      </a:r>
                    </a:p>
                  </a:txBody>
                  <a:tcPr>
                    <a:solidFill>
                      <a:srgbClr val="FFCDD2"/>
                    </a:solidFill>
                  </a:tcPr>
                </a:tc>
                <a:tc>
                  <a:txBody>
                    <a:bodyPr lIns="54864" rIns="54864" tIns="18288" bIns="18288" wrap="square" anchor="ctr"/>
                    <a:lstStyle/>
                    <a:p>
                      <a:pPr algn="l"/>
                      <a:r>
                        <a:rPr sz="919" b="0">
                          <a:solidFill>
                            <a:srgbClr val="000000"/>
                          </a:solidFill>
                          <a:latin typeface="Calibri"/>
                        </a:rPr>
                        <a:t>glare along a long, bright edge</a:t>
                      </a:r>
                    </a:p>
                  </a:txBody>
                  <a:tcPr/>
                </a:tc>
              </a:tr>
              <a:tr h="260603">
                <a:tc>
                  <a:txBody>
                    <a:bodyPr lIns="54864" rIns="54864" tIns="18288" bIns="18288" wrap="square" anchor="ctr"/>
                    <a:lstStyle/>
                    <a:p>
                      <a:pPr algn="l"/>
                      <a:r>
                        <a:rPr sz="919" b="0">
                          <a:solidFill>
                            <a:srgbClr val="000000"/>
                          </a:solidFill>
                          <a:latin typeface="Calibri"/>
                        </a:rPr>
                        <a:t>a SPRAY DOT</a:t>
                      </a:r>
                    </a:p>
                  </a:txBody>
                  <a:tcPr/>
                </a:tc>
                <a:tc>
                  <a:txBody>
                    <a:bodyPr lIns="54864" rIns="54864" tIns="18288" bIns="18288" wrap="square" anchor="ctr"/>
                    <a:lstStyle/>
                    <a:p>
                      <a:pPr algn="l"/>
                      <a:r>
                        <a:rPr sz="919" b="1">
                          <a:solidFill>
                            <a:srgbClr val="000000"/>
                          </a:solidFill>
                          <a:latin typeface="Calibri"/>
                        </a:rPr>
                        <a:t>10.1 %</a:t>
                      </a:r>
                    </a:p>
                  </a:txBody>
                  <a:tcPr>
                    <a:solidFill>
                      <a:srgbClr val="C8E6C9"/>
                    </a:solidFill>
                  </a:tcPr>
                </a:tc>
                <a:tc>
                  <a:txBody>
                    <a:bodyPr lIns="54864" rIns="54864" tIns="18288" bIns="18288" wrap="square" anchor="ctr"/>
                    <a:lstStyle/>
                    <a:p>
                      <a:pPr algn="l"/>
                      <a:r>
                        <a:rPr sz="919" b="0">
                          <a:solidFill>
                            <a:srgbClr val="000000"/>
                          </a:solidFill>
                          <a:latin typeface="Calibri"/>
                        </a:rPr>
                        <a:t>the marker's own thin rim</a:t>
                      </a:r>
                    </a:p>
                  </a:txBody>
                  <a:tcPr/>
                </a:tc>
              </a:tr>
              <a:tr h="260606">
                <a:tc>
                  <a:txBody>
                    <a:bodyPr lIns="54864" rIns="54864" tIns="18288" bIns="18288" wrap="square" anchor="ctr"/>
                    <a:lstStyle/>
                    <a:p>
                      <a:pPr algn="l"/>
                      <a:r>
                        <a:rPr sz="919" b="0">
                          <a:solidFill>
                            <a:srgbClr val="000000"/>
                          </a:solidFill>
                          <a:latin typeface="Calibri"/>
                        </a:rPr>
                        <a:t>neither</a:t>
                      </a:r>
                    </a:p>
                  </a:txBody>
                  <a:tcPr/>
                </a:tc>
                <a:tc>
                  <a:txBody>
                    <a:bodyPr lIns="54864" rIns="54864" tIns="18288" bIns="18288" wrap="square" anchor="ctr"/>
                    <a:lstStyle/>
                    <a:p>
                      <a:pPr algn="l"/>
                      <a:r>
                        <a:rPr sz="919" b="0">
                          <a:solidFill>
                            <a:srgbClr val="000000"/>
                          </a:solidFill>
                          <a:latin typeface="Calibri"/>
                        </a:rPr>
                        <a:t>9.6 %</a:t>
                      </a:r>
                    </a:p>
                  </a:txBody>
                  <a:tcPr/>
                </a:tc>
                <a:tc>
                  <a:txBody>
                    <a:bodyPr lIns="54864" rIns="54864" tIns="18288" bIns="18288" wrap="square" anchor="ctr"/>
                    <a:lstStyle/>
                    <a:p>
                      <a:pPr algn="l"/>
                      <a:r>
                        <a:rPr sz="919" b="0">
                          <a:solidFill>
                            <a:srgbClr val="000000"/>
                          </a:solidFill>
                          <a:latin typeface="Calibri"/>
                        </a:rPr>
                        <a:t>glints on the print, sensor noise</a:t>
                      </a:r>
                    </a:p>
                  </a:txBody>
                  <a:tcPr/>
                </a:tc>
              </a:tr>
            </a:tbl>
          </a:graphicData>
        </a:graphic>
      </p:graphicFrame>
      <p:sp>
        <p:nvSpPr>
          <p:cNvPr id="8" name="TextBox 7"/>
          <p:cNvSpPr txBox="1"/>
          <p:nvPr/>
        </p:nvSpPr>
        <p:spPr>
          <a:xfrm>
            <a:off x="365760" y="5989320"/>
            <a:ext cx="5532120" cy="731520"/>
          </a:xfrm>
          <a:prstGeom prst="rect">
            <a:avLst/>
          </a:prstGeom>
          <a:noFill/>
        </p:spPr>
        <p:txBody>
          <a:bodyPr wrap="square" lIns="45720" rIns="45720" tIns="18288" bIns="18288" anchor="t">
            <a:spAutoFit/>
          </a:bodyPr>
          <a:lstStyle/>
          <a:p>
            <a:pPr algn="l"/>
            <a:r>
              <a:rPr sz="960" b="0" i="1">
                <a:solidFill>
                  <a:srgbClr val="707070"/>
                </a:solidFill>
                <a:latin typeface="Calibri"/>
              </a:rPr>
              <a:t>The markers contribute a tenth of it. If the valley looks mushy, that is the GRIPS being mushy — and the grips are exactly what the blob detector has to reject.</a:t>
            </a:r>
          </a:p>
        </p:txBody>
      </p:sp>
      <p:sp>
        <p:nvSpPr>
          <p:cNvPr id="9" name="TextBox 8"/>
          <p:cNvSpPr txBox="1"/>
          <p:nvPr/>
        </p:nvSpPr>
        <p:spPr>
          <a:xfrm>
            <a:off x="6172200" y="457200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grips own it — two factors, both measured</a:t>
            </a:r>
          </a:p>
        </p:txBody>
      </p:sp>
      <p:sp>
        <p:nvSpPr>
          <p:cNvPr id="10" name="TextBox 9"/>
          <p:cNvSpPr txBox="1"/>
          <p:nvPr/>
        </p:nvSpPr>
        <p:spPr>
          <a:xfrm>
            <a:off x="6172200" y="4919472"/>
            <a:ext cx="5669280" cy="1737360"/>
          </a:xfrm>
          <a:prstGeom prst="rect">
            <a:avLst/>
          </a:prstGeom>
          <a:noFill/>
        </p:spPr>
        <p:txBody>
          <a:bodyPr wrap="square" lIns="45720" rIns="45720" tIns="18288" bIns="18288" anchor="t">
            <a:spAutoFit/>
          </a:bodyPr>
          <a:lstStyle/>
          <a:p>
            <a:pPr algn="l"/>
            <a:r>
              <a:rPr sz="940" b="0" i="0">
                <a:solidFill>
                  <a:srgbClr val="000000"/>
                </a:solidFill>
                <a:latin typeface="Calibri"/>
              </a:rPr>
              <a:t>•  MORE EDGE. The grips have 2,370 px of outline against the two dots' 1,053 — 2.25×. Four big shapes cut by the frame beat two circles 125 px across.
•  A SOFTER EDGE. Out from a spray dot the grey is back under 100 within 2 px; out from a grip it takes 6 — 3.00×. Matte paint on matte plastic gives a crisp step; a bright specular face throws a skirt of glare.
•  Together 6.8×, against the 8.0× observed. The two factors are the bulk of it; the residual is glare reaching past where the width metric stops counting — not the same number, and not claimed as one.</a:t>
            </a:r>
          </a:p>
        </p:txBody>
      </p:sp>
      <p:sp>
        <p:nvSpPr>
          <p:cNvPr id="11" name="Rectangle 10"/>
          <p:cNvSpPr/>
          <p:nvPr/>
        </p:nvSpPr>
        <p:spPr>
          <a:xfrm>
            <a:off x="365760" y="6345936"/>
            <a:ext cx="11475720" cy="32918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This is the mechanism behind “six qualifying blobs, not two”: the grips are bright, large, and soft-edged, so they pass any threshold the markers pass.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OTSU ON THIS RIG — EVALUATED EVERY TIME, DEFAULTED TO NEVER</a:t>
            </a:r>
          </a:p>
        </p:txBody>
      </p:sp>
      <p:pic>
        <p:nvPicPr>
          <p:cNvPr id="5" name="Picture 4" descr="otsu_frame.png"/>
          <p:cNvPicPr>
            <a:picLocks noChangeAspect="1"/>
          </p:cNvPicPr>
          <p:nvPr/>
        </p:nvPicPr>
        <p:blipFill>
          <a:blip r:embed="rId2"/>
          <a:stretch>
            <a:fillRect/>
          </a:stretch>
        </p:blipFill>
        <p:spPr>
          <a:xfrm>
            <a:off x="320329" y="1005840"/>
            <a:ext cx="5805861" cy="3474720"/>
          </a:xfrm>
          <a:prstGeom prst="rect">
            <a:avLst/>
          </a:prstGeom>
        </p:spPr>
      </p:pic>
      <p:sp>
        <p:nvSpPr>
          <p:cNvPr id="6" name="TextBox 5"/>
          <p:cNvSpPr txBox="1"/>
          <p:nvPr/>
        </p:nvSpPr>
        <p:spPr>
          <a:xfrm>
            <a:off x="365760" y="4553712"/>
            <a:ext cx="5760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three strips show</a:t>
            </a:r>
          </a:p>
        </p:txBody>
      </p:sp>
      <p:sp>
        <p:nvSpPr>
          <p:cNvPr id="7" name="TextBox 6"/>
          <p:cNvSpPr txBox="1"/>
          <p:nvPr/>
        </p:nvSpPr>
        <p:spPr>
          <a:xfrm>
            <a:off x="365760" y="4901184"/>
            <a:ext cx="5760720" cy="1115568"/>
          </a:xfrm>
          <a:prstGeom prst="rect">
            <a:avLst/>
          </a:prstGeom>
          <a:noFill/>
        </p:spPr>
        <p:txBody>
          <a:bodyPr wrap="square" lIns="45720" rIns="45720" tIns="18288" bIns="18288" anchor="t">
            <a:spAutoFit/>
          </a:bodyPr>
          <a:lstStyle/>
          <a:p>
            <a:pPr algn="l"/>
            <a:r>
              <a:rPr sz="960" b="0" i="0">
                <a:solidFill>
                  <a:srgbClr val="000000"/>
                </a:solidFill>
                <a:latin typeface="Calibri"/>
              </a:rPr>
              <a:t>•  Both cuts find both markers on THIS specimen — the replay record is 99.8 % either way.
•  The grips are as bright as the dots and pass the same gates, so the frame yields six qualifying blobs, not two.
•  Otsu's lower cut blooms them wider, which is why the detector has to choose the pair rather than trust the count.</a:t>
            </a:r>
          </a:p>
        </p:txBody>
      </p:sp>
      <p:sp>
        <p:nvSpPr>
          <p:cNvPr id="8" name="TextBox 7"/>
          <p:cNvSpPr txBox="1"/>
          <p:nvPr/>
        </p:nvSpPr>
        <p:spPr>
          <a:xfrm>
            <a:off x="6400800" y="969264"/>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rig DOES use it</a:t>
            </a:r>
          </a:p>
        </p:txBody>
      </p:sp>
      <p:sp>
        <p:nvSpPr>
          <p:cNvPr id="9" name="TextBox 8"/>
          <p:cNvSpPr txBox="1"/>
          <p:nvPr/>
        </p:nvSpPr>
        <p:spPr>
          <a:xfrm>
            <a:off x="6400800" y="1316736"/>
            <a:ext cx="5440680" cy="1188720"/>
          </a:xfrm>
          <a:prstGeom prst="rect">
            <a:avLst/>
          </a:prstGeom>
          <a:noFill/>
        </p:spPr>
        <p:txBody>
          <a:bodyPr wrap="square" lIns="45720" rIns="45720" tIns="18288" bIns="18288" anchor="t">
            <a:spAutoFit/>
          </a:bodyPr>
          <a:lstStyle/>
          <a:p>
            <a:pPr algn="l"/>
            <a:r>
              <a:rPr sz="960" b="0" i="0">
                <a:solidFill>
                  <a:srgbClr val="000000"/>
                </a:solidFill>
                <a:latin typeface="Calibri"/>
              </a:rPr>
              <a:t>•  It is a per-frame option in DIC camera setup — “Threshold automatically (Otsu)”.
•  Auto-calibrate scores it as a NAMED candidate against every swept fixed value, so the operator is told when Otsu wins rather than it being assumed either way.</a:t>
            </a:r>
          </a:p>
        </p:txBody>
      </p:sp>
      <p:sp>
        <p:nvSpPr>
          <p:cNvPr id="10" name="TextBox 9"/>
          <p:cNvSpPr txBox="1"/>
          <p:nvPr/>
        </p:nvSpPr>
        <p:spPr>
          <a:xfrm>
            <a:off x="6400800" y="2615184"/>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is not the default for black specimens</a:t>
            </a:r>
          </a:p>
        </p:txBody>
      </p:sp>
      <p:graphicFrame>
        <p:nvGraphicFramePr>
          <p:cNvPr id="11" name="Table 10"/>
          <p:cNvGraphicFramePr>
            <a:graphicFrameLocks noGrp="1"/>
          </p:cNvGraphicFramePr>
          <p:nvPr/>
        </p:nvGraphicFramePr>
        <p:xfrm>
          <a:off x="6400800" y="2962656"/>
          <a:ext cx="5440680" cy="1033271"/>
        </p:xfrm>
        <a:graphic>
          <a:graphicData uri="http://schemas.openxmlformats.org/drawingml/2006/table">
            <a:tbl>
              <a:tblPr firstRow="1" bandRow="1">
                <a:tableStyleId>{5C22544A-7EE6-4342-B048-85BDC9FD1C3A}</a:tableStyleId>
              </a:tblPr>
              <a:tblGrid>
                <a:gridCol w="2926080"/>
                <a:gridCol w="1234440"/>
                <a:gridCol w="1280160"/>
              </a:tblGrid>
              <a:tr h="344423">
                <a:tc>
                  <a:txBody>
                    <a:bodyPr lIns="54864" rIns="54864" tIns="18288" bIns="18288" wrap="square" anchor="ctr"/>
                    <a:lstStyle/>
                    <a:p>
                      <a:pPr algn="l"/>
                      <a:r>
                        <a:rPr sz="900" b="1">
                          <a:solidFill>
                            <a:srgbClr val="FFFFFF"/>
                          </a:solidFill>
                          <a:latin typeface="Calibri"/>
                        </a:rPr>
                        <a:t>Frames holding 2/2 markers</a:t>
                      </a:r>
                    </a:p>
                  </a:txBody>
                  <a:tcPr>
                    <a:solidFill>
                      <a:srgbClr val="143D2F"/>
                    </a:solidFill>
                  </a:tcPr>
                </a:tc>
                <a:tc>
                  <a:txBody>
                    <a:bodyPr lIns="54864" rIns="54864" tIns="18288" bIns="18288" wrap="square" anchor="ctr"/>
                    <a:lstStyle/>
                    <a:p>
                      <a:pPr algn="l"/>
                      <a:r>
                        <a:rPr sz="900" b="1">
                          <a:solidFill>
                            <a:srgbClr val="FFFFFF"/>
                          </a:solidFill>
                          <a:latin typeface="Calibri"/>
                        </a:rPr>
                        <a:t>Otsu</a:t>
                      </a:r>
                    </a:p>
                  </a:txBody>
                  <a:tcPr>
                    <a:solidFill>
                      <a:srgbClr val="143D2F"/>
                    </a:solidFill>
                  </a:tcPr>
                </a:tc>
                <a:tc>
                  <a:txBody>
                    <a:bodyPr lIns="54864" rIns="54864" tIns="18288" bIns="18288" wrap="square" anchor="ctr"/>
                    <a:lstStyle/>
                    <a:p>
                      <a:pPr algn="l"/>
                      <a:r>
                        <a:rPr sz="900" b="1">
                          <a:solidFill>
                            <a:srgbClr val="FFFFFF"/>
                          </a:solidFill>
                          <a:latin typeface="Calibri"/>
                        </a:rPr>
                        <a:t>fixed 149</a:t>
                      </a:r>
                    </a:p>
                  </a:txBody>
                  <a:tcPr>
                    <a:solidFill>
                      <a:srgbClr val="143D2F"/>
                    </a:solidFill>
                  </a:tcPr>
                </a:tc>
              </a:tr>
              <a:tr h="344423">
                <a:tc>
                  <a:txBody>
                    <a:bodyPr lIns="54864" rIns="54864" tIns="18288" bIns="18288" wrap="square" anchor="ctr"/>
                    <a:lstStyle/>
                    <a:p>
                      <a:pPr algn="l"/>
                      <a:r>
                        <a:rPr sz="900" b="0">
                          <a:solidFill>
                            <a:srgbClr val="000000"/>
                          </a:solidFill>
                          <a:latin typeface="Calibri"/>
                        </a:rPr>
                        <a:t>S29 · PETG — run abandoned</a:t>
                      </a:r>
                    </a:p>
                  </a:txBody>
                  <a:tcPr/>
                </a:tc>
                <a:tc>
                  <a:txBody>
                    <a:bodyPr lIns="54864" rIns="54864" tIns="18288" bIns="18288" wrap="square" anchor="ctr"/>
                    <a:lstStyle/>
                    <a:p>
                      <a:pPr algn="l"/>
                      <a:r>
                        <a:rPr sz="900" b="1">
                          <a:solidFill>
                            <a:srgbClr val="000000"/>
                          </a:solidFill>
                          <a:latin typeface="Calibri"/>
                        </a:rPr>
                        <a:t>48.5 %</a:t>
                      </a:r>
                    </a:p>
                  </a:txBody>
                  <a:tcPr>
                    <a:solidFill>
                      <a:srgbClr val="FFCDD2"/>
                    </a:solidFill>
                  </a:tcPr>
                </a:tc>
                <a:tc>
                  <a:txBody>
                    <a:bodyPr lIns="54864" rIns="54864" tIns="18288" bIns="18288" wrap="square" anchor="ctr"/>
                    <a:lstStyle/>
                    <a:p>
                      <a:pPr algn="l"/>
                      <a:r>
                        <a:rPr sz="900" b="1">
                          <a:solidFill>
                            <a:srgbClr val="000000"/>
                          </a:solidFill>
                          <a:latin typeface="Calibri"/>
                        </a:rPr>
                        <a:t>99.5 %</a:t>
                      </a:r>
                    </a:p>
                  </a:txBody>
                  <a:tcPr>
                    <a:solidFill>
                      <a:srgbClr val="C8E6C9"/>
                    </a:solidFill>
                  </a:tcPr>
                </a:tc>
              </a:tr>
              <a:tr h="344425">
                <a:tc>
                  <a:txBody>
                    <a:bodyPr lIns="54864" rIns="54864" tIns="18288" bIns="18288" wrap="square" anchor="ctr"/>
                    <a:lstStyle/>
                    <a:p>
                      <a:pPr algn="l"/>
                      <a:r>
                        <a:rPr sz="900" b="0">
                          <a:solidFill>
                            <a:srgbClr val="000000"/>
                          </a:solidFill>
                          <a:latin typeface="Calibri"/>
                        </a:rPr>
                        <a:t>S13 · black PLA</a:t>
                      </a:r>
                    </a:p>
                  </a:txBody>
                  <a:tcPr/>
                </a:tc>
                <a:tc>
                  <a:txBody>
                    <a:bodyPr lIns="54864" rIns="54864" tIns="18288" bIns="18288" wrap="square" anchor="ctr"/>
                    <a:lstStyle/>
                    <a:p>
                      <a:pPr algn="l"/>
                      <a:r>
                        <a:rPr sz="900" b="0">
                          <a:solidFill>
                            <a:srgbClr val="000000"/>
                          </a:solidFill>
                          <a:latin typeface="Calibri"/>
                        </a:rPr>
                        <a:t>99.8 %</a:t>
                      </a:r>
                    </a:p>
                  </a:txBody>
                  <a:tcPr/>
                </a:tc>
                <a:tc>
                  <a:txBody>
                    <a:bodyPr lIns="54864" rIns="54864" tIns="18288" bIns="18288" wrap="square" anchor="ctr"/>
                    <a:lstStyle/>
                    <a:p>
                      <a:pPr algn="l"/>
                      <a:r>
                        <a:rPr sz="900" b="0">
                          <a:solidFill>
                            <a:srgbClr val="000000"/>
                          </a:solidFill>
                          <a:latin typeface="Calibri"/>
                        </a:rPr>
                        <a:t>99.8 %</a:t>
                      </a:r>
                    </a:p>
                  </a:txBody>
                  <a:tcPr/>
                </a:tc>
              </a:tr>
            </a:tbl>
          </a:graphicData>
        </a:graphic>
      </p:graphicFrame>
      <p:sp>
        <p:nvSpPr>
          <p:cNvPr id="12" name="TextBox 11"/>
          <p:cNvSpPr txBox="1"/>
          <p:nvPr/>
        </p:nvSpPr>
        <p:spPr>
          <a:xfrm>
            <a:off x="6400800" y="3913632"/>
            <a:ext cx="5440680" cy="2011680"/>
          </a:xfrm>
          <a:prstGeom prst="rect">
            <a:avLst/>
          </a:prstGeom>
          <a:noFill/>
        </p:spPr>
        <p:txBody>
          <a:bodyPr wrap="square" lIns="45720" rIns="45720" tIns="18288" bIns="18288" anchor="t">
            <a:spAutoFit/>
          </a:bodyPr>
          <a:lstStyle/>
          <a:p>
            <a:pPr algn="l"/>
            <a:r>
              <a:rPr sz="960" b="0" i="0">
                <a:solidFill>
                  <a:srgbClr val="000000"/>
                </a:solidFill>
                <a:latin typeface="Calibri"/>
              </a:rPr>
              <a:t>•  Otsu recomputes from the WHOLE picture, so it follows the SCENE, not the markers.
•  The markers are a fraction of a per cent of the pixels — the very case Otsu's own literature flags, where the within-class variance swamps the between-class variance.
•  On black PLA it lands at 131 and works. On PETG — glossier, more translucent, brighter body — the histogram shifts and it lands at 127, three grey levels BELOW that specimen's 130–160 working band. One marker fell under the cut on half the frames.
•  Nothing was wrong with the markers, the ROI or the lighting. The RULE chose a value just outside the band that works.</a:t>
            </a:r>
          </a:p>
        </p:txBody>
      </p:sp>
      <p:sp>
        <p:nvSpPr>
          <p:cNvPr id="13" name="Rectangle 12"/>
          <p:cNvSpPr/>
          <p:nvPr/>
        </p:nvSpPr>
        <p:spPr>
          <a:xfrm>
            <a:off x="365760" y="6035040"/>
            <a:ext cx="11475720" cy="32918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A fixed threshold is not better than Otsu — it is only STABLE. When the LEDs or the material change, re-run auto-calibrate: it sweeps both and applies the winner.</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Otsu's threshold measured on 120 S13 frames (documentation/scripts/otsu_data.py); the 48.5 / 99.5 / 99.8 rates are quoted from the project's replay validation over two full runs. Limitations per Otsu 1979 and its review literature.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p275.</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(p283),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p295.</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p295 and p296.</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(p296).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p295.</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SAME 80 mm GAUGE, DIFFERENT PIXEL COUNTS</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p300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THE TWO CALCULATIONS AGREE</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(p303)</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(p303);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p297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WHY THE SLOPES DIFFER</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p304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p296.</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(p303).</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(p293).</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p303, p295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Confirm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Confirm the gauge</a:t>
                      </a:r>
                    </a:p>
                  </a:txBody>
                  <a:tcPr/>
                </a:tc>
                <a:tc>
                  <a:txBody>
                    <a:bodyPr lIns="54864" rIns="54864" tIns="18288" bIns="18288" wrap="square" anchor="ctr"/>
                    <a:lstStyle/>
                    <a:p>
                      <a:pPr algn="l"/>
                      <a:r>
                        <a:rPr sz="850" b="0">
                          <a:solidFill>
                            <a:srgbClr val="000000"/>
                          </a:solidFill>
                          <a:latin typeface="Calibri"/>
                        </a:rPr>
                        <a:t>Type the real distance between the two markers into Gauge (A→B) — or, if what you actually know is the calibrated scale, type that into …or px per mm and the gauge follows.</a:t>
                      </a:r>
                    </a:p>
                  </a:txBody>
                  <a:tcPr/>
                </a:tc>
                <a:tc>
                  <a:txBody>
                    <a:bodyPr lIns="54864" rIns="54864" tIns="18288" bIns="18288" wrap="square" anchor="ctr"/>
                    <a:lstStyle/>
                    <a:p>
                      <a:pPr algn="l"/>
                      <a:r>
                        <a:rPr sz="850" b="0">
                          <a:solidFill>
                            <a:srgbClr val="000000"/>
                          </a:solidFill>
                          <a:latin typeface="Calibri"/>
                        </a:rPr>
                        <a:t>The two are the SAME NUMBER once the boxes are placed: px/mm = Px₀ ÷ gauge. Enter whichever one you measured and let the dialog do the arithmetic.</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(p302)</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A 45 mm GAUGE PULL, AS THE XT-205 RECORDED IT</a:t>
            </a:r>
          </a:p>
        </p:txBody>
      </p:sp>
      <p:pic>
        <p:nvPicPr>
          <p:cNvPr id="5" name="Picture 4" descr="mot2_strain.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fracture is read at the peak, not at the last sample</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When the specimen parts, the two halves spring back and the extensometer's marks go with them. Strain reads 5.33 % at 165.2 s and 2.81 % barely a second later — a 2.5 % collapse that is the specimen coming apart, not deforming. The last sample in the file would report that recoil as the failure strain and understate it by half, so the failure strain is taken at the MAXIMUM inside the pull and the fracture stress at that same instant.</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 as run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2286000"/>
                <a:gridCol w="3108960"/>
              </a:tblGrid>
              <a:tr h="249936">
                <a:tc>
                  <a:txBody>
                    <a:bodyPr lIns="54864" rIns="54864" tIns="18288" bIns="18288" wrap="square" anchor="ctr"/>
                    <a:lstStyle/>
                    <a:p>
                      <a:pPr algn="l"/>
                      <a:r>
                        <a:rPr sz="1000" b="1">
                          <a:solidFill>
                            <a:srgbClr val="FFFFFF"/>
                          </a:solidFill>
                          <a:latin typeface="Calibri"/>
                        </a:rPr>
                        <a:t>Condition</a:t>
                      </a:r>
                    </a:p>
                  </a:txBody>
                  <a:tcPr>
                    <a:solidFill>
                      <a:srgbClr val="143D2F"/>
                    </a:solidFill>
                  </a:tcPr>
                </a:tc>
                <a:tc>
                  <a:txBody>
                    <a:bodyPr lIns="54864" rIns="54864" tIns="18288" bIns="18288" wrap="square" anchor="ctr"/>
                    <a:lstStyle/>
                    <a:p>
                      <a:pPr algn="l"/>
                      <a:r>
                        <a:rPr sz="1000" b="1">
                          <a:solidFill>
                            <a:srgbClr val="FFFFFF"/>
                          </a:solidFill>
                          <a:latin typeface="Calibri"/>
                        </a:rPr>
                        <a:t>As recorded</a:t>
                      </a:r>
                    </a:p>
                  </a:txBody>
                  <a:tcPr>
                    <a:solidFill>
                      <a:srgbClr val="143D2F"/>
                    </a:solidFill>
                  </a:tcPr>
                </a:tc>
              </a:tr>
              <a:tr h="249936">
                <a:tc>
                  <a:txBody>
                    <a:bodyPr lIns="54864" rIns="54864" tIns="18288" bIns="18288" wrap="square" anchor="ctr"/>
                    <a:lstStyle/>
                    <a:p>
                      <a:pPr algn="l"/>
                      <a:r>
                        <a:rPr sz="900" b="0">
                          <a:solidFill>
                            <a:srgbClr val="000000"/>
                          </a:solidFill>
                          <a:latin typeface="Calibri"/>
                        </a:rPr>
                        <a:t>crosshead speed</a:t>
                      </a:r>
                    </a:p>
                  </a:txBody>
                  <a:tcPr/>
                </a:tc>
                <a:tc>
                  <a:txBody>
                    <a:bodyPr lIns="54864" rIns="54864" tIns="18288" bIns="18288" wrap="square" anchor="ctr"/>
                    <a:lstStyle/>
                    <a:p>
                      <a:pPr algn="l"/>
                      <a:r>
                        <a:rPr sz="900" b="0">
                          <a:solidFill>
                            <a:srgbClr val="000000"/>
                          </a:solidFill>
                          <a:latin typeface="Calibri"/>
                        </a:rPr>
                        <a:t>2 mm/min = 0.0333 mm/s</a:t>
                      </a:r>
                    </a:p>
                  </a:txBody>
                  <a:tcPr/>
                </a:tc>
              </a:tr>
              <a:tr h="24993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 — reached at t = 8.85 s, inside the record</a:t>
                      </a:r>
                    </a:p>
                  </a:txBody>
                  <a:tcPr/>
                </a:tc>
              </a:tr>
              <a:tr h="249936">
                <a:tc>
                  <a:txBody>
                    <a:bodyPr lIns="54864" rIns="54864" tIns="18288" bIns="18288" wrap="square" anchor="ctr"/>
                    <a:lstStyle/>
                    <a:p>
                      <a:pPr algn="l"/>
                      <a:r>
                        <a:rPr sz="900" b="0">
                          <a:solidFill>
                            <a:srgbClr val="000000"/>
                          </a:solidFill>
                          <a:latin typeface="Calibri"/>
                        </a:rPr>
                        <a:t>gauge, as their software reports it</a:t>
                      </a:r>
                    </a:p>
                  </a:txBody>
                  <a:tcPr/>
                </a:tc>
                <a:tc>
                  <a:txBody>
                    <a:bodyPr lIns="54864" rIns="54864" tIns="18288" bIns="18288" wrap="square" anchor="ctr"/>
                    <a:lstStyle/>
                    <a:p>
                      <a:pPr algn="l"/>
                      <a:r>
                        <a:rPr sz="900" b="0">
                          <a:solidFill>
                            <a:srgbClr val="000000"/>
                          </a:solidFill>
                          <a:latin typeface="Calibri"/>
                        </a:rPr>
                        <a:t>45.0034 mm</a:t>
                      </a:r>
                    </a:p>
                  </a:txBody>
                  <a:tcPr/>
                </a:tc>
              </a:tr>
              <a:tr h="249936">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19.86 Hz — 3300 load rows, 3257 strain rows</a:t>
                      </a:r>
                    </a:p>
                  </a:txBody>
                  <a:tcPr/>
                </a:tc>
              </a:tr>
              <a:tr h="249936">
                <a:tc>
                  <a:txBody>
                    <a:bodyPr lIns="54864" rIns="54864" tIns="18288" bIns="18288" wrap="square" anchor="ctr"/>
                    <a:lstStyle/>
                    <a:p>
                      <a:pPr algn="l"/>
                      <a:r>
                        <a:rPr sz="900" b="0">
                          <a:solidFill>
                            <a:srgbClr val="000000"/>
                          </a:solidFill>
                          <a:latin typeface="Calibri"/>
                        </a:rPr>
                        <a:t>duration to fracture</a:t>
                      </a:r>
                    </a:p>
                  </a:txBody>
                  <a:tcPr/>
                </a:tc>
                <a:tc>
                  <a:txBody>
                    <a:bodyPr lIns="54864" rIns="54864" tIns="18288" bIns="18288" wrap="square" anchor="ctr"/>
                    <a:lstStyle/>
                    <a:p>
                      <a:pPr algn="l"/>
                      <a:r>
                        <a:rPr sz="900" b="0">
                          <a:solidFill>
                            <a:srgbClr val="000000"/>
                          </a:solidFill>
                          <a:latin typeface="Calibri"/>
                        </a:rPr>
                        <a:t>166.1 s</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files, one clock — and no column headers</a:t>
            </a:r>
          </a:p>
        </p:txBody>
      </p:sp>
      <p:sp>
        <p:nvSpPr>
          <p:cNvPr id="11" name="TextBox 10"/>
          <p:cNvSpPr txBox="1"/>
          <p:nvPr/>
        </p:nvSpPr>
        <p:spPr>
          <a:xfrm>
            <a:off x="6446520" y="3328416"/>
            <a:ext cx="5394960" cy="1097280"/>
          </a:xfrm>
          <a:prstGeom prst="rect">
            <a:avLst/>
          </a:prstGeom>
          <a:noFill/>
        </p:spPr>
        <p:txBody>
          <a:bodyPr wrap="square" lIns="45720" rIns="45720" tIns="18288" bIns="18288" anchor="t">
            <a:spAutoFit/>
          </a:bodyPr>
          <a:lstStyle/>
          <a:p>
            <a:pPr algn="l"/>
            <a:r>
              <a:rPr sz="950" b="0" i="0">
                <a:solidFill>
                  <a:srgbClr val="000000"/>
                </a:solidFill>
                <a:latin typeface="Calibri"/>
              </a:rPr>
              <a:t>The strain lives in a CSV and the load in a .daq that names none of its 52 columns. Column 4 is identified by SHAPE: it is the only channel that climbs from zero to 3.57 kN, holds, and collapses in one sample — and 3.57 kN on 80 mm² is 44.6 MPa, where PLA belongs. No other column is even the right order of magnitude.</a:t>
            </a:r>
          </a:p>
        </p:txBody>
      </p:sp>
      <p:sp>
        <p:nvSpPr>
          <p:cNvPr id="12" name="TextBox 11"/>
          <p:cNvSpPr txBox="1"/>
          <p:nvPr/>
        </p:nvSpPr>
        <p:spPr>
          <a:xfrm>
            <a:off x="6446520" y="44988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A trap in the CSV that does not announce itself</a:t>
            </a:r>
          </a:p>
        </p:txBody>
      </p:sp>
      <p:sp>
        <p:nvSpPr>
          <p:cNvPr id="13" name="TextBox 12"/>
          <p:cNvSpPr txBox="1"/>
          <p:nvPr/>
        </p:nvSpPr>
        <p:spPr>
          <a:xfrm>
            <a:off x="6446520" y="4846320"/>
            <a:ext cx="5394960" cy="1069848"/>
          </a:xfrm>
          <a:prstGeom prst="rect">
            <a:avLst/>
          </a:prstGeom>
          <a:noFill/>
        </p:spPr>
        <p:txBody>
          <a:bodyPr wrap="square" lIns="45720" rIns="45720" tIns="18288" bIns="18288" anchor="t">
            <a:spAutoFit/>
          </a:bodyPr>
          <a:lstStyle/>
          <a:p>
            <a:pPr algn="l"/>
            <a:r>
              <a:rPr sz="950" b="0" i="0">
                <a:solidFill>
                  <a:srgbClr val="000000"/>
                </a:solidFill>
                <a:latin typeface="Calibri"/>
              </a:rPr>
              <a:t>Before the marks are found the instrument writes "Invalid" across a WHOLE row. Reading the time and strain columns independently leaves 3351 times against 3308 strains — arrays that still zip, still plot, and are wrong by 43 samples of lag. Rows are kept or dropped whole.</a:t>
            </a:r>
          </a:p>
        </p:txBody>
      </p:sp>
      <p:sp>
        <p:nvSpPr>
          <p:cNvPr id="14" name="Rectangle 13"/>
          <p:cNvSpPr/>
          <p:nvPr/>
        </p:nvSpPr>
        <p:spPr>
          <a:xfrm>
            <a:off x="365760" y="598932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Everything above is the MOT XT-205's own instrument, maths and machine — no part of the PPD-UTM pipeline touches it. That is what makes it usable as an independent check.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2\Videoextesometer MOT\strain-sample3.csv + sample3.daq. Parsed by documentation/scripts/mot2_data.py; nothing is retyped.</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STRESS–STRAIN, AND WHAT THE ZERO COSTS</a:t>
            </a:r>
          </a:p>
        </p:txBody>
      </p:sp>
      <p:pic>
        <p:nvPicPr>
          <p:cNvPr id="5" name="Picture 4" descr="mot2_stress.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pulls a third as fast — and that is not a defect</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MOT pulled at 2 mm/min; the PPD-UTM pulls at 6.0 — 3× faster. PLA is rate-sensitive and a slower pull gives a LOWER strength, so their 44.62 MPa sitting below our 47.09 / 48.34 MPa is the direction the physics predicts. It is carried into every comparison rather than averaged away, because it is the one condition the two machines did not share.</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landmarks, on both ways of zeroing the strain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1888236"/>
                <a:gridCol w="1753362"/>
                <a:gridCol w="1753362"/>
              </a:tblGrid>
              <a:tr h="299923">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as recorded
(zero at 0 N)</a:t>
                      </a:r>
                    </a:p>
                  </a:txBody>
                  <a:tcPr>
                    <a:solidFill>
                      <a:srgbClr val="143D2F"/>
                    </a:solidFill>
                  </a:tcPr>
                </a:tc>
                <a:tc>
                  <a:txBody>
                    <a:bodyPr lIns="54864" rIns="54864" tIns="18288" bIns="18288" wrap="square" anchor="ctr"/>
                    <a:lstStyle/>
                    <a:p>
                      <a:pPr algn="l"/>
                      <a:r>
                        <a:rPr sz="950" b="1">
                          <a:solidFill>
                            <a:srgbClr val="FFFFFF"/>
                          </a:solidFill>
                          <a:latin typeface="Calibri"/>
                        </a:rPr>
                        <a:t>re-zeroed at 300 N
(our convention)</a:t>
                      </a:r>
                    </a:p>
                  </a:txBody>
                  <a:tcPr>
                    <a:solidFill>
                      <a:srgbClr val="143D2F"/>
                    </a:solidFill>
                  </a:tcPr>
                </a:tc>
              </a:tr>
              <a:tr h="299923">
                <a:tc>
                  <a:txBody>
                    <a:bodyPr lIns="54864" rIns="54864" tIns="18288" bIns="18288" wrap="square" anchor="ctr"/>
                    <a:lstStyle/>
                    <a:p>
                      <a:pPr algn="l"/>
                      <a:r>
                        <a:rPr sz="900" b="0">
                          <a:solidFill>
                            <a:srgbClr val="000000"/>
                          </a:solidFill>
                          <a:latin typeface="Calibri"/>
                        </a:rPr>
                        <a:t>E, 0.05–0.40 % window</a:t>
                      </a:r>
                    </a:p>
                  </a:txBody>
                  <a:tcPr/>
                </a:tc>
                <a:tc>
                  <a:txBody>
                    <a:bodyPr lIns="54864" rIns="54864" tIns="18288" bIns="18288" wrap="square" anchor="ctr"/>
                    <a:lstStyle/>
                    <a:p>
                      <a:pPr algn="l"/>
                      <a:r>
                        <a:rPr sz="900" b="0">
                          <a:solidFill>
                            <a:srgbClr val="000000"/>
                          </a:solidFill>
                          <a:latin typeface="Calibri"/>
                        </a:rPr>
                        <a:t>3.277 GPa   (R² 0.9974)</a:t>
                      </a:r>
                    </a:p>
                  </a:txBody>
                  <a:tcPr/>
                </a:tc>
                <a:tc>
                  <a:txBody>
                    <a:bodyPr lIns="54864" rIns="54864" tIns="18288" bIns="18288" wrap="square" anchor="ctr"/>
                    <a:lstStyle/>
                    <a:p>
                      <a:pPr algn="l"/>
                      <a:r>
                        <a:rPr sz="900" b="0">
                          <a:solidFill>
                            <a:srgbClr val="000000"/>
                          </a:solidFill>
                          <a:latin typeface="Calibri"/>
                        </a:rPr>
                        <a:t>3.210 GPa   (R² 0.9982)</a:t>
                      </a:r>
                    </a:p>
                  </a:txBody>
                  <a:tcPr/>
                </a:tc>
              </a:tr>
              <a:tr h="299923">
                <a:tc>
                  <a:txBody>
                    <a:bodyPr lIns="54864" rIns="54864" tIns="18288" bIns="18288" wrap="square" anchor="ctr"/>
                    <a:lstStyle/>
                    <a:p>
                      <a:pPr algn="l"/>
                      <a:r>
                        <a:rPr sz="900" b="0">
                          <a:solidFill>
                            <a:srgbClr val="000000"/>
                          </a:solidFill>
                          <a:latin typeface="Calibri"/>
                        </a:rPr>
                        <a:t>σ_y, 0.2 % offset</a:t>
                      </a:r>
                    </a:p>
                  </a:txBody>
                  <a:tcPr/>
                </a:tc>
                <a:tc>
                  <a:txBody>
                    <a:bodyPr lIns="54864" rIns="54864" tIns="18288" bIns="18288" wrap="square" anchor="ctr"/>
                    <a:lstStyle/>
                    <a:p>
                      <a:pPr algn="l"/>
                      <a:r>
                        <a:rPr sz="900" b="0">
                          <a:solidFill>
                            <a:srgbClr val="000000"/>
                          </a:solidFill>
                          <a:latin typeface="Calibri"/>
                        </a:rPr>
                        <a:t>38.86 MPa at 1.38 %</a:t>
                      </a:r>
                    </a:p>
                  </a:txBody>
                  <a:tcPr/>
                </a:tc>
                <a:tc>
                  <a:txBody>
                    <a:bodyPr lIns="54864" rIns="54864" tIns="18288" bIns="18288" wrap="square" anchor="ctr"/>
                    <a:lstStyle/>
                    <a:p>
                      <a:pPr algn="l"/>
                      <a:r>
                        <a:rPr sz="900" b="0">
                          <a:solidFill>
                            <a:srgbClr val="000000"/>
                          </a:solidFill>
                          <a:latin typeface="Calibri"/>
                        </a:rPr>
                        <a:t>39.45 MPa at 1.31 %</a:t>
                      </a:r>
                    </a:p>
                  </a:txBody>
                  <a:tcPr/>
                </a:tc>
              </a:tr>
              <a:tr h="299923">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44.62 MPa at 2.03 %</a:t>
                      </a:r>
                    </a:p>
                  </a:txBody>
                  <a:tcPr/>
                </a:tc>
                <a:tc>
                  <a:txBody>
                    <a:bodyPr lIns="54864" rIns="54864" tIns="18288" bIns="18288" wrap="square" anchor="ctr"/>
                    <a:lstStyle/>
                    <a:p>
                      <a:pPr algn="l"/>
                      <a:r>
                        <a:rPr sz="900" b="0">
                          <a:solidFill>
                            <a:srgbClr val="000000"/>
                          </a:solidFill>
                          <a:latin typeface="Calibri"/>
                        </a:rPr>
                        <a:t>44.62 MPa at 1.92 %</a:t>
                      </a:r>
                    </a:p>
                  </a:txBody>
                  <a:tcPr/>
                </a:tc>
              </a:tr>
              <a:tr h="299924">
                <a:tc>
                  <a:txBody>
                    <a:bodyPr lIns="54864" rIns="54864" tIns="18288" bIns="18288" wrap="square" anchor="ctr"/>
                    <a:lstStyle/>
                    <a:p>
                      <a:pPr algn="l"/>
                      <a:r>
                        <a:rPr sz="900" b="0">
                          <a:solidFill>
                            <a:srgbClr val="000000"/>
                          </a:solidFill>
                          <a:latin typeface="Calibri"/>
                        </a:rPr>
                        <a:t>fracture strain</a:t>
                      </a:r>
                    </a:p>
                  </a:txBody>
                  <a:tcPr/>
                </a:tc>
                <a:tc>
                  <a:txBody>
                    <a:bodyPr lIns="54864" rIns="54864" tIns="18288" bIns="18288" wrap="square" anchor="ctr"/>
                    <a:lstStyle/>
                    <a:p>
                      <a:pPr algn="l"/>
                      <a:r>
                        <a:rPr sz="900" b="0">
                          <a:solidFill>
                            <a:srgbClr val="000000"/>
                          </a:solidFill>
                          <a:latin typeface="Calibri"/>
                        </a:rPr>
                        <a:t>5.33 %</a:t>
                      </a:r>
                    </a:p>
                  </a:txBody>
                  <a:tcPr/>
                </a:tc>
                <a:tc>
                  <a:txBody>
                    <a:bodyPr lIns="54864" rIns="54864" tIns="18288" bIns="18288" wrap="square" anchor="ctr"/>
                    <a:lstStyle/>
                    <a:p>
                      <a:pPr algn="l"/>
                      <a:r>
                        <a:rPr sz="900" b="0">
                          <a:solidFill>
                            <a:srgbClr val="000000"/>
                          </a:solidFill>
                          <a:latin typeface="Calibri"/>
                        </a:rPr>
                        <a:t>5.21 %</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question we said had to be settled first</a:t>
            </a:r>
          </a:p>
        </p:txBody>
      </p:sp>
      <p:sp>
        <p:nvSpPr>
          <p:cNvPr id="11" name="TextBox 10"/>
          <p:cNvSpPr txBox="1"/>
          <p:nvPr/>
        </p:nvSpPr>
        <p:spPr>
          <a:xfrm>
            <a:off x="6446520" y="3328416"/>
            <a:ext cx="5394960" cy="1280160"/>
          </a:xfrm>
          <a:prstGeom prst="rect">
            <a:avLst/>
          </a:prstGeom>
          <a:noFill/>
        </p:spPr>
        <p:txBody>
          <a:bodyPr wrap="square" lIns="45720" rIns="45720" tIns="18288" bIns="18288" anchor="t">
            <a:spAutoFit/>
          </a:bodyPr>
          <a:lstStyle/>
          <a:p>
            <a:pPr algn="l"/>
            <a:r>
              <a:rPr sz="950" b="0" i="0">
                <a:solidFill>
                  <a:srgbClr val="000000"/>
                </a:solidFill>
                <a:latin typeface="Calibri"/>
              </a:rPr>
              <a:t>Their strain zero is at ZERO LOAD: the 300 N preload is applied inside the record, at t = 8.85 s, by which point they already read 0.116 %. Our Px₀ is frozen AFTER preload, so their curve carries a toe ours does not. The validation pack called this the largest single risk to the comparison. Re-zeroing at 300 N moves E by 2 % — there is almost no toe to remove.</a:t>
            </a:r>
          </a:p>
        </p:txBody>
      </p:sp>
      <p:sp>
        <p:nvSpPr>
          <p:cNvPr id="12" name="TextBox 11"/>
          <p:cNvSpPr txBox="1"/>
          <p:nvPr/>
        </p:nvSpPr>
        <p:spPr>
          <a:xfrm>
            <a:off x="6446520" y="468172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XT-205 modulus lands</a:t>
            </a:r>
          </a:p>
        </p:txBody>
      </p:sp>
      <p:sp>
        <p:nvSpPr>
          <p:cNvPr id="13" name="TextBox 12"/>
          <p:cNvSpPr txBox="1"/>
          <p:nvPr/>
        </p:nvSpPr>
        <p:spPr>
          <a:xfrm>
            <a:off x="6446520" y="5029200"/>
            <a:ext cx="5394960" cy="886968"/>
          </a:xfrm>
          <a:prstGeom prst="rect">
            <a:avLst/>
          </a:prstGeom>
          <a:noFill/>
        </p:spPr>
        <p:txBody>
          <a:bodyPr wrap="square" lIns="45720" rIns="45720" tIns="18288" bIns="18288" anchor="t">
            <a:spAutoFit/>
          </a:bodyPr>
          <a:lstStyle/>
          <a:p>
            <a:pPr algn="l"/>
            <a:r>
              <a:rPr sz="950" b="0" i="0">
                <a:solidFill>
                  <a:srgbClr val="000000"/>
                </a:solidFill>
                <a:latin typeface="Calibri"/>
              </a:rPr>
              <a:t>Both values fall INSIDE our own 45 mm bracket, 3.174–3.451 GPa (S33 / S34). The full like-for-like comparison — and MOT footage through the PPD-UTM pipeline, as in p300 — follows.</a:t>
            </a:r>
          </a:p>
        </p:txBody>
      </p:sp>
      <p:sp>
        <p:nvSpPr>
          <p:cNvPr id="14" name="Rectangle 13"/>
          <p:cNvSpPr/>
          <p:nvPr/>
        </p:nvSpPr>
        <p:spPr>
          <a:xfrm>
            <a:off x="365760" y="598932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strain-zero difference we most feared costs 2 % on E — well under the 9 % scatter between our own two runs. UTS and σ_y come from the load cell and never depended on it at all.</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Stress is load ÷ 80 mm² CAD nominal, the same basis as every other number in this deck. The curve is drawn to the strain peak only.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vs PPD-UTM 45 mm RUNS — MAKING IT FAIR</a:t>
            </a:r>
          </a:p>
        </p:txBody>
      </p:sp>
      <p:sp>
        <p:nvSpPr>
          <p:cNvPr id="5" name="TextBox 4"/>
          <p:cNvSpPr txBox="1"/>
          <p:nvPr/>
        </p:nvSpPr>
        <p:spPr>
          <a:xfrm>
            <a:off x="411480" y="987552"/>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MOT Test 1 could compare only strain RATE: that export carried no load and stopped at 0.40 % strain. MOT Test 2 has a load channel and runs to fracture, so every landmark is now comparable — provided three things are held fixed first.</a:t>
            </a:r>
          </a:p>
        </p:txBody>
      </p:sp>
      <p:sp>
        <p:nvSpPr>
          <p:cNvPr id="6" name="TextBox 5"/>
          <p:cNvSpPr txBox="1"/>
          <p:nvPr/>
        </p:nvSpPr>
        <p:spPr>
          <a:xfrm>
            <a:off x="411480" y="140817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things held fixed, and why each one matters</a:t>
            </a:r>
          </a:p>
        </p:txBody>
      </p:sp>
      <p:graphicFrame>
        <p:nvGraphicFramePr>
          <p:cNvPr id="7" name="Table 6"/>
          <p:cNvGraphicFramePr>
            <a:graphicFrameLocks noGrp="1"/>
          </p:cNvGraphicFramePr>
          <p:nvPr/>
        </p:nvGraphicFramePr>
        <p:xfrm>
          <a:off x="411480" y="1755648"/>
          <a:ext cx="5623560" cy="1499616"/>
        </p:xfrm>
        <a:graphic>
          <a:graphicData uri="http://schemas.openxmlformats.org/drawingml/2006/table">
            <a:tbl>
              <a:tblPr firstRow="1" bandRow="1">
                <a:tableStyleId>{5C22544A-7EE6-4342-B048-85BDC9FD1C3A}</a:tableStyleId>
              </a:tblPr>
              <a:tblGrid>
                <a:gridCol w="2651760"/>
                <a:gridCol w="2971800"/>
              </a:tblGrid>
              <a:tr h="374904">
                <a:tc>
                  <a:txBody>
                    <a:bodyPr lIns="54864" rIns="54864" tIns="18288" bIns="18288" wrap="square" anchor="ctr"/>
                    <a:lstStyle/>
                    <a:p>
                      <a:pPr algn="l"/>
                      <a:r>
                        <a:rPr sz="950" b="1">
                          <a:solidFill>
                            <a:srgbClr val="FFFFFF"/>
                          </a:solidFill>
                          <a:latin typeface="Calibri"/>
                        </a:rPr>
                        <a:t>Held fixed</a:t>
                      </a:r>
                    </a:p>
                  </a:txBody>
                  <a:tcPr>
                    <a:solidFill>
                      <a:srgbClr val="143D2F"/>
                    </a:solidFill>
                  </a:tcPr>
                </a:tc>
                <a:tc>
                  <a:txBody>
                    <a:bodyPr lIns="54864" rIns="54864" tIns="18288" bIns="18288" wrap="square" anchor="ctr"/>
                    <a:lstStyle/>
                    <a:p>
                      <a:pPr algn="l"/>
                      <a:r>
                        <a:rPr sz="950" b="1">
                          <a:solidFill>
                            <a:srgbClr val="FFFFFF"/>
                          </a:solidFill>
                          <a:latin typeface="Calibri"/>
                        </a:rPr>
                        <a:t>Left alone, it would show up as…</a:t>
                      </a:r>
                    </a:p>
                  </a:txBody>
                  <a:tcPr>
                    <a:solidFill>
                      <a:srgbClr val="143D2F"/>
                    </a:solidFill>
                  </a:tcPr>
                </a:tc>
              </a:tr>
              <a:tr h="374904">
                <a:tc>
                  <a:txBody>
                    <a:bodyPr lIns="54864" rIns="54864" tIns="18288" bIns="18288" wrap="square" anchor="ctr"/>
                    <a:lstStyle/>
                    <a:p>
                      <a:pPr algn="l"/>
                      <a:r>
                        <a:rPr sz="800" b="0">
                          <a:solidFill>
                            <a:srgbClr val="000000"/>
                          </a:solidFill>
                          <a:latin typeface="Calibri"/>
                        </a:rPr>
                        <a:t>THE STRAIN ZERO — theirs re-zeroed at
their 300 N preload, onto our convention</a:t>
                      </a:r>
                    </a:p>
                  </a:txBody>
                  <a:tcPr/>
                </a:tc>
                <a:tc>
                  <a:txBody>
                    <a:bodyPr lIns="54864" rIns="54864" tIns="18288" bIns="18288" wrap="square" anchor="ctr"/>
                    <a:lstStyle/>
                    <a:p>
                      <a:pPr algn="l"/>
                      <a:r>
                        <a:rPr sz="800" b="0">
                          <a:solidFill>
                            <a:srgbClr val="000000"/>
                          </a:solidFill>
                          <a:latin typeface="Calibri"/>
                        </a:rPr>
                        <a:t>a toe inside their strain only, moving E
and the 0.2 % offset yield with it</a:t>
                      </a:r>
                    </a:p>
                  </a:txBody>
                  <a:tcPr/>
                </a:tc>
              </a:tr>
              <a:tr h="374904">
                <a:tc>
                  <a:txBody>
                    <a:bodyPr lIns="54864" rIns="54864" tIns="18288" bIns="18288" wrap="square" anchor="ctr"/>
                    <a:lstStyle/>
                    <a:p>
                      <a:pPr algn="l"/>
                      <a:r>
                        <a:rPr sz="800" b="0">
                          <a:solidFill>
                            <a:srgbClr val="000000"/>
                          </a:solidFill>
                          <a:latin typeface="Calibri"/>
                        </a:rPr>
                        <a:t>THE MODULUS METHOD — both methods run
on both machines, by the app's own search</a:t>
                      </a:r>
                    </a:p>
                  </a:txBody>
                  <a:tcPr/>
                </a:tc>
                <a:tc>
                  <a:txBody>
                    <a:bodyPr lIns="54864" rIns="54864" tIns="18288" bIns="18288" wrap="square" anchor="ctr"/>
                    <a:lstStyle/>
                    <a:p>
                      <a:pPr algn="l"/>
                      <a:r>
                        <a:rPr sz="800" b="0">
                          <a:solidFill>
                            <a:srgbClr val="000000"/>
                          </a:solidFill>
                          <a:latin typeface="Calibri"/>
                        </a:rPr>
                        <a:t>a METHOD gap of 12 % reported as a
MACHINE gap of 6 %</a:t>
                      </a:r>
                    </a:p>
                  </a:txBody>
                  <a:tcPr/>
                </a:tc>
              </a:tr>
              <a:tr h="374904">
                <a:tc>
                  <a:txBody>
                    <a:bodyPr lIns="54864" rIns="54864" tIns="18288" bIns="18288" wrap="square" anchor="ctr"/>
                    <a:lstStyle/>
                    <a:p>
                      <a:pPr algn="l"/>
                      <a:r>
                        <a:rPr sz="800" b="0">
                          <a:solidFill>
                            <a:srgbClr val="000000"/>
                          </a:solidFill>
                          <a:latin typeface="Calibri"/>
                        </a:rPr>
                        <a:t>THE NOISE WINDOW — reported over matched
STRAIN and matched DURATION, both</a:t>
                      </a:r>
                    </a:p>
                  </a:txBody>
                  <a:tcPr/>
                </a:tc>
                <a:tc>
                  <a:txBody>
                    <a:bodyPr lIns="54864" rIns="54864" tIns="18288" bIns="18288" wrap="square" anchor="ctr"/>
                    <a:lstStyle/>
                    <a:p>
                      <a:pPr algn="l"/>
                      <a:r>
                        <a:rPr sz="800" b="0">
                          <a:solidFill>
                            <a:srgbClr val="000000"/>
                          </a:solidFill>
                          <a:latin typeface="Calibri"/>
                        </a:rPr>
                        <a:t>our floor grows with observation time, and
they dwell longer at any given strain</a:t>
                      </a:r>
                    </a:p>
                  </a:txBody>
                  <a:tcPr/>
                </a:tc>
              </a:tr>
            </a:tbl>
          </a:graphicData>
        </a:graphic>
      </p:graphicFrame>
      <p:sp>
        <p:nvSpPr>
          <p:cNvPr id="8" name="TextBox 7"/>
          <p:cNvSpPr txBox="1"/>
          <p:nvPr/>
        </p:nvSpPr>
        <p:spPr>
          <a:xfrm>
            <a:off x="6263640" y="140817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records</a:t>
            </a:r>
          </a:p>
        </p:txBody>
      </p:sp>
      <p:graphicFrame>
        <p:nvGraphicFramePr>
          <p:cNvPr id="9" name="Table 8"/>
          <p:cNvGraphicFramePr>
            <a:graphicFrameLocks noGrp="1"/>
          </p:cNvGraphicFramePr>
          <p:nvPr/>
        </p:nvGraphicFramePr>
        <p:xfrm>
          <a:off x="6263640" y="1755648"/>
          <a:ext cx="5577840" cy="1499616"/>
        </p:xfrm>
        <a:graphic>
          <a:graphicData uri="http://schemas.openxmlformats.org/drawingml/2006/table">
            <a:tbl>
              <a:tblPr firstRow="1" bandRow="1">
                <a:tableStyleId>{5C22544A-7EE6-4342-B048-85BDC9FD1C3A}</a:tableStyleId>
              </a:tblPr>
              <a:tblGrid>
                <a:gridCol w="1554480"/>
                <a:gridCol w="1417320"/>
                <a:gridCol w="1325880"/>
                <a:gridCol w="1280160"/>
              </a:tblGrid>
              <a:tr h="249936">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 · MOT</a:t>
                      </a:r>
                    </a:p>
                  </a:txBody>
                  <a:tcPr>
                    <a:solidFill>
                      <a:srgbClr val="143D2F"/>
                    </a:solidFill>
                  </a:tcPr>
                </a:tc>
                <a:tc>
                  <a:txBody>
                    <a:bodyPr lIns="54864" rIns="54864" tIns="18288" bIns="18288" wrap="square" anchor="ctr"/>
                    <a:lstStyle/>
                    <a:p>
                      <a:pPr algn="l"/>
                      <a:r>
                        <a:rPr sz="900" b="1">
                          <a:solidFill>
                            <a:srgbClr val="FFFFFF"/>
                          </a:solidFill>
                          <a:latin typeface="Calibri"/>
                        </a:rPr>
                        <a:t>S34 · PPD-UTM</a:t>
                      </a:r>
                    </a:p>
                  </a:txBody>
                  <a:tcPr>
                    <a:solidFill>
                      <a:srgbClr val="143D2F"/>
                    </a:solidFill>
                  </a:tcPr>
                </a:tc>
                <a:tc>
                  <a:txBody>
                    <a:bodyPr lIns="54864" rIns="54864" tIns="18288" bIns="18288" wrap="square" anchor="ctr"/>
                    <a:lstStyle/>
                    <a:p>
                      <a:pPr algn="l"/>
                      <a:r>
                        <a:rPr sz="900" b="1">
                          <a:solidFill>
                            <a:srgbClr val="FFFFFF"/>
                          </a:solidFill>
                          <a:latin typeface="Calibri"/>
                        </a:rPr>
                        <a:t>S33 · PPD-UTM</a:t>
                      </a:r>
                    </a:p>
                  </a:txBody>
                  <a:tcPr>
                    <a:solidFill>
                      <a:srgbClr val="143D2F"/>
                    </a:solidFill>
                  </a:tcPr>
                </a:tc>
              </a:tr>
              <a:tr h="249936">
                <a:tc>
                  <a:txBody>
                    <a:bodyPr lIns="54864" rIns="54864" tIns="18288" bIns="18288" wrap="square" anchor="ctr"/>
                    <a:lstStyle/>
                    <a:p>
                      <a:pPr algn="l"/>
                      <a:r>
                        <a:rPr sz="800" b="0">
                          <a:solidFill>
                            <a:srgbClr val="000000"/>
                          </a:solidFill>
                          <a:latin typeface="Calibri"/>
                        </a:rPr>
                        <a:t>crosshead</a:t>
                      </a:r>
                    </a:p>
                  </a:txBody>
                  <a:tcPr/>
                </a:tc>
                <a:tc>
                  <a:txBody>
                    <a:bodyPr lIns="54864" rIns="54864" tIns="18288" bIns="18288" wrap="square" anchor="ctr"/>
                    <a:lstStyle/>
                    <a:p>
                      <a:pPr algn="l"/>
                      <a:r>
                        <a:rPr sz="800" b="0">
                          <a:solidFill>
                            <a:srgbClr val="000000"/>
                          </a:solidFill>
                          <a:latin typeface="Calibri"/>
                        </a:rPr>
                        <a:t>2 mm/min</a:t>
                      </a:r>
                    </a:p>
                  </a:txBody>
                  <a:tcPr/>
                </a:tc>
                <a:tc>
                  <a:txBody>
                    <a:bodyPr lIns="54864" rIns="54864" tIns="18288" bIns="18288" wrap="square" anchor="ctr"/>
                    <a:lstStyle/>
                    <a:p>
                      <a:pPr algn="l"/>
                      <a:r>
                        <a:rPr sz="800" b="0">
                          <a:solidFill>
                            <a:srgbClr val="000000"/>
                          </a:solidFill>
                          <a:latin typeface="Calibri"/>
                        </a:rPr>
                        <a:t>6.0 mm/min</a:t>
                      </a:r>
                    </a:p>
                  </a:txBody>
                  <a:tcPr/>
                </a:tc>
                <a:tc>
                  <a:txBody>
                    <a:bodyPr lIns="54864" rIns="54864" tIns="18288" bIns="18288" wrap="square" anchor="ctr"/>
                    <a:lstStyle/>
                    <a:p>
                      <a:pPr algn="l"/>
                      <a:r>
                        <a:rPr sz="800" b="0">
                          <a:solidFill>
                            <a:srgbClr val="000000"/>
                          </a:solidFill>
                          <a:latin typeface="Calibri"/>
                        </a:rPr>
                        <a:t>6.0 mm/min</a:t>
                      </a:r>
                    </a:p>
                  </a:txBody>
                  <a:tcPr/>
                </a:tc>
              </a:tr>
              <a:tr h="249936">
                <a:tc>
                  <a:txBody>
                    <a:bodyPr lIns="54864" rIns="54864" tIns="18288" bIns="18288" wrap="square" anchor="ctr"/>
                    <a:lstStyle/>
                    <a:p>
                      <a:pPr algn="l"/>
                      <a:r>
                        <a:rPr sz="800" b="0">
                          <a:solidFill>
                            <a:srgbClr val="000000"/>
                          </a:solidFill>
                          <a:latin typeface="Calibri"/>
                        </a:rPr>
                        <a:t>preload</a:t>
                      </a:r>
                    </a:p>
                  </a:txBody>
                  <a:tcPr/>
                </a:tc>
                <a:tc>
                  <a:txBody>
                    <a:bodyPr lIns="54864" rIns="54864" tIns="18288" bIns="18288" wrap="square" anchor="ctr"/>
                    <a:lstStyle/>
                    <a:p>
                      <a:pPr algn="l"/>
                      <a:r>
                        <a:rPr sz="800" b="0">
                          <a:solidFill>
                            <a:srgbClr val="000000"/>
                          </a:solidFill>
                          <a:latin typeface="Calibri"/>
                        </a:rPr>
                        <a:t>300 N</a:t>
                      </a:r>
                    </a:p>
                  </a:txBody>
                  <a:tcPr/>
                </a:tc>
                <a:tc>
                  <a:txBody>
                    <a:bodyPr lIns="54864" rIns="54864" tIns="18288" bIns="18288" wrap="square" anchor="ctr"/>
                    <a:lstStyle/>
                    <a:p>
                      <a:pPr algn="l"/>
                      <a:r>
                        <a:rPr sz="800" b="0">
                          <a:solidFill>
                            <a:srgbClr val="000000"/>
                          </a:solidFill>
                          <a:latin typeface="Calibri"/>
                        </a:rPr>
                        <a:t>318 N</a:t>
                      </a:r>
                    </a:p>
                  </a:txBody>
                  <a:tcPr/>
                </a:tc>
                <a:tc>
                  <a:txBody>
                    <a:bodyPr lIns="54864" rIns="54864" tIns="18288" bIns="18288" wrap="square" anchor="ctr"/>
                    <a:lstStyle/>
                    <a:p>
                      <a:pPr algn="l"/>
                      <a:r>
                        <a:rPr sz="800" b="0">
                          <a:solidFill>
                            <a:srgbClr val="000000"/>
                          </a:solidFill>
                          <a:latin typeface="Calibri"/>
                        </a:rPr>
                        <a:t>310 N</a:t>
                      </a:r>
                    </a:p>
                  </a:txBody>
                  <a:tcPr/>
                </a:tc>
              </a:tr>
              <a:tr h="249936">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not yet known</a:t>
                      </a:r>
                    </a:p>
                  </a:txBody>
                  <a:tcPr/>
                </a:tc>
                <a:tc>
                  <a:txBody>
                    <a:bodyPr lIns="54864" rIns="54864" tIns="18288" bIns="18288" wrap="square" anchor="ctr"/>
                    <a:lstStyle/>
                    <a:p>
                      <a:pPr algn="l"/>
                      <a:r>
                        <a:rPr sz="800" b="0">
                          <a:solidFill>
                            <a:srgbClr val="000000"/>
                          </a:solidFill>
                          <a:latin typeface="Calibri"/>
                        </a:rPr>
                        <a:t>938 px</a:t>
                      </a:r>
                    </a:p>
                  </a:txBody>
                  <a:tcPr/>
                </a:tc>
                <a:tc>
                  <a:txBody>
                    <a:bodyPr lIns="54864" rIns="54864" tIns="18288" bIns="18288" wrap="square" anchor="ctr"/>
                    <a:lstStyle/>
                    <a:p>
                      <a:pPr algn="l"/>
                      <a:r>
                        <a:rPr sz="800" b="0">
                          <a:solidFill>
                            <a:srgbClr val="000000"/>
                          </a:solidFill>
                          <a:latin typeface="Calibri"/>
                        </a:rPr>
                        <a:t>940 px</a:t>
                      </a:r>
                    </a:p>
                  </a:txBody>
                  <a:tcPr/>
                </a:tc>
              </a:tr>
              <a:tr h="249936">
                <a:tc>
                  <a:txBody>
                    <a:bodyPr lIns="54864" rIns="54864" tIns="18288" bIns="18288" wrap="square" anchor="ctr"/>
                    <a:lstStyle/>
                    <a:p>
                      <a:pPr algn="l"/>
                      <a:r>
                        <a:rPr sz="800" b="0">
                          <a:solidFill>
                            <a:srgbClr val="000000"/>
                          </a:solidFill>
                          <a:latin typeface="Calibri"/>
                        </a:rPr>
                        <a:t>sampling</a:t>
                      </a:r>
                    </a:p>
                  </a:txBody>
                  <a:tcPr/>
                </a:tc>
                <a:tc>
                  <a:txBody>
                    <a:bodyPr lIns="54864" rIns="54864" tIns="18288" bIns="18288" wrap="square" anchor="ctr"/>
                    <a:lstStyle/>
                    <a:p>
                      <a:pPr algn="l"/>
                      <a:r>
                        <a:rPr sz="800" b="0">
                          <a:solidFill>
                            <a:srgbClr val="000000"/>
                          </a:solidFill>
                          <a:latin typeface="Calibri"/>
                        </a:rPr>
                        <a:t>19.9 Hz</a:t>
                      </a:r>
                    </a:p>
                  </a:txBody>
                  <a:tcPr/>
                </a:tc>
                <a:tc>
                  <a:txBody>
                    <a:bodyPr lIns="54864" rIns="54864" tIns="18288" bIns="18288" wrap="square" anchor="ctr"/>
                    <a:lstStyle/>
                    <a:p>
                      <a:pPr algn="l"/>
                      <a:r>
                        <a:rPr sz="800" b="0">
                          <a:solidFill>
                            <a:srgbClr val="000000"/>
                          </a:solidFill>
                          <a:latin typeface="Calibri"/>
                        </a:rPr>
                        <a:t>11.0 Hz</a:t>
                      </a:r>
                    </a:p>
                  </a:txBody>
                  <a:tcPr/>
                </a:tc>
                <a:tc>
                  <a:txBody>
                    <a:bodyPr lIns="54864" rIns="54864" tIns="18288" bIns="18288" wrap="square" anchor="ctr"/>
                    <a:lstStyle/>
                    <a:p>
                      <a:pPr algn="l"/>
                      <a:r>
                        <a:rPr sz="800" b="0">
                          <a:solidFill>
                            <a:srgbClr val="000000"/>
                          </a:solidFill>
                          <a:latin typeface="Calibri"/>
                        </a:rPr>
                        <a:t>10.0 Hz</a:t>
                      </a:r>
                    </a:p>
                  </a:txBody>
                  <a:tcPr/>
                </a:tc>
              </a:tr>
              <a:tr h="249936">
                <a:tc>
                  <a:txBody>
                    <a:bodyPr lIns="54864" rIns="54864" tIns="18288" bIns="18288" wrap="square" anchor="ctr"/>
                    <a:lstStyle/>
                    <a:p>
                      <a:pPr algn="l"/>
                      <a:r>
                        <a:rPr sz="800" b="0">
                          <a:solidFill>
                            <a:srgbClr val="000000"/>
                          </a:solidFill>
                          <a:latin typeface="Calibri"/>
                        </a:rPr>
                        <a:t>samples in the pull</a:t>
                      </a:r>
                    </a:p>
                  </a:txBody>
                  <a:tcPr/>
                </a:tc>
                <a:tc>
                  <a:txBody>
                    <a:bodyPr lIns="54864" rIns="54864" tIns="18288" bIns="18288" wrap="square" anchor="ctr"/>
                    <a:lstStyle/>
                    <a:p>
                      <a:pPr algn="l"/>
                      <a:r>
                        <a:rPr sz="800" b="0">
                          <a:solidFill>
                            <a:srgbClr val="000000"/>
                          </a:solidFill>
                          <a:latin typeface="Calibri"/>
                        </a:rPr>
                        <a:t>3124</a:t>
                      </a:r>
                    </a:p>
                  </a:txBody>
                  <a:tcPr/>
                </a:tc>
                <a:tc>
                  <a:txBody>
                    <a:bodyPr lIns="54864" rIns="54864" tIns="18288" bIns="18288" wrap="square" anchor="ctr"/>
                    <a:lstStyle/>
                    <a:p>
                      <a:pPr algn="l"/>
                      <a:r>
                        <a:rPr sz="800" b="0">
                          <a:solidFill>
                            <a:srgbClr val="000000"/>
                          </a:solidFill>
                          <a:latin typeface="Calibri"/>
                        </a:rPr>
                        <a:t>824</a:t>
                      </a:r>
                    </a:p>
                  </a:txBody>
                  <a:tcPr/>
                </a:tc>
                <a:tc>
                  <a:txBody>
                    <a:bodyPr lIns="54864" rIns="54864" tIns="18288" bIns="18288" wrap="square" anchor="ctr"/>
                    <a:lstStyle/>
                    <a:p>
                      <a:pPr algn="l"/>
                      <a:r>
                        <a:rPr sz="800" b="0">
                          <a:solidFill>
                            <a:srgbClr val="000000"/>
                          </a:solidFill>
                          <a:latin typeface="Calibri"/>
                        </a:rPr>
                        <a:t>570</a:t>
                      </a:r>
                    </a:p>
                  </a:txBody>
                  <a:tcPr/>
                </a:tc>
              </a:tr>
            </a:tbl>
          </a:graphicData>
        </a:graphic>
      </p:graphicFrame>
      <p:sp>
        <p:nvSpPr>
          <p:cNvPr id="10" name="TextBox 9"/>
          <p:cNvSpPr txBox="1"/>
          <p:nvPr/>
        </p:nvSpPr>
        <p:spPr>
          <a:xfrm>
            <a:off x="411480" y="34381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S34 is the reference — and it is not because it agrees</a:t>
            </a:r>
          </a:p>
        </p:txBody>
      </p:sp>
      <p:sp>
        <p:nvSpPr>
          <p:cNvPr id="11" name="TextBox 10"/>
          <p:cNvSpPr txBox="1"/>
          <p:nvPr/>
        </p:nvSpPr>
        <p:spPr>
          <a:xfrm>
            <a:off x="411480" y="3785615"/>
            <a:ext cx="562356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validation pack warned that NEITHER of our 45 mm runs could be trusted on failure strain, because S34 tracked 83 % of its samples and S33 only 78 %, against 100 % for the 80 mm pair. Splitting those losses by WHERE they fall changes the answer for one of them:
     •  S34 — all 202 dropouts fall AFTER its fracture sample. Inside the pull it tracks 99.9 %, so its ε_f is sound.
     •  S33 — 145 of its losses fall INSIDE the pull, leaving 79.7 % tracked. Its ε_f of 2.96 % is the artefact that warning was about.
So S34 is the reference on data quality, decided before any agreement was looked at. S33 is carried through every table anyway.</a:t>
            </a:r>
          </a:p>
        </p:txBody>
      </p:sp>
      <p:sp>
        <p:nvSpPr>
          <p:cNvPr id="12" name="TextBox 11"/>
          <p:cNvSpPr txBox="1"/>
          <p:nvPr/>
        </p:nvSpPr>
        <p:spPr>
          <a:xfrm>
            <a:off x="6263640" y="34381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NOT held fixed, and cannot be</a:t>
            </a:r>
          </a:p>
        </p:txBody>
      </p:sp>
      <p:sp>
        <p:nvSpPr>
          <p:cNvPr id="13" name="TextBox 12"/>
          <p:cNvSpPr txBox="1"/>
          <p:nvPr/>
        </p:nvSpPr>
        <p:spPr>
          <a:xfrm>
            <a:off x="6263640" y="3785615"/>
            <a:ext cx="557784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SPEED. They pulled at 2 mm/min and we pull at 6.0 — 3× faster. PLA is rate-sensitive, so this is a real difference and it has a known DIRECTION: a slower pull gives a lower strength.
THE SPECIMEN. Three different printed bars, n = 1 each. Our own two differ by 2.7 % on UTS, which is the floor on what any disagreement here can mean.
Both are carried into the reading of every number rather than averaged away.</a:t>
            </a:r>
          </a:p>
        </p:txBody>
      </p:sp>
      <p:sp>
        <p:nvSpPr>
          <p:cNvPr id="14" name="Rectangle 13"/>
          <p:cNvSpPr/>
          <p:nvPr/>
        </p:nvSpPr>
        <p:spPr>
          <a:xfrm>
            <a:off x="365760" y="5705856"/>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Held fixed: the strain zero, the modulus method, the noise window. Not fixed, and stated every time: the pull speed and the specimen.</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Built by documentation/scripts/mot2_compare.py from the raw records on both sides — the XT-205's CSV and .daq, and our own test CSVs through utm_analysis.analyze().</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YIELD AND ε_f AGREE, UTS DOES NOT</a:t>
            </a:r>
          </a:p>
        </p:txBody>
      </p:sp>
      <p:pic>
        <p:nvPicPr>
          <p:cNvPr id="5" name="Picture 4" descr="mot2cm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S34</a:t>
            </a:r>
          </a:p>
        </p:txBody>
      </p:sp>
      <p:graphicFrame>
        <p:nvGraphicFramePr>
          <p:cNvPr id="7" name="Table 6"/>
          <p:cNvGraphicFramePr>
            <a:graphicFrameLocks noGrp="1"/>
          </p:cNvGraphicFramePr>
          <p:nvPr/>
        </p:nvGraphicFramePr>
        <p:xfrm>
          <a:off x="6492240" y="1316736"/>
          <a:ext cx="5349237" cy="1920240"/>
        </p:xfrm>
        <a:graphic>
          <a:graphicData uri="http://schemas.openxmlformats.org/drawingml/2006/table">
            <a:tbl>
              <a:tblPr firstRow="1" bandRow="1">
                <a:tableStyleId>{5C22544A-7EE6-4342-B048-85BDC9FD1C3A}</a:tableStyleId>
              </a:tblPr>
              <a:tblGrid>
                <a:gridCol w="1706223"/>
                <a:gridCol w="922282"/>
                <a:gridCol w="876168"/>
                <a:gridCol w="968396"/>
                <a:gridCol w="876168"/>
              </a:tblGrid>
              <a:tr h="240030">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0">
                          <a:solidFill>
                            <a:srgbClr val="000000"/>
                          </a:solidFill>
                          <a:latin typeface="Calibri"/>
                        </a:rPr>
                        <a:t>+1.0 %</a:t>
                      </a:r>
                    </a:p>
                  </a:txBody>
                  <a:tcPr/>
                </a:tc>
                <a:tc>
                  <a:txBody>
                    <a:bodyPr lIns="54864" rIns="54864" tIns="18288" bIns="18288" wrap="square" anchor="ctr"/>
                    <a:lstStyle/>
                    <a:p>
                      <a:pPr algn="l"/>
                      <a:r>
                        <a:rPr sz="850" b="0">
                          <a:solidFill>
                            <a:srgbClr val="000000"/>
                          </a:solidFill>
                          <a:latin typeface="Calibri"/>
                        </a:rPr>
                        <a:t>39.36</a:t>
                      </a:r>
                    </a:p>
                  </a:txBody>
                  <a:tcPr/>
                </a:tc>
              </a:tr>
              <a:tr h="240030">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0">
                          <a:solidFill>
                            <a:srgbClr val="000000"/>
                          </a:solidFill>
                          <a:latin typeface="Calibri"/>
                        </a:rPr>
                        <a:t>+5.5 %</a:t>
                      </a:r>
                    </a:p>
                  </a:txBody>
                  <a:tcPr/>
                </a:tc>
                <a:tc>
                  <a:txBody>
                    <a:bodyPr lIns="54864" rIns="54864" tIns="18288" bIns="18288" wrap="square" anchor="ctr"/>
                    <a:lstStyle/>
                    <a:p>
                      <a:pPr algn="l"/>
                      <a:r>
                        <a:rPr sz="850" b="0">
                          <a:solidFill>
                            <a:srgbClr val="000000"/>
                          </a:solidFill>
                          <a:latin typeface="Calibri"/>
                        </a:rPr>
                        <a:t>1.36</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0">
                          <a:solidFill>
                            <a:srgbClr val="000000"/>
                          </a:solidFill>
                          <a:latin typeface="Calibri"/>
                        </a:rPr>
                        <a:t>-7.7 %</a:t>
                      </a:r>
                    </a:p>
                  </a:txBody>
                  <a:tcPr/>
                </a:tc>
                <a:tc>
                  <a:txBody>
                    <a:bodyPr lIns="54864" rIns="54864" tIns="18288" bIns="18288" wrap="square" anchor="ctr"/>
                    <a:lstStyle/>
                    <a:p>
                      <a:pPr algn="l"/>
                      <a:r>
                        <a:rPr sz="850" b="0">
                          <a:solidFill>
                            <a:srgbClr val="000000"/>
                          </a:solidFill>
                          <a:latin typeface="Calibri"/>
                        </a:rPr>
                        <a:t>47.09</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0">
                          <a:solidFill>
                            <a:srgbClr val="000000"/>
                          </a:solidFill>
                          <a:latin typeface="Calibri"/>
                        </a:rPr>
                        <a:t>-15.5 %</a:t>
                      </a:r>
                    </a:p>
                  </a:txBody>
                  <a:tcPr/>
                </a:tc>
                <a:tc>
                  <a:txBody>
                    <a:bodyPr lIns="54864" rIns="54864" tIns="18288" bIns="18288" wrap="square" anchor="ctr"/>
                    <a:lstStyle/>
                    <a:p>
                      <a:pPr algn="l"/>
                      <a:r>
                        <a:rPr sz="850" b="0">
                          <a:solidFill>
                            <a:srgbClr val="000000"/>
                          </a:solidFill>
                          <a:latin typeface="Calibri"/>
                        </a:rPr>
                        <a:t>2.23</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0">
                          <a:solidFill>
                            <a:srgbClr val="000000"/>
                          </a:solidFill>
                          <a:latin typeface="Calibri"/>
                        </a:rPr>
                        <a:t>-0.8 %</a:t>
                      </a:r>
                    </a:p>
                  </a:txBody>
                  <a:tcPr/>
                </a:tc>
                <a:tc>
                  <a:txBody>
                    <a:bodyPr lIns="54864" rIns="54864" tIns="18288" bIns="18288" wrap="square" anchor="ctr"/>
                    <a:lstStyle/>
                    <a:p>
                      <a:pPr algn="l"/>
                      <a:r>
                        <a:rPr sz="850" b="0">
                          <a:solidFill>
                            <a:srgbClr val="000000"/>
                          </a:solidFill>
                          <a:latin typeface="Calibri"/>
                        </a:rPr>
                        <a:t>2.96</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0">
                          <a:solidFill>
                            <a:srgbClr val="000000"/>
                          </a:solidFill>
                          <a:latin typeface="Calibri"/>
                        </a:rPr>
                        <a:t>-10.3 %</a:t>
                      </a:r>
                    </a:p>
                  </a:txBody>
                  <a:tcPr/>
                </a:tc>
                <a:tc>
                  <a:txBody>
                    <a:bodyPr lIns="54864" rIns="54864" tIns="18288" bIns="18288" wrap="square" anchor="ctr"/>
                    <a:lstStyle/>
                    <a:p>
                      <a:pPr algn="l"/>
                      <a:r>
                        <a:rPr sz="850" b="0">
                          <a:solidFill>
                            <a:srgbClr val="000000"/>
                          </a:solidFill>
                          <a:latin typeface="Calibri"/>
                        </a:rPr>
                        <a:t>44.47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0">
                          <a:solidFill>
                            <a:srgbClr val="000000"/>
                          </a:solidFill>
                          <a:latin typeface="Calibri"/>
                        </a:rPr>
                        <a:t>-7.9 %</a:t>
                      </a:r>
                    </a:p>
                  </a:txBody>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 two halves of that table differently</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THE TOP HALF IS A PASS. Yield lands within 1.0 % and failure strain within 0.8 % — and S33 puts yield at 39.36 MPa too, so three specimens on two machines agree on yield to under 1 %. Neither number was tuned to make that happen.
THE BOTTOM HALF IS NOT A FAILURE, IT IS THE SPEED. Every quantity that disagrees is one that depends on what happens AFTER yield, and all of them move the way a 3× slower pull moves them: a lower peak, reached earlier in strain, with less area under the curve. But the DIRECTION is all the speed buys: the two gauges see only 1.19× of strain rate between them, not the 3× of crosshead, so rate is worth well under 1 % here (p324). Our own 2.7 % specimen-to-specimen scatter covers more of the 7.7 % than the speed does; the rest is a batch and machine difference that n = 1 a side cannot separate.</a:t>
            </a:r>
          </a:p>
        </p:txBody>
      </p:sp>
      <p:sp>
        <p:nvSpPr>
          <p:cNvPr id="10" name="TextBox 9"/>
          <p:cNvSpPr txBox="1"/>
          <p:nvPr/>
        </p:nvSpPr>
        <p:spPr>
          <a:xfrm>
            <a:off x="320040" y="4498848"/>
            <a:ext cx="5989320" cy="1188720"/>
          </a:xfrm>
          <a:prstGeom prst="rect">
            <a:avLst/>
          </a:prstGeom>
          <a:noFill/>
        </p:spPr>
        <p:txBody>
          <a:bodyPr wrap="square" lIns="45720" rIns="45720" tIns="18288" bIns="18288" anchor="t">
            <a:spAutoFit/>
          </a:bodyPr>
          <a:lstStyle/>
          <a:p>
            <a:pPr algn="l"/>
            <a:r>
              <a:rPr sz="950" b="0" i="0">
                <a:solidFill>
                  <a:srgbClr val="000000"/>
                </a:solidFill>
                <a:latin typeface="Calibri"/>
              </a:rPr>
              <a:t>Both curves start at the preload stress, not at the origin — 3.75 MPa for them and 3.97 MPa for us. That is what the two strain zeros being put on ONE convention looks like on the page, and it is the single correction that makes the rest of this slide legitimate (p318).</a:t>
            </a:r>
          </a:p>
        </p:txBody>
      </p:sp>
      <p:sp>
        <p:nvSpPr>
          <p:cNvPr id="11" name="Rectangle 10"/>
          <p:cNvSpPr/>
          <p:nvPr/>
        </p:nvSpPr>
        <p:spPr>
          <a:xfrm>
            <a:off x="365760" y="576072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+1.0 %   ·   failure strain -0.8 %   ·   UTS -7.7 % — the two that agree are the two the pull speed does not touch.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σ_y is computed on each record's OWN steepest-straight-run modulus, so the same construction is used on both machines. On the fixed window it reads 39.45 vs 42.68 MPa — see the next slide but one.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XT205-S2 AGAINST S34, HEAD TO HEAD</a:t>
            </a:r>
          </a:p>
        </p:txBody>
      </p:sp>
      <p:pic>
        <p:nvPicPr>
          <p:cNvPr id="5" name="Picture 4" descr="mot2cmp_pair.png"/>
          <p:cNvPicPr>
            <a:picLocks noChangeAspect="1"/>
          </p:cNvPicPr>
          <p:nvPr/>
        </p:nvPicPr>
        <p:blipFill>
          <a:blip r:embed="rId2"/>
          <a:stretch>
            <a:fillRect/>
          </a:stretch>
        </p:blipFill>
        <p:spPr>
          <a:xfrm>
            <a:off x="274320" y="969264"/>
            <a:ext cx="6080760" cy="3716524"/>
          </a:xfrm>
          <a:prstGeom prst="rect">
            <a:avLst/>
          </a:prstGeom>
        </p:spPr>
      </p:pic>
      <p:sp>
        <p:nvSpPr>
          <p:cNvPr id="6" name="TextBox 5"/>
          <p:cNvSpPr txBox="1"/>
          <p:nvPr/>
        </p:nvSpPr>
        <p:spPr>
          <a:xfrm>
            <a:off x="274320" y="4773168"/>
            <a:ext cx="6080760" cy="1005840"/>
          </a:xfrm>
          <a:prstGeom prst="rect">
            <a:avLst/>
          </a:prstGeom>
          <a:noFill/>
        </p:spPr>
        <p:txBody>
          <a:bodyPr wrap="square" lIns="45720" rIns="45720" tIns="18288" bIns="18288" anchor="t">
            <a:spAutoFit/>
          </a:bodyPr>
          <a:lstStyle/>
          <a:p>
            <a:pPr algn="l"/>
            <a:r>
              <a:rPr sz="950" b="0" i="0">
                <a:solidFill>
                  <a:srgbClr val="000000"/>
                </a:solidFill>
                <a:latin typeface="Calibri"/>
              </a:rPr>
              <a:t>Two specimens, two machines, one material. UTS and fracture are called out on both curves because they are the two landmarks that behave differently: they sit 7.7 % apart on stress and 0.8 % apart on strain. The curves are indistinguishable up to about 1.5 % strain and separate only after yield.</a:t>
            </a:r>
          </a:p>
        </p:txBody>
      </p:sp>
      <p:sp>
        <p:nvSpPr>
          <p:cNvPr id="7" name="TextBox 6"/>
          <p:cNvSpPr txBox="1"/>
          <p:nvPr/>
        </p:nvSpPr>
        <p:spPr>
          <a:xfrm>
            <a:off x="6537960" y="932688"/>
            <a:ext cx="530352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with the offset graded by size</a:t>
            </a:r>
          </a:p>
        </p:txBody>
      </p:sp>
      <p:graphicFrame>
        <p:nvGraphicFramePr>
          <p:cNvPr id="8" name="Table 7"/>
          <p:cNvGraphicFramePr>
            <a:graphicFrameLocks noGrp="1"/>
          </p:cNvGraphicFramePr>
          <p:nvPr/>
        </p:nvGraphicFramePr>
        <p:xfrm>
          <a:off x="6537960" y="1280160"/>
          <a:ext cx="5303520" cy="1956816"/>
        </p:xfrm>
        <a:graphic>
          <a:graphicData uri="http://schemas.openxmlformats.org/drawingml/2006/table">
            <a:tbl>
              <a:tblPr firstRow="1" bandRow="1">
                <a:tableStyleId>{5C22544A-7EE6-4342-B048-85BDC9FD1C3A}</a:tableStyleId>
              </a:tblPr>
              <a:tblGrid>
                <a:gridCol w="1737360"/>
                <a:gridCol w="914400"/>
                <a:gridCol w="868680"/>
                <a:gridCol w="914400"/>
                <a:gridCol w="868680"/>
              </a:tblGrid>
              <a:tr h="24460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4602">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1">
                          <a:solidFill>
                            <a:srgbClr val="000000"/>
                          </a:solidFill>
                          <a:latin typeface="Calibri"/>
                        </a:rPr>
                        <a:t>+1.0 %</a:t>
                      </a:r>
                    </a:p>
                  </a:txBody>
                  <a:tcPr>
                    <a:solidFill>
                      <a:srgbClr val="C8E6C9"/>
                    </a:solidFill>
                  </a:tcPr>
                </a:tc>
                <a:tc>
                  <a:txBody>
                    <a:bodyPr lIns="54864" rIns="54864" tIns="18288" bIns="18288" wrap="square" anchor="ctr"/>
                    <a:lstStyle/>
                    <a:p>
                      <a:pPr algn="l"/>
                      <a:r>
                        <a:rPr sz="850" b="0">
                          <a:solidFill>
                            <a:srgbClr val="000000"/>
                          </a:solidFill>
                          <a:latin typeface="Calibri"/>
                        </a:rPr>
                        <a:t>39.36</a:t>
                      </a:r>
                    </a:p>
                  </a:txBody>
                  <a:tcPr/>
                </a:tc>
              </a:tr>
              <a:tr h="244602">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1">
                          <a:solidFill>
                            <a:srgbClr val="000000"/>
                          </a:solidFill>
                          <a:latin typeface="Calibri"/>
                        </a:rPr>
                        <a:t>+5.5 %</a:t>
                      </a:r>
                    </a:p>
                  </a:txBody>
                  <a:tcPr>
                    <a:solidFill>
                      <a:srgbClr val="FFF3CD"/>
                    </a:solidFill>
                  </a:tcPr>
                </a:tc>
                <a:tc>
                  <a:txBody>
                    <a:bodyPr lIns="54864" rIns="54864" tIns="18288" bIns="18288" wrap="square" anchor="ctr"/>
                    <a:lstStyle/>
                    <a:p>
                      <a:pPr algn="l"/>
                      <a:r>
                        <a:rPr sz="850" b="0">
                          <a:solidFill>
                            <a:srgbClr val="000000"/>
                          </a:solidFill>
                          <a:latin typeface="Calibri"/>
                        </a:rPr>
                        <a:t>1.36</a:t>
                      </a:r>
                    </a:p>
                  </a:txBody>
                  <a:tcPr/>
                </a:tc>
              </a:tr>
              <a:tr h="244602">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1">
                          <a:solidFill>
                            <a:srgbClr val="000000"/>
                          </a:solidFill>
                          <a:latin typeface="Calibri"/>
                        </a:rPr>
                        <a:t>-7.7 %</a:t>
                      </a:r>
                    </a:p>
                  </a:txBody>
                  <a:tcPr>
                    <a:solidFill>
                      <a:srgbClr val="FFF3CD"/>
                    </a:solidFill>
                  </a:tcPr>
                </a:tc>
                <a:tc>
                  <a:txBody>
                    <a:bodyPr lIns="54864" rIns="54864" tIns="18288" bIns="18288" wrap="square" anchor="ctr"/>
                    <a:lstStyle/>
                    <a:p>
                      <a:pPr algn="l"/>
                      <a:r>
                        <a:rPr sz="850" b="0">
                          <a:solidFill>
                            <a:srgbClr val="000000"/>
                          </a:solidFill>
                          <a:latin typeface="Calibri"/>
                        </a:rPr>
                        <a:t>47.09</a:t>
                      </a:r>
                    </a:p>
                  </a:txBody>
                  <a:tcPr/>
                </a:tc>
              </a:tr>
              <a:tr h="244602">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1">
                          <a:solidFill>
                            <a:srgbClr val="000000"/>
                          </a:solidFill>
                          <a:latin typeface="Calibri"/>
                        </a:rPr>
                        <a:t>-15.5 %</a:t>
                      </a:r>
                    </a:p>
                  </a:txBody>
                  <a:tcPr>
                    <a:solidFill>
                      <a:srgbClr val="FFCDD2"/>
                    </a:solidFill>
                  </a:tcPr>
                </a:tc>
                <a:tc>
                  <a:txBody>
                    <a:bodyPr lIns="54864" rIns="54864" tIns="18288" bIns="18288" wrap="square" anchor="ctr"/>
                    <a:lstStyle/>
                    <a:p>
                      <a:pPr algn="l"/>
                      <a:r>
                        <a:rPr sz="850" b="0">
                          <a:solidFill>
                            <a:srgbClr val="000000"/>
                          </a:solidFill>
                          <a:latin typeface="Calibri"/>
                        </a:rPr>
                        <a:t>2.23</a:t>
                      </a:r>
                    </a:p>
                  </a:txBody>
                  <a:tcPr/>
                </a:tc>
              </a:tr>
              <a:tr h="244602">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1">
                          <a:solidFill>
                            <a:srgbClr val="000000"/>
                          </a:solidFill>
                          <a:latin typeface="Calibri"/>
                        </a:rPr>
                        <a:t>-0.8 %</a:t>
                      </a:r>
                    </a:p>
                  </a:txBody>
                  <a:tcPr>
                    <a:solidFill>
                      <a:srgbClr val="C8E6C9"/>
                    </a:solidFill>
                  </a:tcPr>
                </a:tc>
                <a:tc>
                  <a:txBody>
                    <a:bodyPr lIns="54864" rIns="54864" tIns="18288" bIns="18288" wrap="square" anchor="ctr"/>
                    <a:lstStyle/>
                    <a:p>
                      <a:pPr algn="l"/>
                      <a:r>
                        <a:rPr sz="850" b="0">
                          <a:solidFill>
                            <a:srgbClr val="000000"/>
                          </a:solidFill>
                          <a:latin typeface="Calibri"/>
                        </a:rPr>
                        <a:t>2.96</a:t>
                      </a:r>
                    </a:p>
                  </a:txBody>
                  <a:tcPr/>
                </a:tc>
              </a:tr>
              <a:tr h="244602">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1">
                          <a:solidFill>
                            <a:srgbClr val="000000"/>
                          </a:solidFill>
                          <a:latin typeface="Calibri"/>
                        </a:rPr>
                        <a:t>-10.3 %</a:t>
                      </a:r>
                    </a:p>
                  </a:txBody>
                  <a:tcPr>
                    <a:solidFill>
                      <a:srgbClr val="FFCDD2"/>
                    </a:solidFill>
                  </a:tcPr>
                </a:tc>
                <a:tc>
                  <a:txBody>
                    <a:bodyPr lIns="54864" rIns="54864" tIns="18288" bIns="18288" wrap="square" anchor="ctr"/>
                    <a:lstStyle/>
                    <a:p>
                      <a:pPr algn="l"/>
                      <a:r>
                        <a:rPr sz="850" b="0">
                          <a:solidFill>
                            <a:srgbClr val="000000"/>
                          </a:solidFill>
                          <a:latin typeface="Calibri"/>
                        </a:rPr>
                        <a:t>44.47</a:t>
                      </a:r>
                    </a:p>
                  </a:txBody>
                  <a:tcPr/>
                </a:tc>
              </a:tr>
              <a:tr h="244602">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1">
                          <a:solidFill>
                            <a:srgbClr val="000000"/>
                          </a:solidFill>
                          <a:latin typeface="Calibri"/>
                        </a:rPr>
                        <a:t>-7.9 %</a:t>
                      </a:r>
                    </a:p>
                  </a:txBody>
                  <a:tcPr>
                    <a:solidFill>
                      <a:srgbClr val="FFF3CD"/>
                    </a:solidFill>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9" name="TextBox 8"/>
          <p:cNvSpPr txBox="1"/>
          <p:nvPr/>
        </p:nvSpPr>
        <p:spPr>
          <a:xfrm>
            <a:off x="6537960" y="3346704"/>
            <a:ext cx="53035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colour</a:t>
            </a:r>
          </a:p>
        </p:txBody>
      </p:sp>
      <p:graphicFrame>
        <p:nvGraphicFramePr>
          <p:cNvPr id="10" name="Table 9"/>
          <p:cNvGraphicFramePr>
            <a:graphicFrameLocks noGrp="1"/>
          </p:cNvGraphicFramePr>
          <p:nvPr/>
        </p:nvGraphicFramePr>
        <p:xfrm>
          <a:off x="6537960" y="3694176"/>
          <a:ext cx="5303518" cy="1271016"/>
        </p:xfrm>
        <a:graphic>
          <a:graphicData uri="http://schemas.openxmlformats.org/drawingml/2006/table">
            <a:tbl>
              <a:tblPr firstRow="1" bandRow="1">
                <a:tableStyleId>{5C22544A-7EE6-4342-B048-85BDC9FD1C3A}</a:tableStyleId>
              </a:tblPr>
              <a:tblGrid>
                <a:gridCol w="1051559"/>
                <a:gridCol w="4251959"/>
              </a:tblGrid>
              <a:tr h="254203">
                <a:tc>
                  <a:txBody>
                    <a:bodyPr lIns="54864" rIns="54864" tIns="18288" bIns="18288" wrap="square" anchor="ctr"/>
                    <a:lstStyle/>
                    <a:p>
                      <a:pPr algn="l"/>
                      <a:r>
                        <a:rPr sz="900" b="1">
                          <a:solidFill>
                            <a:srgbClr val="FFFFFF"/>
                          </a:solidFill>
                          <a:latin typeface="Calibri"/>
                        </a:rPr>
                        <a:t>Band</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254203">
                <a:tc>
                  <a:txBody>
                    <a:bodyPr lIns="54864" rIns="54864" tIns="18288" bIns="18288" wrap="square" anchor="ctr"/>
                    <a:lstStyle/>
                    <a:p>
                      <a:pPr algn="l"/>
                      <a:r>
                        <a:rPr sz="850" b="1">
                          <a:solidFill>
                            <a:srgbClr val="000000"/>
                          </a:solidFill>
                          <a:latin typeface="Calibri"/>
                        </a:rPr>
                        <a:t>≤ 1 %</a:t>
                      </a:r>
                    </a:p>
                  </a:txBody>
                  <a:tcPr>
                    <a:solidFill>
                      <a:srgbClr val="C8E6C9"/>
                    </a:solidFill>
                  </a:tcPr>
                </a:tc>
                <a:tc>
                  <a:txBody>
                    <a:bodyPr lIns="54864" rIns="54864" tIns="18288" bIns="18288" wrap="square" anchor="ctr"/>
                    <a:lstStyle/>
                    <a:p>
                      <a:pPr algn="l"/>
                      <a:r>
                        <a:rPr sz="850" b="0">
                          <a:solidFill>
                            <a:srgbClr val="000000"/>
                          </a:solidFill>
                          <a:latin typeface="Calibri"/>
                        </a:rPr>
                        <a:t>instrument-level agreement</a:t>
                      </a:r>
                    </a:p>
                  </a:txBody>
                  <a:tcPr/>
                </a:tc>
              </a:tr>
              <a:tr h="254203">
                <a:tc>
                  <a:txBody>
                    <a:bodyPr lIns="54864" rIns="54864" tIns="18288" bIns="18288" wrap="square" anchor="ctr"/>
                    <a:lstStyle/>
                    <a:p>
                      <a:pPr algn="l"/>
                      <a:r>
                        <a:rPr sz="850" b="1">
                          <a:solidFill>
                            <a:srgbClr val="000000"/>
                          </a:solidFill>
                          <a:latin typeface="Calibri"/>
                        </a:rPr>
                        <a:t>1 – 3 %</a:t>
                      </a:r>
                    </a:p>
                  </a:txBody>
                  <a:tcPr>
                    <a:solidFill>
                      <a:srgbClr val="E6EFC4"/>
                    </a:solidFill>
                  </a:tcPr>
                </a:tc>
                <a:tc>
                  <a:txBody>
                    <a:bodyPr lIns="54864" rIns="54864" tIns="18288" bIns="18288" wrap="square" anchor="ctr"/>
                    <a:lstStyle/>
                    <a:p>
                      <a:pPr algn="l"/>
                      <a:r>
                        <a:rPr sz="850" b="0">
                          <a:solidFill>
                            <a:srgbClr val="000000"/>
                          </a:solidFill>
                          <a:latin typeface="Calibri"/>
                        </a:rPr>
                        <a:t>inside our own S33/S34 specimen scatter</a:t>
                      </a:r>
                    </a:p>
                  </a:txBody>
                  <a:tcPr/>
                </a:tc>
              </a:tr>
              <a:tr h="254203">
                <a:tc>
                  <a:txBody>
                    <a:bodyPr lIns="54864" rIns="54864" tIns="18288" bIns="18288" wrap="square" anchor="ctr"/>
                    <a:lstStyle/>
                    <a:p>
                      <a:pPr algn="l"/>
                      <a:r>
                        <a:rPr sz="850" b="1">
                          <a:solidFill>
                            <a:srgbClr val="000000"/>
                          </a:solidFill>
                          <a:latin typeface="Calibri"/>
                        </a:rPr>
                        <a:t>3 – 8 %</a:t>
                      </a:r>
                    </a:p>
                  </a:txBody>
                  <a:tcPr>
                    <a:solidFill>
                      <a:srgbClr val="FFF3CD"/>
                    </a:solidFill>
                  </a:tcPr>
                </a:tc>
                <a:tc>
                  <a:txBody>
                    <a:bodyPr lIns="54864" rIns="54864" tIns="18288" bIns="18288" wrap="square" anchor="ctr"/>
                    <a:lstStyle/>
                    <a:p>
                      <a:pPr algn="l"/>
                      <a:r>
                        <a:rPr sz="850" b="0">
                          <a:solidFill>
                            <a:srgbClr val="000000"/>
                          </a:solidFill>
                          <a:latin typeface="Calibri"/>
                        </a:rPr>
                        <a:t>larger than that scatter — needs a reason</a:t>
                      </a:r>
                    </a:p>
                  </a:txBody>
                  <a:tcPr/>
                </a:tc>
              </a:tr>
              <a:tr h="254204">
                <a:tc>
                  <a:txBody>
                    <a:bodyPr lIns="54864" rIns="54864" tIns="18288" bIns="18288" wrap="square" anchor="ctr"/>
                    <a:lstStyle/>
                    <a:p>
                      <a:pPr algn="l"/>
                      <a:r>
                        <a:rPr sz="850" b="1">
                          <a:solidFill>
                            <a:srgbClr val="000000"/>
                          </a:solidFill>
                          <a:latin typeface="Calibri"/>
                        </a:rPr>
                        <a:t>&gt; 8 %</a:t>
                      </a:r>
                    </a:p>
                  </a:txBody>
                  <a:tcPr>
                    <a:solidFill>
                      <a:srgbClr val="FFCDD2"/>
                    </a:solidFill>
                  </a:tcPr>
                </a:tc>
                <a:tc>
                  <a:txBody>
                    <a:bodyPr lIns="54864" rIns="54864" tIns="18288" bIns="18288" wrap="square" anchor="ctr"/>
                    <a:lstStyle/>
                    <a:p>
                      <a:pPr algn="l"/>
                      <a:r>
                        <a:rPr sz="850" b="0">
                          <a:solidFill>
                            <a:srgbClr val="000000"/>
                          </a:solidFill>
                          <a:latin typeface="Calibri"/>
                        </a:rPr>
                        <a:t>the largest gaps in this comparison</a:t>
                      </a:r>
                    </a:p>
                  </a:txBody>
                  <a:tcPr/>
                </a:tc>
              </a:tr>
            </a:tbl>
          </a:graphicData>
        </a:graphic>
      </p:graphicFrame>
      <p:sp>
        <p:nvSpPr>
          <p:cNvPr id="11" name="TextBox 10"/>
          <p:cNvSpPr txBox="1"/>
          <p:nvPr/>
        </p:nvSpPr>
        <p:spPr>
          <a:xfrm>
            <a:off x="6537960" y="5047488"/>
            <a:ext cx="5303520" cy="731520"/>
          </a:xfrm>
          <a:prstGeom prst="rect">
            <a:avLst/>
          </a:prstGeom>
          <a:noFill/>
        </p:spPr>
        <p:txBody>
          <a:bodyPr wrap="square" lIns="45720" rIns="45720" tIns="18288" bIns="18288" anchor="t">
            <a:spAutoFit/>
          </a:bodyPr>
          <a:lstStyle/>
          <a:p>
            <a:pPr algn="l"/>
            <a:r>
              <a:rPr sz="950" b="0" i="0">
                <a:solidFill>
                  <a:srgbClr val="000000"/>
                </a:solidFill>
                <a:latin typeface="Calibri"/>
              </a:rPr>
              <a:t>Read down the offset column and the split is not random: the two GREEN rows are the ones the pull speed cannot touch, and every amber or red row is post-yield.</a:t>
            </a:r>
          </a:p>
        </p:txBody>
      </p:sp>
      <p:sp>
        <p:nvSpPr>
          <p:cNvPr id="12" name="Rectangle 11"/>
          <p:cNvSpPr/>
          <p:nvPr/>
        </p:nvSpPr>
        <p:spPr>
          <a:xfrm>
            <a:off x="365760" y="5870448"/>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and failure strain agree at instrument level; everything after yield does not. Which of those two groups a number falls into is the whole result.</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Offsets are XT205-S2 relative to S34. σ_y is on each record's own steepest-straight-run modulus, so the same construction is used on both. S33 is shown for scale and is not part of the offset.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TEST 1'S OPEN QUESTION, CLOSED</a:t>
            </a:r>
          </a:p>
        </p:txBody>
      </p:sp>
      <p:pic>
        <p:nvPicPr>
          <p:cNvPr id="5" name="Picture 4" descr="mot2cmp_strain.png"/>
          <p:cNvPicPr>
            <a:picLocks noChangeAspect="1"/>
          </p:cNvPicPr>
          <p:nvPr/>
        </p:nvPicPr>
        <p:blipFill>
          <a:blip r:embed="rId2"/>
          <a:stretch>
            <a:fillRect/>
          </a:stretch>
        </p:blipFill>
        <p:spPr>
          <a:xfrm>
            <a:off x="1776665" y="987552"/>
            <a:ext cx="8699628" cy="3035808"/>
          </a:xfrm>
          <a:prstGeom prst="rect">
            <a:avLst/>
          </a:prstGeom>
        </p:spPr>
      </p:pic>
      <p:sp>
        <p:nvSpPr>
          <p:cNvPr id="6" name="TextBox 5"/>
          <p:cNvSpPr txBox="1"/>
          <p:nvPr/>
        </p:nvSpPr>
        <p:spPr>
          <a:xfrm>
            <a:off x="41148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Test 1 was left saying</a:t>
            </a:r>
          </a:p>
        </p:txBody>
      </p:sp>
      <p:sp>
        <p:nvSpPr>
          <p:cNvPr id="7" name="TextBox 6"/>
          <p:cNvSpPr txBox="1"/>
          <p:nvPr/>
        </p:nvSpPr>
        <p:spPr>
          <a:xfrm>
            <a:off x="41148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MOT Test 1 found the XT-205 reading strain 2.21× faster than the PPD-UTM at the same commanded speed, and could not say why. The verdict then was explicit: a stiffer frame delivers a larger share of its crosshead travel to the gauge, so this is what a stiffer frame LOOKS like — "but our calibration is not contradicted, nor is it confirmed. That needs their load or crosshead-displacement channel."</a:t>
            </a:r>
          </a:p>
        </p:txBody>
      </p:sp>
      <p:sp>
        <p:nvSpPr>
          <p:cNvPr id="8" name="TextBox 7"/>
          <p:cNvSpPr txBox="1"/>
          <p:nvPr/>
        </p:nvSpPr>
        <p:spPr>
          <a:xfrm>
            <a:off x="434340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2 supplies it</a:t>
            </a:r>
          </a:p>
        </p:txBody>
      </p:sp>
      <p:sp>
        <p:nvSpPr>
          <p:cNvPr id="9" name="TextBox 8"/>
          <p:cNvSpPr txBox="1"/>
          <p:nvPr/>
        </p:nvSpPr>
        <p:spPr>
          <a:xfrm>
            <a:off x="434340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With load on both sides the share can be measured instead of hypothesised, and it is 45 % for them against 33 % for S34 and 21 % for S33. Their frame IS the stiffer one, by about the factor the rate gap needed. The hypothesis Test 1 could only state is now the measured answer, and our scale is not implicated.</a:t>
            </a:r>
          </a:p>
        </p:txBody>
      </p:sp>
      <p:sp>
        <p:nvSpPr>
          <p:cNvPr id="10" name="TextBox 9"/>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caveat on that number</a:t>
            </a:r>
          </a:p>
        </p:txBody>
      </p:sp>
      <p:sp>
        <p:nvSpPr>
          <p:cNvPr id="11" name="TextBox 10"/>
          <p:cNvSpPr txBox="1"/>
          <p:nvPr/>
        </p:nvSpPr>
        <p:spPr>
          <a:xfrm>
            <a:off x="8275320" y="4443984"/>
            <a:ext cx="3566160" cy="1481328"/>
          </a:xfrm>
          <a:prstGeom prst="rect">
            <a:avLst/>
          </a:prstGeom>
          <a:noFill/>
        </p:spPr>
        <p:txBody>
          <a:bodyPr wrap="square" lIns="45720" rIns="45720" tIns="18288" bIns="18288" anchor="t">
            <a:spAutoFit/>
          </a:bodyPr>
          <a:lstStyle/>
          <a:p>
            <a:pPr algn="l"/>
            <a:r>
              <a:rPr sz="950" b="0" i="0">
                <a:solidFill>
                  <a:srgbClr val="000000"/>
                </a:solidFill>
                <a:latin typeface="Calibri"/>
              </a:rPr>
              <a:t>Ours is measured — the rig records crosshead position. Theirs is NOMINAL, speed × time, because the .daq carries no crosshead channel. If their crosshead ever lagged its command the true share is HIGHER than 45 %, not lower, so the conclusion is safe in the direction it matters.</a:t>
            </a:r>
          </a:p>
        </p:txBody>
      </p:sp>
      <p:sp>
        <p:nvSpPr>
          <p:cNvPr id="12" name="Rectangle 11"/>
          <p:cNvSpPr/>
          <p:nvPr/>
        </p:nvSpPr>
        <p:spPr>
          <a:xfrm>
            <a:off x="365760" y="5998464"/>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Two-thirds of our crosshead travel never reaches the gauge — and on a commercial machine it is still over half. This is a property of load trains, not a defect of ours.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 = DIC gauge stretch ÷ crosshead travel, both taken from the preload instant to fracture. The rest goes into frame flex, grip take-up and the specimen's shoulders.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WHERE YOU FIT CHANGES WHAT YOU GET</a:t>
            </a:r>
          </a:p>
        </p:txBody>
      </p:sp>
      <p:pic>
        <p:nvPicPr>
          <p:cNvPr id="5" name="Picture 4" descr="mot2cmp_elastic.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two methods on all three records</a:t>
            </a:r>
          </a:p>
        </p:txBody>
      </p:sp>
      <p:graphicFrame>
        <p:nvGraphicFramePr>
          <p:cNvPr id="7" name="Table 6"/>
          <p:cNvGraphicFramePr>
            <a:graphicFrameLocks noGrp="1"/>
          </p:cNvGraphicFramePr>
          <p:nvPr/>
        </p:nvGraphicFramePr>
        <p:xfrm>
          <a:off x="411480" y="4443984"/>
          <a:ext cx="5623557" cy="1417320"/>
        </p:xfrm>
        <a:graphic>
          <a:graphicData uri="http://schemas.openxmlformats.org/drawingml/2006/table">
            <a:tbl>
              <a:tblPr firstRow="1" bandRow="1">
                <a:tableStyleId>{5C22544A-7EE6-4342-B048-85BDC9FD1C3A}</a:tableStyleId>
              </a:tblPr>
              <a:tblGrid>
                <a:gridCol w="1360538"/>
                <a:gridCol w="1224484"/>
                <a:gridCol w="1360538"/>
                <a:gridCol w="952377"/>
                <a:gridCol w="725620"/>
              </a:tblGrid>
              <a:tr h="283464">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straight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XT205-S2 · MOT</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83464">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83464">
                <a:tc>
                  <a:txBody>
                    <a:bodyPr lIns="54864" rIns="54864" tIns="18288" bIns="18288" wrap="square" anchor="ctr"/>
                    <a:lstStyle/>
                    <a:p>
                      <a:pPr algn="l"/>
                      <a:r>
                        <a:rPr sz="850" b="0">
                          <a:solidFill>
                            <a:srgbClr val="000000"/>
                          </a:solidFill>
                          <a:latin typeface="Calibri"/>
                        </a:rPr>
                        <a:t>S33 · ours</a:t>
                      </a:r>
                    </a:p>
                  </a:txBody>
                  <a:tcPr/>
                </a:tc>
                <a:tc>
                  <a:txBody>
                    <a:bodyPr lIns="54864" rIns="54864" tIns="18288" bIns="18288" wrap="square" anchor="ctr"/>
                    <a:lstStyle/>
                    <a:p>
                      <a:pPr algn="l"/>
                      <a:r>
                        <a:rPr sz="850" b="0">
                          <a:solidFill>
                            <a:srgbClr val="000000"/>
                          </a:solidFill>
                          <a:latin typeface="Calibri"/>
                        </a:rPr>
                        <a:t>2.932 GPa</a:t>
                      </a:r>
                    </a:p>
                  </a:txBody>
                  <a:tcPr/>
                </a:tc>
                <a:tc>
                  <a:txBody>
                    <a:bodyPr lIns="54864" rIns="54864" tIns="18288" bIns="18288" wrap="square" anchor="ctr"/>
                    <a:lstStyle/>
                    <a:p>
                      <a:pPr algn="l"/>
                      <a:r>
                        <a:rPr sz="850" b="0">
                          <a:solidFill>
                            <a:srgbClr val="000000"/>
                          </a:solidFill>
                          <a:latin typeface="Calibri"/>
                        </a:rPr>
                        <a:t>3.174 GPa</a:t>
                      </a:r>
                    </a:p>
                  </a:txBody>
                  <a:tcPr/>
                </a:tc>
                <a:tc>
                  <a:txBody>
                    <a:bodyPr lIns="54864" rIns="54864" tIns="18288" bIns="18288" wrap="square" anchor="ctr"/>
                    <a:lstStyle/>
                    <a:p>
                      <a:pPr algn="l"/>
                      <a:r>
                        <a:rPr sz="850" b="0">
                          <a:solidFill>
                            <a:srgbClr val="000000"/>
                          </a:solidFill>
                          <a:latin typeface="Calibri"/>
                        </a:rPr>
                        <a:t>0.23–0.59 %</a:t>
                      </a:r>
                    </a:p>
                  </a:txBody>
                  <a:tcPr/>
                </a:tc>
                <a:tc>
                  <a:txBody>
                    <a:bodyPr lIns="54864" rIns="54864" tIns="18288" bIns="18288" wrap="square" anchor="ctr"/>
                    <a:lstStyle/>
                    <a:p>
                      <a:pPr algn="l"/>
                      <a:r>
                        <a:rPr sz="850" b="0">
                          <a:solidFill>
                            <a:srgbClr val="000000"/>
                          </a:solidFill>
                          <a:latin typeface="Calibri"/>
                        </a:rPr>
                        <a:t>8.2 %</a:t>
                      </a:r>
                    </a:p>
                  </a:txBody>
                  <a:tcPr/>
                </a:tc>
              </a:tr>
              <a:tr h="283464">
                <a:tc>
                  <a:txBody>
                    <a:bodyPr lIns="54864" rIns="54864" tIns="18288" bIns="18288" wrap="square" anchor="ctr"/>
                    <a:lstStyle/>
                    <a:p>
                      <a:pPr algn="l"/>
                      <a:r>
                        <a:rPr sz="850" b="0">
                          <a:solidFill>
                            <a:srgbClr val="000000"/>
                          </a:solidFill>
                          <a:latin typeface="Calibri"/>
                        </a:rPr>
                        <a:t>MOT vs S34</a:t>
                      </a:r>
                    </a:p>
                  </a:txBody>
                  <a:tcPr/>
                </a:tc>
                <a:tc>
                  <a:txBody>
                    <a:bodyPr lIns="54864" rIns="54864" tIns="18288" bIns="18288" wrap="square" anchor="ctr"/>
                    <a:lstStyle/>
                    <a:p>
                      <a:pPr algn="l"/>
                      <a:r>
                        <a:rPr sz="850" b="0">
                          <a:solidFill>
                            <a:srgbClr val="000000"/>
                          </a:solidFill>
                          <a:latin typeface="Calibri"/>
                        </a:rPr>
                        <a:t>+4.4 %</a:t>
                      </a:r>
                    </a:p>
                  </a:txBody>
                  <a:tcPr/>
                </a:tc>
                <a:tc>
                  <a:txBody>
                    <a:bodyPr lIns="54864" rIns="54864" tIns="18288" bIns="18288" wrap="square" anchor="ctr"/>
                    <a:lstStyle/>
                    <a:p>
                      <a:pPr algn="l"/>
                      <a:r>
                        <a:rPr sz="850" b="0">
                          <a:solidFill>
                            <a:srgbClr val="000000"/>
                          </a:solidFill>
                          <a:latin typeface="Calibri"/>
                        </a:rPr>
                        <a:t>-6.4 %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XT-205 curve has no toe</a:t>
            </a:r>
          </a:p>
        </p:txBody>
      </p:sp>
      <p:sp>
        <p:nvSpPr>
          <p:cNvPr id="9" name="TextBox 8"/>
          <p:cNvSpPr txBox="1"/>
          <p:nvPr/>
        </p:nvSpPr>
        <p:spPr>
          <a:xfrm>
            <a:off x="6263640" y="4443984"/>
            <a:ext cx="274320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Their steepest straight run is 0.00–0.41 % — the fixed window, near enough. Their two methods differ by 0.6 %. Their record is simply straight from the origin.</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PPD-UTM curve does</a:t>
            </a:r>
          </a:p>
        </p:txBody>
      </p:sp>
      <p:sp>
        <p:nvSpPr>
          <p:cNvPr id="11" name="TextBox 10"/>
          <p:cNvSpPr txBox="1"/>
          <p:nvPr/>
        </p:nvSpPr>
        <p:spPr>
          <a:xfrm>
            <a:off x="9189720" y="4443984"/>
            <a:ext cx="2651760" cy="1417320"/>
          </a:xfrm>
          <a:prstGeom prst="rect">
            <a:avLst/>
          </a:prstGeom>
          <a:noFill/>
        </p:spPr>
        <p:txBody>
          <a:bodyPr wrap="square" lIns="45720" rIns="45720" tIns="18288" bIns="18288" anchor="t">
            <a:spAutoFit/>
          </a:bodyPr>
          <a:lstStyle/>
          <a:p>
            <a:pPr algn="l"/>
            <a:r>
              <a:rPr sz="950" b="0" i="0">
                <a:solidFill>
                  <a:srgbClr val="000000"/>
                </a:solidFill>
                <a:latin typeface="Calibri"/>
              </a:rPr>
              <a:t>Ours dips to 2.7 GPa near 0.15 % and is steepest only at 0.26–0.58 %. That is grip seating still working through the load train after the preload — the FW grip-seating experiment, visible.</a:t>
            </a:r>
          </a:p>
        </p:txBody>
      </p:sp>
      <p:sp>
        <p:nvSpPr>
          <p:cNvPr id="12" name="Rectangle 11"/>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of their numbers (3.210 and 3.229 GPa) fall INSIDE our own 45 mm bracket of 3.174–3.451 GPa. Quote a modulus with the method attached or it means nothing.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steepest-straight-run search is utm_analysis._steepest_straight_run — the app's own function, run here on the XT-205's record as well as on ours, so the comparison is of machines and not of arithmetic.</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SPEED DIFFERENCE PREDICTS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S34 was pulled 3.0× faster than XT205-S2 at the crosshead. PLA is rate-sensitive, so that is the first thing to suspect for the slope gap on the previous slide. It is worth doing the arithmetic before believing it.</a:t>
            </a:r>
          </a:p>
        </p:txBody>
      </p:sp>
      <p:sp>
        <p:nvSpPr>
          <p:cNvPr id="6" name="TextBox 5"/>
          <p:cNvSpPr txBox="1"/>
          <p:nvPr/>
        </p:nvSpPr>
        <p:spPr>
          <a:xfrm>
            <a:off x="411480" y="138988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crosshead ratio is not the ratio that matters</a:t>
            </a:r>
          </a:p>
        </p:txBody>
      </p:sp>
      <p:graphicFrame>
        <p:nvGraphicFramePr>
          <p:cNvPr id="7" name="Table 6"/>
          <p:cNvGraphicFramePr>
            <a:graphicFrameLocks noGrp="1"/>
          </p:cNvGraphicFramePr>
          <p:nvPr/>
        </p:nvGraphicFramePr>
        <p:xfrm>
          <a:off x="411480" y="1737360"/>
          <a:ext cx="5623559" cy="1298448"/>
        </p:xfrm>
        <a:graphic>
          <a:graphicData uri="http://schemas.openxmlformats.org/drawingml/2006/table">
            <a:tbl>
              <a:tblPr firstRow="1" bandRow="1">
                <a:tableStyleId>{5C22544A-7EE6-4342-B048-85BDC9FD1C3A}</a:tableStyleId>
              </a:tblPr>
              <a:tblGrid>
                <a:gridCol w="2096920"/>
                <a:gridCol w="1334404"/>
                <a:gridCol w="1334404"/>
                <a:gridCol w="857831"/>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XT205-S2</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24612">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2.00 mm/min</a:t>
                      </a:r>
                    </a:p>
                  </a:txBody>
                  <a:tcPr/>
                </a:tc>
                <a:tc>
                  <a:txBody>
                    <a:bodyPr lIns="54864" rIns="54864" tIns="18288" bIns="18288" wrap="square" anchor="ctr"/>
                    <a:lstStyle/>
                    <a:p>
                      <a:pPr algn="l"/>
                      <a:r>
                        <a:rPr sz="900" b="0">
                          <a:solidFill>
                            <a:srgbClr val="000000"/>
                          </a:solidFill>
                          <a:latin typeface="Calibri"/>
                        </a:rPr>
                        <a:t>5.98 mm/min</a:t>
                      </a:r>
                    </a:p>
                  </a:txBody>
                  <a:tcPr/>
                </a:tc>
                <a:tc>
                  <a:txBody>
                    <a:bodyPr lIns="54864" rIns="54864" tIns="18288" bIns="18288" wrap="square" anchor="ctr"/>
                    <a:lstStyle/>
                    <a:p>
                      <a:pPr algn="l"/>
                      <a:r>
                        <a:rPr sz="900" b="0">
                          <a:solidFill>
                            <a:srgbClr val="000000"/>
                          </a:solidFill>
                          <a:latin typeface="Calibri"/>
                        </a:rPr>
                        <a:t>2.99×</a:t>
                      </a:r>
                    </a:p>
                  </a:txBody>
                  <a:tcPr/>
                </a:tc>
              </a:tr>
              <a:tr h="324612">
                <a:tc>
                  <a:txBody>
                    <a:bodyPr lIns="54864" rIns="54864" tIns="18288" bIns="18288" wrap="square" anchor="ctr"/>
                    <a:lstStyle/>
                    <a:p>
                      <a:pPr algn="l"/>
                      <a:r>
                        <a:rPr sz="900" b="0">
                          <a:solidFill>
                            <a:srgbClr val="000000"/>
                          </a:solidFill>
                          <a:latin typeface="Calibri"/>
                        </a:rPr>
                        <a:t>share reaching the gauge</a:t>
                      </a:r>
                    </a:p>
                  </a:txBody>
                  <a:tcPr/>
                </a:tc>
                <a:tc>
                  <a:txBody>
                    <a:bodyPr lIns="54864" rIns="54864" tIns="18288" bIns="18288" wrap="square" anchor="ctr"/>
                    <a:lstStyle/>
                    <a:p>
                      <a:pPr algn="l"/>
                      <a:r>
                        <a:rPr sz="900" b="0">
                          <a:solidFill>
                            <a:srgbClr val="000000"/>
                          </a:solidFill>
                          <a:latin typeface="Calibri"/>
                        </a:rPr>
                        <a:t>45 %</a:t>
                      </a:r>
                    </a:p>
                  </a:txBody>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1.38×</a:t>
                      </a:r>
                    </a:p>
                  </a:txBody>
                  <a:tcPr/>
                </a:tc>
              </a:tr>
              <a:tr h="324612">
                <a:tc>
                  <a:txBody>
                    <a:bodyPr lIns="54864" rIns="54864" tIns="18288" bIns="18288" wrap="square" anchor="ctr"/>
                    <a:lstStyle/>
                    <a:p>
                      <a:pPr algn="l"/>
                      <a:r>
                        <a:rPr sz="900" b="0">
                          <a:solidFill>
                            <a:srgbClr val="000000"/>
                          </a:solidFill>
                          <a:latin typeface="Calibri"/>
                        </a:rPr>
                        <a:t>GAUGE STRAIN RATE</a:t>
                      </a:r>
                    </a:p>
                  </a:txBody>
                  <a:tcPr/>
                </a:tc>
                <a:tc>
                  <a:txBody>
                    <a:bodyPr lIns="54864" rIns="54864" tIns="18288" bIns="18288" wrap="square" anchor="ctr"/>
                    <a:lstStyle/>
                    <a:p>
                      <a:pPr algn="l"/>
                      <a:r>
                        <a:rPr sz="900" b="0">
                          <a:solidFill>
                            <a:srgbClr val="000000"/>
                          </a:solidFill>
                          <a:latin typeface="Calibri"/>
                        </a:rPr>
                        <a:t>2.596e-04 /s</a:t>
                      </a:r>
                    </a:p>
                  </a:txBody>
                  <a:tcPr/>
                </a:tc>
                <a:tc>
                  <a:txBody>
                    <a:bodyPr lIns="54864" rIns="54864" tIns="18288" bIns="18288" wrap="square" anchor="ctr"/>
                    <a:lstStyle/>
                    <a:p>
                      <a:pPr algn="l"/>
                      <a:r>
                        <a:rPr sz="900" b="0">
                          <a:solidFill>
                            <a:srgbClr val="000000"/>
                          </a:solidFill>
                          <a:latin typeface="Calibri"/>
                        </a:rPr>
                        <a:t>3.095e-04 /s</a:t>
                      </a:r>
                    </a:p>
                  </a:txBody>
                  <a:tcPr/>
                </a:tc>
                <a:tc>
                  <a:txBody>
                    <a:bodyPr lIns="54864" rIns="54864" tIns="18288" bIns="18288" wrap="square" anchor="ctr"/>
                    <a:lstStyle/>
                    <a:p>
                      <a:pPr algn="l"/>
                      <a:r>
                        <a:rPr sz="900" b="0">
                          <a:solidFill>
                            <a:srgbClr val="000000"/>
                          </a:solidFill>
                          <a:latin typeface="Calibri"/>
                        </a:rPr>
                        <a:t>1.193×</a:t>
                      </a:r>
                    </a:p>
                  </a:txBody>
                  <a:tcPr/>
                </a:tc>
              </a:tr>
            </a:tbl>
          </a:graphicData>
        </a:graphic>
      </p:graphicFrame>
      <p:sp>
        <p:nvSpPr>
          <p:cNvPr id="8" name="TextBox 7"/>
          <p:cNvSpPr txBox="1"/>
          <p:nvPr/>
        </p:nvSpPr>
        <p:spPr>
          <a:xfrm>
            <a:off x="411480" y="32004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two ratios are so different</a:t>
            </a:r>
          </a:p>
        </p:txBody>
      </p:sp>
      <p:sp>
        <p:nvSpPr>
          <p:cNvPr id="9" name="TextBox 8"/>
          <p:cNvSpPr txBox="1"/>
          <p:nvPr/>
        </p:nvSpPr>
        <p:spPr>
          <a:xfrm>
            <a:off x="411480" y="3547872"/>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A specimen does not feel the crosshead; it feels the strain rate in its own gauge. The XT-205 delivers 45 % of its travel there and the PPD-UTM 33 %, so the stiffer frame hands over a larger share and claws back most of the 3.0× speed handicap. What is left is 1.193× — a factor of 2.5 smaller than the speeds suggest, and only 0.076 of a DECADE.</a:t>
            </a:r>
          </a:p>
        </p:txBody>
      </p:sp>
      <p:sp>
        <p:nvSpPr>
          <p:cNvPr id="10" name="TextBox 9"/>
          <p:cNvSpPr txBox="1"/>
          <p:nvPr/>
        </p:nvSpPr>
        <p:spPr>
          <a:xfrm>
            <a:off x="6263640" y="138988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how much modulus should that buy?</a:t>
            </a:r>
          </a:p>
        </p:txBody>
      </p:sp>
      <p:graphicFrame>
        <p:nvGraphicFramePr>
          <p:cNvPr id="11" name="Table 10"/>
          <p:cNvGraphicFramePr>
            <a:graphicFrameLocks noGrp="1"/>
          </p:cNvGraphicFramePr>
          <p:nvPr/>
        </p:nvGraphicFramePr>
        <p:xfrm>
          <a:off x="6263640" y="1737360"/>
          <a:ext cx="5577840" cy="1298448"/>
        </p:xfrm>
        <a:graphic>
          <a:graphicData uri="http://schemas.openxmlformats.org/drawingml/2006/table">
            <a:tbl>
              <a:tblPr firstRow="1" bandRow="1">
                <a:tableStyleId>{5C22544A-7EE6-4342-B048-85BDC9FD1C3A}</a:tableStyleId>
              </a:tblPr>
              <a:tblGrid>
                <a:gridCol w="3200400"/>
                <a:gridCol w="2377440"/>
              </a:tblGrid>
              <a:tr h="259689">
                <a:tc>
                  <a:txBody>
                    <a:bodyPr lIns="54864" rIns="54864" tIns="18288" bIns="18288" wrap="square" anchor="ctr"/>
                    <a:lstStyle/>
                    <a:p>
                      <a:pPr algn="l"/>
                      <a:r>
                        <a:rPr sz="950" b="1">
                          <a:solidFill>
                            <a:srgbClr val="FFFFFF"/>
                          </a:solidFill>
                          <a:latin typeface="Calibri"/>
                        </a:rPr>
                        <a:t>If PLA's E rises…</a:t>
                      </a:r>
                    </a:p>
                  </a:txBody>
                  <a:tcPr>
                    <a:solidFill>
                      <a:srgbClr val="143D2F"/>
                    </a:solidFill>
                  </a:tcPr>
                </a:tc>
                <a:tc>
                  <a:txBody>
                    <a:bodyPr lIns="54864" rIns="54864" tIns="18288" bIns="18288" wrap="square" anchor="ctr"/>
                    <a:lstStyle/>
                    <a:p>
                      <a:pPr algn="l"/>
                      <a:r>
                        <a:rPr sz="950" b="1">
                          <a:solidFill>
                            <a:srgbClr val="FFFFFF"/>
                          </a:solidFill>
                          <a:latin typeface="Calibri"/>
                        </a:rPr>
                        <a:t>…then S34 − XT205-S2 should be</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3 % per decade of strain rate</a:t>
                      </a:r>
                    </a:p>
                  </a:txBody>
                  <a:tcPr/>
                </a:tc>
                <a:tc>
                  <a:txBody>
                    <a:bodyPr lIns="54864" rIns="54864" tIns="18288" bIns="18288" wrap="square" anchor="ctr"/>
                    <a:lstStyle/>
                    <a:p>
                      <a:pPr algn="l"/>
                      <a:r>
                        <a:rPr sz="900" b="0">
                          <a:solidFill>
                            <a:srgbClr val="000000"/>
                          </a:solidFill>
                          <a:latin typeface="Calibri"/>
                        </a:rPr>
                        <a:t>+0.23 %</a:t>
                      </a:r>
                    </a:p>
                  </a:txBody>
                  <a:tcPr/>
                </a:tc>
              </a:tr>
              <a:tr h="259689">
                <a:tc>
                  <a:txBody>
                    <a:bodyPr lIns="54864" rIns="54864" tIns="18288" bIns="18288" wrap="square" anchor="ctr"/>
                    <a:lstStyle/>
                    <a:p>
                      <a:pPr algn="l"/>
                      <a:r>
                        <a:rPr sz="900" b="0">
                          <a:solidFill>
                            <a:srgbClr val="000000"/>
                          </a:solidFill>
                          <a:latin typeface="Calibri"/>
                        </a:rPr>
                        <a:t>5 % per decade</a:t>
                      </a:r>
                    </a:p>
                  </a:txBody>
                  <a:tcPr/>
                </a:tc>
                <a:tc>
                  <a:txBody>
                    <a:bodyPr lIns="54864" rIns="54864" tIns="18288" bIns="18288" wrap="square" anchor="ctr"/>
                    <a:lstStyle/>
                    <a:p>
                      <a:pPr algn="l"/>
                      <a:r>
                        <a:rPr sz="900" b="0">
                          <a:solidFill>
                            <a:srgbClr val="000000"/>
                          </a:solidFill>
                          <a:latin typeface="Calibri"/>
                        </a:rPr>
                        <a:t>+0.38 %</a:t>
                      </a:r>
                    </a:p>
                  </a:txBody>
                  <a:tcPr/>
                </a:tc>
              </a:tr>
              <a:tr h="259689">
                <a:tc>
                  <a:txBody>
                    <a:bodyPr lIns="54864" rIns="54864" tIns="18288" bIns="18288" wrap="square" anchor="ctr"/>
                    <a:lstStyle/>
                    <a:p>
                      <a:pPr algn="l"/>
                      <a:r>
                        <a:rPr sz="900" b="0">
                          <a:solidFill>
                            <a:srgbClr val="000000"/>
                          </a:solidFill>
                          <a:latin typeface="Calibri"/>
                        </a:rPr>
                        <a:t>8 % per decade</a:t>
                      </a:r>
                    </a:p>
                  </a:txBody>
                  <a:tcPr/>
                </a:tc>
                <a:tc>
                  <a:txBody>
                    <a:bodyPr lIns="54864" rIns="54864" tIns="18288" bIns="18288" wrap="square" anchor="ctr"/>
                    <a:lstStyle/>
                    <a:p>
                      <a:pPr algn="l"/>
                      <a:r>
                        <a:rPr sz="900" b="0">
                          <a:solidFill>
                            <a:srgbClr val="000000"/>
                          </a:solidFill>
                          <a:latin typeface="Calibri"/>
                        </a:rPr>
                        <a:t>+0.61 %</a:t>
                      </a:r>
                    </a:p>
                  </a:txBody>
                  <a:tcPr/>
                </a:tc>
              </a:tr>
              <a:tr h="259692">
                <a:tc>
                  <a:txBody>
                    <a:bodyPr lIns="54864" rIns="54864" tIns="18288" bIns="18288" wrap="square" anchor="ctr"/>
                    <a:lstStyle/>
                    <a:p>
                      <a:pPr algn="l"/>
                      <a:r>
                        <a:rPr sz="900" b="0">
                          <a:solidFill>
                            <a:srgbClr val="000000"/>
                          </a:solidFill>
                          <a:latin typeface="Calibri"/>
                        </a:rPr>
                        <a:t>10 % per decade (a generous ceiling)</a:t>
                      </a:r>
                    </a:p>
                  </a:txBody>
                  <a:tcPr/>
                </a:tc>
                <a:tc>
                  <a:txBody>
                    <a:bodyPr lIns="54864" rIns="54864" tIns="18288" bIns="18288" wrap="square" anchor="ctr"/>
                    <a:lstStyle/>
                    <a:p>
                      <a:pPr algn="l"/>
                      <a:r>
                        <a:rPr sz="900" b="0">
                          <a:solidFill>
                            <a:srgbClr val="000000"/>
                          </a:solidFill>
                          <a:latin typeface="Calibri"/>
                        </a:rPr>
                        <a:t>+0.76 %</a:t>
                      </a:r>
                    </a:p>
                  </a:txBody>
                  <a:tcPr/>
                </a:tc>
              </a:tr>
            </a:tbl>
          </a:graphicData>
        </a:graphic>
      </p:graphicFrame>
      <p:sp>
        <p:nvSpPr>
          <p:cNvPr id="12" name="TextBox 11"/>
          <p:cNvSpPr txBox="1"/>
          <p:nvPr/>
        </p:nvSpPr>
        <p:spPr>
          <a:xfrm>
            <a:off x="6263640" y="32004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prediction, stated before looking</a:t>
            </a:r>
          </a:p>
        </p:txBody>
      </p:sp>
      <p:sp>
        <p:nvSpPr>
          <p:cNvPr id="13" name="TextBox 12"/>
          <p:cNvSpPr txBox="1"/>
          <p:nvPr/>
        </p:nvSpPr>
        <p:spPr>
          <a:xfrm>
            <a:off x="6263640" y="3547872"/>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DIRECTION: XT205-S2 is the slower specimen, so it should have the LOWER slope. A polymer pulled slowly gives its chains more time to rearrange, and reads softer.
MAGNITUDE: under 1 % on E, whichever rate-sensitivity is assumed. That is the useful part — anything much larger than 1 % is NOT the speed, whatever direction it points in.</a:t>
            </a:r>
          </a:p>
        </p:txBody>
      </p:sp>
      <p:sp>
        <p:nvSpPr>
          <p:cNvPr id="14" name="Rectangle 13"/>
          <p:cNvSpPr/>
          <p:nvPr/>
        </p:nvSpPr>
        <p:spPr>
          <a:xfrm>
            <a:off x="365760" y="4443984"/>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per-decade figures are literature-typical for PLA, not measured on this rig — which is why the DIRECTION test below carries the argument and the magnitude only bounds it.</a:t>
            </a:r>
          </a:p>
        </p:txBody>
      </p:sp>
      <p:sp>
        <p:nvSpPr>
          <p:cNvPr id="15" name="TextBox 14"/>
          <p:cNvSpPr txBox="1"/>
          <p:nvPr/>
        </p:nvSpPr>
        <p:spPr>
          <a:xfrm>
            <a:off x="411480" y="5047488"/>
            <a:ext cx="11430000" cy="658368"/>
          </a:xfrm>
          <a:prstGeom prst="rect">
            <a:avLst/>
          </a:prstGeom>
          <a:noFill/>
        </p:spPr>
        <p:txBody>
          <a:bodyPr wrap="square" lIns="45720" rIns="45720" tIns="18288" bIns="18288" anchor="t">
            <a:spAutoFit/>
          </a:bodyPr>
          <a:lstStyle/>
          <a:p>
            <a:pPr algn="l"/>
            <a:r>
              <a:rPr sz="1000" b="0" i="0">
                <a:solidFill>
                  <a:srgbClr val="000000"/>
                </a:solidFill>
                <a:latin typeface="Calibri"/>
              </a:rPr>
              <a:t>Note what this already says about the planned experiment. Running the PPD-UTM at 2 mm/min matches XT205-S2's COMMANDED speed but not its strain rate: our gauge would see 1.035e-04 /s, which is 0.40× theirs — an overshoot in the other direction. To match the RATE the PPD-UTM would run 5.02 mm/min.</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rate is fitted over the same 0.05–0.35 % window used everywhere in this block, on the preload-zeroed axis. Share of travel reaching the gauge is from p322.</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DID THE SLOPES DIFFER AS PREDICTED?</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Prediction: S34 stiffer than XT205-S2, by under 1 %. Two fitting methods, two answers — and they do not even agree on the SIGN.</a:t>
            </a:r>
          </a:p>
        </p:txBody>
      </p:sp>
      <p:sp>
        <p:nvSpPr>
          <p:cNvPr id="6" name="TextBox 5"/>
          <p:cNvSpPr txBox="1"/>
          <p:nvPr/>
        </p:nvSpPr>
        <p:spPr>
          <a:xfrm>
            <a:off x="411480" y="1389888"/>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Predicted against measured</a:t>
            </a:r>
          </a:p>
        </p:txBody>
      </p:sp>
      <p:graphicFrame>
        <p:nvGraphicFramePr>
          <p:cNvPr id="7" name="Table 6"/>
          <p:cNvGraphicFramePr>
            <a:graphicFrameLocks noGrp="1"/>
          </p:cNvGraphicFramePr>
          <p:nvPr/>
        </p:nvGraphicFramePr>
        <p:xfrm>
          <a:off x="411480" y="1737360"/>
          <a:ext cx="6766558" cy="1298448"/>
        </p:xfrm>
        <a:graphic>
          <a:graphicData uri="http://schemas.openxmlformats.org/drawingml/2006/table">
            <a:tbl>
              <a:tblPr firstRow="1" bandRow="1">
                <a:tableStyleId>{5C22544A-7EE6-4342-B048-85BDC9FD1C3A}</a:tableStyleId>
              </a:tblPr>
              <a:tblGrid>
                <a:gridCol w="2101416"/>
                <a:gridCol w="1092736"/>
                <a:gridCol w="1092736"/>
                <a:gridCol w="1134764"/>
                <a:gridCol w="1344906"/>
              </a:tblGrid>
              <a:tr h="32461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S34 − XT205-S2</a:t>
                      </a:r>
                    </a:p>
                  </a:txBody>
                  <a:tcPr>
                    <a:solidFill>
                      <a:srgbClr val="143D2F"/>
                    </a:solidFill>
                  </a:tcPr>
                </a:tc>
                <a:tc>
                  <a:txBody>
                    <a:bodyPr lIns="54864" rIns="54864" tIns="18288" bIns="18288" wrap="square" anchor="ctr"/>
                    <a:lstStyle/>
                    <a:p>
                      <a:pPr algn="l"/>
                      <a:r>
                        <a:rPr sz="900" b="1">
                          <a:solidFill>
                            <a:srgbClr val="FFFFFF"/>
                          </a:solidFill>
                          <a:latin typeface="Calibri"/>
                        </a:rPr>
                        <a:t>as predicted?</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predicted from the strain rate</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+0.38 %  (±)</a:t>
                      </a:r>
                    </a:p>
                  </a:txBody>
                  <a:tcPr/>
                </a:tc>
                <a:tc>
                  <a:txBody>
                    <a:bodyPr lIns="54864" rIns="54864" tIns="18288" bIns="18288" wrap="square" anchor="ctr"/>
                    <a:lstStyle/>
                    <a:p>
                      <a:pPr algn="l"/>
                      <a:r>
                        <a:rPr sz="850" b="0">
                          <a:solidFill>
                            <a:srgbClr val="000000"/>
                          </a:solidFill>
                          <a:latin typeface="Calibri"/>
                        </a:rPr>
                        <a:t>—</a:t>
                      </a:r>
                    </a:p>
                  </a:txBody>
                  <a:tcPr/>
                </a:tc>
              </a:tr>
              <a:tr h="324612">
                <a:tc>
                  <a:txBody>
                    <a:bodyPr lIns="54864" rIns="54864" tIns="18288" bIns="18288" wrap="square" anchor="ctr"/>
                    <a:lstStyle/>
                    <a:p>
                      <a:pPr algn="l"/>
                      <a:r>
                        <a:rPr sz="850" b="0">
                          <a:solidFill>
                            <a:srgbClr val="000000"/>
                          </a:solidFill>
                          <a:latin typeface="Calibri"/>
                        </a:rPr>
                        <a:t>MEASURED, fixed 0.05–0.40 %</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-4.2 %</a:t>
                      </a:r>
                    </a:p>
                  </a:txBody>
                  <a:tcPr/>
                </a:tc>
                <a:tc>
                  <a:txBody>
                    <a:bodyPr lIns="54864" rIns="54864" tIns="18288" bIns="18288" wrap="square" anchor="ctr"/>
                    <a:lstStyle/>
                    <a:p>
                      <a:pPr algn="l"/>
                      <a:r>
                        <a:rPr sz="850" b="0">
                          <a:solidFill>
                            <a:srgbClr val="000000"/>
                          </a:solidFill>
                          <a:latin typeface="Calibri"/>
                        </a:rPr>
                        <a:t>NO — wrong sign</a:t>
                      </a:r>
                    </a:p>
                  </a:txBody>
                  <a:tcPr/>
                </a:tc>
              </a:tr>
              <a:tr h="324612">
                <a:tc>
                  <a:txBody>
                    <a:bodyPr lIns="54864" rIns="54864" tIns="18288" bIns="18288" wrap="square" anchor="ctr"/>
                    <a:lstStyle/>
                    <a:p>
                      <a:pPr algn="l"/>
                      <a:r>
                        <a:rPr sz="850" b="0">
                          <a:solidFill>
                            <a:srgbClr val="000000"/>
                          </a:solidFill>
                          <a:latin typeface="Calibri"/>
                        </a:rPr>
                        <a:t>MEASURED, steepest straight run</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+6.9 %</a:t>
                      </a:r>
                    </a:p>
                  </a:txBody>
                  <a:tcPr/>
                </a:tc>
                <a:tc>
                  <a:txBody>
                    <a:bodyPr lIns="54864" rIns="54864" tIns="18288" bIns="18288" wrap="square" anchor="ctr"/>
                    <a:lstStyle/>
                    <a:p>
                      <a:pPr algn="l"/>
                      <a:r>
                        <a:rPr sz="850" b="0">
                          <a:solidFill>
                            <a:srgbClr val="000000"/>
                          </a:solidFill>
                          <a:latin typeface="Calibri"/>
                        </a:rPr>
                        <a:t>right sign, 9× too big</a:t>
                      </a:r>
                    </a:p>
                  </a:txBody>
                  <a:tcPr/>
                </a:tc>
              </a:tr>
            </a:tbl>
          </a:graphicData>
        </a:graphic>
      </p:graphicFrame>
      <p:sp>
        <p:nvSpPr>
          <p:cNvPr id="8" name="TextBox 7"/>
          <p:cNvSpPr txBox="1"/>
          <p:nvPr/>
        </p:nvSpPr>
        <p:spPr>
          <a:xfrm>
            <a:off x="411480" y="3200400"/>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sign test, and why it is the one that decides</a:t>
            </a:r>
          </a:p>
        </p:txBody>
      </p:sp>
      <p:sp>
        <p:nvSpPr>
          <p:cNvPr id="9" name="TextBox 8"/>
          <p:cNvSpPr txBox="1"/>
          <p:nvPr/>
        </p:nvSpPr>
        <p:spPr>
          <a:xfrm>
            <a:off x="411480" y="3547872"/>
            <a:ext cx="6766560" cy="1783080"/>
          </a:xfrm>
          <a:prstGeom prst="rect">
            <a:avLst/>
          </a:prstGeom>
          <a:noFill/>
        </p:spPr>
        <p:txBody>
          <a:bodyPr wrap="square" lIns="45720" rIns="45720" tIns="18288" bIns="18288" anchor="t">
            <a:spAutoFit/>
          </a:bodyPr>
          <a:lstStyle/>
          <a:p>
            <a:pPr algn="l"/>
            <a:r>
              <a:rPr sz="950" b="0" i="0">
                <a:solidFill>
                  <a:srgbClr val="000000"/>
                </a:solidFill>
                <a:latin typeface="Calibri"/>
              </a:rPr>
              <a:t>A rate effect has a direction that does not depend on how the line is fitted: the slower specimen reads softer, always. Here the slower specimen reads SOFTER on the steepest-run fit and STIFFER on the fixed window. One of those contradicts rate outright, so rate is not what is driving either.
The magnitude says the same thing from the other side. Rate can buy under 1 %; the two measurements are 4.2 % and 6.9 % apart. And S34's OWN two methods differ by 12.2 % on one specimen with no speed difference at all — the method spread is larger than the machine gap it is being used to explain.</a:t>
            </a:r>
          </a:p>
        </p:txBody>
      </p:sp>
      <p:sp>
        <p:nvSpPr>
          <p:cNvPr id="10" name="TextBox 9"/>
          <p:cNvSpPr txBox="1"/>
          <p:nvPr/>
        </p:nvSpPr>
        <p:spPr>
          <a:xfrm>
            <a:off x="7360920" y="1389888"/>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what IS driving it</a:t>
            </a:r>
          </a:p>
        </p:txBody>
      </p:sp>
      <p:sp>
        <p:nvSpPr>
          <p:cNvPr id="11" name="TextBox 10"/>
          <p:cNvSpPr txBox="1"/>
          <p:nvPr/>
        </p:nvSpPr>
        <p:spPr>
          <a:xfrm>
            <a:off x="7360920" y="1737360"/>
            <a:ext cx="4480560" cy="2103120"/>
          </a:xfrm>
          <a:prstGeom prst="rect">
            <a:avLst/>
          </a:prstGeom>
          <a:noFill/>
        </p:spPr>
        <p:txBody>
          <a:bodyPr wrap="square" lIns="45720" rIns="45720" tIns="18288" bIns="18288" anchor="t">
            <a:spAutoFit/>
          </a:bodyPr>
          <a:lstStyle/>
          <a:p>
            <a:pPr algn="l"/>
            <a:r>
              <a:rPr sz="950" b="0" i="0">
                <a:solidFill>
                  <a:srgbClr val="000000"/>
                </a:solidFill>
                <a:latin typeface="Calibri"/>
              </a:rPr>
              <a:t>The toe in the PPD-UTM load train, which p323 shows directly: XT205-S2's slope is flat from the origin, while S34's dips to 2.7 GPa near 0.15 % and only reaches its steepest at 0.26–0.58 %.
A fixed window that straddles that dip reads S34 LOW; a steepest-run search that skips past it reads S34 HIGH. Same specimen, same pull — the sign of the gap is set by which part of our own seating curve the fit lands on.</a:t>
            </a:r>
          </a:p>
        </p:txBody>
      </p:sp>
      <p:sp>
        <p:nvSpPr>
          <p:cNvPr id="12" name="TextBox 11"/>
          <p:cNvSpPr txBox="1"/>
          <p:nvPr/>
        </p:nvSpPr>
        <p:spPr>
          <a:xfrm>
            <a:off x="7360920" y="3931920"/>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would test rate properly</a:t>
            </a:r>
          </a:p>
        </p:txBody>
      </p:sp>
      <p:sp>
        <p:nvSpPr>
          <p:cNvPr id="13" name="TextBox 12"/>
          <p:cNvSpPr txBox="1"/>
          <p:nvPr/>
        </p:nvSpPr>
        <p:spPr>
          <a:xfrm>
            <a:off x="7360920" y="4279392"/>
            <a:ext cx="4480560" cy="1051560"/>
          </a:xfrm>
          <a:prstGeom prst="rect">
            <a:avLst/>
          </a:prstGeom>
          <a:noFill/>
        </p:spPr>
        <p:txBody>
          <a:bodyPr wrap="square" lIns="45720" rIns="45720" tIns="18288" bIns="18288" anchor="t">
            <a:spAutoFit/>
          </a:bodyPr>
          <a:lstStyle/>
          <a:p>
            <a:pPr algn="l"/>
            <a:r>
              <a:rPr sz="950" b="0" i="0">
                <a:solidFill>
                  <a:srgbClr val="000000"/>
                </a:solidFill>
                <a:latin typeface="Calibri"/>
              </a:rPr>
              <a:t>Match the GAUGE STRAIN RATE, not the crosshead: 5.02 mm/min on the PPD-UTM. Pair it with a 2 mm/min run and the two bracket XT205-S2 from both sides.</a:t>
            </a:r>
          </a:p>
        </p:txBody>
      </p:sp>
      <p:sp>
        <p:nvSpPr>
          <p:cNvPr id="14" name="Rectangle 13"/>
          <p:cNvSpPr/>
          <p:nvPr/>
        </p:nvSpPr>
        <p:spPr>
          <a:xfrm>
            <a:off x="365760" y="4791456"/>
            <a:ext cx="1147572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ANSWERED: XT205-S2 was predicted to have the lower slope, and it does on one fitting method and not the other. Because the sign is not stable, the 6.9 % gap cannot be credited to the speed — the speed is worth under 1 %, and where the line is fitted is worth 12.2 %.</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moduli are computed by the same two methods on both records, so nothing here is a method difference dressed as a machine difference. Percentages are relative to XT205-S2.</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NOISE, AND WHY THE LEAD CHANGED HANDS</a:t>
            </a:r>
          </a:p>
        </p:txBody>
      </p:sp>
      <p:pic>
        <p:nvPicPr>
          <p:cNvPr id="5" name="Picture 4" descr="mot2cmp_noise.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Both windows, because each one flatters a different side</a:t>
            </a:r>
          </a:p>
        </p:txBody>
      </p:sp>
      <p:graphicFrame>
        <p:nvGraphicFramePr>
          <p:cNvPr id="7" name="Table 6"/>
          <p:cNvGraphicFramePr>
            <a:graphicFrameLocks noGrp="1"/>
          </p:cNvGraphicFramePr>
          <p:nvPr/>
        </p:nvGraphicFramePr>
        <p:xfrm>
          <a:off x="411480" y="4443984"/>
          <a:ext cx="5623556" cy="1298448"/>
        </p:xfrm>
        <a:graphic>
          <a:graphicData uri="http://schemas.openxmlformats.org/drawingml/2006/table">
            <a:tbl>
              <a:tblPr firstRow="1" bandRow="1">
                <a:tableStyleId>{5C22544A-7EE6-4342-B048-85BDC9FD1C3A}</a:tableStyleId>
              </a:tblPr>
              <a:tblGrid>
                <a:gridCol w="1338942"/>
                <a:gridCol w="1026522"/>
                <a:gridCol w="803365"/>
                <a:gridCol w="669471"/>
                <a:gridCol w="535577"/>
                <a:gridCol w="580208"/>
                <a:gridCol w="669471"/>
              </a:tblGrid>
              <a:tr h="259689">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record</a:t>
                      </a:r>
                    </a:p>
                  </a:txBody>
                  <a:tcPr>
                    <a:solidFill>
                      <a:srgbClr val="143D2F"/>
                    </a:solidFill>
                  </a:tcPr>
                </a:tc>
                <a:tc>
                  <a:txBody>
                    <a:bodyPr lIns="54864" rIns="54864" tIns="18288" bIns="18288" wrap="square" anchor="ctr"/>
                    <a:lstStyle/>
                    <a:p>
                      <a:pPr algn="l"/>
                      <a:r>
                        <a:rPr sz="850" b="1">
                          <a:solidFill>
                            <a:srgbClr val="FFFFFF"/>
                          </a:solidFill>
                          <a:latin typeface="Calibri"/>
                        </a:rPr>
                        <a:t>rms</a:t>
                      </a:r>
                    </a:p>
                  </a:txBody>
                  <a:tcPr>
                    <a:solidFill>
                      <a:srgbClr val="143D2F"/>
                    </a:solidFill>
                  </a:tcPr>
                </a:tc>
                <a:tc>
                  <a:txBody>
                    <a:bodyPr lIns="54864" rIns="54864" tIns="18288" bIns="18288" wrap="square" anchor="ctr"/>
                    <a:lstStyle/>
                    <a:p>
                      <a:pPr algn="l"/>
                      <a:r>
                        <a:rPr sz="850" b="1">
                          <a:solidFill>
                            <a:srgbClr val="FFFFFF"/>
                          </a:solidFill>
                          <a:latin typeface="Calibri"/>
                        </a:rPr>
                        <a:t>median</a:t>
                      </a:r>
                    </a:p>
                  </a:txBody>
                  <a:tcPr>
                    <a:solidFill>
                      <a:srgbClr val="143D2F"/>
                    </a:solidFill>
                  </a:tcPr>
                </a:tc>
                <a:tc>
                  <a:txBody>
                    <a:bodyPr lIns="54864" rIns="54864" tIns="18288" bIns="18288" wrap="square" anchor="ctr"/>
                    <a:lstStyle/>
                    <a:p>
                      <a:pPr algn="l"/>
                      <a:r>
                        <a:rPr sz="850" b="1">
                          <a:solidFill>
                            <a:srgbClr val="FFFFFF"/>
                          </a:solidFill>
                          <a:latin typeface="Calibri"/>
                        </a:rPr>
                        <a:t>p95</a:t>
                      </a:r>
                    </a:p>
                  </a:txBody>
                  <a:tcPr>
                    <a:solidFill>
                      <a:srgbClr val="143D2F"/>
                    </a:solidFill>
                  </a:tcPr>
                </a:tc>
                <a:tc>
                  <a:txBody>
                    <a:bodyPr lIns="54864" rIns="54864" tIns="18288" bIns="18288" wrap="square" anchor="ctr"/>
                    <a:lstStyle/>
                    <a:p>
                      <a:pPr algn="l"/>
                      <a:r>
                        <a:rPr sz="850" b="1">
                          <a:solidFill>
                            <a:srgbClr val="FFFFFF"/>
                          </a:solidFill>
                          <a:latin typeface="Calibri"/>
                        </a:rPr>
                        <a:t>dwell</a:t>
                      </a:r>
                    </a:p>
                  </a:txBody>
                  <a:tcPr>
                    <a:solidFill>
                      <a:srgbClr val="143D2F"/>
                    </a:solidFill>
                  </a:tcPr>
                </a:tc>
                <a:tc>
                  <a:txBody>
                    <a:bodyPr lIns="54864" rIns="54864" tIns="18288" bIns="18288" wrap="square" anchor="ctr"/>
                    <a:lstStyle/>
                    <a:p>
                      <a:pPr algn="l"/>
                      <a:r>
                        <a:rPr sz="850" b="1">
                          <a:solidFill>
                            <a:srgbClr val="FFFFFF"/>
                          </a:solidFill>
                          <a:latin typeface="Calibri"/>
                        </a:rPr>
                        <a:t>spans</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STRAIN 0.05–0.40 %</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26.7 µε</a:t>
                      </a:r>
                    </a:p>
                  </a:txBody>
                  <a:tcPr/>
                </a:tc>
                <a:tc>
                  <a:txBody>
                    <a:bodyPr lIns="54864" rIns="54864" tIns="18288" bIns="18288" wrap="square" anchor="ctr"/>
                    <a:lstStyle/>
                    <a:p>
                      <a:pPr algn="l"/>
                      <a:r>
                        <a:rPr sz="850" b="0">
                          <a:solidFill>
                            <a:srgbClr val="000000"/>
                          </a:solidFill>
                          <a:latin typeface="Calibri"/>
                        </a:rPr>
                        <a:t>7.5</a:t>
                      </a:r>
                    </a:p>
                  </a:txBody>
                  <a:tcPr/>
                </a:tc>
                <a:tc>
                  <a:txBody>
                    <a:bodyPr lIns="54864" rIns="54864" tIns="18288" bIns="18288" wrap="square" anchor="ctr"/>
                    <a:lstStyle/>
                    <a:p>
                      <a:pPr algn="l"/>
                      <a:r>
                        <a:rPr sz="850" b="0">
                          <a:solidFill>
                            <a:srgbClr val="000000"/>
                          </a:solidFill>
                          <a:latin typeface="Calibri"/>
                        </a:rPr>
                        <a:t>69</a:t>
                      </a:r>
                    </a:p>
                  </a:txBody>
                  <a:tcPr/>
                </a:tc>
                <a:tc>
                  <a:txBody>
                    <a:bodyPr lIns="54864" rIns="54864" tIns="18288" bIns="18288" wrap="square" anchor="ctr"/>
                    <a:lstStyle/>
                    <a:p>
                      <a:pPr algn="l"/>
                      <a:r>
                        <a:rPr sz="850" b="0">
                          <a:solidFill>
                            <a:srgbClr val="000000"/>
                          </a:solidFill>
                          <a:latin typeface="Calibri"/>
                        </a:rPr>
                        <a:t>13.8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43.5 µε</a:t>
                      </a:r>
                    </a:p>
                  </a:txBody>
                  <a:tcPr/>
                </a:tc>
                <a:tc>
                  <a:txBody>
                    <a:bodyPr lIns="54864" rIns="54864" tIns="18288" bIns="18288" wrap="square" anchor="ctr"/>
                    <a:lstStyle/>
                    <a:p>
                      <a:pPr algn="l"/>
                      <a:r>
                        <a:rPr sz="850" b="0">
                          <a:solidFill>
                            <a:srgbClr val="000000"/>
                          </a:solidFill>
                          <a:latin typeface="Calibri"/>
                        </a:rPr>
                        <a:t>29.8</a:t>
                      </a:r>
                    </a:p>
                  </a:txBody>
                  <a:tcPr/>
                </a:tc>
                <a:tc>
                  <a:txBody>
                    <a:bodyPr lIns="54864" rIns="54864" tIns="18288" bIns="18288" wrap="square" anchor="ctr"/>
                    <a:lstStyle/>
                    <a:p>
                      <a:pPr algn="l"/>
                      <a:r>
                        <a:rPr sz="850" b="0">
                          <a:solidFill>
                            <a:srgbClr val="000000"/>
                          </a:solidFill>
                          <a:latin typeface="Calibri"/>
                        </a:rPr>
                        <a:t>74</a:t>
                      </a:r>
                    </a:p>
                  </a:txBody>
                  <a:tcPr/>
                </a:tc>
                <a:tc>
                  <a:txBody>
                    <a:bodyPr lIns="54864" rIns="54864" tIns="18288" bIns="18288" wrap="square" anchor="ctr"/>
                    <a:lstStyle/>
                    <a:p>
                      <a:pPr algn="l"/>
                      <a:r>
                        <a:rPr sz="850" b="0">
                          <a:solidFill>
                            <a:srgbClr val="000000"/>
                          </a:solidFill>
                          <a:latin typeface="Calibri"/>
                        </a:rPr>
                        <a:t>11.9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DURATION 4.5 s</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19.9 µε</a:t>
                      </a:r>
                    </a:p>
                  </a:txBody>
                  <a:tcPr/>
                </a:tc>
                <a:tc>
                  <a:txBody>
                    <a:bodyPr lIns="54864" rIns="54864" tIns="18288" bIns="18288" wrap="square" anchor="ctr"/>
                    <a:lstStyle/>
                    <a:p>
                      <a:pPr algn="l"/>
                      <a:r>
                        <a:rPr sz="850" b="0">
                          <a:solidFill>
                            <a:srgbClr val="000000"/>
                          </a:solidFill>
                          <a:latin typeface="Calibri"/>
                        </a:rPr>
                        <a:t>5.0</a:t>
                      </a:r>
                    </a:p>
                  </a:txBody>
                  <a:tcPr/>
                </a:tc>
                <a:tc>
                  <a:txBody>
                    <a:bodyPr lIns="54864" rIns="54864" tIns="18288" bIns="18288" wrap="square" anchor="ctr"/>
                    <a:lstStyle/>
                    <a:p>
                      <a:pPr algn="l"/>
                      <a:r>
                        <a:rPr sz="850" b="0">
                          <a:solidFill>
                            <a:srgbClr val="000000"/>
                          </a:solidFill>
                          <a:latin typeface="Calibri"/>
                        </a:rPr>
                        <a:t>46</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0.116 %</a:t>
                      </a:r>
                    </a:p>
                  </a:txBody>
                  <a:tcPr/>
                </a:tc>
              </a:tr>
              <a:tr h="259692">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27.5 µε</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0.130 %</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reversal, stated plainly</a:t>
            </a:r>
          </a:p>
        </p:txBody>
      </p:sp>
      <p:sp>
        <p:nvSpPr>
          <p:cNvPr id="9" name="TextBox 8"/>
          <p:cNvSpPr txBox="1"/>
          <p:nvPr/>
        </p:nvSpPr>
        <p:spPr>
          <a:xfrm>
            <a:off x="6263640" y="4443984"/>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MOT Test 1 reported the PPD-UTM floor as the quieter, at 45 µε for the XT-205 against ~24 µε for us. MOT Test 2 reverses it: 27 against 43 µε. Both windows agree on the reversal, so it is not a windowing artefact.</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Because the gauge got shorter</a:t>
            </a:r>
          </a:p>
        </p:txBody>
      </p:sp>
      <p:sp>
        <p:nvSpPr>
          <p:cNvPr id="11" name="TextBox 10"/>
          <p:cNvSpPr txBox="1"/>
          <p:nvPr/>
        </p:nvSpPr>
        <p:spPr>
          <a:xfrm>
            <a:off x="9189720" y="4443984"/>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Strain is a pixel ratio with Px₀ underneath it, so the floor should scale as 1/Px₀. 1676 px → 939 px predicts 1.78×. Measured: 1.78×. The prediction had nothing fitted to it.</a:t>
            </a:r>
          </a:p>
        </p:txBody>
      </p:sp>
      <p:sp>
        <p:nvSpPr>
          <p:cNvPr id="12" name="Rectangle 11"/>
          <p:cNvSpPr/>
          <p:nvPr/>
        </p:nvSpPr>
        <p:spPr>
          <a:xfrm>
            <a:off x="365760" y="5870448"/>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Our floor rose 1.78× where 1/Px₀ predicted 1.78× — 0.3 % apart. It is set by the PIXEL SPAN, not the specimen or the lighting. Theirs moved the other way (0.64×), so theirs is limited by something else.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records on one window (0.05–0.35 %), which is the window MOT Test 1 used. Residual scatter about a straight fit, in microstrain.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COMPARISON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An independent commercial extensometer, on its own machine, with its own optics and its own software, measuring a different specimen of the same material. Three verdicts, kept apart.</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CONFIRMED</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0.2 % offset yield</a:t>
                      </a:r>
                    </a:p>
                  </a:txBody>
                  <a:tcPr/>
                </a:tc>
                <a:tc>
                  <a:txBody>
                    <a:bodyPr lIns="54864" rIns="54864" tIns="18288" bIns="18288" wrap="square" anchor="ctr"/>
                    <a:lstStyle/>
                    <a:p>
                      <a:pPr algn="l"/>
                      <a:r>
                        <a:rPr sz="900" b="0">
                          <a:solidFill>
                            <a:srgbClr val="000000"/>
                          </a:solidFill>
                          <a:latin typeface="Calibri"/>
                        </a:rPr>
                        <a:t>+1.0 %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-0.8 %</a:t>
                      </a:r>
                    </a:p>
                  </a:txBody>
                  <a:tcPr/>
                </a:tc>
              </a:tr>
              <a:tr h="259689">
                <a:tc>
                  <a:txBody>
                    <a:bodyPr lIns="54864" rIns="54864" tIns="18288" bIns="18288" wrap="square" anchor="ctr"/>
                    <a:lstStyle/>
                    <a:p>
                      <a:pPr algn="l"/>
                      <a:r>
                        <a:rPr sz="900" b="0">
                          <a:solidFill>
                            <a:srgbClr val="000000"/>
                          </a:solidFill>
                          <a:latin typeface="Calibri"/>
                        </a:rPr>
                        <a:t>E, fixed window</a:t>
                      </a:r>
                    </a:p>
                  </a:txBody>
                  <a:tcPr/>
                </a:tc>
                <a:tc>
                  <a:txBody>
                    <a:bodyPr lIns="54864" rIns="54864" tIns="18288" bIns="18288" wrap="square" anchor="ctr"/>
                    <a:lstStyle/>
                    <a:p>
                      <a:pPr algn="l"/>
                      <a:r>
                        <a:rPr sz="900" b="0">
                          <a:solidFill>
                            <a:srgbClr val="000000"/>
                          </a:solidFill>
                          <a:latin typeface="Calibri"/>
                        </a:rPr>
                        <a:t>+4.4 %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-6.4 %</a:t>
                      </a:r>
                    </a:p>
                  </a:txBody>
                  <a:tcPr/>
                </a:tc>
              </a:tr>
            </a:tbl>
          </a:graphicData>
        </a:graphic>
      </p:graphicFrame>
      <p:sp>
        <p:nvSpPr>
          <p:cNvPr id="8" name="TextBox 7"/>
          <p:cNvSpPr txBox="1"/>
          <p:nvPr/>
        </p:nvSpPr>
        <p:spPr>
          <a:xfrm>
            <a:off x="411480" y="314553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one of these is inside the 2.7–9 % scatter between our own two runs. The yield agreement is the strongest single result here: three specimens, two machines, two instruments, under 1 % apart.</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EXPLAINED, NOT DISMISSED</a:t>
            </a:r>
          </a:p>
        </p:txBody>
      </p:sp>
      <p:sp>
        <p:nvSpPr>
          <p:cNvPr id="10" name="TextBox 9"/>
          <p:cNvSpPr txBox="1"/>
          <p:nvPr/>
        </p:nvSpPr>
        <p:spPr>
          <a:xfrm>
            <a:off x="4343400" y="1737360"/>
            <a:ext cx="3703320" cy="2596896"/>
          </a:xfrm>
          <a:prstGeom prst="rect">
            <a:avLst/>
          </a:prstGeom>
          <a:noFill/>
        </p:spPr>
        <p:txBody>
          <a:bodyPr wrap="square" lIns="45720" rIns="45720" tIns="18288" bIns="18288" anchor="t">
            <a:spAutoFit/>
          </a:bodyPr>
          <a:lstStyle/>
          <a:p>
            <a:pPr algn="l"/>
            <a:r>
              <a:rPr sz="950" b="0" i="0">
                <a:solidFill>
                  <a:srgbClr val="000000"/>
                </a:solidFill>
                <a:latin typeface="Calibri"/>
              </a:rPr>
              <a:t>UTS is 7.7 % low, the strain at UTS 15.5 % low, toughness 7.9 % low. Every quantity that disagrees is post-yield, and every one moves the way a 3× slower pull moves it.
That is a DIRECTION the physics predicts, and NOT a magnitude — the correction on p324 is that the two gauges differ by 1.19× of strain rate rather than the 3× of crosshead, so the speed is worth under 1 %. Our own 2.7 % specimen scatter carries more of it, and the remainder belongs to a different machine and a different batch, which n = 1 a side cannot split.
Also explained: the 1.78× rise in our noise floor, which is 1/Px₀ and nothing else, and the strain-rate gap MOT Test 1 could not account for, which is the load train.</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STILL OPEN</a:t>
            </a:r>
          </a:p>
        </p:txBody>
      </p:sp>
      <p:sp>
        <p:nvSpPr>
          <p:cNvPr id="12" name="TextBox 11"/>
          <p:cNvSpPr txBox="1"/>
          <p:nvPr/>
        </p:nvSpPr>
        <p:spPr>
          <a:xfrm>
            <a:off x="8275320" y="1737360"/>
            <a:ext cx="3566160" cy="2596896"/>
          </a:xfrm>
          <a:prstGeom prst="rect">
            <a:avLst/>
          </a:prstGeom>
          <a:noFill/>
        </p:spPr>
        <p:txBody>
          <a:bodyPr wrap="square" lIns="45720" rIns="45720" tIns="18288" bIns="18288" anchor="t">
            <a:spAutoFit/>
          </a:bodyPr>
          <a:lstStyle/>
          <a:p>
            <a:pPr algn="l"/>
            <a:r>
              <a:rPr sz="950" b="0" i="0">
                <a:solidFill>
                  <a:srgbClr val="000000"/>
                </a:solidFill>
                <a:latin typeface="Calibri"/>
              </a:rPr>
              <a:t>1.  IS THE UTS GAP RATE OR SPECIMEN? One pull of ours at 2 mm/min separates them. It is a single test on a specimen we already print, and it is the cheapest open question in this deck.
2.  WHY DID THE XT-205'S NOISE IMPROVE between the two tests? Its Test 2 optics are unknown, so its pixel span cannot be computed. Running MOT footage through the PPD-UTM pipeline gives that px/mm directly (p300 did it for MOT Test 1).
3.  THEIR GAUGE SHARE IS NOMINAL. A crosshead channel from them would turn 45 % from a bound into a measurement.</a:t>
            </a:r>
          </a:p>
        </p:txBody>
      </p:sp>
      <p:sp>
        <p:nvSpPr>
          <p:cNvPr id="13" name="Rectangle 12"/>
          <p:cNvSpPr/>
          <p:nvPr/>
        </p:nvSpPr>
        <p:spPr>
          <a:xfrm>
            <a:off x="365760" y="4224528"/>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HEADLINE: an instrument we do not own, on a machine we do not control, put yield within 1.0 %, failure strain within 0.8 % and modulus inside our own run-to-run bracket. Nothing was tuned to make that happen, and the one correction applied — putting their strain zero on our convention — was decided before the numbers were compared.</a:t>
            </a:r>
          </a:p>
        </p:txBody>
      </p:sp>
      <p:sp>
        <p:nvSpPr>
          <p:cNvPr id="14" name="TextBox 13"/>
          <p:cNvSpPr txBox="1"/>
          <p:nvPr/>
        </p:nvSpPr>
        <p:spPr>
          <a:xfrm>
            <a:off x="411480" y="5029200"/>
            <a:ext cx="11430000" cy="960120"/>
          </a:xfrm>
          <a:prstGeom prst="rect">
            <a:avLst/>
          </a:prstGeom>
          <a:noFill/>
        </p:spPr>
        <p:txBody>
          <a:bodyPr wrap="square" lIns="45720" rIns="45720" tIns="18288" bIns="18288" anchor="t">
            <a:spAutoFit/>
          </a:bodyPr>
          <a:lstStyle/>
          <a:p>
            <a:pPr algn="l"/>
            <a:r>
              <a:rPr sz="1000" b="0" i="0">
                <a:solidFill>
                  <a:srgbClr val="000000"/>
                </a:solidFill>
                <a:latin typeface="Calibri"/>
              </a:rPr>
              <a:t>WHAT WOULD HAVE FALSIFIED THIS: a modulus outside our bracket, a failure strain off by more than our own two runs differ, or a yield gap larger than the specimen scatter. None of those happened. What did happen — the post-yield gap — has a named cause with a testable direction, and the test costs one specimen. That is the difference between a result that survived a check and a result that was never at risk.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run S34 (100 % infill PLA, 45 mm marker spacing, 99.9 % DIC coverage inside the pull); S33 carried alongside. MOT XT-205, gauge 45.0034 mm.</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327</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MOT FOOTAGE THROUGH THE PPD-UTM PIPELINE</a:t>
            </a:r>
          </a:p>
        </p:txBody>
      </p:sp>
      <p:sp>
        <p:nvSpPr>
          <p:cNvPr id="5" name="TextBox 4"/>
          <p:cNvSpPr txBox="1"/>
          <p:nvPr/>
        </p:nvSpPr>
        <p:spPr>
          <a:xfrm>
            <a:off x="411480" y="969264"/>
            <a:ext cx="11430000" cy="566928"/>
          </a:xfrm>
          <a:prstGeom prst="rect">
            <a:avLst/>
          </a:prstGeom>
          <a:noFill/>
        </p:spPr>
        <p:txBody>
          <a:bodyPr wrap="square" lIns="45720" rIns="45720" tIns="18288" bIns="18288" anchor="t">
            <a:spAutoFit/>
          </a:bodyPr>
          <a:lstStyle/>
          <a:p>
            <a:pPr algn="l"/>
            <a:r>
              <a:rPr sz="1100" b="0" i="0">
                <a:solidFill>
                  <a:srgbClr val="000000"/>
                </a:solidFill>
                <a:latin typeface="Calibri"/>
              </a:rPr>
              <a:t>MOT Test 2 has now been measured three ways, and each pair differs in exactly ONE thing. The XT-205's extensometer and the PPD-UTM pipeline read the SAME footage, so the only difference between them is the CALCULATION. The PPD-UTM pipeline on MOT footage and on S34 differs only in the MACHINE. That is what makes a disagreement attributable instead of merely observed.</a:t>
            </a:r>
          </a:p>
        </p:txBody>
      </p:sp>
      <p:sp>
        <p:nvSpPr>
          <p:cNvPr id="6" name="TextBox 5"/>
          <p:cNvSpPr txBox="1"/>
          <p:nvPr/>
        </p:nvSpPr>
        <p:spPr>
          <a:xfrm>
            <a:off x="411480" y="16093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frame-to-load mapping is exact, not interpolated</a:t>
            </a:r>
          </a:p>
        </p:txBody>
      </p:sp>
      <p:sp>
        <p:nvSpPr>
          <p:cNvPr id="7" name="TextBox 6"/>
          <p:cNvSpPr txBox="1"/>
          <p:nvPr/>
        </p:nvSpPr>
        <p:spPr>
          <a:xfrm>
            <a:off x="411480" y="1956816"/>
            <a:ext cx="5623560" cy="1234440"/>
          </a:xfrm>
          <a:prstGeom prst="rect">
            <a:avLst/>
          </a:prstGeom>
          <a:noFill/>
        </p:spPr>
        <p:txBody>
          <a:bodyPr wrap="square" lIns="45720" rIns="45720" tIns="18288" bIns="18288" anchor="t">
            <a:spAutoFit/>
          </a:bodyPr>
          <a:lstStyle/>
          <a:p>
            <a:pPr algn="l"/>
            <a:r>
              <a:rPr sz="950" b="0" i="0">
                <a:solidFill>
                  <a:srgbClr val="000000"/>
                </a:solidFill>
                <a:latin typeface="Calibri"/>
              </a:rPr>
              <a:t>The .daq carries 3351 rows and the video carries 3351 frames. They were written by one acquisition, so frame i IS row i — no nearest-time search and no assumption that either stream is evenly sampled. Neither is: both carry a few doubled intervals. Their strain file is 43 rows shorter because it drops what it could not measure, so the pairing is made on TIME and lands 3253 matched instants.</a:t>
            </a:r>
          </a:p>
        </p:txBody>
      </p:sp>
      <p:sp>
        <p:nvSpPr>
          <p:cNvPr id="8" name="TextBox 7"/>
          <p:cNvSpPr txBox="1"/>
          <p:nvPr/>
        </p:nvSpPr>
        <p:spPr>
          <a:xfrm>
            <a:off x="411480" y="32552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inputs were wrong — and that turned out to be useful</a:t>
            </a:r>
          </a:p>
        </p:txBody>
      </p:sp>
      <p:graphicFrame>
        <p:nvGraphicFramePr>
          <p:cNvPr id="9" name="Table 8"/>
          <p:cNvGraphicFramePr>
            <a:graphicFrameLocks noGrp="1"/>
          </p:cNvGraphicFramePr>
          <p:nvPr/>
        </p:nvGraphicFramePr>
        <p:xfrm>
          <a:off x="411480" y="3602736"/>
          <a:ext cx="5623559" cy="1499616"/>
        </p:xfrm>
        <a:graphic>
          <a:graphicData uri="http://schemas.openxmlformats.org/drawingml/2006/table">
            <a:tbl>
              <a:tblPr firstRow="1" bandRow="1">
                <a:tableStyleId>{5C22544A-7EE6-4342-B048-85BDC9FD1C3A}</a:tableStyleId>
              </a:tblPr>
              <a:tblGrid>
                <a:gridCol w="1519881"/>
                <a:gridCol w="1165242"/>
                <a:gridCol w="1266567"/>
                <a:gridCol w="1671869"/>
              </a:tblGrid>
              <a:tr h="374904">
                <a:tc>
                  <a:txBody>
                    <a:bodyPr lIns="54864" rIns="54864" tIns="18288" bIns="18288" wrap="square" anchor="ctr"/>
                    <a:lstStyle/>
                    <a:p>
                      <a:pPr algn="l"/>
                      <a:r>
                        <a:rPr sz="900" b="1">
                          <a:solidFill>
                            <a:srgbClr val="FFFFFF"/>
                          </a:solidFill>
                          <a:latin typeface="Calibri"/>
                        </a:rPr>
                        <a:t>Input</a:t>
                      </a:r>
                    </a:p>
                  </a:txBody>
                  <a:tcPr>
                    <a:solidFill>
                      <a:srgbClr val="143D2F"/>
                    </a:solidFill>
                  </a:tcPr>
                </a:tc>
                <a:tc>
                  <a:txBody>
                    <a:bodyPr lIns="54864" rIns="54864" tIns="18288" bIns="18288" wrap="square" anchor="ctr"/>
                    <a:lstStyle/>
                    <a:p>
                      <a:pPr algn="l"/>
                      <a:r>
                        <a:rPr sz="900" b="1">
                          <a:solidFill>
                            <a:srgbClr val="FFFFFF"/>
                          </a:solidFill>
                          <a:latin typeface="Calibri"/>
                        </a:rPr>
                        <a:t>Entered</a:t>
                      </a:r>
                    </a:p>
                  </a:txBody>
                  <a:tcPr>
                    <a:solidFill>
                      <a:srgbClr val="143D2F"/>
                    </a:solidFill>
                  </a:tcPr>
                </a:tc>
                <a:tc>
                  <a:txBody>
                    <a:bodyPr lIns="54864" rIns="54864" tIns="18288" bIns="18288" wrap="square" anchor="ctr"/>
                    <a:lstStyle/>
                    <a:p>
                      <a:pPr algn="l"/>
                      <a:r>
                        <a:rPr sz="900" b="1">
                          <a:solidFill>
                            <a:srgbClr val="FFFFFF"/>
                          </a:solidFill>
                          <a:latin typeface="Calibri"/>
                        </a:rPr>
                        <a:t>True</a:t>
                      </a:r>
                    </a:p>
                  </a:txBody>
                  <a:tcPr>
                    <a:solidFill>
                      <a:srgbClr val="143D2F"/>
                    </a:solidFill>
                  </a:tcPr>
                </a:tc>
                <a:tc>
                  <a:txBody>
                    <a:bodyPr lIns="54864" rIns="54864" tIns="18288" bIns="18288" wrap="square" anchor="ctr"/>
                    <a:lstStyle/>
                    <a:p>
                      <a:pPr algn="l"/>
                      <a:r>
                        <a:rPr sz="900" b="1">
                          <a:solidFill>
                            <a:srgbClr val="FFFFFF"/>
                          </a:solidFill>
                          <a:latin typeface="Calibri"/>
                        </a:rPr>
                        <a:t>What it corrupts</a:t>
                      </a:r>
                    </a:p>
                  </a:txBody>
                  <a:tcPr>
                    <a:solidFill>
                      <a:srgbClr val="143D2F"/>
                    </a:solidFill>
                  </a:tcPr>
                </a:tc>
              </a:tr>
              <a:tr h="374904">
                <a:tc>
                  <a:txBody>
                    <a:bodyPr lIns="54864" rIns="54864" tIns="18288" bIns="18288" wrap="square" anchor="ctr"/>
                    <a:lstStyle/>
                    <a:p>
                      <a:pPr algn="l"/>
                      <a:r>
                        <a:rPr sz="850" b="0">
                          <a:solidFill>
                            <a:srgbClr val="000000"/>
                          </a:solidFill>
                          <a:latin typeface="Calibri"/>
                        </a:rPr>
                        <a:t>frame rate</a:t>
                      </a:r>
                    </a:p>
                  </a:txBody>
                  <a:tcPr/>
                </a:tc>
                <a:tc>
                  <a:txBody>
                    <a:bodyPr lIns="54864" rIns="54864" tIns="18288" bIns="18288" wrap="square" anchor="ctr"/>
                    <a:lstStyle/>
                    <a:p>
                      <a:pPr algn="l"/>
                      <a:r>
                        <a:rPr sz="850" b="0">
                          <a:solidFill>
                            <a:srgbClr val="000000"/>
                          </a:solidFill>
                          <a:latin typeface="Calibri"/>
                        </a:rPr>
                        <a:t>1000 fps</a:t>
                      </a:r>
                    </a:p>
                  </a:txBody>
                  <a:tcPr/>
                </a:tc>
                <a:tc>
                  <a:txBody>
                    <a:bodyPr lIns="54864" rIns="54864" tIns="18288" bIns="18288" wrap="square" anchor="ctr"/>
                    <a:lstStyle/>
                    <a:p>
                      <a:pPr algn="l"/>
                      <a:r>
                        <a:rPr sz="850" b="0">
                          <a:solidFill>
                            <a:srgbClr val="000000"/>
                          </a:solidFill>
                          <a:latin typeface="Calibri"/>
                        </a:rPr>
                        <a:t>19.864 fps</a:t>
                      </a:r>
                    </a:p>
                  </a:txBody>
                  <a:tcPr/>
                </a:tc>
                <a:tc>
                  <a:txBody>
                    <a:bodyPr lIns="54864" rIns="54864" tIns="18288" bIns="18288" wrap="square" anchor="ctr"/>
                    <a:lstStyle/>
                    <a:p>
                      <a:pPr algn="l"/>
                      <a:r>
                        <a:rPr sz="850" b="0">
                          <a:solidFill>
                            <a:srgbClr val="000000"/>
                          </a:solidFill>
                          <a:latin typeface="Calibri"/>
                        </a:rPr>
                        <a:t>every time output,
by 50.3×</a:t>
                      </a:r>
                    </a:p>
                  </a:txBody>
                  <a:tcPr/>
                </a:tc>
              </a:tr>
              <a:tr h="374904">
                <a:tc>
                  <a:txBody>
                    <a:bodyPr lIns="54864" rIns="54864" tIns="18288" bIns="18288" wrap="square" anchor="ctr"/>
                    <a:lstStyle/>
                    <a:p>
                      <a:pPr algn="l"/>
                      <a:r>
                        <a:rPr sz="850" b="0">
                          <a:solidFill>
                            <a:srgbClr val="000000"/>
                          </a:solidFill>
                          <a:latin typeface="Calibri"/>
                        </a:rPr>
                        <a:t>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45.0034 mm</a:t>
                      </a:r>
                    </a:p>
                  </a:txBody>
                  <a:tcPr/>
                </a:tc>
                <a:tc>
                  <a:txBody>
                    <a:bodyPr lIns="54864" rIns="54864" tIns="18288" bIns="18288" wrap="square" anchor="ctr"/>
                    <a:lstStyle/>
                    <a:p>
                      <a:pPr algn="l"/>
                      <a:r>
                        <a:rPr sz="850" b="0">
                          <a:solidFill>
                            <a:srgbClr val="000000"/>
                          </a:solidFill>
                          <a:latin typeface="Calibri"/>
                        </a:rPr>
                        <a:t>px/mm and the
extension in mm</a:t>
                      </a:r>
                    </a:p>
                  </a:txBody>
                  <a:tcPr/>
                </a:tc>
              </a:tr>
              <a:tr h="374904">
                <a:tc>
                  <a:txBody>
                    <a:bodyPr lIns="54864" rIns="54864" tIns="18288" bIns="18288" wrap="square" anchor="ctr"/>
                    <a:lstStyle/>
                    <a:p>
                      <a:pPr algn="l"/>
                      <a:r>
                        <a:rPr sz="850" b="0">
                          <a:solidFill>
                            <a:srgbClr val="000000"/>
                          </a:solidFill>
                          <a:latin typeface="Calibri"/>
                        </a:rPr>
                        <a:t>px/mm (derived)</a:t>
                      </a:r>
                    </a:p>
                  </a:txBody>
                  <a:tcPr/>
                </a:tc>
                <a:tc>
                  <a:txBody>
                    <a:bodyPr lIns="54864" rIns="54864" tIns="18288" bIns="18288" wrap="square" anchor="ctr"/>
                    <a:lstStyle/>
                    <a:p>
                      <a:pPr algn="l"/>
                      <a:r>
                        <a:rPr sz="850" b="0">
                          <a:solidFill>
                            <a:srgbClr val="000000"/>
                          </a:solidFill>
                          <a:latin typeface="Calibri"/>
                        </a:rPr>
                        <a:t>15.6866</a:t>
                      </a:r>
                    </a:p>
                  </a:txBody>
                  <a:tcPr/>
                </a:tc>
                <a:tc>
                  <a:txBody>
                    <a:bodyPr lIns="54864" rIns="54864" tIns="18288" bIns="18288" wrap="square" anchor="ctr"/>
                    <a:lstStyle/>
                    <a:p>
                      <a:pPr algn="l"/>
                      <a:r>
                        <a:rPr sz="850" b="0">
                          <a:solidFill>
                            <a:srgbClr val="000000"/>
                          </a:solidFill>
                          <a:latin typeface="Calibri"/>
                        </a:rPr>
                        <a:t>27.8852</a:t>
                      </a:r>
                    </a:p>
                  </a:txBody>
                  <a:tcPr/>
                </a:tc>
                <a:tc>
                  <a:txBody>
                    <a:bodyPr lIns="54864" rIns="54864" tIns="18288" bIns="18288" wrap="square" anchor="ctr"/>
                    <a:lstStyle/>
                    <a:p>
                      <a:pPr algn="l"/>
                      <a:r>
                        <a:rPr sz="850" b="0">
                          <a:solidFill>
                            <a:srgbClr val="000000"/>
                          </a:solidFill>
                          <a:latin typeface="Calibri"/>
                        </a:rPr>
                        <a:t>nothing further</a:t>
                      </a:r>
                    </a:p>
                  </a:txBody>
                  <a:tcPr/>
                </a:tc>
              </a:tr>
            </a:tbl>
          </a:graphicData>
        </a:graphic>
      </p:graphicFrame>
      <p:sp>
        <p:nvSpPr>
          <p:cNvPr id="10" name="TextBox 9"/>
          <p:cNvSpPr txBox="1"/>
          <p:nvPr/>
        </p:nvSpPr>
        <p:spPr>
          <a:xfrm>
            <a:off x="6263640" y="16093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Neither one touches the strain</a:t>
            </a:r>
          </a:p>
        </p:txBody>
      </p:sp>
      <p:sp>
        <p:nvSpPr>
          <p:cNvPr id="11" name="TextBox 10"/>
          <p:cNvSpPr txBox="1"/>
          <p:nvPr/>
        </p:nvSpPr>
        <p:spPr>
          <a:xfrm>
            <a:off x="6263640" y="1956816"/>
            <a:ext cx="5577840" cy="1234440"/>
          </a:xfrm>
          <a:prstGeom prst="rect">
            <a:avLst/>
          </a:prstGeom>
          <a:noFill/>
        </p:spPr>
        <p:txBody>
          <a:bodyPr wrap="square" lIns="45720" rIns="45720" tIns="18288" bIns="18288" anchor="t">
            <a:spAutoFit/>
          </a:bodyPr>
          <a:lstStyle/>
          <a:p>
            <a:pPr algn="l"/>
            <a:r>
              <a:rPr sz="950" b="0" i="0">
                <a:solidFill>
                  <a:srgbClr val="000000"/>
                </a:solidFill>
                <a:latin typeface="Calibri"/>
              </a:rPr>
              <a:t>Because strain is a pixel ratio:   ε = (L − Px₀) / Px₀.
The frame rate is not in it and the gauge is not in it. So this run is an accidental controlled experiment in the deck's own claim about px/mm (p313): two wrong inputs, and exactly the outputs that depend on them came out wrong while the measurement itself did not move at all.</a:t>
            </a:r>
          </a:p>
        </p:txBody>
      </p:sp>
      <p:sp>
        <p:nvSpPr>
          <p:cNvPr id="12" name="TextBox 11"/>
          <p:cNvSpPr txBox="1"/>
          <p:nvPr/>
        </p:nvSpPr>
        <p:spPr>
          <a:xfrm>
            <a:off x="6263640" y="32552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answers a question we left open</a:t>
            </a:r>
          </a:p>
        </p:txBody>
      </p:sp>
      <p:sp>
        <p:nvSpPr>
          <p:cNvPr id="13" name="TextBox 12"/>
          <p:cNvSpPr txBox="1"/>
          <p:nvPr/>
        </p:nvSpPr>
        <p:spPr>
          <a:xfrm>
            <a:off x="6263640" y="3602736"/>
            <a:ext cx="5577840" cy="1499616"/>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said the XT-205's Test 2 optics were unknown, so its pixel span could not be computed and its noise could not be explained. It can now: Px₀ = 1254.9 px over 45.0034 mm is 27.885 px/mm — the SAME 27.9 px/mm they used in MOT Test 1. The XT-205's optics did not change between the two tests; only the gauge did.</a:t>
            </a:r>
          </a:p>
        </p:txBody>
      </p:sp>
      <p:sp>
        <p:nvSpPr>
          <p:cNvPr id="14" name="Rectangle 13"/>
          <p:cNvSpPr/>
          <p:nvPr/>
        </p:nvSpPr>
        <p:spPr>
          <a:xfrm>
            <a:off x="365760" y="5266944"/>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clock was corrected from the acquisition, not re-run: the .daq already carries the true time base, so the fix is exact rather than approximate.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2\DIC post processing data\sample3_chan 0_dic_postproc.csv (3351 frames, 100 % tracked, 0 re-seeds), read by documentation/scripts/mot2_pp.py.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TWO STRAIN RECORDS FROM ONE VIDEO</a:t>
            </a:r>
          </a:p>
        </p:txBody>
      </p:sp>
      <p:pic>
        <p:nvPicPr>
          <p:cNvPr id="5" name="Picture 4" descr="mot2pp_strain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train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them apart first</a:t>
            </a:r>
          </a:p>
        </p:txBody>
      </p:sp>
      <p:sp>
        <p:nvSpPr>
          <p:cNvPr id="8" name="TextBox 7"/>
          <p:cNvSpPr txBox="1"/>
          <p:nvPr/>
        </p:nvSpPr>
        <p:spPr>
          <a:xfrm>
            <a:off x="41148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Two instruments, one video, one specimen, one clock. On their own zero-load zeros the peaks are 5.325 % (ours) and 5.327 % (theirs) — 0.03 % apart, before any correction or alignment is applied to either.</a:t>
            </a:r>
          </a:p>
        </p:txBody>
      </p:sp>
      <p:sp>
        <p:nvSpPr>
          <p:cNvPr id="9" name="TextBox 8"/>
          <p:cNvSpPr txBox="1"/>
          <p:nvPr/>
        </p:nvSpPr>
        <p:spPr>
          <a:xfrm>
            <a:off x="434340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trap, one sample apart</a:t>
            </a:r>
          </a:p>
        </p:txBody>
      </p:sp>
      <p:sp>
        <p:nvSpPr>
          <p:cNvPr id="10" name="TextBox 9"/>
          <p:cNvSpPr txBox="1"/>
          <p:nvPr/>
        </p:nvSpPr>
        <p:spPr>
          <a:xfrm>
            <a:off x="434340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Both records run past the specimen parting, and both then follow the halves rather than the gauge. Theirs collapses 5.33 → 2.78 % and the peak is read before it. Ours holds on longer and then jumps +3.42 px in one 50 ms frame; 4 trailing frames are dropped. Untrimmed it would report 5.402 %, and a 1.6 % disagreement where there is none.</a:t>
            </a:r>
          </a:p>
        </p:txBody>
      </p:sp>
      <p:sp>
        <p:nvSpPr>
          <p:cNvPr id="11" name="TextBox 10"/>
          <p:cNvSpPr txBox="1"/>
          <p:nvPr/>
        </p:nvSpPr>
        <p:spPr>
          <a:xfrm>
            <a:off x="8275320" y="422452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trim rule is safe</a:t>
            </a:r>
          </a:p>
        </p:txBody>
      </p:sp>
      <p:sp>
        <p:nvSpPr>
          <p:cNvPr id="12" name="TextBox 11"/>
          <p:cNvSpPr txBox="1"/>
          <p:nvPr/>
        </p:nvSpPr>
        <p:spPr>
          <a:xfrm>
            <a:off x="8275320" y="4572000"/>
            <a:ext cx="3566160" cy="1417320"/>
          </a:xfrm>
          <a:prstGeom prst="rect">
            <a:avLst/>
          </a:prstGeom>
          <a:noFill/>
        </p:spPr>
        <p:txBody>
          <a:bodyPr wrap="square" lIns="45720" rIns="45720" tIns="18288" bIns="18288" anchor="t">
            <a:spAutoFit/>
          </a:bodyPr>
          <a:lstStyle/>
          <a:p>
            <a:pPr algn="l"/>
            <a:r>
              <a:rPr sz="950" b="0" i="0">
                <a:solidFill>
                  <a:srgbClr val="000000"/>
                </a:solidFill>
                <a:latin typeface="Calibri"/>
              </a:rPr>
              <a:t>It is relative, not absolute: a trailing sample is dropped only if the marker span moves more than 10× the median step of the preceding 40 frames. A fast but genuine plastic ramp cannot trip it, and it is applied to both records even though only one needs it.</a:t>
            </a:r>
          </a:p>
        </p:txBody>
      </p:sp>
      <p:sp>
        <p:nvSpPr>
          <p:cNvPr id="13" name="Rectangle 12"/>
          <p:cNvSpPr/>
          <p:nvPr/>
        </p:nvSpPr>
        <p:spPr>
          <a:xfrm>
            <a:off x="365760" y="6053328"/>
            <a:ext cx="11475720" cy="36576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A specimen cannot stretch further in 50 ms than it did in the previous second while the load is FALLING. That is the whole test, and it is what separates the tear from the pull.</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plots are the FULL records on each instrument's own zero-load zero, so they can be read against each other directly. Every landmark table in this block re-zeroes both at the 300 N preload instead.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329</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SAME PIXELS, TWO CALCULATIONS, ONE ANSWER</a:t>
            </a:r>
          </a:p>
        </p:txBody>
      </p:sp>
      <p:pic>
        <p:nvPicPr>
          <p:cNvPr id="5" name="Picture 4" descr="mot2pp_agree.png"/>
          <p:cNvPicPr>
            <a:picLocks noChangeAspect="1"/>
          </p:cNvPicPr>
          <p:nvPr/>
        </p:nvPicPr>
        <p:blipFill>
          <a:blip r:embed="rId2"/>
          <a:stretch>
            <a:fillRect/>
          </a:stretch>
        </p:blipFill>
        <p:spPr>
          <a:xfrm>
            <a:off x="1953635" y="987552"/>
            <a:ext cx="8345689" cy="2999232"/>
          </a:xfrm>
          <a:prstGeom prst="rect">
            <a:avLst/>
          </a:prstGeom>
        </p:spPr>
      </p:pic>
      <p:sp>
        <p:nvSpPr>
          <p:cNvPr id="6" name="TextBox 5"/>
          <p:cNvSpPr txBox="1"/>
          <p:nvPr/>
        </p:nvSpPr>
        <p:spPr>
          <a:xfrm>
            <a:off x="411480" y="405993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Scale and offset, separated — they are different faults</a:t>
            </a:r>
          </a:p>
        </p:txBody>
      </p:sp>
      <p:graphicFrame>
        <p:nvGraphicFramePr>
          <p:cNvPr id="7" name="Table 6"/>
          <p:cNvGraphicFramePr>
            <a:graphicFrameLocks noGrp="1"/>
          </p:cNvGraphicFramePr>
          <p:nvPr/>
        </p:nvGraphicFramePr>
        <p:xfrm>
          <a:off x="411480" y="4407408"/>
          <a:ext cx="5623559" cy="1298448"/>
        </p:xfrm>
        <a:graphic>
          <a:graphicData uri="http://schemas.openxmlformats.org/drawingml/2006/table">
            <a:tbl>
              <a:tblPr firstRow="1" bandRow="1">
                <a:tableStyleId>{5C22544A-7EE6-4342-B048-85BDC9FD1C3A}</a:tableStyleId>
              </a:tblPr>
              <a:tblGrid>
                <a:gridCol w="1005840"/>
                <a:gridCol w="1234439"/>
                <a:gridCol w="3383280"/>
              </a:tblGrid>
              <a:tr h="324612">
                <a:tc>
                  <a:txBody>
                    <a:bodyPr lIns="54864" rIns="54864" tIns="18288" bIns="18288" wrap="square" anchor="ctr"/>
                    <a:lstStyle/>
                    <a:p>
                      <a:pPr algn="l"/>
                      <a:r>
                        <a:rPr sz="900" b="1">
                          <a:solidFill>
                            <a:srgbClr val="FFFFFF"/>
                          </a:solidFill>
                          <a:latin typeface="Calibri"/>
                        </a:rPr>
                        <a:t>Quantity</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scale</a:t>
                      </a:r>
                    </a:p>
                  </a:txBody>
                  <a:tcPr/>
                </a:tc>
                <a:tc>
                  <a:txBody>
                    <a:bodyPr lIns="54864" rIns="54864" tIns="18288" bIns="18288" wrap="square" anchor="ctr"/>
                    <a:lstStyle/>
                    <a:p>
                      <a:pPr algn="l"/>
                      <a:r>
                        <a:rPr sz="850" b="0">
                          <a:solidFill>
                            <a:srgbClr val="000000"/>
                          </a:solidFill>
                          <a:latin typeface="Calibri"/>
                        </a:rPr>
                        <a:t>0.999283</a:t>
                      </a:r>
                    </a:p>
                  </a:txBody>
                  <a:tcPr/>
                </a:tc>
                <a:tc>
                  <a:txBody>
                    <a:bodyPr lIns="54864" rIns="54864" tIns="18288" bIns="18288" wrap="square" anchor="ctr"/>
                    <a:lstStyle/>
                    <a:p>
                      <a:pPr algn="l"/>
                      <a:r>
                        <a:rPr sz="850" b="0">
                          <a:solidFill>
                            <a:srgbClr val="000000"/>
                          </a:solidFill>
                          <a:latin typeface="Calibri"/>
                        </a:rPr>
                        <a:t>the two calculations differ by
0.072 % of scale</a:t>
                      </a:r>
                    </a:p>
                  </a:txBody>
                  <a:tcPr/>
                </a:tc>
              </a:tr>
              <a:tr h="324612">
                <a:tc>
                  <a:txBody>
                    <a:bodyPr lIns="54864" rIns="54864" tIns="18288" bIns="18288" wrap="square" anchor="ctr"/>
                    <a:lstStyle/>
                    <a:p>
                      <a:pPr algn="l"/>
                      <a:r>
                        <a:rPr sz="850" b="0">
                          <a:solidFill>
                            <a:srgbClr val="000000"/>
                          </a:solidFill>
                          <a:latin typeface="Calibri"/>
                        </a:rPr>
                        <a:t>offset</a:t>
                      </a:r>
                    </a:p>
                  </a:txBody>
                  <a:tcPr/>
                </a:tc>
                <a:tc>
                  <a:txBody>
                    <a:bodyPr lIns="54864" rIns="54864" tIns="18288" bIns="18288" wrap="square" anchor="ctr"/>
                    <a:lstStyle/>
                    <a:p>
                      <a:pPr algn="l"/>
                      <a:r>
                        <a:rPr sz="850" b="0">
                          <a:solidFill>
                            <a:srgbClr val="000000"/>
                          </a:solidFill>
                          <a:latin typeface="Calibri"/>
                        </a:rPr>
                        <a:t>-54.8 µε</a:t>
                      </a:r>
                    </a:p>
                  </a:txBody>
                  <a:tcPr/>
                </a:tc>
                <a:tc>
                  <a:txBody>
                    <a:bodyPr lIns="54864" rIns="54864" tIns="18288" bIns="18288" wrap="square" anchor="ctr"/>
                    <a:lstStyle/>
                    <a:p>
                      <a:pPr algn="l"/>
                      <a:r>
                        <a:rPr sz="850" b="0">
                          <a:solidFill>
                            <a:srgbClr val="000000"/>
                          </a:solidFill>
                          <a:latin typeface="Calibri"/>
                        </a:rPr>
                        <a:t>-0.0688 px on a 1255 px span —
a reference-frame difference</a:t>
                      </a:r>
                    </a:p>
                  </a:txBody>
                  <a:tcPr/>
                </a:tc>
              </a:tr>
              <a:tr h="324612">
                <a:tc>
                  <a:txBody>
                    <a:bodyPr lIns="54864" rIns="54864" tIns="18288" bIns="18288" wrap="square" anchor="ctr"/>
                    <a:lstStyle/>
                    <a:p>
                      <a:pPr algn="l"/>
                      <a:r>
                        <a:rPr sz="850" b="0">
                          <a:solidFill>
                            <a:srgbClr val="000000"/>
                          </a:solidFill>
                          <a:latin typeface="Calibri"/>
                        </a:rPr>
                        <a:t>R²</a:t>
                      </a:r>
                    </a:p>
                  </a:txBody>
                  <a:tcPr/>
                </a:tc>
                <a:tc>
                  <a:txBody>
                    <a:bodyPr lIns="54864" rIns="54864" tIns="18288" bIns="18288" wrap="square" anchor="ctr"/>
                    <a:lstStyle/>
                    <a:p>
                      <a:pPr algn="l"/>
                      <a:r>
                        <a:rPr sz="850" b="0">
                          <a:solidFill>
                            <a:srgbClr val="000000"/>
                          </a:solidFill>
                          <a:latin typeface="Calibri"/>
                        </a:rPr>
                        <a:t>0.9999964</a:t>
                      </a:r>
                    </a:p>
                  </a:txBody>
                  <a:tcPr/>
                </a:tc>
                <a:tc>
                  <a:txBody>
                    <a:bodyPr lIns="54864" rIns="54864" tIns="18288" bIns="18288" wrap="square" anchor="ctr"/>
                    <a:lstStyle/>
                    <a:p>
                      <a:pPr algn="l"/>
                      <a:r>
                        <a:rPr sz="850" b="0">
                          <a:solidFill>
                            <a:srgbClr val="000000"/>
                          </a:solidFill>
                          <a:latin typeface="Calibri"/>
                        </a:rPr>
                        <a:t>residual sd 30.3 µε over
3153 points</a:t>
                      </a:r>
                    </a:p>
                  </a:txBody>
                  <a:tcPr/>
                </a:tc>
              </a:tr>
            </a:tbl>
          </a:graphicData>
        </a:graphic>
      </p:graphicFrame>
      <p:sp>
        <p:nvSpPr>
          <p:cNvPr id="8" name="TextBox 7"/>
          <p:cNvSpPr txBox="1"/>
          <p:nvPr/>
        </p:nvSpPr>
        <p:spPr>
          <a:xfrm>
            <a:off x="6263640" y="4059936"/>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not just a ratio</a:t>
            </a:r>
          </a:p>
        </p:txBody>
      </p:sp>
      <p:sp>
        <p:nvSpPr>
          <p:cNvPr id="9" name="TextBox 8"/>
          <p:cNvSpPr txBox="1"/>
          <p:nvPr/>
        </p:nvSpPr>
        <p:spPr>
          <a:xfrm>
            <a:off x="6263640" y="4407408"/>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A ratio cannot tell a scale error from a constant offset: a fixed 55 µε is 1.5 % of the reading at 0.3 % strain and 0.1 % of it at 5 %, which looks exactly like a drifting scale. Regressing separates them.</a:t>
            </a:r>
          </a:p>
        </p:txBody>
      </p:sp>
      <p:sp>
        <p:nvSpPr>
          <p:cNvPr id="10" name="TextBox 9"/>
          <p:cNvSpPr txBox="1"/>
          <p:nvPr/>
        </p:nvSpPr>
        <p:spPr>
          <a:xfrm>
            <a:off x="9189720" y="4059936"/>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1 said the same</a:t>
            </a:r>
          </a:p>
        </p:txBody>
      </p:sp>
      <p:sp>
        <p:nvSpPr>
          <p:cNvPr id="11" name="TextBox 10"/>
          <p:cNvSpPr txBox="1"/>
          <p:nvPr/>
        </p:nvSpPr>
        <p:spPr>
          <a:xfrm>
            <a:off x="9189720" y="4407408"/>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On the 80 mm footage the two calculations agreed to a median ratio of 1.0017 and k = 0.99991 (p300). Different gauge, different specimen, same answer — which is what makes it a repeat rather than a coincidence.</a:t>
            </a:r>
          </a:p>
        </p:txBody>
      </p:sp>
      <p:sp>
        <p:nvSpPr>
          <p:cNvPr id="12" name="Rectangle 11"/>
          <p:cNvSpPr/>
          <p:nvPr/>
        </p:nvSpPr>
        <p:spPr>
          <a:xfrm>
            <a:off x="365760" y="5870448"/>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Same footage, two independent calculations: they agree on SCALE to 0.072 % and differ by a constant of 0.069 px — less than a tenth of one pixel on the marker span. Our maths is not the thing that could be wrong.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3253 instants matched on the shared clock; the 3153 above 0.05 % strain are used, because below that a ratio measures the noise floor rather than the 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330</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ONE LOAD CHANNEL, THREE STRAIN READINGS</a:t>
            </a:r>
          </a:p>
        </p:txBody>
      </p:sp>
      <p:pic>
        <p:nvPicPr>
          <p:cNvPr id="5" name="Picture 4" descr="mot2pp_stress.png"/>
          <p:cNvPicPr>
            <a:picLocks noChangeAspect="1"/>
          </p:cNvPicPr>
          <p:nvPr/>
        </p:nvPicPr>
        <p:blipFill>
          <a:blip r:embed="rId2"/>
          <a:stretch>
            <a:fillRect/>
          </a:stretch>
        </p:blipFill>
        <p:spPr>
          <a:xfrm>
            <a:off x="276229" y="969264"/>
            <a:ext cx="6140948" cy="3593592"/>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the XT-205</a:t>
            </a:r>
          </a:p>
        </p:txBody>
      </p:sp>
      <p:graphicFrame>
        <p:nvGraphicFramePr>
          <p:cNvPr id="7" name="Table 6"/>
          <p:cNvGraphicFramePr>
            <a:graphicFrameLocks noGrp="1"/>
          </p:cNvGraphicFramePr>
          <p:nvPr/>
        </p:nvGraphicFramePr>
        <p:xfrm>
          <a:off x="6492240" y="1316736"/>
          <a:ext cx="5349240" cy="1920240"/>
        </p:xfrm>
        <a:graphic>
          <a:graphicData uri="http://schemas.openxmlformats.org/drawingml/2006/table">
            <a:tbl>
              <a:tblPr firstRow="1" bandRow="1">
                <a:tableStyleId>{5C22544A-7EE6-4342-B048-85BDC9FD1C3A}</a:tableStyleId>
              </a:tblPr>
              <a:tblGrid>
                <a:gridCol w="1737360"/>
                <a:gridCol w="914400"/>
                <a:gridCol w="914400"/>
                <a:gridCol w="868680"/>
                <a:gridCol w="914400"/>
              </a:tblGrid>
              <a:tr h="240030">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XT205-S2 ·
PPD-UTM DIC</a:t>
                      </a:r>
                    </a:p>
                  </a:txBody>
                  <a:tcPr>
                    <a:solidFill>
                      <a:srgbClr val="143D2F"/>
                    </a:solidFill>
                  </a:tcPr>
                </a:tc>
                <a:tc>
                  <a:txBody>
                    <a:bodyPr lIns="54864" rIns="54864" tIns="18288" bIns="18288" wrap="square" anchor="ctr"/>
                    <a:lstStyle/>
                    <a:p>
                      <a:pPr algn="l"/>
                      <a:r>
                        <a:rPr sz="850" b="1">
                          <a:solidFill>
                            <a:srgbClr val="FFFFFF"/>
                          </a:solidFill>
                          <a:latin typeface="Calibri"/>
                        </a:rPr>
                        <a:t>XT205-S2 ·
XT-205</a:t>
                      </a:r>
                    </a:p>
                  </a:txBody>
                  <a:tcPr>
                    <a:solidFill>
                      <a:srgbClr val="143D2F"/>
                    </a:solidFill>
                  </a:tcPr>
                </a:tc>
                <a:tc>
                  <a:txBody>
                    <a:bodyPr lIns="54864" rIns="54864" tIns="18288" bIns="18288" wrap="square" anchor="ctr"/>
                    <a:lstStyle/>
                    <a:p>
                      <a:pPr algn="l"/>
                      <a:r>
                        <a:rPr sz="850" b="1">
                          <a:solidFill>
                            <a:srgbClr val="FFFFFF"/>
                          </a:solidFill>
                          <a:latin typeface="Calibri"/>
                        </a:rPr>
                        <a:t>offset</a:t>
                      </a:r>
                    </a:p>
                  </a:txBody>
                  <a:tcPr>
                    <a:solidFill>
                      <a:srgbClr val="143D2F"/>
                    </a:solidFill>
                  </a:tcPr>
                </a:tc>
                <a:tc>
                  <a:txBody>
                    <a:bodyPr lIns="54864" rIns="54864" tIns="18288" bIns="18288" wrap="square" anchor="ctr"/>
                    <a:lstStyle/>
                    <a:p>
                      <a:pPr algn="l"/>
                      <a:r>
                        <a:rPr sz="850" b="1">
                          <a:solidFill>
                            <a:srgbClr val="FFFFFF"/>
                          </a:solidFill>
                          <a:latin typeface="Calibri"/>
                        </a:rPr>
                        <a:t>S34 ·
PPD-UTM</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39.23</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48.34</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-0.22 %</a:t>
                      </a:r>
                    </a:p>
                  </a:txBody>
                  <a:tcPr/>
                </a:tc>
                <a:tc>
                  <a:txBody>
                    <a:bodyPr lIns="54864" rIns="54864" tIns="18288" bIns="18288" wrap="square" anchor="ctr"/>
                    <a:lstStyle/>
                    <a:p>
                      <a:pPr algn="l"/>
                      <a:r>
                        <a:rPr sz="850" b="0">
                          <a:solidFill>
                            <a:srgbClr val="000000"/>
                          </a:solidFill>
                          <a:latin typeface="Calibri"/>
                        </a:rPr>
                        <a:t>2.27</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5.22</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+0.08 %</a:t>
                      </a:r>
                    </a:p>
                  </a:txBody>
                  <a:tcPr/>
                </a:tc>
                <a:tc>
                  <a:txBody>
                    <a:bodyPr lIns="54864" rIns="54864" tIns="18288" bIns="18288" wrap="square" anchor="ctr"/>
                    <a:lstStyle/>
                    <a:p>
                      <a:pPr algn="l"/>
                      <a:r>
                        <a:rPr sz="850" b="0">
                          <a:solidFill>
                            <a:srgbClr val="000000"/>
                          </a:solidFill>
                          <a:latin typeface="Calibri"/>
                        </a:rPr>
                        <a:t>5.25</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39.05</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-0.04 %</a:t>
                      </a:r>
                    </a:p>
                  </a:txBody>
                  <a:tcPr/>
                </a:tc>
                <a:tc>
                  <a:txBody>
                    <a:bodyPr lIns="54864" rIns="54864" tIns="18288" bIns="18288" wrap="square" anchor="ctr"/>
                    <a:lstStyle/>
                    <a:p>
                      <a:pPr algn="l"/>
                      <a:r>
                        <a:rPr sz="850" b="0">
                          <a:solidFill>
                            <a:srgbClr val="000000"/>
                          </a:solidFill>
                          <a:latin typeface="Calibri"/>
                        </a:rPr>
                        <a:t>43.57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1.93</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-1.44 %</a:t>
                      </a:r>
                    </a:p>
                  </a:txBody>
                  <a:tcPr/>
                </a:tc>
                <a:tc>
                  <a:txBody>
                    <a:bodyPr lIns="54864" rIns="54864" tIns="18288" bIns="18288" wrap="square" anchor="ctr"/>
                    <a:lstStyle/>
                    <a:p>
                      <a:pPr algn="l"/>
                      <a:r>
                        <a:rPr sz="850" b="0">
                          <a:solidFill>
                            <a:srgbClr val="000000"/>
                          </a:solidFill>
                          <a:latin typeface="Calibri"/>
                        </a:rPr>
                        <a:t>2.13</a:t>
                      </a:r>
                    </a:p>
                  </a:txBody>
                  <a:tcPr/>
                </a:tc>
              </a:tr>
              <a:tr h="240030">
                <a:tc>
                  <a:txBody>
                    <a:bodyPr lIns="54864" rIns="54864" tIns="18288" bIns="18288" wrap="square" anchor="ctr"/>
                    <a:lstStyle/>
                    <a:p>
                      <a:pPr algn="l"/>
                      <a:r>
                        <a:rPr sz="850" b="0">
                          <a:solidFill>
                            <a:srgbClr val="000000"/>
                          </a:solidFill>
                          <a:latin typeface="Calibri"/>
                        </a:rPr>
                        <a:t>noise, 0.05–0.35 % (µε)</a:t>
                      </a:r>
                    </a:p>
                  </a:txBody>
                  <a:tcPr/>
                </a:tc>
                <a:tc>
                  <a:txBody>
                    <a:bodyPr lIns="54864" rIns="54864" tIns="18288" bIns="18288" wrap="square" anchor="ctr"/>
                    <a:lstStyle/>
                    <a:p>
                      <a:pPr algn="l"/>
                      <a:r>
                        <a:rPr sz="850" b="0">
                          <a:solidFill>
                            <a:srgbClr val="000000"/>
                          </a:solidFill>
                          <a:latin typeface="Calibri"/>
                        </a:rPr>
                        <a:t>24.1</a:t>
                      </a:r>
                    </a:p>
                  </a:txBody>
                  <a:tcPr/>
                </a:tc>
                <a:tc>
                  <a:txBody>
                    <a:bodyPr lIns="54864" rIns="54864" tIns="18288" bIns="18288" wrap="square" anchor="ctr"/>
                    <a:lstStyle/>
                    <a:p>
                      <a:pPr algn="l"/>
                      <a:r>
                        <a:rPr sz="850" b="0">
                          <a:solidFill>
                            <a:srgbClr val="000000"/>
                          </a:solidFill>
                          <a:latin typeface="Calibri"/>
                        </a:rPr>
                        <a:t>28.6</a:t>
                      </a:r>
                    </a:p>
                  </a:txBody>
                  <a:tcPr/>
                </a:tc>
                <a:tc>
                  <a:txBody>
                    <a:bodyPr lIns="54864" rIns="54864" tIns="18288" bIns="18288" wrap="square" anchor="ctr"/>
                    <a:lstStyle/>
                    <a:p>
                      <a:pPr algn="l"/>
                      <a:r>
                        <a:rPr sz="850" b="0">
                          <a:solidFill>
                            <a:srgbClr val="000000"/>
                          </a:solidFill>
                          <a:latin typeface="Calibri"/>
                        </a:rPr>
                        <a:t>-15.8 %</a:t>
                      </a:r>
                    </a:p>
                  </a:txBody>
                  <a:tcPr/>
                </a:tc>
                <a:tc>
                  <a:txBody>
                    <a:bodyPr lIns="54864" rIns="54864" tIns="18288" bIns="18288" wrap="square" anchor="ctr"/>
                    <a:lstStyle/>
                    <a:p>
                      <a:pPr algn="l"/>
                      <a:r>
                        <a:rPr sz="850" b="0">
                          <a:solidFill>
                            <a:srgbClr val="000000"/>
                          </a:solidFill>
                          <a:latin typeface="Calibri"/>
                        </a:rPr>
                        <a:t>44.0</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of these columns are the same specimen</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UTS is identical to two decimals because both read the SAME load cell — that column is a check on the plumbing, not on the DIC. Everything that depends on STRAIN is where the test actually is, and σ_y lands within 0.00 %, failure strain within 0.08 % and fracture stress within 0.04 %.
The gap to S34 is the one that is real: a different machine and a different specimen. It stays at 7.7 % on UTS, exactly where the previous slide-set left it, and this leg does not move it. That is the point — the calculation was never a candidate for it, and now that is shown rather than assumed.</a:t>
            </a:r>
          </a:p>
        </p:txBody>
      </p:sp>
      <p:sp>
        <p:nvSpPr>
          <p:cNvPr id="10" name="TextBox 9"/>
          <p:cNvSpPr txBox="1"/>
          <p:nvPr/>
        </p:nvSpPr>
        <p:spPr>
          <a:xfrm>
            <a:off x="274320" y="4626864"/>
            <a:ext cx="6144768" cy="1060704"/>
          </a:xfrm>
          <a:prstGeom prst="rect">
            <a:avLst/>
          </a:prstGeom>
          <a:noFill/>
        </p:spPr>
        <p:txBody>
          <a:bodyPr wrap="square" lIns="45720" rIns="45720" tIns="18288" bIns="18288" anchor="t">
            <a:spAutoFit/>
          </a:bodyPr>
          <a:lstStyle/>
          <a:p>
            <a:pPr algn="l"/>
            <a:r>
              <a:rPr sz="950" b="0" i="0">
                <a:solidFill>
                  <a:srgbClr val="000000"/>
                </a:solidFill>
                <a:latin typeface="Calibri"/>
              </a:rPr>
              <a:t>Toughness differs by 1.44 % for a mechanical reason rather than a numerical one: it is the AREA under the curve, so it accumulates every small strain difference along the whole record instead of sampling one instant. It is the most sensitive line in the table and still under 1.5 %.</a:t>
            </a:r>
          </a:p>
        </p:txBody>
      </p:sp>
      <p:sp>
        <p:nvSpPr>
          <p:cNvPr id="11" name="Rectangle 10"/>
          <p:cNvSpPr/>
          <p:nvPr/>
        </p:nvSpPr>
        <p:spPr>
          <a:xfrm>
            <a:off x="365760" y="5797296"/>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blue dashed curve is the PPD-UTM DIC and the red is the XT-205, on one specimen — they are drawn on top of each other because they are the same measurement.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three re-zeroed at the 300 N preload so they share our convention. Stress is the XT-205's load ÷ 80 mm² nominal for the two red/blue curves, and our own load cell for S34.</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331</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THE ELASTIC SLOPE, MEASURED TWICE</a:t>
            </a:r>
          </a:p>
        </p:txBody>
      </p:sp>
      <p:pic>
        <p:nvPicPr>
          <p:cNvPr id="5" name="Picture 4" descr="mot2pp_slope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lope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modulus, both methods, all three records</a:t>
            </a:r>
          </a:p>
        </p:txBody>
      </p:sp>
      <p:graphicFrame>
        <p:nvGraphicFramePr>
          <p:cNvPr id="8" name="Table 7"/>
          <p:cNvGraphicFramePr>
            <a:graphicFrameLocks noGrp="1"/>
          </p:cNvGraphicFramePr>
          <p:nvPr/>
        </p:nvGraphicFramePr>
        <p:xfrm>
          <a:off x="411480" y="4572000"/>
          <a:ext cx="5623558" cy="1298448"/>
        </p:xfrm>
        <a:graphic>
          <a:graphicData uri="http://schemas.openxmlformats.org/drawingml/2006/table">
            <a:tbl>
              <a:tblPr firstRow="1" bandRow="1">
                <a:tableStyleId>{5C22544A-7EE6-4342-B048-85BDC9FD1C3A}</a:tableStyleId>
              </a:tblPr>
              <a:tblGrid>
                <a:gridCol w="1626649"/>
                <a:gridCol w="1208368"/>
                <a:gridCol w="1068941"/>
                <a:gridCol w="1022465"/>
                <a:gridCol w="697135"/>
              </a:tblGrid>
              <a:tr h="259689">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XT205-S2 · PPD-UTM DIC</a:t>
                      </a:r>
                    </a:p>
                  </a:txBody>
                  <a:tcPr/>
                </a:tc>
                <a:tc>
                  <a:txBody>
                    <a:bodyPr lIns="54864" rIns="54864" tIns="18288" bIns="18288" wrap="square" anchor="ctr"/>
                    <a:lstStyle/>
                    <a:p>
                      <a:pPr algn="l"/>
                      <a:r>
                        <a:rPr sz="850" b="0">
                          <a:solidFill>
                            <a:srgbClr val="000000"/>
                          </a:solidFill>
                          <a:latin typeface="Calibri"/>
                        </a:rPr>
                        <a:t>3.214 GPa</a:t>
                      </a:r>
                    </a:p>
                  </a:txBody>
                  <a:tcPr/>
                </a:tc>
                <a:tc>
                  <a:txBody>
                    <a:bodyPr lIns="54864" rIns="54864" tIns="18288" bIns="18288" wrap="square" anchor="ctr"/>
                    <a:lstStyle/>
                    <a:p>
                      <a:pPr algn="l"/>
                      <a:r>
                        <a:rPr sz="850" b="0">
                          <a:solidFill>
                            <a:srgbClr val="000000"/>
                          </a:solidFill>
                          <a:latin typeface="Calibri"/>
                        </a:rPr>
                        <a:t>3.238 GPa</a:t>
                      </a:r>
                    </a:p>
                  </a:txBody>
                  <a:tcPr/>
                </a:tc>
                <a:tc>
                  <a:txBody>
                    <a:bodyPr lIns="54864" rIns="54864" tIns="18288" bIns="18288" wrap="square" anchor="ctr"/>
                    <a:lstStyle/>
                    <a:p>
                      <a:pPr algn="l"/>
                      <a:r>
                        <a:rPr sz="850" b="0">
                          <a:solidFill>
                            <a:srgbClr val="000000"/>
                          </a:solidFill>
                          <a:latin typeface="Calibri"/>
                        </a:rPr>
                        <a:t>0.00–0.38 %</a:t>
                      </a:r>
                    </a:p>
                  </a:txBody>
                  <a:tcPr/>
                </a:tc>
                <a:tc>
                  <a:txBody>
                    <a:bodyPr lIns="54864" rIns="54864" tIns="18288" bIns="18288" wrap="square" anchor="ctr"/>
                    <a:lstStyle/>
                    <a:p>
                      <a:pPr algn="l"/>
                      <a:r>
                        <a:rPr sz="850" b="0">
                          <a:solidFill>
                            <a:srgbClr val="000000"/>
                          </a:solidFill>
                          <a:latin typeface="Calibri"/>
                        </a:rPr>
                        <a:t>0.7 %</a:t>
                      </a:r>
                    </a:p>
                  </a:txBody>
                  <a:tcPr/>
                </a:tc>
              </a:tr>
              <a:tr h="259689">
                <a:tc>
                  <a:txBody>
                    <a:bodyPr lIns="54864" rIns="54864" tIns="18288" bIns="18288" wrap="square" anchor="ctr"/>
                    <a:lstStyle/>
                    <a:p>
                      <a:pPr algn="l"/>
                      <a:r>
                        <a:rPr sz="850" b="0">
                          <a:solidFill>
                            <a:srgbClr val="000000"/>
                          </a:solidFill>
                          <a:latin typeface="Calibri"/>
                        </a:rPr>
                        <a:t>XT205-S2 · XT-205</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59689">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59692">
                <a:tc>
                  <a:txBody>
                    <a:bodyPr lIns="54864" rIns="54864" tIns="18288" bIns="18288" wrap="square" anchor="ctr"/>
                    <a:lstStyle/>
                    <a:p>
                      <a:pPr algn="l"/>
                      <a:r>
                        <a:rPr sz="850" b="0">
                          <a:solidFill>
                            <a:srgbClr val="000000"/>
                          </a:solidFill>
                          <a:latin typeface="Calibri"/>
                        </a:rPr>
                        <a:t>PPD-UTM vs XT-205, same footage</a:t>
                      </a:r>
                    </a:p>
                  </a:txBody>
                  <a:tcPr/>
                </a:tc>
                <a:tc>
                  <a:txBody>
                    <a:bodyPr lIns="54864" rIns="54864" tIns="18288" bIns="18288" wrap="square" anchor="ctr"/>
                    <a:lstStyle/>
                    <a:p>
                      <a:pPr algn="l"/>
                      <a:r>
                        <a:rPr sz="850" b="0">
                          <a:solidFill>
                            <a:srgbClr val="000000"/>
                          </a:solidFill>
                          <a:latin typeface="Calibri"/>
                        </a:rPr>
                        <a:t>+0.13 %</a:t>
                      </a:r>
                    </a:p>
                  </a:txBody>
                  <a:tcPr/>
                </a:tc>
                <a:tc>
                  <a:txBody>
                    <a:bodyPr lIns="54864" rIns="54864" tIns="18288" bIns="18288" wrap="square" anchor="ctr"/>
                    <a:lstStyle/>
                    <a:p>
                      <a:pPr algn="l"/>
                      <a:r>
                        <a:rPr sz="850" b="0">
                          <a:solidFill>
                            <a:srgbClr val="000000"/>
                          </a:solidFill>
                          <a:latin typeface="Calibri"/>
                        </a:rPr>
                        <a:t>+0.29 %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9" name="TextBox 8"/>
          <p:cNvSpPr txBox="1"/>
          <p:nvPr/>
        </p:nvSpPr>
        <p:spPr>
          <a:xfrm>
            <a:off x="6263640" y="4224528"/>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shapes match too</a:t>
            </a:r>
          </a:p>
        </p:txBody>
      </p:sp>
      <p:sp>
        <p:nvSpPr>
          <p:cNvPr id="10" name="TextBox 9"/>
          <p:cNvSpPr txBox="1"/>
          <p:nvPr/>
        </p:nvSpPr>
        <p:spPr>
          <a:xfrm>
            <a:off x="6263640" y="4572000"/>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Both traces sit flat from the origin and roll over at the same place. That is a stronger statement than two moduli agreeing: a fitted number can match by accident, a whole curve cannot.</a:t>
            </a:r>
          </a:p>
        </p:txBody>
      </p:sp>
      <p:sp>
        <p:nvSpPr>
          <p:cNvPr id="11" name="TextBox 10"/>
          <p:cNvSpPr txBox="1"/>
          <p:nvPr/>
        </p:nvSpPr>
        <p:spPr>
          <a:xfrm>
            <a:off x="9189720" y="4224528"/>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isolates the toe</a:t>
            </a:r>
          </a:p>
        </p:txBody>
      </p:sp>
      <p:sp>
        <p:nvSpPr>
          <p:cNvPr id="12" name="TextBox 11"/>
          <p:cNvSpPr txBox="1"/>
          <p:nvPr/>
        </p:nvSpPr>
        <p:spPr>
          <a:xfrm>
            <a:off x="9189720" y="4572000"/>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S34's trace dips to 2.7 GPa near 0.15 % and only reaches its steepest at 0.26–0.58 %. Neither of these two does. So the toe is in the PPD-UTM LOAD TRAIN, not in its maths — the grip-seating item, narrowed.</a:t>
            </a:r>
          </a:p>
        </p:txBody>
      </p:sp>
      <p:sp>
        <p:nvSpPr>
          <p:cNvPr id="13" name="Rectangle 12"/>
          <p:cNvSpPr/>
          <p:nvPr/>
        </p:nvSpPr>
        <p:spPr>
          <a:xfrm>
            <a:off x="365760" y="5998464"/>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footage, two calculations: E agrees to 0.13 % on the fixed window and 0.29 % on the steepest run — an order of magnitude tighter than the 6.4 % between the two machines.</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panels are the local dσ/dε over a sliding 0.12 % strain window, against the same load channel. The two records differ only in how the strain was computed from the pixels.</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THIRD LEG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Three records, one specimen for two of them, one load channel for all three. Each pair differs in exactly one thing, so each disagreement has exactly one candidate cause.</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SETTLED — the calculation</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XT205-S2, PPD-UTM vs XT-205</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scale</a:t>
                      </a:r>
                    </a:p>
                  </a:txBody>
                  <a:tcPr/>
                </a:tc>
                <a:tc>
                  <a:txBody>
                    <a:bodyPr lIns="54864" rIns="54864" tIns="18288" bIns="18288" wrap="square" anchor="ctr"/>
                    <a:lstStyle/>
                    <a:p>
                      <a:pPr algn="l"/>
                      <a:r>
                        <a:rPr sz="900" b="0">
                          <a:solidFill>
                            <a:srgbClr val="000000"/>
                          </a:solidFill>
                          <a:latin typeface="Calibri"/>
                        </a:rPr>
                        <a:t>0.072 %</a:t>
                      </a:r>
                    </a:p>
                  </a:txBody>
                  <a:tcPr/>
                </a:tc>
              </a:tr>
              <a:tr h="259689">
                <a:tc>
                  <a:txBody>
                    <a:bodyPr lIns="54864" rIns="54864" tIns="18288" bIns="18288" wrap="square" anchor="ctr"/>
                    <a:lstStyle/>
                    <a:p>
                      <a:pPr algn="l"/>
                      <a:r>
                        <a:rPr sz="900" b="0">
                          <a:solidFill>
                            <a:srgbClr val="000000"/>
                          </a:solidFill>
                          <a:latin typeface="Calibri"/>
                        </a:rPr>
                        <a:t>σ_y</a:t>
                      </a:r>
                    </a:p>
                  </a:txBody>
                  <a:tcPr/>
                </a:tc>
                <a:tc>
                  <a:txBody>
                    <a:bodyPr lIns="54864" rIns="54864" tIns="18288" bIns="18288" wrap="square" anchor="ctr"/>
                    <a:lstStyle/>
                    <a:p>
                      <a:pPr algn="l"/>
                      <a:r>
                        <a:rPr sz="900" b="0">
                          <a:solidFill>
                            <a:srgbClr val="000000"/>
                          </a:solidFill>
                          <a:latin typeface="Calibri"/>
                        </a:rPr>
                        <a:t>+0.00 %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+0.08 %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+0.29 %</a:t>
                      </a:r>
                    </a:p>
                  </a:txBody>
                  <a:tcPr/>
                </a:tc>
              </a:tr>
            </a:tbl>
          </a:graphicData>
        </a:graphic>
      </p:graphicFrame>
      <p:sp>
        <p:nvSpPr>
          <p:cNvPr id="8" name="TextBox 7"/>
          <p:cNvSpPr txBox="1"/>
          <p:nvPr/>
        </p:nvSpPr>
        <p:spPr>
          <a:xfrm>
            <a:off x="411480" y="3145536"/>
            <a:ext cx="3703320" cy="1298448"/>
          </a:xfrm>
          <a:prstGeom prst="rect">
            <a:avLst/>
          </a:prstGeom>
          <a:noFill/>
        </p:spPr>
        <p:txBody>
          <a:bodyPr wrap="square" lIns="45720" rIns="45720" tIns="18288" bIns="18288" anchor="t">
            <a:spAutoFit/>
          </a:bodyPr>
          <a:lstStyle/>
          <a:p>
            <a:pPr algn="l"/>
            <a:r>
              <a:rPr sz="950" b="0" i="0">
                <a:solidFill>
                  <a:srgbClr val="000000"/>
                </a:solidFill>
                <a:latin typeface="Calibri"/>
              </a:rPr>
              <a:t>Two independent calculations on identical pixels, agreeing to better than a tenth of a pixel. Whatever else is uncertain in this project, the pixel-to-strain step is not — and MOT Test 1 said the same on a different gauge and a different specimen.</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CORRECTION TO WHAT WE SAID LAST</a:t>
            </a:r>
          </a:p>
        </p:txBody>
      </p:sp>
      <p:sp>
        <p:nvSpPr>
          <p:cNvPr id="10" name="TextBox 9"/>
          <p:cNvSpPr txBox="1"/>
          <p:nvPr/>
        </p:nvSpPr>
        <p:spPr>
          <a:xfrm>
            <a:off x="4343400" y="1737360"/>
            <a:ext cx="3703320" cy="2706624"/>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reported that we had LOST the noise lead — 28.6 µε for them against 44.0 µε for S34. That comparison stands, but it is between two RIGS, not two estimators, and it was read too broadly.
On identical footage our estimator is the quieter one: 24.1 µε against their 28.6 µε, the same direction MOT Test 1 found. The rig comparison and the estimator comparison are different questions and this leg is what separates them.
The honest reading: their IMAGES are better than ours, our MATHS is not worse than theirs.</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ONE THING IT REVEALS</a:t>
            </a:r>
          </a:p>
        </p:txBody>
      </p:sp>
      <p:sp>
        <p:nvSpPr>
          <p:cNvPr id="12" name="TextBox 11"/>
          <p:cNvSpPr txBox="1"/>
          <p:nvPr/>
        </p:nvSpPr>
        <p:spPr>
          <a:xfrm>
            <a:off x="8275320" y="1737360"/>
            <a:ext cx="3566160" cy="2706624"/>
          </a:xfrm>
          <a:prstGeom prst="rect">
            <a:avLst/>
          </a:prstGeom>
          <a:noFill/>
        </p:spPr>
        <p:txBody>
          <a:bodyPr wrap="square" lIns="45720" rIns="45720" tIns="18288" bIns="18288" anchor="t">
            <a:spAutoFit/>
          </a:bodyPr>
          <a:lstStyle/>
          <a:p>
            <a:pPr algn="l"/>
            <a:r>
              <a:rPr sz="950" b="0" i="0">
                <a:solidFill>
                  <a:srgbClr val="000000"/>
                </a:solidFill>
                <a:latin typeface="Calibri"/>
              </a:rPr>
              <a:t>1/Px₀ predicted our floor exactly across our own two gauges. Applied here it predicts 32.9 µε on their 1255 px span; we actually reach 24.1 µε — 1.37× BETTER than the pixel count alone allows.
So MOT footage carries roughly 1.4× less measurement noise per pixel than ours does. That is lighting, focus and marker quality, not optics and not software — and it is the first quantified target for improving our own noise floor without touching the camera.</a:t>
            </a:r>
          </a:p>
        </p:txBody>
      </p:sp>
      <p:sp>
        <p:nvSpPr>
          <p:cNvPr id="13" name="Rectangle 12"/>
          <p:cNvSpPr/>
          <p:nvPr/>
        </p:nvSpPr>
        <p:spPr>
          <a:xfrm>
            <a:off x="365760" y="4187952"/>
            <a:ext cx="11475720" cy="62179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THREE-WAY RESULT: the calculation is confirmed to 0.072 % of scale, the instrument agrees on every strain landmark to under 0.1 %, and the only differences left standing belong to the MACHINE and the SPECIMEN — which is exactly where the previous slide-set had already put them.</a:t>
            </a:r>
          </a:p>
        </p:txBody>
      </p:sp>
      <p:sp>
        <p:nvSpPr>
          <p:cNvPr id="14" name="TextBox 13"/>
          <p:cNvSpPr txBox="1"/>
          <p:nvPr/>
        </p:nvSpPr>
        <p:spPr>
          <a:xfrm>
            <a:off x="411480" y="4956048"/>
            <a:ext cx="11430000" cy="914400"/>
          </a:xfrm>
          <a:prstGeom prst="rect">
            <a:avLst/>
          </a:prstGeom>
          <a:noFill/>
        </p:spPr>
        <p:txBody>
          <a:bodyPr wrap="square" lIns="45720" rIns="45720" tIns="18288" bIns="18288" anchor="t">
            <a:spAutoFit/>
          </a:bodyPr>
          <a:lstStyle/>
          <a:p>
            <a:pPr algn="l"/>
            <a:r>
              <a:rPr sz="1000" b="0" i="0">
                <a:solidFill>
                  <a:srgbClr val="000000"/>
                </a:solidFill>
                <a:latin typeface="Calibri"/>
              </a:rPr>
              <a:t>STILL OPEN, AND NARROWED: the 7.7 % UTS gap to S34 is now definitively not the DIC — the PPD-UTM maths on MOT footage reproduces the XT-205 to 0.00 %. It is the pull speed or the specimen, and one run of ours at 2 mm/min separates those two. What this leg removed is the third candidate.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is the residual about a straight fit over 0.05–0.35 % strain, on the preload-zeroed convention for all three — scale-invariant in time, so the 1000 fps entry does not reach it.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333</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STRAIN RATE ON ONE SHARED WINDOW</a:t>
            </a:r>
          </a:p>
        </p:txBody>
      </p:sp>
      <p:pic>
        <p:nvPicPr>
          <p:cNvPr id="5" name="Picture 4" descr="mot_postproc_compare.png"/>
          <p:cNvPicPr>
            <a:picLocks noChangeAspect="1"/>
          </p:cNvPicPr>
          <p:nvPr/>
        </p:nvPicPr>
        <p:blipFill>
          <a:blip r:embed="rId2"/>
          <a:stretch>
            <a:fillRect/>
          </a:stretch>
        </p:blipFill>
        <p:spPr>
          <a:xfrm>
            <a:off x="1935480" y="1005840"/>
            <a:ext cx="8290560"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two panels do</a:t>
            </a:r>
          </a:p>
        </p:txBody>
      </p:sp>
      <p:sp>
        <p:nvSpPr>
          <p:cNvPr id="7" name="TextBox 6"/>
          <p:cNvSpPr txBox="1"/>
          <p:nvPr/>
        </p:nvSpPr>
        <p:spPr>
          <a:xfrm>
            <a:off x="411480" y="4572000"/>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LEFT — one video, two calculations. The XT-205's own extensometer and the PPD-UTM DIC pipeline read the SAME 80 mm footage, so anything between them is arithmetic and nothing else. They lie on each other.
RIGHT — the same fitted window applied to four records, so the rates are commensurable. The top two are that one video; the bottom two are PPD-UTM pulls of our own specimens.</a:t>
            </a:r>
          </a:p>
        </p:txBody>
      </p:sp>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could NOT settle</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XT-205 reads strain about 2.2× faster than PPD-UTM at the same commanded speed. That is not a calibration error and Test 1 said so: only 19–29 % of our crosshead motion reaches the gauge, the rest going into frame flex, grips and shoulders, and a stiffer frame delivers a larger share. MOT reading faster is what a stiffer frame LOOKS like — but with no load or crosshead channel from them, Test 1 could not prove it. p322 closes it.</a:t>
            </a:r>
          </a:p>
        </p:txBody>
      </p:sp>
      <p:sp>
        <p:nvSpPr>
          <p:cNvPr id="10" name="Rectangle 9"/>
          <p:cNvSpPr/>
          <p:nvPr/>
        </p:nvSpPr>
        <p:spPr>
          <a:xfrm>
            <a:off x="365760" y="603504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 calculations on one video agree; two MACHINES on the same commanded speed do not — and only the second of those is a question about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80 mm marker spacing, 0.05–0.35 % strain window on each record's own axis. Built by documentation/scripts/mot_postproc_compare.py.</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STRAIN RATE ON ONE SHARED WINDOW</a:t>
            </a:r>
          </a:p>
        </p:txBody>
      </p:sp>
      <p:pic>
        <p:nvPicPr>
          <p:cNvPr id="5" name="Picture 4" descr="mot2pp_rate.png"/>
          <p:cNvPicPr>
            <a:picLocks noChangeAspect="1"/>
          </p:cNvPicPr>
          <p:nvPr/>
        </p:nvPicPr>
        <p:blipFill>
          <a:blip r:embed="rId2"/>
          <a:stretch>
            <a:fillRect/>
          </a:stretch>
        </p:blipFill>
        <p:spPr>
          <a:xfrm>
            <a:off x="1457178" y="932688"/>
            <a:ext cx="9247163" cy="2651760"/>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layout, the 45 mm test</a:t>
            </a:r>
          </a:p>
        </p:txBody>
      </p:sp>
      <p:graphicFrame>
        <p:nvGraphicFramePr>
          <p:cNvPr id="7" name="Table 6"/>
          <p:cNvGraphicFramePr>
            <a:graphicFrameLocks noGrp="1"/>
          </p:cNvGraphicFramePr>
          <p:nvPr/>
        </p:nvGraphicFramePr>
        <p:xfrm>
          <a:off x="411480" y="4023360"/>
          <a:ext cx="5623560" cy="1271016"/>
        </p:xfrm>
        <a:graphic>
          <a:graphicData uri="http://schemas.openxmlformats.org/drawingml/2006/table">
            <a:tbl>
              <a:tblPr firstRow="1" bandRow="1">
                <a:tableStyleId>{5C22544A-7EE6-4342-B048-85BDC9FD1C3A}</a:tableStyleId>
              </a:tblPr>
              <a:tblGrid>
                <a:gridCol w="2377440"/>
                <a:gridCol w="1600200"/>
                <a:gridCol w="1645920"/>
              </a:tblGrid>
              <a:tr h="254203">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XT205-S1 · 80 mm</a:t>
                      </a:r>
                    </a:p>
                  </a:txBody>
                  <a:tcPr>
                    <a:solidFill>
                      <a:srgbClr val="143D2F"/>
                    </a:solidFill>
                  </a:tcPr>
                </a:tc>
                <a:tc>
                  <a:txBody>
                    <a:bodyPr lIns="54864" rIns="54864" tIns="18288" bIns="18288" wrap="square" anchor="ctr"/>
                    <a:lstStyle/>
                    <a:p>
                      <a:pPr algn="l"/>
                      <a:r>
                        <a:rPr sz="900" b="1">
                          <a:solidFill>
                            <a:srgbClr val="FFFFFF"/>
                          </a:solidFill>
                          <a:latin typeface="Calibri"/>
                        </a:rPr>
                        <a:t>XT205-S2 · 45 mm</a:t>
                      </a:r>
                    </a:p>
                  </a:txBody>
                  <a:tcPr>
                    <a:solidFill>
                      <a:srgbClr val="143D2F"/>
                    </a:solidFill>
                  </a:tcPr>
                </a:tc>
              </a:tr>
              <a:tr h="254203">
                <a:tc>
                  <a:txBody>
                    <a:bodyPr lIns="54864" rIns="54864" tIns="18288" bIns="18288" wrap="square" anchor="ctr"/>
                    <a:lstStyle/>
                    <a:p>
                      <a:pPr algn="l"/>
                      <a:r>
                        <a:rPr sz="850" b="0">
                          <a:solidFill>
                            <a:srgbClr val="000000"/>
                          </a:solidFill>
                          <a:latin typeface="Calibri"/>
                        </a:rPr>
                        <a:t>the MOT bar · PPD-UTM DIC</a:t>
                      </a:r>
                    </a:p>
                  </a:txBody>
                  <a:tcPr/>
                </a:tc>
                <a:tc>
                  <a:txBody>
                    <a:bodyPr lIns="54864" rIns="54864" tIns="18288" bIns="18288" wrap="square" anchor="ctr"/>
                    <a:lstStyle/>
                    <a:p>
                      <a:pPr algn="l"/>
                      <a:r>
                        <a:rPr sz="850" b="0">
                          <a:solidFill>
                            <a:srgbClr val="000000"/>
                          </a:solidFill>
                          <a:latin typeface="Calibri"/>
                        </a:rPr>
                        <a:t>7.60e-04 /s</a:t>
                      </a:r>
                    </a:p>
                  </a:txBody>
                  <a:tcPr/>
                </a:tc>
                <a:tc>
                  <a:txBody>
                    <a:bodyPr lIns="54864" rIns="54864" tIns="18288" bIns="18288" wrap="square" anchor="ctr"/>
                    <a:lstStyle/>
                    <a:p>
                      <a:pPr algn="l"/>
                      <a:r>
                        <a:rPr sz="850" b="0">
                          <a:solidFill>
                            <a:srgbClr val="000000"/>
                          </a:solidFill>
                          <a:latin typeface="Calibri"/>
                        </a:rPr>
                        <a:t>2.59e-04 /s</a:t>
                      </a:r>
                    </a:p>
                  </a:txBody>
                  <a:tcPr/>
                </a:tc>
              </a:tr>
              <a:tr h="254203">
                <a:tc>
                  <a:txBody>
                    <a:bodyPr lIns="54864" rIns="54864" tIns="18288" bIns="18288" wrap="square" anchor="ctr"/>
                    <a:lstStyle/>
                    <a:p>
                      <a:pPr algn="l"/>
                      <a:r>
                        <a:rPr sz="850" b="0">
                          <a:solidFill>
                            <a:srgbClr val="000000"/>
                          </a:solidFill>
                          <a:latin typeface="Calibri"/>
                        </a:rPr>
                        <a:t>the MOT bar · XT-205</a:t>
                      </a:r>
                    </a:p>
                  </a:txBody>
                  <a:tcPr/>
                </a:tc>
                <a:tc>
                  <a:txBody>
                    <a:bodyPr lIns="54864" rIns="54864" tIns="18288" bIns="18288" wrap="square" anchor="ctr"/>
                    <a:lstStyle/>
                    <a:p>
                      <a:pPr algn="l"/>
                      <a:r>
                        <a:rPr sz="850" b="0">
                          <a:solidFill>
                            <a:srgbClr val="000000"/>
                          </a:solidFill>
                          <a:latin typeface="Calibri"/>
                        </a:rPr>
                        <a:t>7.42e-04 /s</a:t>
                      </a:r>
                    </a:p>
                  </a:txBody>
                  <a:tcPr/>
                </a:tc>
                <a:tc>
                  <a:txBody>
                    <a:bodyPr lIns="54864" rIns="54864" tIns="18288" bIns="18288" wrap="square" anchor="ctr"/>
                    <a:lstStyle/>
                    <a:p>
                      <a:pPr algn="l"/>
                      <a:r>
                        <a:rPr sz="850" b="0">
                          <a:solidFill>
                            <a:srgbClr val="000000"/>
                          </a:solidFill>
                          <a:latin typeface="Calibri"/>
                        </a:rPr>
                        <a:t>2.60e-04 /s</a:t>
                      </a:r>
                    </a:p>
                  </a:txBody>
                  <a:tcPr/>
                </a:tc>
              </a:tr>
              <a:tr h="254203">
                <a:tc>
                  <a:txBody>
                    <a:bodyPr lIns="54864" rIns="54864" tIns="18288" bIns="18288" wrap="square" anchor="ctr"/>
                    <a:lstStyle/>
                    <a:p>
                      <a:pPr algn="l"/>
                      <a:r>
                        <a:rPr sz="850" b="0">
                          <a:solidFill>
                            <a:srgbClr val="000000"/>
                          </a:solidFill>
                          <a:latin typeface="Calibri"/>
                        </a:rPr>
                        <a:t>the two calculations, apart</a:t>
                      </a:r>
                    </a:p>
                  </a:txBody>
                  <a:tcPr/>
                </a:tc>
                <a:tc>
                  <a:txBody>
                    <a:bodyPr lIns="54864" rIns="54864" tIns="18288" bIns="18288" wrap="square" anchor="ctr"/>
                    <a:lstStyle/>
                    <a:p>
                      <a:pPr algn="l"/>
                      <a:r>
                        <a:rPr sz="850" b="0">
                          <a:solidFill>
                            <a:srgbClr val="000000"/>
                          </a:solidFill>
                          <a:latin typeface="Calibri"/>
                        </a:rPr>
                        <a:t>2.4 %</a:t>
                      </a:r>
                    </a:p>
                  </a:txBody>
                  <a:tcPr/>
                </a:tc>
                <a:tc>
                  <a:txBody>
                    <a:bodyPr lIns="54864" rIns="54864" tIns="18288" bIns="18288" wrap="square" anchor="ctr"/>
                    <a:lstStyle/>
                    <a:p>
                      <a:pPr algn="l"/>
                      <a:r>
                        <a:rPr sz="850" b="0">
                          <a:solidFill>
                            <a:srgbClr val="000000"/>
                          </a:solidFill>
                          <a:latin typeface="Calibri"/>
                        </a:rPr>
                        <a:t>0.4 %</a:t>
                      </a:r>
                    </a:p>
                  </a:txBody>
                  <a:tcPr/>
                </a:tc>
              </a:tr>
              <a:tr h="254204">
                <a:tc>
                  <a:txBody>
                    <a:bodyPr lIns="54864" rIns="54864" tIns="18288" bIns="18288" wrap="square" anchor="ctr"/>
                    <a:lstStyle/>
                    <a:p>
                      <a:pPr algn="l"/>
                      <a:r>
                        <a:rPr sz="850" b="0">
                          <a:solidFill>
                            <a:srgbClr val="000000"/>
                          </a:solidFill>
                          <a:latin typeface="Calibri"/>
                        </a:rPr>
                        <a:t>XT-205 ÷ PPD-UTM specimens</a:t>
                      </a:r>
                    </a:p>
                  </a:txBody>
                  <a:tcPr/>
                </a:tc>
                <a:tc>
                  <a:txBody>
                    <a:bodyPr lIns="54864" rIns="54864" tIns="18288" bIns="18288" wrap="square" anchor="ctr"/>
                    <a:lstStyle/>
                    <a:p>
                      <a:pPr algn="l"/>
                      <a:r>
                        <a:rPr sz="850" b="0">
                          <a:solidFill>
                            <a:srgbClr val="000000"/>
                          </a:solidFill>
                          <a:latin typeface="Calibri"/>
                        </a:rPr>
                        <a:t>2.21x</a:t>
                      </a:r>
                    </a:p>
                  </a:txBody>
                  <a:tcPr/>
                </a:tc>
                <a:tc>
                  <a:txBody>
                    <a:bodyPr lIns="54864" rIns="54864" tIns="18288" bIns="18288" wrap="square" anchor="ctr"/>
                    <a:lstStyle/>
                    <a:p>
                      <a:pPr algn="l"/>
                      <a:r>
                        <a:rPr sz="850" b="0">
                          <a:solidFill>
                            <a:srgbClr val="000000"/>
                          </a:solidFill>
                          <a:latin typeface="Calibri"/>
                        </a:rPr>
                        <a:t>0.85x</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row that changed, and why</a:t>
            </a:r>
          </a:p>
        </p:txBody>
      </p:sp>
      <p:sp>
        <p:nvSpPr>
          <p:cNvPr id="9" name="TextBox 8"/>
          <p:cNvSpPr txBox="1"/>
          <p:nvPr/>
        </p:nvSpPr>
        <p:spPr>
          <a:xfrm>
            <a:off x="6263640" y="4023360"/>
            <a:ext cx="5577840" cy="1325880"/>
          </a:xfrm>
          <a:prstGeom prst="rect">
            <a:avLst/>
          </a:prstGeom>
          <a:noFill/>
        </p:spPr>
        <p:txBody>
          <a:bodyPr wrap="square" lIns="45720" rIns="45720" tIns="18288" bIns="18288" anchor="t">
            <a:spAutoFit/>
          </a:bodyPr>
          <a:lstStyle/>
          <a:p>
            <a:pPr algn="l"/>
            <a:r>
              <a:rPr sz="950" b="0" i="0">
                <a:solidFill>
                  <a:srgbClr val="000000"/>
                </a:solidFill>
                <a:latin typeface="Calibri"/>
              </a:rPr>
              <a:t>The two CALCULATIONS agree in both tests, and more tightly here: 0.4 % against Test 1's 2.4 %.
The two MACHINES have swapped places. In Test 1 the XT-205 read 2.2× faster than our specimens; here it reads 0.85× — slightly SLOWER. Nothing about either instrument changed. The XT-205 pulled at 2 mm/min against our 6.0, a 3× handicap, and it delivers 45 % of that travel to the gauge against our 33 %. The two effects very nearly cancel, which is exactly what a compliance explanation predicts and a calibration error could not.</a:t>
            </a:r>
          </a:p>
        </p:txBody>
      </p:sp>
      <p:sp>
        <p:nvSpPr>
          <p:cNvPr id="10" name="Rectangle 9"/>
          <p:cNvSpPr/>
          <p:nvPr/>
        </p:nvSpPr>
        <p:spPr>
          <a:xfrm>
            <a:off x="365760" y="5504688"/>
            <a:ext cx="11475720" cy="34747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figure, same window, one test apart: the CALCULATION agreement holds and the MACHINE gap moves with the pull speed — which is the difference between a method and a machine.</a:t>
            </a:r>
          </a:p>
        </p:txBody>
      </p:sp>
      <p:sp>
        <p:nvSpPr>
          <p:cNvPr id="11" name="TextBox 10"/>
          <p:cNvSpPr txBox="1"/>
          <p:nvPr/>
        </p:nvSpPr>
        <p:spPr>
          <a:xfrm>
            <a:off x="411480" y="5907024"/>
            <a:ext cx="11475720" cy="384048"/>
          </a:xfrm>
          <a:prstGeom prst="rect">
            <a:avLst/>
          </a:prstGeom>
          <a:noFill/>
        </p:spPr>
        <p:txBody>
          <a:bodyPr wrap="square" lIns="45720" rIns="45720" tIns="18288" bIns="18288" anchor="t">
            <a:spAutoFit/>
          </a:bodyPr>
          <a:lstStyle/>
          <a:p>
            <a:pPr algn="l"/>
            <a:r>
              <a:rPr sz="1000" b="0" i="0">
                <a:solidFill>
                  <a:srgbClr val="000000"/>
                </a:solidFill>
                <a:latin typeface="Calibri"/>
              </a:rPr>
              <a:t>WHAT "FITTED WINDOW" MEANS: the shaded band is a slice of RAW samples — nothing is smoothed, filtered or resampled. The only fitting is one least-squares straight line through the strain-against-time points inside that band, and its SLOPE is the rate reported in the bars. The band is narrow and nearly straight on purpose, so what the fit leaves behind is instrument noise rather than the curvature of the pull (p336).</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45 mm marker spacing. The window is 0.05–0.35 % of the PRELOAD-ZEROED strain: Test 2's preload lands inside the recording, so a raw window would sit on the seating ramp.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335</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WHOLE PULL, BOTH CALCULATIONS — XT205-S2 TO FRACTURE</a:t>
            </a:r>
          </a:p>
        </p:txBody>
      </p:sp>
      <p:pic>
        <p:nvPicPr>
          <p:cNvPr id="5" name="Picture 4" descr="mot2pp_full.png"/>
          <p:cNvPicPr>
            <a:picLocks noChangeAspect="1"/>
          </p:cNvPicPr>
          <p:nvPr/>
        </p:nvPicPr>
        <p:blipFill>
          <a:blip r:embed="rId2"/>
          <a:stretch>
            <a:fillRect/>
          </a:stretch>
        </p:blipFill>
        <p:spPr>
          <a:xfrm>
            <a:off x="680024" y="932688"/>
            <a:ext cx="10801470" cy="3310128"/>
          </a:xfrm>
          <a:prstGeom prst="rect">
            <a:avLst/>
          </a:prstGeom>
        </p:spPr>
      </p:pic>
      <p:sp>
        <p:nvSpPr>
          <p:cNvPr id="6" name="TextBox 5"/>
          <p:cNvSpPr txBox="1"/>
          <p:nvPr/>
        </p:nvSpPr>
        <p:spPr>
          <a:xfrm>
            <a:off x="411480" y="435254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had to be shown at full scale</a:t>
            </a:r>
          </a:p>
        </p:txBody>
      </p:sp>
      <p:sp>
        <p:nvSpPr>
          <p:cNvPr id="7" name="TextBox 6"/>
          <p:cNvSpPr txBox="1"/>
          <p:nvPr/>
        </p:nvSpPr>
        <p:spPr>
          <a:xfrm>
            <a:off x="411480" y="470001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other view of these two records either stops at 0.9 % strain — the fitted window and a little either side — or puts them on separate axes. Neither answers the question a reader should be asking: does the agreement SURVIVE past the elastic ramp, out to 5.21 % where the specimen is drawing and then tearing? The window is 6 % of the record. This is the other 94 %.</a:t>
            </a:r>
          </a:p>
        </p:txBody>
      </p:sp>
      <p:sp>
        <p:nvSpPr>
          <p:cNvPr id="8" name="TextBox 7"/>
          <p:cNvSpPr txBox="1"/>
          <p:nvPr/>
        </p:nvSpPr>
        <p:spPr>
          <a:xfrm>
            <a:off x="4343400" y="435254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does</a:t>
            </a:r>
          </a:p>
        </p:txBody>
      </p:sp>
      <p:sp>
        <p:nvSpPr>
          <p:cNvPr id="9" name="TextBox 8"/>
          <p:cNvSpPr txBox="1"/>
          <p:nvPr/>
        </p:nvSpPr>
        <p:spPr>
          <a:xfrm>
            <a:off x="4343400" y="470001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The two traces are indistinguishable at this scale for the whole 156 s. The lower panel is the difference on the same time axis: it sits on a constant −55 µε — which is 0.069 px on a 1255 px marker span, a reference-frame difference and not a calibration one — with no drift, no divergence at large strain, and no step at yield. Fracture strain lands 0.08 % apart.</a:t>
            </a:r>
          </a:p>
        </p:txBody>
      </p:sp>
      <p:sp>
        <p:nvSpPr>
          <p:cNvPr id="10" name="TextBox 9"/>
          <p:cNvSpPr txBox="1"/>
          <p:nvPr/>
        </p:nvSpPr>
        <p:spPr>
          <a:xfrm>
            <a:off x="8275320" y="435254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lower panel is NOT</a:t>
            </a:r>
          </a:p>
        </p:txBody>
      </p:sp>
      <p:sp>
        <p:nvSpPr>
          <p:cNvPr id="11" name="TextBox 10"/>
          <p:cNvSpPr txBox="1"/>
          <p:nvPr/>
        </p:nvSpPr>
        <p:spPr>
          <a:xfrm>
            <a:off x="8275320" y="4700016"/>
            <a:ext cx="3566160" cy="1188720"/>
          </a:xfrm>
          <a:prstGeom prst="rect">
            <a:avLst/>
          </a:prstGeom>
          <a:noFill/>
        </p:spPr>
        <p:txBody>
          <a:bodyPr wrap="square" lIns="45720" rIns="45720" tIns="18288" bIns="18288" anchor="t">
            <a:spAutoFit/>
          </a:bodyPr>
          <a:lstStyle/>
          <a:p>
            <a:pPr algn="l"/>
            <a:r>
              <a:rPr sz="950" b="0" i="0">
                <a:solidFill>
                  <a:srgbClr val="000000"/>
                </a:solidFill>
                <a:latin typeface="Calibri"/>
              </a:rPr>
              <a:t>It is a DIFFERENCE, and a difference cannot say whose noise is larger — subtracting two records ADDS their scatter. That answer comes from fitting each record separately over one window: PPD-UTM 24.1 µε against the XT-205's 28.6 µε, so ours is the quieter by 1.19×.</a:t>
            </a:r>
          </a:p>
        </p:txBody>
      </p:sp>
      <p:sp>
        <p:nvSpPr>
          <p:cNvPr id="12" name="Rectangle 11"/>
          <p:cNvSpPr/>
          <p:nvPr/>
        </p:nvSpPr>
        <p:spPr>
          <a:xfrm>
            <a:off x="365760" y="5961888"/>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difference scatters by 36.7 µε, within 2 % of the 37.3 µε those two noises give added in quadrature — so they are INDEPENDENT. Neither instrument is picking up a common flicker from the footage they share; each is limited by its own marker-locating.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samples throughout; the lower panel is a plain difference, not a fit. Both records are re-zeroed at the 300 N preload so they share one convention.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336</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SIX RECORDS, NAMED — AND THE SPEED EACH WAS PULLED AT</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Two tests on the MOT XT-205 and four pulls on the PPD-UTM. The MOT specimens had no names of their own, which made "the XT-205" mean the instrument and the bar it was holding at the same time. They have names now.</a:t>
            </a:r>
          </a:p>
        </p:txBody>
      </p:sp>
      <p:sp>
        <p:nvSpPr>
          <p:cNvPr id="6" name="TextBox 5"/>
          <p:cNvSpPr txBox="1"/>
          <p:nvPr/>
        </p:nvSpPr>
        <p:spPr>
          <a:xfrm>
            <a:off x="411480" y="138988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naming</a:t>
            </a:r>
          </a:p>
        </p:txBody>
      </p:sp>
      <p:graphicFrame>
        <p:nvGraphicFramePr>
          <p:cNvPr id="7" name="Table 6"/>
          <p:cNvGraphicFramePr>
            <a:graphicFrameLocks noGrp="1"/>
          </p:cNvGraphicFramePr>
          <p:nvPr/>
        </p:nvGraphicFramePr>
        <p:xfrm>
          <a:off x="411480" y="1737360"/>
          <a:ext cx="11429998" cy="1033271"/>
        </p:xfrm>
        <a:graphic>
          <a:graphicData uri="http://schemas.openxmlformats.org/drawingml/2006/table">
            <a:tbl>
              <a:tblPr firstRow="1" bandRow="1">
                <a:tableStyleId>{5C22544A-7EE6-4342-B048-85BDC9FD1C3A}</a:tableStyleId>
              </a:tblPr>
              <a:tblGrid>
                <a:gridCol w="1868365"/>
                <a:gridCol w="8022980"/>
                <a:gridCol w="1538653"/>
              </a:tblGrid>
              <a:tr h="172211">
                <a:tc>
                  <a:txBody>
                    <a:bodyPr lIns="54864" rIns="54864" tIns="18288" bIns="18288" wrap="square" anchor="ctr"/>
                    <a:lstStyle/>
                    <a:p>
                      <a:pPr algn="l"/>
                      <a:r>
                        <a:rPr sz="950" b="1">
                          <a:solidFill>
                            <a:srgbClr val="FFFFFF"/>
                          </a:solidFill>
                          <a:latin typeface="Calibri"/>
                        </a:rPr>
                        <a:t>Name</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Which test</a:t>
                      </a:r>
                    </a:p>
                  </a:txBody>
                  <a:tcPr>
                    <a:solidFill>
                      <a:srgbClr val="143D2F"/>
                    </a:solidFill>
                  </a:tcPr>
                </a:tc>
              </a:tr>
              <a:tr h="172211">
                <a:tc>
                  <a:txBody>
                    <a:bodyPr lIns="54864" rIns="54864" tIns="18288" bIns="18288" wrap="square" anchor="ctr"/>
                    <a:lstStyle/>
                    <a:p>
                      <a:pPr algn="l"/>
                      <a:r>
                        <a:rPr sz="900" b="0">
                          <a:solidFill>
                            <a:srgbClr val="000000"/>
                          </a:solidFill>
                          <a:latin typeface="Calibri"/>
                        </a:rPr>
                        <a:t>XT205-S1</a:t>
                      </a:r>
                    </a:p>
                  </a:txBody>
                  <a:tcPr/>
                </a:tc>
                <a:tc>
                  <a:txBody>
                    <a:bodyPr lIns="54864" rIns="54864" tIns="18288" bIns="18288" wrap="square" anchor="ctr"/>
                    <a:lstStyle/>
                    <a:p>
                      <a:pPr algn="l"/>
                      <a:r>
                        <a:rPr sz="900" b="0">
                          <a:solidFill>
                            <a:srgbClr val="000000"/>
                          </a:solidFill>
                          <a:latin typeface="Calibri"/>
                        </a:rPr>
                        <a:t>the specimen the MOT XT-205 pulled in its first session, 80 mm marker spacing</a:t>
                      </a:r>
                    </a:p>
                  </a:txBody>
                  <a:tcPr/>
                </a:tc>
                <a:tc>
                  <a:txBody>
                    <a:bodyPr lIns="54864" rIns="54864" tIns="18288" bIns="18288" wrap="square" anchor="ctr"/>
                    <a:lstStyle/>
                    <a:p>
                      <a:pPr algn="l"/>
                      <a:r>
                        <a:rPr sz="900" b="0">
                          <a:solidFill>
                            <a:srgbClr val="000000"/>
                          </a:solidFill>
                          <a:latin typeface="Calibri"/>
                        </a:rPr>
                        <a:t>MOT Test 1</a:t>
                      </a:r>
                    </a:p>
                  </a:txBody>
                  <a:tcPr/>
                </a:tc>
              </a:tr>
              <a:tr h="172211">
                <a:tc>
                  <a:txBody>
                    <a:bodyPr lIns="54864" rIns="54864" tIns="18288" bIns="18288" wrap="square" anchor="ctr"/>
                    <a:lstStyle/>
                    <a:p>
                      <a:pPr algn="l"/>
                      <a:r>
                        <a:rPr sz="900" b="0">
                          <a:solidFill>
                            <a:srgbClr val="000000"/>
                          </a:solidFill>
                          <a:latin typeface="Calibri"/>
                        </a:rPr>
                        <a:t>XT205-S2</a:t>
                      </a:r>
                    </a:p>
                  </a:txBody>
                  <a:tcPr/>
                </a:tc>
                <a:tc>
                  <a:txBody>
                    <a:bodyPr lIns="54864" rIns="54864" tIns="18288" bIns="18288" wrap="square" anchor="ctr"/>
                    <a:lstStyle/>
                    <a:p>
                      <a:pPr algn="l"/>
                      <a:r>
                        <a:rPr sz="900" b="0">
                          <a:solidFill>
                            <a:srgbClr val="000000"/>
                          </a:solidFill>
                          <a:latin typeface="Calibri"/>
                        </a:rPr>
                        <a:t>the specimen it pulled in its second, 45 mm marker spacing</a:t>
                      </a:r>
                    </a:p>
                  </a:txBody>
                  <a:tcPr/>
                </a:tc>
                <a:tc>
                  <a:txBody>
                    <a:bodyPr lIns="54864" rIns="54864" tIns="18288" bIns="18288" wrap="square" anchor="ctr"/>
                    <a:lstStyle/>
                    <a:p>
                      <a:pPr algn="l"/>
                      <a:r>
                        <a:rPr sz="900" b="0">
                          <a:solidFill>
                            <a:srgbClr val="000000"/>
                          </a:solidFill>
                          <a:latin typeface="Calibri"/>
                        </a:rPr>
                        <a:t>MOT Test 2</a:t>
                      </a:r>
                    </a:p>
                  </a:txBody>
                  <a:tcPr/>
                </a:tc>
              </a:tr>
              <a:tr h="172211">
                <a:tc>
                  <a:txBody>
                    <a:bodyPr lIns="54864" rIns="54864" tIns="18288" bIns="18288" wrap="square" anchor="ctr"/>
                    <a:lstStyle/>
                    <a:p>
                      <a:pPr algn="l"/>
                      <a:r>
                        <a:rPr sz="900" b="0">
                          <a:solidFill>
                            <a:srgbClr val="000000"/>
                          </a:solidFill>
                          <a:latin typeface="Calibri"/>
                        </a:rPr>
                        <a:t>XT-205</a:t>
                      </a:r>
                    </a:p>
                  </a:txBody>
                  <a:tcPr/>
                </a:tc>
                <a:tc>
                  <a:txBody>
                    <a:bodyPr lIns="54864" rIns="54864" tIns="18288" bIns="18288" wrap="square" anchor="ctr"/>
                    <a:lstStyle/>
                    <a:p>
                      <a:pPr algn="l"/>
                      <a:r>
                        <a:rPr sz="900" b="0">
                          <a:solidFill>
                            <a:srgbClr val="000000"/>
                          </a:solidFill>
                          <a:latin typeface="Calibri"/>
                        </a:rPr>
                        <a:t>the INSTRUMENT — the video extensometer and its software, not a specimen</a:t>
                      </a:r>
                    </a:p>
                  </a:txBody>
                  <a:tcPr/>
                </a:tc>
                <a:tc>
                  <a:txBody>
                    <a:bodyPr lIns="54864" rIns="54864" tIns="18288" bIns="18288" wrap="square" anchor="ctr"/>
                    <a:lstStyle/>
                    <a:p>
                      <a:pPr algn="l"/>
                      <a:r>
                        <a:rPr sz="900" b="0">
                          <a:solidFill>
                            <a:srgbClr val="000000"/>
                          </a:solidFill>
                          <a:latin typeface="Calibri"/>
                        </a:rPr>
                        <a:t>both</a:t>
                      </a:r>
                    </a:p>
                  </a:txBody>
                  <a:tcPr/>
                </a:tc>
              </a:tr>
              <a:tr h="172211">
                <a:tc>
                  <a:txBody>
                    <a:bodyPr lIns="54864" rIns="54864" tIns="18288" bIns="18288" wrap="square" anchor="ctr"/>
                    <a:lstStyle/>
                    <a:p>
                      <a:pPr algn="l"/>
                      <a:r>
                        <a:rPr sz="900" b="0">
                          <a:solidFill>
                            <a:srgbClr val="000000"/>
                          </a:solidFill>
                          <a:latin typeface="Calibri"/>
                        </a:rPr>
                        <a:t>PPD-UTM</a:t>
                      </a:r>
                    </a:p>
                  </a:txBody>
                  <a:tcPr/>
                </a:tc>
                <a:tc>
                  <a:txBody>
                    <a:bodyPr lIns="54864" rIns="54864" tIns="18288" bIns="18288" wrap="square" anchor="ctr"/>
                    <a:lstStyle/>
                    <a:p>
                      <a:pPr algn="l"/>
                      <a:r>
                        <a:rPr sz="900" b="0">
                          <a:solidFill>
                            <a:srgbClr val="000000"/>
                          </a:solidFill>
                          <a:latin typeface="Calibri"/>
                        </a:rPr>
                        <a:t>our rig, and the DIC pipeline that runs on it</a:t>
                      </a:r>
                    </a:p>
                  </a:txBody>
                  <a:tcPr/>
                </a:tc>
                <a:tc>
                  <a:txBody>
                    <a:bodyPr lIns="54864" rIns="54864" tIns="18288" bIns="18288" wrap="square" anchor="ctr"/>
                    <a:lstStyle/>
                    <a:p>
                      <a:pPr algn="l"/>
                      <a:r>
                        <a:rPr sz="900" b="0">
                          <a:solidFill>
                            <a:srgbClr val="000000"/>
                          </a:solidFill>
                          <a:latin typeface="Calibri"/>
                        </a:rPr>
                        <a:t>both</a:t>
                      </a:r>
                    </a:p>
                  </a:txBody>
                  <a:tcPr/>
                </a:tc>
              </a:tr>
              <a:tr h="172216">
                <a:tc>
                  <a:txBody>
                    <a:bodyPr lIns="54864" rIns="54864" tIns="18288" bIns="18288" wrap="square" anchor="ctr"/>
                    <a:lstStyle/>
                    <a:p>
                      <a:pPr algn="l"/>
                      <a:r>
                        <a:rPr sz="900" b="0">
                          <a:solidFill>
                            <a:srgbClr val="000000"/>
                          </a:solidFill>
                          <a:latin typeface="Calibri"/>
                        </a:rPr>
                        <a:t>S25 · S26 · S33 · S34</a:t>
                      </a:r>
                    </a:p>
                  </a:txBody>
                  <a:tcPr/>
                </a:tc>
                <a:tc>
                  <a:txBody>
                    <a:bodyPr lIns="54864" rIns="54864" tIns="18288" bIns="18288" wrap="square" anchor="ctr"/>
                    <a:lstStyle/>
                    <a:p>
                      <a:pPr algn="l"/>
                      <a:r>
                        <a:rPr sz="900" b="0">
                          <a:solidFill>
                            <a:srgbClr val="000000"/>
                          </a:solidFill>
                          <a:latin typeface="Calibri"/>
                        </a:rPr>
                        <a:t>our own printed bars, named as they are in the specimen registry</a:t>
                      </a:r>
                    </a:p>
                  </a:txBody>
                  <a:tcPr/>
                </a:tc>
                <a:tc>
                  <a:txBody>
                    <a:bodyPr lIns="54864" rIns="54864" tIns="18288" bIns="18288" wrap="square" anchor="ctr"/>
                    <a:lstStyle/>
                    <a:p>
                      <a:pPr algn="l"/>
                      <a:r>
                        <a:rPr sz="900" b="0">
                          <a:solidFill>
                            <a:srgbClr val="000000"/>
                          </a:solidFill>
                          <a:latin typeface="Calibri"/>
                        </a:rPr>
                        <a:t>—</a:t>
                      </a:r>
                    </a:p>
                  </a:txBody>
                  <a:tcPr/>
                </a:tc>
              </a:tr>
            </a:tbl>
          </a:graphicData>
        </a:graphic>
      </p:graphicFrame>
      <p:sp>
        <p:nvSpPr>
          <p:cNvPr id="8" name="TextBox 7"/>
          <p:cNvSpPr txBox="1"/>
          <p:nvPr/>
        </p:nvSpPr>
        <p:spPr>
          <a:xfrm>
            <a:off x="411480" y="32918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speed each one was pulled at — the two MOT tests do NOT match</a:t>
            </a:r>
          </a:p>
        </p:txBody>
      </p:sp>
      <p:graphicFrame>
        <p:nvGraphicFramePr>
          <p:cNvPr id="9" name="Table 8"/>
          <p:cNvGraphicFramePr>
            <a:graphicFrameLocks noGrp="1"/>
          </p:cNvGraphicFramePr>
          <p:nvPr/>
        </p:nvGraphicFramePr>
        <p:xfrm>
          <a:off x="411480" y="3639312"/>
          <a:ext cx="11429997" cy="1499616"/>
        </p:xfrm>
        <a:graphic>
          <a:graphicData uri="http://schemas.openxmlformats.org/drawingml/2006/table">
            <a:tbl>
              <a:tblPr firstRow="1" bandRow="1">
                <a:tableStyleId>{5C22544A-7EE6-4342-B048-85BDC9FD1C3A}</a:tableStyleId>
              </a:tblPr>
              <a:tblGrid>
                <a:gridCol w="1725283"/>
                <a:gridCol w="1347877"/>
                <a:gridCol w="916556"/>
                <a:gridCol w="2534009"/>
                <a:gridCol w="3342735"/>
                <a:gridCol w="1563537"/>
              </a:tblGrid>
              <a:tr h="214230">
                <a:tc>
                  <a:txBody>
                    <a:bodyPr lIns="54864" rIns="54864" tIns="18288" bIns="18288" wrap="square" anchor="ctr"/>
                    <a:lstStyle/>
                    <a:p>
                      <a:pPr algn="l"/>
                      <a:r>
                        <a:rPr sz="900" b="1">
                          <a:solidFill>
                            <a:srgbClr val="FFFFFF"/>
                          </a:solidFill>
                          <a:latin typeface="Calibri"/>
                        </a:rPr>
                        <a:t>Record</a:t>
                      </a:r>
                    </a:p>
                  </a:txBody>
                  <a:tcPr>
                    <a:solidFill>
                      <a:srgbClr val="143D2F"/>
                    </a:solidFill>
                  </a:tcPr>
                </a:tc>
                <a:tc>
                  <a:txBody>
                    <a:bodyPr lIns="54864" rIns="54864" tIns="18288" bIns="18288" wrap="square" anchor="ctr"/>
                    <a:lstStyle/>
                    <a:p>
                      <a:pPr algn="l"/>
                      <a:r>
                        <a:rPr sz="900" b="1">
                          <a:solidFill>
                            <a:srgbClr val="FFFFFF"/>
                          </a:solidFill>
                          <a:latin typeface="Calibri"/>
                        </a:rPr>
                        <a:t>Test</a:t>
                      </a:r>
                    </a:p>
                  </a:txBody>
                  <a:tcPr>
                    <a:solidFill>
                      <a:srgbClr val="143D2F"/>
                    </a:solidFill>
                  </a:tcPr>
                </a:tc>
                <a:tc>
                  <a:txBody>
                    <a:bodyPr lIns="54864" rIns="54864" tIns="18288" bIns="18288" wrap="square" anchor="ctr"/>
                    <a:lstStyle/>
                    <a:p>
                      <a:pPr algn="l"/>
                      <a:r>
                        <a:rPr sz="900" b="1">
                          <a:solidFill>
                            <a:srgbClr val="FFFFFF"/>
                          </a:solidFill>
                          <a:latin typeface="Calibri"/>
                        </a:rPr>
                        <a:t>Gauge</a:t>
                      </a:r>
                    </a:p>
                  </a:txBody>
                  <a:tcPr>
                    <a:solidFill>
                      <a:srgbClr val="143D2F"/>
                    </a:solidFill>
                  </a:tcPr>
                </a:tc>
                <a:tc>
                  <a:txBody>
                    <a:bodyPr lIns="54864" rIns="54864" tIns="18288" bIns="18288" wrap="square" anchor="ctr"/>
                    <a:lstStyle/>
                    <a:p>
                      <a:pPr algn="l"/>
                      <a:r>
                        <a:rPr sz="900" b="1">
                          <a:solidFill>
                            <a:srgbClr val="FFFFFF"/>
                          </a:solidFill>
                          <a:latin typeface="Calibri"/>
                        </a:rPr>
                        <a:t>Crosshead speed</a:t>
                      </a:r>
                    </a:p>
                  </a:txBody>
                  <a:tcPr>
                    <a:solidFill>
                      <a:srgbClr val="143D2F"/>
                    </a:solidFill>
                  </a:tcPr>
                </a:tc>
                <a:tc>
                  <a:txBody>
                    <a:bodyPr lIns="54864" rIns="54864" tIns="18288" bIns="18288" wrap="square" anchor="ctr"/>
                    <a:lstStyle/>
                    <a:p>
                      <a:pPr algn="l"/>
                      <a:r>
                        <a:rPr sz="900" b="1">
                          <a:solidFill>
                            <a:srgbClr val="FFFFFF"/>
                          </a:solidFill>
                          <a:latin typeface="Calibri"/>
                        </a:rPr>
                        <a:t>Source of that speed</a:t>
                      </a:r>
                    </a:p>
                  </a:txBody>
                  <a:tcPr>
                    <a:solidFill>
                      <a:srgbClr val="143D2F"/>
                    </a:solidFill>
                  </a:tcPr>
                </a:tc>
                <a:tc>
                  <a:txBody>
                    <a:bodyPr lIns="54864" rIns="54864" tIns="18288" bIns="18288" wrap="square" anchor="ctr"/>
                    <a:lstStyle/>
                    <a:p>
                      <a:pPr algn="l"/>
                      <a:r>
                        <a:rPr sz="900" b="1">
                          <a:solidFill>
                            <a:srgbClr val="FFFFFF"/>
                          </a:solidFill>
                          <a:latin typeface="Calibri"/>
                        </a:rPr>
                        <a:t>Gauge strain rate</a:t>
                      </a:r>
                    </a:p>
                  </a:txBody>
                  <a:tcPr>
                    <a:solidFill>
                      <a:srgbClr val="143D2F"/>
                    </a:solidFill>
                  </a:tcPr>
                </a:tc>
              </a:tr>
              <a:tr h="214230">
                <a:tc>
                  <a:txBody>
                    <a:bodyPr lIns="54864" rIns="54864" tIns="18288" bIns="18288" wrap="square" anchor="ctr"/>
                    <a:lstStyle/>
                    <a:p>
                      <a:pPr algn="l"/>
                      <a:r>
                        <a:rPr sz="850" b="0">
                          <a:solidFill>
                            <a:srgbClr val="000000"/>
                          </a:solidFill>
                          <a:latin typeface="Calibri"/>
                        </a:rPr>
                        <a:t>XT205-S1</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6.00 mm/min  (0.100 mm/s)</a:t>
                      </a:r>
                    </a:p>
                  </a:txBody>
                  <a:tcPr/>
                </a:tc>
                <a:tc>
                  <a:txBody>
                    <a:bodyPr lIns="54864" rIns="54864" tIns="18288" bIns="18288" wrap="square" anchor="ctr"/>
                    <a:lstStyle/>
                    <a:p>
                      <a:pPr algn="l"/>
                      <a:r>
                        <a:rPr sz="850" b="0">
                          <a:solidFill>
                            <a:srgbClr val="000000"/>
                          </a:solidFill>
                          <a:latin typeface="Calibri"/>
                        </a:rPr>
                        <a:t>commanded — no position channel</a:t>
                      </a:r>
                    </a:p>
                  </a:txBody>
                  <a:tcPr/>
                </a:tc>
                <a:tc>
                  <a:txBody>
                    <a:bodyPr lIns="54864" rIns="54864" tIns="18288" bIns="18288" wrap="square" anchor="ctr"/>
                    <a:lstStyle/>
                    <a:p>
                      <a:pPr algn="l"/>
                      <a:r>
                        <a:rPr sz="850" b="0">
                          <a:solidFill>
                            <a:srgbClr val="000000"/>
                          </a:solidFill>
                          <a:latin typeface="Calibri"/>
                        </a:rPr>
                        <a:t>7.42e-04 /s</a:t>
                      </a:r>
                    </a:p>
                  </a:txBody>
                  <a:tcPr/>
                </a:tc>
              </a:tr>
              <a:tr h="214230">
                <a:tc>
                  <a:txBody>
                    <a:bodyPr lIns="54864" rIns="54864" tIns="18288" bIns="18288" wrap="square" anchor="ctr"/>
                    <a:lstStyle/>
                    <a:p>
                      <a:pPr algn="l"/>
                      <a:r>
                        <a:rPr sz="850" b="0">
                          <a:solidFill>
                            <a:srgbClr val="000000"/>
                          </a:solidFill>
                          <a:latin typeface="Calibri"/>
                        </a:rPr>
                        <a:t>S25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2.67e-04 /s</a:t>
                      </a:r>
                    </a:p>
                  </a:txBody>
                  <a:tcPr/>
                </a:tc>
              </a:tr>
              <a:tr h="214230">
                <a:tc>
                  <a:txBody>
                    <a:bodyPr lIns="54864" rIns="54864" tIns="18288" bIns="18288" wrap="square" anchor="ctr"/>
                    <a:lstStyle/>
                    <a:p>
                      <a:pPr algn="l"/>
                      <a:r>
                        <a:rPr sz="850" b="0">
                          <a:solidFill>
                            <a:srgbClr val="000000"/>
                          </a:solidFill>
                          <a:latin typeface="Calibri"/>
                        </a:rPr>
                        <a:t>S26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4.06e-04 /s</a:t>
                      </a:r>
                    </a:p>
                  </a:txBody>
                  <a:tcPr/>
                </a:tc>
              </a:tr>
              <a:tr h="214230">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2.00 mm/min  (0.0333 mm/s)</a:t>
                      </a:r>
                    </a:p>
                  </a:txBody>
                  <a:tcPr/>
                </a:tc>
                <a:tc>
                  <a:txBody>
                    <a:bodyPr lIns="54864" rIns="54864" tIns="18288" bIns="18288" wrap="square" anchor="ctr"/>
                    <a:lstStyle/>
                    <a:p>
                      <a:pPr algn="l"/>
                      <a:r>
                        <a:rPr sz="850" b="0">
                          <a:solidFill>
                            <a:srgbClr val="000000"/>
                          </a:solidFill>
                          <a:latin typeface="Calibri"/>
                        </a:rPr>
                        <a:t>operator-reported — no position channel</a:t>
                      </a:r>
                    </a:p>
                  </a:txBody>
                  <a:tcPr/>
                </a:tc>
                <a:tc>
                  <a:txBody>
                    <a:bodyPr lIns="54864" rIns="54864" tIns="18288" bIns="18288" wrap="square" anchor="ctr"/>
                    <a:lstStyle/>
                    <a:p>
                      <a:pPr algn="l"/>
                      <a:r>
                        <a:rPr sz="850" b="0">
                          <a:solidFill>
                            <a:srgbClr val="000000"/>
                          </a:solidFill>
                          <a:latin typeface="Calibri"/>
                        </a:rPr>
                        <a:t>2.60e-04 /s</a:t>
                      </a:r>
                    </a:p>
                  </a:txBody>
                  <a:tcPr/>
                </a:tc>
              </a:tr>
              <a:tr h="214230">
                <a:tc>
                  <a:txBody>
                    <a:bodyPr lIns="54864" rIns="54864" tIns="18288" bIns="18288" wrap="square" anchor="ctr"/>
                    <a:lstStyle/>
                    <a:p>
                      <a:pPr algn="l"/>
                      <a:r>
                        <a:rPr sz="850" b="0">
                          <a:solidFill>
                            <a:srgbClr val="000000"/>
                          </a:solidFill>
                          <a:latin typeface="Calibri"/>
                        </a:rPr>
                        <a:t>S33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3.00e-04 /s</a:t>
                      </a:r>
                    </a:p>
                  </a:txBody>
                  <a:tcPr/>
                </a:tc>
              </a:tr>
              <a:tr h="214236">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3.10e-04 /s</a:t>
                      </a:r>
                    </a:p>
                  </a:txBody>
                  <a:tcPr/>
                </a:tc>
              </a:tr>
            </a:tbl>
          </a:graphicData>
        </a:graphic>
      </p:graphicFrame>
      <p:sp>
        <p:nvSpPr>
          <p:cNvPr id="10" name="TextBox 9"/>
          <p:cNvSpPr txBox="1"/>
          <p:nvPr/>
        </p:nvSpPr>
        <p:spPr>
          <a:xfrm>
            <a:off x="411480" y="524865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1 was speed-matched. Test 2 was not.</a:t>
            </a:r>
          </a:p>
        </p:txBody>
      </p:sp>
      <p:sp>
        <p:nvSpPr>
          <p:cNvPr id="11" name="TextBox 10"/>
          <p:cNvSpPr txBox="1"/>
          <p:nvPr/>
        </p:nvSpPr>
        <p:spPr>
          <a:xfrm>
            <a:off x="411480" y="5596128"/>
            <a:ext cx="5623560" cy="960120"/>
          </a:xfrm>
          <a:prstGeom prst="rect">
            <a:avLst/>
          </a:prstGeom>
          <a:noFill/>
        </p:spPr>
        <p:txBody>
          <a:bodyPr wrap="square" lIns="45720" rIns="45720" tIns="18288" bIns="18288" anchor="t">
            <a:spAutoFit/>
          </a:bodyPr>
          <a:lstStyle/>
          <a:p>
            <a:pPr algn="l"/>
            <a:r>
              <a:rPr sz="950" b="0" i="0">
                <a:solidFill>
                  <a:srgbClr val="000000"/>
                </a:solidFill>
                <a:latin typeface="Calibri"/>
              </a:rPr>
              <a:t>Both machines ran 6 mm/min in Test 1, so a difference between them could not be the speed. In Test 2 the XT-205 ran 2 mm/min against the PPD-UTM's 5.98 — a 3× mismatch that was introduced between the two MOT sessions and not by us.</a:t>
            </a:r>
          </a:p>
        </p:txBody>
      </p:sp>
      <p:sp>
        <p:nvSpPr>
          <p:cNvPr id="12" name="TextBox 11"/>
          <p:cNvSpPr txBox="1"/>
          <p:nvPr/>
        </p:nvSpPr>
        <p:spPr>
          <a:xfrm>
            <a:off x="6263640" y="524865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is where a slope difference comes from</a:t>
            </a:r>
          </a:p>
        </p:txBody>
      </p:sp>
      <p:sp>
        <p:nvSpPr>
          <p:cNvPr id="13" name="TextBox 12"/>
          <p:cNvSpPr txBox="1"/>
          <p:nvPr/>
        </p:nvSpPr>
        <p:spPr>
          <a:xfrm>
            <a:off x="6263640" y="5596128"/>
            <a:ext cx="5577840" cy="960120"/>
          </a:xfrm>
          <a:prstGeom prst="rect">
            <a:avLst/>
          </a:prstGeom>
          <a:noFill/>
        </p:spPr>
        <p:txBody>
          <a:bodyPr wrap="square" lIns="45720" rIns="45720" tIns="18288" bIns="18288" anchor="t">
            <a:spAutoFit/>
          </a:bodyPr>
          <a:lstStyle/>
          <a:p>
            <a:pPr algn="l"/>
            <a:r>
              <a:rPr sz="950" b="0" i="0">
                <a:solidFill>
                  <a:srgbClr val="000000"/>
                </a:solidFill>
                <a:latin typeface="Calibri"/>
              </a:rPr>
              <a:t>PLA is rate-sensitive: pull it faster and it reads stiffer and stronger. On the like-for-like steepest-run modulus S34 reads 3.451 GPa against XT205-S2's 3.229 — the FASTER specimen is the stiffer one, by 6.4 %, which is the direction rate predicts. It is a candidate, not a proof: one PPD-UTM pull at 2 mm/min would separate it from specimen scatter.</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Our speeds are read back from each run's own position channel by utm_analysis, not restated from the recipe. The MOT tests log no position, so theirs are the commanded values and are marked as such.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PPD-UTM AT A GLANCE — ALL 19 SMART FEATURES</a:t>
            </a:r>
          </a:p>
        </p:txBody>
      </p:sp>
      <p:sp>
        <p:nvSpPr>
          <p:cNvPr id="5" name="TextBox 4"/>
          <p:cNvSpPr txBox="1"/>
          <p:nvPr/>
        </p:nvSpPr>
        <p:spPr>
          <a:xfrm>
            <a:off x="384048" y="1042415"/>
            <a:ext cx="11430000" cy="292608"/>
          </a:xfrm>
          <a:prstGeom prst="rect">
            <a:avLst/>
          </a:prstGeom>
          <a:noFill/>
        </p:spPr>
        <p:txBody>
          <a:bodyPr wrap="square" lIns="45720" rIns="45720" tIns="18288" bIns="18288" anchor="t">
            <a:spAutoFit/>
          </a:bodyPr>
          <a:lstStyle/>
          <a:p>
            <a:pPr algn="l"/>
            <a:r>
              <a:rPr sz="1050" b="0" i="1">
                <a:solidFill>
                  <a:srgbClr val="707070"/>
                </a:solidFill>
                <a:latin typeface="Calibri"/>
              </a:rPr>
              <a:t>Everything the rig does beyond pulling a specimen and logging force. GREEN = built and rig-validated · BLUE = built, offline-verified, awaiting rig time. Each has a slide of its own earlier in this deck.</a:t>
            </a:r>
          </a:p>
        </p:txBody>
      </p:sp>
      <p:sp>
        <p:nvSpPr>
          <p:cNvPr id="6" name="Rounded Rectangle 5"/>
          <p:cNvSpPr/>
          <p:nvPr/>
        </p:nvSpPr>
        <p:spPr>
          <a:xfrm>
            <a:off x="365760" y="1389888"/>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 · DIC health HUD</a:t>
            </a:r>
          </a:p>
          <a:p>
            <a:pPr algn="l">
              <a:spcBef>
                <a:spcPts val="100"/>
              </a:spcBef>
            </a:pPr>
            <a:r>
              <a:rPr sz="819" b="0">
                <a:solidFill>
                  <a:srgbClr val="000000"/>
                </a:solidFill>
                <a:latin typeface="Calibri"/>
              </a:rPr>
              <a:t>Live badge on both test tabs: markers found, % frames tracked, pixel jitter.</a:t>
            </a:r>
          </a:p>
        </p:txBody>
      </p:sp>
      <p:sp>
        <p:nvSpPr>
          <p:cNvPr id="7" name="Rounded Rectangle 6"/>
          <p:cNvSpPr/>
          <p:nvPr/>
        </p:nvSpPr>
        <p:spPr>
          <a:xfrm>
            <a:off x="3374136" y="1389888"/>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SF2 · Prepare specimen</a:t>
            </a:r>
          </a:p>
          <a:p>
            <a:pPr algn="l">
              <a:spcBef>
                <a:spcPts val="100"/>
              </a:spcBef>
            </a:pPr>
            <a:r>
              <a:rPr sz="819" b="0">
                <a:solidFill>
                  <a:srgbClr val="000000"/>
                </a:solidFill>
                <a:latin typeface="Calibri"/>
              </a:rPr>
              <a:t>One click tares load, position and strain together before a pull.</a:t>
            </a:r>
          </a:p>
        </p:txBody>
      </p:sp>
      <p:sp>
        <p:nvSpPr>
          <p:cNvPr id="8" name="Rounded Rectangle 7"/>
          <p:cNvSpPr/>
          <p:nvPr/>
        </p:nvSpPr>
        <p:spPr>
          <a:xfrm>
            <a:off x="6382512" y="1389888"/>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SF3 · Settings / recipes</a:t>
            </a:r>
          </a:p>
          <a:p>
            <a:pPr algn="l">
              <a:spcBef>
                <a:spcPts val="100"/>
              </a:spcBef>
            </a:pPr>
            <a:r>
              <a:rPr sz="819" b="0">
                <a:solidFill>
                  <a:srgbClr val="000000"/>
                </a:solidFill>
                <a:latin typeface="Calibri"/>
              </a:rPr>
              <a:t>Save and reload a whole setup — camera, protocol, limits — as one recipe.</a:t>
            </a:r>
          </a:p>
        </p:txBody>
      </p:sp>
      <p:sp>
        <p:nvSpPr>
          <p:cNvPr id="9" name="Rounded Rectangle 8"/>
          <p:cNvSpPr/>
          <p:nvPr/>
        </p:nvSpPr>
        <p:spPr>
          <a:xfrm>
            <a:off x="9390888" y="1389888"/>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SF4 · Generate report</a:t>
            </a:r>
          </a:p>
          <a:p>
            <a:pPr algn="l">
              <a:spcBef>
                <a:spcPts val="100"/>
              </a:spcBef>
            </a:pPr>
            <a:r>
              <a:rPr sz="819" b="0">
                <a:solidFill>
                  <a:srgbClr val="000000"/>
                </a:solidFill>
                <a:latin typeface="Calibri"/>
              </a:rPr>
              <a:t>One click turns a finished run into a PDF report with the plots embedded.</a:t>
            </a:r>
          </a:p>
        </p:txBody>
      </p:sp>
      <p:sp>
        <p:nvSpPr>
          <p:cNvPr id="10" name="Rounded Rectangle 9"/>
          <p:cNvSpPr/>
          <p:nvPr/>
        </p:nvSpPr>
        <p:spPr>
          <a:xfrm>
            <a:off x="365760" y="2368296"/>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SF5 · Auto-stop at fracture</a:t>
            </a:r>
          </a:p>
          <a:p>
            <a:pPr algn="l">
              <a:spcBef>
                <a:spcPts val="100"/>
              </a:spcBef>
            </a:pPr>
            <a:r>
              <a:rPr sz="819" b="0">
                <a:solidFill>
                  <a:srgbClr val="000000"/>
                </a:solidFill>
                <a:latin typeface="Calibri"/>
              </a:rPr>
              <a:t>Watches for load collapse and halts the motor at fracture on its own.</a:t>
            </a:r>
          </a:p>
        </p:txBody>
      </p:sp>
      <p:sp>
        <p:nvSpPr>
          <p:cNvPr id="11" name="Rounded Rectangle 10"/>
          <p:cNvSpPr/>
          <p:nvPr/>
        </p:nvSpPr>
        <p:spPr>
          <a:xfrm>
            <a:off x="3374136" y="2368296"/>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SF6 · Strain-rate fracture</a:t>
            </a:r>
          </a:p>
          <a:p>
            <a:pPr algn="l">
              <a:spcBef>
                <a:spcPts val="100"/>
              </a:spcBef>
            </a:pPr>
            <a:r>
              <a:rPr sz="819" b="0">
                <a:solidFill>
                  <a:srgbClr val="000000"/>
                </a:solidFill>
                <a:latin typeface="Calibri"/>
              </a:rPr>
              <a:t>Closes the loop on strain rate, not crosshead speed — constant dε/dt.</a:t>
            </a:r>
          </a:p>
        </p:txBody>
      </p:sp>
      <p:sp>
        <p:nvSpPr>
          <p:cNvPr id="12" name="Rounded Rectangle 11"/>
          <p:cNvSpPr/>
          <p:nvPr/>
        </p:nvSpPr>
        <p:spPr>
          <a:xfrm>
            <a:off x="6382512" y="2368296"/>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SF7 · Stall guard</a:t>
            </a:r>
          </a:p>
          <a:p>
            <a:pPr algn="l">
              <a:spcBef>
                <a:spcPts val="100"/>
              </a:spcBef>
            </a:pPr>
            <a:r>
              <a:rPr sz="819" b="0">
                <a:solidFill>
                  <a:srgbClr val="000000"/>
                </a:solidFill>
                <a:latin typeface="Calibri"/>
              </a:rPr>
              <a:t>Detects a motor commanded to move that is not moving, and halts.</a:t>
            </a:r>
          </a:p>
        </p:txBody>
      </p:sp>
      <p:sp>
        <p:nvSpPr>
          <p:cNvPr id="13" name="Rounded Rectangle 12"/>
          <p:cNvSpPr/>
          <p:nvPr/>
        </p:nvSpPr>
        <p:spPr>
          <a:xfrm>
            <a:off x="9390888" y="2368296"/>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SF8 · Release load</a:t>
            </a:r>
          </a:p>
          <a:p>
            <a:pPr algn="l">
              <a:spcBef>
                <a:spcPts val="100"/>
              </a:spcBef>
            </a:pPr>
            <a:r>
              <a:rPr sz="819" b="0">
                <a:solidFill>
                  <a:srgbClr val="000000"/>
                </a:solidFill>
                <a:latin typeface="Calibri"/>
              </a:rPr>
              <a:t>Unloads to a true zero instead of leaving the specimen held in tension.</a:t>
            </a:r>
          </a:p>
        </p:txBody>
      </p:sp>
      <p:sp>
        <p:nvSpPr>
          <p:cNvPr id="14" name="Rounded Rectangle 13"/>
          <p:cNvSpPr/>
          <p:nvPr/>
        </p:nvSpPr>
        <p:spPr>
          <a:xfrm>
            <a:off x="365760" y="3346704"/>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SF9 · 6 closed-loop protocols</a:t>
            </a:r>
          </a:p>
          <a:p>
            <a:pPr algn="l">
              <a:spcBef>
                <a:spcPts val="100"/>
              </a:spcBef>
            </a:pPr>
            <a:r>
              <a:rPr sz="819" b="0">
                <a:solidFill>
                  <a:srgbClr val="000000"/>
                </a:solidFill>
                <a:latin typeface="Calibri"/>
              </a:rPr>
              <a:t>Six closed-loop protocols: monotonic, cyclic, programmable-cyclic, to fracture.</a:t>
            </a:r>
          </a:p>
        </p:txBody>
      </p:sp>
      <p:sp>
        <p:nvSpPr>
          <p:cNvPr id="15" name="Rounded Rectangle 14"/>
          <p:cNvSpPr/>
          <p:nvPr/>
        </p:nvSpPr>
        <p:spPr>
          <a:xfrm>
            <a:off x="3374136" y="3346704"/>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SF10 · Auto-preload</a:t>
            </a:r>
          </a:p>
          <a:p>
            <a:pPr algn="l">
              <a:spcBef>
                <a:spcPts val="100"/>
              </a:spcBef>
            </a:pPr>
            <a:r>
              <a:rPr sz="819" b="0">
                <a:solidFill>
                  <a:srgbClr val="000000"/>
                </a:solidFill>
                <a:latin typeface="Calibri"/>
              </a:rPr>
              <a:t>Finds first contact in three slowing stages, 0.2 → 0.1 → 0.02 mm/s.</a:t>
            </a:r>
          </a:p>
        </p:txBody>
      </p:sp>
      <p:sp>
        <p:nvSpPr>
          <p:cNvPr id="16" name="Rounded Rectangle 15"/>
          <p:cNvSpPr/>
          <p:nvPr/>
        </p:nvSpPr>
        <p:spPr>
          <a:xfrm>
            <a:off x="6382512" y="3346704"/>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SF11 · Auto-metadata link</a:t>
            </a:r>
          </a:p>
          <a:p>
            <a:pPr algn="l">
              <a:spcBef>
                <a:spcPts val="100"/>
              </a:spcBef>
            </a:pPr>
            <a:r>
              <a:rPr sz="819" b="0">
                <a:solidFill>
                  <a:srgbClr val="000000"/>
                </a:solidFill>
                <a:latin typeface="Calibri"/>
              </a:rPr>
              <a:t>Pairs each video with its CSV automatically, by timestamp overlap.</a:t>
            </a:r>
          </a:p>
        </p:txBody>
      </p:sp>
      <p:sp>
        <p:nvSpPr>
          <p:cNvPr id="17" name="Rounded Rectangle 16"/>
          <p:cNvSpPr/>
          <p:nvPr/>
        </p:nvSpPr>
        <p:spPr>
          <a:xfrm>
            <a:off x="9390888" y="3346704"/>
            <a:ext cx="2862072" cy="905256"/>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SF12 · DIC auto-calibrate</a:t>
            </a:r>
          </a:p>
          <a:p>
            <a:pPr algn="l">
              <a:spcBef>
                <a:spcPts val="100"/>
              </a:spcBef>
            </a:pPr>
            <a:r>
              <a:rPr sz="819" b="0">
                <a:solidFill>
                  <a:srgbClr val="000000"/>
                </a:solidFill>
                <a:latin typeface="Calibri"/>
              </a:rPr>
              <a:t>Sweeps exposure × threshold and reports the setting that tracks best.</a:t>
            </a:r>
          </a:p>
        </p:txBody>
      </p:sp>
      <p:sp>
        <p:nvSpPr>
          <p:cNvPr id="18" name="Rounded Rectangle 17"/>
          <p:cNvSpPr/>
          <p:nvPr/>
        </p:nvSpPr>
        <p:spPr>
          <a:xfrm>
            <a:off x="365760" y="4325112"/>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SF13 · Guided wizard</a:t>
            </a:r>
          </a:p>
          <a:p>
            <a:pPr algn="l">
              <a:spcBef>
                <a:spcPts val="100"/>
              </a:spcBef>
            </a:pPr>
            <a:r>
              <a:rPr sz="819" b="0">
                <a:solidFill>
                  <a:srgbClr val="000000"/>
                </a:solidFill>
                <a:latin typeface="Calibri"/>
              </a:rPr>
              <a:t>Twelve-step guided setup for a new operator — optional, off by default.</a:t>
            </a:r>
          </a:p>
        </p:txBody>
      </p:sp>
      <p:sp>
        <p:nvSpPr>
          <p:cNvPr id="19" name="Rounded Rectangle 18"/>
          <p:cNvSpPr/>
          <p:nvPr/>
        </p:nvSpPr>
        <p:spPr>
          <a:xfrm>
            <a:off x="3374136" y="4325112"/>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SF14 · Test registry</a:t>
            </a:r>
          </a:p>
          <a:p>
            <a:pPr algn="l">
              <a:spcBef>
                <a:spcPts val="100"/>
              </a:spcBef>
            </a:pPr>
            <a:r>
              <a:rPr sz="819" b="0">
                <a:solidFill>
                  <a:srgbClr val="000000"/>
                </a:solidFill>
                <a:latin typeface="Calibri"/>
              </a:rPr>
              <a:t>Every run recorded with its own force anchor, so a number can be traced back.</a:t>
            </a:r>
          </a:p>
        </p:txBody>
      </p:sp>
      <p:sp>
        <p:nvSpPr>
          <p:cNvPr id="20" name="Rounded Rectangle 19"/>
          <p:cNvSpPr/>
          <p:nvPr/>
        </p:nvSpPr>
        <p:spPr>
          <a:xfrm>
            <a:off x="6382512" y="4325112"/>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SF15 · Dead-DIC guard + backstops</a:t>
            </a:r>
          </a:p>
          <a:p>
            <a:pPr algn="l">
              <a:spcBef>
                <a:spcPts val="100"/>
              </a:spcBef>
            </a:pPr>
            <a:r>
              <a:rPr sz="819" b="0">
                <a:solidFill>
                  <a:srgbClr val="000000"/>
                </a:solidFill>
                <a:latin typeface="Calibri"/>
              </a:rPr>
              <a:t>Freezes the plot at 0.2 s without DIC, halts the test at 1.0 s.</a:t>
            </a:r>
          </a:p>
        </p:txBody>
      </p:sp>
      <p:sp>
        <p:nvSpPr>
          <p:cNvPr id="21" name="Rounded Rectangle 20"/>
          <p:cNvSpPr/>
          <p:nvPr/>
        </p:nvSpPr>
        <p:spPr>
          <a:xfrm>
            <a:off x="9390888" y="4325112"/>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SF16 · Live Px₀ overlay</a:t>
            </a:r>
          </a:p>
          <a:p>
            <a:pPr algn="l">
              <a:spcBef>
                <a:spcPts val="100"/>
              </a:spcBef>
            </a:pPr>
            <a:r>
              <a:rPr sz="819" b="0">
                <a:solidFill>
                  <a:srgbClr val="000000"/>
                </a:solidFill>
                <a:latin typeface="Calibri"/>
              </a:rPr>
              <a:t>Draws the frozen Px₀ pair against the live pair, on the camera feed.</a:t>
            </a:r>
          </a:p>
        </p:txBody>
      </p:sp>
      <p:sp>
        <p:nvSpPr>
          <p:cNvPr id="22" name="Rounded Rectangle 21"/>
          <p:cNvSpPr/>
          <p:nvPr/>
        </p:nvSpPr>
        <p:spPr>
          <a:xfrm>
            <a:off x="365760" y="5303520"/>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SF17 · Video + image capture</a:t>
            </a:r>
          </a:p>
          <a:p>
            <a:pPr algn="l">
              <a:spcBef>
                <a:spcPts val="100"/>
              </a:spcBef>
            </a:pPr>
            <a:r>
              <a:rPr sz="819" b="0">
                <a:solidFill>
                  <a:srgbClr val="000000"/>
                </a:solidFill>
                <a:latin typeface="Calibri"/>
              </a:rPr>
              <a:t>PNG stills plus three AVI styles, with zero dropped frames on record.</a:t>
            </a:r>
          </a:p>
        </p:txBody>
      </p:sp>
      <p:sp>
        <p:nvSpPr>
          <p:cNvPr id="23" name="Rounded Rectangle 22"/>
          <p:cNvSpPr/>
          <p:nvPr/>
        </p:nvSpPr>
        <p:spPr>
          <a:xfrm>
            <a:off x="3374136" y="5303520"/>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SF18 · DIC post-processing</a:t>
            </a:r>
          </a:p>
          <a:p>
            <a:pPr algn="l">
              <a:spcBef>
                <a:spcPts val="100"/>
              </a:spcBef>
            </a:pPr>
            <a:r>
              <a:rPr sz="819" b="0">
                <a:solidFill>
                  <a:srgbClr val="000000"/>
                </a:solidFill>
                <a:latin typeface="Calibri"/>
              </a:rPr>
              <a:t>Re-measures any recorded video — ours or a foreign rig's — after the fact.</a:t>
            </a:r>
          </a:p>
        </p:txBody>
      </p:sp>
      <p:sp>
        <p:nvSpPr>
          <p:cNvPr id="24" name="Rounded Rectangle 23"/>
          <p:cNvSpPr/>
          <p:nvPr/>
        </p:nvSpPr>
        <p:spPr>
          <a:xfrm>
            <a:off x="6382512" y="5303520"/>
            <a:ext cx="2862072" cy="905256"/>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SF19 · Noise capture</a:t>
            </a:r>
          </a:p>
          <a:p>
            <a:pPr algn="l">
              <a:spcBef>
                <a:spcPts val="100"/>
              </a:spcBef>
            </a:pPr>
            <a:r>
              <a:rPr sz="819" b="0">
                <a:solidFill>
                  <a:srgbClr val="000000"/>
                </a:solidFill>
                <a:latin typeface="Calibri"/>
              </a:rPr>
              <a:t>Records the instrument at rest, so the noise floor is measured, not assumed.</a:t>
            </a:r>
          </a:p>
        </p:txBody>
      </p:sp>
      <p:sp>
        <p:nvSpPr>
          <p:cNvPr id="25" name="Rounded Rectangle 24"/>
          <p:cNvSpPr/>
          <p:nvPr/>
        </p:nvSpPr>
        <p:spPr>
          <a:xfrm>
            <a:off x="9390888" y="5303520"/>
            <a:ext cx="2862072" cy="905256"/>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000000"/>
                </a:solidFill>
                <a:latin typeface="Calibri"/>
              </a:rPr>
              <a:t>ALWAYS ON — the safety net</a:t>
            </a:r>
          </a:p>
          <a:p>
            <a:pPr algn="l">
              <a:spcBef>
                <a:spcPts val="100"/>
              </a:spcBef>
            </a:pPr>
            <a:r>
              <a:rPr sz="819" b="0">
                <a:solidFill>
                  <a:srgbClr val="000000"/>
                </a:solidFill>
                <a:latin typeface="Calibri"/>
              </a:rPr>
              <a:t>Four safety layers on every driven test: load collapse · stall guard · 4.5 kN / 30 mm · dead-DIC freeze.</a:t>
            </a:r>
          </a:p>
        </p:txBody>
      </p:sp>
      <p:sp>
        <p:nvSpPr>
          <p:cNvPr id="26" name="Rectangle 25"/>
          <p:cNvSpPr/>
          <p:nvPr/>
        </p:nvSpPr>
        <p:spPr>
          <a:xfrm>
            <a:off x="365760" y="6272784"/>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17 of 19 done and validated on the rig · 2 built and waiting on rig time · every one of them reachable from the two test tabs, no scripting required.</a:t>
            </a:r>
          </a:p>
        </p:txBody>
      </p:sp>
      <p:sp>
        <p:nvSpPr>
          <p:cNvPr id="27" name="TextBox 2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