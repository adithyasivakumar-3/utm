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ieeexplore.ieee.org/document/4310076"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 Id="rId3" Type="http://schemas.openxmlformats.org/officeDocument/2006/relationships/image" Target="../media/image116.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image" Target="../media/image118.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png"/><Relationship Id="rId3" Type="http://schemas.openxmlformats.org/officeDocument/2006/relationships/image" Target="../media/image138.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42.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p268</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p269</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p312–p316</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p322</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p272 · p273</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OTSU'S METHOD — WHAT IT DOES, AND WHAT IT ASSUMES</a:t>
            </a:r>
          </a:p>
        </p:txBody>
      </p:sp>
      <p:pic>
        <p:nvPicPr>
          <p:cNvPr id="5" name="Picture 4" descr="otsu_hist.png"/>
          <p:cNvPicPr>
            <a:picLocks noChangeAspect="1"/>
          </p:cNvPicPr>
          <p:nvPr/>
        </p:nvPicPr>
        <p:blipFill>
          <a:blip r:embed="rId2"/>
          <a:stretch>
            <a:fillRect/>
          </a:stretch>
        </p:blipFill>
        <p:spPr>
          <a:xfrm>
            <a:off x="320040" y="1042415"/>
            <a:ext cx="5806440" cy="3123161"/>
          </a:xfrm>
          <a:prstGeom prst="rect">
            <a:avLst/>
          </a:prstGeom>
        </p:spPr>
      </p:pic>
      <p:sp>
        <p:nvSpPr>
          <p:cNvPr id="6" name="TextBox 5"/>
          <p:cNvSpPr txBox="1"/>
          <p:nvPr/>
        </p:nvSpPr>
        <p:spPr>
          <a:xfrm>
            <a:off x="365760" y="4443984"/>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on the histogram above</a:t>
            </a:r>
          </a:p>
        </p:txBody>
      </p:sp>
      <p:sp>
        <p:nvSpPr>
          <p:cNvPr id="7" name="TextBox 6"/>
          <p:cNvSpPr txBox="1"/>
          <p:nvPr/>
        </p:nvSpPr>
        <p:spPr>
          <a:xfrm>
            <a:off x="365760" y="4791456"/>
            <a:ext cx="5760720" cy="1417320"/>
          </a:xfrm>
          <a:prstGeom prst="rect">
            <a:avLst/>
          </a:prstGeom>
          <a:noFill/>
        </p:spPr>
        <p:txBody>
          <a:bodyPr wrap="square" lIns="45720" rIns="45720" tIns="18288" bIns="18288" anchor="t">
            <a:spAutoFit/>
          </a:bodyPr>
          <a:lstStyle/>
          <a:p>
            <a:pPr algn="l"/>
            <a:r>
              <a:rPr sz="960" b="0" i="0">
                <a:solidFill>
                  <a:srgbClr val="000000"/>
                </a:solidFill>
                <a:latin typeface="Calibri"/>
              </a:rPr>
              <a:t>•  The dark mass at 25–100 is the specimen body.
•  The bright mass above 170 is the spray dots AND the grips.
•  Between them sits a broad valley — that is where any threshold has to go.
•  Otsu puts it at 131; the rig's Black preset uses 149. 18 grey levels apart, both inside the valley.</a:t>
            </a:r>
          </a:p>
        </p:txBody>
      </p:sp>
      <p:sp>
        <p:nvSpPr>
          <p:cNvPr id="8" name="TextBox 7"/>
          <p:cNvSpPr txBox="1"/>
          <p:nvPr/>
        </p:nvSpPr>
        <p:spPr>
          <a:xfrm>
            <a:off x="6400800" y="10058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 in one sentence</a:t>
            </a:r>
          </a:p>
        </p:txBody>
      </p:sp>
      <p:sp>
        <p:nvSpPr>
          <p:cNvPr id="9" name="TextBox 8"/>
          <p:cNvSpPr txBox="1"/>
          <p:nvPr/>
        </p:nvSpPr>
        <p:spPr>
          <a:xfrm>
            <a:off x="6400800" y="1353312"/>
            <a:ext cx="5440680" cy="1783080"/>
          </a:xfrm>
          <a:prstGeom prst="rect">
            <a:avLst/>
          </a:prstGeom>
          <a:noFill/>
        </p:spPr>
        <p:txBody>
          <a:bodyPr wrap="square" lIns="45720" rIns="45720" tIns="18288" bIns="18288" anchor="t">
            <a:spAutoFit/>
          </a:bodyPr>
          <a:lstStyle/>
          <a:p>
            <a:pPr algn="l"/>
            <a:r>
              <a:rPr sz="960" b="0" i="0">
                <a:solidFill>
                  <a:srgbClr val="000000"/>
                </a:solidFill>
                <a:latin typeface="Calibri"/>
              </a:rPr>
              <a:t>•  THE JOB: decide which pixels are “marker” and which are “background”. That needs one brightness number — above it is a marker, below it is not.
•  Otsu picks that number by itself, from the picture alone. No setting to turn, nothing to train, no guess about what the specimen looks like.
•  HOW: it tries all 254 possible numbers and keeps the one that leaves the two groups as tidy as possible — dark pixels alike, bright pixels alike.
•  Written out, it maximises   σ²b(t) = ω₀ω₁ (μ₀ − μ₁)²   (ω = group sizes, μ = group means), which is the same thing as making each group internally consistent.</a:t>
            </a:r>
          </a:p>
        </p:txBody>
      </p:sp>
      <p:sp>
        <p:nvSpPr>
          <p:cNvPr id="10" name="TextBox 9"/>
          <p:cNvSpPr txBox="1"/>
          <p:nvPr/>
        </p:nvSpPr>
        <p:spPr>
          <a:xfrm>
            <a:off x="6400800" y="3218688"/>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that is a respectable choice</a:t>
            </a:r>
          </a:p>
        </p:txBody>
      </p:sp>
      <p:sp>
        <p:nvSpPr>
          <p:cNvPr id="11" name="TextBox 10"/>
          <p:cNvSpPr txBox="1"/>
          <p:nvPr/>
        </p:nvSpPr>
        <p:spPr>
          <a:xfrm>
            <a:off x="6400800" y="3566160"/>
            <a:ext cx="5440680" cy="1234440"/>
          </a:xfrm>
          <a:prstGeom prst="rect">
            <a:avLst/>
          </a:prstGeom>
          <a:noFill/>
        </p:spPr>
        <p:txBody>
          <a:bodyPr wrap="square" lIns="45720" rIns="45720" tIns="18288" bIns="18288" anchor="t">
            <a:spAutoFit/>
          </a:bodyPr>
          <a:lstStyle/>
          <a:p>
            <a:pPr algn="l"/>
            <a:r>
              <a:rPr sz="960" b="0" i="0">
                <a:solidFill>
                  <a:srgbClr val="000000"/>
                </a:solidFill>
                <a:latin typeface="Calibri"/>
              </a:rPr>
              <a:t>•  It is Fisher's linear discriminant applied to the intensity histogram — a real statistical criterion, not a heuristic.
•  Non-parametric: it assumes no distribution, only that there are two classes.
•  Cheap — one pass over 256 bins, O(L). It can run on every frame.</a:t>
            </a:r>
          </a:p>
        </p:txBody>
      </p:sp>
      <p:sp>
        <p:nvSpPr>
          <p:cNvPr id="12" name="TextBox 11"/>
          <p:cNvSpPr txBox="1"/>
          <p:nvPr/>
        </p:nvSpPr>
        <p:spPr>
          <a:xfrm>
            <a:off x="6400800" y="4882896"/>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quietly assumes</a:t>
            </a:r>
          </a:p>
        </p:txBody>
      </p:sp>
      <p:sp>
        <p:nvSpPr>
          <p:cNvPr id="13" name="TextBox 12"/>
          <p:cNvSpPr txBox="1"/>
          <p:nvPr/>
        </p:nvSpPr>
        <p:spPr>
          <a:xfrm>
            <a:off x="6400800" y="5230368"/>
            <a:ext cx="5440680" cy="1051560"/>
          </a:xfrm>
          <a:prstGeom prst="rect">
            <a:avLst/>
          </a:prstGeom>
          <a:noFill/>
        </p:spPr>
        <p:txBody>
          <a:bodyPr wrap="square" lIns="45720" rIns="45720" tIns="18288" bIns="18288" anchor="t">
            <a:spAutoFit/>
          </a:bodyPr>
          <a:lstStyle/>
          <a:p>
            <a:pPr algn="l"/>
            <a:r>
              <a:rPr sz="960" b="0" i="0">
                <a:solidFill>
                  <a:srgbClr val="000000"/>
                </a:solidFill>
                <a:latin typeface="Calibri"/>
              </a:rPr>
              <a:t>•  A BIMODAL histogram with a deep, sharp valley.
•  Two classes of comparable SIZE and comparable VARIANCE — the derivation models them as two equal normals.
•  Even illumination and low noise.</a:t>
            </a:r>
          </a:p>
        </p:txBody>
      </p:sp>
      <p:sp>
        <p:nvSpPr>
          <p:cNvPr id="14" name="TextBox 13"/>
          <p:cNvSpPr txBox="1"/>
          <p:nvPr/>
        </p:nvSpPr>
        <p:spPr>
          <a:xfrm>
            <a:off x="365760" y="6272784"/>
            <a:ext cx="11430000" cy="274320"/>
          </a:xfrm>
          <a:prstGeom prst="rect">
            <a:avLst/>
          </a:prstGeom>
          <a:noFill/>
        </p:spPr>
        <p:txBody>
          <a:bodyPr wrap="square">
            <a:spAutoFit/>
          </a:bodyPr>
          <a:lstStyle/>
          <a:p>
            <a:r>
              <a:rPr sz="1000" u="sng">
                <a:solidFill>
                  <a:srgbClr val="1A5FB4"/>
                </a:solidFill>
                <a:latin typeface="Calibri"/>
                <a:hlinkClick r:id="rId3"/>
              </a:rPr>
              <a:t>Otsu 1979 — “A Threshold Selection Method from Gray-Level Histograms”, IEEE Trans. SMC 9(1):62–66   ·   ieeexplore.ieee.org/document/4310076</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READING THAT GRAPH — GREY LEVELS AND WHAT OTSU IS DOING</a:t>
            </a:r>
          </a:p>
        </p:txBody>
      </p:sp>
      <p:pic>
        <p:nvPicPr>
          <p:cNvPr id="5" name="Picture 4" descr="otsu_explain.png"/>
          <p:cNvPicPr>
            <a:picLocks noChangeAspect="1"/>
          </p:cNvPicPr>
          <p:nvPr/>
        </p:nvPicPr>
        <p:blipFill>
          <a:blip r:embed="rId2"/>
          <a:stretch>
            <a:fillRect/>
          </a:stretch>
        </p:blipFill>
        <p:spPr>
          <a:xfrm>
            <a:off x="1150727" y="969264"/>
            <a:ext cx="9860065" cy="3017520"/>
          </a:xfrm>
          <a:prstGeom prst="rect">
            <a:avLst/>
          </a:prstGeom>
        </p:spPr>
      </p:pic>
      <p:sp>
        <p:nvSpPr>
          <p:cNvPr id="6" name="TextBox 5"/>
          <p:cNvSpPr txBox="1"/>
          <p:nvPr/>
        </p:nvSpPr>
        <p:spPr>
          <a:xfrm>
            <a:off x="3657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“Grey level” — the number on a pixel</a:t>
            </a:r>
          </a:p>
        </p:txBody>
      </p:sp>
      <p:sp>
        <p:nvSpPr>
          <p:cNvPr id="7" name="TextBox 6"/>
          <p:cNvSpPr txBox="1"/>
          <p:nvPr/>
        </p:nvSpPr>
        <p:spPr>
          <a:xfrm>
            <a:off x="3657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The camera records no colour. Each pixel is ONE number: 0 is black, 255 is white, and everything between is a shade of grey.
•  The left panel is a real 8 × 6 corner of a frame with those numbers printed on it. Read across the top row and the marker's edge is visible as the numbers fall from 234 to 104.
•  Nothing is interpreted yet. This is just what the sensor wrote down.</a:t>
            </a:r>
          </a:p>
        </p:txBody>
      </p:sp>
      <p:sp>
        <p:nvSpPr>
          <p:cNvPr id="8" name="TextBox 7"/>
          <p:cNvSpPr txBox="1"/>
          <p:nvPr/>
        </p:nvSpPr>
        <p:spPr>
          <a:xfrm>
            <a:off x="42519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“Share of pixels” — a headcount</a:t>
            </a:r>
          </a:p>
        </p:txBody>
      </p:sp>
      <p:sp>
        <p:nvSpPr>
          <p:cNvPr id="9" name="TextBox 8"/>
          <p:cNvSpPr txBox="1"/>
          <p:nvPr/>
        </p:nvSpPr>
        <p:spPr>
          <a:xfrm>
            <a:off x="42519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Go through every pixel in the picture and tally how many have each of the 256 numbers. That tally is the graph on the right.
•  The height is the SHARE: “this percentage of the picture is exactly this bright”.
•  The scale is logarithmic because the two markers are a fraction of one per cent of the pixels. On an ordinary scale the specimen body would be a spike and the markers would be an invisible flat line.</a:t>
            </a:r>
          </a:p>
        </p:txBody>
      </p:sp>
      <p:sp>
        <p:nvSpPr>
          <p:cNvPr id="10" name="TextBox 9"/>
          <p:cNvSpPr txBox="1"/>
          <p:nvPr/>
        </p:nvSpPr>
        <p:spPr>
          <a:xfrm>
            <a:off x="81381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Otsu does with it — plainly</a:t>
            </a:r>
          </a:p>
        </p:txBody>
      </p:sp>
      <p:sp>
        <p:nvSpPr>
          <p:cNvPr id="11" name="TextBox 10"/>
          <p:cNvSpPr txBox="1"/>
          <p:nvPr/>
        </p:nvSpPr>
        <p:spPr>
          <a:xfrm>
            <a:off x="81381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It tries EVERY possible cut, 1 to 254, and for each one splits the pixels into a dark pile and a bright pile.
•  It keeps the cut where each pile is most alike INSIDE itself — where the two piles are most cleanly separated.
•  Like sorting a room of people into “short” and “tall”: you put the line where you get two tidy groups, not one where half the tall people end up with the short ones.
•  On this picture that lands at 131 — down in the valley, where few pixels live.</a:t>
            </a:r>
          </a:p>
        </p:txBody>
      </p:sp>
      <p:sp>
        <p:nvSpPr>
          <p:cNvPr id="12" name="Rectangle 11"/>
          <p:cNvSpPr/>
          <p:nvPr/>
        </p:nvSpPr>
        <p:spPr>
          <a:xfrm>
            <a:off x="365760" y="6272784"/>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valley is the whole point: a threshold put where hardly any pixels sit can drift a little without changing which side anything falls on.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VALLEY ACTUALLY IS — READ OFF THE SPECIMEN</a:t>
            </a:r>
          </a:p>
        </p:txBody>
      </p:sp>
      <p:pic>
        <p:nvPicPr>
          <p:cNvPr id="5" name="Picture 4" descr="otsu_greymap.png"/>
          <p:cNvPicPr>
            <a:picLocks noChangeAspect="1"/>
          </p:cNvPicPr>
          <p:nvPr/>
        </p:nvPicPr>
        <p:blipFill>
          <a:blip r:embed="rId2"/>
          <a:stretch>
            <a:fillRect/>
          </a:stretch>
        </p:blipFill>
        <p:spPr>
          <a:xfrm>
            <a:off x="944645" y="896112"/>
            <a:ext cx="10272228" cy="3182112"/>
          </a:xfrm>
          <a:prstGeom prst="rect">
            <a:avLst/>
          </a:prstGeom>
        </p:spPr>
      </p:pic>
      <p:sp>
        <p:nvSpPr>
          <p:cNvPr id="6" name="TextBox 5"/>
          <p:cNvSpPr txBox="1"/>
          <p:nvPr/>
        </p:nvSpPr>
        <p:spPr>
          <a:xfrm>
            <a:off x="3657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bands, as things you can point at</a:t>
            </a:r>
          </a:p>
        </p:txBody>
      </p:sp>
      <p:sp>
        <p:nvSpPr>
          <p:cNvPr id="7" name="TextBox 6"/>
          <p:cNvSpPr txBox="1"/>
          <p:nvPr/>
        </p:nvSpPr>
        <p:spPr>
          <a:xfrm>
            <a:off x="3657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25–100, the big peak — the specimen and the field behind it. Plain body reads 79, a dark print line 68, the background 61.
•  Above 150 — the two spray dots (234 at centre) and the grips (229).
•  101–150, the valley — 2.73 % of the frame. Every ring in amber above is one of these, and none of them is an object.</a:t>
            </a:r>
          </a:p>
        </p:txBody>
      </p:sp>
      <p:sp>
        <p:nvSpPr>
          <p:cNvPr id="8" name="TextBox 7"/>
          <p:cNvSpPr txBox="1"/>
          <p:nvPr/>
        </p:nvSpPr>
        <p:spPr>
          <a:xfrm>
            <a:off x="42519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worth making here</a:t>
            </a:r>
          </a:p>
        </p:txBody>
      </p:sp>
      <p:sp>
        <p:nvSpPr>
          <p:cNvPr id="9" name="TextBox 8"/>
          <p:cNvSpPr txBox="1"/>
          <p:nvPr/>
        </p:nvSpPr>
        <p:spPr>
          <a:xfrm>
            <a:off x="42519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Calling the big peak “the specimen body” is a simplification. It is the specimen AND the dark field behind it.
•  Measured in the columns where both are visible: the body averages grey 79.3, the surround 66.4, and 99.6 % of BOTH fall in 25–100.
•  They are one peak because brightness cannot tell them apart — only position can. It does not matter here, because neither is anywhere near the cut.</a:t>
            </a:r>
          </a:p>
        </p:txBody>
      </p:sp>
      <p:sp>
        <p:nvSpPr>
          <p:cNvPr id="10" name="TextBox 9"/>
          <p:cNvSpPr txBox="1"/>
          <p:nvPr/>
        </p:nvSpPr>
        <p:spPr>
          <a:xfrm>
            <a:off x="81381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in the valley?</a:t>
            </a:r>
          </a:p>
        </p:txBody>
      </p:sp>
      <p:sp>
        <p:nvSpPr>
          <p:cNvPr id="11" name="TextBox 10"/>
          <p:cNvSpPr txBox="1"/>
          <p:nvPr/>
        </p:nvSpPr>
        <p:spPr>
          <a:xfrm>
            <a:off x="81381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Edges. A pixel lying across a boundary averages the bright side and the dark side, and the lens is not perfectly sharp — so a marker's rim reads 115 two pixels out, on its way from 234 to 79.
•  Glare. The grip is still at 150 some 98 px away from its own face.
•  One real oddity: a glint off a raised print artefact out on the gauge, peaking at 145. Next slide.</a:t>
            </a:r>
          </a:p>
        </p:txBody>
      </p:sp>
      <p:sp>
        <p:nvSpPr>
          <p:cNvPr id="12" name="Rectangle 11"/>
          <p:cNvSpPr/>
          <p:nvPr/>
        </p:nvSpPr>
        <p:spPr>
          <a:xfrm>
            <a:off x="365760" y="6272784"/>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Nothing in this scene IS mid-grey. The valley is what you get at the boundaries between the things that are — which is exactly why a threshold is safe there.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VALLEY IS AN EDGE — AND MOSTLY THE GRIPS' EDGE</a:t>
            </a:r>
          </a:p>
        </p:txBody>
      </p:sp>
      <p:pic>
        <p:nvPicPr>
          <p:cNvPr id="5" name="Picture 4" descr="otsu_valley_where.png"/>
          <p:cNvPicPr>
            <a:picLocks noChangeAspect="1"/>
          </p:cNvPicPr>
          <p:nvPr/>
        </p:nvPicPr>
        <p:blipFill>
          <a:blip r:embed="rId2"/>
          <a:stretch>
            <a:fillRect/>
          </a:stretch>
        </p:blipFill>
        <p:spPr>
          <a:xfrm>
            <a:off x="1303020" y="896112"/>
            <a:ext cx="9555480" cy="3520440"/>
          </a:xfrm>
          <a:prstGeom prst="rect">
            <a:avLst/>
          </a:prstGeom>
        </p:spPr>
      </p:pic>
      <p:sp>
        <p:nvSpPr>
          <p:cNvPr id="6" name="TextBox 5"/>
          <p:cNvSpPr txBox="1"/>
          <p:nvPr/>
        </p:nvSpPr>
        <p:spPr>
          <a:xfrm>
            <a:off x="3657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every valley pixel sits</a:t>
            </a:r>
          </a:p>
        </p:txBody>
      </p:sp>
      <p:graphicFrame>
        <p:nvGraphicFramePr>
          <p:cNvPr id="7" name="Table 6"/>
          <p:cNvGraphicFramePr>
            <a:graphicFrameLocks noGrp="1"/>
          </p:cNvGraphicFramePr>
          <p:nvPr/>
        </p:nvGraphicFramePr>
        <p:xfrm>
          <a:off x="365760" y="4919472"/>
          <a:ext cx="5532120" cy="1042415"/>
        </p:xfrm>
        <a:graphic>
          <a:graphicData uri="http://schemas.openxmlformats.org/drawingml/2006/table">
            <a:tbl>
              <a:tblPr firstRow="1" bandRow="1">
                <a:tableStyleId>{5C22544A-7EE6-4342-B048-85BDC9FD1C3A}</a:tableStyleId>
              </a:tblPr>
              <a:tblGrid>
                <a:gridCol w="1691640"/>
                <a:gridCol w="1417320"/>
                <a:gridCol w="2423160"/>
              </a:tblGrid>
              <a:tr h="260603">
                <a:tc>
                  <a:txBody>
                    <a:bodyPr lIns="54864" rIns="54864" tIns="18288" bIns="18288" wrap="square" anchor="ctr"/>
                    <a:lstStyle/>
                    <a:p>
                      <a:pPr algn="l"/>
                      <a:r>
                        <a:rPr sz="950" b="1">
                          <a:solidFill>
                            <a:srgbClr val="FFFFFF"/>
                          </a:solidFill>
                          <a:latin typeface="Calibri"/>
                        </a:rPr>
                        <a:t>Nearest bright object</a:t>
                      </a:r>
                    </a:p>
                  </a:txBody>
                  <a:tcPr>
                    <a:solidFill>
                      <a:srgbClr val="143D2F"/>
                    </a:solidFill>
                  </a:tcPr>
                </a:tc>
                <a:tc>
                  <a:txBody>
                    <a:bodyPr lIns="54864" rIns="54864" tIns="18288" bIns="18288" wrap="square" anchor="ctr"/>
                    <a:lstStyle/>
                    <a:p>
                      <a:pPr algn="l"/>
                      <a:r>
                        <a:rPr sz="950" b="1">
                          <a:solidFill>
                            <a:srgbClr val="FFFFFF"/>
                          </a:solidFill>
                          <a:latin typeface="Calibri"/>
                        </a:rPr>
                        <a:t>share of the valley</a:t>
                      </a:r>
                    </a:p>
                  </a:txBody>
                  <a:tcPr>
                    <a:solidFill>
                      <a:srgbClr val="143D2F"/>
                    </a:solidFill>
                  </a:tcPr>
                </a:tc>
                <a:tc>
                  <a:txBody>
                    <a:bodyPr lIns="54864" rIns="54864" tIns="18288" bIns="18288" wrap="square" anchor="ctr"/>
                    <a:lstStyle/>
                    <a:p>
                      <a:pPr algn="l"/>
                      <a:r>
                        <a:rPr sz="950" b="1">
                          <a:solidFill>
                            <a:srgbClr val="FFFFFF"/>
                          </a:solidFill>
                          <a:latin typeface="Calibri"/>
                        </a:rPr>
                        <a:t>what those pixels are</a:t>
                      </a:r>
                    </a:p>
                  </a:txBody>
                  <a:tcPr>
                    <a:solidFill>
                      <a:srgbClr val="143D2F"/>
                    </a:solidFill>
                  </a:tcPr>
                </a:tc>
              </a:tr>
              <a:tr h="260603">
                <a:tc>
                  <a:txBody>
                    <a:bodyPr lIns="54864" rIns="54864" tIns="18288" bIns="18288" wrap="square" anchor="ctr"/>
                    <a:lstStyle/>
                    <a:p>
                      <a:pPr algn="l"/>
                      <a:r>
                        <a:rPr sz="919" b="0">
                          <a:solidFill>
                            <a:srgbClr val="000000"/>
                          </a:solidFill>
                          <a:latin typeface="Calibri"/>
                        </a:rPr>
                        <a:t>a GRIP</a:t>
                      </a:r>
                    </a:p>
                  </a:txBody>
                  <a:tcPr/>
                </a:tc>
                <a:tc>
                  <a:txBody>
                    <a:bodyPr lIns="54864" rIns="54864" tIns="18288" bIns="18288" wrap="square" anchor="ctr"/>
                    <a:lstStyle/>
                    <a:p>
                      <a:pPr algn="l"/>
                      <a:r>
                        <a:rPr sz="919" b="1">
                          <a:solidFill>
                            <a:srgbClr val="000000"/>
                          </a:solidFill>
                          <a:latin typeface="Calibri"/>
                        </a:rPr>
                        <a:t>80.3 %</a:t>
                      </a:r>
                    </a:p>
                  </a:txBody>
                  <a:tcPr>
                    <a:solidFill>
                      <a:srgbClr val="FFCDD2"/>
                    </a:solidFill>
                  </a:tcPr>
                </a:tc>
                <a:tc>
                  <a:txBody>
                    <a:bodyPr lIns="54864" rIns="54864" tIns="18288" bIns="18288" wrap="square" anchor="ctr"/>
                    <a:lstStyle/>
                    <a:p>
                      <a:pPr algn="l"/>
                      <a:r>
                        <a:rPr sz="919" b="0">
                          <a:solidFill>
                            <a:srgbClr val="000000"/>
                          </a:solidFill>
                          <a:latin typeface="Calibri"/>
                        </a:rPr>
                        <a:t>glare along a long, bright edge</a:t>
                      </a:r>
                    </a:p>
                  </a:txBody>
                  <a:tcPr/>
                </a:tc>
              </a:tr>
              <a:tr h="260603">
                <a:tc>
                  <a:txBody>
                    <a:bodyPr lIns="54864" rIns="54864" tIns="18288" bIns="18288" wrap="square" anchor="ctr"/>
                    <a:lstStyle/>
                    <a:p>
                      <a:pPr algn="l"/>
                      <a:r>
                        <a:rPr sz="919" b="0">
                          <a:solidFill>
                            <a:srgbClr val="000000"/>
                          </a:solidFill>
                          <a:latin typeface="Calibri"/>
                        </a:rPr>
                        <a:t>a SPRAY DOT</a:t>
                      </a:r>
                    </a:p>
                  </a:txBody>
                  <a:tcPr/>
                </a:tc>
                <a:tc>
                  <a:txBody>
                    <a:bodyPr lIns="54864" rIns="54864" tIns="18288" bIns="18288" wrap="square" anchor="ctr"/>
                    <a:lstStyle/>
                    <a:p>
                      <a:pPr algn="l"/>
                      <a:r>
                        <a:rPr sz="919" b="1">
                          <a:solidFill>
                            <a:srgbClr val="000000"/>
                          </a:solidFill>
                          <a:latin typeface="Calibri"/>
                        </a:rPr>
                        <a:t>10.1 %</a:t>
                      </a:r>
                    </a:p>
                  </a:txBody>
                  <a:tcPr>
                    <a:solidFill>
                      <a:srgbClr val="C8E6C9"/>
                    </a:solidFill>
                  </a:tcPr>
                </a:tc>
                <a:tc>
                  <a:txBody>
                    <a:bodyPr lIns="54864" rIns="54864" tIns="18288" bIns="18288" wrap="square" anchor="ctr"/>
                    <a:lstStyle/>
                    <a:p>
                      <a:pPr algn="l"/>
                      <a:r>
                        <a:rPr sz="919" b="0">
                          <a:solidFill>
                            <a:srgbClr val="000000"/>
                          </a:solidFill>
                          <a:latin typeface="Calibri"/>
                        </a:rPr>
                        <a:t>the marker's own thin rim</a:t>
                      </a:r>
                    </a:p>
                  </a:txBody>
                  <a:tcPr/>
                </a:tc>
              </a:tr>
              <a:tr h="260606">
                <a:tc>
                  <a:txBody>
                    <a:bodyPr lIns="54864" rIns="54864" tIns="18288" bIns="18288" wrap="square" anchor="ctr"/>
                    <a:lstStyle/>
                    <a:p>
                      <a:pPr algn="l"/>
                      <a:r>
                        <a:rPr sz="919" b="0">
                          <a:solidFill>
                            <a:srgbClr val="000000"/>
                          </a:solidFill>
                          <a:latin typeface="Calibri"/>
                        </a:rPr>
                        <a:t>neither</a:t>
                      </a:r>
                    </a:p>
                  </a:txBody>
                  <a:tcPr/>
                </a:tc>
                <a:tc>
                  <a:txBody>
                    <a:bodyPr lIns="54864" rIns="54864" tIns="18288" bIns="18288" wrap="square" anchor="ctr"/>
                    <a:lstStyle/>
                    <a:p>
                      <a:pPr algn="l"/>
                      <a:r>
                        <a:rPr sz="919" b="0">
                          <a:solidFill>
                            <a:srgbClr val="000000"/>
                          </a:solidFill>
                          <a:latin typeface="Calibri"/>
                        </a:rPr>
                        <a:t>9.6 %</a:t>
                      </a:r>
                    </a:p>
                  </a:txBody>
                  <a:tcPr/>
                </a:tc>
                <a:tc>
                  <a:txBody>
                    <a:bodyPr lIns="54864" rIns="54864" tIns="18288" bIns="18288" wrap="square" anchor="ctr"/>
                    <a:lstStyle/>
                    <a:p>
                      <a:pPr algn="l"/>
                      <a:r>
                        <a:rPr sz="919" b="0">
                          <a:solidFill>
                            <a:srgbClr val="000000"/>
                          </a:solidFill>
                          <a:latin typeface="Calibri"/>
                        </a:rPr>
                        <a:t>glints on the print, sensor noise</a:t>
                      </a:r>
                    </a:p>
                  </a:txBody>
                  <a:tcPr/>
                </a:tc>
              </a:tr>
            </a:tbl>
          </a:graphicData>
        </a:graphic>
      </p:graphicFrame>
      <p:sp>
        <p:nvSpPr>
          <p:cNvPr id="8" name="TextBox 7"/>
          <p:cNvSpPr txBox="1"/>
          <p:nvPr/>
        </p:nvSpPr>
        <p:spPr>
          <a:xfrm>
            <a:off x="365760" y="5989320"/>
            <a:ext cx="5532120" cy="731520"/>
          </a:xfrm>
          <a:prstGeom prst="rect">
            <a:avLst/>
          </a:prstGeom>
          <a:noFill/>
        </p:spPr>
        <p:txBody>
          <a:bodyPr wrap="square" lIns="45720" rIns="45720" tIns="18288" bIns="18288" anchor="t">
            <a:spAutoFit/>
          </a:bodyPr>
          <a:lstStyle/>
          <a:p>
            <a:pPr algn="l"/>
            <a:r>
              <a:rPr sz="960" b="0" i="1">
                <a:solidFill>
                  <a:srgbClr val="707070"/>
                </a:solidFill>
                <a:latin typeface="Calibri"/>
              </a:rPr>
              <a:t>The markers contribute a tenth of it. If the valley looks mushy, that is the GRIPS being mushy — and the grips are exactly what the blob detector has to reject.</a:t>
            </a:r>
          </a:p>
        </p:txBody>
      </p:sp>
      <p:sp>
        <p:nvSpPr>
          <p:cNvPr id="9" name="TextBox 8"/>
          <p:cNvSpPr txBox="1"/>
          <p:nvPr/>
        </p:nvSpPr>
        <p:spPr>
          <a:xfrm>
            <a:off x="6172200" y="457200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grips own it — two factors, both measured</a:t>
            </a:r>
          </a:p>
        </p:txBody>
      </p:sp>
      <p:sp>
        <p:nvSpPr>
          <p:cNvPr id="10" name="TextBox 9"/>
          <p:cNvSpPr txBox="1"/>
          <p:nvPr/>
        </p:nvSpPr>
        <p:spPr>
          <a:xfrm>
            <a:off x="6172200" y="4919472"/>
            <a:ext cx="5669280" cy="1737360"/>
          </a:xfrm>
          <a:prstGeom prst="rect">
            <a:avLst/>
          </a:prstGeom>
          <a:noFill/>
        </p:spPr>
        <p:txBody>
          <a:bodyPr wrap="square" lIns="45720" rIns="45720" tIns="18288" bIns="18288" anchor="t">
            <a:spAutoFit/>
          </a:bodyPr>
          <a:lstStyle/>
          <a:p>
            <a:pPr algn="l"/>
            <a:r>
              <a:rPr sz="940" b="0" i="0">
                <a:solidFill>
                  <a:srgbClr val="000000"/>
                </a:solidFill>
                <a:latin typeface="Calibri"/>
              </a:rPr>
              <a:t>•  MORE EDGE. The grips have 2,370 px of outline against the two dots' 1,053 — 2.25×. Four big shapes cut by the frame beat two circles 125 px across.
•  A SOFTER EDGE. Out from a spray dot the grey is back under 100 within 2 px; out from a grip it takes 6 — 3.00×. Matte paint on matte plastic gives a crisp step; a bright specular face throws a skirt of glare.
•  Together 6.8×, against the 8.0× observed. The two factors are the bulk of it; the residual is glare reaching past where the width metric stops counting — not the same number, and not claimed as one.</a:t>
            </a:r>
          </a:p>
        </p:txBody>
      </p:sp>
      <p:sp>
        <p:nvSpPr>
          <p:cNvPr id="11" name="Rectangle 10"/>
          <p:cNvSpPr/>
          <p:nvPr/>
        </p:nvSpPr>
        <p:spPr>
          <a:xfrm>
            <a:off x="365760" y="6345936"/>
            <a:ext cx="11475720" cy="32918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This is the mechanism behind “six qualifying blobs, not two”: the grips are bright, large, and soft-edged, so they pass any threshold the markers pass.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 IS NOT A BLACK-SPECIMEN METHOD — IT WORKS ON WHITE TOO</a:t>
            </a:r>
          </a:p>
        </p:txBody>
      </p:sp>
      <p:pic>
        <p:nvPicPr>
          <p:cNvPr id="5" name="Picture 4" descr="otsu_polarity.png"/>
          <p:cNvPicPr>
            <a:picLocks noChangeAspect="1"/>
          </p:cNvPicPr>
          <p:nvPr/>
        </p:nvPicPr>
        <p:blipFill>
          <a:blip r:embed="rId2"/>
          <a:stretch>
            <a:fillRect/>
          </a:stretch>
        </p:blipFill>
        <p:spPr>
          <a:xfrm>
            <a:off x="320040" y="969264"/>
            <a:ext cx="5806440" cy="3782984"/>
          </a:xfrm>
          <a:prstGeom prst="rect">
            <a:avLst/>
          </a:prstGeom>
        </p:spPr>
      </p:pic>
      <p:sp>
        <p:nvSpPr>
          <p:cNvPr id="6" name="TextBox 5"/>
          <p:cNvSpPr txBox="1"/>
          <p:nvPr/>
        </p:nvSpPr>
        <p:spPr>
          <a:xfrm>
            <a:off x="365760" y="5029200"/>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every earlier example here was black</a:t>
            </a:r>
          </a:p>
        </p:txBody>
      </p:sp>
      <p:sp>
        <p:nvSpPr>
          <p:cNvPr id="7" name="TextBox 6"/>
          <p:cNvSpPr txBox="1"/>
          <p:nvPr/>
        </p:nvSpPr>
        <p:spPr>
          <a:xfrm>
            <a:off x="365760" y="5376672"/>
            <a:ext cx="5760720" cy="1188720"/>
          </a:xfrm>
          <a:prstGeom prst="rect">
            <a:avLst/>
          </a:prstGeom>
          <a:noFill/>
        </p:spPr>
        <p:txBody>
          <a:bodyPr wrap="square" lIns="45720" rIns="45720" tIns="18288" bIns="18288" anchor="t">
            <a:spAutoFit/>
          </a:bodyPr>
          <a:lstStyle/>
          <a:p>
            <a:pPr algn="l"/>
            <a:r>
              <a:rPr sz="960" b="0" i="0">
                <a:solidFill>
                  <a:srgbClr val="000000"/>
                </a:solidFill>
                <a:latin typeface="Calibri"/>
              </a:rPr>
              <a:t>•  Because that is where the measured evidence was — S13 and the abandoned PETG run. It was an accident of which specimens had saved frames, not a property of the method.
•  S24–S26 are light-bodied: mean grey ~172 against S13's 79. They have now been measured, and the claim is no longer resting on one polarity.</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polarity and the rule are separate settings</a:t>
            </a:r>
          </a:p>
        </p:txBody>
      </p:sp>
      <p:sp>
        <p:nvSpPr>
          <p:cNvPr id="9" name="TextBox 8"/>
          <p:cNvSpPr txBox="1"/>
          <p:nvPr/>
        </p:nvSpPr>
        <p:spPr>
          <a:xfrm>
            <a:off x="6400800" y="1316736"/>
            <a:ext cx="5440680" cy="1298448"/>
          </a:xfrm>
          <a:prstGeom prst="rect">
            <a:avLst/>
          </a:prstGeom>
          <a:noFill/>
        </p:spPr>
        <p:txBody>
          <a:bodyPr wrap="square" lIns="45720" rIns="45720" tIns="18288" bIns="18288" anchor="t">
            <a:spAutoFit/>
          </a:bodyPr>
          <a:lstStyle/>
          <a:p>
            <a:pPr algn="l"/>
            <a:r>
              <a:rPr sz="960" b="0" i="0">
                <a:solidFill>
                  <a:srgbClr val="000000"/>
                </a:solidFill>
                <a:latin typeface="Calibri"/>
              </a:rPr>
              <a:t>•  The rig has a WHITE preset — THRESH_BINARY_INV, dark dots on a light body — beside the BLACK one.
•  Every Otsu call in the app does the same two steps: strip the flag, then re-apply it — base = type &amp; ~THRESH_OTSU, then base | THRESH_OTSU.
•  So Otsu supplies the LEVEL; BINARY vs BINARY_INV decides which side counts as “marker”. The two never interfere.</a:t>
            </a:r>
          </a:p>
        </p:txBody>
      </p:sp>
      <p:sp>
        <p:nvSpPr>
          <p:cNvPr id="10" name="TextBox 9"/>
          <p:cNvSpPr txBox="1"/>
          <p:nvPr/>
        </p:nvSpPr>
        <p:spPr>
          <a:xfrm>
            <a:off x="6400800" y="274320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on four runs — and white has MORE room</a:t>
            </a:r>
          </a:p>
        </p:txBody>
      </p:sp>
      <p:graphicFrame>
        <p:nvGraphicFramePr>
          <p:cNvPr id="11" name="Table 10"/>
          <p:cNvGraphicFramePr>
            <a:graphicFrameLocks noGrp="1"/>
          </p:cNvGraphicFramePr>
          <p:nvPr/>
        </p:nvGraphicFramePr>
        <p:xfrm>
          <a:off x="6400800" y="3090672"/>
          <a:ext cx="5440679" cy="1271016"/>
        </p:xfrm>
        <a:graphic>
          <a:graphicData uri="http://schemas.openxmlformats.org/drawingml/2006/table">
            <a:tbl>
              <a:tblPr firstRow="1" bandRow="1">
                <a:tableStyleId>{5C22544A-7EE6-4342-B048-85BDC9FD1C3A}</a:tableStyleId>
              </a:tblPr>
              <a:tblGrid>
                <a:gridCol w="1417320"/>
                <a:gridCol w="868680"/>
                <a:gridCol w="777240"/>
                <a:gridCol w="777240"/>
                <a:gridCol w="1600199"/>
              </a:tblGrid>
              <a:tr h="254203">
                <a:tc>
                  <a:txBody>
                    <a:bodyPr lIns="54864" rIns="54864" tIns="18288" bIns="18288" wrap="square" anchor="ctr"/>
                    <a:lstStyle/>
                    <a:p>
                      <a:pPr algn="l"/>
                      <a:r>
                        <a:rPr sz="919" b="1">
                          <a:solidFill>
                            <a:srgbClr val="FFFFFF"/>
                          </a:solidFill>
                          <a:latin typeface="Calibri"/>
                        </a:rPr>
                        <a:t>Run</a:t>
                      </a:r>
                    </a:p>
                  </a:txBody>
                  <a:tcPr>
                    <a:solidFill>
                      <a:srgbClr val="143D2F"/>
                    </a:solidFill>
                  </a:tcPr>
                </a:tc>
                <a:tc>
                  <a:txBody>
                    <a:bodyPr lIns="54864" rIns="54864" tIns="18288" bIns="18288" wrap="square" anchor="ctr"/>
                    <a:lstStyle/>
                    <a:p>
                      <a:pPr algn="l"/>
                      <a:r>
                        <a:rPr sz="919" b="1">
                          <a:solidFill>
                            <a:srgbClr val="FFFFFF"/>
                          </a:solidFill>
                          <a:latin typeface="Calibri"/>
                        </a:rPr>
                        <a:t>marker</a:t>
                      </a:r>
                    </a:p>
                  </a:txBody>
                  <a:tcPr>
                    <a:solidFill>
                      <a:srgbClr val="143D2F"/>
                    </a:solidFill>
                  </a:tcPr>
                </a:tc>
                <a:tc>
                  <a:txBody>
                    <a:bodyPr lIns="54864" rIns="54864" tIns="18288" bIns="18288" wrap="square" anchor="ctr"/>
                    <a:lstStyle/>
                    <a:p>
                      <a:pPr algn="l"/>
                      <a:r>
                        <a:rPr sz="919" b="1">
                          <a:solidFill>
                            <a:srgbClr val="FFFFFF"/>
                          </a:solidFill>
                          <a:latin typeface="Calibri"/>
                        </a:rPr>
                        <a:t>body</a:t>
                      </a:r>
                    </a:p>
                  </a:txBody>
                  <a:tcPr>
                    <a:solidFill>
                      <a:srgbClr val="143D2F"/>
                    </a:solidFill>
                  </a:tcPr>
                </a:tc>
                <a:tc>
                  <a:txBody>
                    <a:bodyPr lIns="54864" rIns="54864" tIns="18288" bIns="18288" wrap="square" anchor="ctr"/>
                    <a:lstStyle/>
                    <a:p>
                      <a:pPr algn="l"/>
                      <a:r>
                        <a:rPr sz="919" b="1">
                          <a:solidFill>
                            <a:srgbClr val="FFFFFF"/>
                          </a:solidFill>
                          <a:latin typeface="Calibri"/>
                        </a:rPr>
                        <a:t>Otsu</a:t>
                      </a:r>
                    </a:p>
                  </a:txBody>
                  <a:tcPr>
                    <a:solidFill>
                      <a:srgbClr val="143D2F"/>
                    </a:solidFill>
                  </a:tcPr>
                </a:tc>
                <a:tc>
                  <a:txBody>
                    <a:bodyPr lIns="54864" rIns="54864" tIns="18288" bIns="18288" wrap="square" anchor="ctr"/>
                    <a:lstStyle/>
                    <a:p>
                      <a:pPr algn="l"/>
                      <a:r>
                        <a:rPr sz="919" b="1">
                          <a:solidFill>
                            <a:srgbClr val="FFFFFF"/>
                          </a:solidFill>
                          <a:latin typeface="Calibri"/>
                        </a:rPr>
                        <a:t>margin either side</a:t>
                      </a:r>
                    </a:p>
                  </a:txBody>
                  <a:tcPr>
                    <a:solidFill>
                      <a:srgbClr val="143D2F"/>
                    </a:solidFill>
                  </a:tcPr>
                </a:tc>
              </a:tr>
              <a:tr h="254203">
                <a:tc>
                  <a:txBody>
                    <a:bodyPr lIns="54864" rIns="54864" tIns="18288" bIns="18288" wrap="square" anchor="ctr"/>
                    <a:lstStyle/>
                    <a:p>
                      <a:pPr algn="l"/>
                      <a:r>
                        <a:rPr sz="900" b="0">
                          <a:solidFill>
                            <a:srgbClr val="000000"/>
                          </a:solidFill>
                          <a:latin typeface="Calibri"/>
                        </a:rPr>
                        <a:t>S24 · white</a:t>
                      </a:r>
                    </a:p>
                  </a:txBody>
                  <a:tcPr/>
                </a:tc>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255</a:t>
                      </a:r>
                    </a:p>
                  </a:txBody>
                  <a:tcPr/>
                </a:tc>
                <a:tc>
                  <a:txBody>
                    <a:bodyPr lIns="54864" rIns="54864" tIns="18288" bIns="18288" wrap="square" anchor="ctr"/>
                    <a:lstStyle/>
                    <a:p>
                      <a:pPr algn="l"/>
                      <a:r>
                        <a:rPr sz="900" b="0">
                          <a:solidFill>
                            <a:srgbClr val="000000"/>
                          </a:solidFill>
                          <a:latin typeface="Calibri"/>
                        </a:rPr>
                        <a:t>157</a:t>
                      </a:r>
                    </a:p>
                  </a:txBody>
                  <a:tcPr/>
                </a:tc>
                <a:tc>
                  <a:txBody>
                    <a:bodyPr lIns="54864" rIns="54864" tIns="18288" bIns="18288" wrap="square" anchor="ctr"/>
                    <a:lstStyle/>
                    <a:p>
                      <a:pPr algn="l"/>
                      <a:r>
                        <a:rPr sz="900" b="0">
                          <a:solidFill>
                            <a:srgbClr val="000000"/>
                          </a:solidFill>
                          <a:latin typeface="Calibri"/>
                        </a:rPr>
                        <a:t>47  /  98</a:t>
                      </a:r>
                    </a:p>
                  </a:txBody>
                  <a:tcPr/>
                </a:tc>
              </a:tr>
              <a:tr h="254203">
                <a:tc>
                  <a:txBody>
                    <a:bodyPr lIns="54864" rIns="54864" tIns="18288" bIns="18288" wrap="square" anchor="ctr"/>
                    <a:lstStyle/>
                    <a:p>
                      <a:pPr algn="l"/>
                      <a:r>
                        <a:rPr sz="900" b="0">
                          <a:solidFill>
                            <a:srgbClr val="000000"/>
                          </a:solidFill>
                          <a:latin typeface="Calibri"/>
                        </a:rPr>
                        <a:t>S25 · white</a:t>
                      </a:r>
                    </a:p>
                  </a:txBody>
                  <a:tcPr/>
                </a:tc>
                <a:tc>
                  <a:txBody>
                    <a:bodyPr lIns="54864" rIns="54864" tIns="18288" bIns="18288" wrap="square" anchor="ctr"/>
                    <a:lstStyle/>
                    <a:p>
                      <a:pPr algn="l"/>
                      <a:r>
                        <a:rPr sz="900" b="0">
                          <a:solidFill>
                            <a:srgbClr val="000000"/>
                          </a:solidFill>
                          <a:latin typeface="Calibri"/>
                        </a:rPr>
                        <a:t>99</a:t>
                      </a:r>
                    </a:p>
                  </a:txBody>
                  <a:tcPr/>
                </a:tc>
                <a:tc>
                  <a:txBody>
                    <a:bodyPr lIns="54864" rIns="54864" tIns="18288" bIns="18288" wrap="square" anchor="ctr"/>
                    <a:lstStyle/>
                    <a:p>
                      <a:pPr algn="l"/>
                      <a:r>
                        <a:rPr sz="900" b="0">
                          <a:solidFill>
                            <a:srgbClr val="000000"/>
                          </a:solidFill>
                          <a:latin typeface="Calibri"/>
                        </a:rPr>
                        <a:t>255</a:t>
                      </a:r>
                    </a:p>
                  </a:txBody>
                  <a:tcPr/>
                </a:tc>
                <a:tc>
                  <a:txBody>
                    <a:bodyPr lIns="54864" rIns="54864" tIns="18288" bIns="18288" wrap="square" anchor="ctr"/>
                    <a:lstStyle/>
                    <a:p>
                      <a:pPr algn="l"/>
                      <a:r>
                        <a:rPr sz="900" b="0">
                          <a:solidFill>
                            <a:srgbClr val="000000"/>
                          </a:solidFill>
                          <a:latin typeface="Calibri"/>
                        </a:rPr>
                        <a:t>156</a:t>
                      </a:r>
                    </a:p>
                  </a:txBody>
                  <a:tcPr/>
                </a:tc>
                <a:tc>
                  <a:txBody>
                    <a:bodyPr lIns="54864" rIns="54864" tIns="18288" bIns="18288" wrap="square" anchor="ctr"/>
                    <a:lstStyle/>
                    <a:p>
                      <a:pPr algn="l"/>
                      <a:r>
                        <a:rPr sz="900" b="0">
                          <a:solidFill>
                            <a:srgbClr val="000000"/>
                          </a:solidFill>
                          <a:latin typeface="Calibri"/>
                        </a:rPr>
                        <a:t>57  /  99</a:t>
                      </a:r>
                    </a:p>
                  </a:txBody>
                  <a:tcPr/>
                </a:tc>
              </a:tr>
              <a:tr h="254203">
                <a:tc>
                  <a:txBody>
                    <a:bodyPr lIns="54864" rIns="54864" tIns="18288" bIns="18288" wrap="square" anchor="ctr"/>
                    <a:lstStyle/>
                    <a:p>
                      <a:pPr algn="l"/>
                      <a:r>
                        <a:rPr sz="900" b="0">
                          <a:solidFill>
                            <a:srgbClr val="000000"/>
                          </a:solidFill>
                          <a:latin typeface="Calibri"/>
                        </a:rPr>
                        <a:t>S26 · white</a:t>
                      </a:r>
                    </a:p>
                  </a:txBody>
                  <a:tcPr/>
                </a:tc>
                <a:tc>
                  <a:txBody>
                    <a:bodyPr lIns="54864" rIns="54864" tIns="18288" bIns="18288" wrap="square" anchor="ctr"/>
                    <a:lstStyle/>
                    <a:p>
                      <a:pPr algn="l"/>
                      <a:r>
                        <a:rPr sz="900" b="0">
                          <a:solidFill>
                            <a:srgbClr val="000000"/>
                          </a:solidFill>
                          <a:latin typeface="Calibri"/>
                        </a:rPr>
                        <a:t>112</a:t>
                      </a:r>
                    </a:p>
                  </a:txBody>
                  <a:tcPr/>
                </a:tc>
                <a:tc>
                  <a:txBody>
                    <a:bodyPr lIns="54864" rIns="54864" tIns="18288" bIns="18288" wrap="square" anchor="ctr"/>
                    <a:lstStyle/>
                    <a:p>
                      <a:pPr algn="l"/>
                      <a:r>
                        <a:rPr sz="900" b="0">
                          <a:solidFill>
                            <a:srgbClr val="000000"/>
                          </a:solidFill>
                          <a:latin typeface="Calibri"/>
                        </a:rPr>
                        <a:t>255</a:t>
                      </a:r>
                    </a:p>
                  </a:txBody>
                  <a:tcPr/>
                </a:tc>
                <a:tc>
                  <a:txBody>
                    <a:bodyPr lIns="54864" rIns="54864" tIns="18288" bIns="18288" wrap="square" anchor="ctr"/>
                    <a:lstStyle/>
                    <a:p>
                      <a:pPr algn="l"/>
                      <a:r>
                        <a:rPr sz="900" b="0">
                          <a:solidFill>
                            <a:srgbClr val="000000"/>
                          </a:solidFill>
                          <a:latin typeface="Calibri"/>
                        </a:rPr>
                        <a:t>158</a:t>
                      </a:r>
                    </a:p>
                  </a:txBody>
                  <a:tcPr/>
                </a:tc>
                <a:tc>
                  <a:txBody>
                    <a:bodyPr lIns="54864" rIns="54864" tIns="18288" bIns="18288" wrap="square" anchor="ctr"/>
                    <a:lstStyle/>
                    <a:p>
                      <a:pPr algn="l"/>
                      <a:r>
                        <a:rPr sz="900" b="0">
                          <a:solidFill>
                            <a:srgbClr val="000000"/>
                          </a:solidFill>
                          <a:latin typeface="Calibri"/>
                        </a:rPr>
                        <a:t>46  /  97</a:t>
                      </a:r>
                    </a:p>
                  </a:txBody>
                  <a:tcPr/>
                </a:tc>
              </a:tr>
              <a:tr h="254204">
                <a:tc>
                  <a:txBody>
                    <a:bodyPr lIns="54864" rIns="54864" tIns="18288" bIns="18288" wrap="square" anchor="ctr"/>
                    <a:lstStyle/>
                    <a:p>
                      <a:pPr algn="l"/>
                      <a:r>
                        <a:rPr sz="900" b="0">
                          <a:solidFill>
                            <a:srgbClr val="000000"/>
                          </a:solidFill>
                          <a:latin typeface="Calibri"/>
                        </a:rPr>
                        <a:t>S13 · black</a:t>
                      </a:r>
                    </a:p>
                  </a:txBody>
                  <a:tcPr/>
                </a:tc>
                <a:tc>
                  <a:txBody>
                    <a:bodyPr lIns="54864" rIns="54864" tIns="18288" bIns="18288" wrap="square" anchor="ctr"/>
                    <a:lstStyle/>
                    <a:p>
                      <a:pPr algn="l"/>
                      <a:r>
                        <a:rPr sz="900" b="0">
                          <a:solidFill>
                            <a:srgbClr val="000000"/>
                          </a:solidFill>
                          <a:latin typeface="Calibri"/>
                        </a:rPr>
                        <a:t>227</a:t>
                      </a:r>
                    </a:p>
                  </a:txBody>
                  <a:tcPr/>
                </a:tc>
                <a:tc>
                  <a:txBody>
                    <a:bodyPr lIns="54864" rIns="54864" tIns="18288" bIns="18288" wrap="square" anchor="ctr"/>
                    <a:lstStyle/>
                    <a:p>
                      <a:pPr algn="l"/>
                      <a:r>
                        <a:rPr sz="900" b="0">
                          <a:solidFill>
                            <a:srgbClr val="000000"/>
                          </a:solidFill>
                          <a:latin typeface="Calibri"/>
                        </a:rPr>
                        <a:t>65</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66  /  96</a:t>
                      </a:r>
                    </a:p>
                  </a:txBody>
                  <a:tcPr/>
                </a:tc>
              </a:tr>
            </a:tbl>
          </a:graphicData>
        </a:graphic>
      </p:graphicFrame>
      <p:sp>
        <p:nvSpPr>
          <p:cNvPr id="12" name="TextBox 11"/>
          <p:cNvSpPr txBox="1"/>
          <p:nvPr/>
        </p:nvSpPr>
        <p:spPr>
          <a:xfrm>
            <a:off x="6400800" y="4498848"/>
            <a:ext cx="5440680" cy="1783080"/>
          </a:xfrm>
          <a:prstGeom prst="rect">
            <a:avLst/>
          </a:prstGeom>
          <a:noFill/>
        </p:spPr>
        <p:txBody>
          <a:bodyPr wrap="square" lIns="45720" rIns="45720" tIns="18288" bIns="18288" anchor="t">
            <a:spAutoFit/>
          </a:bodyPr>
          <a:lstStyle/>
          <a:p>
            <a:pPr algn="l"/>
            <a:r>
              <a:rPr sz="960" b="0" i="0">
                <a:solidFill>
                  <a:srgbClr val="000000"/>
                </a:solidFill>
                <a:latin typeface="Calibri"/>
              </a:rPr>
              <a:t>•  Otsu lands at 156–158 on all three white runs — as stable as the 131 it picks on black.
•  The white specimens give it MORE clearance, not less: the nearest margin is 46 grey levels against 66 on black.
•  So nothing about Otsu prefers a dark specimen. What differs is the SCENE, and that is the next slide.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BUT OTSU NEVER LOOKS AT THE MARKERS — ON EITHER POLARITY</a:t>
            </a:r>
          </a:p>
        </p:txBody>
      </p:sp>
      <p:pic>
        <p:nvPicPr>
          <p:cNvPr id="5" name="Picture 4" descr="otsu_setby.png"/>
          <p:cNvPicPr>
            <a:picLocks noChangeAspect="1"/>
          </p:cNvPicPr>
          <p:nvPr/>
        </p:nvPicPr>
        <p:blipFill>
          <a:blip r:embed="rId2"/>
          <a:stretch>
            <a:fillRect/>
          </a:stretch>
        </p:blipFill>
        <p:spPr>
          <a:xfrm>
            <a:off x="320040" y="969264"/>
            <a:ext cx="5806440" cy="3123161"/>
          </a:xfrm>
          <a:prstGeom prst="rect">
            <a:avLst/>
          </a:prstGeom>
        </p:spPr>
      </p:pic>
      <p:sp>
        <p:nvSpPr>
          <p:cNvPr id="6" name="TextBox 5"/>
          <p:cNvSpPr txBox="1"/>
          <p:nvPr/>
        </p:nvSpPr>
        <p:spPr>
          <a:xfrm>
            <a:off x="365760" y="4736592"/>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a:t>
            </a:r>
          </a:p>
        </p:txBody>
      </p:sp>
      <p:sp>
        <p:nvSpPr>
          <p:cNvPr id="7" name="TextBox 6"/>
          <p:cNvSpPr txBox="1"/>
          <p:nvPr/>
        </p:nvSpPr>
        <p:spPr>
          <a:xfrm>
            <a:off x="365760" y="5084064"/>
            <a:ext cx="5760720" cy="1463040"/>
          </a:xfrm>
          <a:prstGeom prst="rect">
            <a:avLst/>
          </a:prstGeom>
          <a:noFill/>
        </p:spPr>
        <p:txBody>
          <a:bodyPr wrap="square" lIns="45720" rIns="45720" tIns="18288" bIns="18288" anchor="t">
            <a:spAutoFit/>
          </a:bodyPr>
          <a:lstStyle/>
          <a:p>
            <a:pPr algn="l"/>
            <a:r>
              <a:rPr sz="960" b="0" i="0">
                <a:solidFill>
                  <a:srgbClr val="000000"/>
                </a:solidFill>
                <a:latin typeface="Calibri"/>
              </a:rPr>
              <a:t>•  Paint the two markers out of the frame — fill them with the body's own grey — and recompute Otsu on the doctored picture.
•  If Otsu were choosing a marker/specimen boundary, deleting the markers would move it a long way. It moves by at most 3 grey levels, on all four runs.
•  The markers are 0.42–0.69 % of the frame. They cannot shift an optimum computed over the whole picture.</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Otsu is actually separating</a:t>
            </a:r>
          </a:p>
        </p:txBody>
      </p:sp>
      <p:sp>
        <p:nvSpPr>
          <p:cNvPr id="9" name="TextBox 8"/>
          <p:cNvSpPr txBox="1"/>
          <p:nvPr/>
        </p:nvSpPr>
        <p:spPr>
          <a:xfrm>
            <a:off x="6400800" y="1316736"/>
            <a:ext cx="5440680" cy="1417320"/>
          </a:xfrm>
          <a:prstGeom prst="rect">
            <a:avLst/>
          </a:prstGeom>
          <a:noFill/>
        </p:spPr>
        <p:txBody>
          <a:bodyPr wrap="square" lIns="45720" rIns="45720" tIns="18288" bIns="18288" anchor="t">
            <a:spAutoFit/>
          </a:bodyPr>
          <a:lstStyle/>
          <a:p>
            <a:pPr algn="l"/>
            <a:r>
              <a:rPr sz="960" b="0" i="0">
                <a:solidFill>
                  <a:srgbClr val="000000"/>
                </a:solidFill>
                <a:latin typeface="Calibri"/>
              </a:rPr>
              <a:t>•  The two DOMINANT populations — and on this rig neither of them is a marker.
•  On a WHITE specimen: the bright body against the dark background.
•  On a BLACK specimen: the dark body against the bright grips.
•  The markers survive because they happen to land on the far side of a boundary that was chosen without reference to them.</a:t>
            </a:r>
          </a:p>
        </p:txBody>
      </p:sp>
      <p:sp>
        <p:nvSpPr>
          <p:cNvPr id="10" name="TextBox 9"/>
          <p:cNvSpPr txBox="1"/>
          <p:nvPr/>
        </p:nvSpPr>
        <p:spPr>
          <a:xfrm>
            <a:off x="6400800" y="2852928"/>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the real reason not to default to it</a:t>
            </a:r>
          </a:p>
        </p:txBody>
      </p:sp>
      <p:sp>
        <p:nvSpPr>
          <p:cNvPr id="11" name="TextBox 10"/>
          <p:cNvSpPr txBox="1"/>
          <p:nvPr/>
        </p:nvSpPr>
        <p:spPr>
          <a:xfrm>
            <a:off x="6400800" y="3200400"/>
            <a:ext cx="5440680" cy="1645920"/>
          </a:xfrm>
          <a:prstGeom prst="rect">
            <a:avLst/>
          </a:prstGeom>
          <a:noFill/>
        </p:spPr>
        <p:txBody>
          <a:bodyPr wrap="square" lIns="45720" rIns="45720" tIns="18288" bIns="18288" anchor="t">
            <a:spAutoFit/>
          </a:bodyPr>
          <a:lstStyle/>
          <a:p>
            <a:pPr algn="l"/>
            <a:r>
              <a:rPr sz="960" b="0" i="0">
                <a:solidFill>
                  <a:srgbClr val="000000"/>
                </a:solidFill>
                <a:latin typeface="Calibri"/>
              </a:rPr>
              <a:t>•  The deck has said “Otsu follows the SCENE, not the markers”. This is the proof, and it is sharper than the PETG story alone.
•  Otsu was never optimising for the quantity that matters. Marker separation is a BY-PRODUCT of a specimen/background split.
•  On PETG the dominant populations shifted, the by-product went with them, and one marker fell under the cut on half the frames. Nothing warned anyone, because nothing in the algorithm was watching the markers.</a:t>
            </a:r>
          </a:p>
        </p:txBody>
      </p:sp>
      <p:sp>
        <p:nvSpPr>
          <p:cNvPr id="12" name="TextBox 11"/>
          <p:cNvSpPr txBox="1"/>
          <p:nvPr/>
        </p:nvSpPr>
        <p:spPr>
          <a:xfrm>
            <a:off x="6400800" y="4974336"/>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rig does instead</a:t>
            </a:r>
          </a:p>
        </p:txBody>
      </p:sp>
      <p:sp>
        <p:nvSpPr>
          <p:cNvPr id="13" name="TextBox 12"/>
          <p:cNvSpPr txBox="1"/>
          <p:nvPr/>
        </p:nvSpPr>
        <p:spPr>
          <a:xfrm>
            <a:off x="6400800" y="5321808"/>
            <a:ext cx="5440680" cy="960120"/>
          </a:xfrm>
          <a:prstGeom prst="rect">
            <a:avLst/>
          </a:prstGeom>
          <a:noFill/>
        </p:spPr>
        <p:txBody>
          <a:bodyPr wrap="square" lIns="45720" rIns="45720" tIns="18288" bIns="18288" anchor="t">
            <a:spAutoFit/>
          </a:bodyPr>
          <a:lstStyle/>
          <a:p>
            <a:pPr algn="l"/>
            <a:r>
              <a:rPr sz="960" b="0" i="0">
                <a:solidFill>
                  <a:srgbClr val="000000"/>
                </a:solidFill>
                <a:latin typeface="Calibri"/>
              </a:rPr>
              <a:t>•  A FIXED threshold does not follow the scene at all — it stays put and is wrong in a way you can predict.
•  Auto-calibrate sweeps fixed values AND Otsu, scores them on contrast margin — the thing Otsu ignores — and applies the winner.</a:t>
            </a:r>
          </a:p>
        </p:txBody>
      </p:sp>
      <p:sp>
        <p:nvSpPr>
          <p:cNvPr id="14" name="Rectangle 13"/>
          <p:cNvSpPr/>
          <p:nvPr/>
        </p:nvSpPr>
        <p:spPr>
          <a:xfrm>
            <a:off x="365760" y="6382512"/>
            <a:ext cx="11475720" cy="32918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margin is what protects the markers, and nothing inside Otsu is defending it.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 ON THIS RIG — EVALUATED EVERY TIME, DEFAULTED TO NEVER</a:t>
            </a:r>
          </a:p>
        </p:txBody>
      </p:sp>
      <p:pic>
        <p:nvPicPr>
          <p:cNvPr id="5" name="Picture 4" descr="otsu_frame.png"/>
          <p:cNvPicPr>
            <a:picLocks noChangeAspect="1"/>
          </p:cNvPicPr>
          <p:nvPr/>
        </p:nvPicPr>
        <p:blipFill>
          <a:blip r:embed="rId2"/>
          <a:stretch>
            <a:fillRect/>
          </a:stretch>
        </p:blipFill>
        <p:spPr>
          <a:xfrm>
            <a:off x="320329" y="1005840"/>
            <a:ext cx="5805861" cy="3474720"/>
          </a:xfrm>
          <a:prstGeom prst="rect">
            <a:avLst/>
          </a:prstGeom>
        </p:spPr>
      </p:pic>
      <p:sp>
        <p:nvSpPr>
          <p:cNvPr id="6" name="TextBox 5"/>
          <p:cNvSpPr txBox="1"/>
          <p:nvPr/>
        </p:nvSpPr>
        <p:spPr>
          <a:xfrm>
            <a:off x="365760" y="4553712"/>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three strips show</a:t>
            </a:r>
          </a:p>
        </p:txBody>
      </p:sp>
      <p:sp>
        <p:nvSpPr>
          <p:cNvPr id="7" name="TextBox 6"/>
          <p:cNvSpPr txBox="1"/>
          <p:nvPr/>
        </p:nvSpPr>
        <p:spPr>
          <a:xfrm>
            <a:off x="365760" y="4901184"/>
            <a:ext cx="5760720" cy="1115568"/>
          </a:xfrm>
          <a:prstGeom prst="rect">
            <a:avLst/>
          </a:prstGeom>
          <a:noFill/>
        </p:spPr>
        <p:txBody>
          <a:bodyPr wrap="square" lIns="45720" rIns="45720" tIns="18288" bIns="18288" anchor="t">
            <a:spAutoFit/>
          </a:bodyPr>
          <a:lstStyle/>
          <a:p>
            <a:pPr algn="l"/>
            <a:r>
              <a:rPr sz="960" b="0" i="0">
                <a:solidFill>
                  <a:srgbClr val="000000"/>
                </a:solidFill>
                <a:latin typeface="Calibri"/>
              </a:rPr>
              <a:t>•  Both cuts find both markers on THIS specimen — the replay record is 99.8 % either way.
•  The grips are as bright as the dots and pass the same gates, so the frame yields six qualifying blobs, not two.
•  Otsu's lower cut blooms them wider, which is why the detector has to choose the pair rather than trust the count.</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rig DOES use it</a:t>
            </a:r>
          </a:p>
        </p:txBody>
      </p:sp>
      <p:sp>
        <p:nvSpPr>
          <p:cNvPr id="9" name="TextBox 8"/>
          <p:cNvSpPr txBox="1"/>
          <p:nvPr/>
        </p:nvSpPr>
        <p:spPr>
          <a:xfrm>
            <a:off x="6400800" y="1316736"/>
            <a:ext cx="5440680" cy="1188720"/>
          </a:xfrm>
          <a:prstGeom prst="rect">
            <a:avLst/>
          </a:prstGeom>
          <a:noFill/>
        </p:spPr>
        <p:txBody>
          <a:bodyPr wrap="square" lIns="45720" rIns="45720" tIns="18288" bIns="18288" anchor="t">
            <a:spAutoFit/>
          </a:bodyPr>
          <a:lstStyle/>
          <a:p>
            <a:pPr algn="l"/>
            <a:r>
              <a:rPr sz="960" b="0" i="0">
                <a:solidFill>
                  <a:srgbClr val="000000"/>
                </a:solidFill>
                <a:latin typeface="Calibri"/>
              </a:rPr>
              <a:t>•  It is a per-frame option in DIC camera setup — “Threshold automatically (Otsu)”.
•  Auto-calibrate scores it as a NAMED candidate against every swept fixed value, so the operator is told when Otsu wins rather than it being assumed either way.</a:t>
            </a:r>
          </a:p>
        </p:txBody>
      </p:sp>
      <p:sp>
        <p:nvSpPr>
          <p:cNvPr id="10" name="TextBox 9"/>
          <p:cNvSpPr txBox="1"/>
          <p:nvPr/>
        </p:nvSpPr>
        <p:spPr>
          <a:xfrm>
            <a:off x="6400800" y="261518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is not the default for black specimens</a:t>
            </a:r>
          </a:p>
        </p:txBody>
      </p:sp>
      <p:graphicFrame>
        <p:nvGraphicFramePr>
          <p:cNvPr id="11" name="Table 10"/>
          <p:cNvGraphicFramePr>
            <a:graphicFrameLocks noGrp="1"/>
          </p:cNvGraphicFramePr>
          <p:nvPr/>
        </p:nvGraphicFramePr>
        <p:xfrm>
          <a:off x="6400800" y="2962656"/>
          <a:ext cx="5440680" cy="1033271"/>
        </p:xfrm>
        <a:graphic>
          <a:graphicData uri="http://schemas.openxmlformats.org/drawingml/2006/table">
            <a:tbl>
              <a:tblPr firstRow="1" bandRow="1">
                <a:tableStyleId>{5C22544A-7EE6-4342-B048-85BDC9FD1C3A}</a:tableStyleId>
              </a:tblPr>
              <a:tblGrid>
                <a:gridCol w="2926080"/>
                <a:gridCol w="1234440"/>
                <a:gridCol w="1280160"/>
              </a:tblGrid>
              <a:tr h="344423">
                <a:tc>
                  <a:txBody>
                    <a:bodyPr lIns="54864" rIns="54864" tIns="18288" bIns="18288" wrap="square" anchor="ctr"/>
                    <a:lstStyle/>
                    <a:p>
                      <a:pPr algn="l"/>
                      <a:r>
                        <a:rPr sz="900" b="1">
                          <a:solidFill>
                            <a:srgbClr val="FFFFFF"/>
                          </a:solidFill>
                          <a:latin typeface="Calibri"/>
                        </a:rPr>
                        <a:t>Frames holding 2/2 markers</a:t>
                      </a:r>
                    </a:p>
                  </a:txBody>
                  <a:tcPr>
                    <a:solidFill>
                      <a:srgbClr val="143D2F"/>
                    </a:solidFill>
                  </a:tcPr>
                </a:tc>
                <a:tc>
                  <a:txBody>
                    <a:bodyPr lIns="54864" rIns="54864" tIns="18288" bIns="18288" wrap="square" anchor="ctr"/>
                    <a:lstStyle/>
                    <a:p>
                      <a:pPr algn="l"/>
                      <a:r>
                        <a:rPr sz="900" b="1">
                          <a:solidFill>
                            <a:srgbClr val="FFFFFF"/>
                          </a:solidFill>
                          <a:latin typeface="Calibri"/>
                        </a:rPr>
                        <a:t>Otsu</a:t>
                      </a:r>
                    </a:p>
                  </a:txBody>
                  <a:tcPr>
                    <a:solidFill>
                      <a:srgbClr val="143D2F"/>
                    </a:solidFill>
                  </a:tcPr>
                </a:tc>
                <a:tc>
                  <a:txBody>
                    <a:bodyPr lIns="54864" rIns="54864" tIns="18288" bIns="18288" wrap="square" anchor="ctr"/>
                    <a:lstStyle/>
                    <a:p>
                      <a:pPr algn="l"/>
                      <a:r>
                        <a:rPr sz="900" b="1">
                          <a:solidFill>
                            <a:srgbClr val="FFFFFF"/>
                          </a:solidFill>
                          <a:latin typeface="Calibri"/>
                        </a:rPr>
                        <a:t>fixed 149</a:t>
                      </a:r>
                    </a:p>
                  </a:txBody>
                  <a:tcPr>
                    <a:solidFill>
                      <a:srgbClr val="143D2F"/>
                    </a:solidFill>
                  </a:tcPr>
                </a:tc>
              </a:tr>
              <a:tr h="344423">
                <a:tc>
                  <a:txBody>
                    <a:bodyPr lIns="54864" rIns="54864" tIns="18288" bIns="18288" wrap="square" anchor="ctr"/>
                    <a:lstStyle/>
                    <a:p>
                      <a:pPr algn="l"/>
                      <a:r>
                        <a:rPr sz="900" b="0">
                          <a:solidFill>
                            <a:srgbClr val="000000"/>
                          </a:solidFill>
                          <a:latin typeface="Calibri"/>
                        </a:rPr>
                        <a:t>S29 · PETG — run abandoned</a:t>
                      </a:r>
                    </a:p>
                  </a:txBody>
                  <a:tcPr/>
                </a:tc>
                <a:tc>
                  <a:txBody>
                    <a:bodyPr lIns="54864" rIns="54864" tIns="18288" bIns="18288" wrap="square" anchor="ctr"/>
                    <a:lstStyle/>
                    <a:p>
                      <a:pPr algn="l"/>
                      <a:r>
                        <a:rPr sz="900" b="1">
                          <a:solidFill>
                            <a:srgbClr val="000000"/>
                          </a:solidFill>
                          <a:latin typeface="Calibri"/>
                        </a:rPr>
                        <a:t>48.5 %</a:t>
                      </a:r>
                    </a:p>
                  </a:txBody>
                  <a:tcPr>
                    <a:solidFill>
                      <a:srgbClr val="FFCDD2"/>
                    </a:solidFill>
                  </a:tcPr>
                </a:tc>
                <a:tc>
                  <a:txBody>
                    <a:bodyPr lIns="54864" rIns="54864" tIns="18288" bIns="18288" wrap="square" anchor="ctr"/>
                    <a:lstStyle/>
                    <a:p>
                      <a:pPr algn="l"/>
                      <a:r>
                        <a:rPr sz="900" b="1">
                          <a:solidFill>
                            <a:srgbClr val="000000"/>
                          </a:solidFill>
                          <a:latin typeface="Calibri"/>
                        </a:rPr>
                        <a:t>99.5 %</a:t>
                      </a:r>
                    </a:p>
                  </a:txBody>
                  <a:tcPr>
                    <a:solidFill>
                      <a:srgbClr val="C8E6C9"/>
                    </a:solidFill>
                  </a:tcPr>
                </a:tc>
              </a:tr>
              <a:tr h="344425">
                <a:tc>
                  <a:txBody>
                    <a:bodyPr lIns="54864" rIns="54864" tIns="18288" bIns="18288" wrap="square" anchor="ctr"/>
                    <a:lstStyle/>
                    <a:p>
                      <a:pPr algn="l"/>
                      <a:r>
                        <a:rPr sz="900" b="0">
                          <a:solidFill>
                            <a:srgbClr val="000000"/>
                          </a:solidFill>
                          <a:latin typeface="Calibri"/>
                        </a:rPr>
                        <a:t>S13 · black PLA</a:t>
                      </a:r>
                    </a:p>
                  </a:txBody>
                  <a:tcPr/>
                </a:tc>
                <a:tc>
                  <a:txBody>
                    <a:bodyPr lIns="54864" rIns="54864" tIns="18288" bIns="18288" wrap="square" anchor="ctr"/>
                    <a:lstStyle/>
                    <a:p>
                      <a:pPr algn="l"/>
                      <a:r>
                        <a:rPr sz="900" b="0">
                          <a:solidFill>
                            <a:srgbClr val="000000"/>
                          </a:solidFill>
                          <a:latin typeface="Calibri"/>
                        </a:rPr>
                        <a:t>99.8 %</a:t>
                      </a:r>
                    </a:p>
                  </a:txBody>
                  <a:tcPr/>
                </a:tc>
                <a:tc>
                  <a:txBody>
                    <a:bodyPr lIns="54864" rIns="54864" tIns="18288" bIns="18288" wrap="square" anchor="ctr"/>
                    <a:lstStyle/>
                    <a:p>
                      <a:pPr algn="l"/>
                      <a:r>
                        <a:rPr sz="900" b="0">
                          <a:solidFill>
                            <a:srgbClr val="000000"/>
                          </a:solidFill>
                          <a:latin typeface="Calibri"/>
                        </a:rPr>
                        <a:t>99.8 %</a:t>
                      </a:r>
                    </a:p>
                  </a:txBody>
                  <a:tcPr/>
                </a:tc>
              </a:tr>
            </a:tbl>
          </a:graphicData>
        </a:graphic>
      </p:graphicFrame>
      <p:sp>
        <p:nvSpPr>
          <p:cNvPr id="12" name="TextBox 11"/>
          <p:cNvSpPr txBox="1"/>
          <p:nvPr/>
        </p:nvSpPr>
        <p:spPr>
          <a:xfrm>
            <a:off x="6400800" y="3913632"/>
            <a:ext cx="5440680" cy="2011680"/>
          </a:xfrm>
          <a:prstGeom prst="rect">
            <a:avLst/>
          </a:prstGeom>
          <a:noFill/>
        </p:spPr>
        <p:txBody>
          <a:bodyPr wrap="square" lIns="45720" rIns="45720" tIns="18288" bIns="18288" anchor="t">
            <a:spAutoFit/>
          </a:bodyPr>
          <a:lstStyle/>
          <a:p>
            <a:pPr algn="l"/>
            <a:r>
              <a:rPr sz="960" b="0" i="0">
                <a:solidFill>
                  <a:srgbClr val="000000"/>
                </a:solidFill>
                <a:latin typeface="Calibri"/>
              </a:rPr>
              <a:t>•  Otsu recomputes from the WHOLE picture, so it follows the SCENE, not the markers.
•  The markers are a fraction of a per cent of the pixels — the very case Otsu's own literature flags, where the within-class variance swamps the between-class variance.
•  On black PLA it lands at 131 and works. On PETG — glossier, more translucent, brighter body — the histogram shifts and it lands at 127, three grey levels BELOW that specimen's 130–160 working band. One marker fell under the cut on half the frames.
•  Nothing was wrong with the markers, the ROI or the lighting. The RULE chose a value just outside the band that works.</a:t>
            </a:r>
          </a:p>
        </p:txBody>
      </p:sp>
      <p:sp>
        <p:nvSpPr>
          <p:cNvPr id="13" name="Rectangle 12"/>
          <p:cNvSpPr/>
          <p:nvPr/>
        </p:nvSpPr>
        <p:spPr>
          <a:xfrm>
            <a:off x="365760" y="6035040"/>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A fixed threshold is not better than Otsu — it is only STABLE. When the LEDs or the material change, re-run auto-calibrate: it sweeps both and applies the winner.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Otsu's threshold measured on 120 S13 frames (documentation/scripts/otsu_data.py); the 48.5 / 99.5 / 99.8 rates are quoted from the project's replay validation over two full runs. Limitations per Otsu 1979 and its review literature.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THRESHOLD, BINARY, INTENSITY — WHAT EACH ONE IS ACTUALLY FOR</a:t>
            </a:r>
          </a:p>
        </p:txBody>
      </p:sp>
      <p:sp>
        <p:nvSpPr>
          <p:cNvPr id="5" name="TextBox 4"/>
          <p:cNvSpPr txBox="1"/>
          <p:nvPr/>
        </p:nvSpPr>
        <p:spPr>
          <a:xfrm>
            <a:off x="365760" y="9326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different levels, often confused for three options</a:t>
            </a:r>
          </a:p>
        </p:txBody>
      </p:sp>
      <p:graphicFrame>
        <p:nvGraphicFramePr>
          <p:cNvPr id="6" name="Table 5"/>
          <p:cNvGraphicFramePr>
            <a:graphicFrameLocks noGrp="1"/>
          </p:cNvGraphicFramePr>
          <p:nvPr/>
        </p:nvGraphicFramePr>
        <p:xfrm>
          <a:off x="365760" y="1280160"/>
          <a:ext cx="11475718" cy="1271016"/>
        </p:xfrm>
        <a:graphic>
          <a:graphicData uri="http://schemas.openxmlformats.org/drawingml/2006/table">
            <a:tbl>
              <a:tblPr firstRow="1" bandRow="1">
                <a:tableStyleId>{5C22544A-7EE6-4342-B048-85BDC9FD1C3A}</a:tableStyleId>
              </a:tblPr>
              <a:tblGrid>
                <a:gridCol w="2697479"/>
                <a:gridCol w="3520440"/>
                <a:gridCol w="2697479"/>
                <a:gridCol w="2560320"/>
              </a:tblGrid>
              <a:tr h="31775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decides</a:t>
                      </a:r>
                    </a:p>
                  </a:txBody>
                  <a:tcPr>
                    <a:solidFill>
                      <a:srgbClr val="143D2F"/>
                    </a:solidFill>
                  </a:tcPr>
                </a:tc>
                <a:tc>
                  <a:txBody>
                    <a:bodyPr lIns="54864" rIns="54864" tIns="18288" bIns="18288" wrap="square" anchor="ctr"/>
                    <a:lstStyle/>
                    <a:p>
                      <a:pPr algn="l"/>
                      <a:r>
                        <a:rPr sz="950" b="1">
                          <a:solidFill>
                            <a:srgbClr val="FFFFFF"/>
                          </a:solidFill>
                          <a:latin typeface="Calibri"/>
                        </a:rPr>
                        <a:t>What comes out</a:t>
                      </a:r>
                    </a:p>
                  </a:txBody>
                  <a:tcPr>
                    <a:solidFill>
                      <a:srgbClr val="143D2F"/>
                    </a:solidFill>
                  </a:tcPr>
                </a:tc>
                <a:tc>
                  <a:txBody>
                    <a:bodyPr lIns="54864" rIns="54864" tIns="18288" bIns="18288" wrap="square" anchor="ctr"/>
                    <a:lstStyle/>
                    <a:p>
                      <a:pPr algn="l"/>
                      <a:r>
                        <a:rPr sz="950" b="1">
                          <a:solidFill>
                            <a:srgbClr val="FFFFFF"/>
                          </a:solidFill>
                          <a:latin typeface="Calibri"/>
                        </a:rPr>
                        <a:t>Used here?</a:t>
                      </a:r>
                    </a:p>
                  </a:txBody>
                  <a:tcPr>
                    <a:solidFill>
                      <a:srgbClr val="143D2F"/>
                    </a:solidFill>
                  </a:tcPr>
                </a:tc>
              </a:tr>
              <a:tr h="317754">
                <a:tc>
                  <a:txBody>
                    <a:bodyPr lIns="54864" rIns="54864" tIns="18288" bIns="18288" wrap="square" anchor="ctr"/>
                    <a:lstStyle/>
                    <a:p>
                      <a:pPr algn="l"/>
                      <a:r>
                        <a:rPr sz="880" b="0">
                          <a:solidFill>
                            <a:srgbClr val="000000"/>
                          </a:solidFill>
                          <a:latin typeface="Calibri"/>
                        </a:rPr>
                        <a:t>THRESHOLDING RULE
fixed value · Otsu · auto-calibrate</a:t>
                      </a:r>
                    </a:p>
                  </a:txBody>
                  <a:tcPr/>
                </a:tc>
                <a:tc>
                  <a:txBody>
                    <a:bodyPr lIns="54864" rIns="54864" tIns="18288" bIns="18288" wrap="square" anchor="ctr"/>
                    <a:lstStyle/>
                    <a:p>
                      <a:pPr algn="l"/>
                      <a:r>
                        <a:rPr sz="880" b="0">
                          <a:solidFill>
                            <a:srgbClr val="000000"/>
                          </a:solidFill>
                          <a:latin typeface="Calibri"/>
                        </a:rPr>
                        <a:t>ONE number: the grey level that splits bright from dark</a:t>
                      </a:r>
                    </a:p>
                  </a:txBody>
                  <a:tcPr/>
                </a:tc>
                <a:tc>
                  <a:txBody>
                    <a:bodyPr lIns="54864" rIns="54864" tIns="18288" bIns="18288" wrap="square" anchor="ctr"/>
                    <a:lstStyle/>
                    <a:p>
                      <a:pPr algn="l"/>
                      <a:r>
                        <a:rPr sz="880" b="0">
                          <a:solidFill>
                            <a:srgbClr val="000000"/>
                          </a:solidFill>
                          <a:latin typeface="Calibri"/>
                        </a:rPr>
                        <a:t>a single threshold, per run or per frame</a:t>
                      </a:r>
                    </a:p>
                  </a:txBody>
                  <a:tcPr/>
                </a:tc>
                <a:tc>
                  <a:txBody>
                    <a:bodyPr lIns="54864" rIns="54864" tIns="18288" bIns="18288" wrap="square" anchor="ctr"/>
                    <a:lstStyle/>
                    <a:p>
                      <a:pPr algn="l"/>
                      <a:r>
                        <a:rPr sz="880" b="0">
                          <a:solidFill>
                            <a:srgbClr val="000000"/>
                          </a:solidFill>
                          <a:latin typeface="Calibri"/>
                        </a:rPr>
                        <a:t>YES — fixed by default, Otsu offered and scored</a:t>
                      </a:r>
                    </a:p>
                  </a:txBody>
                  <a:tcPr>
                    <a:solidFill>
                      <a:srgbClr val="C8E6C9"/>
                    </a:solidFill>
                  </a:tcPr>
                </a:tc>
              </a:tr>
              <a:tr h="317754">
                <a:tc>
                  <a:txBody>
                    <a:bodyPr lIns="54864" rIns="54864" tIns="18288" bIns="18288" wrap="square" anchor="ctr"/>
                    <a:lstStyle/>
                    <a:p>
                      <a:pPr algn="l"/>
                      <a:r>
                        <a:rPr sz="880" b="0">
                          <a:solidFill>
                            <a:srgbClr val="000000"/>
                          </a:solidFill>
                          <a:latin typeface="Calibri"/>
                        </a:rPr>
                        <a:t>BINARY / blob method</a:t>
                      </a:r>
                    </a:p>
                  </a:txBody>
                  <a:tcPr/>
                </a:tc>
                <a:tc>
                  <a:txBody>
                    <a:bodyPr lIns="54864" rIns="54864" tIns="18288" bIns="18288" wrap="square" anchor="ctr"/>
                    <a:lstStyle/>
                    <a:p>
                      <a:pPr algn="l"/>
                      <a:r>
                        <a:rPr sz="880" b="0">
                          <a:solidFill>
                            <a:srgbClr val="000000"/>
                          </a:solidFill>
                          <a:latin typeface="Calibri"/>
                        </a:rPr>
                        <a:t>which shapes past that cut are markers — by area, circularity, pairing</a:t>
                      </a:r>
                    </a:p>
                  </a:txBody>
                  <a:tcPr/>
                </a:tc>
                <a:tc>
                  <a:txBody>
                    <a:bodyPr lIns="54864" rIns="54864" tIns="18288" bIns="18288" wrap="square" anchor="ctr"/>
                    <a:lstStyle/>
                    <a:p>
                      <a:pPr algn="l"/>
                      <a:r>
                        <a:rPr sz="880" b="0">
                          <a:solidFill>
                            <a:srgbClr val="000000"/>
                          </a:solidFill>
                          <a:latin typeface="Calibri"/>
                        </a:rPr>
                        <a:t>two centroids → one axial strain</a:t>
                      </a:r>
                    </a:p>
                  </a:txBody>
                  <a:tcPr/>
                </a:tc>
                <a:tc>
                  <a:txBody>
                    <a:bodyPr lIns="54864" rIns="54864" tIns="18288" bIns="18288" wrap="square" anchor="ctr"/>
                    <a:lstStyle/>
                    <a:p>
                      <a:pPr algn="l"/>
                      <a:r>
                        <a:rPr sz="880" b="0">
                          <a:solidFill>
                            <a:srgbClr val="000000"/>
                          </a:solidFill>
                          <a:latin typeface="Calibri"/>
                        </a:rPr>
                        <a:t>YES — this is what the PPD-UTM measures with</a:t>
                      </a:r>
                    </a:p>
                  </a:txBody>
                  <a:tcPr>
                    <a:solidFill>
                      <a:srgbClr val="C8E6C9"/>
                    </a:solidFill>
                  </a:tcPr>
                </a:tc>
              </a:tr>
              <a:tr h="317754">
                <a:tc>
                  <a:txBody>
                    <a:bodyPr lIns="54864" rIns="54864" tIns="18288" bIns="18288" wrap="square" anchor="ctr"/>
                    <a:lstStyle/>
                    <a:p>
                      <a:pPr algn="l"/>
                      <a:r>
                        <a:rPr sz="880" b="0">
                          <a:solidFill>
                            <a:srgbClr val="000000"/>
                          </a:solidFill>
                          <a:latin typeface="Calibri"/>
                        </a:rPr>
                        <a:t>INTENSITY methods
weighted centroid · full correlation</a:t>
                      </a:r>
                    </a:p>
                  </a:txBody>
                  <a:tcPr/>
                </a:tc>
                <a:tc>
                  <a:txBody>
                    <a:bodyPr lIns="54864" rIns="54864" tIns="18288" bIns="18288" wrap="square" anchor="ctr"/>
                    <a:lstStyle/>
                    <a:p>
                      <a:pPr algn="l"/>
                      <a:r>
                        <a:rPr sz="880" b="0">
                          <a:solidFill>
                            <a:srgbClr val="000000"/>
                          </a:solidFill>
                          <a:latin typeface="Calibri"/>
                        </a:rPr>
                        <a:t>position from the grey levels themselves — no cut at all</a:t>
                      </a:r>
                    </a:p>
                  </a:txBody>
                  <a:tcPr/>
                </a:tc>
                <a:tc>
                  <a:txBody>
                    <a:bodyPr lIns="54864" rIns="54864" tIns="18288" bIns="18288" wrap="square" anchor="ctr"/>
                    <a:lstStyle/>
                    <a:p>
                      <a:pPr algn="l"/>
                      <a:r>
                        <a:rPr sz="880" b="0">
                          <a:solidFill>
                            <a:srgbClr val="000000"/>
                          </a:solidFill>
                          <a:latin typeface="Calibri"/>
                        </a:rPr>
                        <a:t>sub-pixel centres, or a whole displacement FIELD</a:t>
                      </a:r>
                    </a:p>
                  </a:txBody>
                  <a:tcPr/>
                </a:tc>
                <a:tc>
                  <a:txBody>
                    <a:bodyPr lIns="54864" rIns="54864" tIns="18288" bIns="18288" wrap="square" anchor="ctr"/>
                    <a:lstStyle/>
                    <a:p>
                      <a:pPr algn="l"/>
                      <a:r>
                        <a:rPr sz="880" b="0">
                          <a:solidFill>
                            <a:srgbClr val="000000"/>
                          </a:solidFill>
                          <a:latin typeface="Calibri"/>
                        </a:rPr>
                        <a:t>NO — measured below, and the reason</a:t>
                      </a:r>
                    </a:p>
                  </a:txBody>
                  <a:tcPr>
                    <a:solidFill>
                      <a:srgbClr val="FFF3CD"/>
                    </a:solidFill>
                  </a:tcPr>
                </a:tc>
              </a:tr>
            </a:tbl>
          </a:graphicData>
        </a:graphic>
      </p:graphicFrame>
      <p:sp>
        <p:nvSpPr>
          <p:cNvPr id="7" name="TextBox 6"/>
          <p:cNvSpPr txBox="1"/>
          <p:nvPr/>
        </p:nvSpPr>
        <p:spPr>
          <a:xfrm>
            <a:off x="365760" y="2816352"/>
            <a:ext cx="11475720" cy="292608"/>
          </a:xfrm>
          <a:prstGeom prst="rect">
            <a:avLst/>
          </a:prstGeom>
          <a:noFill/>
        </p:spPr>
        <p:txBody>
          <a:bodyPr wrap="square" lIns="45720" rIns="45720" tIns="18288" bIns="18288" anchor="t">
            <a:spAutoFit/>
          </a:bodyPr>
          <a:lstStyle/>
          <a:p>
            <a:pPr algn="l"/>
            <a:r>
              <a:rPr sz="1000" b="0" i="1">
                <a:solidFill>
                  <a:srgbClr val="707070"/>
                </a:solidFill>
                <a:latin typeface="Calibri"/>
              </a:rPr>
              <a:t>So Otsu is not an alternative to “the binary method” — it is a rule INSIDE it. Its only alternatives are a fixed number or the swept value auto-calibrate picks.</a:t>
            </a:r>
          </a:p>
        </p:txBody>
      </p:sp>
      <p:pic>
        <p:nvPicPr>
          <p:cNvPr id="8" name="Picture 7" descr="otsu_methods.png"/>
          <p:cNvPicPr>
            <a:picLocks noChangeAspect="1"/>
          </p:cNvPicPr>
          <p:nvPr/>
        </p:nvPicPr>
        <p:blipFill>
          <a:blip r:embed="rId2"/>
          <a:stretch>
            <a:fillRect/>
          </a:stretch>
        </p:blipFill>
        <p:spPr>
          <a:xfrm>
            <a:off x="646453" y="3145536"/>
            <a:ext cx="5016453" cy="2670048"/>
          </a:xfrm>
          <a:prstGeom prst="rect">
            <a:avLst/>
          </a:prstGeom>
        </p:spPr>
      </p:pic>
      <p:sp>
        <p:nvSpPr>
          <p:cNvPr id="9" name="TextBox 8"/>
          <p:cNvSpPr txBox="1"/>
          <p:nvPr/>
        </p:nvSpPr>
        <p:spPr>
          <a:xfrm>
            <a:off x="6217920" y="31272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keeping the grey levels would buy</a:t>
            </a:r>
          </a:p>
        </p:txBody>
      </p:sp>
      <p:sp>
        <p:nvSpPr>
          <p:cNvPr id="10" name="TextBox 9"/>
          <p:cNvSpPr txBox="1"/>
          <p:nvPr/>
        </p:nvSpPr>
        <p:spPr>
          <a:xfrm>
            <a:off x="6217920" y="3474720"/>
            <a:ext cx="5623560" cy="1481328"/>
          </a:xfrm>
          <a:prstGeom prst="rect">
            <a:avLst/>
          </a:prstGeom>
          <a:noFill/>
        </p:spPr>
        <p:txBody>
          <a:bodyPr wrap="square" lIns="45720" rIns="45720" tIns="18288" bIns="18288" anchor="t">
            <a:spAutoFit/>
          </a:bodyPr>
          <a:lstStyle/>
          <a:p>
            <a:pPr algn="l"/>
            <a:r>
              <a:rPr sz="940" b="0" i="0">
                <a:solidFill>
                  <a:srgbClr val="000000"/>
                </a:solidFill>
                <a:latin typeface="Calibri"/>
              </a:rPr>
              <a:t>•  The rig throws the grey levels away at the threshold: every pixel inside the blob counts 1, every pixel outside 0, and the centroid is the contour's moments.
•  Weighting each pixel by its contrast instead cuts frame-to-frame jitter by 1.09× on black and 1.31–2.06× on white. Real, and not transformative.
•  Jitter about a 9-frame local trend — NOT the noise floor, which also carries drift.</a:t>
            </a:r>
          </a:p>
        </p:txBody>
      </p:sp>
      <p:sp>
        <p:nvSpPr>
          <p:cNvPr id="11" name="TextBox 10"/>
          <p:cNvSpPr txBox="1"/>
          <p:nvPr/>
        </p:nvSpPr>
        <p:spPr>
          <a:xfrm>
            <a:off x="621792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full correlation DIC is a different animal</a:t>
            </a:r>
          </a:p>
        </p:txBody>
      </p:sp>
      <p:sp>
        <p:nvSpPr>
          <p:cNvPr id="12" name="TextBox 11"/>
          <p:cNvSpPr txBox="1"/>
          <p:nvPr/>
        </p:nvSpPr>
        <p:spPr>
          <a:xfrm>
            <a:off x="6217920" y="5376672"/>
            <a:ext cx="5623560" cy="1188720"/>
          </a:xfrm>
          <a:prstGeom prst="rect">
            <a:avLst/>
          </a:prstGeom>
          <a:noFill/>
        </p:spPr>
        <p:txBody>
          <a:bodyPr wrap="square" lIns="45720" rIns="45720" tIns="18288" bIns="18288" anchor="t">
            <a:spAutoFit/>
          </a:bodyPr>
          <a:lstStyle/>
          <a:p>
            <a:pPr algn="l"/>
            <a:r>
              <a:rPr sz="940" b="0" i="0">
                <a:solidFill>
                  <a:srgbClr val="000000"/>
                </a:solidFill>
                <a:latin typeface="Calibri"/>
              </a:rPr>
              <a:t>•  It never thresholds. It matches the grey-level pattern of small subsets between frames, so it needs a random speckle over the whole gauge — not two dots — and returns a strain FIELD that shows necking and localisation.
•  On this rig it would have nothing to match: 38.6–40.8 % of every white frame sits at exactly 255. The body is CLIPPED, so it carries no pattern to correlate. Exposure would have to come down first.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Jitter measured over 250 consecutive frames per run at 1/5 through the pull, on the frame as the camera delivers it (documentation/scripts/otsu_modes.py). Detection rates are quoted, never re-derived.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FROM “START CAMERA” TO A STRAIN NUMBER — THE WHOLE LOOP</a:t>
            </a:r>
          </a:p>
        </p:txBody>
      </p:sp>
      <p:sp>
        <p:nvSpPr>
          <p:cNvPr id="5" name="TextBox 4"/>
          <p:cNvSpPr txBox="1"/>
          <p:nvPr/>
        </p:nvSpPr>
        <p:spPr>
          <a:xfrm>
            <a:off x="365760" y="9144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ONCE — when the button is pressed</a:t>
            </a:r>
          </a:p>
        </p:txBody>
      </p:sp>
      <p:sp>
        <p:nvSpPr>
          <p:cNvPr id="6" name="Rounded Rectangle 5"/>
          <p:cNvSpPr/>
          <p:nvPr/>
        </p:nvSpPr>
        <p:spPr>
          <a:xfrm>
            <a:off x="384048" y="1261872"/>
            <a:ext cx="2121408" cy="566928"/>
          </a:xfrm>
          <a:prstGeom prst="roundRect">
            <a:avLst/>
          </a:prstGeom>
          <a:solidFill>
            <a:srgbClr val="ECECEC"/>
          </a:solidFill>
          <a:ln w="1524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Start Camera
pressed</a:t>
            </a:r>
          </a:p>
        </p:txBody>
      </p:sp>
      <p:sp>
        <p:nvSpPr>
          <p:cNvPr id="7" name="Rounded Rectangle 6"/>
          <p:cNvSpPr/>
          <p:nvPr/>
        </p:nvSpPr>
        <p:spPr>
          <a:xfrm>
            <a:off x="2761488" y="1261872"/>
            <a:ext cx="3063240" cy="566928"/>
          </a:xfrm>
          <a:prstGeom prst="roundRect">
            <a:avLst/>
          </a:prstGeom>
          <a:solidFill>
            <a:srgbClr val="ECECEC"/>
          </a:solidFill>
          <a:ln w="1524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set_specimen_mode(preset)
ROI · exposure · THRESHOLD · polarity</a:t>
            </a:r>
          </a:p>
        </p:txBody>
      </p:sp>
      <p:sp>
        <p:nvSpPr>
          <p:cNvPr id="8" name="Rounded Rectangle 7"/>
          <p:cNvSpPr/>
          <p:nvPr/>
        </p:nvSpPr>
        <p:spPr>
          <a:xfrm>
            <a:off x="6080760" y="1261872"/>
            <a:ext cx="2514600" cy="566928"/>
          </a:xfrm>
          <a:prstGeom prst="roundRect">
            <a:avLst/>
          </a:prstGeom>
          <a:solidFill>
            <a:srgbClr val="ECECEC"/>
          </a:solidFill>
          <a:ln w="1524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connect_camera()
apply ROI to the sensor</a:t>
            </a:r>
          </a:p>
        </p:txBody>
      </p:sp>
      <p:sp>
        <p:nvSpPr>
          <p:cNvPr id="9" name="Rounded Rectangle 8"/>
          <p:cNvSpPr/>
          <p:nvPr/>
        </p:nvSpPr>
        <p:spPr>
          <a:xfrm>
            <a:off x="8851392" y="1261872"/>
            <a:ext cx="2606040" cy="566928"/>
          </a:xfrm>
          <a:prstGeom prst="roundRect">
            <a:avLst/>
          </a:prstGeom>
          <a:solidFill>
            <a:srgbClr val="ECECEC"/>
          </a:solidFill>
          <a:ln w="1524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start_acquisition()
grab thread starts</a:t>
            </a:r>
          </a:p>
        </p:txBody>
      </p:sp>
      <p:cxnSp>
        <p:nvCxnSpPr>
          <p:cNvPr id="10" name="Connector 9"/>
          <p:cNvCxnSpPr/>
          <p:nvPr/>
        </p:nvCxnSpPr>
        <p:spPr>
          <a:xfrm>
            <a:off x="2560320" y="1545336"/>
            <a:ext cx="182880"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70448" y="1545336"/>
            <a:ext cx="192024"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631936" y="1545336"/>
            <a:ext cx="201168"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84048" y="1883664"/>
            <a:ext cx="11475720" cy="274320"/>
          </a:xfrm>
          <a:prstGeom prst="rect">
            <a:avLst/>
          </a:prstGeom>
          <a:noFill/>
        </p:spPr>
        <p:txBody>
          <a:bodyPr wrap="square" lIns="45720" rIns="45720" tIns="18288" bIns="18288" anchor="t">
            <a:spAutoFit/>
          </a:bodyPr>
          <a:lstStyle/>
          <a:p>
            <a:pPr algn="l"/>
            <a:r>
              <a:rPr sz="940" b="0" i="1">
                <a:solidFill>
                  <a:srgbClr val="707070"/>
                </a:solidFill>
                <a:latin typeface="Calibri"/>
              </a:rPr>
              <a:t>The preset is applied BEFORE connecting — the specimen dropdown decides the ROI, the threshold value and the polarity, and every one of those is wrong to change later.</a:t>
            </a:r>
          </a:p>
        </p:txBody>
      </p:sp>
      <p:sp>
        <p:nvSpPr>
          <p:cNvPr id="14" name="TextBox 13"/>
          <p:cNvSpPr txBox="1"/>
          <p:nvPr/>
        </p:nvSpPr>
        <p:spPr>
          <a:xfrm>
            <a:off x="365760" y="226771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THEN — every frame, ~35 times a second, on the grab thread</a:t>
            </a:r>
          </a:p>
        </p:txBody>
      </p:sp>
      <p:sp>
        <p:nvSpPr>
          <p:cNvPr id="15" name="Rounded Rectangle 14"/>
          <p:cNvSpPr/>
          <p:nvPr/>
        </p:nvSpPr>
        <p:spPr>
          <a:xfrm>
            <a:off x="384048" y="2615184"/>
            <a:ext cx="2212848" cy="658368"/>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RetrieveResult()
one frame from the camera</a:t>
            </a:r>
          </a:p>
        </p:txBody>
      </p:sp>
      <p:sp>
        <p:nvSpPr>
          <p:cNvPr id="16" name="Rounded Rectangle 15"/>
          <p:cNvSpPr/>
          <p:nvPr/>
        </p:nvSpPr>
        <p:spPr>
          <a:xfrm>
            <a:off x="2798064" y="2615184"/>
            <a:ext cx="1975104" cy="658368"/>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rotate 90° CW
sensor → rig orientation</a:t>
            </a:r>
          </a:p>
        </p:txBody>
      </p:sp>
      <p:sp>
        <p:nvSpPr>
          <p:cNvPr id="17" name="Rounded Rectangle 16"/>
          <p:cNvSpPr/>
          <p:nvPr/>
        </p:nvSpPr>
        <p:spPr>
          <a:xfrm>
            <a:off x="4974336" y="2615184"/>
            <a:ext cx="2103120" cy="658368"/>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detect_blobs(img)
the THRESHOLD lives in here → NEXT SLIDE</a:t>
            </a:r>
          </a:p>
        </p:txBody>
      </p:sp>
      <p:sp>
        <p:nvSpPr>
          <p:cNvPr id="18" name="Rounded Rectangle 17"/>
          <p:cNvSpPr/>
          <p:nvPr/>
        </p:nvSpPr>
        <p:spPr>
          <a:xfrm>
            <a:off x="7278624" y="2615184"/>
            <a:ext cx="2212848" cy="658368"/>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calculate_dic_strain()
only if EXACTLY 2 found</a:t>
            </a:r>
          </a:p>
        </p:txBody>
      </p:sp>
      <p:sp>
        <p:nvSpPr>
          <p:cNvPr id="19" name="Rounded Rectangle 18"/>
          <p:cNvSpPr/>
          <p:nvPr/>
        </p:nvSpPr>
        <p:spPr>
          <a:xfrm>
            <a:off x="9692640" y="2615184"/>
            <a:ext cx="2167128" cy="658368"/>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19" b="0">
                <a:solidFill>
                  <a:srgbClr val="000000"/>
                </a:solidFill>
                <a:latin typeface="Calibri"/>
              </a:rPr>
              <a:t>frame_ready.emit()
feed · overlay · badge</a:t>
            </a:r>
          </a:p>
        </p:txBody>
      </p:sp>
      <p:cxnSp>
        <p:nvCxnSpPr>
          <p:cNvPr id="20" name="Connector 19"/>
          <p:cNvCxnSpPr/>
          <p:nvPr/>
        </p:nvCxnSpPr>
        <p:spPr>
          <a:xfrm>
            <a:off x="2615184" y="2944368"/>
            <a:ext cx="1645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791456" y="2944368"/>
            <a:ext cx="1645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95744" y="2944368"/>
            <a:ext cx="1645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509760" y="2944368"/>
            <a:ext cx="1645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98064" y="3584448"/>
            <a:ext cx="1975104" cy="475488"/>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0">
                <a:solidFill>
                  <a:srgbClr val="000000"/>
                </a:solidFill>
                <a:latin typeface="Calibri"/>
              </a:rPr>
              <a:t>frame_sink(img)
video capture, ~47 µs</a:t>
            </a:r>
          </a:p>
        </p:txBody>
      </p:sp>
      <p:cxnSp>
        <p:nvCxnSpPr>
          <p:cNvPr id="25" name="Connector 24"/>
          <p:cNvCxnSpPr/>
          <p:nvPr/>
        </p:nvCxnSpPr>
        <p:spPr>
          <a:xfrm>
            <a:off x="3785615" y="3273552"/>
            <a:ext cx="0" cy="292608"/>
          </a:xfrm>
          <a:prstGeom prst="line">
            <a:avLst/>
          </a:prstGeom>
          <a:ln w="1778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882896" y="3566160"/>
            <a:ext cx="3749039" cy="502920"/>
          </a:xfrm>
          <a:prstGeom prst="rect">
            <a:avLst/>
          </a:prstGeom>
          <a:noFill/>
        </p:spPr>
        <p:txBody>
          <a:bodyPr wrap="square" lIns="45720" rIns="45720" tIns="18288" bIns="18288" anchor="t">
            <a:spAutoFit/>
          </a:bodyPr>
          <a:lstStyle/>
          <a:p>
            <a:pPr algn="l"/>
            <a:r>
              <a:rPr sz="880" b="0" i="1">
                <a:solidFill>
                  <a:srgbClr val="707070"/>
                </a:solidFill>
                <a:latin typeface="Calibri"/>
              </a:rPr>
              <a:t>Recording branches off the RAW frame, before any threshold — so a recorded video can be re-measured later at a different setting.</a:t>
            </a:r>
          </a:p>
        </p:txBody>
      </p:sp>
      <p:sp>
        <p:nvSpPr>
          <p:cNvPr id="27" name="TextBox 26"/>
          <p:cNvSpPr txBox="1"/>
          <p:nvPr/>
        </p:nvSpPr>
        <p:spPr>
          <a:xfrm>
            <a:off x="365760" y="4261104"/>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strain number actually is</a:t>
            </a:r>
          </a:p>
        </p:txBody>
      </p:sp>
      <p:sp>
        <p:nvSpPr>
          <p:cNvPr id="28" name="TextBox 27"/>
          <p:cNvSpPr txBox="1"/>
          <p:nvPr/>
        </p:nvSpPr>
        <p:spPr>
          <a:xfrm>
            <a:off x="365760" y="4608576"/>
            <a:ext cx="5669280" cy="1508760"/>
          </a:xfrm>
          <a:prstGeom prst="rect">
            <a:avLst/>
          </a:prstGeom>
          <a:noFill/>
        </p:spPr>
        <p:txBody>
          <a:bodyPr wrap="square" lIns="45720" rIns="45720" tIns="18288" bIns="18288" anchor="t">
            <a:spAutoFit/>
          </a:bodyPr>
          <a:lstStyle/>
          <a:p>
            <a:pPr algn="l"/>
            <a:r>
              <a:rPr sz="940" b="0" i="0">
                <a:solidFill>
                  <a:srgbClr val="000000"/>
                </a:solidFill>
                <a:latin typeface="Calibri"/>
              </a:rPr>
              <a:t>•  Two centroids, one separation: L_px = |y₂ − y₁|. Strain is (L_px − Px₀) / Px₀ — a pure PIXEL RATIO.
•  No gauge length, no px/mm, no calibration constant enters it. They cancel.
•  Px₀ is frozen once, by the Calibrate Px₀ button — the same detect_blobs runs, and its separation is stored as initial_distance.
•  The identical conversion is shared with the offline post-processor (utm_dic.dic_strain), so a live pull and its own recording cannot disagree.</a:t>
            </a:r>
          </a:p>
        </p:txBody>
      </p:sp>
      <p:sp>
        <p:nvSpPr>
          <p:cNvPr id="29" name="TextBox 28"/>
          <p:cNvSpPr txBox="1"/>
          <p:nvPr/>
        </p:nvSpPr>
        <p:spPr>
          <a:xfrm>
            <a:off x="6172200" y="4261104"/>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happens when it is NOT exactly 2</a:t>
            </a:r>
          </a:p>
        </p:txBody>
      </p:sp>
      <p:sp>
        <p:nvSpPr>
          <p:cNvPr id="30" name="TextBox 29"/>
          <p:cNvSpPr txBox="1"/>
          <p:nvPr/>
        </p:nvSpPr>
        <p:spPr>
          <a:xfrm>
            <a:off x="6172200" y="4608576"/>
            <a:ext cx="5669280" cy="1508760"/>
          </a:xfrm>
          <a:prstGeom prst="rect">
            <a:avLst/>
          </a:prstGeom>
          <a:noFill/>
        </p:spPr>
        <p:txBody>
          <a:bodyPr wrap="square" lIns="45720" rIns="45720" tIns="18288" bIns="18288" anchor="t">
            <a:spAutoFit/>
          </a:bodyPr>
          <a:lstStyle/>
          <a:p>
            <a:pPr algn="l"/>
            <a:r>
              <a:rPr sz="940" b="0" i="0">
                <a:solidFill>
                  <a:srgbClr val="000000"/>
                </a:solidFill>
                <a:latin typeface="Calibri"/>
              </a:rPr>
              <a:t>•  No strain row is written. A dropout is always preferable to a confident wrong number.
•  The health badge says which — “DIC BAD 1/2” — and the near-miss reporter names the gate that rejected the blob, throttled to once every 3 s.
•  If the loop itself falls below 12 Hz, load samples would start going out with no strain beside them, and that is reported too.</a:t>
            </a:r>
          </a:p>
        </p:txBody>
      </p:sp>
      <p:sp>
        <p:nvSpPr>
          <p:cNvPr id="31" name="Rounded Rectangle 30"/>
          <p:cNvSpPr/>
          <p:nvPr/>
        </p:nvSpPr>
        <p:spPr>
          <a:xfrm>
            <a:off x="384048" y="6345936"/>
            <a:ext cx="2331720" cy="274320"/>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grey level still there (0–255)</a:t>
            </a:r>
          </a:p>
        </p:txBody>
      </p:sp>
      <p:sp>
        <p:nvSpPr>
          <p:cNvPr id="32" name="Rounded Rectangle 31"/>
          <p:cNvSpPr/>
          <p:nvPr/>
        </p:nvSpPr>
        <p:spPr>
          <a:xfrm>
            <a:off x="2834640" y="6345936"/>
            <a:ext cx="1874519" cy="274320"/>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the cut itself</a:t>
            </a:r>
          </a:p>
        </p:txBody>
      </p:sp>
      <p:sp>
        <p:nvSpPr>
          <p:cNvPr id="33" name="Rounded Rectangle 32"/>
          <p:cNvSpPr/>
          <p:nvPr/>
        </p:nvSpPr>
        <p:spPr>
          <a:xfrm>
            <a:off x="4828032" y="6345936"/>
            <a:ext cx="2331720" cy="27432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0 or 255 only — grey gone</a:t>
            </a:r>
          </a:p>
        </p:txBody>
      </p:sp>
      <p:sp>
        <p:nvSpPr>
          <p:cNvPr id="34" name="TextBox 3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INSIDE detect_blobs — HOW A MARKER IS IDENTIFIED</a:t>
            </a:r>
          </a:p>
        </p:txBody>
      </p:sp>
      <p:sp>
        <p:nvSpPr>
          <p:cNvPr id="5" name="Rounded Rectangle 4"/>
          <p:cNvSpPr/>
          <p:nvPr/>
        </p:nvSpPr>
        <p:spPr>
          <a:xfrm>
            <a:off x="384048" y="1005840"/>
            <a:ext cx="2788920" cy="603504"/>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① the frame arrives
2348 × 419, grey 0–255</a:t>
            </a:r>
          </a:p>
        </p:txBody>
      </p:sp>
      <p:cxnSp>
        <p:nvCxnSpPr>
          <p:cNvPr id="6" name="Connector 5"/>
          <p:cNvCxnSpPr/>
          <p:nvPr/>
        </p:nvCxnSpPr>
        <p:spPr>
          <a:xfrm>
            <a:off x="1778507" y="1609344"/>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4048" y="1883664"/>
            <a:ext cx="2788920" cy="603504"/>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② mask_x — blank the columns
outside the specimen (Black mode)</a:t>
            </a:r>
          </a:p>
        </p:txBody>
      </p:sp>
      <p:cxnSp>
        <p:nvCxnSpPr>
          <p:cNvPr id="8" name="Connector 7"/>
          <p:cNvCxnSpPr/>
          <p:nvPr/>
        </p:nvCxnSpPr>
        <p:spPr>
          <a:xfrm>
            <a:off x="1778507" y="2487168"/>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84048" y="2761488"/>
            <a:ext cx="2788920" cy="603504"/>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③ cv2.threshold(frame, THRESHOLD,
255, THRESHOLD_TYPE)</a:t>
            </a:r>
          </a:p>
        </p:txBody>
      </p:sp>
      <p:cxnSp>
        <p:nvCxnSpPr>
          <p:cNvPr id="10" name="Connector 9"/>
          <p:cNvCxnSpPr/>
          <p:nvPr/>
        </p:nvCxnSpPr>
        <p:spPr>
          <a:xfrm>
            <a:off x="1778507" y="3364992"/>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84048" y="3639312"/>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④ binary image
every pixel now 0 or 255</a:t>
            </a:r>
          </a:p>
        </p:txBody>
      </p:sp>
      <p:sp>
        <p:nvSpPr>
          <p:cNvPr id="12" name="Rectangle 11"/>
          <p:cNvSpPr/>
          <p:nvPr/>
        </p:nvSpPr>
        <p:spPr>
          <a:xfrm>
            <a:off x="384048" y="4462272"/>
            <a:ext cx="2788920" cy="658368"/>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900" b="1">
                <a:solidFill>
                  <a:srgbClr val="000000"/>
                </a:solidFill>
                <a:latin typeface="Calibri"/>
              </a:rPr>
              <a:t>THE GREY LEVELS END HERE. Nothing after step ③ ever reads the frame again — only the binary and the contours taken from it.</a:t>
            </a:r>
          </a:p>
        </p:txBody>
      </p:sp>
      <p:sp>
        <p:nvSpPr>
          <p:cNvPr id="13" name="Rounded Rectangle 12"/>
          <p:cNvSpPr/>
          <p:nvPr/>
        </p:nvSpPr>
        <p:spPr>
          <a:xfrm>
            <a:off x="4224528" y="1005840"/>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0">
                <a:solidFill>
                  <a:srgbClr val="000000"/>
                </a:solidFill>
                <a:latin typeface="Calibri"/>
              </a:rPr>
              <a:t>⑤ findContours(binary,
RETR_EXTERNAL)</a:t>
            </a:r>
          </a:p>
        </p:txBody>
      </p:sp>
      <p:cxnSp>
        <p:nvCxnSpPr>
          <p:cNvPr id="14" name="Connector 13"/>
          <p:cNvCxnSpPr/>
          <p:nvPr/>
        </p:nvCxnSpPr>
        <p:spPr>
          <a:xfrm>
            <a:off x="5618988" y="1609344"/>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24528" y="1883664"/>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0">
                <a:solidFill>
                  <a:srgbClr val="000000"/>
                </a:solidFill>
                <a:latin typeface="Calibri"/>
              </a:rPr>
              <a:t>⑥ per contour, measure
area · perimeter → circularity
moments → centroid</a:t>
            </a:r>
          </a:p>
        </p:txBody>
      </p:sp>
      <p:cxnSp>
        <p:nvCxnSpPr>
          <p:cNvPr id="16" name="Connector 15"/>
          <p:cNvCxnSpPr/>
          <p:nvPr/>
        </p:nvCxnSpPr>
        <p:spPr>
          <a:xfrm>
            <a:off x="5618988" y="2487168"/>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224528" y="2761488"/>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0">
                <a:solidFill>
                  <a:srgbClr val="000000"/>
                </a:solidFill>
                <a:latin typeface="Calibri"/>
              </a:rPr>
              <a:t>⑦ THE GATE
MIN_AREA &lt; area &lt; MAX_AREA
and circularity &gt; MIN_CIRC</a:t>
            </a:r>
          </a:p>
        </p:txBody>
      </p:sp>
      <p:cxnSp>
        <p:nvCxnSpPr>
          <p:cNvPr id="18" name="Connector 17"/>
          <p:cNvCxnSpPr/>
          <p:nvPr/>
        </p:nvCxnSpPr>
        <p:spPr>
          <a:xfrm>
            <a:off x="5618988" y="3364992"/>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224528" y="3639312"/>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0">
                <a:solidFill>
                  <a:srgbClr val="000000"/>
                </a:solidFill>
                <a:latin typeface="Calibri"/>
              </a:rPr>
              <a:t>⑧ sort the survivors by Y
top marker first</a:t>
            </a:r>
          </a:p>
        </p:txBody>
      </p:sp>
      <p:cxnSp>
        <p:nvCxnSpPr>
          <p:cNvPr id="20" name="Connector 19"/>
          <p:cNvCxnSpPr/>
          <p:nvPr/>
        </p:nvCxnSpPr>
        <p:spPr>
          <a:xfrm flipV="1">
            <a:off x="3172968" y="1307592"/>
            <a:ext cx="1051560" cy="2633471"/>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24528" y="4462272"/>
            <a:ext cx="2788920" cy="658368"/>
          </a:xfrm>
          <a:prstGeom prst="roundRect">
            <a:avLst/>
          </a:prstGeom>
          <a:solidFill>
            <a:srgbClr val="FFF3CD"/>
          </a:solidFill>
          <a:ln w="15240">
            <a:solidFill>
              <a:srgbClr val="D2A61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a REJECTED blob over 200 px is kept as a
NEAR MISS and reported with the reason</a:t>
            </a:r>
          </a:p>
        </p:txBody>
      </p:sp>
      <p:sp>
        <p:nvSpPr>
          <p:cNvPr id="22" name="Rounded Rectangle 21"/>
          <p:cNvSpPr/>
          <p:nvPr/>
        </p:nvSpPr>
        <p:spPr>
          <a:xfrm>
            <a:off x="8065008" y="1005840"/>
            <a:ext cx="2788920" cy="603504"/>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⑨ more than 2 survived?
the grips qualify too</a:t>
            </a:r>
          </a:p>
        </p:txBody>
      </p:sp>
      <p:cxnSp>
        <p:nvCxnSpPr>
          <p:cNvPr id="23" name="Connector 22"/>
          <p:cNvCxnSpPr/>
          <p:nvPr/>
        </p:nvCxnSpPr>
        <p:spPr>
          <a:xfrm>
            <a:off x="9459468" y="1609344"/>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65008" y="1883664"/>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⑩ _choose_marker_pair
Px₀ known → the pair closest to it
else → the two nearest the centre-line</a:t>
            </a:r>
          </a:p>
        </p:txBody>
      </p:sp>
      <p:cxnSp>
        <p:nvCxnSpPr>
          <p:cNvPr id="25" name="Connector 24"/>
          <p:cNvCxnSpPr/>
          <p:nvPr/>
        </p:nvCxnSpPr>
        <p:spPr>
          <a:xfrm>
            <a:off x="9459468" y="2487168"/>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65008" y="2761488"/>
            <a:ext cx="278892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⑪ plausibility check
separation ≥ 0.85 × Px₀
(asymmetric — tension only pulls apart)</a:t>
            </a:r>
          </a:p>
        </p:txBody>
      </p:sp>
      <p:cxnSp>
        <p:nvCxnSpPr>
          <p:cNvPr id="27" name="Connector 26"/>
          <p:cNvCxnSpPr/>
          <p:nvPr/>
        </p:nvCxnSpPr>
        <p:spPr>
          <a:xfrm>
            <a:off x="9459468" y="3364992"/>
            <a:ext cx="0" cy="27432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65008" y="3639312"/>
            <a:ext cx="2788920" cy="603504"/>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⑫ two centroids
→ calculate_dic_strain</a:t>
            </a:r>
          </a:p>
        </p:txBody>
      </p:sp>
      <p:cxnSp>
        <p:nvCxnSpPr>
          <p:cNvPr id="29" name="Connector 28"/>
          <p:cNvCxnSpPr/>
          <p:nvPr/>
        </p:nvCxnSpPr>
        <p:spPr>
          <a:xfrm flipV="1">
            <a:off x="7013448" y="1307592"/>
            <a:ext cx="1051560" cy="2633471"/>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065008" y="4462272"/>
            <a:ext cx="2788920" cy="731520"/>
          </a:xfrm>
          <a:prstGeom prst="rect">
            <a:avLst/>
          </a:prstGeom>
          <a:noFill/>
        </p:spPr>
        <p:txBody>
          <a:bodyPr wrap="square" lIns="45720" rIns="45720" tIns="18288" bIns="18288" anchor="t">
            <a:spAutoFit/>
          </a:bodyPr>
          <a:lstStyle/>
          <a:p>
            <a:pPr algn="l"/>
            <a:r>
              <a:rPr sz="860" b="0" i="1">
                <a:solidFill>
                  <a:srgbClr val="707070"/>
                </a:solidFill>
                <a:latin typeface="Calibri"/>
              </a:rPr>
              <a:t>Step ⑪ exists because one S13 frame passed with the markers 112 px apart against a 1668 px Px₀ — post-fracture, one marker gone.</a:t>
            </a:r>
          </a:p>
        </p:txBody>
      </p:sp>
      <p:sp>
        <p:nvSpPr>
          <p:cNvPr id="31" name="Rectangle 30"/>
          <p:cNvSpPr/>
          <p:nvPr/>
        </p:nvSpPr>
        <p:spPr>
          <a:xfrm>
            <a:off x="384048" y="513892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ANSWER TO “WHAT METHOD IDENTIFIES A MARKER”: not the threshold, and not Otsu. Steps ⑦ and ⑩ do it — AREA, CIRCULARITY, and separation against Px₀. The threshold only decides which pixels are candidates.</a:t>
            </a:r>
          </a:p>
        </p:txBody>
      </p:sp>
      <p:sp>
        <p:nvSpPr>
          <p:cNvPr id="32" name="TextBox 31"/>
          <p:cNvSpPr txBox="1"/>
          <p:nvPr/>
        </p:nvSpPr>
        <p:spPr>
          <a:xfrm>
            <a:off x="384048" y="5705856"/>
            <a:ext cx="11475720" cy="566928"/>
          </a:xfrm>
          <a:prstGeom prst="rect">
            <a:avLst/>
          </a:prstGeom>
          <a:noFill/>
        </p:spPr>
        <p:txBody>
          <a:bodyPr wrap="square" lIns="45720" rIns="45720" tIns="18288" bIns="18288" anchor="t">
            <a:spAutoFit/>
          </a:bodyPr>
          <a:lstStyle/>
          <a:p>
            <a:pPr algn="l"/>
            <a:r>
              <a:rPr sz="940" b="0" i="0">
                <a:solidFill>
                  <a:srgbClr val="000000"/>
                </a:solidFill>
                <a:latin typeface="Calibri"/>
              </a:rPr>
              <a:t>This is why the grips are not a problem even though they pass the cut: they are the wrong SHAPE (aspect 2.45–4.24 against the dots' 0.95–1.04), the wrong SIZE, and no pairing of them sits near Px₀. Brightness alone never separates them — geometry does.</a:t>
            </a:r>
          </a:p>
        </p:txBody>
      </p:sp>
      <p:sp>
        <p:nvSpPr>
          <p:cNvPr id="33" name="Rounded Rectangle 32"/>
          <p:cNvSpPr/>
          <p:nvPr/>
        </p:nvSpPr>
        <p:spPr>
          <a:xfrm>
            <a:off x="384048" y="6345936"/>
            <a:ext cx="2331720" cy="274320"/>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grey level still there (0–255)</a:t>
            </a:r>
          </a:p>
        </p:txBody>
      </p:sp>
      <p:sp>
        <p:nvSpPr>
          <p:cNvPr id="34" name="Rounded Rectangle 33"/>
          <p:cNvSpPr/>
          <p:nvPr/>
        </p:nvSpPr>
        <p:spPr>
          <a:xfrm>
            <a:off x="2834640" y="6345936"/>
            <a:ext cx="1874519" cy="274320"/>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the cut itself</a:t>
            </a:r>
          </a:p>
        </p:txBody>
      </p:sp>
      <p:sp>
        <p:nvSpPr>
          <p:cNvPr id="35" name="Rounded Rectangle 34"/>
          <p:cNvSpPr/>
          <p:nvPr/>
        </p:nvSpPr>
        <p:spPr>
          <a:xfrm>
            <a:off x="4828032" y="6345936"/>
            <a:ext cx="2331720" cy="27432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0 or 255 only — grey gone</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GREY LEVELS COME BACK — TWO PATHS, NOT ONE</a:t>
            </a:r>
          </a:p>
        </p:txBody>
      </p:sp>
      <p:sp>
        <p:nvSpPr>
          <p:cNvPr id="5" name="TextBox 4"/>
          <p:cNvSpPr txBox="1"/>
          <p:nvPr/>
        </p:nvSpPr>
        <p:spPr>
          <a:xfrm>
            <a:off x="365760" y="9144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PATH 1 — measurement. One way, and lossy.</a:t>
            </a:r>
          </a:p>
        </p:txBody>
      </p:sp>
      <p:sp>
        <p:nvSpPr>
          <p:cNvPr id="6" name="Rounded Rectangle 5"/>
          <p:cNvSpPr/>
          <p:nvPr/>
        </p:nvSpPr>
        <p:spPr>
          <a:xfrm>
            <a:off x="384048" y="1261872"/>
            <a:ext cx="1874519" cy="548640"/>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the raw frame
grey 0–255</a:t>
            </a:r>
          </a:p>
        </p:txBody>
      </p:sp>
      <p:sp>
        <p:nvSpPr>
          <p:cNvPr id="7" name="Rounded Rectangle 6"/>
          <p:cNvSpPr/>
          <p:nvPr/>
        </p:nvSpPr>
        <p:spPr>
          <a:xfrm>
            <a:off x="2487168" y="1261872"/>
            <a:ext cx="1417320" cy="548640"/>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THRESHOLD</a:t>
            </a:r>
          </a:p>
        </p:txBody>
      </p:sp>
      <p:sp>
        <p:nvSpPr>
          <p:cNvPr id="8" name="Rounded Rectangle 7"/>
          <p:cNvSpPr/>
          <p:nvPr/>
        </p:nvSpPr>
        <p:spPr>
          <a:xfrm>
            <a:off x="4133087" y="1261872"/>
            <a:ext cx="1508760" cy="54864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binary
0 or 255</a:t>
            </a:r>
          </a:p>
        </p:txBody>
      </p:sp>
      <p:sp>
        <p:nvSpPr>
          <p:cNvPr id="9" name="Rounded Rectangle 8"/>
          <p:cNvSpPr/>
          <p:nvPr/>
        </p:nvSpPr>
        <p:spPr>
          <a:xfrm>
            <a:off x="5870448" y="1261872"/>
            <a:ext cx="2148840" cy="54864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shapes + gates
area · circularity</a:t>
            </a:r>
          </a:p>
        </p:txBody>
      </p:sp>
      <p:sp>
        <p:nvSpPr>
          <p:cNvPr id="10" name="Rounded Rectangle 9"/>
          <p:cNvSpPr/>
          <p:nvPr/>
        </p:nvSpPr>
        <p:spPr>
          <a:xfrm>
            <a:off x="8247888" y="1261872"/>
            <a:ext cx="1691640" cy="54864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two centroids</a:t>
            </a:r>
          </a:p>
        </p:txBody>
      </p:sp>
      <p:sp>
        <p:nvSpPr>
          <p:cNvPr id="11" name="Rounded Rectangle 10"/>
          <p:cNvSpPr/>
          <p:nvPr/>
        </p:nvSpPr>
        <p:spPr>
          <a:xfrm>
            <a:off x="10168128" y="1261872"/>
            <a:ext cx="1188720" cy="54864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strain</a:t>
            </a:r>
          </a:p>
        </p:txBody>
      </p:sp>
      <p:cxnSp>
        <p:nvCxnSpPr>
          <p:cNvPr id="12" name="Connector 11"/>
          <p:cNvCxnSpPr/>
          <p:nvPr/>
        </p:nvCxnSpPr>
        <p:spPr>
          <a:xfrm>
            <a:off x="2258568" y="1536192"/>
            <a:ext cx="21031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904487" y="1536192"/>
            <a:ext cx="210313"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641848" y="1536192"/>
            <a:ext cx="21031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19288" y="1536192"/>
            <a:ext cx="21031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939528" y="1536192"/>
            <a:ext cx="21031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84048" y="1865376"/>
            <a:ext cx="11475720" cy="274320"/>
          </a:xfrm>
          <a:prstGeom prst="rect">
            <a:avLst/>
          </a:prstGeom>
          <a:noFill/>
        </p:spPr>
        <p:txBody>
          <a:bodyPr wrap="square" lIns="45720" rIns="45720" tIns="18288" bIns="18288" anchor="t">
            <a:spAutoFit/>
          </a:bodyPr>
          <a:lstStyle/>
          <a:p>
            <a:pPr algn="l"/>
            <a:r>
              <a:rPr sz="940" b="0" i="1">
                <a:solidFill>
                  <a:srgbClr val="707070"/>
                </a:solidFill>
                <a:latin typeface="Calibri"/>
              </a:rPr>
              <a:t>Nothing flows right-to-left. Once the threshold has run, the grey level of a pixel is gone and no later step can recover it.</a:t>
            </a:r>
          </a:p>
        </p:txBody>
      </p:sp>
      <p:sp>
        <p:nvSpPr>
          <p:cNvPr id="18" name="TextBox 17"/>
          <p:cNvSpPr txBox="1"/>
          <p:nvPr/>
        </p:nvSpPr>
        <p:spPr>
          <a:xfrm>
            <a:off x="365760" y="224942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PATH 2 — calibration and monitoring. Here the loop CLOSES.</a:t>
            </a:r>
          </a:p>
        </p:txBody>
      </p:sp>
      <p:sp>
        <p:nvSpPr>
          <p:cNvPr id="19" name="Rounded Rectangle 18"/>
          <p:cNvSpPr/>
          <p:nvPr/>
        </p:nvSpPr>
        <p:spPr>
          <a:xfrm>
            <a:off x="384048" y="2596896"/>
            <a:ext cx="1874519" cy="603504"/>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the raw frame
grey 0–255</a:t>
            </a:r>
          </a:p>
        </p:txBody>
      </p:sp>
      <p:sp>
        <p:nvSpPr>
          <p:cNvPr id="20" name="Rounded Rectangle 19"/>
          <p:cNvSpPr/>
          <p:nvPr/>
        </p:nvSpPr>
        <p:spPr>
          <a:xfrm>
            <a:off x="2670048" y="2596896"/>
            <a:ext cx="1417320" cy="603504"/>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THRESHOLD</a:t>
            </a:r>
          </a:p>
        </p:txBody>
      </p:sp>
      <p:sp>
        <p:nvSpPr>
          <p:cNvPr id="21" name="Rounded Rectangle 20"/>
          <p:cNvSpPr/>
          <p:nvPr/>
        </p:nvSpPr>
        <p:spPr>
          <a:xfrm>
            <a:off x="4498848" y="2596896"/>
            <a:ext cx="1508760" cy="603504"/>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00" b="0">
                <a:solidFill>
                  <a:srgbClr val="000000"/>
                </a:solidFill>
                <a:latin typeface="Calibri"/>
              </a:rPr>
              <a:t>binary
0 or 255</a:t>
            </a:r>
          </a:p>
        </p:txBody>
      </p:sp>
      <p:sp>
        <p:nvSpPr>
          <p:cNvPr id="22" name="Rounded Rectangle 21"/>
          <p:cNvSpPr/>
          <p:nvPr/>
        </p:nvSpPr>
        <p:spPr>
          <a:xfrm>
            <a:off x="6419088" y="2596896"/>
            <a:ext cx="2148840" cy="603504"/>
          </a:xfrm>
          <a:prstGeom prst="roundRect">
            <a:avLst/>
          </a:prstGeom>
          <a:solidFill>
            <a:srgbClr val="FFFFFF"/>
          </a:solidFill>
          <a:ln w="15240">
            <a:solidFill>
              <a:srgbClr val="1E8449"/>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40" b="1">
                <a:solidFill>
                  <a:srgbClr val="000000"/>
                </a:solidFill>
                <a:latin typeface="Calibri"/>
              </a:rPr>
              <a:t>frame_score()
utm_autocal.py</a:t>
            </a:r>
          </a:p>
        </p:txBody>
      </p:sp>
      <p:cxnSp>
        <p:nvCxnSpPr>
          <p:cNvPr id="23" name="Connector 22"/>
          <p:cNvCxnSpPr/>
          <p:nvPr/>
        </p:nvCxnSpPr>
        <p:spPr>
          <a:xfrm>
            <a:off x="2258568" y="2898648"/>
            <a:ext cx="3931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87368" y="2898648"/>
            <a:ext cx="3931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07608" y="2898648"/>
            <a:ext cx="393192" cy="0"/>
          </a:xfrm>
          <a:prstGeom prst="line">
            <a:avLst/>
          </a:prstGeom>
          <a:ln w="2032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488936" y="3200400"/>
            <a:ext cx="0" cy="329184"/>
          </a:xfrm>
          <a:prstGeom prst="line">
            <a:avLst/>
          </a:prstGeom>
          <a:ln w="27940">
            <a:solidFill>
              <a:srgbClr val="1E84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498848" y="3529584"/>
            <a:ext cx="4069080" cy="566928"/>
          </a:xfrm>
          <a:prstGeom prst="roundRect">
            <a:avLst/>
          </a:prstGeom>
          <a:solidFill>
            <a:srgbClr val="FDEFC8"/>
          </a:solidFill>
          <a:ln w="15240">
            <a:solidFill>
              <a:srgbClr val="1E8449"/>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80" b="1">
                <a:solidFill>
                  <a:srgbClr val="000000"/>
                </a:solidFill>
                <a:latin typeface="Calibri"/>
              </a:rPr>
              <a:t>cv2.mean(FRAME, mask=BINARY)  ·  cv2.mean(FRAME, mask=NOT binary)</a:t>
            </a:r>
          </a:p>
        </p:txBody>
      </p:sp>
      <p:cxnSp>
        <p:nvCxnSpPr>
          <p:cNvPr id="28" name="Connector 27"/>
          <p:cNvCxnSpPr/>
          <p:nvPr/>
        </p:nvCxnSpPr>
        <p:spPr>
          <a:xfrm flipH="1" flipV="1">
            <a:off x="1417320" y="3246120"/>
            <a:ext cx="3063240" cy="566928"/>
          </a:xfrm>
          <a:prstGeom prst="line">
            <a:avLst/>
          </a:prstGeom>
          <a:ln w="27940">
            <a:solidFill>
              <a:srgbClr val="1E84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048" y="4041648"/>
            <a:ext cx="3977639" cy="457200"/>
          </a:xfrm>
          <a:prstGeom prst="rect">
            <a:avLst/>
          </a:prstGeom>
          <a:noFill/>
        </p:spPr>
        <p:txBody>
          <a:bodyPr wrap="square" lIns="45720" rIns="45720" tIns="18288" bIns="18288" anchor="t">
            <a:spAutoFit/>
          </a:bodyPr>
          <a:lstStyle/>
          <a:p>
            <a:pPr algn="l"/>
            <a:r>
              <a:rPr sz="880" b="0" i="1">
                <a:solidFill>
                  <a:srgbClr val="1E8449"/>
                </a:solidFill>
                <a:latin typeface="Calibri"/>
              </a:rPr>
              <a:t>…and reads the ORIGINAL frame again. THAT is where the two halves meet.</a:t>
            </a:r>
          </a:p>
        </p:txBody>
      </p:sp>
      <p:sp>
        <p:nvSpPr>
          <p:cNvPr id="30" name="TextBox 29"/>
          <p:cNvSpPr txBox="1"/>
          <p:nvPr/>
        </p:nvSpPr>
        <p:spPr>
          <a:xfrm>
            <a:off x="8732520" y="2596896"/>
            <a:ext cx="3127248" cy="640080"/>
          </a:xfrm>
          <a:prstGeom prst="rect">
            <a:avLst/>
          </a:prstGeom>
          <a:noFill/>
        </p:spPr>
        <p:txBody>
          <a:bodyPr wrap="square" lIns="45720" rIns="45720" tIns="18288" bIns="18288" anchor="t">
            <a:spAutoFit/>
          </a:bodyPr>
          <a:lstStyle/>
          <a:p>
            <a:pPr algn="l"/>
            <a:r>
              <a:rPr sz="880" b="0" i="1">
                <a:solidFill>
                  <a:srgbClr val="707070"/>
                </a:solidFill>
                <a:latin typeface="Calibri"/>
              </a:rPr>
              <a:t>The binary says WHICH pixels. The frame says WHAT VALUE. Neither could compute the margin alone — that is the intersection.</a:t>
            </a:r>
          </a:p>
        </p:txBody>
      </p:sp>
      <p:sp>
        <p:nvSpPr>
          <p:cNvPr id="31" name="TextBox 30"/>
          <p:cNvSpPr txBox="1"/>
          <p:nvPr/>
        </p:nvSpPr>
        <p:spPr>
          <a:xfrm>
            <a:off x="365760" y="4261104"/>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frame_score weighs — 70 % grey, 30 % shape</a:t>
            </a:r>
          </a:p>
        </p:txBody>
      </p:sp>
      <p:graphicFrame>
        <p:nvGraphicFramePr>
          <p:cNvPr id="32" name="Table 31"/>
          <p:cNvGraphicFramePr>
            <a:graphicFrameLocks noGrp="1"/>
          </p:cNvGraphicFramePr>
          <p:nvPr/>
        </p:nvGraphicFramePr>
        <p:xfrm>
          <a:off x="365760" y="4608576"/>
          <a:ext cx="5669280" cy="1271016"/>
        </p:xfrm>
        <a:graphic>
          <a:graphicData uri="http://schemas.openxmlformats.org/drawingml/2006/table">
            <a:tbl>
              <a:tblPr firstRow="1" bandRow="1">
                <a:tableStyleId>{5C22544A-7EE6-4342-B048-85BDC9FD1C3A}</a:tableStyleId>
              </a:tblPr>
              <a:tblGrid>
                <a:gridCol w="1691640"/>
                <a:gridCol w="822960"/>
                <a:gridCol w="3154680"/>
              </a:tblGrid>
              <a:tr h="317754">
                <a:tc>
                  <a:txBody>
                    <a:bodyPr lIns="54864" rIns="54864" tIns="18288" bIns="18288" wrap="square" anchor="ctr"/>
                    <a:lstStyle/>
                    <a:p>
                      <a:pPr algn="l"/>
                      <a:r>
                        <a:rPr sz="919" b="1">
                          <a:solidFill>
                            <a:srgbClr val="FFFFFF"/>
                          </a:solidFill>
                          <a:latin typeface="Calibri"/>
                        </a:rPr>
                        <a:t>Term</a:t>
                      </a:r>
                    </a:p>
                  </a:txBody>
                  <a:tcPr>
                    <a:solidFill>
                      <a:srgbClr val="143D2F"/>
                    </a:solidFill>
                  </a:tcPr>
                </a:tc>
                <a:tc>
                  <a:txBody>
                    <a:bodyPr lIns="54864" rIns="54864" tIns="18288" bIns="18288" wrap="square" anchor="ctr"/>
                    <a:lstStyle/>
                    <a:p>
                      <a:pPr algn="l"/>
                      <a:r>
                        <a:rPr sz="919" b="1">
                          <a:solidFill>
                            <a:srgbClr val="FFFFFF"/>
                          </a:solidFill>
                          <a:latin typeface="Calibri"/>
                        </a:rPr>
                        <a:t>Weight</a:t>
                      </a:r>
                    </a:p>
                  </a:txBody>
                  <a:tcPr>
                    <a:solidFill>
                      <a:srgbClr val="143D2F"/>
                    </a:solidFill>
                  </a:tcPr>
                </a:tc>
                <a:tc>
                  <a:txBody>
                    <a:bodyPr lIns="54864" rIns="54864" tIns="18288" bIns="18288" wrap="square" anchor="ctr"/>
                    <a:lstStyle/>
                    <a:p>
                      <a:pPr algn="l"/>
                      <a:r>
                        <a:rPr sz="919" b="1">
                          <a:solidFill>
                            <a:srgbClr val="FFFFFF"/>
                          </a:solidFill>
                          <a:latin typeface="Calibri"/>
                        </a:rPr>
                        <a:t>Comes from</a:t>
                      </a:r>
                    </a:p>
                  </a:txBody>
                  <a:tcPr>
                    <a:solidFill>
                      <a:srgbClr val="143D2F"/>
                    </a:solidFill>
                  </a:tcPr>
                </a:tc>
              </a:tr>
              <a:tr h="317754">
                <a:tc>
                  <a:txBody>
                    <a:bodyPr lIns="54864" rIns="54864" tIns="18288" bIns="18288" wrap="square" anchor="ctr"/>
                    <a:lstStyle/>
                    <a:p>
                      <a:pPr algn="l"/>
                      <a:r>
                        <a:rPr sz="900" b="0">
                          <a:solidFill>
                            <a:srgbClr val="000000"/>
                          </a:solidFill>
                          <a:latin typeface="Calibri"/>
                        </a:rPr>
                        <a:t>contrast margin</a:t>
                      </a:r>
                    </a:p>
                  </a:txBody>
                  <a:tcPr/>
                </a:tc>
                <a:tc>
                  <a:txBody>
                    <a:bodyPr lIns="54864" rIns="54864" tIns="18288" bIns="18288" wrap="square" anchor="ctr"/>
                    <a:lstStyle/>
                    <a:p>
                      <a:pPr algn="l"/>
                      <a:r>
                        <a:rPr sz="900" b="0">
                          <a:solidFill>
                            <a:srgbClr val="000000"/>
                          </a:solidFill>
                          <a:latin typeface="Calibri"/>
                        </a:rPr>
                        <a:t>0.45</a:t>
                      </a:r>
                    </a:p>
                  </a:txBody>
                  <a:tcPr/>
                </a:tc>
                <a:tc>
                  <a:txBody>
                    <a:bodyPr lIns="54864" rIns="54864" tIns="18288" bIns="18288" wrap="square" anchor="ctr"/>
                    <a:lstStyle/>
                    <a:p>
                      <a:pPr algn="l"/>
                      <a:r>
                        <a:rPr sz="900" b="0">
                          <a:solidFill>
                            <a:srgbClr val="000000"/>
                          </a:solidFill>
                          <a:latin typeface="Calibri"/>
                        </a:rPr>
                        <a:t>GREY — how far the markers sit from the cut</a:t>
                      </a:r>
                    </a:p>
                  </a:txBody>
                  <a:tcPr>
                    <a:solidFill>
                      <a:srgbClr val="FDEFC8"/>
                    </a:solidFill>
                  </a:tcPr>
                </a:tc>
              </a:tr>
              <a:tr h="317754">
                <a:tc>
                  <a:txBody>
                    <a:bodyPr lIns="54864" rIns="54864" tIns="18288" bIns="18288" wrap="square" anchor="ctr"/>
                    <a:lstStyle/>
                    <a:p>
                      <a:pPr algn="l"/>
                      <a:r>
                        <a:rPr sz="900" b="0">
                          <a:solidFill>
                            <a:srgbClr val="000000"/>
                          </a:solidFill>
                          <a:latin typeface="Calibri"/>
                        </a:rPr>
                        <a:t>headroom (clipping)</a:t>
                      </a:r>
                    </a:p>
                  </a:txBody>
                  <a:tcPr/>
                </a:tc>
                <a:tc>
                  <a:txBody>
                    <a:bodyPr lIns="54864" rIns="54864" tIns="18288" bIns="18288" wrap="square" anchor="ctr"/>
                    <a:lstStyle/>
                    <a:p>
                      <a:pPr algn="l"/>
                      <a:r>
                        <a:rPr sz="900" b="0">
                          <a:solidFill>
                            <a:srgbClr val="000000"/>
                          </a:solidFill>
                          <a:latin typeface="Calibri"/>
                        </a:rPr>
                        <a:t>0.25</a:t>
                      </a:r>
                    </a:p>
                  </a:txBody>
                  <a:tcPr/>
                </a:tc>
                <a:tc>
                  <a:txBody>
                    <a:bodyPr lIns="54864" rIns="54864" tIns="18288" bIns="18288" wrap="square" anchor="ctr"/>
                    <a:lstStyle/>
                    <a:p>
                      <a:pPr algn="l"/>
                      <a:r>
                        <a:rPr sz="900" b="0">
                          <a:solidFill>
                            <a:srgbClr val="000000"/>
                          </a:solidFill>
                          <a:latin typeface="Calibri"/>
                        </a:rPr>
                        <a:t>GREY — share of pixels at 0 or 255</a:t>
                      </a:r>
                    </a:p>
                  </a:txBody>
                  <a:tcPr>
                    <a:solidFill>
                      <a:srgbClr val="FDEFC8"/>
                    </a:solidFill>
                  </a:tcPr>
                </a:tc>
              </a:tr>
              <a:tr h="317754">
                <a:tc>
                  <a:txBody>
                    <a:bodyPr lIns="54864" rIns="54864" tIns="18288" bIns="18288" wrap="square" anchor="ctr"/>
                    <a:lstStyle/>
                    <a:p>
                      <a:pPr algn="l"/>
                      <a:r>
                        <a:rPr sz="900" b="0">
                          <a:solidFill>
                            <a:srgbClr val="000000"/>
                          </a:solidFill>
                          <a:latin typeface="Calibri"/>
                        </a:rPr>
                        <a:t>area fit + circularity</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BINARY — the shapes that survived</a:t>
                      </a:r>
                    </a:p>
                  </a:txBody>
                  <a:tcPr>
                    <a:solidFill>
                      <a:srgbClr val="DBEAF7"/>
                    </a:solidFill>
                  </a:tcPr>
                </a:tc>
              </a:tr>
            </a:tbl>
          </a:graphicData>
        </a:graphic>
      </p:graphicFrame>
      <p:sp>
        <p:nvSpPr>
          <p:cNvPr id="33" name="TextBox 32"/>
          <p:cNvSpPr txBox="1"/>
          <p:nvPr/>
        </p:nvSpPr>
        <p:spPr>
          <a:xfrm>
            <a:off x="6172200" y="4261104"/>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that closed loop runs, and why it matters</a:t>
            </a:r>
          </a:p>
        </p:txBody>
      </p:sp>
      <p:sp>
        <p:nvSpPr>
          <p:cNvPr id="34" name="TextBox 33"/>
          <p:cNvSpPr txBox="1"/>
          <p:nvPr/>
        </p:nvSpPr>
        <p:spPr>
          <a:xfrm>
            <a:off x="6172200" y="4608576"/>
            <a:ext cx="5669280" cy="1691640"/>
          </a:xfrm>
          <a:prstGeom prst="rect">
            <a:avLst/>
          </a:prstGeom>
          <a:noFill/>
        </p:spPr>
        <p:txBody>
          <a:bodyPr wrap="square" lIns="45720" rIns="45720" tIns="18288" bIns="18288" anchor="t">
            <a:spAutoFit/>
          </a:bodyPr>
          <a:lstStyle/>
          <a:p>
            <a:pPr algn="l"/>
            <a:r>
              <a:rPr sz="940" b="0" i="0">
                <a:solidFill>
                  <a:srgbClr val="000000"/>
                </a:solidFill>
                <a:latin typeface="Calibri"/>
              </a:rPr>
              <a:t>•  AUTO-CALIBRATE sweeps thresholds and scores each by what the blob stage made of it — so here the binary result CHOOSES the threshold. Full feedback.
•  THE LIVE BADGE runs the same function on the current setting, throttled. It is what turns “DIC OK” into “DIC FRAGILE”: still tracking, but only N grey levels from the cut.
•  Path 1 cannot warn you it is about to fail — it threw away the evidence. Path 2 is the thing that goes back and looks.
•  And it is the correction to Otsu: Otsu scores a cut on the HISTOGRAM, which is blind to the markers. frame_score scores it on where the markers actually landed.</a:t>
            </a:r>
          </a:p>
        </p:txBody>
      </p:sp>
      <p:sp>
        <p:nvSpPr>
          <p:cNvPr id="35" name="Rounded Rectangle 34"/>
          <p:cNvSpPr/>
          <p:nvPr/>
        </p:nvSpPr>
        <p:spPr>
          <a:xfrm>
            <a:off x="384048" y="6345936"/>
            <a:ext cx="2331720" cy="274320"/>
          </a:xfrm>
          <a:prstGeom prst="roundRect">
            <a:avLst/>
          </a:prstGeom>
          <a:solidFill>
            <a:srgbClr val="FDEFC8"/>
          </a:solidFill>
          <a:ln w="15240">
            <a:solidFill>
              <a:srgbClr val="C8860D"/>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grey level still there (0–255)</a:t>
            </a:r>
          </a:p>
        </p:txBody>
      </p:sp>
      <p:sp>
        <p:nvSpPr>
          <p:cNvPr id="36" name="Rounded Rectangle 35"/>
          <p:cNvSpPr/>
          <p:nvPr/>
        </p:nvSpPr>
        <p:spPr>
          <a:xfrm>
            <a:off x="2834640" y="6345936"/>
            <a:ext cx="1874519" cy="274320"/>
          </a:xfrm>
          <a:prstGeom prst="roundRect">
            <a:avLst/>
          </a:prstGeom>
          <a:solidFill>
            <a:srgbClr val="FFCDD2"/>
          </a:solidFill>
          <a:ln w="1524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the cut itself</a:t>
            </a:r>
          </a:p>
        </p:txBody>
      </p:sp>
      <p:sp>
        <p:nvSpPr>
          <p:cNvPr id="37" name="Rounded Rectangle 36"/>
          <p:cNvSpPr/>
          <p:nvPr/>
        </p:nvSpPr>
        <p:spPr>
          <a:xfrm>
            <a:off x="4828032" y="6345936"/>
            <a:ext cx="2331720" cy="274320"/>
          </a:xfrm>
          <a:prstGeom prst="roundRect">
            <a:avLst/>
          </a:prstGeom>
          <a:solidFill>
            <a:srgbClr val="DBEAF7"/>
          </a:solidFill>
          <a:ln w="15240">
            <a:solidFill>
              <a:srgbClr val="2E6DA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60" b="0">
                <a:solidFill>
                  <a:srgbClr val="000000"/>
                </a:solidFill>
                <a:latin typeface="Calibri"/>
              </a:rPr>
              <a:t>0 or 255 only — grey gone</a:t>
            </a:r>
          </a:p>
        </p:txBody>
      </p:sp>
      <p:sp>
        <p:nvSpPr>
          <p:cNvPr id="38" name="TextBox 3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p281.</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(p289),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p301.</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p301 and p302.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(p302).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p301.</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p306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(p309)</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(p309);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p303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p310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p302.</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(p309).</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(p299).</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p309, p301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(p308)</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p306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(p330).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(p324).</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p328.</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p329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p330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(p306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(p319):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(p306).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336</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p328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340</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457178" y="932688"/>
            <a:ext cx="9247163" cy="2651760"/>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023360"/>
          <a:ext cx="5623560" cy="1271016"/>
        </p:xfrm>
        <a:graphic>
          <a:graphicData uri="http://schemas.openxmlformats.org/drawingml/2006/table">
            <a:tbl>
              <a:tblPr firstRow="1" bandRow="1">
                <a:tableStyleId>{5C22544A-7EE6-4342-B048-85BDC9FD1C3A}</a:tableStyleId>
              </a:tblPr>
              <a:tblGrid>
                <a:gridCol w="2377440"/>
                <a:gridCol w="1600200"/>
                <a:gridCol w="1645920"/>
              </a:tblGrid>
              <a:tr h="254203">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4203">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4203">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4203">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4204">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023360"/>
            <a:ext cx="5577840" cy="132588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5504688"/>
            <a:ext cx="11475720" cy="34747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411480" y="5907024"/>
            <a:ext cx="11475720" cy="384048"/>
          </a:xfrm>
          <a:prstGeom prst="rect">
            <a:avLst/>
          </a:prstGeom>
          <a:noFill/>
        </p:spPr>
        <p:txBody>
          <a:bodyPr wrap="square" lIns="45720" rIns="45720" tIns="18288" bIns="18288" anchor="t">
            <a:spAutoFit/>
          </a:bodyPr>
          <a:lstStyle/>
          <a:p>
            <a:pPr algn="l"/>
            <a:r>
              <a:rPr sz="1000" b="0" i="0">
                <a:solidFill>
                  <a:srgbClr val="000000"/>
                </a:solidFill>
                <a:latin typeface="Calibri"/>
              </a:rPr>
              <a:t>WHAT "FITTED WINDOW" MEANS: the shaded band is a slice of RAW samples — nothing is smoothed, filtered or resampled. The only fitting is one least-squares straight line through the strain-against-time points inside that band, and its SLOPE is the rate reported in the bars. The band is narrow and nearly straight on purpose, so what the fit leaves behind is instrument noise rather than the curvature of the pull (p342).</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341</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WHOLE PULL, BOTH CALCULATIONS — XT205-S2 TO FRACTURE</a:t>
            </a:r>
          </a:p>
        </p:txBody>
      </p:sp>
      <p:pic>
        <p:nvPicPr>
          <p:cNvPr id="5" name="Picture 4" descr="mot2pp_full.png"/>
          <p:cNvPicPr>
            <a:picLocks noChangeAspect="1"/>
          </p:cNvPicPr>
          <p:nvPr/>
        </p:nvPicPr>
        <p:blipFill>
          <a:blip r:embed="rId2"/>
          <a:stretch>
            <a:fillRect/>
          </a:stretch>
        </p:blipFill>
        <p:spPr>
          <a:xfrm>
            <a:off x="680024" y="932688"/>
            <a:ext cx="10801470" cy="3310128"/>
          </a:xfrm>
          <a:prstGeom prst="rect">
            <a:avLst/>
          </a:prstGeom>
        </p:spPr>
      </p:pic>
      <p:sp>
        <p:nvSpPr>
          <p:cNvPr id="6" name="TextBox 5"/>
          <p:cNvSpPr txBox="1"/>
          <p:nvPr/>
        </p:nvSpPr>
        <p:spPr>
          <a:xfrm>
            <a:off x="41148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had to be shown at full scale</a:t>
            </a:r>
          </a:p>
        </p:txBody>
      </p:sp>
      <p:sp>
        <p:nvSpPr>
          <p:cNvPr id="7" name="TextBox 6"/>
          <p:cNvSpPr txBox="1"/>
          <p:nvPr/>
        </p:nvSpPr>
        <p:spPr>
          <a:xfrm>
            <a:off x="41148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other view of these two records either stops at 0.9 % strain — the fitted window and a little either side — or puts them on separate axes. Neither answers the question a reader should be asking: does the agreement SURVIVE past the elastic ramp, out to 5.21 % where the specimen is drawing and then tearing? The window is 6 % of the record. This is the other 94 %.</a:t>
            </a:r>
          </a:p>
        </p:txBody>
      </p:sp>
      <p:sp>
        <p:nvSpPr>
          <p:cNvPr id="8" name="TextBox 7"/>
          <p:cNvSpPr txBox="1"/>
          <p:nvPr/>
        </p:nvSpPr>
        <p:spPr>
          <a:xfrm>
            <a:off x="434340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does</a:t>
            </a:r>
          </a:p>
        </p:txBody>
      </p:sp>
      <p:sp>
        <p:nvSpPr>
          <p:cNvPr id="9" name="TextBox 8"/>
          <p:cNvSpPr txBox="1"/>
          <p:nvPr/>
        </p:nvSpPr>
        <p:spPr>
          <a:xfrm>
            <a:off x="434340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The two traces are indistinguishable at this scale for the whole 156 s. The lower panel is the difference on the same time axis: it sits on a constant −55 µε — which is 0.069 px on a 1255 px marker span, a reference-frame difference and not a calibration one — with no drift, no divergence at large strain, and no step at yield. Fracture strain lands 0.08 % apart.</a:t>
            </a:r>
          </a:p>
        </p:txBody>
      </p:sp>
      <p:sp>
        <p:nvSpPr>
          <p:cNvPr id="10" name="TextBox 9"/>
          <p:cNvSpPr txBox="1"/>
          <p:nvPr/>
        </p:nvSpPr>
        <p:spPr>
          <a:xfrm>
            <a:off x="8275320" y="435254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lower panel is NOT</a:t>
            </a:r>
          </a:p>
        </p:txBody>
      </p:sp>
      <p:sp>
        <p:nvSpPr>
          <p:cNvPr id="11" name="TextBox 10"/>
          <p:cNvSpPr txBox="1"/>
          <p:nvPr/>
        </p:nvSpPr>
        <p:spPr>
          <a:xfrm>
            <a:off x="8275320" y="4700016"/>
            <a:ext cx="3566160" cy="1188720"/>
          </a:xfrm>
          <a:prstGeom prst="rect">
            <a:avLst/>
          </a:prstGeom>
          <a:noFill/>
        </p:spPr>
        <p:txBody>
          <a:bodyPr wrap="square" lIns="45720" rIns="45720" tIns="18288" bIns="18288" anchor="t">
            <a:spAutoFit/>
          </a:bodyPr>
          <a:lstStyle/>
          <a:p>
            <a:pPr algn="l"/>
            <a:r>
              <a:rPr sz="950" b="0" i="0">
                <a:solidFill>
                  <a:srgbClr val="000000"/>
                </a:solidFill>
                <a:latin typeface="Calibri"/>
              </a:rPr>
              <a:t>It is a DIFFERENCE, and a difference cannot say whose noise is larger — subtracting two records ADDS their scatter. That answer comes from fitting each record separately over one window: PPD-UTM 24.1 µε against the XT-205's 28.6 µε, so ours is the quieter by 1.19×.</a:t>
            </a:r>
          </a:p>
        </p:txBody>
      </p:sp>
      <p:sp>
        <p:nvSpPr>
          <p:cNvPr id="12" name="Rectangle 11"/>
          <p:cNvSpPr/>
          <p:nvPr/>
        </p:nvSpPr>
        <p:spPr>
          <a:xfrm>
            <a:off x="365760" y="5961888"/>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difference scatters by 36.7 µε, within 2 % of the 37.3 µε those two noises give added in quadrature — so they are INDEPENDENT. Neither instrument is picking up a common flicker from the footage they share; each is limited by its own marker-locating.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samples throughout; the lower panel is a plain difference, not a fit. Both records are re-zeroed at the 300 N preload so they share one convention.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342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343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PPD-UTM AT A GLANCE — ALL 19 SMART FEATURES</a:t>
            </a:r>
          </a:p>
        </p:txBody>
      </p:sp>
      <p:sp>
        <p:nvSpPr>
          <p:cNvPr id="5" name="TextBox 4"/>
          <p:cNvSpPr txBox="1"/>
          <p:nvPr/>
        </p:nvSpPr>
        <p:spPr>
          <a:xfrm>
            <a:off x="384048" y="1042415"/>
            <a:ext cx="11430000" cy="292608"/>
          </a:xfrm>
          <a:prstGeom prst="rect">
            <a:avLst/>
          </a:prstGeom>
          <a:noFill/>
        </p:spPr>
        <p:txBody>
          <a:bodyPr wrap="square" lIns="45720" rIns="45720" tIns="18288" bIns="18288" anchor="t">
            <a:spAutoFit/>
          </a:bodyPr>
          <a:lstStyle/>
          <a:p>
            <a:pPr algn="l"/>
            <a:r>
              <a:rPr sz="1050" b="0" i="1">
                <a:solidFill>
                  <a:srgbClr val="707070"/>
                </a:solidFill>
                <a:latin typeface="Calibri"/>
              </a:rPr>
              <a:t>Everything the rig does beyond pulling a specimen and logging force. GREEN = built and rig-validated · BLUE = built, offline-verified, awaiting rig time. Each has a slide of its own earlier in this deck.</a:t>
            </a:r>
          </a:p>
        </p:txBody>
      </p:sp>
      <p:sp>
        <p:nvSpPr>
          <p:cNvPr id="6" name="Rounded Rectangle 5"/>
          <p:cNvSpPr/>
          <p:nvPr/>
        </p:nvSpPr>
        <p:spPr>
          <a:xfrm>
            <a:off x="365760"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 · DIC health HUD</a:t>
            </a:r>
          </a:p>
          <a:p>
            <a:pPr algn="l">
              <a:spcBef>
                <a:spcPts val="100"/>
              </a:spcBef>
            </a:pPr>
            <a:r>
              <a:rPr sz="819" b="0">
                <a:solidFill>
                  <a:srgbClr val="000000"/>
                </a:solidFill>
                <a:latin typeface="Calibri"/>
              </a:rPr>
              <a:t>Live badge on both test tabs: markers found, % frames tracked, pixel jitter.</a:t>
            </a:r>
          </a:p>
        </p:txBody>
      </p:sp>
      <p:sp>
        <p:nvSpPr>
          <p:cNvPr id="7" name="Rounded Rectangle 6"/>
          <p:cNvSpPr/>
          <p:nvPr/>
        </p:nvSpPr>
        <p:spPr>
          <a:xfrm>
            <a:off x="3374136"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SF2 · Prepare specimen</a:t>
            </a:r>
          </a:p>
          <a:p>
            <a:pPr algn="l">
              <a:spcBef>
                <a:spcPts val="100"/>
              </a:spcBef>
            </a:pPr>
            <a:r>
              <a:rPr sz="819" b="0">
                <a:solidFill>
                  <a:srgbClr val="000000"/>
                </a:solidFill>
                <a:latin typeface="Calibri"/>
              </a:rPr>
              <a:t>One click tares load, position and strain together before a pull.</a:t>
            </a:r>
          </a:p>
        </p:txBody>
      </p:sp>
      <p:sp>
        <p:nvSpPr>
          <p:cNvPr id="8" name="Rounded Rectangle 7"/>
          <p:cNvSpPr/>
          <p:nvPr/>
        </p:nvSpPr>
        <p:spPr>
          <a:xfrm>
            <a:off x="6382512"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SF3 · Settings / recipes</a:t>
            </a:r>
          </a:p>
          <a:p>
            <a:pPr algn="l">
              <a:spcBef>
                <a:spcPts val="100"/>
              </a:spcBef>
            </a:pPr>
            <a:r>
              <a:rPr sz="819" b="0">
                <a:solidFill>
                  <a:srgbClr val="000000"/>
                </a:solidFill>
                <a:latin typeface="Calibri"/>
              </a:rPr>
              <a:t>Save and reload a whole setup — camera, protocol, limits — as one recipe.</a:t>
            </a:r>
          </a:p>
        </p:txBody>
      </p:sp>
      <p:sp>
        <p:nvSpPr>
          <p:cNvPr id="9" name="Rounded Rectangle 8"/>
          <p:cNvSpPr/>
          <p:nvPr/>
        </p:nvSpPr>
        <p:spPr>
          <a:xfrm>
            <a:off x="9390888"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SF4 · Generate report</a:t>
            </a:r>
          </a:p>
          <a:p>
            <a:pPr algn="l">
              <a:spcBef>
                <a:spcPts val="100"/>
              </a:spcBef>
            </a:pPr>
            <a:r>
              <a:rPr sz="819" b="0">
                <a:solidFill>
                  <a:srgbClr val="000000"/>
                </a:solidFill>
                <a:latin typeface="Calibri"/>
              </a:rPr>
              <a:t>One click turns a finished run into a PDF report with the plots embedded.</a:t>
            </a:r>
          </a:p>
        </p:txBody>
      </p:sp>
      <p:sp>
        <p:nvSpPr>
          <p:cNvPr id="10" name="Rounded Rectangle 9"/>
          <p:cNvSpPr/>
          <p:nvPr/>
        </p:nvSpPr>
        <p:spPr>
          <a:xfrm>
            <a:off x="365760"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SF5 · Auto-stop at fracture</a:t>
            </a:r>
          </a:p>
          <a:p>
            <a:pPr algn="l">
              <a:spcBef>
                <a:spcPts val="100"/>
              </a:spcBef>
            </a:pPr>
            <a:r>
              <a:rPr sz="819" b="0">
                <a:solidFill>
                  <a:srgbClr val="000000"/>
                </a:solidFill>
                <a:latin typeface="Calibri"/>
              </a:rPr>
              <a:t>Watches for load collapse and halts the motor at fracture on its own.</a:t>
            </a:r>
          </a:p>
        </p:txBody>
      </p:sp>
      <p:sp>
        <p:nvSpPr>
          <p:cNvPr id="11" name="Rounded Rectangle 10"/>
          <p:cNvSpPr/>
          <p:nvPr/>
        </p:nvSpPr>
        <p:spPr>
          <a:xfrm>
            <a:off x="3374136"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SF6 · Strain-rate fracture</a:t>
            </a:r>
          </a:p>
          <a:p>
            <a:pPr algn="l">
              <a:spcBef>
                <a:spcPts val="100"/>
              </a:spcBef>
            </a:pPr>
            <a:r>
              <a:rPr sz="819" b="0">
                <a:solidFill>
                  <a:srgbClr val="000000"/>
                </a:solidFill>
                <a:latin typeface="Calibri"/>
              </a:rPr>
              <a:t>Closes the loop on strain rate, not crosshead speed — constant dε/dt.</a:t>
            </a:r>
          </a:p>
        </p:txBody>
      </p:sp>
      <p:sp>
        <p:nvSpPr>
          <p:cNvPr id="12" name="Rounded Rectangle 11"/>
          <p:cNvSpPr/>
          <p:nvPr/>
        </p:nvSpPr>
        <p:spPr>
          <a:xfrm>
            <a:off x="6382512"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SF7 · Stall guard</a:t>
            </a:r>
          </a:p>
          <a:p>
            <a:pPr algn="l">
              <a:spcBef>
                <a:spcPts val="100"/>
              </a:spcBef>
            </a:pPr>
            <a:r>
              <a:rPr sz="819" b="0">
                <a:solidFill>
                  <a:srgbClr val="000000"/>
                </a:solidFill>
                <a:latin typeface="Calibri"/>
              </a:rPr>
              <a:t>Detects a motor commanded to move that is not moving, and halts.</a:t>
            </a:r>
          </a:p>
        </p:txBody>
      </p:sp>
      <p:sp>
        <p:nvSpPr>
          <p:cNvPr id="13" name="Rounded Rectangle 12"/>
          <p:cNvSpPr/>
          <p:nvPr/>
        </p:nvSpPr>
        <p:spPr>
          <a:xfrm>
            <a:off x="9390888"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SF8 · Release load</a:t>
            </a:r>
          </a:p>
          <a:p>
            <a:pPr algn="l">
              <a:spcBef>
                <a:spcPts val="100"/>
              </a:spcBef>
            </a:pPr>
            <a:r>
              <a:rPr sz="819" b="0">
                <a:solidFill>
                  <a:srgbClr val="000000"/>
                </a:solidFill>
                <a:latin typeface="Calibri"/>
              </a:rPr>
              <a:t>Unloads to a true zero instead of leaving the specimen held in tension.</a:t>
            </a:r>
          </a:p>
        </p:txBody>
      </p:sp>
      <p:sp>
        <p:nvSpPr>
          <p:cNvPr id="14" name="Rounded Rectangle 13"/>
          <p:cNvSpPr/>
          <p:nvPr/>
        </p:nvSpPr>
        <p:spPr>
          <a:xfrm>
            <a:off x="365760"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SF9 · 6 closed-loop protocols</a:t>
            </a:r>
          </a:p>
          <a:p>
            <a:pPr algn="l">
              <a:spcBef>
                <a:spcPts val="100"/>
              </a:spcBef>
            </a:pPr>
            <a:r>
              <a:rPr sz="819" b="0">
                <a:solidFill>
                  <a:srgbClr val="000000"/>
                </a:solidFill>
                <a:latin typeface="Calibri"/>
              </a:rPr>
              <a:t>Six closed-loop protocols: monotonic, cyclic, programmable-cyclic, to fracture.</a:t>
            </a:r>
          </a:p>
        </p:txBody>
      </p:sp>
      <p:sp>
        <p:nvSpPr>
          <p:cNvPr id="15" name="Rounded Rectangle 14"/>
          <p:cNvSpPr/>
          <p:nvPr/>
        </p:nvSpPr>
        <p:spPr>
          <a:xfrm>
            <a:off x="3374136"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SF10 · Auto-preload</a:t>
            </a:r>
          </a:p>
          <a:p>
            <a:pPr algn="l">
              <a:spcBef>
                <a:spcPts val="100"/>
              </a:spcBef>
            </a:pPr>
            <a:r>
              <a:rPr sz="819" b="0">
                <a:solidFill>
                  <a:srgbClr val="000000"/>
                </a:solidFill>
                <a:latin typeface="Calibri"/>
              </a:rPr>
              <a:t>Finds first contact in three slowing stages, 0.2 → 0.1 → 0.02 mm/s.</a:t>
            </a:r>
          </a:p>
        </p:txBody>
      </p:sp>
      <p:sp>
        <p:nvSpPr>
          <p:cNvPr id="16" name="Rounded Rectangle 15"/>
          <p:cNvSpPr/>
          <p:nvPr/>
        </p:nvSpPr>
        <p:spPr>
          <a:xfrm>
            <a:off x="6382512"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SF11 · Auto-metadata link</a:t>
            </a:r>
          </a:p>
          <a:p>
            <a:pPr algn="l">
              <a:spcBef>
                <a:spcPts val="100"/>
              </a:spcBef>
            </a:pPr>
            <a:r>
              <a:rPr sz="819" b="0">
                <a:solidFill>
                  <a:srgbClr val="000000"/>
                </a:solidFill>
                <a:latin typeface="Calibri"/>
              </a:rPr>
              <a:t>Pairs each video with its CSV automatically, by timestamp overlap.</a:t>
            </a:r>
          </a:p>
        </p:txBody>
      </p:sp>
      <p:sp>
        <p:nvSpPr>
          <p:cNvPr id="17" name="Rounded Rectangle 16"/>
          <p:cNvSpPr/>
          <p:nvPr/>
        </p:nvSpPr>
        <p:spPr>
          <a:xfrm>
            <a:off x="9390888" y="3346704"/>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SF12 · DIC auto-calibrate</a:t>
            </a:r>
          </a:p>
          <a:p>
            <a:pPr algn="l">
              <a:spcBef>
                <a:spcPts val="100"/>
              </a:spcBef>
            </a:pPr>
            <a:r>
              <a:rPr sz="819" b="0">
                <a:solidFill>
                  <a:srgbClr val="000000"/>
                </a:solidFill>
                <a:latin typeface="Calibri"/>
              </a:rPr>
              <a:t>Sweeps exposure × threshold and reports the setting that tracks best.</a:t>
            </a:r>
          </a:p>
        </p:txBody>
      </p:sp>
      <p:sp>
        <p:nvSpPr>
          <p:cNvPr id="18" name="Rounded Rectangle 17"/>
          <p:cNvSpPr/>
          <p:nvPr/>
        </p:nvSpPr>
        <p:spPr>
          <a:xfrm>
            <a:off x="365760"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SF13 · Guided wizard</a:t>
            </a:r>
          </a:p>
          <a:p>
            <a:pPr algn="l">
              <a:spcBef>
                <a:spcPts val="100"/>
              </a:spcBef>
            </a:pPr>
            <a:r>
              <a:rPr sz="819" b="0">
                <a:solidFill>
                  <a:srgbClr val="000000"/>
                </a:solidFill>
                <a:latin typeface="Calibri"/>
              </a:rPr>
              <a:t>Twelve-step guided setup for a new operator — optional, off by default.</a:t>
            </a:r>
          </a:p>
        </p:txBody>
      </p:sp>
      <p:sp>
        <p:nvSpPr>
          <p:cNvPr id="19" name="Rounded Rectangle 18"/>
          <p:cNvSpPr/>
          <p:nvPr/>
        </p:nvSpPr>
        <p:spPr>
          <a:xfrm>
            <a:off x="3374136"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SF14 · Test registry</a:t>
            </a:r>
          </a:p>
          <a:p>
            <a:pPr algn="l">
              <a:spcBef>
                <a:spcPts val="100"/>
              </a:spcBef>
            </a:pPr>
            <a:r>
              <a:rPr sz="819" b="0">
                <a:solidFill>
                  <a:srgbClr val="000000"/>
                </a:solidFill>
                <a:latin typeface="Calibri"/>
              </a:rPr>
              <a:t>Every run recorded with its own force anchor, so a number can be traced back.</a:t>
            </a:r>
          </a:p>
        </p:txBody>
      </p:sp>
      <p:sp>
        <p:nvSpPr>
          <p:cNvPr id="20" name="Rounded Rectangle 19"/>
          <p:cNvSpPr/>
          <p:nvPr/>
        </p:nvSpPr>
        <p:spPr>
          <a:xfrm>
            <a:off x="6382512"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SF15 · Dead-DIC guard + backstops</a:t>
            </a:r>
          </a:p>
          <a:p>
            <a:pPr algn="l">
              <a:spcBef>
                <a:spcPts val="100"/>
              </a:spcBef>
            </a:pPr>
            <a:r>
              <a:rPr sz="819" b="0">
                <a:solidFill>
                  <a:srgbClr val="000000"/>
                </a:solidFill>
                <a:latin typeface="Calibri"/>
              </a:rPr>
              <a:t>Freezes the plot at 0.2 s without DIC, halts the test at 1.0 s.</a:t>
            </a:r>
          </a:p>
        </p:txBody>
      </p:sp>
      <p:sp>
        <p:nvSpPr>
          <p:cNvPr id="21" name="Rounded Rectangle 20"/>
          <p:cNvSpPr/>
          <p:nvPr/>
        </p:nvSpPr>
        <p:spPr>
          <a:xfrm>
            <a:off x="9390888"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SF16 · Live Px₀ overlay</a:t>
            </a:r>
          </a:p>
          <a:p>
            <a:pPr algn="l">
              <a:spcBef>
                <a:spcPts val="100"/>
              </a:spcBef>
            </a:pPr>
            <a:r>
              <a:rPr sz="819" b="0">
                <a:solidFill>
                  <a:srgbClr val="000000"/>
                </a:solidFill>
                <a:latin typeface="Calibri"/>
              </a:rPr>
              <a:t>Draws the frozen Px₀ pair against the live pair, on the camera feed.</a:t>
            </a:r>
          </a:p>
        </p:txBody>
      </p:sp>
      <p:sp>
        <p:nvSpPr>
          <p:cNvPr id="22" name="Rounded Rectangle 21"/>
          <p:cNvSpPr/>
          <p:nvPr/>
        </p:nvSpPr>
        <p:spPr>
          <a:xfrm>
            <a:off x="365760"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SF17 · Video + image capture</a:t>
            </a:r>
          </a:p>
          <a:p>
            <a:pPr algn="l">
              <a:spcBef>
                <a:spcPts val="100"/>
              </a:spcBef>
            </a:pPr>
            <a:r>
              <a:rPr sz="819" b="0">
                <a:solidFill>
                  <a:srgbClr val="000000"/>
                </a:solidFill>
                <a:latin typeface="Calibri"/>
              </a:rPr>
              <a:t>PNG stills plus three AVI styles, with zero dropped frames on record.</a:t>
            </a:r>
          </a:p>
        </p:txBody>
      </p:sp>
      <p:sp>
        <p:nvSpPr>
          <p:cNvPr id="23" name="Rounded Rectangle 22"/>
          <p:cNvSpPr/>
          <p:nvPr/>
        </p:nvSpPr>
        <p:spPr>
          <a:xfrm>
            <a:off x="3374136"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SF18 · DIC post-processing</a:t>
            </a:r>
          </a:p>
          <a:p>
            <a:pPr algn="l">
              <a:spcBef>
                <a:spcPts val="100"/>
              </a:spcBef>
            </a:pPr>
            <a:r>
              <a:rPr sz="819" b="0">
                <a:solidFill>
                  <a:srgbClr val="000000"/>
                </a:solidFill>
                <a:latin typeface="Calibri"/>
              </a:rPr>
              <a:t>Re-measures any recorded video — ours or a foreign rig's — after the fact.</a:t>
            </a:r>
          </a:p>
        </p:txBody>
      </p:sp>
      <p:sp>
        <p:nvSpPr>
          <p:cNvPr id="24" name="Rounded Rectangle 23"/>
          <p:cNvSpPr/>
          <p:nvPr/>
        </p:nvSpPr>
        <p:spPr>
          <a:xfrm>
            <a:off x="6382512" y="5303520"/>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SF19 · Noise capture</a:t>
            </a:r>
          </a:p>
          <a:p>
            <a:pPr algn="l">
              <a:spcBef>
                <a:spcPts val="100"/>
              </a:spcBef>
            </a:pPr>
            <a:r>
              <a:rPr sz="819" b="0">
                <a:solidFill>
                  <a:srgbClr val="000000"/>
                </a:solidFill>
                <a:latin typeface="Calibri"/>
              </a:rPr>
              <a:t>Records the instrument at rest, so the noise floor is measured, not assumed.</a:t>
            </a:r>
          </a:p>
        </p:txBody>
      </p:sp>
      <p:sp>
        <p:nvSpPr>
          <p:cNvPr id="25" name="Rounded Rectangle 24"/>
          <p:cNvSpPr/>
          <p:nvPr/>
        </p:nvSpPr>
        <p:spPr>
          <a:xfrm>
            <a:off x="9390888" y="5303520"/>
            <a:ext cx="2862072" cy="905256"/>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000000"/>
                </a:solidFill>
                <a:latin typeface="Calibri"/>
              </a:rPr>
              <a:t>ALWAYS ON — the safety net</a:t>
            </a:r>
          </a:p>
          <a:p>
            <a:pPr algn="l">
              <a:spcBef>
                <a:spcPts val="100"/>
              </a:spcBef>
            </a:pPr>
            <a:r>
              <a:rPr sz="819" b="0">
                <a:solidFill>
                  <a:srgbClr val="000000"/>
                </a:solidFill>
                <a:latin typeface="Calibri"/>
              </a:rPr>
              <a:t>Four safety layers on every driven test: load collapse · stall guard · 4.5 kN / 30 mm · dead-DIC freeze.</a:t>
            </a:r>
          </a:p>
        </p:txBody>
      </p:sp>
      <p:sp>
        <p:nvSpPr>
          <p:cNvPr id="26" name="Rectangle 25"/>
          <p:cNvSpPr/>
          <p:nvPr/>
        </p:nvSpPr>
        <p:spPr>
          <a:xfrm>
            <a:off x="365760" y="6272784"/>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17 of 19 done and validated on the rig · 2 built and waiting on rig time · every one of them reachable from the two test tabs, no scripting required.</a:t>
            </a:r>
          </a:p>
        </p:txBody>
      </p:sp>
      <p:sp>
        <p:nvSpPr>
          <p:cNvPr id="27" name="TextBox 2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