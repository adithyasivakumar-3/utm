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MOT XT-205</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A rate effect explains roughly half of 7.7 % for PLA; our own 2.7 % specimen-to-specimen scatter covers much of the rest.</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not a magnitude it pins down — for PLA a 3× rate change is worth a few per cent, so rate plausibly carries half of the gap and specimen scatter the rest. Neither term is separable from the other with n = 1 on each side.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(p295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MOT footage ·
PPD-UTM DIC</a:t>
                      </a:r>
                    </a:p>
                  </a:txBody>
                  <a:tcPr>
                    <a:solidFill>
                      <a:srgbClr val="143D2F"/>
                    </a:solidFill>
                  </a:tcPr>
                </a:tc>
                <a:tc>
                  <a:txBody>
                    <a:bodyPr lIns="54864" rIns="54864" tIns="18288" bIns="18288" wrap="square" anchor="ctr"/>
                    <a:lstStyle/>
                    <a:p>
                      <a:pPr algn="l"/>
                      <a:r>
                        <a:rPr sz="850" b="1">
                          <a:solidFill>
                            <a:srgbClr val="FFFFFF"/>
                          </a:solidFill>
                          <a:latin typeface="Calibri"/>
                        </a:rPr>
                        <a:t>MOT footage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320040" y="4517136"/>
            <a:ext cx="5989320" cy="1170432"/>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MOT footage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MOT footage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same footage,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p316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572000"/>
          <a:ext cx="5623560" cy="1298448"/>
        </p:xfrm>
        <a:graphic>
          <a:graphicData uri="http://schemas.openxmlformats.org/drawingml/2006/table">
            <a:tbl>
              <a:tblPr firstRow="1" bandRow="1">
                <a:tableStyleId>{5C22544A-7EE6-4342-B048-85BDC9FD1C3A}</a:tableStyleId>
              </a:tblPr>
              <a:tblGrid>
                <a:gridCol w="2377440"/>
                <a:gridCol w="1600200"/>
                <a:gridCol w="164592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MOT Test 1 · 80 mm</a:t>
                      </a:r>
                    </a:p>
                  </a:txBody>
                  <a:tcPr>
                    <a:solidFill>
                      <a:srgbClr val="143D2F"/>
                    </a:solidFill>
                  </a:tcPr>
                </a:tc>
                <a:tc>
                  <a:txBody>
                    <a:bodyPr lIns="54864" rIns="54864" tIns="18288" bIns="18288" wrap="square" anchor="ctr"/>
                    <a:lstStyle/>
                    <a:p>
                      <a:pPr algn="l"/>
                      <a:r>
                        <a:rPr sz="900" b="1">
                          <a:solidFill>
                            <a:srgbClr val="FFFFFF"/>
                          </a:solidFill>
                          <a:latin typeface="Calibri"/>
                        </a:rPr>
                        <a:t>MOT Test 2 · 45 mm</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 footage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9689">
                <a:tc>
                  <a:txBody>
                    <a:bodyPr lIns="54864" rIns="54864" tIns="18288" bIns="18288" wrap="square" anchor="ctr"/>
                    <a:lstStyle/>
                    <a:p>
                      <a:pPr algn="l"/>
                      <a:r>
                        <a:rPr sz="850" b="0">
                          <a:solidFill>
                            <a:srgbClr val="000000"/>
                          </a:solidFill>
                          <a:latin typeface="Calibri"/>
                        </a:rPr>
                        <a:t>XT-205 footage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9689">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9692">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603504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