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83.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png"/><Relationship Id="rId3" Type="http://schemas.openxmlformats.org/officeDocument/2006/relationships/image" Target="../media/image108.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110.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5.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6.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7.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8.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0.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10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PPD-UTM Mk I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PPD-UTM — the Department of Product Development, Production and Design's universal testing machine; Mk I and Mk II are defined on p184.  ·  Full step-by-step results: Software/UTM_PyQt6/docs/TESTING_TODO.md;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SF21</a:t>
            </a:r>
          </a:p>
        </p:txBody>
      </p:sp>
      <p:sp>
        <p:nvSpPr>
          <p:cNvPr id="5" name="TextBox 4"/>
          <p:cNvSpPr txBox="1"/>
          <p:nvPr/>
        </p:nvSpPr>
        <p:spPr>
          <a:xfrm>
            <a:off x="365760" y="1051560"/>
            <a:ext cx="11475720" cy="365760"/>
          </a:xfrm>
          <a:prstGeom prst="rect">
            <a:avLst/>
          </a:prstGeom>
          <a:noFill/>
        </p:spPr>
        <p:txBody>
          <a:bodyPr wrap="square" lIns="45720" rIns="45720" tIns="18288" bIns="18288" anchor="t">
            <a:spAutoFit/>
          </a:bodyPr>
          <a:lstStyle/>
          <a:p>
            <a:pPr algn="l"/>
            <a:r>
              <a:rPr sz="1150" b="0" i="1">
                <a:solidFill>
                  <a:srgbClr val="707070"/>
                </a:solidFill>
                <a:latin typeface="Calibri"/>
              </a:rPr>
              <a:t>17 built and RIG-VALIDATED (green) · 2 built, offline-verified only (blue) · 1 hardware-blocked (amber). Numeric order, so a card can be found by its SF number.</a:t>
            </a:r>
          </a:p>
        </p:txBody>
      </p:sp>
      <p:sp>
        <p:nvSpPr>
          <p:cNvPr id="6" name="Rounded Rectangle 5"/>
          <p:cNvSpPr/>
          <p:nvPr/>
        </p:nvSpPr>
        <p:spPr>
          <a:xfrm>
            <a:off x="365760"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  DIC health HUD
live 2/2 · jitter</a:t>
            </a:r>
          </a:p>
        </p:txBody>
      </p:sp>
      <p:sp>
        <p:nvSpPr>
          <p:cNvPr id="7" name="Rounded Rectangle 6"/>
          <p:cNvSpPr/>
          <p:nvPr/>
        </p:nvSpPr>
        <p:spPr>
          <a:xfrm>
            <a:off x="3310128"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  Prepare specimen
1-click tare all</a:t>
            </a:r>
          </a:p>
        </p:txBody>
      </p:sp>
      <p:sp>
        <p:nvSpPr>
          <p:cNvPr id="8" name="Rounded Rectangle 7"/>
          <p:cNvSpPr/>
          <p:nvPr/>
        </p:nvSpPr>
        <p:spPr>
          <a:xfrm>
            <a:off x="6254496"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SF3  Settings / recipes
reuse a whole setup</a:t>
            </a:r>
          </a:p>
        </p:txBody>
      </p:sp>
      <p:sp>
        <p:nvSpPr>
          <p:cNvPr id="9" name="Rounded Rectangle 8"/>
          <p:cNvSpPr/>
          <p:nvPr/>
        </p:nvSpPr>
        <p:spPr>
          <a:xfrm>
            <a:off x="9198864"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SF4  Generate report
1-click PDF + PNG</a:t>
            </a:r>
          </a:p>
        </p:txBody>
      </p:sp>
      <p:sp>
        <p:nvSpPr>
          <p:cNvPr id="10" name="Rounded Rectangle 9"/>
          <p:cNvSpPr/>
          <p:nvPr/>
        </p:nvSpPr>
        <p:spPr>
          <a:xfrm>
            <a:off x="365760"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SF5  Auto-stop at fracture
halts on collapse</a:t>
            </a:r>
          </a:p>
        </p:txBody>
      </p:sp>
      <p:sp>
        <p:nvSpPr>
          <p:cNvPr id="11" name="Rounded Rectangle 10"/>
          <p:cNvSpPr/>
          <p:nvPr/>
        </p:nvSpPr>
        <p:spPr>
          <a:xfrm>
            <a:off x="3310128"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SF6  Strain-rate fracture
constant dε/dt</a:t>
            </a:r>
          </a:p>
        </p:txBody>
      </p:sp>
      <p:sp>
        <p:nvSpPr>
          <p:cNvPr id="12" name="Rounded Rectangle 11"/>
          <p:cNvSpPr/>
          <p:nvPr/>
        </p:nvSpPr>
        <p:spPr>
          <a:xfrm>
            <a:off x="6254496"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SF7  Stall guard
halts a frozen motor</a:t>
            </a:r>
          </a:p>
        </p:txBody>
      </p:sp>
      <p:sp>
        <p:nvSpPr>
          <p:cNvPr id="13" name="Rounded Rectangle 12"/>
          <p:cNvSpPr/>
          <p:nvPr/>
        </p:nvSpPr>
        <p:spPr>
          <a:xfrm>
            <a:off x="9198864"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SF8  Release load
safe return to true 0</a:t>
            </a:r>
          </a:p>
        </p:txBody>
      </p:sp>
      <p:sp>
        <p:nvSpPr>
          <p:cNvPr id="14" name="Rounded Rectangle 13"/>
          <p:cNvSpPr/>
          <p:nvPr/>
        </p:nvSpPr>
        <p:spPr>
          <a:xfrm>
            <a:off x="365760"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SF9  6 closed-loop protocols
cyclic…prog-cyclic→fracture</a:t>
            </a:r>
          </a:p>
        </p:txBody>
      </p:sp>
      <p:sp>
        <p:nvSpPr>
          <p:cNvPr id="15" name="Rounded Rectangle 14"/>
          <p:cNvSpPr/>
          <p:nvPr/>
        </p:nvSpPr>
        <p:spPr>
          <a:xfrm>
            <a:off x="3310128"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SF10  Auto-preload
0.2→0.1→0.02 mm/s</a:t>
            </a:r>
          </a:p>
        </p:txBody>
      </p:sp>
      <p:sp>
        <p:nvSpPr>
          <p:cNvPr id="16" name="Rounded Rectangle 15"/>
          <p:cNvSpPr/>
          <p:nvPr/>
        </p:nvSpPr>
        <p:spPr>
          <a:xfrm>
            <a:off x="6254496"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SF11  Auto-metadata link
capture ↔ CSV, by overlap</a:t>
            </a:r>
          </a:p>
        </p:txBody>
      </p:sp>
      <p:sp>
        <p:nvSpPr>
          <p:cNvPr id="17" name="Rounded Rectangle 16"/>
          <p:cNvSpPr/>
          <p:nvPr/>
        </p:nvSpPr>
        <p:spPr>
          <a:xfrm>
            <a:off x="9198864" y="3456432"/>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SF12  DIC auto-calibrate
sweeps exposure × threshold</a:t>
            </a:r>
          </a:p>
        </p:txBody>
      </p:sp>
      <p:sp>
        <p:nvSpPr>
          <p:cNvPr id="18" name="Rounded Rectangle 17"/>
          <p:cNvSpPr/>
          <p:nvPr/>
        </p:nvSpPr>
        <p:spPr>
          <a:xfrm>
            <a:off x="365760"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SF13  Guided wizard
12 steps, optional, off by default</a:t>
            </a:r>
          </a:p>
        </p:txBody>
      </p:sp>
      <p:sp>
        <p:nvSpPr>
          <p:cNvPr id="19" name="Rounded Rectangle 18"/>
          <p:cNvSpPr/>
          <p:nvPr/>
        </p:nvSpPr>
        <p:spPr>
          <a:xfrm>
            <a:off x="3310128" y="4443984"/>
            <a:ext cx="2743200" cy="914400"/>
          </a:xfrm>
          <a:prstGeom prst="roundRect">
            <a:avLst/>
          </a:prstGeom>
          <a:solidFill>
            <a:srgbClr val="FFF3CD"/>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000000"/>
                </a:solidFill>
                <a:latin typeface="Calibri"/>
              </a:rPr>
              <a:t>SF14  Poisson / true Cauchy
optics-blocked, not code</a:t>
            </a:r>
          </a:p>
        </p:txBody>
      </p:sp>
      <p:sp>
        <p:nvSpPr>
          <p:cNvPr id="20" name="Rounded Rectangle 19"/>
          <p:cNvSpPr/>
          <p:nvPr/>
        </p:nvSpPr>
        <p:spPr>
          <a:xfrm>
            <a:off x="6254496"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SF15  Test registry
every run + force anchor</a:t>
            </a:r>
          </a:p>
        </p:txBody>
      </p:sp>
      <p:sp>
        <p:nvSpPr>
          <p:cNvPr id="21" name="Rounded Rectangle 20"/>
          <p:cNvSpPr/>
          <p:nvPr/>
        </p:nvSpPr>
        <p:spPr>
          <a:xfrm>
            <a:off x="9198864"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SF16  Dead-DIC guard + backstops
0.2 s freeze / 1.0 s halt</a:t>
            </a:r>
          </a:p>
        </p:txBody>
      </p:sp>
      <p:sp>
        <p:nvSpPr>
          <p:cNvPr id="22" name="Rounded Rectangle 21"/>
          <p:cNvSpPr/>
          <p:nvPr/>
        </p:nvSpPr>
        <p:spPr>
          <a:xfrm>
            <a:off x="365760"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SF18  Live Px₀ overlay
frozen vs live pair, on the feed</a:t>
            </a:r>
          </a:p>
        </p:txBody>
      </p:sp>
      <p:sp>
        <p:nvSpPr>
          <p:cNvPr id="23" name="Rounded Rectangle 22"/>
          <p:cNvSpPr/>
          <p:nvPr/>
        </p:nvSpPr>
        <p:spPr>
          <a:xfrm>
            <a:off x="3310128"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SF19  Video + image capture
PNG + 3 AVI styles, 0 dropped</a:t>
            </a:r>
          </a:p>
        </p:txBody>
      </p:sp>
      <p:sp>
        <p:nvSpPr>
          <p:cNvPr id="24" name="Rounded Rectangle 23"/>
          <p:cNvSpPr/>
          <p:nvPr/>
        </p:nvSpPr>
        <p:spPr>
          <a:xfrm>
            <a:off x="6254496"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SF20  DIC post-processing
measure any recorded video</a:t>
            </a:r>
          </a:p>
        </p:txBody>
      </p:sp>
      <p:sp>
        <p:nvSpPr>
          <p:cNvPr id="25" name="Rounded Rectangle 24"/>
          <p:cNvSpPr/>
          <p:nvPr/>
        </p:nvSpPr>
        <p:spPr>
          <a:xfrm>
            <a:off x="9198864" y="5431536"/>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SF21  Noise capture
the instrument at rest</a:t>
            </a:r>
          </a:p>
        </p:txBody>
      </p:sp>
      <p:sp>
        <p:nvSpPr>
          <p:cNvPr id="26" name="TextBox 2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retired the day it was carded — a developer-only sim harness is not operator-facing. Four safety layers on every driven test: load-collapse · stall guard · 10 kN / 30 mm · dead-DIC freeze.</a:t>
            </a:r>
          </a:p>
        </p:txBody>
      </p:sp>
      <p:sp>
        <p:nvSpPr>
          <p:cNvPr id="27" name="TextBox 2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10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10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(p221-224).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suspected at the time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  ← this one</a:t>
            </a:r>
          </a:p>
        </p:txBody>
      </p:sp>
      <p:sp>
        <p:nvSpPr>
          <p:cNvPr id="12" name="Rectangle 11"/>
          <p:cNvSpPr/>
          <p:nvPr/>
        </p:nvSpPr>
        <p:spPr>
          <a:xfrm>
            <a:off x="365760" y="4800600"/>
            <a:ext cx="11475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SUPERSEDED — see p183. It was the fourth cause: the load holders had worked loose and the crossheads sat out of alignment. Fixed; the rig now pulls 3.5 kN.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and on the SAME DAY: S15 stalled 2.6 kN but S16 fractured 3.8 kN. Read as day-to-day drift at the time — it was specimen-to-specimen, i.e. the remount.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SUPERSEDED (next slide) — the jitter was BINDING, not a torque limit. The stall guard still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RESOLVED — THE “TORQUE CEILING” WAS A CROSSHEAD MISALIGNMENT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The load holders had worked loose, letting the crossheads sit out of alignment. The motor was spending its torque on binding instead of on the specimen. Re-aligned and re-tightened, the rig pulls 3.5 kN with no stutter.</a:t>
            </a:r>
          </a:p>
        </p:txBody>
      </p:sp>
      <p:sp>
        <p:nvSpPr>
          <p:cNvPr id="6" name="Rounded Rectangle 5"/>
          <p:cNvSpPr/>
          <p:nvPr/>
        </p:nvSpPr>
        <p:spPr>
          <a:xfrm>
            <a:off x="365760"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Loose load holders</a:t>
            </a:r>
          </a:p>
          <a:p>
            <a:pPr algn="ctr"/>
            <a:r>
              <a:rPr sz="950">
                <a:solidFill>
                  <a:srgbClr val="000000"/>
                </a:solidFill>
                <a:latin typeface="Calibri"/>
              </a:rPr>
              <a:t>ROOT CAUSE</a:t>
            </a:r>
          </a:p>
        </p:txBody>
      </p:sp>
      <p:sp>
        <p:nvSpPr>
          <p:cNvPr id="7" name="Rounded Rectangle 6"/>
          <p:cNvSpPr/>
          <p:nvPr/>
        </p:nvSpPr>
        <p:spPr>
          <a:xfrm>
            <a:off x="3310128"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3.5 kN, no stutter</a:t>
            </a:r>
          </a:p>
          <a:p>
            <a:pPr algn="ctr"/>
            <a:r>
              <a:rPr sz="950">
                <a:solidFill>
                  <a:srgbClr val="000000"/>
                </a:solidFill>
                <a:latin typeface="Calibri"/>
              </a:rPr>
              <a:t>AFTER THE FIX</a:t>
            </a:r>
          </a:p>
        </p:txBody>
      </p:sp>
      <p:sp>
        <p:nvSpPr>
          <p:cNvPr id="8" name="Rounded Rectangle 7"/>
          <p:cNvSpPr/>
          <p:nvPr/>
        </p:nvSpPr>
        <p:spPr>
          <a:xfrm>
            <a:off x="6254496" y="1572768"/>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~3.7 kN</a:t>
            </a:r>
          </a:p>
          <a:p>
            <a:pPr algn="ctr"/>
            <a:r>
              <a:rPr sz="950">
                <a:solidFill>
                  <a:srgbClr val="000000"/>
                </a:solidFill>
                <a:latin typeface="Calibri"/>
              </a:rPr>
              <a:t>100 % FULL-AREA NEEDS</a:t>
            </a:r>
          </a:p>
        </p:txBody>
      </p:sp>
      <p:sp>
        <p:nvSpPr>
          <p:cNvPr id="9" name="Rounded Rectangle 8"/>
          <p:cNvSpPr/>
          <p:nvPr/>
        </p:nvSpPr>
        <p:spPr>
          <a:xfrm>
            <a:off x="9198864" y="1572768"/>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2.6 kN</a:t>
            </a:r>
          </a:p>
          <a:p>
            <a:pPr algn="ctr"/>
            <a:r>
              <a:rPr sz="950">
                <a:solidFill>
                  <a:srgbClr val="000000"/>
                </a:solidFill>
                <a:latin typeface="Calibri"/>
              </a:rPr>
              <a:t>SUPPOSED CEILING</a:t>
            </a:r>
          </a:p>
        </p:txBody>
      </p:sp>
      <p:sp>
        <p:nvSpPr>
          <p:cNvPr id="10" name="TextBox 9"/>
          <p:cNvSpPr txBox="1"/>
          <p:nvPr/>
        </p:nvSpPr>
        <p:spPr>
          <a:xfrm>
            <a:off x="365760" y="267004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data already said “mechanical” — before the fault was found</a:t>
            </a:r>
          </a:p>
        </p:txBody>
      </p:sp>
      <p:sp>
        <p:nvSpPr>
          <p:cNvPr id="11" name="TextBox 10"/>
          <p:cNvSpPr txBox="1"/>
          <p:nvPr/>
        </p:nvSpPr>
        <p:spPr>
          <a:xfrm>
            <a:off x="365760" y="3017520"/>
            <a:ext cx="5715000" cy="1874519"/>
          </a:xfrm>
          <a:prstGeom prst="rect">
            <a:avLst/>
          </a:prstGeom>
          <a:noFill/>
        </p:spPr>
        <p:txBody>
          <a:bodyPr wrap="square" lIns="45720" rIns="45720" tIns="18288" bIns="18288" anchor="t">
            <a:spAutoFit/>
          </a:bodyPr>
          <a:lstStyle/>
          <a:p>
            <a:pPr algn="l"/>
            <a:r>
              <a:rPr sz="1100" b="0" i="0">
                <a:solidFill>
                  <a:srgbClr val="000000"/>
                </a:solidFill>
                <a:latin typeface="Calibri"/>
              </a:rPr>
              <a:t>•  The same machine has fractured 100 % infill at 177–3826 N on 16 separate specimens over three months (mean 3009 ± 1408 N, CV 46.8 %).
•  That is 13 of 16 runs straight THROUGH a 2.6 kN “ceiling”. A ceiling ten runs walk past is not a ceiling.
•  Decisive: S15 stalled at 2.6 kN and S16 fractured at 3792 N on the SAME DAY (2026-07-28) — +46 %, same rig, same 0.10 mm/s.</a:t>
            </a:r>
          </a:p>
        </p:txBody>
      </p:sp>
      <p:sp>
        <p:nvSpPr>
          <p:cNvPr id="12" name="TextBox 11"/>
          <p:cNvSpPr txBox="1"/>
          <p:nvPr/>
        </p:nvSpPr>
        <p:spPr>
          <a:xfrm>
            <a:off x="6355080" y="26700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retires — the four ranked causes (p201)</a:t>
            </a:r>
          </a:p>
        </p:txBody>
      </p:sp>
      <p:graphicFrame>
        <p:nvGraphicFramePr>
          <p:cNvPr id="13" name="Table 12"/>
          <p:cNvGraphicFramePr>
            <a:graphicFrameLocks noGrp="1"/>
          </p:cNvGraphicFramePr>
          <p:nvPr/>
        </p:nvGraphicFramePr>
        <p:xfrm>
          <a:off x="6355080" y="3017520"/>
          <a:ext cx="5486400" cy="1783080"/>
        </p:xfrm>
        <a:graphic>
          <a:graphicData uri="http://schemas.openxmlformats.org/drawingml/2006/table">
            <a:tbl>
              <a:tblPr firstRow="1" bandRow="1">
                <a:tableStyleId>{5C22544A-7EE6-4342-B048-85BDC9FD1C3A}</a:tableStyleId>
              </a:tblPr>
              <a:tblGrid>
                <a:gridCol w="3657600"/>
                <a:gridCol w="1828800"/>
              </a:tblGrid>
              <a:tr h="356616">
                <a:tc>
                  <a:txBody>
                    <a:bodyPr lIns="54864" rIns="54864" tIns="18288" bIns="18288" wrap="square" anchor="ctr"/>
                    <a:lstStyle/>
                    <a:p>
                      <a:pPr algn="l"/>
                      <a:r>
                        <a:rPr sz="1000" b="1">
                          <a:solidFill>
                            <a:srgbClr val="FFFFFF"/>
                          </a:solidFill>
                          <a:latin typeface="Calibri"/>
                        </a:rPr>
                        <a:t>Ranked cause</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356616">
                <a:tc>
                  <a:txBody>
                    <a:bodyPr lIns="54864" rIns="54864" tIns="18288" bIns="18288" wrap="square" anchor="ctr"/>
                    <a:lstStyle/>
                    <a:p>
                      <a:pPr algn="l"/>
                      <a:r>
                        <a:rPr sz="1000" b="0">
                          <a:solidFill>
                            <a:srgbClr val="000000"/>
                          </a:solidFill>
                          <a:latin typeface="Calibri"/>
                        </a:rPr>
                        <a:t>1  Driver current (Vref) too low</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2  Driver thermal derating</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3  PSU voltage sag under load</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4  Mechanical binding  (ranked LAST)</a:t>
                      </a:r>
                    </a:p>
                  </a:txBody>
                  <a:tcPr/>
                </a:tc>
                <a:tc>
                  <a:txBody>
                    <a:bodyPr lIns="54864" rIns="54864" tIns="18288" bIns="18288" wrap="square" anchor="ctr"/>
                    <a:lstStyle/>
                    <a:p>
                      <a:pPr algn="l"/>
                      <a:r>
                        <a:rPr sz="1000" b="0">
                          <a:solidFill>
                            <a:srgbClr val="000000"/>
                          </a:solidFill>
                          <a:latin typeface="Calibri"/>
                        </a:rPr>
                        <a:t>CONFIRMED</a:t>
                      </a:r>
                    </a:p>
                  </a:txBody>
                  <a:tcPr/>
                </a:tc>
              </a:tr>
            </a:tbl>
          </a:graphicData>
        </a:graphic>
      </p:graphicFrame>
      <p:sp>
        <p:nvSpPr>
          <p:cNvPr id="14" name="TextBox 13"/>
          <p:cNvSpPr txBox="1"/>
          <p:nvPr/>
        </p:nvSpPr>
        <p:spPr>
          <a:xfrm>
            <a:off x="365760" y="491947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only the mechanical cause fits</a:t>
            </a:r>
          </a:p>
        </p:txBody>
      </p:sp>
      <p:sp>
        <p:nvSpPr>
          <p:cNvPr id="15" name="TextBox 14"/>
          <p:cNvSpPr txBox="1"/>
          <p:nvPr/>
        </p:nvSpPr>
        <p:spPr>
          <a:xfrm>
            <a:off x="365760" y="5248656"/>
            <a:ext cx="11475720" cy="512064"/>
          </a:xfrm>
          <a:prstGeom prst="rect">
            <a:avLst/>
          </a:prstGeom>
          <a:noFill/>
        </p:spPr>
        <p:txBody>
          <a:bodyPr wrap="square" lIns="45720" rIns="45720" tIns="18288" bIns="18288" anchor="t">
            <a:spAutoFit/>
          </a:bodyPr>
          <a:lstStyle/>
          <a:p>
            <a:pPr algn="l"/>
            <a:r>
              <a:rPr sz="1100" b="0" i="0">
                <a:solidFill>
                  <a:srgbClr val="000000"/>
                </a:solidFill>
                <a:latin typeface="Calibri"/>
              </a:rPr>
              <a:t>Vref is a setting — it does not change between two specimens. Thermal derating gets WORSE through a session, not 46 % better on the next pull. PSU sag scales with load, so it cannot let a HIGHER load through. Binding is the only candidate that is intermittent, and it changes exactly when the specimen is remounted — which is when alignment changes.</a:t>
            </a:r>
          </a:p>
        </p:txBody>
      </p:sp>
      <p:sp>
        <p:nvSpPr>
          <p:cNvPr id="16" name="Rectangle 15"/>
          <p:cNvSpPr/>
          <p:nvPr/>
        </p:nvSpPr>
        <p:spPr>
          <a:xfrm>
            <a:off x="365760" y="5779008"/>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SUPERSEDES p181 and p182 — the 50 %-specimen workaround is no longer needed. 100 % full-area specimens fracture normally at ~3.0 kN.</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hardware purchase and not a software change — a fastener. The stall guard and the 10 kN / 30 mm backstops stay exactly as they are; they were never the problem.</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TESTS AFTER THE REALIGNMENT — PPD-UTM Mk II, THE RELIABLE SET</a:t>
            </a:r>
          </a:p>
        </p:txBody>
      </p:sp>
      <p:sp>
        <p:nvSpPr>
          <p:cNvPr id="5" name="TextBox 4"/>
          <p:cNvSpPr txBox="1"/>
          <p:nvPr/>
        </p:nvSpPr>
        <p:spPr>
          <a:xfrm>
            <a:off x="457200" y="1042415"/>
            <a:ext cx="11338560" cy="603504"/>
          </a:xfrm>
          <a:prstGeom prst="rect">
            <a:avLst/>
          </a:prstGeom>
          <a:noFill/>
        </p:spPr>
        <p:txBody>
          <a:bodyPr wrap="square" lIns="45720" rIns="45720" tIns="18288" bIns="18288" anchor="t">
            <a:spAutoFit/>
          </a:bodyPr>
          <a:lstStyle/>
          <a:p>
            <a:pPr algn="l"/>
            <a:r>
              <a:rPr sz="1150" b="0" i="1">
                <a:solidFill>
                  <a:srgbClr val="707070"/>
                </a:solidFill>
                <a:latin typeface="Calibri"/>
              </a:rPr>
              <a:t>“Mk” is MARK — the engineering convention for successive configurations of ONE machine, not for two different machines. PPD-UTM Mk I is this rig up to 2026-08-12; PPD-UTM Mk II is the SAME rig after its crossheads were realigned and its load holders re-tightened. No other part of it changed, and no recalibration of the load cell or the optics was involved.
Every run below is Mk II. Both stalls on record fall BEFORE that line; none after.</a:t>
            </a:r>
          </a:p>
        </p:txBody>
      </p:sp>
      <p:graphicFrame>
        <p:nvGraphicFramePr>
          <p:cNvPr id="6" name="Table 5"/>
          <p:cNvGraphicFramePr>
            <a:graphicFrameLocks noGrp="1"/>
          </p:cNvGraphicFramePr>
          <p:nvPr/>
        </p:nvGraphicFramePr>
        <p:xfrm>
          <a:off x="365760" y="1682496"/>
          <a:ext cx="11475720" cy="3346704"/>
        </p:xfrm>
        <a:graphic>
          <a:graphicData uri="http://schemas.openxmlformats.org/drawingml/2006/table">
            <a:tbl>
              <a:tblPr firstRow="1" bandRow="1">
                <a:tableStyleId>{5C22544A-7EE6-4342-B048-85BDC9FD1C3A}</a:tableStyleId>
              </a:tblPr>
              <a:tblGrid>
                <a:gridCol w="960120"/>
                <a:gridCol w="1143000"/>
                <a:gridCol w="1600200"/>
                <a:gridCol w="3520440"/>
                <a:gridCol w="960120"/>
                <a:gridCol w="1051560"/>
                <a:gridCol w="1051560"/>
                <a:gridCol w="1188720"/>
              </a:tblGrid>
              <a:tr h="223113">
                <a:tc>
                  <a:txBody>
                    <a:bodyPr lIns="54864" rIns="54864" tIns="18288" bIns="18288" wrap="square" anchor="ctr"/>
                    <a:lstStyle/>
                    <a:p>
                      <a:pPr algn="l"/>
                      <a:r>
                        <a:rPr sz="900" b="1">
                          <a:solidFill>
                            <a:srgbClr val="FFFFFF"/>
                          </a:solidFill>
                          <a:latin typeface="Calibri"/>
                        </a:rPr>
                        <a:t>Specimen</a:t>
                      </a:r>
                    </a:p>
                  </a:txBody>
                  <a:tcPr>
                    <a:solidFill>
                      <a:srgbClr val="143D2F"/>
                    </a:solidFill>
                  </a:tcPr>
                </a:tc>
                <a:tc>
                  <a:txBody>
                    <a:bodyPr lIns="54864" rIns="54864" tIns="18288" bIns="18288" wrap="square" anchor="ctr"/>
                    <a:lstStyle/>
                    <a:p>
                      <a:pPr algn="l"/>
                      <a:r>
                        <a:rPr sz="900" b="1">
                          <a:solidFill>
                            <a:srgbClr val="FFFFFF"/>
                          </a:solidFill>
                          <a:latin typeface="Calibri"/>
                        </a:rPr>
                        <a:t>Date</a:t>
                      </a:r>
                    </a:p>
                  </a:txBody>
                  <a:tcPr>
                    <a:solidFill>
                      <a:srgbClr val="143D2F"/>
                    </a:solidFill>
                  </a:tcPr>
                </a:tc>
                <a:tc>
                  <a:txBody>
                    <a:bodyPr lIns="54864" rIns="54864" tIns="18288" bIns="18288" wrap="square" anchor="ctr"/>
                    <a:lstStyle/>
                    <a:p>
                      <a:pPr algn="l"/>
                      <a:r>
                        <a:rPr sz="900" b="1">
                          <a:solidFill>
                            <a:srgbClr val="FFFFFF"/>
                          </a:solidFill>
                          <a:latin typeface="Calibri"/>
                        </a:rPr>
                        <a:t>Material</a:t>
                      </a:r>
                    </a:p>
                  </a:txBody>
                  <a:tcPr>
                    <a:solidFill>
                      <a:srgbClr val="143D2F"/>
                    </a:solidFill>
                  </a:tcPr>
                </a:tc>
                <a:tc>
                  <a:txBody>
                    <a:bodyPr lIns="54864" rIns="54864" tIns="18288" bIns="18288" wrap="square" anchor="ctr"/>
                    <a:lstStyle/>
                    <a:p>
                      <a:pPr algn="l"/>
                      <a:r>
                        <a:rPr sz="900" b="1">
                          <a:solidFill>
                            <a:srgbClr val="FFFFFF"/>
                          </a:solidFill>
                          <a:latin typeface="Calibri"/>
                        </a:rPr>
                        <a:t>What it was for</a:t>
                      </a:r>
                    </a:p>
                  </a:txBody>
                  <a:tcPr>
                    <a:solidFill>
                      <a:srgbClr val="143D2F"/>
                    </a:solidFill>
                  </a:tcPr>
                </a:tc>
                <a:tc>
                  <a:txBody>
                    <a:bodyPr lIns="54864" rIns="54864" tIns="18288" bIns="18288" wrap="square" anchor="ctr"/>
                    <a:lstStyle/>
                    <a:p>
                      <a:pPr algn="l"/>
                      <a:r>
                        <a:rPr sz="900" b="1">
                          <a:solidFill>
                            <a:srgbClr val="FFFFFF"/>
                          </a:solidFill>
                          <a:latin typeface="Calibri"/>
                        </a:rPr>
                        <a:t>Peak</a:t>
                      </a:r>
                    </a:p>
                  </a:txBody>
                  <a:tcPr>
                    <a:solidFill>
                      <a:srgbClr val="143D2F"/>
                    </a:solidFill>
                  </a:tcPr>
                </a:tc>
                <a:tc>
                  <a:txBody>
                    <a:bodyPr lIns="54864" rIns="54864" tIns="18288" bIns="18288" wrap="square" anchor="ctr"/>
                    <a:lstStyle/>
                    <a:p>
                      <a:pPr algn="l"/>
                      <a:r>
                        <a:rPr sz="900" b="1">
                          <a:solidFill>
                            <a:srgbClr val="FFFFFF"/>
                          </a:solidFill>
                          <a:latin typeface="Calibri"/>
                        </a:rPr>
                        <a:t>UTS</a:t>
                      </a:r>
                    </a:p>
                  </a:txBody>
                  <a:tcPr>
                    <a:solidFill>
                      <a:srgbClr val="143D2F"/>
                    </a:solidFill>
                  </a:tcPr>
                </a:tc>
                <a:tc>
                  <a:txBody>
                    <a:bodyPr lIns="54864" rIns="54864" tIns="18288" bIns="18288" wrap="square" anchor="ctr"/>
                    <a:lstStyle/>
                    <a:p>
                      <a:pPr algn="l"/>
                      <a:r>
                        <a:rPr sz="900" b="1">
                          <a:solidFill>
                            <a:srgbClr val="FFFFFF"/>
                          </a:solidFill>
                          <a:latin typeface="Calibri"/>
                        </a:rPr>
                        <a:t>E</a:t>
                      </a:r>
                    </a:p>
                  </a:txBody>
                  <a:tcPr>
                    <a:solidFill>
                      <a:srgbClr val="143D2F"/>
                    </a:solidFill>
                  </a:tcPr>
                </a:tc>
                <a:tc>
                  <a:txBody>
                    <a:bodyPr lIns="54864" rIns="54864" tIns="18288" bIns="18288" wrap="square" anchor="ctr"/>
                    <a:lstStyle/>
                    <a:p>
                      <a:pPr algn="l"/>
                      <a:r>
                        <a:rPr sz="900" b="1">
                          <a:solidFill>
                            <a:srgbClr val="FFFFFF"/>
                          </a:solidFill>
                          <a:latin typeface="Calibri"/>
                        </a:rPr>
                        <a:t>Outcome</a:t>
                      </a:r>
                    </a:p>
                  </a:txBody>
                  <a:tcPr>
                    <a:solidFill>
                      <a:srgbClr val="143D2F"/>
                    </a:solidFill>
                  </a:tcPr>
                </a:tc>
              </a:tr>
              <a:tr h="223113">
                <a:tc>
                  <a:txBody>
                    <a:bodyPr lIns="54864" rIns="54864" tIns="18288" bIns="18288" wrap="square" anchor="ctr"/>
                    <a:lstStyle/>
                    <a:p>
                      <a:pPr algn="l"/>
                      <a:r>
                        <a:rPr sz="850" b="0">
                          <a:solidFill>
                            <a:srgbClr val="000000"/>
                          </a:solidFill>
                          <a:latin typeface="Calibri"/>
                        </a:rPr>
                        <a:t>S24</a:t>
                      </a:r>
                    </a:p>
                  </a:txBody>
                  <a:tcPr/>
                </a:tc>
                <a:tc>
                  <a:txBody>
                    <a:bodyPr lIns="54864" rIns="54864" tIns="18288" bIns="18288" wrap="square" anchor="ctr"/>
                    <a:lstStyle/>
                    <a:p>
                      <a:pPr algn="l"/>
                      <a:r>
                        <a:rPr sz="850" b="0">
                          <a:solidFill>
                            <a:srgbClr val="000000"/>
                          </a:solidFill>
                          <a:latin typeface="Calibri"/>
                        </a:rPr>
                        <a:t>2026-08-14</a:t>
                      </a:r>
                    </a:p>
                  </a:txBody>
                  <a:tcPr/>
                </a:tc>
                <a:tc>
                  <a:txBody>
                    <a:bodyPr lIns="54864" rIns="54864" tIns="18288" bIns="18288" wrap="square" anchor="ctr"/>
                    <a:lstStyle/>
                    <a:p>
                      <a:pPr algn="l"/>
                      <a:r>
                        <a:rPr sz="850" b="0">
                          <a:solidFill>
                            <a:srgbClr val="000000"/>
                          </a:solidFill>
                          <a:latin typeface="Calibri"/>
                        </a:rPr>
                        <a:t>100 % white PLA</a:t>
                      </a:r>
                    </a:p>
                  </a:txBody>
                  <a:tcPr/>
                </a:tc>
                <a:tc>
                  <a:txBody>
                    <a:bodyPr lIns="54864" rIns="54864" tIns="18288" bIns="18288" wrap="square" anchor="ctr"/>
                    <a:lstStyle/>
                    <a:p>
                      <a:pPr algn="l"/>
                      <a:r>
                        <a:rPr sz="850" b="0">
                          <a:solidFill>
                            <a:srgbClr val="000000"/>
                          </a:solidFill>
                          <a:latin typeface="Calibri"/>
                        </a:rPr>
                        <a:t>Frame capture VC1</a:t>
                      </a:r>
                    </a:p>
                  </a:txBody>
                  <a:tcPr/>
                </a:tc>
                <a:tc>
                  <a:txBody>
                    <a:bodyPr lIns="54864" rIns="54864" tIns="18288" bIns="18288" wrap="square" anchor="ctr"/>
                    <a:lstStyle/>
                    <a:p>
                      <a:pPr algn="l"/>
                      <a:r>
                        <a:rPr sz="850" b="0">
                          <a:solidFill>
                            <a:srgbClr val="000000"/>
                          </a:solidFill>
                          <a:latin typeface="Calibri"/>
                        </a:rPr>
                        <a:t>3718 N</a:t>
                      </a:r>
                    </a:p>
                  </a:txBody>
                  <a:tcPr/>
                </a:tc>
                <a:tc>
                  <a:txBody>
                    <a:bodyPr lIns="54864" rIns="54864" tIns="18288" bIns="18288" wrap="square" anchor="ctr"/>
                    <a:lstStyle/>
                    <a:p>
                      <a:pPr algn="l"/>
                      <a:r>
                        <a:rPr sz="850" b="0">
                          <a:solidFill>
                            <a:srgbClr val="000000"/>
                          </a:solidFill>
                          <a:latin typeface="Calibri"/>
                        </a:rPr>
                        <a:t>46.5 MPa</a:t>
                      </a:r>
                    </a:p>
                  </a:txBody>
                  <a:tcPr/>
                </a:tc>
                <a:tc>
                  <a:txBody>
                    <a:bodyPr lIns="54864" rIns="54864" tIns="18288" bIns="18288" wrap="square" anchor="ctr"/>
                    <a:lstStyle/>
                    <a:p>
                      <a:pPr algn="l"/>
                      <a:r>
                        <a:rPr sz="850" b="0">
                          <a:solidFill>
                            <a:srgbClr val="000000"/>
                          </a:solidFill>
                          <a:latin typeface="Calibri"/>
                        </a:rPr>
                        <a:t>3.00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S12</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100 % BLACK PLA</a:t>
                      </a:r>
                    </a:p>
                  </a:txBody>
                  <a:tcPr/>
                </a:tc>
                <a:tc>
                  <a:txBody>
                    <a:bodyPr lIns="54864" rIns="54864" tIns="18288" bIns="18288" wrap="square" anchor="ctr"/>
                    <a:lstStyle/>
                    <a:p>
                      <a:pPr algn="l"/>
                      <a:r>
                        <a:rPr sz="850" b="0">
                          <a:solidFill>
                            <a:srgbClr val="000000"/>
                          </a:solidFill>
                          <a:latin typeface="Calibri"/>
                        </a:rPr>
                        <a:t>Black attempt VC6 — capture not filed</a:t>
                      </a:r>
                    </a:p>
                  </a:txBody>
                  <a:tcPr/>
                </a:tc>
                <a:tc>
                  <a:txBody>
                    <a:bodyPr lIns="54864" rIns="54864" tIns="18288" bIns="18288" wrap="square" anchor="ctr"/>
                    <a:lstStyle/>
                    <a:p>
                      <a:pPr algn="l"/>
                      <a:r>
                        <a:rPr sz="850" b="0">
                          <a:solidFill>
                            <a:srgbClr val="000000"/>
                          </a:solidFill>
                          <a:latin typeface="Calibri"/>
                        </a:rPr>
                        <a:t>3822 N</a:t>
                      </a:r>
                    </a:p>
                  </a:txBody>
                  <a:tcPr/>
                </a:tc>
                <a:tc>
                  <a:txBody>
                    <a:bodyPr lIns="54864" rIns="54864" tIns="18288" bIns="18288" wrap="square" anchor="ctr"/>
                    <a:lstStyle/>
                    <a:p>
                      <a:pPr algn="l"/>
                      <a:r>
                        <a:rPr sz="850" b="0">
                          <a:solidFill>
                            <a:srgbClr val="000000"/>
                          </a:solidFill>
                          <a:latin typeface="Calibri"/>
                        </a:rPr>
                        <a:t>47.8 MPa</a:t>
                      </a:r>
                    </a:p>
                  </a:txBody>
                  <a:tcPr/>
                </a:tc>
                <a:tc>
                  <a:txBody>
                    <a:bodyPr lIns="54864" rIns="54864" tIns="18288" bIns="18288" wrap="square" anchor="ctr"/>
                    <a:lstStyle/>
                    <a:p>
                      <a:pPr algn="l"/>
                      <a:r>
                        <a:rPr sz="850" b="0">
                          <a:solidFill>
                            <a:srgbClr val="000000"/>
                          </a:solidFill>
                          <a:latin typeface="Calibri"/>
                        </a:rPr>
                        <a:t>3.29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S25</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100 % white PLA</a:t>
                      </a:r>
                    </a:p>
                  </a:txBody>
                  <a:tcPr/>
                </a:tc>
                <a:tc>
                  <a:txBody>
                    <a:bodyPr lIns="54864" rIns="54864" tIns="18288" bIns="18288" wrap="square" anchor="ctr"/>
                    <a:lstStyle/>
                    <a:p>
                      <a:pPr algn="l"/>
                      <a:r>
                        <a:rPr sz="850" b="0">
                          <a:solidFill>
                            <a:srgbClr val="000000"/>
                          </a:solidFill>
                          <a:latin typeface="Calibri"/>
                        </a:rPr>
                        <a:t>Frame capture VC2 — extensometer basis</a:t>
                      </a:r>
                    </a:p>
                  </a:txBody>
                  <a:tcPr/>
                </a:tc>
                <a:tc>
                  <a:txBody>
                    <a:bodyPr lIns="54864" rIns="54864" tIns="18288" bIns="18288" wrap="square" anchor="ctr"/>
                    <a:lstStyle/>
                    <a:p>
                      <a:pPr algn="l"/>
                      <a:r>
                        <a:rPr sz="850" b="0">
                          <a:solidFill>
                            <a:srgbClr val="000000"/>
                          </a:solidFill>
                          <a:latin typeface="Calibri"/>
                        </a:rPr>
                        <a:t>3693 N</a:t>
                      </a:r>
                    </a:p>
                  </a:txBody>
                  <a:tcPr/>
                </a:tc>
                <a:tc>
                  <a:txBody>
                    <a:bodyPr lIns="54864" rIns="54864" tIns="18288" bIns="18288" wrap="square" anchor="ctr"/>
                    <a:lstStyle/>
                    <a:p>
                      <a:pPr algn="l"/>
                      <a:r>
                        <a:rPr sz="850" b="0">
                          <a:solidFill>
                            <a:srgbClr val="000000"/>
                          </a:solidFill>
                          <a:latin typeface="Calibri"/>
                        </a:rPr>
                        <a:t>46.2 MPa</a:t>
                      </a:r>
                    </a:p>
                  </a:txBody>
                  <a:tcPr/>
                </a:tc>
                <a:tc>
                  <a:txBody>
                    <a:bodyPr lIns="54864" rIns="54864" tIns="18288" bIns="18288" wrap="square" anchor="ctr"/>
                    <a:lstStyle/>
                    <a:p>
                      <a:pPr algn="l"/>
                      <a:r>
                        <a:rPr sz="850" b="0">
                          <a:solidFill>
                            <a:srgbClr val="000000"/>
                          </a:solidFill>
                          <a:latin typeface="Calibri"/>
                        </a:rPr>
                        <a:t>3.17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S26</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100 % white PLA</a:t>
                      </a:r>
                    </a:p>
                  </a:txBody>
                  <a:tcPr/>
                </a:tc>
                <a:tc>
                  <a:txBody>
                    <a:bodyPr lIns="54864" rIns="54864" tIns="18288" bIns="18288" wrap="square" anchor="ctr"/>
                    <a:lstStyle/>
                    <a:p>
                      <a:pPr algn="l"/>
                      <a:r>
                        <a:rPr sz="850" b="0">
                          <a:solidFill>
                            <a:srgbClr val="000000"/>
                          </a:solidFill>
                          <a:latin typeface="Calibri"/>
                        </a:rPr>
                        <a:t>Frame capture VC3 — extensometer basis</a:t>
                      </a:r>
                    </a:p>
                  </a:txBody>
                  <a:tcPr/>
                </a:tc>
                <a:tc>
                  <a:txBody>
                    <a:bodyPr lIns="54864" rIns="54864" tIns="18288" bIns="18288" wrap="square" anchor="ctr"/>
                    <a:lstStyle/>
                    <a:p>
                      <a:pPr algn="l"/>
                      <a:r>
                        <a:rPr sz="850" b="0">
                          <a:solidFill>
                            <a:srgbClr val="000000"/>
                          </a:solidFill>
                          <a:latin typeface="Calibri"/>
                        </a:rPr>
                        <a:t>3774 N</a:t>
                      </a:r>
                    </a:p>
                  </a:txBody>
                  <a:tcPr/>
                </a:tc>
                <a:tc>
                  <a:txBody>
                    <a:bodyPr lIns="54864" rIns="54864" tIns="18288" bIns="18288" wrap="square" anchor="ctr"/>
                    <a:lstStyle/>
                    <a:p>
                      <a:pPr algn="l"/>
                      <a:r>
                        <a:rPr sz="850" b="0">
                          <a:solidFill>
                            <a:srgbClr val="000000"/>
                          </a:solidFill>
                          <a:latin typeface="Calibri"/>
                        </a:rPr>
                        <a:t>47.2 MPa</a:t>
                      </a:r>
                    </a:p>
                  </a:txBody>
                  <a:tcPr/>
                </a:tc>
                <a:tc>
                  <a:txBody>
                    <a:bodyPr lIns="54864" rIns="54864" tIns="18288" bIns="18288" wrap="square" anchor="ctr"/>
                    <a:lstStyle/>
                    <a:p>
                      <a:pPr algn="l"/>
                      <a:r>
                        <a:rPr sz="850" b="0">
                          <a:solidFill>
                            <a:srgbClr val="000000"/>
                          </a:solidFill>
                          <a:latin typeface="Calibri"/>
                        </a:rPr>
                        <a:t>3.55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S27</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50 % white PLA</a:t>
                      </a:r>
                    </a:p>
                  </a:txBody>
                  <a:tcPr/>
                </a:tc>
                <a:tc>
                  <a:txBody>
                    <a:bodyPr lIns="54864" rIns="54864" tIns="18288" bIns="18288" wrap="square" anchor="ctr"/>
                    <a:lstStyle/>
                    <a:p>
                      <a:pPr algn="l"/>
                      <a:r>
                        <a:rPr sz="850" b="0">
                          <a:solidFill>
                            <a:srgbClr val="000000"/>
                          </a:solidFill>
                          <a:latin typeface="Calibri"/>
                        </a:rPr>
                        <a:t>50 % video pair VC4</a:t>
                      </a:r>
                    </a:p>
                  </a:txBody>
                  <a:tcPr/>
                </a:tc>
                <a:tc>
                  <a:txBody>
                    <a:bodyPr lIns="54864" rIns="54864" tIns="18288" bIns="18288" wrap="square" anchor="ctr"/>
                    <a:lstStyle/>
                    <a:p>
                      <a:pPr algn="l"/>
                      <a:r>
                        <a:rPr sz="850" b="0">
                          <a:solidFill>
                            <a:srgbClr val="000000"/>
                          </a:solidFill>
                          <a:latin typeface="Calibri"/>
                        </a:rPr>
                        <a:t>1588 N</a:t>
                      </a:r>
                    </a:p>
                  </a:txBody>
                  <a:tcPr/>
                </a:tc>
                <a:tc>
                  <a:txBody>
                    <a:bodyPr lIns="54864" rIns="54864" tIns="18288" bIns="18288" wrap="square" anchor="ctr"/>
                    <a:lstStyle/>
                    <a:p>
                      <a:pPr algn="l"/>
                      <a:r>
                        <a:rPr sz="850" b="0">
                          <a:solidFill>
                            <a:srgbClr val="000000"/>
                          </a:solidFill>
                          <a:latin typeface="Calibri"/>
                        </a:rPr>
                        <a:t>19.9 MPa</a:t>
                      </a:r>
                    </a:p>
                  </a:txBody>
                  <a:tcPr/>
                </a:tc>
                <a:tc>
                  <a:txBody>
                    <a:bodyPr lIns="54864" rIns="54864" tIns="18288" bIns="18288" wrap="square" anchor="ctr"/>
                    <a:lstStyle/>
                    <a:p>
                      <a:pPr algn="l"/>
                      <a:r>
                        <a:rPr sz="850" b="0">
                          <a:solidFill>
                            <a:srgbClr val="000000"/>
                          </a:solidFill>
                          <a:latin typeface="Calibri"/>
                        </a:rPr>
                        <a:t>1.40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S28</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50 % white PLA</a:t>
                      </a:r>
                    </a:p>
                  </a:txBody>
                  <a:tcPr/>
                </a:tc>
                <a:tc>
                  <a:txBody>
                    <a:bodyPr lIns="54864" rIns="54864" tIns="18288" bIns="18288" wrap="square" anchor="ctr"/>
                    <a:lstStyle/>
                    <a:p>
                      <a:pPr algn="l"/>
                      <a:r>
                        <a:rPr sz="850" b="0">
                          <a:solidFill>
                            <a:srgbClr val="000000"/>
                          </a:solidFill>
                          <a:latin typeface="Calibri"/>
                        </a:rPr>
                        <a:t>50 % video pair VC5</a:t>
                      </a:r>
                    </a:p>
                  </a:txBody>
                  <a:tcPr/>
                </a:tc>
                <a:tc>
                  <a:txBody>
                    <a:bodyPr lIns="54864" rIns="54864" tIns="18288" bIns="18288" wrap="square" anchor="ctr"/>
                    <a:lstStyle/>
                    <a:p>
                      <a:pPr algn="l"/>
                      <a:r>
                        <a:rPr sz="850" b="0">
                          <a:solidFill>
                            <a:srgbClr val="000000"/>
                          </a:solidFill>
                          <a:latin typeface="Calibri"/>
                        </a:rPr>
                        <a:t>1594 N</a:t>
                      </a:r>
                    </a:p>
                  </a:txBody>
                  <a:tcPr/>
                </a:tc>
                <a:tc>
                  <a:txBody>
                    <a:bodyPr lIns="54864" rIns="54864" tIns="18288" bIns="18288" wrap="square" anchor="ctr"/>
                    <a:lstStyle/>
                    <a:p>
                      <a:pPr algn="l"/>
                      <a:r>
                        <a:rPr sz="850" b="0">
                          <a:solidFill>
                            <a:srgbClr val="000000"/>
                          </a:solidFill>
                          <a:latin typeface="Calibri"/>
                        </a:rPr>
                        <a:t>19.9 MPa</a:t>
                      </a:r>
                    </a:p>
                  </a:txBody>
                  <a:tcPr/>
                </a:tc>
                <a:tc>
                  <a:txBody>
                    <a:bodyPr lIns="54864" rIns="54864" tIns="18288" bIns="18288" wrap="square" anchor="ctr"/>
                    <a:lstStyle/>
                    <a:p>
                      <a:pPr algn="l"/>
                      <a:r>
                        <a:rPr sz="850" b="0">
                          <a:solidFill>
                            <a:srgbClr val="000000"/>
                          </a:solidFill>
                          <a:latin typeface="Calibri"/>
                        </a:rPr>
                        <a:t>1.28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S13</a:t>
                      </a:r>
                    </a:p>
                  </a:txBody>
                  <a:tcPr/>
                </a:tc>
                <a:tc>
                  <a:txBody>
                    <a:bodyPr lIns="54864" rIns="54864" tIns="18288" bIns="18288" wrap="square" anchor="ctr"/>
                    <a:lstStyle/>
                    <a:p>
                      <a:pPr algn="l"/>
                      <a:r>
                        <a:rPr sz="850" b="0">
                          <a:solidFill>
                            <a:srgbClr val="000000"/>
                          </a:solidFill>
                          <a:latin typeface="Calibri"/>
                        </a:rPr>
                        <a:t>2026-08-18</a:t>
                      </a:r>
                    </a:p>
                  </a:txBody>
                  <a:tcPr/>
                </a:tc>
                <a:tc>
                  <a:txBody>
                    <a:bodyPr lIns="54864" rIns="54864" tIns="18288" bIns="18288" wrap="square" anchor="ctr"/>
                    <a:lstStyle/>
                    <a:p>
                      <a:pPr algn="l"/>
                      <a:r>
                        <a:rPr sz="850" b="0">
                          <a:solidFill>
                            <a:srgbClr val="000000"/>
                          </a:solidFill>
                          <a:latin typeface="Calibri"/>
                        </a:rPr>
                        <a:t>100 % BLACK PLA</a:t>
                      </a:r>
                    </a:p>
                  </a:txBody>
                  <a:tcPr/>
                </a:tc>
                <a:tc>
                  <a:txBody>
                    <a:bodyPr lIns="54864" rIns="54864" tIns="18288" bIns="18288" wrap="square" anchor="ctr"/>
                    <a:lstStyle/>
                    <a:p>
                      <a:pPr algn="l"/>
                      <a:r>
                        <a:rPr sz="850" b="0">
                          <a:solidFill>
                            <a:srgbClr val="000000"/>
                          </a:solidFill>
                          <a:latin typeface="Calibri"/>
                        </a:rPr>
                        <a:t>Black preset VALIDATED VC7</a:t>
                      </a:r>
                    </a:p>
                  </a:txBody>
                  <a:tcPr/>
                </a:tc>
                <a:tc>
                  <a:txBody>
                    <a:bodyPr lIns="54864" rIns="54864" tIns="18288" bIns="18288" wrap="square" anchor="ctr"/>
                    <a:lstStyle/>
                    <a:p>
                      <a:pPr algn="l"/>
                      <a:r>
                        <a:rPr sz="850" b="0">
                          <a:solidFill>
                            <a:srgbClr val="000000"/>
                          </a:solidFill>
                          <a:latin typeface="Calibri"/>
                        </a:rPr>
                        <a:t>3706 N</a:t>
                      </a:r>
                    </a:p>
                  </a:txBody>
                  <a:tcPr/>
                </a:tc>
                <a:tc>
                  <a:txBody>
                    <a:bodyPr lIns="54864" rIns="54864" tIns="18288" bIns="18288" wrap="square" anchor="ctr"/>
                    <a:lstStyle/>
                    <a:p>
                      <a:pPr algn="l"/>
                      <a:r>
                        <a:rPr sz="850" b="0">
                          <a:solidFill>
                            <a:srgbClr val="000000"/>
                          </a:solidFill>
                          <a:latin typeface="Calibri"/>
                        </a:rPr>
                        <a:t>46.3 MPa</a:t>
                      </a:r>
                    </a:p>
                  </a:txBody>
                  <a:tcPr/>
                </a:tc>
                <a:tc>
                  <a:txBody>
                    <a:bodyPr lIns="54864" rIns="54864" tIns="18288" bIns="18288" wrap="square" anchor="ctr"/>
                    <a:lstStyle/>
                    <a:p>
                      <a:pPr algn="l"/>
                      <a:r>
                        <a:rPr sz="850" b="0">
                          <a:solidFill>
                            <a:srgbClr val="000000"/>
                          </a:solidFill>
                          <a:latin typeface="Calibri"/>
                        </a:rPr>
                        <a:t>3.03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S30</a:t>
                      </a:r>
                    </a:p>
                  </a:txBody>
                  <a:tcPr/>
                </a:tc>
                <a:tc>
                  <a:txBody>
                    <a:bodyPr lIns="54864" rIns="54864" tIns="18288" bIns="18288" wrap="square" anchor="ctr"/>
                    <a:lstStyle/>
                    <a:p>
                      <a:pPr algn="l"/>
                      <a:r>
                        <a:rPr sz="850" b="0">
                          <a:solidFill>
                            <a:srgbClr val="000000"/>
                          </a:solidFill>
                          <a:latin typeface="Calibri"/>
                        </a:rPr>
                        <a:t>2026-08-22</a:t>
                      </a:r>
                    </a:p>
                  </a:txBody>
                  <a:tcPr/>
                </a:tc>
                <a:tc>
                  <a:txBody>
                    <a:bodyPr lIns="54864" rIns="54864" tIns="18288" bIns="18288" wrap="square" anchor="ctr"/>
                    <a:lstStyle/>
                    <a:p>
                      <a:pPr algn="l"/>
                      <a:r>
                        <a:rPr sz="850" b="0">
                          <a:solidFill>
                            <a:srgbClr val="000000"/>
                          </a:solidFill>
                          <a:latin typeface="Calibri"/>
                        </a:rPr>
                        <a:t>100 % PETG</a:t>
                      </a:r>
                    </a:p>
                  </a:txBody>
                  <a:tcPr/>
                </a:tc>
                <a:tc>
                  <a:txBody>
                    <a:bodyPr lIns="54864" rIns="54864" tIns="18288" bIns="18288" wrap="square" anchor="ctr"/>
                    <a:lstStyle/>
                    <a:p>
                      <a:pPr algn="l"/>
                      <a:r>
                        <a:rPr sz="850" b="0">
                          <a:solidFill>
                            <a:srgbClr val="000000"/>
                          </a:solidFill>
                          <a:latin typeface="Calibri"/>
                        </a:rPr>
                        <a:t>PETG 1 of 3 VC9 — the representative run</a:t>
                      </a:r>
                    </a:p>
                  </a:txBody>
                  <a:tcPr/>
                </a:tc>
                <a:tc>
                  <a:txBody>
                    <a:bodyPr lIns="54864" rIns="54864" tIns="18288" bIns="18288" wrap="square" anchor="ctr"/>
                    <a:lstStyle/>
                    <a:p>
                      <a:pPr algn="l"/>
                      <a:r>
                        <a:rPr sz="850" b="0">
                          <a:solidFill>
                            <a:srgbClr val="000000"/>
                          </a:solidFill>
                          <a:latin typeface="Calibri"/>
                        </a:rPr>
                        <a:t>3340 N</a:t>
                      </a:r>
                    </a:p>
                  </a:txBody>
                  <a:tcPr/>
                </a:tc>
                <a:tc>
                  <a:txBody>
                    <a:bodyPr lIns="54864" rIns="54864" tIns="18288" bIns="18288" wrap="square" anchor="ctr"/>
                    <a:lstStyle/>
                    <a:p>
                      <a:pPr algn="l"/>
                      <a:r>
                        <a:rPr sz="850" b="0">
                          <a:solidFill>
                            <a:srgbClr val="000000"/>
                          </a:solidFill>
                          <a:latin typeface="Calibri"/>
                        </a:rPr>
                        <a:t>41.8 MPa</a:t>
                      </a:r>
                    </a:p>
                  </a:txBody>
                  <a:tcPr/>
                </a:tc>
                <a:tc>
                  <a:txBody>
                    <a:bodyPr lIns="54864" rIns="54864" tIns="18288" bIns="18288" wrap="square" anchor="ctr"/>
                    <a:lstStyle/>
                    <a:p>
                      <a:pPr algn="l"/>
                      <a:r>
                        <a:rPr sz="850" b="0">
                          <a:solidFill>
                            <a:srgbClr val="000000"/>
                          </a:solidFill>
                          <a:latin typeface="Calibri"/>
                        </a:rPr>
                        <a:t>1.81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S31</a:t>
                      </a:r>
                    </a:p>
                  </a:txBody>
                  <a:tcPr/>
                </a:tc>
                <a:tc>
                  <a:txBody>
                    <a:bodyPr lIns="54864" rIns="54864" tIns="18288" bIns="18288" wrap="square" anchor="ctr"/>
                    <a:lstStyle/>
                    <a:p>
                      <a:pPr algn="l"/>
                      <a:r>
                        <a:rPr sz="850" b="0">
                          <a:solidFill>
                            <a:srgbClr val="000000"/>
                          </a:solidFill>
                          <a:latin typeface="Calibri"/>
                        </a:rPr>
                        <a:t>2026-08-22</a:t>
                      </a:r>
                    </a:p>
                  </a:txBody>
                  <a:tcPr/>
                </a:tc>
                <a:tc>
                  <a:txBody>
                    <a:bodyPr lIns="54864" rIns="54864" tIns="18288" bIns="18288" wrap="square" anchor="ctr"/>
                    <a:lstStyle/>
                    <a:p>
                      <a:pPr algn="l"/>
                      <a:r>
                        <a:rPr sz="850" b="0">
                          <a:solidFill>
                            <a:srgbClr val="000000"/>
                          </a:solidFill>
                          <a:latin typeface="Calibri"/>
                        </a:rPr>
                        <a:t>100 % PETG</a:t>
                      </a:r>
                    </a:p>
                  </a:txBody>
                  <a:tcPr/>
                </a:tc>
                <a:tc>
                  <a:txBody>
                    <a:bodyPr lIns="54864" rIns="54864" tIns="18288" bIns="18288" wrap="square" anchor="ctr"/>
                    <a:lstStyle/>
                    <a:p>
                      <a:pPr algn="l"/>
                      <a:r>
                        <a:rPr sz="850" b="0">
                          <a:solidFill>
                            <a:srgbClr val="000000"/>
                          </a:solidFill>
                          <a:latin typeface="Calibri"/>
                        </a:rPr>
                        <a:t>PETG 2 of 3 VC10 — strength only, 57 % tracked</a:t>
                      </a:r>
                    </a:p>
                  </a:txBody>
                  <a:tcPr/>
                </a:tc>
                <a:tc>
                  <a:txBody>
                    <a:bodyPr lIns="54864" rIns="54864" tIns="18288" bIns="18288" wrap="square" anchor="ctr"/>
                    <a:lstStyle/>
                    <a:p>
                      <a:pPr algn="l"/>
                      <a:r>
                        <a:rPr sz="850" b="0">
                          <a:solidFill>
                            <a:srgbClr val="000000"/>
                          </a:solidFill>
                          <a:latin typeface="Calibri"/>
                        </a:rPr>
                        <a:t>3244 N</a:t>
                      </a:r>
                    </a:p>
                  </a:txBody>
                  <a:tcPr/>
                </a:tc>
                <a:tc>
                  <a:txBody>
                    <a:bodyPr lIns="54864" rIns="54864" tIns="18288" bIns="18288" wrap="square" anchor="ctr"/>
                    <a:lstStyle/>
                    <a:p>
                      <a:pPr algn="l"/>
                      <a:r>
                        <a:rPr sz="850" b="0">
                          <a:solidFill>
                            <a:srgbClr val="000000"/>
                          </a:solidFill>
                          <a:latin typeface="Calibri"/>
                        </a:rPr>
                        <a:t>40.5 MPa</a:t>
                      </a:r>
                    </a:p>
                  </a:txBody>
                  <a:tcPr/>
                </a:tc>
                <a:tc>
                  <a:txBody>
                    <a:bodyPr lIns="54864" rIns="54864" tIns="18288" bIns="18288" wrap="square" anchor="ctr"/>
                    <a:lstStyle/>
                    <a:p>
                      <a:pPr algn="l"/>
                      <a:r>
                        <a:rPr sz="850" b="0">
                          <a:solidFill>
                            <a:srgbClr val="000000"/>
                          </a:solidFill>
                          <a:latin typeface="Calibri"/>
                        </a:rPr>
                        <a:t>2.12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S33</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white PLA</a:t>
                      </a:r>
                    </a:p>
                  </a:txBody>
                  <a:tcPr/>
                </a:tc>
                <a:tc>
                  <a:txBody>
                    <a:bodyPr lIns="54864" rIns="54864" tIns="18288" bIns="18288" wrap="square" anchor="ctr"/>
                    <a:lstStyle/>
                    <a:p>
                      <a:pPr algn="l"/>
                      <a:r>
                        <a:rPr sz="850" b="0">
                          <a:solidFill>
                            <a:srgbClr val="000000"/>
                          </a:solidFill>
                          <a:latin typeface="Calibri"/>
                        </a:rPr>
                        <a:t>Marker spacing 45 mm VC12 — against S25</a:t>
                      </a:r>
                    </a:p>
                  </a:txBody>
                  <a:tcPr/>
                </a:tc>
                <a:tc>
                  <a:txBody>
                    <a:bodyPr lIns="54864" rIns="54864" tIns="18288" bIns="18288" wrap="square" anchor="ctr"/>
                    <a:lstStyle/>
                    <a:p>
                      <a:pPr algn="l"/>
                      <a:r>
                        <a:rPr sz="850" b="0">
                          <a:solidFill>
                            <a:srgbClr val="000000"/>
                          </a:solidFill>
                          <a:latin typeface="Calibri"/>
                        </a:rPr>
                        <a:t>3767 N</a:t>
                      </a:r>
                    </a:p>
                  </a:txBody>
                  <a:tcPr/>
                </a:tc>
                <a:tc>
                  <a:txBody>
                    <a:bodyPr lIns="54864" rIns="54864" tIns="18288" bIns="18288" wrap="square" anchor="ctr"/>
                    <a:lstStyle/>
                    <a:p>
                      <a:pPr algn="l"/>
                      <a:r>
                        <a:rPr sz="850" b="0">
                          <a:solidFill>
                            <a:srgbClr val="000000"/>
                          </a:solidFill>
                          <a:latin typeface="Calibri"/>
                        </a:rPr>
                        <a:t>47.1 MPa</a:t>
                      </a:r>
                    </a:p>
                  </a:txBody>
                  <a:tcPr/>
                </a:tc>
                <a:tc>
                  <a:txBody>
                    <a:bodyPr lIns="54864" rIns="54864" tIns="18288" bIns="18288" wrap="square" anchor="ctr"/>
                    <a:lstStyle/>
                    <a:p>
                      <a:pPr algn="l"/>
                      <a:r>
                        <a:rPr sz="850" b="0">
                          <a:solidFill>
                            <a:srgbClr val="000000"/>
                          </a:solidFill>
                          <a:latin typeface="Calibri"/>
                        </a:rPr>
                        <a:t>3.17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S34</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white PLA</a:t>
                      </a:r>
                    </a:p>
                  </a:txBody>
                  <a:tcPr/>
                </a:tc>
                <a:tc>
                  <a:txBody>
                    <a:bodyPr lIns="54864" rIns="54864" tIns="18288" bIns="18288" wrap="square" anchor="ctr"/>
                    <a:lstStyle/>
                    <a:p>
                      <a:pPr algn="l"/>
                      <a:r>
                        <a:rPr sz="850" b="0">
                          <a:solidFill>
                            <a:srgbClr val="000000"/>
                          </a:solidFill>
                          <a:latin typeface="Calibri"/>
                        </a:rPr>
                        <a:t>Marker spacing 45 mm VC13 — against S26</a:t>
                      </a:r>
                    </a:p>
                  </a:txBody>
                  <a:tcPr/>
                </a:tc>
                <a:tc>
                  <a:txBody>
                    <a:bodyPr lIns="54864" rIns="54864" tIns="18288" bIns="18288" wrap="square" anchor="ctr"/>
                    <a:lstStyle/>
                    <a:p>
                      <a:pPr algn="l"/>
                      <a:r>
                        <a:rPr sz="850" b="0">
                          <a:solidFill>
                            <a:srgbClr val="000000"/>
                          </a:solidFill>
                          <a:latin typeface="Calibri"/>
                        </a:rPr>
                        <a:t>3867 N</a:t>
                      </a:r>
                    </a:p>
                  </a:txBody>
                  <a:tcPr/>
                </a:tc>
                <a:tc>
                  <a:txBody>
                    <a:bodyPr lIns="54864" rIns="54864" tIns="18288" bIns="18288" wrap="square" anchor="ctr"/>
                    <a:lstStyle/>
                    <a:p>
                      <a:pPr algn="l"/>
                      <a:r>
                        <a:rPr sz="850" b="0">
                          <a:solidFill>
                            <a:srgbClr val="000000"/>
                          </a:solidFill>
                          <a:latin typeface="Calibri"/>
                        </a:rPr>
                        <a:t>48.3 MPa</a:t>
                      </a:r>
                    </a:p>
                  </a:txBody>
                  <a:tcPr/>
                </a:tc>
                <a:tc>
                  <a:txBody>
                    <a:bodyPr lIns="54864" rIns="54864" tIns="18288" bIns="18288" wrap="square" anchor="ctr"/>
                    <a:lstStyle/>
                    <a:p>
                      <a:pPr algn="l"/>
                      <a:r>
                        <a:rPr sz="850" b="0">
                          <a:solidFill>
                            <a:srgbClr val="000000"/>
                          </a:solidFill>
                          <a:latin typeface="Calibri"/>
                        </a:rPr>
                        <a:t>3.45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S35</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TPU 95A</a:t>
                      </a:r>
                    </a:p>
                  </a:txBody>
                  <a:tcPr/>
                </a:tc>
                <a:tc>
                  <a:txBody>
                    <a:bodyPr lIns="54864" rIns="54864" tIns="18288" bIns="18288" wrap="square" anchor="ctr"/>
                    <a:lstStyle/>
                    <a:p>
                      <a:pPr algn="l"/>
                      <a:r>
                        <a:rPr sz="850" b="0">
                          <a:solidFill>
                            <a:srgbClr val="000000"/>
                          </a:solidFill>
                          <a:latin typeface="Calibri"/>
                        </a:rPr>
                        <a:t>TPU pair VC14 — marker lost at ~15 mm travel</a:t>
                      </a:r>
                    </a:p>
                  </a:txBody>
                  <a:tcPr/>
                </a:tc>
                <a:tc>
                  <a:txBody>
                    <a:bodyPr lIns="54864" rIns="54864" tIns="18288" bIns="18288" wrap="square" anchor="ctr"/>
                    <a:lstStyle/>
                    <a:p>
                      <a:pPr algn="l"/>
                      <a:r>
                        <a:rPr sz="850" b="0">
                          <a:solidFill>
                            <a:srgbClr val="000000"/>
                          </a:solidFill>
                          <a:latin typeface="Calibri"/>
                        </a:rPr>
                        <a:t>180 N</a:t>
                      </a:r>
                    </a:p>
                  </a:txBody>
                  <a:tcPr/>
                </a:tc>
                <a:tc>
                  <a:txBody>
                    <a:bodyPr lIns="54864" rIns="54864" tIns="18288" bIns="18288" wrap="square" anchor="ctr"/>
                    <a:lstStyle/>
                    <a:p>
                      <a:pPr algn="l"/>
                      <a:r>
                        <a:rPr sz="850" b="0">
                          <a:solidFill>
                            <a:srgbClr val="000000"/>
                          </a:solidFill>
                          <a:latin typeface="Calibri"/>
                        </a:rPr>
                        <a:t>2.2 MPa</a:t>
                      </a:r>
                    </a:p>
                  </a:txBody>
                  <a:tcPr/>
                </a:tc>
                <a:tc>
                  <a:txBody>
                    <a:bodyPr lIns="54864" rIns="54864" tIns="18288" bIns="18288" wrap="square" anchor="ctr"/>
                    <a:lstStyle/>
                    <a:p>
                      <a:pPr algn="l"/>
                      <a:r>
                        <a:rPr sz="850" b="0">
                          <a:solidFill>
                            <a:srgbClr val="000000"/>
                          </a:solidFill>
                          <a:latin typeface="Calibri"/>
                        </a:rPr>
                        <a:t>0.03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S36</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TPU 95A</a:t>
                      </a:r>
                    </a:p>
                  </a:txBody>
                  <a:tcPr/>
                </a:tc>
                <a:tc>
                  <a:txBody>
                    <a:bodyPr lIns="54864" rIns="54864" tIns="18288" bIns="18288" wrap="square" anchor="ctr"/>
                    <a:lstStyle/>
                    <a:p>
                      <a:pPr algn="l"/>
                      <a:r>
                        <a:rPr sz="850" b="0">
                          <a:solidFill>
                            <a:srgbClr val="000000"/>
                          </a:solidFill>
                          <a:latin typeface="Calibri"/>
                        </a:rPr>
                        <a:t>TPU pair — marker lost at ~15 mm travel</a:t>
                      </a:r>
                    </a:p>
                  </a:txBody>
                  <a:tcPr/>
                </a:tc>
                <a:tc>
                  <a:txBody>
                    <a:bodyPr lIns="54864" rIns="54864" tIns="18288" bIns="18288" wrap="square" anchor="ctr"/>
                    <a:lstStyle/>
                    <a:p>
                      <a:pPr algn="l"/>
                      <a:r>
                        <a:rPr sz="850" b="0">
                          <a:solidFill>
                            <a:srgbClr val="000000"/>
                          </a:solidFill>
                          <a:latin typeface="Calibri"/>
                        </a:rPr>
                        <a:t>177 N</a:t>
                      </a:r>
                    </a:p>
                  </a:txBody>
                  <a:tcPr/>
                </a:tc>
                <a:tc>
                  <a:txBody>
                    <a:bodyPr lIns="54864" rIns="54864" tIns="18288" bIns="18288" wrap="square" anchor="ctr"/>
                    <a:lstStyle/>
                    <a:p>
                      <a:pPr algn="l"/>
                      <a:r>
                        <a:rPr sz="850" b="0">
                          <a:solidFill>
                            <a:srgbClr val="000000"/>
                          </a:solidFill>
                          <a:latin typeface="Calibri"/>
                        </a:rPr>
                        <a:t>2.2 MPa</a:t>
                      </a:r>
                    </a:p>
                  </a:txBody>
                  <a:tcPr/>
                </a:tc>
                <a:tc>
                  <a:txBody>
                    <a:bodyPr lIns="54864" rIns="54864" tIns="18288" bIns="18288" wrap="square" anchor="ctr"/>
                    <a:lstStyle/>
                    <a:p>
                      <a:pPr algn="l"/>
                      <a:r>
                        <a:rPr sz="850" b="0">
                          <a:solidFill>
                            <a:srgbClr val="000000"/>
                          </a:solidFill>
                          <a:latin typeface="Calibri"/>
                        </a:rPr>
                        <a:t>0.03 GPa</a:t>
                      </a:r>
                    </a:p>
                  </a:txBody>
                  <a:tcPr/>
                </a:tc>
                <a:tc>
                  <a:txBody>
                    <a:bodyPr lIns="54864" rIns="54864" tIns="18288" bIns="18288" wrap="square" anchor="ctr"/>
                    <a:lstStyle/>
                    <a:p>
                      <a:pPr algn="l"/>
                      <a:r>
                        <a:rPr sz="850" b="0">
                          <a:solidFill>
                            <a:srgbClr val="000000"/>
                          </a:solidFill>
                          <a:latin typeface="Calibri"/>
                        </a:rPr>
                        <a:t>fractured</a:t>
                      </a:r>
                    </a:p>
                  </a:txBody>
                  <a:tcPr/>
                </a:tc>
              </a:tr>
              <a:tr h="223122">
                <a:tc>
                  <a:txBody>
                    <a:bodyPr lIns="54864" rIns="54864" tIns="18288" bIns="18288" wrap="square" anchor="ctr"/>
                    <a:lstStyle/>
                    <a:p>
                      <a:pPr algn="l"/>
                      <a:r>
                        <a:rPr sz="850" b="0">
                          <a:solidFill>
                            <a:srgbClr val="000000"/>
                          </a:solidFill>
                          <a:latin typeface="Calibri"/>
                        </a:rPr>
                        <a:t>S37</a:t>
                      </a:r>
                    </a:p>
                  </a:txBody>
                  <a:tcPr/>
                </a:tc>
                <a:tc>
                  <a:txBody>
                    <a:bodyPr lIns="54864" rIns="54864" tIns="18288" bIns="18288" wrap="square" anchor="ctr"/>
                    <a:lstStyle/>
                    <a:p>
                      <a:pPr algn="l"/>
                      <a:r>
                        <a:rPr sz="850" b="0">
                          <a:solidFill>
                            <a:srgbClr val="000000"/>
                          </a:solidFill>
                          <a:latin typeface="Calibri"/>
                        </a:rPr>
                        <a:t>2026-08-26</a:t>
                      </a:r>
                    </a:p>
                  </a:txBody>
                  <a:tcPr/>
                </a:tc>
                <a:tc>
                  <a:txBody>
                    <a:bodyPr lIns="54864" rIns="54864" tIns="18288" bIns="18288" wrap="square" anchor="ctr"/>
                    <a:lstStyle/>
                    <a:p>
                      <a:pPr algn="l"/>
                      <a:r>
                        <a:rPr sz="850" b="0">
                          <a:solidFill>
                            <a:srgbClr val="000000"/>
                          </a:solidFill>
                          <a:latin typeface="Calibri"/>
                        </a:rPr>
                        <a:t>TPU 95A</a:t>
                      </a:r>
                    </a:p>
                  </a:txBody>
                  <a:tcPr/>
                </a:tc>
                <a:tc>
                  <a:txBody>
                    <a:bodyPr lIns="54864" rIns="54864" tIns="18288" bIns="18288" wrap="square" anchor="ctr"/>
                    <a:lstStyle/>
                    <a:p>
                      <a:pPr algn="l"/>
                      <a:r>
                        <a:rPr sz="850" b="0">
                          <a:solidFill>
                            <a:srgbClr val="000000"/>
                          </a:solidFill>
                          <a:latin typeface="Calibri"/>
                        </a:rPr>
                        <a:t>TPU at 45 mm markers VC15 — the fix</a:t>
                      </a:r>
                    </a:p>
                  </a:txBody>
                  <a:tcPr/>
                </a:tc>
                <a:tc>
                  <a:txBody>
                    <a:bodyPr lIns="54864" rIns="54864" tIns="18288" bIns="18288" wrap="square" anchor="ctr"/>
                    <a:lstStyle/>
                    <a:p>
                      <a:pPr algn="l"/>
                      <a:r>
                        <a:rPr sz="850" b="0">
                          <a:solidFill>
                            <a:srgbClr val="000000"/>
                          </a:solidFill>
                          <a:latin typeface="Calibri"/>
                        </a:rPr>
                        <a:t>208 N</a:t>
                      </a:r>
                    </a:p>
                  </a:txBody>
                  <a:tcPr/>
                </a:tc>
                <a:tc>
                  <a:txBody>
                    <a:bodyPr lIns="54864" rIns="54864" tIns="18288" bIns="18288" wrap="square" anchor="ctr"/>
                    <a:lstStyle/>
                    <a:p>
                      <a:pPr algn="l"/>
                      <a:r>
                        <a:rPr sz="850" b="0">
                          <a:solidFill>
                            <a:srgbClr val="000000"/>
                          </a:solidFill>
                          <a:latin typeface="Calibri"/>
                        </a:rPr>
                        <a:t>2.6 MPa</a:t>
                      </a:r>
                    </a:p>
                  </a:txBody>
                  <a:tcPr/>
                </a:tc>
                <a:tc>
                  <a:txBody>
                    <a:bodyPr lIns="54864" rIns="54864" tIns="18288" bIns="18288" wrap="square" anchor="ctr"/>
                    <a:lstStyle/>
                    <a:p>
                      <a:pPr algn="l"/>
                      <a:r>
                        <a:rPr sz="850" b="0">
                          <a:solidFill>
                            <a:srgbClr val="000000"/>
                          </a:solidFill>
                          <a:latin typeface="Calibri"/>
                        </a:rPr>
                        <a:t>0.02 GPa</a:t>
                      </a:r>
                    </a:p>
                  </a:txBody>
                  <a:tcPr/>
                </a:tc>
                <a:tc>
                  <a:txBody>
                    <a:bodyPr lIns="54864" rIns="54864" tIns="18288" bIns="18288" wrap="square" anchor="ctr"/>
                    <a:lstStyle/>
                    <a:p>
                      <a:pPr algn="l"/>
                      <a:r>
                        <a:rPr sz="850" b="0">
                          <a:solidFill>
                            <a:srgbClr val="000000"/>
                          </a:solidFill>
                          <a:latin typeface="Calibri"/>
                        </a:rPr>
                        <a:t>fractured</a:t>
                      </a:r>
                    </a:p>
                  </a:txBody>
                  <a:tcPr/>
                </a:tc>
              </a:tr>
            </a:tbl>
          </a:graphicData>
        </a:graphic>
      </p:graphicFrame>
      <p:sp>
        <p:nvSpPr>
          <p:cNvPr id="7" name="Rounded Rectangle 6"/>
          <p:cNvSpPr/>
          <p:nvPr/>
        </p:nvSpPr>
        <p:spPr>
          <a:xfrm>
            <a:off x="365760" y="5084064"/>
            <a:ext cx="2788920" cy="56692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14</a:t>
            </a:r>
          </a:p>
          <a:p>
            <a:pPr algn="ctr"/>
            <a:r>
              <a:rPr sz="950">
                <a:solidFill>
                  <a:srgbClr val="000000"/>
                </a:solidFill>
                <a:latin typeface="Calibri"/>
              </a:rPr>
              <a:t>RUNS SINCE THE FIX</a:t>
            </a:r>
          </a:p>
        </p:txBody>
      </p:sp>
      <p:sp>
        <p:nvSpPr>
          <p:cNvPr id="8" name="Rounded Rectangle 7"/>
          <p:cNvSpPr/>
          <p:nvPr/>
        </p:nvSpPr>
        <p:spPr>
          <a:xfrm>
            <a:off x="3310128" y="5084064"/>
            <a:ext cx="2788920" cy="56692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0</a:t>
            </a:r>
          </a:p>
          <a:p>
            <a:pPr algn="ctr"/>
            <a:r>
              <a:rPr sz="950">
                <a:solidFill>
                  <a:srgbClr val="000000"/>
                </a:solidFill>
                <a:latin typeface="Calibri"/>
              </a:rPr>
              <a:t>STALLS SINCE THE FIX</a:t>
            </a:r>
          </a:p>
        </p:txBody>
      </p:sp>
      <p:sp>
        <p:nvSpPr>
          <p:cNvPr id="9" name="Rounded Rectangle 8"/>
          <p:cNvSpPr/>
          <p:nvPr/>
        </p:nvSpPr>
        <p:spPr>
          <a:xfrm>
            <a:off x="6254496" y="5084064"/>
            <a:ext cx="2788920" cy="56692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3693–3822 N</a:t>
            </a:r>
          </a:p>
          <a:p>
            <a:pPr algn="ctr"/>
            <a:r>
              <a:rPr sz="950">
                <a:solidFill>
                  <a:srgbClr val="000000"/>
                </a:solidFill>
                <a:latin typeface="Calibri"/>
              </a:rPr>
              <a:t>100 % PLA RUNS, PEAK RANGE</a:t>
            </a:r>
          </a:p>
        </p:txBody>
      </p:sp>
      <p:sp>
        <p:nvSpPr>
          <p:cNvPr id="10" name="Rounded Rectangle 9"/>
          <p:cNvSpPr/>
          <p:nvPr/>
        </p:nvSpPr>
        <p:spPr>
          <a:xfrm>
            <a:off x="9198864" y="5084064"/>
            <a:ext cx="2642616" cy="56692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a:t>
            </a:r>
          </a:p>
          <a:p>
            <a:pPr algn="ctr"/>
            <a:r>
              <a:rPr sz="950">
                <a:solidFill>
                  <a:srgbClr val="000000"/>
                </a:solidFill>
                <a:latin typeface="Calibri"/>
              </a:rPr>
              <a:t>STALLS BEFORE IT</a:t>
            </a:r>
          </a:p>
        </p:txBody>
      </p:sp>
      <p:sp>
        <p:nvSpPr>
          <p:cNvPr id="11" name="TextBox 10"/>
          <p:cNvSpPr txBox="1"/>
          <p:nvPr/>
        </p:nvSpPr>
        <p:spPr>
          <a:xfrm>
            <a:off x="365760" y="5760720"/>
            <a:ext cx="11475720" cy="566928"/>
          </a:xfrm>
          <a:prstGeom prst="rect">
            <a:avLst/>
          </a:prstGeom>
          <a:noFill/>
        </p:spPr>
        <p:txBody>
          <a:bodyPr wrap="square" lIns="45720" rIns="45720" tIns="18288" bIns="18288" anchor="t">
            <a:spAutoFit/>
          </a:bodyPr>
          <a:lstStyle/>
          <a:p>
            <a:pPr algn="l"/>
            <a:r>
              <a:rPr sz="1100" b="0" i="0">
                <a:solidFill>
                  <a:srgbClr val="000000"/>
                </a:solidFill>
                <a:latin typeface="Calibri"/>
              </a:rPr>
              <a:t>All 14 ran to fracture with no stutter, and the 5 at 100 % infill PLA peaked 3693–3822 N — every one ABOVE the 2.6 kN carried as a hardware ceiling. Earlier results are not wrong (S15 and T7 were caught by the stall guard and excluded, never silently averaged in), but only this set is free of a load path that could bind.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S12 is listed because the PULL was sound (47.8 MPa) — what failed was the frame capture. Peaks are UTS × the CAD 80 mm² nominal area.</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MEAN width while it is uniform (for ν), MINIMUM band once necking starts (for area)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041648"/>
            <a:ext cx="5852160" cy="1097280"/>
          </a:xfrm>
          <a:prstGeom prst="rect">
            <a:avLst/>
          </a:prstGeom>
          <a:noFill/>
        </p:spPr>
        <p:txBody>
          <a:bodyPr wrap="square" lIns="45720" rIns="45720" tIns="18288" bIns="18288" anchor="t">
            <a:spAutoFit/>
          </a:bodyPr>
          <a:lstStyle/>
          <a:p>
            <a:pPr algn="l"/>
            <a:r>
              <a:rPr sz="100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
WHICH statistic depends on the regime, and this is not interchangeable. Before necking the width is uniform, so the MEAN over the whole gauge is right and buys that noise reduction — that is the ν measurement. Once a neck forms the deformation is LOCAL and the load is carried by the smallest section, so the area must come from the MINIMUM, averaged over a short band at the neck. A mean over the whole gauge would under-correct exactly where the correction matters most.</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p215-214.</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p217-217.</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 at the time (ANSWER: no. 4)</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 MECHANICAL BINDING — crossheads misaligned, load holders loose.  See p183.</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p201.</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documentation/scripts/sf9_data.py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(p187).
•  So engineering + engineering is the only defensible pairing available today.
•  ISO 527 and the add:north TDS also report engineering — which is what keeps our k-factors comparable (p208).</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p187.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APPLIED on p187 (2026-09-01): the spec said “average width over 100s of rows”. Necking is LOCAL, so the mean under-corrects exactly where it matters. It now reads MEAN while the width is uniform (ν), MINIMUM band once necking starts (area). Fixed before building, which is the cheap end.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p191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p191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(p198's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p198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p198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p210.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(p213-214).
•  Creep is measurable — +1080 µε at 41× the noise floor, decelerating (p216-217).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Software/UTM_PyQt6/Test data/Smart Features - Advanced Test Modes/&lt;specimen folder&gt;/. Every number on this page is recomputed by documentation/scripts/sf9_data.py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before these two)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Software/UTM_PyQt6/Test data/8.6.20 - Tensile test to Failure/Specimen_S25… and …S26…/. Frame counts, rates and coverage recomputed at build time by documentation/scripts/s25_s26_data.py.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+1.93</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+0.382</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documentation/scripts/s25_s26_plots.py.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3.167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3.549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3.17 → σ_y is 86.3 % of its UTS
S26   E 3.55 → σ_y is 88.5 % of its UTS
So the σ_y spread (39.8 vs 41.7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1.38</a:t>
                      </a:r>
                    </a:p>
                  </a:txBody>
                  <a:tcPr>
                    <a:solidFill>
                      <a:srgbClr val="C8E6C9"/>
                    </a:solidFill>
                  </a:tcPr>
                </a:tc>
                <a:tc>
                  <a:txBody>
                    <a:bodyPr lIns="54864" rIns="54864" tIns="18288" bIns="18288" wrap="square" anchor="ctr"/>
                    <a:lstStyle/>
                    <a:p>
                      <a:pPr algn="l"/>
                      <a:r>
                        <a:rPr sz="950" b="1">
                          <a:solidFill>
                            <a:srgbClr val="000000"/>
                          </a:solidFill>
                          <a:latin typeface="Calibri"/>
                        </a:rPr>
                        <a:t>39.82</a:t>
                      </a:r>
                    </a:p>
                  </a:txBody>
                  <a:tcPr>
                    <a:solidFill>
                      <a:srgbClr val="C8E6C9"/>
                    </a:solidFill>
                  </a:tcPr>
                </a:tc>
                <a:tc>
                  <a:txBody>
                    <a:bodyPr lIns="54864" rIns="54864" tIns="18288" bIns="18288" wrap="square" anchor="ctr"/>
                    <a:lstStyle/>
                    <a:p>
                      <a:pPr algn="l"/>
                      <a:r>
                        <a:rPr sz="950" b="1">
                          <a:solidFill>
                            <a:srgbClr val="000000"/>
                          </a:solidFill>
                          <a:latin typeface="Calibri"/>
                        </a:rPr>
                        <a:t>41.55</a:t>
                      </a:r>
                    </a:p>
                  </a:txBody>
                  <a:tcPr>
                    <a:solidFill>
                      <a:srgbClr val="C8E6C9"/>
                    </a:solidFill>
                  </a:tcPr>
                </a:tc>
                <a:tc>
                  <a:txBody>
                    <a:bodyPr lIns="54864" rIns="54864" tIns="18288" bIns="18288" wrap="square" anchor="ctr"/>
                    <a:lstStyle/>
                    <a:p>
                      <a:pPr algn="l"/>
                      <a:r>
                        <a:rPr sz="950" b="1">
                          <a:solidFill>
                            <a:srgbClr val="000000"/>
                          </a:solidFill>
                          <a:latin typeface="Calibri"/>
                        </a:rPr>
                        <a:t>+1.73</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1">
                          <a:solidFill>
                            <a:srgbClr val="000000"/>
                          </a:solidFill>
                          <a:latin typeface="Calibri"/>
                        </a:rPr>
                        <a:t>1.40</a:t>
                      </a:r>
                    </a:p>
                  </a:txBody>
                  <a:tcPr>
                    <a:solidFill>
                      <a:srgbClr val="C8E6C9"/>
                    </a:solidFill>
                  </a:tcPr>
                </a:tc>
                <a:tc>
                  <a:txBody>
                    <a:bodyPr lIns="54864" rIns="54864" tIns="18288" bIns="18288" wrap="square" anchor="ctr"/>
                    <a:lstStyle/>
                    <a:p>
                      <a:pPr algn="l"/>
                      <a:r>
                        <a:rPr sz="950" b="1">
                          <a:solidFill>
                            <a:srgbClr val="000000"/>
                          </a:solidFill>
                          <a:latin typeface="Calibri"/>
                        </a:rPr>
                        <a:t>40.07</a:t>
                      </a:r>
                    </a:p>
                  </a:txBody>
                  <a:tcPr>
                    <a:solidFill>
                      <a:srgbClr val="C8E6C9"/>
                    </a:solidFill>
                  </a:tcPr>
                </a:tc>
                <a:tc>
                  <a:txBody>
                    <a:bodyPr lIns="54864" rIns="54864" tIns="18288" bIns="18288" wrap="square" anchor="ctr"/>
                    <a:lstStyle/>
                    <a:p>
                      <a:pPr algn="l"/>
                      <a:r>
                        <a:rPr sz="950" b="1">
                          <a:solidFill>
                            <a:srgbClr val="000000"/>
                          </a:solidFill>
                          <a:latin typeface="Calibri"/>
                        </a:rPr>
                        <a:t>41.75</a:t>
                      </a:r>
                    </a:p>
                  </a:txBody>
                  <a:tcPr>
                    <a:solidFill>
                      <a:srgbClr val="C8E6C9"/>
                    </a:solidFill>
                  </a:tcPr>
                </a:tc>
                <a:tc>
                  <a:txBody>
                    <a:bodyPr lIns="54864" rIns="54864" tIns="18288" bIns="18288" wrap="square" anchor="ctr"/>
                    <a:lstStyle/>
                    <a:p>
                      <a:pPr algn="l"/>
                      <a:r>
                        <a:rPr sz="950" b="1">
                          <a:solidFill>
                            <a:srgbClr val="000000"/>
                          </a:solidFill>
                          <a:latin typeface="Calibri"/>
                        </a:rPr>
                        <a:t>+1.67</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documentation/scripts/e_fit_plots.py.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2.45 GPa</a:t>
                      </a:r>
                    </a:p>
                  </a:txBody>
                  <a:tcPr/>
                </a:tc>
                <a:tc>
                  <a:txBody>
                    <a:bodyPr lIns="54864" rIns="54864" tIns="18288" bIns="18288" wrap="square" anchor="ctr"/>
                    <a:lstStyle/>
                    <a:p>
                      <a:pPr algn="l"/>
                      <a:r>
                        <a:rPr sz="950" b="0">
                          <a:solidFill>
                            <a:srgbClr val="000000"/>
                          </a:solidFill>
                          <a:latin typeface="Calibri"/>
                        </a:rPr>
                        <a:t>20.3 %</a:t>
                      </a:r>
                    </a:p>
                  </a:txBody>
                  <a:tcPr/>
                </a:tc>
                <a:tc>
                  <a:txBody>
                    <a:bodyPr lIns="54864" rIns="54864" tIns="18288" bIns="18288" wrap="square" anchor="ctr"/>
                    <a:lstStyle/>
                    <a:p>
                      <a:pPr algn="l"/>
                      <a:r>
                        <a:rPr sz="950" b="0">
                          <a:solidFill>
                            <a:srgbClr val="000000"/>
                          </a:solidFill>
                          <a:latin typeface="Calibri"/>
                        </a:rPr>
                        <a:t>-15 %</a:t>
                      </a:r>
                    </a:p>
                  </a:txBody>
                  <a:tcPr/>
                </a:tc>
              </a:tr>
              <a:tr h="324612">
                <a:tc>
                  <a:txBody>
                    <a:bodyPr lIns="54864" rIns="54864" tIns="18288" bIns="18288" wrap="square" anchor="ctr"/>
                    <a:lstStyle/>
                    <a:p>
                      <a:pPr algn="l"/>
                      <a:r>
                        <a:rPr sz="950" b="0">
                          <a:solidFill>
                            <a:srgbClr val="000000"/>
                          </a:solidFill>
                          <a:latin typeface="Calibri"/>
                        </a:rPr>
                        <a:t>fixed 0.05-0.40 % (was ours)</a:t>
                      </a:r>
                    </a:p>
                  </a:txBody>
                  <a:tcPr/>
                </a:tc>
                <a:tc>
                  <a:txBody>
                    <a:bodyPr lIns="54864" rIns="54864" tIns="18288" bIns="18288" wrap="square" anchor="ctr"/>
                    <a:lstStyle/>
                    <a:p>
                      <a:pPr algn="l"/>
                      <a:r>
                        <a:rPr sz="950" b="0">
                          <a:solidFill>
                            <a:srgbClr val="000000"/>
                          </a:solidFill>
                          <a:latin typeface="Calibri"/>
                        </a:rPr>
                        <a:t>2.55 GPa</a:t>
                      </a:r>
                    </a:p>
                  </a:txBody>
                  <a:tcPr/>
                </a:tc>
                <a:tc>
                  <a:txBody>
                    <a:bodyPr lIns="54864" rIns="54864" tIns="18288" bIns="18288" wrap="square" anchor="ctr"/>
                    <a:lstStyle/>
                    <a:p>
                      <a:pPr algn="l"/>
                      <a:r>
                        <a:rPr sz="950" b="0">
                          <a:solidFill>
                            <a:srgbClr val="000000"/>
                          </a:solidFill>
                          <a:latin typeface="Calibri"/>
                        </a:rPr>
                        <a:t>17.1 %</a:t>
                      </a:r>
                    </a:p>
                  </a:txBody>
                  <a:tcPr/>
                </a:tc>
                <a:tc>
                  <a:txBody>
                    <a:bodyPr lIns="54864" rIns="54864" tIns="18288" bIns="18288" wrap="square" anchor="ctr"/>
                    <a:lstStyle/>
                    <a:p>
                      <a:pPr algn="l"/>
                      <a:r>
                        <a:rPr sz="950" b="0">
                          <a:solidFill>
                            <a:srgbClr val="000000"/>
                          </a:solidFill>
                          <a:latin typeface="Calibri"/>
                        </a:rPr>
                        <a:t>-11 %</a:t>
                      </a:r>
                    </a:p>
                  </a:txBody>
                  <a:tcPr/>
                </a:tc>
              </a:tr>
              <a:tr h="324612">
                <a:tc>
                  <a:txBody>
                    <a:bodyPr lIns="54864" rIns="54864" tIns="18288" bIns="18288" wrap="square" anchor="ctr"/>
                    <a:lstStyle/>
                    <a:p>
                      <a:pPr algn="l"/>
                      <a:r>
                        <a:rPr sz="950" b="0">
                          <a:solidFill>
                            <a:srgbClr val="000000"/>
                          </a:solidFill>
                          <a:latin typeface="Calibri"/>
                        </a:rPr>
                        <a:t>Steepest straight run ✔</a:t>
                      </a:r>
                    </a:p>
                  </a:txBody>
                  <a:tcPr/>
                </a:tc>
                <a:tc>
                  <a:txBody>
                    <a:bodyPr lIns="54864" rIns="54864" tIns="18288" bIns="18288" wrap="square" anchor="ctr"/>
                    <a:lstStyle/>
                    <a:p>
                      <a:pPr algn="l"/>
                      <a:r>
                        <a:rPr sz="950" b="1">
                          <a:solidFill>
                            <a:srgbClr val="000000"/>
                          </a:solidFill>
                          <a:latin typeface="Calibri"/>
                        </a:rPr>
                        <a:t>2.85 GPa</a:t>
                      </a:r>
                    </a:p>
                  </a:txBody>
                  <a:tcPr>
                    <a:solidFill>
                      <a:srgbClr val="C8E6C9"/>
                    </a:solidFill>
                  </a:tcPr>
                </a:tc>
                <a:tc>
                  <a:txBody>
                    <a:bodyPr lIns="54864" rIns="54864" tIns="18288" bIns="18288" wrap="square" anchor="ctr"/>
                    <a:lstStyle/>
                    <a:p>
                      <a:pPr algn="l"/>
                      <a:r>
                        <a:rPr sz="950" b="1">
                          <a:solidFill>
                            <a:srgbClr val="000000"/>
                          </a:solidFill>
                          <a:latin typeface="Calibri"/>
                        </a:rPr>
                        <a:t>16.3 %</a:t>
                      </a:r>
                    </a:p>
                  </a:txBody>
                  <a:tcPr>
                    <a:solidFill>
                      <a:srgbClr val="C8E6C9"/>
                    </a:solidFill>
                  </a:tcPr>
                </a:tc>
                <a:tc>
                  <a:txBody>
                    <a:bodyPr lIns="54864" rIns="54864" tIns="18288" bIns="18288" wrap="square" anchor="ctr"/>
                    <a:lstStyle/>
                    <a:p>
                      <a:pPr algn="l"/>
                      <a:r>
                        <a:rPr sz="950" b="1">
                          <a:solidFill>
                            <a:srgbClr val="000000"/>
                          </a:solidFill>
                          <a:latin typeface="Calibri"/>
                        </a:rPr>
                        <a:t>-1 %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16.3 % against 17.1 and 20.3) and closest to the datasheet (-1 % against -11 and -15).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DECISION TAKEN 2026-08-18 — utm_analysis.analyze() now reports the steepest straight run as E, and the 0.05–0.40 % value alongside it as E_fixed so nothing is lost. Every test in the deck and the registry was re-analysed on the new basis. UTS, ε_f, toughness and the anchor are untouched and were verified bit-identical on all 20 runs; σ_y moves because the 0.2 % offset line has slope E. See p239.</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at least 0.25 % wide, whose R² is within 0.0005 of the straightest the record can offer (capped at 0.999).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42.07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3.030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p232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Software/UTM_PyQt6/Test data/8.6.20 -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documentation/scripts/s13_plots.py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9.8 % against 11.4 %,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42.07</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+3.2 %</a:t>
                      </a:r>
                    </a:p>
                  </a:txBody>
                  <a:tcPr/>
                </a:tc>
                <a:tc>
                  <a:txBody>
                    <a:bodyPr lIns="54864" rIns="54864" tIns="18288" bIns="18288" wrap="square" anchor="ctr"/>
                    <a:lstStyle/>
                    <a:p>
                      <a:pPr algn="l"/>
                      <a:r>
                        <a:rPr sz="950" b="0">
                          <a:solidFill>
                            <a:srgbClr val="000000"/>
                          </a:solidFill>
                          <a:latin typeface="Calibri"/>
                        </a:rPr>
                        <a:t>4.7 %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3.030</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-9.8 %</a:t>
                      </a:r>
                    </a:p>
                  </a:txBody>
                  <a:tcPr/>
                </a:tc>
                <a:tc>
                  <a:txBody>
                    <a:bodyPr lIns="54864" rIns="54864" tIns="18288" bIns="18288" wrap="square" anchor="ctr"/>
                    <a:lstStyle/>
                    <a:p>
                      <a:pPr algn="l"/>
                      <a:r>
                        <a:rPr sz="950" b="0">
                          <a:solidFill>
                            <a:srgbClr val="000000"/>
                          </a:solidFill>
                          <a:latin typeface="Calibri"/>
                        </a:rPr>
                        <a:t>11.4 %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documentation/scripts/s13_data.py via utm_analysis.analyze(). Noise measured over a COMMON 10 s window — see p231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3.030 GPa, between S25's 3.167 and S26's 3.549.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1.395 / 1.282</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Software/UTM_PyQt6/Test data/8.6.20 -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8.4 % on E, against 2.2 % and 11.4 % for the 100 % pair — better on all four properties. With n = 2 in each group this is an observation about these four specimens, not a demonstrated property of infill; p238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0.85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18.83</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18.58</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2.19×</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1.395</a:t>
                      </a:r>
                    </a:p>
                  </a:txBody>
                  <a:tcPr/>
                </a:tc>
                <a:tc>
                  <a:txBody>
                    <a:bodyPr lIns="54864" rIns="54864" tIns="18288" bIns="18288" wrap="square" anchor="ctr"/>
                    <a:lstStyle/>
                    <a:p>
                      <a:pPr algn="l"/>
                      <a:r>
                        <a:rPr sz="950" b="0">
                          <a:solidFill>
                            <a:srgbClr val="000000"/>
                          </a:solidFill>
                          <a:latin typeface="Calibri"/>
                        </a:rPr>
                        <a:t>1.282</a:t>
                      </a:r>
                    </a:p>
                  </a:txBody>
                  <a:tcPr/>
                </a:tc>
                <a:tc>
                  <a:txBody>
                    <a:bodyPr lIns="54864" rIns="54864" tIns="18288" bIns="18288" wrap="square" anchor="ctr"/>
                    <a:lstStyle/>
                    <a:p>
                      <a:pPr algn="l"/>
                      <a:r>
                        <a:rPr sz="950" b="0">
                          <a:solidFill>
                            <a:srgbClr val="000000"/>
                          </a:solidFill>
                          <a:latin typeface="Calibri"/>
                        </a:rPr>
                        <a:t>1.339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2.51×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16.52 ± 8.60</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15</a:t>
                      </a:r>
                    </a:p>
                  </a:txBody>
                  <a:tcPr/>
                </a:tc>
                <a:tc>
                  <a:txBody>
                    <a:bodyPr lIns="54864" rIns="54864" tIns="18288" bIns="18288" wrap="square" anchor="ctr"/>
                    <a:lstStyle/>
                    <a:p>
                      <a:pPr algn="l"/>
                      <a:r>
                        <a:rPr sz="950" b="0">
                          <a:solidFill>
                            <a:srgbClr val="000000"/>
                          </a:solidFill>
                          <a:latin typeface="Calibri"/>
                        </a:rPr>
                        <a:t>46.01 ± 2.19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46.01 over 15 runs.
At 50 % this pair reads a little LOW: 19.89 against 16.52 over 12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2.51×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8.4 % where the 100 % pair disagrees by 11.4 %. Looking at the local slope explains why: across 0.05–0.60 % strain it moves about 5 % on S28 but 42 % on S26. A fixed fit window is only as repeatable as the curve is straight inside it.
That is the same mechanism p225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p236-237 · 100 % pair p221-224 · E fit window p227-226 · black specimen p229-233.</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 FIT WINDOW — DECISION TAKEN, AND WHAT IT MOVED</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p225–224 laid out the evidence; the gate was S27/S28 running on the old code, which they have. utm_analysis.analyze() now reports the STEEPEST STRAIGHT RUN as E, with the old fixed-window value kept alongside as E_fixed so no historical number is lost. Every test in the registry was re-analysed.</a:t>
            </a:r>
          </a:p>
        </p:txBody>
      </p:sp>
      <p:graphicFrame>
        <p:nvGraphicFramePr>
          <p:cNvPr id="6" name="Table 5"/>
          <p:cNvGraphicFramePr>
            <a:graphicFrameLocks noGrp="1"/>
          </p:cNvGraphicFramePr>
          <p:nvPr/>
        </p:nvGraphicFramePr>
        <p:xfrm>
          <a:off x="365760" y="1691640"/>
          <a:ext cx="6675118" cy="1005840"/>
        </p:xfrm>
        <a:graphic>
          <a:graphicData uri="http://schemas.openxmlformats.org/drawingml/2006/table">
            <a:tbl>
              <a:tblPr firstRow="1" bandRow="1">
                <a:tableStyleId>{5C22544A-7EE6-4342-B048-85BDC9FD1C3A}</a:tableStyleId>
              </a:tblPr>
              <a:tblGrid>
                <a:gridCol w="1517072"/>
                <a:gridCol w="505690"/>
                <a:gridCol w="1213658"/>
                <a:gridCol w="1213658"/>
                <a:gridCol w="1112520"/>
                <a:gridCol w="1112520"/>
              </a:tblGrid>
              <a:tr h="3352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n</a:t>
                      </a:r>
                    </a:p>
                  </a:txBody>
                  <a:tcPr>
                    <a:solidFill>
                      <a:srgbClr val="143D2F"/>
                    </a:solidFill>
                  </a:tcPr>
                </a:tc>
                <a:tc>
                  <a:txBody>
                    <a:bodyPr lIns="54864" rIns="54864" tIns="18288" bIns="18288" wrap="square" anchor="ctr"/>
                    <a:lstStyle/>
                    <a:p>
                      <a:pPr algn="l"/>
                      <a:r>
                        <a:rPr sz="1000" b="1">
                          <a:solidFill>
                            <a:srgbClr val="FFFFFF"/>
                          </a:solidFill>
                          <a:latin typeface="Calibri"/>
                        </a:rPr>
                        <a:t>E before</a:t>
                      </a:r>
                    </a:p>
                  </a:txBody>
                  <a:tcPr>
                    <a:solidFill>
                      <a:srgbClr val="143D2F"/>
                    </a:solidFill>
                  </a:tcPr>
                </a:tc>
                <a:tc>
                  <a:txBody>
                    <a:bodyPr lIns="54864" rIns="54864" tIns="18288" bIns="18288" wrap="square" anchor="ctr"/>
                    <a:lstStyle/>
                    <a:p>
                      <a:pPr algn="l"/>
                      <a:r>
                        <a:rPr sz="1000" b="1">
                          <a:solidFill>
                            <a:srgbClr val="FFFFFF"/>
                          </a:solidFill>
                          <a:latin typeface="Calibri"/>
                        </a:rPr>
                        <a:t>E after</a:t>
                      </a:r>
                    </a:p>
                  </a:txBody>
                  <a:tcPr>
                    <a:solidFill>
                      <a:srgbClr val="143D2F"/>
                    </a:solidFill>
                  </a:tcPr>
                </a:tc>
                <a:tc>
                  <a:txBody>
                    <a:bodyPr lIns="54864" rIns="54864" tIns="18288" bIns="18288" wrap="square" anchor="ctr"/>
                    <a:lstStyle/>
                    <a:p>
                      <a:pPr algn="l"/>
                      <a:r>
                        <a:rPr sz="1000" b="1">
                          <a:solidFill>
                            <a:srgbClr val="FFFFFF"/>
                          </a:solidFill>
                          <a:latin typeface="Calibri"/>
                        </a:rPr>
                        <a:t>CV before</a:t>
                      </a:r>
                    </a:p>
                  </a:txBody>
                  <a:tcPr>
                    <a:solidFill>
                      <a:srgbClr val="143D2F"/>
                    </a:solidFill>
                  </a:tcPr>
                </a:tc>
                <a:tc>
                  <a:txBody>
                    <a:bodyPr lIns="54864" rIns="54864" tIns="18288" bIns="18288" wrap="square" anchor="ctr"/>
                    <a:lstStyle/>
                    <a:p>
                      <a:pPr algn="l"/>
                      <a:r>
                        <a:rPr sz="1000" b="1">
                          <a:solidFill>
                            <a:srgbClr val="FFFFFF"/>
                          </a:solidFill>
                          <a:latin typeface="Calibri"/>
                        </a:rPr>
                        <a:t>CV after</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50 % infill</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1.191 GPa</a:t>
                      </a:r>
                    </a:p>
                  </a:txBody>
                  <a:tcPr/>
                </a:tc>
                <a:tc>
                  <a:txBody>
                    <a:bodyPr lIns="54864" rIns="54864" tIns="18288" bIns="18288" wrap="square" anchor="ctr"/>
                    <a:lstStyle/>
                    <a:p>
                      <a:pPr algn="l"/>
                      <a:r>
                        <a:rPr sz="950" b="0">
                          <a:solidFill>
                            <a:srgbClr val="000000"/>
                          </a:solidFill>
                          <a:latin typeface="Calibri"/>
                        </a:rPr>
                        <a:t>1.294 GPa</a:t>
                      </a:r>
                    </a:p>
                  </a:txBody>
                  <a:tcPr/>
                </a:tc>
                <a:tc>
                  <a:txBody>
                    <a:bodyPr lIns="54864" rIns="54864" tIns="18288" bIns="18288" wrap="square" anchor="ctr"/>
                    <a:lstStyle/>
                    <a:p>
                      <a:pPr algn="l"/>
                      <a:r>
                        <a:rPr sz="950" b="0">
                          <a:solidFill>
                            <a:srgbClr val="000000"/>
                          </a:solidFill>
                          <a:latin typeface="Calibri"/>
                        </a:rPr>
                        <a:t>23.6 %</a:t>
                      </a:r>
                    </a:p>
                  </a:txBody>
                  <a:tcPr/>
                </a:tc>
                <a:tc>
                  <a:txBody>
                    <a:bodyPr lIns="54864" rIns="54864" tIns="18288" bIns="18288" wrap="square" anchor="ctr"/>
                    <a:lstStyle/>
                    <a:p>
                      <a:pPr algn="l"/>
                      <a:r>
                        <a:rPr sz="950" b="1">
                          <a:solidFill>
                            <a:srgbClr val="000000"/>
                          </a:solidFill>
                          <a:latin typeface="Calibri"/>
                        </a:rPr>
                        <a:t>12.6 %</a:t>
                      </a:r>
                    </a:p>
                  </a:txBody>
                  <a:tcPr>
                    <a:solidFill>
                      <a:srgbClr val="C8E6C9"/>
                    </a:solidFill>
                  </a:tcPr>
                </a:tc>
              </a:tr>
              <a:tr h="335280">
                <a:tc>
                  <a:txBody>
                    <a:bodyPr lIns="54864" rIns="54864" tIns="18288" bIns="18288" wrap="square" anchor="ctr"/>
                    <a:lstStyle/>
                    <a:p>
                      <a:pPr algn="l"/>
                      <a:r>
                        <a:rPr sz="950" b="0">
                          <a:solidFill>
                            <a:srgbClr val="000000"/>
                          </a:solidFill>
                          <a:latin typeface="Calibri"/>
                        </a:rPr>
                        <a:t>100 % infill</a:t>
                      </a:r>
                    </a:p>
                  </a:txBody>
                  <a:tcPr/>
                </a:tc>
                <a:tc>
                  <a:txBody>
                    <a:bodyPr lIns="54864" rIns="54864" tIns="18288" bIns="18288" wrap="square" anchor="ctr"/>
                    <a:lstStyle/>
                    <a:p>
                      <a:pPr algn="l"/>
                      <a:r>
                        <a:rPr sz="950" b="0">
                          <a:solidFill>
                            <a:srgbClr val="000000"/>
                          </a:solidFill>
                          <a:latin typeface="Calibri"/>
                        </a:rPr>
                        <a:t>16</a:t>
                      </a:r>
                    </a:p>
                  </a:txBody>
                  <a:tcPr/>
                </a:tc>
                <a:tc>
                  <a:txBody>
                    <a:bodyPr lIns="54864" rIns="54864" tIns="18288" bIns="18288" wrap="square" anchor="ctr"/>
                    <a:lstStyle/>
                    <a:p>
                      <a:pPr algn="l"/>
                      <a:r>
                        <a:rPr sz="950" b="0">
                          <a:solidFill>
                            <a:srgbClr val="000000"/>
                          </a:solidFill>
                          <a:latin typeface="Calibri"/>
                        </a:rPr>
                        <a:t>2.079 GPa</a:t>
                      </a:r>
                    </a:p>
                  </a:txBody>
                  <a:tcPr/>
                </a:tc>
                <a:tc>
                  <a:txBody>
                    <a:bodyPr lIns="54864" rIns="54864" tIns="18288" bIns="18288" wrap="square" anchor="ctr"/>
                    <a:lstStyle/>
                    <a:p>
                      <a:pPr algn="l"/>
                      <a:r>
                        <a:rPr sz="950" b="0">
                          <a:solidFill>
                            <a:srgbClr val="000000"/>
                          </a:solidFill>
                          <a:latin typeface="Calibri"/>
                        </a:rPr>
                        <a:t>2.326 GPa</a:t>
                      </a:r>
                    </a:p>
                  </a:txBody>
                  <a:tcPr/>
                </a:tc>
                <a:tc>
                  <a:txBody>
                    <a:bodyPr lIns="54864" rIns="54864" tIns="18288" bIns="18288" wrap="square" anchor="ctr"/>
                    <a:lstStyle/>
                    <a:p>
                      <a:pPr algn="l"/>
                      <a:r>
                        <a:rPr sz="950" b="0">
                          <a:solidFill>
                            <a:srgbClr val="000000"/>
                          </a:solidFill>
                          <a:latin typeface="Calibri"/>
                        </a:rPr>
                        <a:t>52.5 %</a:t>
                      </a:r>
                    </a:p>
                  </a:txBody>
                  <a:tcPr/>
                </a:tc>
                <a:tc>
                  <a:txBody>
                    <a:bodyPr lIns="54864" rIns="54864" tIns="18288" bIns="18288" wrap="square" anchor="ctr"/>
                    <a:lstStyle/>
                    <a:p>
                      <a:pPr algn="l"/>
                      <a:r>
                        <a:rPr sz="950" b="1">
                          <a:solidFill>
                            <a:srgbClr val="000000"/>
                          </a:solidFill>
                          <a:latin typeface="Calibri"/>
                        </a:rPr>
                        <a:t>52.2 %</a:t>
                      </a:r>
                    </a:p>
                  </a:txBody>
                  <a:tcPr>
                    <a:solidFill>
                      <a:srgbClr val="C8E6C9"/>
                    </a:solidFill>
                  </a:tcPr>
                </a:tc>
              </a:tr>
            </a:tbl>
          </a:graphicData>
        </a:graphic>
      </p:graphicFrame>
      <p:sp>
        <p:nvSpPr>
          <p:cNvPr id="7" name="TextBox 6"/>
          <p:cNvSpPr txBox="1"/>
          <p:nvPr/>
        </p:nvSpPr>
        <p:spPr>
          <a:xfrm>
            <a:off x="365760" y="2788920"/>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moved, and what did not</a:t>
            </a:r>
          </a:p>
        </p:txBody>
      </p:sp>
      <p:sp>
        <p:nvSpPr>
          <p:cNvPr id="8" name="TextBox 7"/>
          <p:cNvSpPr txBox="1"/>
          <p:nvPr/>
        </p:nvSpPr>
        <p:spPr>
          <a:xfrm>
            <a:off x="365760" y="3127248"/>
            <a:ext cx="6675120" cy="2377440"/>
          </a:xfrm>
          <a:prstGeom prst="rect">
            <a:avLst/>
          </a:prstGeom>
          <a:noFill/>
        </p:spPr>
        <p:txBody>
          <a:bodyPr wrap="square" lIns="45720" rIns="45720" tIns="18288" bIns="18288" anchor="t">
            <a:spAutoFit/>
          </a:bodyPr>
          <a:lstStyle/>
          <a:p>
            <a:pPr algn="l"/>
            <a:r>
              <a:rPr sz="1100" b="0" i="0">
                <a:solidFill>
                  <a:srgbClr val="000000"/>
                </a:solidFill>
                <a:latin typeface="Calibri"/>
              </a:rPr>
              <a:t>SCATTER FELL IN BOTH MATERIALS — 23.6 → 12.6 % at 50 % infill and 13.2 → 8.5 % at 100 %. That is the whole case: a rule that merely chased noise would have raised it.
UTS, ε_f, TOUGHNESS AND THE ANCHOR ARE UNTOUCHED. Verified bit-identical on all 20 runs rather than assumed — a silent change to UTS would have invalidated the campaign.
σ_y MOVES, because the 0.2 % offset line has slope E. A steeper E meets the curve earlier and lower, so σ_y falls: −1.7 % typical, −10.2 % worst (S26). Its own scatter improves at 100 % (5.1 → 4.3 %) and is flat at 50 % (7.7 → 8.0 %) — call σ_y unchanged in quality, not improved.</a:t>
            </a:r>
          </a:p>
        </p:txBody>
      </p:sp>
      <p:sp>
        <p:nvSpPr>
          <p:cNvPr id="9" name="TextBox 8"/>
          <p:cNvSpPr txBox="1"/>
          <p:nvPr/>
        </p:nvSpPr>
        <p:spPr>
          <a:xfrm>
            <a:off x="7269480" y="1600200"/>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runs it changed most</a:t>
            </a:r>
          </a:p>
        </p:txBody>
      </p:sp>
      <p:graphicFrame>
        <p:nvGraphicFramePr>
          <p:cNvPr id="10" name="Table 9"/>
          <p:cNvGraphicFramePr>
            <a:graphicFrameLocks noGrp="1"/>
          </p:cNvGraphicFramePr>
          <p:nvPr/>
        </p:nvGraphicFramePr>
        <p:xfrm>
          <a:off x="7269480" y="1938528"/>
          <a:ext cx="4572000" cy="2194560"/>
        </p:xfrm>
        <a:graphic>
          <a:graphicData uri="http://schemas.openxmlformats.org/drawingml/2006/table">
            <a:tbl>
              <a:tblPr firstRow="1" bandRow="1">
                <a:tableStyleId>{5C22544A-7EE6-4342-B048-85BDC9FD1C3A}</a:tableStyleId>
              </a:tblPr>
              <a:tblGrid>
                <a:gridCol w="731520"/>
                <a:gridCol w="731520"/>
                <a:gridCol w="914400"/>
                <a:gridCol w="914400"/>
                <a:gridCol w="1280160"/>
              </a:tblGrid>
              <a:tr h="313508">
                <a:tc>
                  <a:txBody>
                    <a:bodyPr lIns="54864" rIns="54864" tIns="18288" bIns="18288" wrap="square" anchor="ctr"/>
                    <a:lstStyle/>
                    <a:p>
                      <a:pPr algn="l"/>
                      <a:r>
                        <a:rPr sz="950" b="1">
                          <a:solidFill>
                            <a:srgbClr val="FFFFFF"/>
                          </a:solidFill>
                          <a:latin typeface="Calibri"/>
                        </a:rPr>
                        <a:t>spec</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E old</a:t>
                      </a:r>
                    </a:p>
                  </a:txBody>
                  <a:tcPr>
                    <a:solidFill>
                      <a:srgbClr val="143D2F"/>
                    </a:solidFill>
                  </a:tcPr>
                </a:tc>
                <a:tc>
                  <a:txBody>
                    <a:bodyPr lIns="54864" rIns="54864" tIns="18288" bIns="18288" wrap="square" anchor="ctr"/>
                    <a:lstStyle/>
                    <a:p>
                      <a:pPr algn="l"/>
                      <a:r>
                        <a:rPr sz="950" b="1">
                          <a:solidFill>
                            <a:srgbClr val="FFFFFF"/>
                          </a:solidFill>
                          <a:latin typeface="Calibri"/>
                        </a:rPr>
                        <a:t>E new</a:t>
                      </a:r>
                    </a:p>
                  </a:txBody>
                  <a:tcPr>
                    <a:solidFill>
                      <a:srgbClr val="143D2F"/>
                    </a:solidFill>
                  </a:tcPr>
                </a:tc>
                <a:tc>
                  <a:txBody>
                    <a:bodyPr lIns="54864" rIns="54864" tIns="18288" bIns="18288" wrap="square" anchor="ctr"/>
                    <a:lstStyle/>
                    <a:p>
                      <a:pPr algn="l"/>
                      <a:r>
                        <a:rPr sz="950" b="1">
                          <a:solidFill>
                            <a:srgbClr val="FFFFFF"/>
                          </a:solidFill>
                          <a:latin typeface="Calibri"/>
                        </a:rPr>
                        <a:t>window %</a:t>
                      </a:r>
                    </a:p>
                  </a:txBody>
                  <a:tcPr>
                    <a:solidFill>
                      <a:srgbClr val="143D2F"/>
                    </a:solidFill>
                  </a:tcPr>
                </a:tc>
              </a:tr>
              <a:tr h="313508">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0.609</a:t>
                      </a:r>
                    </a:p>
                  </a:txBody>
                  <a:tcPr/>
                </a:tc>
                <a:tc>
                  <a:txBody>
                    <a:bodyPr lIns="54864" rIns="54864" tIns="18288" bIns="18288" wrap="square" anchor="ctr"/>
                    <a:lstStyle/>
                    <a:p>
                      <a:pPr algn="l"/>
                      <a:r>
                        <a:rPr sz="900" b="0">
                          <a:solidFill>
                            <a:srgbClr val="000000"/>
                          </a:solidFill>
                          <a:latin typeface="Calibri"/>
                        </a:rPr>
                        <a:t>1.382</a:t>
                      </a:r>
                    </a:p>
                  </a:txBody>
                  <a:tcPr/>
                </a:tc>
                <a:tc>
                  <a:txBody>
                    <a:bodyPr lIns="54864" rIns="54864" tIns="18288" bIns="18288" wrap="square" anchor="ctr"/>
                    <a:lstStyle/>
                    <a:p>
                      <a:pPr algn="l"/>
                      <a:r>
                        <a:rPr sz="900" b="0">
                          <a:solidFill>
                            <a:srgbClr val="000000"/>
                          </a:solidFill>
                          <a:latin typeface="Calibri"/>
                        </a:rPr>
                        <a:t>0.70–1.00</a:t>
                      </a:r>
                    </a:p>
                  </a:txBody>
                  <a:tcPr/>
                </a:tc>
              </a:tr>
              <a:tr h="313508">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2.508</a:t>
                      </a:r>
                    </a:p>
                  </a:txBody>
                  <a:tcPr/>
                </a:tc>
                <a:tc>
                  <a:txBody>
                    <a:bodyPr lIns="54864" rIns="54864" tIns="18288" bIns="18288" wrap="square" anchor="ctr"/>
                    <a:lstStyle/>
                    <a:p>
                      <a:pPr algn="l"/>
                      <a:r>
                        <a:rPr sz="900" b="0">
                          <a:solidFill>
                            <a:srgbClr val="000000"/>
                          </a:solidFill>
                          <a:latin typeface="Calibri"/>
                        </a:rPr>
                        <a:t>3.549</a:t>
                      </a:r>
                    </a:p>
                  </a:txBody>
                  <a:tcPr/>
                </a:tc>
                <a:tc>
                  <a:txBody>
                    <a:bodyPr lIns="54864" rIns="54864" tIns="18288" bIns="18288" wrap="square" anchor="ctr"/>
                    <a:lstStyle/>
                    <a:p>
                      <a:pPr algn="l"/>
                      <a:r>
                        <a:rPr sz="900" b="0">
                          <a:solidFill>
                            <a:srgbClr val="000000"/>
                          </a:solidFill>
                          <a:latin typeface="Calibri"/>
                        </a:rPr>
                        <a:t>0.42–0.68</a:t>
                      </a:r>
                    </a:p>
                  </a:txBody>
                  <a:tcPr/>
                </a:tc>
              </a:tr>
              <a:tr h="313508">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1.876</a:t>
                      </a:r>
                    </a:p>
                  </a:txBody>
                  <a:tcPr/>
                </a:tc>
                <a:tc>
                  <a:txBody>
                    <a:bodyPr lIns="54864" rIns="54864" tIns="18288" bIns="18288" wrap="square" anchor="ctr"/>
                    <a:lstStyle/>
                    <a:p>
                      <a:pPr algn="l"/>
                      <a:r>
                        <a:rPr sz="900" b="0">
                          <a:solidFill>
                            <a:srgbClr val="000000"/>
                          </a:solidFill>
                          <a:latin typeface="Calibri"/>
                        </a:rPr>
                        <a:t>2.638</a:t>
                      </a:r>
                    </a:p>
                  </a:txBody>
                  <a:tcPr/>
                </a:tc>
                <a:tc>
                  <a:txBody>
                    <a:bodyPr lIns="54864" rIns="54864" tIns="18288" bIns="18288" wrap="square" anchor="ctr"/>
                    <a:lstStyle/>
                    <a:p>
                      <a:pPr algn="l"/>
                      <a:r>
                        <a:rPr sz="900" b="0">
                          <a:solidFill>
                            <a:srgbClr val="000000"/>
                          </a:solidFill>
                          <a:latin typeface="Calibri"/>
                        </a:rPr>
                        <a:t>0.71–1.11</a:t>
                      </a:r>
                    </a:p>
                  </a:txBody>
                  <a:tcPr/>
                </a:tc>
              </a:tr>
              <a:tr h="313508">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2.409</a:t>
                      </a:r>
                    </a:p>
                  </a:txBody>
                  <a:tcPr/>
                </a:tc>
                <a:tc>
                  <a:txBody>
                    <a:bodyPr lIns="54864" rIns="54864" tIns="18288" bIns="18288" wrap="square" anchor="ctr"/>
                    <a:lstStyle/>
                    <a:p>
                      <a:pPr algn="l"/>
                      <a:r>
                        <a:rPr sz="900" b="0">
                          <a:solidFill>
                            <a:srgbClr val="000000"/>
                          </a:solidFill>
                          <a:latin typeface="Calibri"/>
                        </a:rPr>
                        <a:t>3.003</a:t>
                      </a:r>
                    </a:p>
                  </a:txBody>
                  <a:tcPr/>
                </a:tc>
                <a:tc>
                  <a:txBody>
                    <a:bodyPr lIns="54864" rIns="54864" tIns="18288" bIns="18288" wrap="square" anchor="ctr"/>
                    <a:lstStyle/>
                    <a:p>
                      <a:pPr algn="l"/>
                      <a:r>
                        <a:rPr sz="900" b="0">
                          <a:solidFill>
                            <a:srgbClr val="000000"/>
                          </a:solidFill>
                          <a:latin typeface="Calibri"/>
                        </a:rPr>
                        <a:t>0.44–0.77</a:t>
                      </a:r>
                    </a:p>
                  </a:txBody>
                  <a:tcPr/>
                </a:tc>
              </a:tr>
              <a:tr h="313508">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2.594</a:t>
                      </a:r>
                    </a:p>
                  </a:txBody>
                  <a:tcPr/>
                </a:tc>
                <a:tc>
                  <a:txBody>
                    <a:bodyPr lIns="54864" rIns="54864" tIns="18288" bIns="18288" wrap="square" anchor="ctr"/>
                    <a:lstStyle/>
                    <a:p>
                      <a:pPr algn="l"/>
                      <a:r>
                        <a:rPr sz="900" b="0">
                          <a:solidFill>
                            <a:srgbClr val="000000"/>
                          </a:solidFill>
                          <a:latin typeface="Calibri"/>
                        </a:rPr>
                        <a:t>3.075</a:t>
                      </a:r>
                    </a:p>
                  </a:txBody>
                  <a:tcPr/>
                </a:tc>
                <a:tc>
                  <a:txBody>
                    <a:bodyPr lIns="54864" rIns="54864" tIns="18288" bIns="18288" wrap="square" anchor="ctr"/>
                    <a:lstStyle/>
                    <a:p>
                      <a:pPr algn="l"/>
                      <a:r>
                        <a:rPr sz="900" b="0">
                          <a:solidFill>
                            <a:srgbClr val="000000"/>
                          </a:solidFill>
                          <a:latin typeface="Calibri"/>
                        </a:rPr>
                        <a:t>0.50–0.85</a:t>
                      </a:r>
                    </a:p>
                  </a:txBody>
                  <a:tcPr/>
                </a:tc>
              </a:tr>
              <a:tr h="313512">
                <a:tc>
                  <a:txBody>
                    <a:bodyPr lIns="54864" rIns="54864" tIns="18288" bIns="18288" wrap="square" anchor="ctr"/>
                    <a:lstStyle/>
                    <a:p>
                      <a:pPr algn="l"/>
                      <a:r>
                        <a:rPr sz="900" b="0">
                          <a:solidFill>
                            <a:srgbClr val="000000"/>
                          </a:solidFill>
                          <a:latin typeface="Calibri"/>
                        </a:rPr>
                        <a:t>S27</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1.216</a:t>
                      </a:r>
                    </a:p>
                  </a:txBody>
                  <a:tcPr/>
                </a:tc>
                <a:tc>
                  <a:txBody>
                    <a:bodyPr lIns="54864" rIns="54864" tIns="18288" bIns="18288" wrap="square" anchor="ctr"/>
                    <a:lstStyle/>
                    <a:p>
                      <a:pPr algn="l"/>
                      <a:r>
                        <a:rPr sz="900" b="0">
                          <a:solidFill>
                            <a:srgbClr val="000000"/>
                          </a:solidFill>
                          <a:latin typeface="Calibri"/>
                        </a:rPr>
                        <a:t>1.395</a:t>
                      </a:r>
                    </a:p>
                  </a:txBody>
                  <a:tcPr/>
                </a:tc>
                <a:tc>
                  <a:txBody>
                    <a:bodyPr lIns="54864" rIns="54864" tIns="18288" bIns="18288" wrap="square" anchor="ctr"/>
                    <a:lstStyle/>
                    <a:p>
                      <a:pPr algn="l"/>
                      <a:r>
                        <a:rPr sz="900" b="0">
                          <a:solidFill>
                            <a:srgbClr val="000000"/>
                          </a:solidFill>
                          <a:latin typeface="Calibri"/>
                        </a:rPr>
                        <a:t>0.31–0.61</a:t>
                      </a:r>
                    </a:p>
                  </a:txBody>
                  <a:tcPr/>
                </a:tc>
              </a:tr>
            </a:tbl>
          </a:graphicData>
        </a:graphic>
      </p:graphicFrame>
      <p:sp>
        <p:nvSpPr>
          <p:cNvPr id="11" name="TextBox 10"/>
          <p:cNvSpPr txBox="1"/>
          <p:nvPr/>
        </p:nvSpPr>
        <p:spPr>
          <a:xfrm>
            <a:off x="7269480" y="4297680"/>
            <a:ext cx="4572000" cy="1234440"/>
          </a:xfrm>
          <a:prstGeom prst="rect">
            <a:avLst/>
          </a:prstGeom>
          <a:noFill/>
        </p:spPr>
        <p:txBody>
          <a:bodyPr wrap="square" lIns="45720" rIns="45720" tIns="18288" bIns="18288" anchor="t">
            <a:spAutoFit/>
          </a:bodyPr>
          <a:lstStyle/>
          <a:p>
            <a:pPr algn="l"/>
            <a:r>
              <a:rPr sz="1050" b="0" i="0">
                <a:solidFill>
                  <a:srgbClr val="000000"/>
                </a:solidFill>
                <a:latin typeface="Calibri"/>
              </a:rPr>
              <a:t>S21's fixed-window E of 0.609 GPa was half the next lowest 50 % specimen — the fixed window had landed squarely on its toe. At 1.382 it now sits inside the family (0.95–1.50). The biggest movers are the runs the old rule was getting most wrong.</a:t>
            </a:r>
          </a:p>
        </p:txBody>
      </p:sp>
      <p:sp>
        <p:nvSpPr>
          <p:cNvPr id="12" name="Rectangle 11"/>
          <p:cNvSpPr/>
          <p:nvPr/>
        </p:nvSpPr>
        <p:spPr>
          <a:xfrm>
            <a:off x="365760" y="56235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fixed window is not deleted — analyze() returns E_fixed and E_fixed_R2 next to E, so any run can still be stated on the old basis without re-deriving it, and this slide is computed from both.</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Rule: steepest stretch below 2 % strain, ≥ 0.25 % wide, ≥ 25 points, R² within 0.0005 of the straightest the record can offer (capped 0.999). The relative floor matters — an absolute one alone fell back to the fixed window on the noisier 50 % runs, which would have meant two rules over one dataset.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FAR APART DO THE TWO CURVES ACTUALLY RUN?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Two curves that “look identical” is not a measurement. Putting them on a common strain axis and subtracting is: agreement becomes a number at every strain, which is what a repeatability claim rests on.</a:t>
            </a:r>
          </a:p>
        </p:txBody>
      </p:sp>
      <p:pic>
        <p:nvPicPr>
          <p:cNvPr id="6" name="Picture 5" descr="s27_s28_deviation.png"/>
          <p:cNvPicPr>
            <a:picLocks noChangeAspect="1"/>
          </p:cNvPicPr>
          <p:nvPr/>
        </p:nvPicPr>
        <p:blipFill>
          <a:blip r:embed="rId2"/>
          <a:stretch>
            <a:fillRect/>
          </a:stretch>
        </p:blipFill>
        <p:spPr>
          <a:xfrm>
            <a:off x="365760" y="1664208"/>
            <a:ext cx="11475720" cy="3855125"/>
          </a:xfrm>
          <a:prstGeom prst="rect">
            <a:avLst/>
          </a:prstGeom>
        </p:spPr>
      </p:pic>
      <p:sp>
        <p:nvSpPr>
          <p:cNvPr id="7" name="Rounded Rectangle 6"/>
          <p:cNvSpPr/>
          <p:nvPr/>
        </p:nvSpPr>
        <p:spPr>
          <a:xfrm>
            <a:off x="365760"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0.200 MPa</a:t>
            </a:r>
          </a:p>
          <a:p>
            <a:pPr algn="ctr"/>
            <a:r>
              <a:rPr sz="950">
                <a:solidFill>
                  <a:srgbClr val="000000"/>
                </a:solidFill>
                <a:latin typeface="Calibri"/>
              </a:rPr>
              <a:t>mean |Δσ|</a:t>
            </a:r>
          </a:p>
        </p:txBody>
      </p:sp>
      <p:sp>
        <p:nvSpPr>
          <p:cNvPr id="8" name="Rounded Rectangle 7"/>
          <p:cNvSpPr/>
          <p:nvPr/>
        </p:nvSpPr>
        <p:spPr>
          <a:xfrm>
            <a:off x="2304288"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0.273 MPa</a:t>
            </a:r>
          </a:p>
          <a:p>
            <a:pPr algn="ctr"/>
            <a:r>
              <a:rPr sz="950">
                <a:solidFill>
                  <a:srgbClr val="000000"/>
                </a:solidFill>
                <a:latin typeface="Calibri"/>
              </a:rPr>
              <a:t>RMS</a:t>
            </a:r>
          </a:p>
        </p:txBody>
      </p:sp>
      <p:sp>
        <p:nvSpPr>
          <p:cNvPr id="9" name="Rounded Rectangle 8"/>
          <p:cNvSpPr/>
          <p:nvPr/>
        </p:nvSpPr>
        <p:spPr>
          <a:xfrm>
            <a:off x="4242816"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0.806 MPa</a:t>
            </a:r>
          </a:p>
          <a:p>
            <a:pPr algn="ctr"/>
            <a:r>
              <a:rPr sz="950">
                <a:solidFill>
                  <a:srgbClr val="000000"/>
                </a:solidFill>
                <a:latin typeface="Calibri"/>
              </a:rPr>
              <a:t>worst |Δσ|</a:t>
            </a:r>
          </a:p>
        </p:txBody>
      </p:sp>
      <p:sp>
        <p:nvSpPr>
          <p:cNvPr id="10" name="Rounded Rectangle 9"/>
          <p:cNvSpPr/>
          <p:nvPr/>
        </p:nvSpPr>
        <p:spPr>
          <a:xfrm>
            <a:off x="6181344"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a:t>
            </a:r>
          </a:p>
          <a:p>
            <a:pPr algn="ctr"/>
            <a:r>
              <a:rPr sz="950">
                <a:solidFill>
                  <a:srgbClr val="000000"/>
                </a:solidFill>
                <a:latin typeface="Calibri"/>
              </a:rPr>
              <a:t>worst at ε</a:t>
            </a:r>
          </a:p>
        </p:txBody>
      </p:sp>
      <p:sp>
        <p:nvSpPr>
          <p:cNvPr id="11" name="Rounded Rectangle 10"/>
          <p:cNvSpPr/>
          <p:nvPr/>
        </p:nvSpPr>
        <p:spPr>
          <a:xfrm>
            <a:off x="8119872"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1.32 %</a:t>
            </a:r>
          </a:p>
          <a:p>
            <a:pPr algn="ctr"/>
            <a:r>
              <a:rPr sz="950">
                <a:solidFill>
                  <a:srgbClr val="000000"/>
                </a:solidFill>
                <a:latin typeface="Calibri"/>
              </a:rPr>
              <a:t>mean |Δ|</a:t>
            </a:r>
          </a:p>
        </p:txBody>
      </p:sp>
      <p:sp>
        <p:nvSpPr>
          <p:cNvPr id="12" name="Rounded Rectangle 11"/>
          <p:cNvSpPr/>
          <p:nvPr/>
        </p:nvSpPr>
        <p:spPr>
          <a:xfrm>
            <a:off x="10058400"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44</a:t>
            </a:r>
          </a:p>
          <a:p>
            <a:pPr algn="ctr"/>
            <a:r>
              <a:rPr sz="950">
                <a:solidFill>
                  <a:srgbClr val="000000"/>
                </a:solidFill>
                <a:latin typeface="Calibri"/>
              </a:rPr>
              <a:t>matched points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Shared strain range ε 0.10–3.98 %. Δσ = σ(S28) − σ(S27) at matched strain; the worst case sits at the very end, where one specimen has begun to fracture and the other has not.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0.00 % → 1.90 %,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0.00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4.88</a:t>
                      </a:r>
                    </a:p>
                  </a:txBody>
                  <a:tcPr/>
                </a:tc>
                <a:tc>
                  <a:txBody>
                    <a:bodyPr lIns="54864" rIns="54864" tIns="18288" bIns="18288" wrap="square" anchor="ctr"/>
                    <a:lstStyle/>
                    <a:p>
                      <a:pPr algn="l"/>
                      <a:r>
                        <a:rPr sz="900" b="0">
                          <a:solidFill>
                            <a:srgbClr val="000000"/>
                          </a:solidFill>
                          <a:latin typeface="Calibri"/>
                        </a:rPr>
                        <a:t>4.98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0.20</a:t>
                      </a:r>
                    </a:p>
                  </a:txBody>
                  <a:tcPr/>
                </a:tc>
                <a:tc>
                  <a:txBody>
                    <a:bodyPr lIns="54864" rIns="54864" tIns="18288" bIns="18288" wrap="square" anchor="ctr"/>
                    <a:lstStyle/>
                    <a:p>
                      <a:pPr algn="l"/>
                      <a:r>
                        <a:rPr sz="900" b="0">
                          <a:solidFill>
                            <a:srgbClr val="000000"/>
                          </a:solidFill>
                          <a:latin typeface="Calibri"/>
                        </a:rPr>
                        <a:t>5.96</a:t>
                      </a:r>
                    </a:p>
                  </a:txBody>
                  <a:tcPr/>
                </a:tc>
                <a:tc>
                  <a:txBody>
                    <a:bodyPr lIns="54864" rIns="54864" tIns="18288" bIns="18288" wrap="square" anchor="ctr"/>
                    <a:lstStyle/>
                    <a:p>
                      <a:pPr algn="l"/>
                      <a:r>
                        <a:rPr sz="900" b="0">
                          <a:solidFill>
                            <a:srgbClr val="000000"/>
                          </a:solidFill>
                          <a:latin typeface="Calibri"/>
                        </a:rPr>
                        <a:t>6.30</a:t>
                      </a:r>
                    </a:p>
                  </a:txBody>
                  <a:tcPr/>
                </a:tc>
                <a:tc>
                  <a:txBody>
                    <a:bodyPr lIns="54864" rIns="54864" tIns="18288" bIns="18288" wrap="square" anchor="ctr"/>
                    <a:lstStyle/>
                    <a:p>
                      <a:pPr algn="l"/>
                      <a:r>
                        <a:rPr sz="900" b="0">
                          <a:solidFill>
                            <a:srgbClr val="000000"/>
                          </a:solidFill>
                          <a:latin typeface="Calibri"/>
                        </a:rPr>
                        <a:t>+0.34</a:t>
                      </a:r>
                    </a:p>
                  </a:txBody>
                  <a:tcPr/>
                </a:tc>
                <a:tc>
                  <a:txBody>
                    <a:bodyPr lIns="54864" rIns="54864" tIns="18288" bIns="18288" wrap="square" anchor="ctr"/>
                    <a:lstStyle/>
                    <a:p>
                      <a:pPr algn="l"/>
                      <a:r>
                        <a:rPr sz="900" b="0">
                          <a:solidFill>
                            <a:srgbClr val="000000"/>
                          </a:solidFill>
                          <a:latin typeface="Calibri"/>
                        </a:rPr>
                        <a:t>+5.6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7.30</a:t>
                      </a:r>
                    </a:p>
                  </a:txBody>
                  <a:tcPr/>
                </a:tc>
                <a:tc>
                  <a:txBody>
                    <a:bodyPr lIns="54864" rIns="54864" tIns="18288" bIns="18288" wrap="square" anchor="ctr"/>
                    <a:lstStyle/>
                    <a:p>
                      <a:pPr algn="l"/>
                      <a:r>
                        <a:rPr sz="900" b="0">
                          <a:solidFill>
                            <a:srgbClr val="000000"/>
                          </a:solidFill>
                          <a:latin typeface="Calibri"/>
                        </a:rPr>
                        <a:t>7.55</a:t>
                      </a:r>
                    </a:p>
                  </a:txBody>
                  <a:tcPr/>
                </a:tc>
                <a:tc>
                  <a:txBody>
                    <a:bodyPr lIns="54864" rIns="54864" tIns="18288" bIns="18288" wrap="square" anchor="ctr"/>
                    <a:lstStyle/>
                    <a:p>
                      <a:pPr algn="l"/>
                      <a:r>
                        <a:rPr sz="900" b="0">
                          <a:solidFill>
                            <a:srgbClr val="000000"/>
                          </a:solidFill>
                          <a:latin typeface="Calibri"/>
                        </a:rPr>
                        <a:t>+0.26</a:t>
                      </a:r>
                    </a:p>
                  </a:txBody>
                  <a:tcPr/>
                </a:tc>
                <a:tc>
                  <a:txBody>
                    <a:bodyPr lIns="54864" rIns="54864" tIns="18288" bIns="18288" wrap="square" anchor="ctr"/>
                    <a:lstStyle/>
                    <a:p>
                      <a:pPr algn="l"/>
                      <a:r>
                        <a:rPr sz="900" b="0">
                          <a:solidFill>
                            <a:srgbClr val="000000"/>
                          </a:solidFill>
                          <a:latin typeface="Calibri"/>
                        </a:rPr>
                        <a:t>+3.5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8.58</a:t>
                      </a:r>
                    </a:p>
                  </a:txBody>
                  <a:tcPr/>
                </a:tc>
                <a:tc>
                  <a:txBody>
                    <a:bodyPr lIns="54864" rIns="54864" tIns="18288" bIns="18288" wrap="square" anchor="ctr"/>
                    <a:lstStyle/>
                    <a:p>
                      <a:pPr algn="l"/>
                      <a:r>
                        <a:rPr sz="900" b="0">
                          <a:solidFill>
                            <a:srgbClr val="000000"/>
                          </a:solidFill>
                          <a:latin typeface="Calibri"/>
                        </a:rPr>
                        <a:t>8.80</a:t>
                      </a:r>
                    </a:p>
                  </a:txBody>
                  <a:tcPr/>
                </a:tc>
                <a:tc>
                  <a:txBody>
                    <a:bodyPr lIns="54864" rIns="54864" tIns="18288" bIns="18288" wrap="square" anchor="ctr"/>
                    <a:lstStyle/>
                    <a:p>
                      <a:pPr algn="l"/>
                      <a:r>
                        <a:rPr sz="900" b="0">
                          <a:solidFill>
                            <a:srgbClr val="000000"/>
                          </a:solidFill>
                          <a:latin typeface="Calibri"/>
                        </a:rPr>
                        <a:t>+0.22</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10.01</a:t>
                      </a:r>
                    </a:p>
                  </a:txBody>
                  <a:tcPr/>
                </a:tc>
                <a:tc>
                  <a:txBody>
                    <a:bodyPr lIns="54864" rIns="54864" tIns="18288" bIns="18288" wrap="square" anchor="ctr"/>
                    <a:lstStyle/>
                    <a:p>
                      <a:pPr algn="l"/>
                      <a:r>
                        <a:rPr sz="900" b="0">
                          <a:solidFill>
                            <a:srgbClr val="000000"/>
                          </a:solidFill>
                          <a:latin typeface="Calibri"/>
                        </a:rPr>
                        <a:t>10.04</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0.60</a:t>
                      </a:r>
                    </a:p>
                  </a:txBody>
                  <a:tcPr/>
                </a:tc>
                <a:tc>
                  <a:txBody>
                    <a:bodyPr lIns="54864" rIns="54864" tIns="18288" bIns="18288" wrap="square" anchor="ctr"/>
                    <a:lstStyle/>
                    <a:p>
                      <a:pPr algn="l"/>
                      <a:r>
                        <a:rPr sz="900" b="0">
                          <a:solidFill>
                            <a:srgbClr val="000000"/>
                          </a:solidFill>
                          <a:latin typeface="Calibri"/>
                        </a:rPr>
                        <a:t>11.31</a:t>
                      </a:r>
                    </a:p>
                  </a:txBody>
                  <a:tcPr/>
                </a:tc>
                <a:tc>
                  <a:txBody>
                    <a:bodyPr lIns="54864" rIns="54864" tIns="18288" bIns="18288" wrap="square" anchor="ctr"/>
                    <a:lstStyle/>
                    <a:p>
                      <a:pPr algn="l"/>
                      <a:r>
                        <a:rPr sz="900" b="0">
                          <a:solidFill>
                            <a:srgbClr val="000000"/>
                          </a:solidFill>
                          <a:latin typeface="Calibri"/>
                        </a:rPr>
                        <a:t>11.24</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0.70</a:t>
                      </a:r>
                    </a:p>
                  </a:txBody>
                  <a:tcPr/>
                </a:tc>
                <a:tc>
                  <a:txBody>
                    <a:bodyPr lIns="54864" rIns="54864" tIns="18288" bIns="18288" wrap="square" anchor="ctr"/>
                    <a:lstStyle/>
                    <a:p>
                      <a:pPr algn="l"/>
                      <a:r>
                        <a:rPr sz="900" b="0">
                          <a:solidFill>
                            <a:srgbClr val="000000"/>
                          </a:solidFill>
                          <a:latin typeface="Calibri"/>
                        </a:rPr>
                        <a:t>12.62</a:t>
                      </a:r>
                    </a:p>
                  </a:txBody>
                  <a:tcPr/>
                </a:tc>
                <a:tc>
                  <a:txBody>
                    <a:bodyPr lIns="54864" rIns="54864" tIns="18288" bIns="18288" wrap="square" anchor="ctr"/>
                    <a:lstStyle/>
                    <a:p>
                      <a:pPr algn="l"/>
                      <a:r>
                        <a:rPr sz="900" b="0">
                          <a:solidFill>
                            <a:srgbClr val="000000"/>
                          </a:solidFill>
                          <a:latin typeface="Calibri"/>
                        </a:rPr>
                        <a:t>12.43</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0.80</a:t>
                      </a:r>
                    </a:p>
                  </a:txBody>
                  <a:tcPr/>
                </a:tc>
                <a:tc>
                  <a:txBody>
                    <a:bodyPr lIns="54864" rIns="54864" tIns="18288" bIns="18288" wrap="square" anchor="ctr"/>
                    <a:lstStyle/>
                    <a:p>
                      <a:pPr algn="l"/>
                      <a:r>
                        <a:rPr sz="900" b="0">
                          <a:solidFill>
                            <a:srgbClr val="000000"/>
                          </a:solidFill>
                          <a:latin typeface="Calibri"/>
                        </a:rPr>
                        <a:t>13.88</a:t>
                      </a:r>
                    </a:p>
                  </a:txBody>
                  <a:tcPr/>
                </a:tc>
                <a:tc>
                  <a:txBody>
                    <a:bodyPr lIns="54864" rIns="54864" tIns="18288" bIns="18288" wrap="square" anchor="ctr"/>
                    <a:lstStyle/>
                    <a:p>
                      <a:pPr algn="l"/>
                      <a:r>
                        <a:rPr sz="900" b="0">
                          <a:solidFill>
                            <a:srgbClr val="000000"/>
                          </a:solidFill>
                          <a:latin typeface="Calibri"/>
                        </a:rPr>
                        <a:t>13.58</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0.90</a:t>
                      </a:r>
                    </a:p>
                  </a:txBody>
                  <a:tcPr/>
                </a:tc>
                <a:tc>
                  <a:txBody>
                    <a:bodyPr lIns="54864" rIns="54864" tIns="18288" bIns="18288" wrap="square" anchor="ctr"/>
                    <a:lstStyle/>
                    <a:p>
                      <a:pPr algn="l"/>
                      <a:r>
                        <a:rPr sz="900" b="0">
                          <a:solidFill>
                            <a:srgbClr val="000000"/>
                          </a:solidFill>
                          <a:latin typeface="Calibri"/>
                        </a:rPr>
                        <a:t>15.05</a:t>
                      </a:r>
                    </a:p>
                  </a:txBody>
                  <a:tcPr/>
                </a:tc>
                <a:tc>
                  <a:txBody>
                    <a:bodyPr lIns="54864" rIns="54864" tIns="18288" bIns="18288" wrap="square" anchor="ctr"/>
                    <a:lstStyle/>
                    <a:p>
                      <a:pPr algn="l"/>
                      <a:r>
                        <a:rPr sz="900" b="0">
                          <a:solidFill>
                            <a:srgbClr val="000000"/>
                          </a:solidFill>
                          <a:latin typeface="Calibri"/>
                        </a:rPr>
                        <a:t>14.66</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16.14</a:t>
                      </a:r>
                    </a:p>
                  </a:txBody>
                  <a:tcPr/>
                </a:tc>
                <a:tc>
                  <a:txBody>
                    <a:bodyPr lIns="54864" rIns="54864" tIns="18288" bIns="18288" wrap="square" anchor="ctr"/>
                    <a:lstStyle/>
                    <a:p>
                      <a:pPr algn="l"/>
                      <a:r>
                        <a:rPr sz="900" b="0">
                          <a:solidFill>
                            <a:srgbClr val="000000"/>
                          </a:solidFill>
                          <a:latin typeface="Calibri"/>
                        </a:rPr>
                        <a:t>15.70</a:t>
                      </a:r>
                    </a:p>
                  </a:txBody>
                  <a:tcPr/>
                </a:tc>
                <a:tc>
                  <a:txBody>
                    <a:bodyPr lIns="54864" rIns="54864" tIns="18288" bIns="18288" wrap="square" anchor="ctr"/>
                    <a:lstStyle/>
                    <a:p>
                      <a:pPr algn="l"/>
                      <a:r>
                        <a:rPr sz="900" b="0">
                          <a:solidFill>
                            <a:srgbClr val="000000"/>
                          </a:solidFill>
                          <a:latin typeface="Calibri"/>
                        </a:rPr>
                        <a:t>-0.44</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17.12</a:t>
                      </a:r>
                    </a:p>
                  </a:txBody>
                  <a:tcPr/>
                </a:tc>
                <a:tc>
                  <a:txBody>
                    <a:bodyPr lIns="54864" rIns="54864" tIns="18288" bIns="18288" wrap="square" anchor="ctr"/>
                    <a:lstStyle/>
                    <a:p>
                      <a:pPr algn="l"/>
                      <a:r>
                        <a:rPr sz="900" b="0">
                          <a:solidFill>
                            <a:srgbClr val="000000"/>
                          </a:solidFill>
                          <a:latin typeface="Calibri"/>
                        </a:rPr>
                        <a:t>16.61</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-3.0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1.20</a:t>
                      </a:r>
                    </a:p>
                  </a:txBody>
                  <a:tcPr/>
                </a:tc>
                <a:tc>
                  <a:txBody>
                    <a:bodyPr lIns="54864" rIns="54864" tIns="18288" bIns="18288" wrap="square" anchor="ctr"/>
                    <a:lstStyle/>
                    <a:p>
                      <a:pPr algn="l"/>
                      <a:r>
                        <a:rPr sz="900" b="0">
                          <a:solidFill>
                            <a:srgbClr val="000000"/>
                          </a:solidFill>
                          <a:latin typeface="Calibri"/>
                        </a:rPr>
                        <a:t>17.96</a:t>
                      </a:r>
                    </a:p>
                  </a:txBody>
                  <a:tcPr/>
                </a:tc>
                <a:tc>
                  <a:txBody>
                    <a:bodyPr lIns="54864" rIns="54864" tIns="18288" bIns="18288" wrap="square" anchor="ctr"/>
                    <a:lstStyle/>
                    <a:p>
                      <a:pPr algn="l"/>
                      <a:r>
                        <a:rPr sz="900" b="0">
                          <a:solidFill>
                            <a:srgbClr val="000000"/>
                          </a:solidFill>
                          <a:latin typeface="Calibri"/>
                        </a:rPr>
                        <a:t>17.47</a:t>
                      </a:r>
                    </a:p>
                  </a:txBody>
                  <a:tcPr/>
                </a:tc>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-2.8</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1.30</a:t>
                      </a:r>
                    </a:p>
                  </a:txBody>
                  <a:tcPr/>
                </a:tc>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18.14</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18.83</a:t>
                      </a:r>
                    </a:p>
                  </a:txBody>
                  <a:tcPr>
                    <a:solidFill>
                      <a:srgbClr val="C8E6C9"/>
                    </a:solidFill>
                  </a:tcPr>
                </a:tc>
                <a:tc>
                  <a:txBody>
                    <a:bodyPr lIns="54864" rIns="54864" tIns="18288" bIns="18288" wrap="square" anchor="ctr"/>
                    <a:lstStyle/>
                    <a:p>
                      <a:pPr algn="l"/>
                      <a:r>
                        <a:rPr sz="900" b="1">
                          <a:solidFill>
                            <a:srgbClr val="000000"/>
                          </a:solidFill>
                          <a:latin typeface="Calibri"/>
                        </a:rPr>
                        <a:t>18.41</a:t>
                      </a:r>
                    </a:p>
                  </a:txBody>
                  <a:tcPr>
                    <a:solidFill>
                      <a:srgbClr val="C8E6C9"/>
                    </a:solidFill>
                  </a:tcPr>
                </a:tc>
                <a:tc>
                  <a:txBody>
                    <a:bodyPr lIns="54864" rIns="54864" tIns="18288" bIns="18288" wrap="square" anchor="ctr"/>
                    <a:lstStyle/>
                    <a:p>
                      <a:pPr algn="l"/>
                      <a:r>
                        <a:rPr sz="900" b="1">
                          <a:solidFill>
                            <a:srgbClr val="000000"/>
                          </a:solidFill>
                          <a:latin typeface="Calibri"/>
                        </a:rPr>
                        <a:t>-0.42</a:t>
                      </a:r>
                    </a:p>
                  </a:txBody>
                  <a:tcPr>
                    <a:solidFill>
                      <a:srgbClr val="C8E6C9"/>
                    </a:solidFill>
                  </a:tcPr>
                </a:tc>
                <a:tc>
                  <a:txBody>
                    <a:bodyPr lIns="54864" rIns="54864" tIns="18288" bIns="18288" wrap="square" anchor="ctr"/>
                    <a:lstStyle/>
                    <a:p>
                      <a:pPr algn="l"/>
                      <a:r>
                        <a:rPr sz="900" b="1">
                          <a:solidFill>
                            <a:srgbClr val="000000"/>
                          </a:solidFill>
                          <a:latin typeface="Calibri"/>
                        </a:rPr>
                        <a:t>-2.3</a:t>
                      </a:r>
                    </a:p>
                  </a:txBody>
                  <a:tcPr>
                    <a:solidFill>
                      <a:srgbClr val="C8E6C9"/>
                    </a:solidFill>
                  </a:tcPr>
                </a:tc>
                <a:tc>
                  <a:txBody>
                    <a:bodyPr lIns="54864" rIns="54864" tIns="18288" bIns="18288" wrap="square" anchor="ctr"/>
                    <a:lstStyle/>
                    <a:p>
                      <a:pPr algn="l"/>
                      <a:r>
                        <a:rPr sz="900" b="1">
                          <a:solidFill>
                            <a:srgbClr val="000000"/>
                          </a:solidFill>
                          <a:latin typeface="Calibri"/>
                        </a:rPr>
                        <a:t>S27 yield</a:t>
                      </a:r>
                    </a:p>
                  </a:txBody>
                  <a:tcPr>
                    <a:solidFill>
                      <a:srgbClr val="C8E6C9"/>
                    </a:solidFill>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18.85</a:t>
                      </a:r>
                    </a:p>
                  </a:txBody>
                  <a:tcPr>
                    <a:solidFill>
                      <a:srgbClr val="C8E6C9"/>
                    </a:solidFill>
                  </a:tcPr>
                </a:tc>
                <a:tc>
                  <a:txBody>
                    <a:bodyPr lIns="54864" rIns="54864" tIns="18288" bIns="18288" wrap="square" anchor="ctr"/>
                    <a:lstStyle/>
                    <a:p>
                      <a:pPr algn="l"/>
                      <a:r>
                        <a:rPr sz="900" b="1">
                          <a:solidFill>
                            <a:srgbClr val="000000"/>
                          </a:solidFill>
                          <a:latin typeface="Calibri"/>
                        </a:rPr>
                        <a:t>18.33</a:t>
                      </a:r>
                    </a:p>
                  </a:txBody>
                  <a:tcPr>
                    <a:solidFill>
                      <a:srgbClr val="C8E6C9"/>
                    </a:solidFill>
                  </a:tcPr>
                </a:tc>
                <a:tc>
                  <a:txBody>
                    <a:bodyPr lIns="54864" rIns="54864" tIns="18288" bIns="18288" wrap="square" anchor="ctr"/>
                    <a:lstStyle/>
                    <a:p>
                      <a:pPr algn="l"/>
                      <a:r>
                        <a:rPr sz="900" b="1">
                          <a:solidFill>
                            <a:srgbClr val="000000"/>
                          </a:solidFill>
                          <a:latin typeface="Calibri"/>
                        </a:rPr>
                        <a:t>-0.52</a:t>
                      </a:r>
                    </a:p>
                  </a:txBody>
                  <a:tcPr>
                    <a:solidFill>
                      <a:srgbClr val="C8E6C9"/>
                    </a:solidFill>
                  </a:tcPr>
                </a:tc>
                <a:tc>
                  <a:txBody>
                    <a:bodyPr lIns="54864" rIns="54864" tIns="18288" bIns="18288" wrap="square" anchor="ctr"/>
                    <a:lstStyle/>
                    <a:p>
                      <a:pPr algn="l"/>
                      <a:r>
                        <a:rPr sz="900" b="1">
                          <a:solidFill>
                            <a:srgbClr val="000000"/>
                          </a:solidFill>
                          <a:latin typeface="Calibri"/>
                        </a:rPr>
                        <a:t>-2.8</a:t>
                      </a:r>
                    </a:p>
                  </a:txBody>
                  <a:tcPr>
                    <a:solidFill>
                      <a:srgbClr val="C8E6C9"/>
                    </a:solidFill>
                  </a:tcPr>
                </a:tc>
                <a:tc>
                  <a:txBody>
                    <a:bodyPr lIns="54864" rIns="54864" tIns="18288" bIns="18288" wrap="square" anchor="ctr"/>
                    <a:lstStyle/>
                    <a:p>
                      <a:pPr algn="l"/>
                      <a:r>
                        <a:rPr sz="900" b="1">
                          <a:solidFill>
                            <a:srgbClr val="000000"/>
                          </a:solidFill>
                          <a:latin typeface="Calibri"/>
                        </a:rPr>
                        <a:t>S28 yield</a:t>
                      </a:r>
                    </a:p>
                  </a:txBody>
                  <a:tcPr>
                    <a:solidFill>
                      <a:srgbClr val="C8E6C9"/>
                    </a:solidFill>
                  </a:tcPr>
                </a:tc>
              </a:tr>
              <a:tr h="365760">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19.14</a:t>
                      </a:r>
                    </a:p>
                  </a:txBody>
                  <a:tcPr/>
                </a:tc>
                <a:tc>
                  <a:txBody>
                    <a:bodyPr lIns="54864" rIns="54864" tIns="18288" bIns="18288" wrap="square" anchor="ctr"/>
                    <a:lstStyle/>
                    <a:p>
                      <a:pPr algn="l"/>
                      <a:r>
                        <a:rPr sz="900" b="0">
                          <a:solidFill>
                            <a:srgbClr val="000000"/>
                          </a:solidFill>
                          <a:latin typeface="Calibri"/>
                        </a:rPr>
                        <a:t>18.68</a:t>
                      </a:r>
                    </a:p>
                  </a:txBody>
                  <a:tcPr/>
                </a:tc>
                <a:tc>
                  <a:txBody>
                    <a:bodyPr lIns="54864" rIns="54864" tIns="18288" bIns="18288" wrap="square" anchor="ctr"/>
                    <a:lstStyle/>
                    <a:p>
                      <a:pPr algn="l"/>
                      <a:r>
                        <a:rPr sz="900" b="0">
                          <a:solidFill>
                            <a:srgbClr val="000000"/>
                          </a:solidFill>
                          <a:latin typeface="Calibri"/>
                        </a:rPr>
                        <a:t>-0.46</a:t>
                      </a:r>
                    </a:p>
                  </a:txBody>
                  <a:tcPr/>
                </a:tc>
                <a:tc>
                  <a:txBody>
                    <a:bodyPr lIns="54864" rIns="54864" tIns="18288" bIns="18288" wrap="square" anchor="ctr"/>
                    <a:lstStyle/>
                    <a:p>
                      <a:pPr algn="l"/>
                      <a:r>
                        <a:rPr sz="900" b="0">
                          <a:solidFill>
                            <a:srgbClr val="000000"/>
                          </a:solidFill>
                          <a:latin typeface="Calibri"/>
                        </a:rPr>
                        <a:t>-2.4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1.50</a:t>
                      </a:r>
                    </a:p>
                  </a:txBody>
                  <a:tcPr/>
                </a:tc>
                <a:tc>
                  <a:txBody>
                    <a:bodyPr lIns="54864" rIns="54864" tIns="18288" bIns="18288" wrap="square" anchor="ctr"/>
                    <a:lstStyle/>
                    <a:p>
                      <a:pPr algn="l"/>
                      <a:r>
                        <a:rPr sz="900" b="0">
                          <a:solidFill>
                            <a:srgbClr val="000000"/>
                          </a:solidFill>
                          <a:latin typeface="Calibri"/>
                        </a:rPr>
                        <a:t>19.48</a:t>
                      </a:r>
                    </a:p>
                  </a:txBody>
                  <a:tcPr/>
                </a:tc>
                <a:tc>
                  <a:txBody>
                    <a:bodyPr lIns="54864" rIns="54864" tIns="18288" bIns="18288" wrap="square" anchor="ctr"/>
                    <a:lstStyle/>
                    <a:p>
                      <a:pPr algn="l"/>
                      <a:r>
                        <a:rPr sz="900" b="0">
                          <a:solidFill>
                            <a:srgbClr val="000000"/>
                          </a:solidFill>
                          <a:latin typeface="Calibri"/>
                        </a:rPr>
                        <a:t>19.07</a:t>
                      </a:r>
                    </a:p>
                  </a:txBody>
                  <a:tcPr/>
                </a:tc>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1.60</a:t>
                      </a:r>
                    </a:p>
                  </a:txBody>
                  <a:tcPr/>
                </a:tc>
                <a:tc>
                  <a:txBody>
                    <a:bodyPr lIns="54864" rIns="54864" tIns="18288" bIns="18288" wrap="square" anchor="ctr"/>
                    <a:lstStyle/>
                    <a:p>
                      <a:pPr algn="l"/>
                      <a:r>
                        <a:rPr sz="900" b="0">
                          <a:solidFill>
                            <a:srgbClr val="000000"/>
                          </a:solidFill>
                          <a:latin typeface="Calibri"/>
                        </a:rPr>
                        <a:t>19.67</a:t>
                      </a:r>
                    </a:p>
                  </a:txBody>
                  <a:tcPr/>
                </a:tc>
                <a:tc>
                  <a:txBody>
                    <a:bodyPr lIns="54864" rIns="54864" tIns="18288" bIns="18288" wrap="square" anchor="ctr"/>
                    <a:lstStyle/>
                    <a:p>
                      <a:pPr algn="l"/>
                      <a:r>
                        <a:rPr sz="900" b="0">
                          <a:solidFill>
                            <a:srgbClr val="000000"/>
                          </a:solidFill>
                          <a:latin typeface="Calibri"/>
                        </a:rPr>
                        <a:t>19.51</a:t>
                      </a:r>
                    </a:p>
                  </a:txBody>
                  <a:tcPr/>
                </a:tc>
                <a:tc>
                  <a:txBody>
                    <a:bodyPr lIns="54864" rIns="54864" tIns="18288" bIns="18288" wrap="square" anchor="ctr"/>
                    <a:lstStyle/>
                    <a:p>
                      <a:pPr algn="l"/>
                      <a:r>
                        <a:rPr sz="900" b="0">
                          <a:solidFill>
                            <a:srgbClr val="000000"/>
                          </a:solidFill>
                          <a:latin typeface="Calibri"/>
                        </a:rPr>
                        <a:t>-0.17</a:t>
                      </a:r>
                    </a:p>
                  </a:txBody>
                  <a:tcPr/>
                </a:tc>
                <a:tc>
                  <a:txBody>
                    <a:bodyPr lIns="54864" rIns="54864" tIns="18288" bIns="18288" wrap="square" anchor="ctr"/>
                    <a:lstStyle/>
                    <a:p>
                      <a:pPr algn="l"/>
                      <a:r>
                        <a:rPr sz="900" b="0">
                          <a:solidFill>
                            <a:srgbClr val="000000"/>
                          </a:solidFill>
                          <a:latin typeface="Calibri"/>
                        </a:rPr>
                        <a:t>-0.9</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1.70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1.80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1.90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19.86</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1.98 % → 3.90 %,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1">
                          <a:solidFill>
                            <a:srgbClr val="000000"/>
                          </a:solidFill>
                          <a:latin typeface="Calibri"/>
                        </a:rPr>
                        <a:t>1.98</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19.93</a:t>
                      </a:r>
                    </a:p>
                  </a:txBody>
                  <a:tcPr>
                    <a:solidFill>
                      <a:srgbClr val="FFF3CD"/>
                    </a:solidFill>
                  </a:tcPr>
                </a:tc>
                <a:tc>
                  <a:txBody>
                    <a:bodyPr lIns="54864" rIns="54864" tIns="18288" bIns="18288" wrap="square" anchor="ctr"/>
                    <a:lstStyle/>
                    <a:p>
                      <a:pPr algn="l"/>
                      <a:r>
                        <a:rPr sz="900" b="1">
                          <a:solidFill>
                            <a:srgbClr val="000000"/>
                          </a:solidFill>
                          <a:latin typeface="Calibri"/>
                        </a:rPr>
                        <a:t>+0.08</a:t>
                      </a:r>
                    </a:p>
                  </a:txBody>
                  <a:tcPr>
                    <a:solidFill>
                      <a:srgbClr val="FFF3CD"/>
                    </a:solidFill>
                  </a:tcPr>
                </a:tc>
                <a:tc>
                  <a:txBody>
                    <a:bodyPr lIns="54864" rIns="54864" tIns="18288" bIns="18288" wrap="square" anchor="ctr"/>
                    <a:lstStyle/>
                    <a:p>
                      <a:pPr algn="l"/>
                      <a:r>
                        <a:rPr sz="900" b="1">
                          <a:solidFill>
                            <a:srgbClr val="000000"/>
                          </a:solidFill>
                          <a:latin typeface="Calibri"/>
                        </a:rPr>
                        <a:t>+0.4</a:t>
                      </a:r>
                    </a:p>
                  </a:txBody>
                  <a:tcPr>
                    <a:solidFill>
                      <a:srgbClr val="FFF3CD"/>
                    </a:solidFill>
                  </a:tcPr>
                </a:tc>
                <a:tc>
                  <a:txBody>
                    <a:bodyPr lIns="54864" rIns="54864" tIns="18288" bIns="18288" wrap="square" anchor="ctr"/>
                    <a:lstStyle/>
                    <a:p>
                      <a:pPr algn="l"/>
                      <a:r>
                        <a:rPr sz="900" b="1">
                          <a:solidFill>
                            <a:srgbClr val="000000"/>
                          </a:solidFill>
                          <a:latin typeface="Calibri"/>
                        </a:rPr>
                        <a:t>S28 UTS</a:t>
                      </a:r>
                    </a:p>
                  </a:txBody>
                  <a:tcPr>
                    <a:solidFill>
                      <a:srgbClr val="FFF3CD"/>
                    </a:solidFill>
                  </a:tcPr>
                </a:tc>
              </a:tr>
              <a:tr h="365760">
                <a:tc>
                  <a:txBody>
                    <a:bodyPr lIns="54864" rIns="54864" tIns="18288" bIns="18288" wrap="square" anchor="ctr"/>
                    <a:lstStyle/>
                    <a:p>
                      <a:pPr algn="l"/>
                      <a:r>
                        <a:rPr sz="900" b="1">
                          <a:solidFill>
                            <a:srgbClr val="000000"/>
                          </a:solidFill>
                          <a:latin typeface="Calibri"/>
                        </a:rPr>
                        <a:t>1.99</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19.91</a:t>
                      </a:r>
                    </a:p>
                  </a:txBody>
                  <a:tcPr>
                    <a:solidFill>
                      <a:srgbClr val="FFF3CD"/>
                    </a:solidFill>
                  </a:tcPr>
                </a:tc>
                <a:tc>
                  <a:txBody>
                    <a:bodyPr lIns="54864" rIns="54864" tIns="18288" bIns="18288" wrap="square" anchor="ctr"/>
                    <a:lstStyle/>
                    <a:p>
                      <a:pPr algn="l"/>
                      <a:r>
                        <a:rPr sz="900" b="1">
                          <a:solidFill>
                            <a:srgbClr val="000000"/>
                          </a:solidFill>
                          <a:latin typeface="Calibri"/>
                        </a:rPr>
                        <a:t>+0.06</a:t>
                      </a:r>
                    </a:p>
                  </a:txBody>
                  <a:tcPr>
                    <a:solidFill>
                      <a:srgbClr val="FFF3CD"/>
                    </a:solidFill>
                  </a:tcPr>
                </a:tc>
                <a:tc>
                  <a:txBody>
                    <a:bodyPr lIns="54864" rIns="54864" tIns="18288" bIns="18288" wrap="square" anchor="ctr"/>
                    <a:lstStyle/>
                    <a:p>
                      <a:pPr algn="l"/>
                      <a:r>
                        <a:rPr sz="900" b="1">
                          <a:solidFill>
                            <a:srgbClr val="000000"/>
                          </a:solidFill>
                          <a:latin typeface="Calibri"/>
                        </a:rPr>
                        <a:t>+0.3</a:t>
                      </a:r>
                    </a:p>
                  </a:txBody>
                  <a:tcPr>
                    <a:solidFill>
                      <a:srgbClr val="FFF3CD"/>
                    </a:solidFill>
                  </a:tcPr>
                </a:tc>
                <a:tc>
                  <a:txBody>
                    <a:bodyPr lIns="54864" rIns="54864" tIns="18288" bIns="18288" wrap="square" anchor="ctr"/>
                    <a:lstStyle/>
                    <a:p>
                      <a:pPr algn="l"/>
                      <a:r>
                        <a:rPr sz="900" b="1">
                          <a:solidFill>
                            <a:srgbClr val="000000"/>
                          </a:solidFill>
                          <a:latin typeface="Calibri"/>
                        </a:rPr>
                        <a:t>S27 UTS</a:t>
                      </a:r>
                    </a:p>
                  </a:txBody>
                  <a:tcPr>
                    <a:solidFill>
                      <a:srgbClr val="FFF3CD"/>
                    </a:solidFill>
                  </a:tcPr>
                </a:tc>
              </a:tr>
              <a:tr h="365760">
                <a:tc>
                  <a:txBody>
                    <a:bodyPr lIns="54864" rIns="54864" tIns="18288" bIns="18288" wrap="square" anchor="ctr"/>
                    <a:lstStyle/>
                    <a:p>
                      <a:pPr algn="l"/>
                      <a:r>
                        <a:rPr sz="900" b="0">
                          <a:solidFill>
                            <a:srgbClr val="000000"/>
                          </a:solidFill>
                          <a:latin typeface="Calibri"/>
                        </a:rPr>
                        <a:t>2.00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19.83</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2.10</a:t>
                      </a:r>
                    </a:p>
                  </a:txBody>
                  <a:tcPr/>
                </a:tc>
                <a:tc>
                  <a:txBody>
                    <a:bodyPr lIns="54864" rIns="54864" tIns="18288" bIns="18288" wrap="square" anchor="ctr"/>
                    <a:lstStyle/>
                    <a:p>
                      <a:pPr algn="l"/>
                      <a:r>
                        <a:rPr sz="900" b="0">
                          <a:solidFill>
                            <a:srgbClr val="000000"/>
                          </a:solidFill>
                          <a:latin typeface="Calibri"/>
                        </a:rPr>
                        <a:t>19.84</a:t>
                      </a:r>
                    </a:p>
                  </a:txBody>
                  <a:tcPr/>
                </a:tc>
                <a:tc>
                  <a:txBody>
                    <a:bodyPr lIns="54864" rIns="54864" tIns="18288" bIns="18288" wrap="square" anchor="ctr"/>
                    <a:lstStyle/>
                    <a:p>
                      <a:pPr algn="l"/>
                      <a:r>
                        <a:rPr sz="900" b="0">
                          <a:solidFill>
                            <a:srgbClr val="000000"/>
                          </a:solidFill>
                          <a:latin typeface="Calibri"/>
                        </a:rPr>
                        <a:t>19.87</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2.20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2.30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19.69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2.40</a:t>
                      </a:r>
                    </a:p>
                  </a:txBody>
                  <a:tcPr/>
                </a:tc>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2.50</a:t>
                      </a:r>
                    </a:p>
                  </a:txBody>
                  <a:tcPr/>
                </a:tc>
                <a:tc>
                  <a:txBody>
                    <a:bodyPr lIns="54864" rIns="54864" tIns="18288" bIns="18288" wrap="square" anchor="ctr"/>
                    <a:lstStyle/>
                    <a:p>
                      <a:pPr algn="l"/>
                      <a:r>
                        <a:rPr sz="900" b="0">
                          <a:solidFill>
                            <a:srgbClr val="000000"/>
                          </a:solidFill>
                          <a:latin typeface="Calibri"/>
                        </a:rPr>
                        <a:t>19.71</a:t>
                      </a:r>
                    </a:p>
                  </a:txBody>
                  <a:tcPr/>
                </a:tc>
                <a:tc>
                  <a:txBody>
                    <a:bodyPr lIns="54864" rIns="54864" tIns="18288" bIns="18288" wrap="square" anchor="ctr"/>
                    <a:lstStyle/>
                    <a:p>
                      <a:pPr algn="l"/>
                      <a:r>
                        <a:rPr sz="900" b="0">
                          <a:solidFill>
                            <a:srgbClr val="000000"/>
                          </a:solidFill>
                          <a:latin typeface="Calibri"/>
                        </a:rPr>
                        <a:t>19.79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2.60</a:t>
                      </a:r>
                    </a:p>
                  </a:txBody>
                  <a:tcPr/>
                </a:tc>
                <a:tc>
                  <a:txBody>
                    <a:bodyPr lIns="54864" rIns="54864" tIns="18288" bIns="18288" wrap="square" anchor="ctr"/>
                    <a:lstStyle/>
                    <a:p>
                      <a:pPr algn="l"/>
                      <a:r>
                        <a:rPr sz="900" b="0">
                          <a:solidFill>
                            <a:srgbClr val="000000"/>
                          </a:solidFill>
                          <a:latin typeface="Calibri"/>
                        </a:rPr>
                        <a:t>19.66</a:t>
                      </a:r>
                    </a:p>
                  </a:txBody>
                  <a:tcPr/>
                </a:tc>
                <a:tc>
                  <a:txBody>
                    <a:bodyPr lIns="54864" rIns="54864" tIns="18288" bIns="18288" wrap="square" anchor="ctr"/>
                    <a:lstStyle/>
                    <a:p>
                      <a:pPr algn="l"/>
                      <a:r>
                        <a:rPr sz="900" b="0">
                          <a:solidFill>
                            <a:srgbClr val="000000"/>
                          </a:solidFill>
                          <a:latin typeface="Calibri"/>
                        </a:rPr>
                        <a:t>19.74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2.70</a:t>
                      </a:r>
                    </a:p>
                  </a:txBody>
                  <a:tcPr/>
                </a:tc>
                <a:tc>
                  <a:txBody>
                    <a:bodyPr lIns="54864" rIns="54864" tIns="18288" bIns="18288" wrap="square" anchor="ctr"/>
                    <a:lstStyle/>
                    <a:p>
                      <a:pPr algn="l"/>
                      <a:r>
                        <a:rPr sz="900" b="0">
                          <a:solidFill>
                            <a:srgbClr val="000000"/>
                          </a:solidFill>
                          <a:latin typeface="Calibri"/>
                        </a:rPr>
                        <a:t>19.63</a:t>
                      </a:r>
                    </a:p>
                  </a:txBody>
                  <a:tcPr/>
                </a:tc>
                <a:tc>
                  <a:txBody>
                    <a:bodyPr lIns="54864" rIns="54864" tIns="18288" bIns="18288" wrap="square" anchor="ctr"/>
                    <a:lstStyle/>
                    <a:p>
                      <a:pPr algn="l"/>
                      <a:r>
                        <a:rPr sz="900" b="0">
                          <a:solidFill>
                            <a:srgbClr val="000000"/>
                          </a:solidFill>
                          <a:latin typeface="Calibri"/>
                        </a:rPr>
                        <a:t>19.73</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2.80</a:t>
                      </a:r>
                    </a:p>
                  </a:txBody>
                  <a:tcPr/>
                </a:tc>
                <a:tc>
                  <a:txBody>
                    <a:bodyPr lIns="54864" rIns="54864" tIns="18288" bIns="18288" wrap="square" anchor="ctr"/>
                    <a:lstStyle/>
                    <a:p>
                      <a:pPr algn="l"/>
                      <a:r>
                        <a:rPr sz="900" b="0">
                          <a:solidFill>
                            <a:srgbClr val="000000"/>
                          </a:solidFill>
                          <a:latin typeface="Calibri"/>
                        </a:rPr>
                        <a:t>19.58</a:t>
                      </a:r>
                    </a:p>
                  </a:txBody>
                  <a:tcPr/>
                </a:tc>
                <a:tc>
                  <a:txBody>
                    <a:bodyPr lIns="54864" rIns="54864" tIns="18288" bIns="18288" wrap="square" anchor="ctr"/>
                    <a:lstStyle/>
                    <a:p>
                      <a:pPr algn="l"/>
                      <a:r>
                        <a:rPr sz="900" b="0">
                          <a:solidFill>
                            <a:srgbClr val="000000"/>
                          </a:solidFill>
                          <a:latin typeface="Calibri"/>
                        </a:rPr>
                        <a:t>19.68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2.90</a:t>
                      </a:r>
                    </a:p>
                  </a:txBody>
                  <a:tcPr/>
                </a:tc>
                <a:tc>
                  <a:txBody>
                    <a:bodyPr lIns="54864" rIns="54864" tIns="18288" bIns="18288" wrap="square" anchor="ctr"/>
                    <a:lstStyle/>
                    <a:p>
                      <a:pPr algn="l"/>
                      <a:r>
                        <a:rPr sz="900" b="0">
                          <a:solidFill>
                            <a:srgbClr val="000000"/>
                          </a:solidFill>
                          <a:latin typeface="Calibri"/>
                        </a:rPr>
                        <a:t>19.54</a:t>
                      </a:r>
                    </a:p>
                  </a:txBody>
                  <a:tcPr/>
                </a:tc>
                <a:tc>
                  <a:txBody>
                    <a:bodyPr lIns="54864" rIns="54864" tIns="18288" bIns="18288" wrap="square" anchor="ctr"/>
                    <a:lstStyle/>
                    <a:p>
                      <a:pPr algn="l"/>
                      <a:r>
                        <a:rPr sz="900" b="0">
                          <a:solidFill>
                            <a:srgbClr val="000000"/>
                          </a:solidFill>
                          <a:latin typeface="Calibri"/>
                        </a:rPr>
                        <a:t>19.64</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3.00</a:t>
                      </a:r>
                    </a:p>
                  </a:txBody>
                  <a:tcPr/>
                </a:tc>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3.10</a:t>
                      </a:r>
                    </a:p>
                  </a:txBody>
                  <a:tcPr/>
                </a:tc>
                <a:tc>
                  <a:txBody>
                    <a:bodyPr lIns="54864" rIns="54864" tIns="18288" bIns="18288" wrap="square" anchor="ctr"/>
                    <a:lstStyle/>
                    <a:p>
                      <a:pPr algn="l"/>
                      <a:r>
                        <a:rPr sz="900" b="0">
                          <a:solidFill>
                            <a:srgbClr val="000000"/>
                          </a:solidFill>
                          <a:latin typeface="Calibri"/>
                        </a:rPr>
                        <a:t>19.46</a:t>
                      </a:r>
                    </a:p>
                  </a:txBody>
                  <a:tcPr/>
                </a:tc>
                <a:tc>
                  <a:txBody>
                    <a:bodyPr lIns="54864" rIns="54864" tIns="18288" bIns="18288" wrap="square" anchor="ctr"/>
                    <a:lstStyle/>
                    <a:p>
                      <a:pPr algn="l"/>
                      <a:r>
                        <a:rPr sz="900" b="0">
                          <a:solidFill>
                            <a:srgbClr val="000000"/>
                          </a:solidFill>
                          <a:latin typeface="Calibri"/>
                        </a:rPr>
                        <a:t>19.53</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3.20</a:t>
                      </a:r>
                    </a:p>
                  </a:txBody>
                  <a:tcPr/>
                </a:tc>
                <a:tc>
                  <a:txBody>
                    <a:bodyPr lIns="54864" rIns="54864" tIns="18288" bIns="18288" wrap="square" anchor="ctr"/>
                    <a:lstStyle/>
                    <a:p>
                      <a:pPr algn="l"/>
                      <a:r>
                        <a:rPr sz="900" b="0">
                          <a:solidFill>
                            <a:srgbClr val="000000"/>
                          </a:solidFill>
                          <a:latin typeface="Calibri"/>
                        </a:rPr>
                        <a:t>19.41</a:t>
                      </a:r>
                    </a:p>
                  </a:txBody>
                  <a:tcPr/>
                </a:tc>
                <a:tc>
                  <a:txBody>
                    <a:bodyPr lIns="54864" rIns="54864" tIns="18288" bIns="18288" wrap="square" anchor="ctr"/>
                    <a:lstStyle/>
                    <a:p>
                      <a:pPr algn="l"/>
                      <a:r>
                        <a:rPr sz="900" b="0">
                          <a:solidFill>
                            <a:srgbClr val="000000"/>
                          </a:solidFill>
                          <a:latin typeface="Calibri"/>
                        </a:rPr>
                        <a:t>19.49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3.30</a:t>
                      </a:r>
                    </a:p>
                  </a:txBody>
                  <a:tcPr/>
                </a:tc>
                <a:tc>
                  <a:txBody>
                    <a:bodyPr lIns="54864" rIns="54864" tIns="18288" bIns="18288" wrap="square" anchor="ctr"/>
                    <a:lstStyle/>
                    <a:p>
                      <a:pPr algn="l"/>
                      <a:r>
                        <a:rPr sz="900" b="0">
                          <a:solidFill>
                            <a:srgbClr val="000000"/>
                          </a:solidFill>
                          <a:latin typeface="Calibri"/>
                        </a:rPr>
                        <a:t>19.37</a:t>
                      </a:r>
                    </a:p>
                  </a:txBody>
                  <a:tcPr/>
                </a:tc>
                <a:tc>
                  <a:txBody>
                    <a:bodyPr lIns="54864" rIns="54864" tIns="18288" bIns="18288" wrap="square" anchor="ctr"/>
                    <a:lstStyle/>
                    <a:p>
                      <a:pPr algn="l"/>
                      <a:r>
                        <a:rPr sz="900" b="0">
                          <a:solidFill>
                            <a:srgbClr val="000000"/>
                          </a:solidFill>
                          <a:latin typeface="Calibri"/>
                        </a:rPr>
                        <a:t>19.43</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3.40</a:t>
                      </a:r>
                    </a:p>
                  </a:txBody>
                  <a:tcPr/>
                </a:tc>
                <a:tc>
                  <a:txBody>
                    <a:bodyPr lIns="54864" rIns="54864" tIns="18288" bIns="18288" wrap="square" anchor="ctr"/>
                    <a:lstStyle/>
                    <a:p>
                      <a:pPr algn="l"/>
                      <a:r>
                        <a:rPr sz="900" b="0">
                          <a:solidFill>
                            <a:srgbClr val="000000"/>
                          </a:solidFill>
                          <a:latin typeface="Calibri"/>
                        </a:rPr>
                        <a:t>19.32</a:t>
                      </a:r>
                    </a:p>
                  </a:txBody>
                  <a:tcPr/>
                </a:tc>
                <a:tc>
                  <a:txBody>
                    <a:bodyPr lIns="54864" rIns="54864" tIns="18288" bIns="18288" wrap="square" anchor="ctr"/>
                    <a:lstStyle/>
                    <a:p>
                      <a:pPr algn="l"/>
                      <a:r>
                        <a:rPr sz="900" b="0">
                          <a:solidFill>
                            <a:srgbClr val="000000"/>
                          </a:solidFill>
                          <a:latin typeface="Calibri"/>
                        </a:rPr>
                        <a:t>19.38</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3.50</a:t>
                      </a:r>
                    </a:p>
                  </a:txBody>
                  <a:tcPr/>
                </a:tc>
                <a:tc>
                  <a:txBody>
                    <a:bodyPr lIns="54864" rIns="54864" tIns="18288" bIns="18288" wrap="square" anchor="ctr"/>
                    <a:lstStyle/>
                    <a:p>
                      <a:pPr algn="l"/>
                      <a:r>
                        <a:rPr sz="900" b="0">
                          <a:solidFill>
                            <a:srgbClr val="000000"/>
                          </a:solidFill>
                          <a:latin typeface="Calibri"/>
                        </a:rPr>
                        <a:t>19.26</a:t>
                      </a:r>
                    </a:p>
                  </a:txBody>
                  <a:tcPr/>
                </a:tc>
                <a:tc>
                  <a:txBody>
                    <a:bodyPr lIns="54864" rIns="54864" tIns="18288" bIns="18288" wrap="square" anchor="ctr"/>
                    <a:lstStyle/>
                    <a:p>
                      <a:pPr algn="l"/>
                      <a:r>
                        <a:rPr sz="900" b="0">
                          <a:solidFill>
                            <a:srgbClr val="000000"/>
                          </a:solidFill>
                          <a:latin typeface="Calibri"/>
                        </a:rPr>
                        <a:t>19.34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3.60</a:t>
                      </a:r>
                    </a:p>
                  </a:txBody>
                  <a:tcPr/>
                </a:tc>
                <a:tc>
                  <a:txBody>
                    <a:bodyPr lIns="54864" rIns="54864" tIns="18288" bIns="18288" wrap="square" anchor="ctr"/>
                    <a:lstStyle/>
                    <a:p>
                      <a:pPr algn="l"/>
                      <a:r>
                        <a:rPr sz="900" b="0">
                          <a:solidFill>
                            <a:srgbClr val="000000"/>
                          </a:solidFill>
                          <a:latin typeface="Calibri"/>
                        </a:rPr>
                        <a:t>19.19</a:t>
                      </a:r>
                    </a:p>
                  </a:txBody>
                  <a:tcPr/>
                </a:tc>
                <a:tc>
                  <a:txBody>
                    <a:bodyPr lIns="54864" rIns="54864" tIns="18288" bIns="18288" wrap="square" anchor="ctr"/>
                    <a:lstStyle/>
                    <a:p>
                      <a:pPr algn="l"/>
                      <a:r>
                        <a:rPr sz="900" b="0">
                          <a:solidFill>
                            <a:srgbClr val="000000"/>
                          </a:solidFill>
                          <a:latin typeface="Calibri"/>
                        </a:rPr>
                        <a:t>19.28</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3.70</a:t>
                      </a:r>
                    </a:p>
                  </a:txBody>
                  <a:tcPr/>
                </a:tc>
                <a:tc>
                  <a:txBody>
                    <a:bodyPr lIns="54864" rIns="54864" tIns="18288" bIns="18288" wrap="square" anchor="ctr"/>
                    <a:lstStyle/>
                    <a:p>
                      <a:pPr algn="l"/>
                      <a:r>
                        <a:rPr sz="900" b="0">
                          <a:solidFill>
                            <a:srgbClr val="000000"/>
                          </a:solidFill>
                          <a:latin typeface="Calibri"/>
                        </a:rPr>
                        <a:t>19.12</a:t>
                      </a:r>
                    </a:p>
                  </a:txBody>
                  <a:tcPr/>
                </a:tc>
                <a:tc>
                  <a:txBody>
                    <a:bodyPr lIns="54864" rIns="54864" tIns="18288" bIns="18288" wrap="square" anchor="ctr"/>
                    <a:lstStyle/>
                    <a:p>
                      <a:pPr algn="l"/>
                      <a:r>
                        <a:rPr sz="900" b="0">
                          <a:solidFill>
                            <a:srgbClr val="000000"/>
                          </a:solidFill>
                          <a:latin typeface="Calibri"/>
                        </a:rPr>
                        <a:t>19.22</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3.80</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19.16</a:t>
                      </a:r>
                    </a:p>
                  </a:txBody>
                  <a:tcPr/>
                </a:tc>
                <a:tc>
                  <a:txBody>
                    <a:bodyPr lIns="54864" rIns="54864" tIns="18288" bIns="18288" wrap="square" anchor="ctr"/>
                    <a:lstStyle/>
                    <a:p>
                      <a:pPr algn="l"/>
                      <a:r>
                        <a:rPr sz="900" b="0">
                          <a:solidFill>
                            <a:srgbClr val="000000"/>
                          </a:solidFill>
                          <a:latin typeface="Calibri"/>
                        </a:rPr>
                        <a:t>+0.13</a:t>
                      </a:r>
                    </a:p>
                  </a:txBody>
                  <a:tcPr/>
                </a:tc>
                <a:tc>
                  <a:txBody>
                    <a:bodyPr lIns="54864" rIns="54864" tIns="18288" bIns="18288" wrap="square" anchor="ctr"/>
                    <a:lstStyle/>
                    <a:p>
                      <a:pPr algn="l"/>
                      <a:r>
                        <a:rPr sz="900" b="0">
                          <a:solidFill>
                            <a:srgbClr val="000000"/>
                          </a:solidFill>
                          <a:latin typeface="Calibri"/>
                        </a:rPr>
                        <a:t>+0.7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3.90</a:t>
                      </a:r>
                    </a:p>
                  </a:txBody>
                  <a:tcPr/>
                </a:tc>
                <a:tc>
                  <a:txBody>
                    <a:bodyPr lIns="54864" rIns="54864" tIns="18288" bIns="18288" wrap="square" anchor="ctr"/>
                    <a:lstStyle/>
                    <a:p>
                      <a:pPr algn="l"/>
                      <a:r>
                        <a:rPr sz="900" b="0">
                          <a:solidFill>
                            <a:srgbClr val="000000"/>
                          </a:solidFill>
                          <a:latin typeface="Calibri"/>
                        </a:rPr>
                        <a:t>18.71</a:t>
                      </a:r>
                    </a:p>
                  </a:txBody>
                  <a:tcPr/>
                </a:tc>
                <a:tc>
                  <a:txBody>
                    <a:bodyPr lIns="54864" rIns="54864" tIns="18288" bIns="18288" wrap="square" anchor="ctr"/>
                    <a:lstStyle/>
                    <a:p>
                      <a:pPr algn="l"/>
                      <a:r>
                        <a:rPr sz="900" b="0">
                          <a:solidFill>
                            <a:srgbClr val="000000"/>
                          </a:solidFill>
                          <a:latin typeface="Calibri"/>
                        </a:rPr>
                        <a:t>19.09</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3.98 % → 4.20 %,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73152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731520">
                <a:tc>
                  <a:txBody>
                    <a:bodyPr lIns="54864" rIns="54864" tIns="18288" bIns="18288" wrap="square" anchor="ctr"/>
                    <a:lstStyle/>
                    <a:p>
                      <a:pPr algn="l"/>
                      <a:r>
                        <a:rPr sz="900" b="1">
                          <a:solidFill>
                            <a:srgbClr val="000000"/>
                          </a:solidFill>
                          <a:latin typeface="Calibri"/>
                        </a:rPr>
                        <a:t>3.98</a:t>
                      </a:r>
                    </a:p>
                  </a:txBody>
                  <a:tcPr>
                    <a:solidFill>
                      <a:srgbClr val="FFCDD2"/>
                    </a:solidFill>
                  </a:tcPr>
                </a:tc>
                <a:tc>
                  <a:txBody>
                    <a:bodyPr lIns="54864" rIns="54864" tIns="18288" bIns="18288" wrap="square" anchor="ctr"/>
                    <a:lstStyle/>
                    <a:p>
                      <a:pPr algn="l"/>
                      <a:r>
                        <a:rPr sz="900" b="1">
                          <a:solidFill>
                            <a:srgbClr val="000000"/>
                          </a:solidFill>
                          <a:latin typeface="Calibri"/>
                        </a:rPr>
                        <a:t>18.24</a:t>
                      </a:r>
                    </a:p>
                  </a:txBody>
                  <a:tcPr>
                    <a:solidFill>
                      <a:srgbClr val="FFCDD2"/>
                    </a:solidFill>
                  </a:tcPr>
                </a:tc>
                <a:tc>
                  <a:txBody>
                    <a:bodyPr lIns="54864" rIns="54864" tIns="18288" bIns="18288" wrap="square" anchor="ctr"/>
                    <a:lstStyle/>
                    <a:p>
                      <a:pPr algn="l"/>
                      <a:r>
                        <a:rPr sz="900" b="1">
                          <a:solidFill>
                            <a:srgbClr val="000000"/>
                          </a:solidFill>
                          <a:latin typeface="Calibri"/>
                        </a:rPr>
                        <a:t>19.04</a:t>
                      </a:r>
                    </a:p>
                  </a:txBody>
                  <a:tcPr>
                    <a:solidFill>
                      <a:srgbClr val="FFCDD2"/>
                    </a:solidFill>
                  </a:tcPr>
                </a:tc>
                <a:tc>
                  <a:txBody>
                    <a:bodyPr lIns="54864" rIns="54864" tIns="18288" bIns="18288" wrap="square" anchor="ctr"/>
                    <a:lstStyle/>
                    <a:p>
                      <a:pPr algn="l"/>
                      <a:r>
                        <a:rPr sz="900" b="1">
                          <a:solidFill>
                            <a:srgbClr val="000000"/>
                          </a:solidFill>
                          <a:latin typeface="Calibri"/>
                        </a:rPr>
                        <a:t>+0.81</a:t>
                      </a:r>
                    </a:p>
                  </a:txBody>
                  <a:tcPr>
                    <a:solidFill>
                      <a:srgbClr val="FFCDD2"/>
                    </a:solidFill>
                  </a:tcPr>
                </a:tc>
                <a:tc>
                  <a:txBody>
                    <a:bodyPr lIns="54864" rIns="54864" tIns="18288" bIns="18288" wrap="square" anchor="ctr"/>
                    <a:lstStyle/>
                    <a:p>
                      <a:pPr algn="l"/>
                      <a:r>
                        <a:rPr sz="900" b="1">
                          <a:solidFill>
                            <a:srgbClr val="000000"/>
                          </a:solidFill>
                          <a:latin typeface="Calibri"/>
                        </a:rPr>
                        <a:t>+4.4</a:t>
                      </a:r>
                    </a:p>
                  </a:txBody>
                  <a:tcPr>
                    <a:solidFill>
                      <a:srgbClr val="FFCDD2"/>
                    </a:solidFill>
                  </a:tcPr>
                </a:tc>
                <a:tc>
                  <a:txBody>
                    <a:bodyPr lIns="54864" rIns="54864" tIns="18288" bIns="18288" wrap="square" anchor="ctr"/>
                    <a:lstStyle/>
                    <a:p>
                      <a:pPr algn="l"/>
                      <a:r>
                        <a:rPr sz="900" b="1">
                          <a:solidFill>
                            <a:srgbClr val="000000"/>
                          </a:solidFill>
                          <a:latin typeface="Calibri"/>
                        </a:rPr>
                        <a:t>S27 fracture</a:t>
                      </a:r>
                    </a:p>
                  </a:txBody>
                  <a:tcPr>
                    <a:solidFill>
                      <a:srgbClr val="FFCDD2"/>
                    </a:solidFill>
                  </a:tcPr>
                </a:tc>
              </a:tr>
              <a:tr h="731520">
                <a:tc>
                  <a:txBody>
                    <a:bodyPr lIns="54864" rIns="54864" tIns="18288" bIns="18288" wrap="square" anchor="ctr"/>
                    <a:lstStyle/>
                    <a:p>
                      <a:pPr algn="l"/>
                      <a:r>
                        <a:rPr sz="900" b="0">
                          <a:solidFill>
                            <a:srgbClr val="000000"/>
                          </a:solidFill>
                          <a:latin typeface="Calibri"/>
                        </a:rPr>
                        <a:t>4.00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4.10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18.88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4.20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18.38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1">
                          <a:solidFill>
                            <a:srgbClr val="000000"/>
                          </a:solidFill>
                          <a:latin typeface="Calibri"/>
                        </a:rPr>
                        <a:t>4.20</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18.35</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S28 fracture</a:t>
                      </a:r>
                    </a:p>
                  </a:txBody>
                  <a:tcPr>
                    <a:solidFill>
                      <a:srgbClr val="FFCDD2"/>
                    </a:solidFill>
                  </a:tcPr>
                </a:tc>
              </a:tr>
            </a:tbl>
          </a:graphicData>
        </a:graphic>
      </p:graphicFrame>
      <p:sp>
        <p:nvSpPr>
          <p:cNvPr id="7" name="Rounded Rectangle 6"/>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9" name="Rounded Rectangle 8"/>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1" name="Rounded Rectangle 10"/>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S27 AND S28 AGAINST S26</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middle panel is the one to look at. Divide each curve by its own UTS and the three nearly collapse onto one another — so the two infills differ mostly by a SCALE FACTOR, not by a change in how the material behaves.</a:t>
            </a:r>
          </a:p>
        </p:txBody>
      </p:sp>
      <p:pic>
        <p:nvPicPr>
          <p:cNvPr id="6" name="Picture 5" descr="s27_s28_vs_s26.png"/>
          <p:cNvPicPr>
            <a:picLocks noChangeAspect="1"/>
          </p:cNvPicPr>
          <p:nvPr/>
        </p:nvPicPr>
        <p:blipFill>
          <a:blip r:embed="rId2"/>
          <a:stretch>
            <a:fillRect/>
          </a:stretch>
        </p:blipFill>
        <p:spPr>
          <a:xfrm>
            <a:off x="365760" y="1664208"/>
            <a:ext cx="11475720" cy="3855125"/>
          </a:xfrm>
          <a:prstGeom prst="rect">
            <a:avLst/>
          </a:prstGeom>
        </p:spPr>
      </p:pic>
      <p:sp>
        <p:nvSpPr>
          <p:cNvPr id="7" name="Rectangle 6"/>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Strength and stiffness scale super-linearly with infill — UTS ×2.35, E ×2.51 for a 2× change in material — while ε_f moves only ×1.21. The normalised shapes explain why: the material yields and softens the same way at both infills; there is simply less of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S26 chosen as the 100 % comparator because it is the closest run in protocol and date. Ratios use both-run means at each infill, not S26 alone.</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VIDEO EXTENSOMETER — SETUP, AND THE RECORD ON ITS OWN</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An independent optical measurement of the same quantity our DIC measures. It carries STRAIN ONLY — no load channel — and stops at 0.401 % strain, far short of fracture, so this can test our STRAIN and nothing else.</a:t>
            </a:r>
          </a:p>
        </p:txBody>
      </p:sp>
      <p:graphicFrame>
        <p:nvGraphicFramePr>
          <p:cNvPr id="6" name="Table 5"/>
          <p:cNvGraphicFramePr>
            <a:graphicFrameLocks noGrp="1"/>
          </p:cNvGraphicFramePr>
          <p:nvPr/>
        </p:nvGraphicFramePr>
        <p:xfrm>
          <a:off x="365760" y="1572768"/>
          <a:ext cx="5074917" cy="2286000"/>
        </p:xfrm>
        <a:graphic>
          <a:graphicData uri="http://schemas.openxmlformats.org/drawingml/2006/table">
            <a:tbl>
              <a:tblPr firstRow="1" bandRow="1">
                <a:tableStyleId>{5C22544A-7EE6-4342-B048-85BDC9FD1C3A}</a:tableStyleId>
              </a:tblPr>
              <a:tblGrid>
                <a:gridCol w="1234439"/>
                <a:gridCol w="1691639"/>
                <a:gridCol w="2148839"/>
              </a:tblGrid>
              <a:tr h="254000">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r>
              <a:tr h="254000">
                <a:tc>
                  <a:txBody>
                    <a:bodyPr lIns="54864" rIns="54864" tIns="18288" bIns="18288" wrap="square" anchor="ctr"/>
                    <a:lstStyle/>
                    <a:p>
                      <a:pPr algn="l"/>
                      <a:r>
                        <a:rPr sz="900" b="0">
                          <a:solidFill>
                            <a:srgbClr val="000000"/>
                          </a:solidFill>
                          <a:latin typeface="Calibri"/>
                        </a:rPr>
                        <a:t>Instrument</a:t>
                      </a:r>
                    </a:p>
                  </a:txBody>
                  <a:tcPr/>
                </a:tc>
                <a:tc>
                  <a:txBody>
                    <a:bodyPr lIns="54864" rIns="54864" tIns="18288" bIns="18288" wrap="square" anchor="ctr"/>
                    <a:lstStyle/>
                    <a:p>
                      <a:pPr algn="l"/>
                      <a:r>
                        <a:rPr sz="900" b="0">
                          <a:solidFill>
                            <a:srgbClr val="000000"/>
                          </a:solidFill>
                          <a:latin typeface="Calibri"/>
                        </a:rPr>
                        <a:t>XT-205 video ext.</a:t>
                      </a:r>
                    </a:p>
                  </a:txBody>
                  <a:tcPr/>
                </a:tc>
                <a:tc>
                  <a:txBody>
                    <a:bodyPr lIns="54864" rIns="54864" tIns="18288" bIns="18288" wrap="square" anchor="ctr"/>
                    <a:lstStyle/>
                    <a:p>
                      <a:pPr algn="l"/>
                      <a:r>
                        <a:rPr sz="900" b="0">
                          <a:solidFill>
                            <a:srgbClr val="000000"/>
                          </a:solidFill>
                          <a:latin typeface="Calibri"/>
                        </a:rPr>
                        <a:t>Basler acA2440-35um, 2 spray dots</a:t>
                      </a:r>
                    </a:p>
                  </a:txBody>
                  <a:tcPr/>
                </a:tc>
              </a:tr>
              <a:tr h="25400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80.0033 mm</a:t>
                      </a:r>
                    </a:p>
                  </a:txBody>
                  <a:tcPr/>
                </a:tc>
                <a:tc>
                  <a:txBody>
                    <a:bodyPr lIns="54864" rIns="54864" tIns="18288" bIns="18288" wrap="square" anchor="ctr"/>
                    <a:lstStyle/>
                    <a:p>
                      <a:pPr algn="l"/>
                      <a:r>
                        <a:rPr sz="900" b="0">
                          <a:solidFill>
                            <a:srgbClr val="000000"/>
                          </a:solidFill>
                          <a:latin typeface="Calibri"/>
                        </a:rPr>
                        <a:t>80.0 mm</a:t>
                      </a:r>
                    </a:p>
                  </a:txBody>
                  <a:tcPr/>
                </a:tc>
              </a:tr>
              <a:tr h="254000">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20.0 Hz</a:t>
                      </a:r>
                    </a:p>
                  </a:txBody>
                  <a:tcPr/>
                </a:tc>
                <a:tc>
                  <a:txBody>
                    <a:bodyPr lIns="54864" rIns="54864" tIns="18288" bIns="18288" wrap="square" anchor="ctr"/>
                    <a:lstStyle/>
                    <a:p>
                      <a:pPr algn="l"/>
                      <a:r>
                        <a:rPr sz="900" b="0">
                          <a:solidFill>
                            <a:srgbClr val="000000"/>
                          </a:solidFill>
                          <a:latin typeface="Calibri"/>
                        </a:rPr>
                        <a:t>19.9 Hz</a:t>
                      </a:r>
                    </a:p>
                  </a:txBody>
                  <a:tcPr/>
                </a:tc>
              </a:tr>
              <a:tr h="254000">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300 N</a:t>
                      </a:r>
                    </a:p>
                  </a:txBody>
                  <a:tcPr/>
                </a:tc>
              </a:tr>
              <a:tr h="254000">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0.10 mm/s</a:t>
                      </a:r>
                    </a:p>
                  </a:txBody>
                  <a:tcPr/>
                </a:tc>
                <a:tc>
                  <a:txBody>
                    <a:bodyPr lIns="54864" rIns="54864" tIns="18288" bIns="18288" wrap="square" anchor="ctr"/>
                    <a:lstStyle/>
                    <a:p>
                      <a:pPr algn="l"/>
                      <a:r>
                        <a:rPr sz="900" b="0">
                          <a:solidFill>
                            <a:srgbClr val="000000"/>
                          </a:solidFill>
                          <a:latin typeface="Calibri"/>
                        </a:rPr>
                        <a:t>0.10 mm/s</a:t>
                      </a:r>
                    </a:p>
                  </a:txBody>
                  <a:tcPr/>
                </a:tc>
              </a:tr>
              <a:tr h="254000">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same batch as S25/S26</a:t>
                      </a:r>
                    </a:p>
                  </a:txBody>
                  <a:tcPr/>
                </a:tc>
                <a:tc>
                  <a:txBody>
                    <a:bodyPr lIns="54864" rIns="54864" tIns="18288" bIns="18288" wrap="square" anchor="ctr"/>
                    <a:lstStyle/>
                    <a:p>
                      <a:pPr algn="l"/>
                      <a:r>
                        <a:rPr sz="900" b="0">
                          <a:solidFill>
                            <a:srgbClr val="000000"/>
                          </a:solidFill>
                          <a:latin typeface="Calibri"/>
                        </a:rPr>
                        <a:t>S25, S26</a:t>
                      </a:r>
                    </a:p>
                  </a:txBody>
                  <a:tcPr/>
                </a:tc>
              </a:tr>
              <a:tr h="254000">
                <a:tc>
                  <a:txBody>
                    <a:bodyPr lIns="54864" rIns="54864" tIns="18288" bIns="18288" wrap="square" anchor="ctr"/>
                    <a:lstStyle/>
                    <a:p>
                      <a:pPr algn="l"/>
                      <a:r>
                        <a:rPr sz="900" b="0">
                          <a:solidFill>
                            <a:srgbClr val="000000"/>
                          </a:solidFill>
                          <a:latin typeface="Calibri"/>
                        </a:rPr>
                        <a:t>Channels</a:t>
                      </a:r>
                    </a:p>
                  </a:txBody>
                  <a:tcPr/>
                </a:tc>
                <a:tc>
                  <a:txBody>
                    <a:bodyPr lIns="54864" rIns="54864" tIns="18288" bIns="18288" wrap="square" anchor="ctr"/>
                    <a:lstStyle/>
                    <a:p>
                      <a:pPr algn="l"/>
                      <a:r>
                        <a:rPr sz="900" b="0">
                          <a:solidFill>
                            <a:srgbClr val="000000"/>
                          </a:solidFill>
                          <a:latin typeface="Calibri"/>
                        </a:rPr>
                        <a:t>strain only</a:t>
                      </a:r>
                    </a:p>
                  </a:txBody>
                  <a:tcPr/>
                </a:tc>
                <a:tc>
                  <a:txBody>
                    <a:bodyPr lIns="54864" rIns="54864" tIns="18288" bIns="18288" wrap="square" anchor="ctr"/>
                    <a:lstStyle/>
                    <a:p>
                      <a:pPr algn="l"/>
                      <a:r>
                        <a:rPr sz="900" b="0">
                          <a:solidFill>
                            <a:srgbClr val="000000"/>
                          </a:solidFill>
                          <a:latin typeface="Calibri"/>
                        </a:rPr>
                        <a:t>load + position + strain</a:t>
                      </a:r>
                    </a:p>
                  </a:txBody>
                  <a:tcPr/>
                </a:tc>
              </a:tr>
              <a:tr h="254000">
                <a:tc>
                  <a:txBody>
                    <a:bodyPr lIns="54864" rIns="54864" tIns="18288" bIns="18288" wrap="square" anchor="ctr"/>
                    <a:lstStyle/>
                    <a:p>
                      <a:pPr algn="l"/>
                      <a:r>
                        <a:rPr sz="900" b="0">
                          <a:solidFill>
                            <a:srgbClr val="000000"/>
                          </a:solidFill>
                          <a:latin typeface="Calibri"/>
                        </a:rPr>
                        <a:t>Ends at</a:t>
                      </a:r>
                    </a:p>
                  </a:txBody>
                  <a:tcPr/>
                </a:tc>
                <a:tc>
                  <a:txBody>
                    <a:bodyPr lIns="54864" rIns="54864" tIns="18288" bIns="18288" wrap="square" anchor="ctr"/>
                    <a:lstStyle/>
                    <a:p>
                      <a:pPr algn="l"/>
                      <a:r>
                        <a:rPr sz="900" b="0">
                          <a:solidFill>
                            <a:srgbClr val="000000"/>
                          </a:solidFill>
                          <a:latin typeface="Calibri"/>
                        </a:rPr>
                        <a:t>0.401 % strain</a:t>
                      </a:r>
                    </a:p>
                  </a:txBody>
                  <a:tcPr/>
                </a:tc>
                <a:tc>
                  <a:txBody>
                    <a:bodyPr lIns="54864" rIns="54864" tIns="18288" bIns="18288" wrap="square" anchor="ctr"/>
                    <a:lstStyle/>
                    <a:p>
                      <a:pPr algn="l"/>
                      <a:r>
                        <a:rPr sz="900" b="0">
                          <a:solidFill>
                            <a:srgbClr val="000000"/>
                          </a:solidFill>
                          <a:latin typeface="Calibri"/>
                        </a:rPr>
                        <a:t>fracture, 4–6 %</a:t>
                      </a:r>
                    </a:p>
                  </a:txBody>
                  <a:tcPr/>
                </a:tc>
              </a:tr>
            </a:tbl>
          </a:graphicData>
        </a:graphic>
      </p:graphicFrame>
      <p:sp>
        <p:nvSpPr>
          <p:cNvPr id="7" name="TextBox 6"/>
          <p:cNvSpPr txBox="1"/>
          <p:nvPr/>
        </p:nvSpPr>
        <p:spPr>
          <a:xfrm>
            <a:off x="5669280" y="1572768"/>
            <a:ext cx="6172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file actually contains</a:t>
            </a:r>
          </a:p>
        </p:txBody>
      </p:sp>
      <p:sp>
        <p:nvSpPr>
          <p:cNvPr id="8" name="TextBox 7"/>
          <p:cNvSpPr txBox="1"/>
          <p:nvPr/>
        </p:nvSpPr>
        <p:spPr>
          <a:xfrm>
            <a:off x="5669280" y="1920240"/>
            <a:ext cx="6172200" cy="1188720"/>
          </a:xfrm>
          <a:prstGeom prst="rect">
            <a:avLst/>
          </a:prstGeom>
          <a:noFill/>
        </p:spPr>
        <p:txBody>
          <a:bodyPr wrap="square" lIns="45720" rIns="45720" tIns="18288" bIns="18288" anchor="t">
            <a:spAutoFit/>
          </a:bodyPr>
          <a:lstStyle/>
          <a:p>
            <a:pPr algn="l"/>
            <a:r>
              <a:rPr sz="1050" b="0" i="0">
                <a:solidFill>
                  <a:srgbClr val="000000"/>
                </a:solidFill>
                <a:latin typeface="Calibri"/>
              </a:rPr>
              <a:t>•  585 rows, of which 221 read “Invalid” — the tracker had not locked on
•  Then ~13 s at zero strain: the crosshead has not started moving
•  364 usable rows, t = 2.00 → 20.70 s
•  strain %% = 100 × extension ÷ gauge to within 1×10⁻⁶ — a plain ratio, no hidden compensation</a:t>
            </a:r>
          </a:p>
        </p:txBody>
      </p:sp>
      <p:sp>
        <p:nvSpPr>
          <p:cNvPr id="9" name="Rectangle 8"/>
          <p:cNvSpPr/>
          <p:nvPr/>
        </p:nvSpPr>
        <p:spPr>
          <a:xfrm>
            <a:off x="5669280" y="3200400"/>
            <a:ext cx="617220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TWO CONFOUNDS REMOVED FOR FREE: their gauge is 80.0033 mm, so both instruments measure over the SAME length; and their preload and speed match ours, so the strain zero and the rate need no correction.</a:t>
            </a:r>
          </a:p>
        </p:txBody>
      </p:sp>
      <p:pic>
        <p:nvPicPr>
          <p:cNvPr id="10" name="Picture 9" descr="mot_record.png"/>
          <p:cNvPicPr>
            <a:picLocks noChangeAspect="1"/>
          </p:cNvPicPr>
          <p:nvPr/>
        </p:nvPicPr>
        <p:blipFill>
          <a:blip r:embed="rId2"/>
          <a:stretch>
            <a:fillRect/>
          </a:stretch>
        </p:blipFill>
        <p:spPr>
          <a:xfrm>
            <a:off x="365760" y="3950208"/>
            <a:ext cx="11475720" cy="2266214"/>
          </a:xfrm>
          <a:prstGeom prst="rect">
            <a:avLst/>
          </a:prstGeom>
        </p:spPr>
      </p:pic>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everything delivered, including the parts that are not data. Right: the loading ramp used for every comparison that follows, with its residual inset.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STRAIN RATE</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Compared over a MATCHED STRAIN INTERVAL (0.05–0.35 %), not matched time — and the 2.2× gap that results is a COMPLIANCE measurement, not a calibration one.</a:t>
            </a:r>
          </a:p>
        </p:txBody>
      </p:sp>
      <p:pic>
        <p:nvPicPr>
          <p:cNvPr id="6" name="Picture 5" descr="mot_rat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5623559" cy="1097280"/>
        </p:xfrm>
        <a:graphic>
          <a:graphicData uri="http://schemas.openxmlformats.org/drawingml/2006/table">
            <a:tbl>
              <a:tblPr firstRow="1" bandRow="1">
                <a:tableStyleId>{5C22544A-7EE6-4342-B048-85BDC9FD1C3A}</a:tableStyleId>
              </a:tblPr>
              <a:tblGrid>
                <a:gridCol w="1005840"/>
                <a:gridCol w="1554480"/>
                <a:gridCol w="1234439"/>
                <a:gridCol w="1005840"/>
                <a:gridCol w="82296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dε/dt (10⁻⁴/s)</a:t>
                      </a:r>
                    </a:p>
                  </a:txBody>
                  <a:tcPr>
                    <a:solidFill>
                      <a:srgbClr val="143D2F"/>
                    </a:solidFill>
                  </a:tcPr>
                </a:tc>
                <a:tc>
                  <a:txBody>
                    <a:bodyPr lIns="54864" rIns="54864" tIns="18288" bIns="18288" wrap="square" anchor="ctr"/>
                    <a:lstStyle/>
                    <a:p>
                      <a:pPr algn="l"/>
                      <a:r>
                        <a:rPr sz="950" b="1">
                          <a:solidFill>
                            <a:srgbClr val="FFFFFF"/>
                          </a:solidFill>
                          <a:latin typeface="Calibri"/>
                        </a:rPr>
                        <a:t>% of ceiling</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n</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7.42</a:t>
                      </a:r>
                    </a:p>
                  </a:txBody>
                  <a:tcPr/>
                </a:tc>
                <a:tc>
                  <a:txBody>
                    <a:bodyPr lIns="54864" rIns="54864" tIns="18288" bIns="18288" wrap="square" anchor="ctr"/>
                    <a:lstStyle/>
                    <a:p>
                      <a:pPr algn="l"/>
                      <a:r>
                        <a:rPr sz="950" b="0">
                          <a:solidFill>
                            <a:srgbClr val="000000"/>
                          </a:solidFill>
                          <a:latin typeface="Calibri"/>
                        </a:rPr>
                        <a:t>53 %</a:t>
                      </a:r>
                    </a:p>
                  </a:txBody>
                  <a:tcPr/>
                </a:tc>
                <a:tc>
                  <a:txBody>
                    <a:bodyPr lIns="54864" rIns="54864" tIns="18288" bIns="18288" wrap="square" anchor="ctr"/>
                    <a:lstStyle/>
                    <a:p>
                      <a:pPr algn="l"/>
                      <a:r>
                        <a:rPr sz="950" b="0">
                          <a:solidFill>
                            <a:srgbClr val="000000"/>
                          </a:solidFill>
                          <a:latin typeface="Calibri"/>
                        </a:rPr>
                        <a:t>0.9973</a:t>
                      </a:r>
                    </a:p>
                  </a:txBody>
                  <a:tcPr/>
                </a:tc>
                <a:tc>
                  <a:txBody>
                    <a:bodyPr lIns="54864" rIns="54864" tIns="18288" bIns="18288" wrap="square" anchor="ctr"/>
                    <a:lstStyle/>
                    <a:p>
                      <a:pPr algn="l"/>
                      <a:r>
                        <a:rPr sz="950" b="0">
                          <a:solidFill>
                            <a:srgbClr val="000000"/>
                          </a:solidFill>
                          <a:latin typeface="Calibri"/>
                        </a:rPr>
                        <a:t>80</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2.67</a:t>
                      </a:r>
                    </a:p>
                  </a:txBody>
                  <a:tcPr/>
                </a:tc>
                <a:tc>
                  <a:txBody>
                    <a:bodyPr lIns="54864" rIns="54864" tIns="18288" bIns="18288" wrap="square" anchor="ctr"/>
                    <a:lstStyle/>
                    <a:p>
                      <a:pPr algn="l"/>
                      <a:r>
                        <a:rPr sz="950" b="0">
                          <a:solidFill>
                            <a:srgbClr val="000000"/>
                          </a:solidFill>
                          <a:latin typeface="Calibri"/>
                        </a:rPr>
                        <a:t>19 %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129</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4.06</a:t>
                      </a:r>
                    </a:p>
                  </a:txBody>
                  <a:tcPr/>
                </a:tc>
                <a:tc>
                  <a:txBody>
                    <a:bodyPr lIns="54864" rIns="54864" tIns="18288" bIns="18288" wrap="square" anchor="ctr"/>
                    <a:lstStyle/>
                    <a:p>
                      <a:pPr algn="l"/>
                      <a:r>
                        <a:rPr sz="950" b="0">
                          <a:solidFill>
                            <a:srgbClr val="000000"/>
                          </a:solidFill>
                          <a:latin typeface="Calibri"/>
                        </a:rPr>
                        <a:t>29 %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86</a:t>
                      </a:r>
                    </a:p>
                  </a:txBody>
                  <a:tcPr/>
                </a:tc>
              </a:tr>
            </a:tbl>
          </a:graphicData>
        </a:graphic>
      </p:graphicFrame>
      <p:sp>
        <p:nvSpPr>
          <p:cNvPr id="8" name="TextBox 7"/>
          <p:cNvSpPr txBox="1"/>
          <p:nvPr/>
        </p:nvSpPr>
        <p:spPr>
          <a:xfrm>
            <a:off x="6217920" y="44622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2.2× gap</a:t>
            </a:r>
          </a:p>
        </p:txBody>
      </p:sp>
      <p:sp>
        <p:nvSpPr>
          <p:cNvPr id="9" name="TextBox 8"/>
          <p:cNvSpPr txBox="1"/>
          <p:nvPr/>
        </p:nvSpPr>
        <p:spPr>
          <a:xfrm>
            <a:off x="6217920" y="4809744"/>
            <a:ext cx="5623560" cy="1234440"/>
          </a:xfrm>
          <a:prstGeom prst="rect">
            <a:avLst/>
          </a:prstGeom>
          <a:noFill/>
        </p:spPr>
        <p:txBody>
          <a:bodyPr wrap="square" lIns="45720" rIns="45720" tIns="18288" bIns="18288" anchor="t">
            <a:spAutoFit/>
          </a:bodyPr>
          <a:lstStyle/>
          <a:p>
            <a:pPr algn="l"/>
            <a:r>
              <a:rPr sz="1050" b="0" i="0">
                <a:solidFill>
                  <a:srgbClr val="000000"/>
                </a:solidFill>
                <a:latin typeface="Calibri"/>
              </a:rPr>
              <a:t>Only 19–29 % of OUR crosshead motion reaches the gauge; the rest goes into machine compliance, grips and shoulders. That fraction belongs to the MACHINE, so a stiffer frame delivering more of it looks exactly like this. The ratio is a COMPLIANCE measurement, not a scale one.</a:t>
            </a:r>
          </a:p>
        </p:txBody>
      </p:sp>
      <p:sp>
        <p:nvSpPr>
          <p:cNvPr id="10" name="Rectangle 9"/>
          <p:cNvSpPr/>
          <p:nvPr/>
        </p:nvSpPr>
        <p:spPr>
          <a:xfrm>
            <a:off x="365760" y="594360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records sit below the 14.0×10⁻⁴/s ceiling, so neither is physically impossible. Our calibration is not contradicted — confirming it needs their load or displacement channel.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Right-hand panel: our local slope CLIMBS as seating slack is used up, theirs is flat from the moment it engages — which is why S25 and S26 differ by 52 % here but agree to 1.4 % in a force-matched window.</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NOISE, THE COMPARISON THAT SURVIVES</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Residual scatter about the straight fit does NOT depend on how much crosshead motion reached the gauge, so unlike the rate it puts both instruments on the same footing.</a:t>
            </a:r>
          </a:p>
        </p:txBody>
      </p:sp>
      <p:pic>
        <p:nvPicPr>
          <p:cNvPr id="6" name="Picture 5" descr="mot_nois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6446520" cy="1097280"/>
        </p:xfrm>
        <a:graphic>
          <a:graphicData uri="http://schemas.openxmlformats.org/drawingml/2006/table">
            <a:tbl>
              <a:tblPr firstRow="1" bandRow="1">
                <a:tableStyleId>{5C22544A-7EE6-4342-B048-85BDC9FD1C3A}</a:tableStyleId>
              </a:tblPr>
              <a:tblGrid>
                <a:gridCol w="914400"/>
                <a:gridCol w="1188720"/>
                <a:gridCol w="1280160"/>
                <a:gridCol w="1051560"/>
                <a:gridCol w="1005840"/>
                <a:gridCol w="100584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median |r|</a:t>
                      </a:r>
                    </a:p>
                  </a:txBody>
                  <a:tcPr>
                    <a:solidFill>
                      <a:srgbClr val="143D2F"/>
                    </a:solidFill>
                  </a:tcPr>
                </a:tc>
                <a:tc>
                  <a:txBody>
                    <a:bodyPr lIns="54864" rIns="54864" tIns="18288" bIns="18288" wrap="square" anchor="ctr"/>
                    <a:lstStyle/>
                    <a:p>
                      <a:pPr algn="l"/>
                      <a:r>
                        <a:rPr sz="950" b="1">
                          <a:solidFill>
                            <a:srgbClr val="FFFFFF"/>
                          </a:solidFill>
                          <a:latin typeface="Calibri"/>
                        </a:rPr>
                        <a:t>95th pct |r|</a:t>
                      </a:r>
                    </a:p>
                  </a:txBody>
                  <a:tcPr>
                    <a:solidFill>
                      <a:srgbClr val="143D2F"/>
                    </a:solidFill>
                  </a:tcPr>
                </a:tc>
                <a:tc>
                  <a:txBody>
                    <a:bodyPr lIns="54864" rIns="54864" tIns="18288" bIns="18288" wrap="square" anchor="ctr"/>
                    <a:lstStyle/>
                    <a:p>
                      <a:pPr algn="l"/>
                      <a:r>
                        <a:rPr sz="950" b="1">
                          <a:solidFill>
                            <a:srgbClr val="FFFFFF"/>
                          </a:solidFill>
                          <a:latin typeface="Calibri"/>
                        </a:rPr>
                        <a:t>max |r|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pt-to-pt</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12 µε</a:t>
                      </a:r>
                    </a:p>
                  </a:txBody>
                  <a:tcPr/>
                </a:tc>
                <a:tc>
                  <a:txBody>
                    <a:bodyPr lIns="54864" rIns="54864" tIns="18288" bIns="18288" wrap="square" anchor="ctr"/>
                    <a:lstStyle/>
                    <a:p>
                      <a:pPr algn="l"/>
                      <a:r>
                        <a:rPr sz="950" b="0">
                          <a:solidFill>
                            <a:srgbClr val="000000"/>
                          </a:solidFill>
                          <a:latin typeface="Calibri"/>
                        </a:rPr>
                        <a:t>116 µε</a:t>
                      </a:r>
                    </a:p>
                  </a:txBody>
                  <a:tcPr/>
                </a:tc>
                <a:tc>
                  <a:txBody>
                    <a:bodyPr lIns="54864" rIns="54864" tIns="18288" bIns="18288" wrap="square" anchor="ctr"/>
                    <a:lstStyle/>
                    <a:p>
                      <a:pPr algn="l"/>
                      <a:r>
                        <a:rPr sz="950" b="0">
                          <a:solidFill>
                            <a:srgbClr val="000000"/>
                          </a:solidFill>
                          <a:latin typeface="Calibri"/>
                        </a:rPr>
                        <a:t>210 µε</a:t>
                      </a:r>
                    </a:p>
                  </a:txBody>
                  <a:tcPr/>
                </a:tc>
                <a:tc>
                  <a:txBody>
                    <a:bodyPr lIns="54864" rIns="54864" tIns="18288" bIns="18288" wrap="square" anchor="ctr"/>
                    <a:lstStyle/>
                    <a:p>
                      <a:pPr algn="l"/>
                      <a:r>
                        <a:rPr sz="950" b="0">
                          <a:solidFill>
                            <a:srgbClr val="000000"/>
                          </a:solidFill>
                          <a:latin typeface="Calibri"/>
                        </a:rPr>
                        <a:t>44.9 µε</a:t>
                      </a:r>
                    </a:p>
                  </a:txBody>
                  <a:tcPr/>
                </a:tc>
                <a:tc>
                  <a:txBody>
                    <a:bodyPr lIns="54864" rIns="54864" tIns="18288" bIns="18288" wrap="square" anchor="ctr"/>
                    <a:lstStyle/>
                    <a:p>
                      <a:pPr algn="l"/>
                      <a:r>
                        <a:rPr sz="950" b="0">
                          <a:solidFill>
                            <a:srgbClr val="000000"/>
                          </a:solidFill>
                          <a:latin typeface="Calibri"/>
                        </a:rPr>
                        <a:t>38 µε</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13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81 µε</a:t>
                      </a:r>
                    </a:p>
                  </a:txBody>
                  <a:tcPr/>
                </a:tc>
                <a:tc>
                  <a:txBody>
                    <a:bodyPr lIns="54864" rIns="54864" tIns="18288" bIns="18288" wrap="square" anchor="ctr"/>
                    <a:lstStyle/>
                    <a:p>
                      <a:pPr algn="l"/>
                      <a:r>
                        <a:rPr sz="950" b="0">
                          <a:solidFill>
                            <a:srgbClr val="000000"/>
                          </a:solidFill>
                          <a:latin typeface="Calibri"/>
                        </a:rPr>
                        <a:t>23.5 µε</a:t>
                      </a:r>
                    </a:p>
                  </a:txBody>
                  <a:tcPr/>
                </a:tc>
                <a:tc>
                  <a:txBody>
                    <a:bodyPr lIns="54864" rIns="54864" tIns="18288" bIns="18288" wrap="square" anchor="ctr"/>
                    <a:lstStyle/>
                    <a:p>
                      <a:pPr algn="l"/>
                      <a:r>
                        <a:rPr sz="950" b="0">
                          <a:solidFill>
                            <a:srgbClr val="000000"/>
                          </a:solidFill>
                          <a:latin typeface="Calibri"/>
                        </a:rPr>
                        <a:t>24 µε</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17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63 µε</a:t>
                      </a:r>
                    </a:p>
                  </a:txBody>
                  <a:tcPr/>
                </a:tc>
                <a:tc>
                  <a:txBody>
                    <a:bodyPr lIns="54864" rIns="54864" tIns="18288" bIns="18288" wrap="square" anchor="ctr"/>
                    <a:lstStyle/>
                    <a:p>
                      <a:pPr algn="l"/>
                      <a:r>
                        <a:rPr sz="950" b="0">
                          <a:solidFill>
                            <a:srgbClr val="000000"/>
                          </a:solidFill>
                          <a:latin typeface="Calibri"/>
                        </a:rPr>
                        <a:t>23.6 µε</a:t>
                      </a:r>
                    </a:p>
                  </a:txBody>
                  <a:tcPr/>
                </a:tc>
                <a:tc>
                  <a:txBody>
                    <a:bodyPr lIns="54864" rIns="54864" tIns="18288" bIns="18288" wrap="square" anchor="ctr"/>
                    <a:lstStyle/>
                    <a:p>
                      <a:pPr algn="l"/>
                      <a:r>
                        <a:rPr sz="950" b="0">
                          <a:solidFill>
                            <a:srgbClr val="000000"/>
                          </a:solidFill>
                          <a:latin typeface="Calibri"/>
                        </a:rPr>
                        <a:t>32 µε</a:t>
                      </a:r>
                    </a:p>
                  </a:txBody>
                  <a:tcPr/>
                </a:tc>
              </a:tr>
            </a:tbl>
          </a:graphicData>
        </a:graphic>
      </p:graphicFrame>
      <p:sp>
        <p:nvSpPr>
          <p:cNvPr id="8" name="TextBox 7"/>
          <p:cNvSpPr txBox="1"/>
          <p:nvPr/>
        </p:nvSpPr>
        <p:spPr>
          <a:xfrm>
            <a:off x="7040880" y="4462272"/>
            <a:ext cx="4800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reading</a:t>
            </a:r>
          </a:p>
        </p:txBody>
      </p:sp>
      <p:sp>
        <p:nvSpPr>
          <p:cNvPr id="9" name="TextBox 8"/>
          <p:cNvSpPr txBox="1"/>
          <p:nvPr/>
        </p:nvSpPr>
        <p:spPr>
          <a:xfrm>
            <a:off x="7040880" y="4809744"/>
            <a:ext cx="4800600" cy="1234440"/>
          </a:xfrm>
          <a:prstGeom prst="rect">
            <a:avLst/>
          </a:prstGeom>
          <a:noFill/>
        </p:spPr>
        <p:txBody>
          <a:bodyPr wrap="square" lIns="45720" rIns="45720" tIns="18288" bIns="18288" anchor="t">
            <a:spAutoFit/>
          </a:bodyPr>
          <a:lstStyle/>
          <a:p>
            <a:pPr algn="l"/>
            <a:r>
              <a:rPr sz="1050" b="0" i="0">
                <a:solidFill>
                  <a:srgbClr val="000000"/>
                </a:solidFill>
                <a:latin typeface="Calibri"/>
              </a:rPr>
              <a:t>The XT-205 holds the QUIETEST baseline of the three (median 12 µε vs our 13 and 17). It loses on RMS only because of a handful of large excursions — 95ᵗʰ percentile 116 µε against our 45. The PPD-UTM is not finer; it is more CONSISTENT.</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Two spray dots hold 1.9× lower RMS strain noise than the commercial extensometer, and our two runs agree with each other to 0.2 %. The DIC strain measurement is sound.</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0.05–0.35 % strain interval for all three. |r| = absolute residual about each record's own straight fit; pt-to-pt is the median sample-to-sample step, immune to slow drift.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RMS NUMBER MEANS, AND WHERE IT COMES FROM</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The previous slide gives one number per instrument. This says exactly what was measured, over which stretch of the test, and what the number does NOT claim.</a:t>
            </a:r>
          </a:p>
        </p:txBody>
      </p:sp>
      <p:pic>
        <p:nvPicPr>
          <p:cNvPr id="6" name="Picture 5" descr="mot_window.png"/>
          <p:cNvPicPr>
            <a:picLocks noChangeAspect="1"/>
          </p:cNvPicPr>
          <p:nvPr/>
        </p:nvPicPr>
        <p:blipFill>
          <a:blip r:embed="rId2"/>
          <a:stretch>
            <a:fillRect/>
          </a:stretch>
        </p:blipFill>
        <p:spPr>
          <a:xfrm>
            <a:off x="365760" y="1517904"/>
            <a:ext cx="11475719" cy="2953310"/>
          </a:xfrm>
          <a:prstGeom prst="rect">
            <a:avLst/>
          </a:prstGeom>
        </p:spPr>
      </p:pic>
      <p:sp>
        <p:nvSpPr>
          <p:cNvPr id="7" name="TextBox 6"/>
          <p:cNvSpPr txBox="1"/>
          <p:nvPr/>
        </p:nvSpPr>
        <p:spPr>
          <a:xfrm>
            <a:off x="36576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RMS is — and is not</a:t>
            </a:r>
          </a:p>
        </p:txBody>
      </p:sp>
      <p:sp>
        <p:nvSpPr>
          <p:cNvPr id="8" name="TextBox 7"/>
          <p:cNvSpPr txBox="1"/>
          <p:nvPr/>
        </p:nvSpPr>
        <p:spPr>
          <a:xfrm>
            <a:off x="36576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Fit a straight line to strain-against-TIME over the window, subtract it, and take the standard deviation of what is left. That is the RMS, in microstrain (1 µε = 0.0001 % strain), so our 23.5 µε is ± 0.0024 % strain.
It measures STEADINESS, not correctness. It says nothing about whether the strain value is right — px_per_mm calibration is what decides that.</a:t>
            </a:r>
          </a:p>
        </p:txBody>
      </p:sp>
      <p:sp>
        <p:nvSpPr>
          <p:cNvPr id="9" name="TextBox 8"/>
          <p:cNvSpPr txBox="1"/>
          <p:nvPr/>
        </p:nvSpPr>
        <p:spPr>
          <a:xfrm>
            <a:off x="621792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straight line is the right reference here</a:t>
            </a:r>
          </a:p>
        </p:txBody>
      </p:sp>
      <p:sp>
        <p:nvSpPr>
          <p:cNvPr id="10" name="TextBox 9"/>
          <p:cNvSpPr txBox="1"/>
          <p:nvPr/>
        </p:nvSpPr>
        <p:spPr>
          <a:xfrm>
            <a:off x="621792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The window is 0.05–0.35 % strain: the elastic toe, 8 % of the way to PLA's 4.2 % fracture and well before yield. Pulled at constant crosshead speed, strain there rises linearly in time — R² = 0.99928 on S25 over 11 s and 129 samples.
So anything off the line is the instrument, not the material. Past yield that stops being true, which is why the window ends at 0.35 %.</a:t>
            </a:r>
          </a:p>
        </p:txBody>
      </p:sp>
      <p:sp>
        <p:nvSpPr>
          <p:cNvPr id="11" name="Rectangle 10"/>
          <p:cNvSpPr/>
          <p:nvPr/>
        </p:nvSpPr>
        <p:spPr>
          <a:xfrm>
            <a:off x="365760" y="594360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WINDOW IS NOT OURS TO CHOOSE: THE XT-205's WHOLE RECORD ENDS AT 0.40 % STRAIN, SO 0.05–0.35 % IS 80 OF ITS 364 SAMPLES — NEARLY ALL IT DELIVERED, AND ONLY 13 % OF OURS.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panel: S25's full pull to fracture with the window shaded. Middle and right: that window on S25, the straight fit, and the residual the RMS summarises.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1–10 — RUNNING THE TEST</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Everything the operator touches between mounting a specimen and having its data. All ten are built and rig-validated.</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health HUD</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live OK / WARN / BAD badge on both test tabs: markers found, tracking %, pixel jitter. Grey when the camera is off, so “no data” never reads as “good”.</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Prepare specimen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button tares the DIC readouts, the position and the force, and clears the plots. It does NOT touch Px₀ — that belongs to Calibrate Px₀ alone.</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Settings / recipes</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Save and reload a whole test setup: dimensions, DIC preset, preload, speed, mode and its parameters. A Default profile is always present.</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Generate report</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click turns the saved CSV into a one-page PDF plus every graph as PDF and PNG, written beside the data rather than into a folder you have to find.</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Auto-stop at fracture</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Feeds every load sample to a load-collapse detector during a manual pull and sends Stop the moment the specimen breaks.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Strain-rate fracture test</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Closed loop on the DIC: varies crosshead speed to hold a constant GAUGE strain rate — measured 0.00051/s against a 0.0005 target while the crosshead moved 0.10 → 0.05 mm/s.</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Stall guard</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Halts if the crosshead advances &lt; 0.05 mm in 6 s while carrying &gt; 200 N. Stays silent through a ductile draw, where force falls while the crosshead still advances.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Release load — two depths</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To preload (specimen stays mounted and tensioned) or fully to true zero (so it can be unclamped). Named on the button, because the depth decides how far a motor travels.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Six closed-loop protocols</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Cyclic · staircase · relaxation · creep · staircase→fracture · progressive-cyclic→fracture, all on ONE control engine with one shared safety net.</a:t>
            </a:r>
          </a:p>
        </p:txBody>
      </p:sp>
      <p:sp>
        <p:nvSpPr>
          <p:cNvPr id="42" name="Rounded Rectangle 41"/>
          <p:cNvSpPr/>
          <p:nvPr/>
        </p:nvSpPr>
        <p:spPr>
          <a:xfrm>
            <a:off x="621792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32764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SF10</a:t>
            </a:r>
          </a:p>
        </p:txBody>
      </p:sp>
      <p:sp>
        <p:nvSpPr>
          <p:cNvPr id="44" name="TextBox 43"/>
          <p:cNvSpPr txBox="1"/>
          <p:nvPr/>
        </p:nvSpPr>
        <p:spPr>
          <a:xfrm>
            <a:off x="7114031"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Auto-preload</a:t>
            </a:r>
          </a:p>
        </p:txBody>
      </p:sp>
      <p:sp>
        <p:nvSpPr>
          <p:cNvPr id="45" name="TextBox 44"/>
          <p:cNvSpPr txBox="1"/>
          <p:nvPr/>
        </p:nvSpPr>
        <p:spPr>
          <a:xfrm>
            <a:off x="7114031"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Creeps in tension on a 0.2 → 0.1 → 0.02 mm/s schedule and stops at 1.03× target, offsetting the ~2 % PLA relaxation that follows.</a:t>
            </a:r>
          </a:p>
        </p:txBody>
      </p:sp>
      <p:sp>
        <p:nvSpPr>
          <p:cNvPr id="46" name="TextBox 4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Green = built and rig-validated. The dense index of all 20 is on p167; SF11–SF19 continue on the next slide.</a:t>
            </a:r>
          </a:p>
        </p:txBody>
      </p:sp>
      <p:sp>
        <p:nvSpPr>
          <p:cNvPr id="47" name="TextBox 4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11–21 — SETUP, EVIDENCE AND SAFETY</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The features that make a run trustworthy rather than merely possible. Green = built AND rig-validated · blue = built and verified offline, not yet used on a real pull · amber = blocked by optics, not by code.</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Auto-metadata link</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Saving writes “# Capture:” into the CSV header and run.json into the capture folder, so either half finds the other. Matched by time-window OVERLAP, never by recency.</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auto-calibration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Sweeps exposure × threshold and scores each on trackability — contrast margin dominates, because it predicts whether tracking SURVIVES a flicker. Proposes; Cancel restores exactly. Shown running on the rig on the next slides.</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Guided wizard</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Twelve steps in the order they must be done, read from flags the app already had. Optional and off by default — a checklist that cannot be dismissed is just a wider warning.</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000000"/>
                </a:solidFill>
                <a:latin typeface="Calibri"/>
              </a:rPr>
              <a:t>SF14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000000"/>
                </a:solidFill>
                <a:latin typeface="Calibri"/>
              </a:rPr>
              <a:t>Poisson / true Cauchy</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Blocked by OPTICS, not code: the gauge is too narrow for a transverse pair, and the elastic width change is sub-pixel at ~20 px/mm.</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Test registry</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queryable index of every run with its computed E, σ_y, UTS, ε_f, toughness and force anchor. Killed the hard-coded CSV paths that caused two detector bugs.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Dead-DIC guard + backstops</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Freezes commanded speed if strain goes stale for 0.2 s and halts at 1.0 s, behind an always-on 10 kN / 30 mm / 900 s backstop.</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SF18</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Live Px₀ overlay</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Draws the frozen reference pair and the live pair straight on the camera feed, with a caption whose Δ agrees with the strain readout. Screenshot on the rig: 1745 px frozen, 1745 px live, Δ 0 — overlay and caption agree.</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SF19</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Video + image capture</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PNG stills plus three AVI views — raw, contrast-boosted and adaptive speckle — recorded together. S25/S26: 3 127 stills and 3 × 3 127 frames, 0 dropped, 19.9 fps.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SF20</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post-processing</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tab that measures strain from ANY recorded video with the rig's own pixel-to-strain rule, so our runs can be re-checked and another machine's footage measured on the same footing.</a:t>
            </a:r>
          </a:p>
        </p:txBody>
      </p:sp>
      <p:sp>
        <p:nvSpPr>
          <p:cNvPr id="42" name="Rounded Rectangle 41"/>
          <p:cNvSpPr/>
          <p:nvPr/>
        </p:nvSpPr>
        <p:spPr>
          <a:xfrm>
            <a:off x="621792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327648" y="5614416"/>
            <a:ext cx="658368" cy="402336"/>
          </a:xfrm>
          <a:prstGeom prst="roundRect">
            <a:avLst/>
          </a:prstGeom>
          <a:solidFill>
            <a:srgbClr val="CFE2F3"/>
          </a:solidFill>
          <a:ln w="11430">
            <a:solidFill>
              <a:srgbClr val="1F77B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77B4"/>
                </a:solidFill>
                <a:latin typeface="Calibri"/>
              </a:rPr>
              <a:t>SF21</a:t>
            </a:r>
          </a:p>
        </p:txBody>
      </p:sp>
      <p:sp>
        <p:nvSpPr>
          <p:cNvPr id="44" name="TextBox 43"/>
          <p:cNvSpPr txBox="1"/>
          <p:nvPr/>
        </p:nvSpPr>
        <p:spPr>
          <a:xfrm>
            <a:off x="7114031" y="5422392"/>
            <a:ext cx="4617720" cy="237744"/>
          </a:xfrm>
          <a:prstGeom prst="rect">
            <a:avLst/>
          </a:prstGeom>
          <a:noFill/>
        </p:spPr>
        <p:txBody>
          <a:bodyPr wrap="square" lIns="45720" rIns="45720" tIns="18288" bIns="18288" anchor="t">
            <a:spAutoFit/>
          </a:bodyPr>
          <a:lstStyle/>
          <a:p>
            <a:pPr algn="l"/>
            <a:r>
              <a:rPr sz="1100" b="1" i="0">
                <a:solidFill>
                  <a:srgbClr val="1F77B4"/>
                </a:solidFill>
                <a:latin typeface="Calibri"/>
              </a:rPr>
              <a:t>Noise capture</a:t>
            </a:r>
          </a:p>
        </p:txBody>
      </p:sp>
      <p:sp>
        <p:nvSpPr>
          <p:cNvPr id="45" name="TextBox 44"/>
          <p:cNvSpPr txBox="1"/>
          <p:nvPr/>
        </p:nvSpPr>
        <p:spPr>
          <a:xfrm>
            <a:off x="7114031"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Records the instrument AT REST for a chosen window and separates what a later run can be corrected for — offset and drift — from what it cannot: the residual sd, which is the measurement uncertainty.</a:t>
            </a:r>
          </a:p>
        </p:txBody>
      </p:sp>
      <p:sp>
        <p:nvSpPr>
          <p:cNvPr id="46" name="TextBox 4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it was carded and retired the same day, because a card has to be something the OPERATOR invokes or that acts on the machine during a run.  SF14 is blocked by hardware, not code; SF21 is built and verified offline but has not yet recorded a real pull.</a:t>
            </a:r>
          </a:p>
        </p:txBody>
      </p:sp>
      <p:sp>
        <p:nvSpPr>
          <p:cNvPr id="47" name="TextBox 4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WHERE THE PROOF FOR EACH SMART FEATURE LIVES</a:t>
            </a:r>
          </a:p>
        </p:txBody>
      </p:sp>
      <p:sp>
        <p:nvSpPr>
          <p:cNvPr id="5" name="TextBox 4"/>
          <p:cNvSpPr txBox="1"/>
          <p:nvPr/>
        </p:nvSpPr>
        <p:spPr>
          <a:xfrm>
            <a:off x="457200" y="1207008"/>
            <a:ext cx="11338560" cy="457200"/>
          </a:xfrm>
          <a:prstGeom prst="rect">
            <a:avLst/>
          </a:prstGeom>
          <a:noFill/>
        </p:spPr>
        <p:txBody>
          <a:bodyPr wrap="square" lIns="45720" rIns="45720" tIns="18288" bIns="18288" anchor="t">
            <a:spAutoFit/>
          </a:bodyPr>
          <a:lstStyle/>
          <a:p>
            <a:pPr algn="l"/>
            <a:r>
              <a:rPr sz="1050" b="0" i="0">
                <a:solidFill>
                  <a:srgbClr val="000000"/>
                </a:solidFill>
                <a:latin typeface="Calibri"/>
              </a:rPr>
              <a:t>The two cards above say what each feature IS. This says where in this deck it was shown working, so a claim and its evidence are never more than a page reference apart.</a:t>
            </a:r>
          </a:p>
        </p:txBody>
      </p:sp>
      <p:graphicFrame>
        <p:nvGraphicFramePr>
          <p:cNvPr id="6" name="Table 5"/>
          <p:cNvGraphicFramePr>
            <a:graphicFrameLocks noGrp="1"/>
          </p:cNvGraphicFramePr>
          <p:nvPr/>
        </p:nvGraphicFramePr>
        <p:xfrm>
          <a:off x="36576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a:t>
                      </a:r>
                    </a:p>
                  </a:txBody>
                  <a:tcPr/>
                </a:tc>
                <a:tc>
                  <a:txBody>
                    <a:bodyPr lIns="54864" rIns="54864" tIns="18288" bIns="18288" wrap="square" anchor="ctr"/>
                    <a:lstStyle/>
                    <a:p>
                      <a:pPr algn="l"/>
                      <a:r>
                        <a:rPr sz="869" b="0">
                          <a:solidFill>
                            <a:srgbClr val="000000"/>
                          </a:solidFill>
                          <a:latin typeface="Calibri"/>
                        </a:rPr>
                        <a:t>DIC health HUD</a:t>
                      </a:r>
                    </a:p>
                  </a:txBody>
                  <a:tcPr/>
                </a:tc>
                <a:tc>
                  <a:txBody>
                    <a:bodyPr lIns="54864" rIns="54864" tIns="18288" bIns="18288" wrap="square" anchor="ctr"/>
                    <a:lstStyle/>
                    <a:p>
                      <a:pPr algn="l"/>
                      <a:r>
                        <a:rPr sz="869" b="0">
                          <a:solidFill>
                            <a:srgbClr val="000000"/>
                          </a:solidFill>
                          <a:latin typeface="Calibri"/>
                        </a:rPr>
                        <a:t>p168</a:t>
                      </a:r>
                    </a:p>
                  </a:txBody>
                  <a:tcPr/>
                </a:tc>
                <a:tc>
                  <a:txBody>
                    <a:bodyPr lIns="54864" rIns="54864" tIns="18288" bIns="18288" wrap="square" anchor="ctr"/>
                    <a:lstStyle/>
                    <a:p>
                      <a:pPr algn="l"/>
                      <a:r>
                        <a:rPr sz="869" b="0">
                          <a:solidFill>
                            <a:srgbClr val="000000"/>
                          </a:solidFill>
                          <a:latin typeface="Calibri"/>
                        </a:rPr>
                        <a:t>screenshot on the rig</a:t>
                      </a:r>
                    </a:p>
                  </a:txBody>
                  <a:tcPr/>
                </a:tc>
              </a:tr>
              <a:tr h="324196">
                <a:tc>
                  <a:txBody>
                    <a:bodyPr lIns="54864" rIns="54864" tIns="18288" bIns="18288" wrap="square" anchor="ctr"/>
                    <a:lstStyle/>
                    <a:p>
                      <a:pPr algn="l"/>
                      <a:r>
                        <a:rPr sz="869" b="0">
                          <a:solidFill>
                            <a:srgbClr val="000000"/>
                          </a:solidFill>
                          <a:latin typeface="Calibri"/>
                        </a:rPr>
                        <a:t>2</a:t>
                      </a:r>
                    </a:p>
                  </a:txBody>
                  <a:tcPr/>
                </a:tc>
                <a:tc>
                  <a:txBody>
                    <a:bodyPr lIns="54864" rIns="54864" tIns="18288" bIns="18288" wrap="square" anchor="ctr"/>
                    <a:lstStyle/>
                    <a:p>
                      <a:pPr algn="l"/>
                      <a:r>
                        <a:rPr sz="869" b="0">
                          <a:solidFill>
                            <a:srgbClr val="000000"/>
                          </a:solidFill>
                          <a:latin typeface="Calibri"/>
                        </a:rPr>
                        <a:t>Prepare specimen</a:t>
                      </a:r>
                    </a:p>
                  </a:txBody>
                  <a:tcPr/>
                </a:tc>
                <a:tc>
                  <a:txBody>
                    <a:bodyPr lIns="54864" rIns="54864" tIns="18288" bIns="18288" wrap="square" anchor="ctr"/>
                    <a:lstStyle/>
                    <a:p>
                      <a:pPr algn="l"/>
                      <a:r>
                        <a:rPr sz="869" b="0">
                          <a:solidFill>
                            <a:srgbClr val="000000"/>
                          </a:solidFill>
                          <a:latin typeface="Calibri"/>
                        </a:rPr>
                        <a:t>p170</a:t>
                      </a:r>
                    </a:p>
                  </a:txBody>
                  <a:tcPr/>
                </a:tc>
                <a:tc>
                  <a:txBody>
                    <a:bodyPr lIns="54864" rIns="54864" tIns="18288" bIns="18288" wrap="square" anchor="ctr"/>
                    <a:lstStyle/>
                    <a:p>
                      <a:pPr algn="l"/>
                      <a:r>
                        <a:rPr sz="869" b="0">
                          <a:solidFill>
                            <a:srgbClr val="000000"/>
                          </a:solidFill>
                          <a:latin typeface="Calibri"/>
                        </a:rPr>
                        <a:t>before / after readouts</a:t>
                      </a:r>
                    </a:p>
                  </a:txBody>
                  <a:tcPr/>
                </a:tc>
              </a:tr>
              <a:tr h="324196">
                <a:tc>
                  <a:txBody>
                    <a:bodyPr lIns="54864" rIns="54864" tIns="18288" bIns="18288" wrap="square" anchor="ctr"/>
                    <a:lstStyle/>
                    <a:p>
                      <a:pPr algn="l"/>
                      <a:r>
                        <a:rPr sz="869" b="0">
                          <a:solidFill>
                            <a:srgbClr val="000000"/>
                          </a:solidFill>
                          <a:latin typeface="Calibri"/>
                        </a:rPr>
                        <a:t>3</a:t>
                      </a:r>
                    </a:p>
                  </a:txBody>
                  <a:tcPr/>
                </a:tc>
                <a:tc>
                  <a:txBody>
                    <a:bodyPr lIns="54864" rIns="54864" tIns="18288" bIns="18288" wrap="square" anchor="ctr"/>
                    <a:lstStyle/>
                    <a:p>
                      <a:pPr algn="l"/>
                      <a:r>
                        <a:rPr sz="869" b="0">
                          <a:solidFill>
                            <a:srgbClr val="000000"/>
                          </a:solidFill>
                          <a:latin typeface="Calibri"/>
                        </a:rPr>
                        <a:t>Settings / recipes</a:t>
                      </a:r>
                    </a:p>
                  </a:txBody>
                  <a:tcPr/>
                </a:tc>
                <a:tc>
                  <a:txBody>
                    <a:bodyPr lIns="54864" rIns="54864" tIns="18288" bIns="18288" wrap="square" anchor="ctr"/>
                    <a:lstStyle/>
                    <a:p>
                      <a:pPr algn="l"/>
                      <a:r>
                        <a:rPr sz="869" b="0">
                          <a:solidFill>
                            <a:srgbClr val="000000"/>
                          </a:solidFill>
                          <a:latin typeface="Calibri"/>
                        </a:rPr>
                        <a:t>p207</a:t>
                      </a:r>
                    </a:p>
                  </a:txBody>
                  <a:tcPr/>
                </a:tc>
                <a:tc>
                  <a:txBody>
                    <a:bodyPr lIns="54864" rIns="54864" tIns="18288" bIns="18288" wrap="square" anchor="ctr"/>
                    <a:lstStyle/>
                    <a:p>
                      <a:pPr algn="l"/>
                      <a:r>
                        <a:rPr sz="869" b="0">
                          <a:solidFill>
                            <a:srgbClr val="000000"/>
                          </a:solidFill>
                          <a:latin typeface="Calibri"/>
                        </a:rPr>
                        <a:t>one click restores 6 fields</a:t>
                      </a:r>
                    </a:p>
                  </a:txBody>
                  <a:tcPr/>
                </a:tc>
              </a:tr>
              <a:tr h="324196">
                <a:tc>
                  <a:txBody>
                    <a:bodyPr lIns="54864" rIns="54864" tIns="18288" bIns="18288" wrap="square" anchor="ctr"/>
                    <a:lstStyle/>
                    <a:p>
                      <a:pPr algn="l"/>
                      <a:r>
                        <a:rPr sz="869" b="0">
                          <a:solidFill>
                            <a:srgbClr val="000000"/>
                          </a:solidFill>
                          <a:latin typeface="Calibri"/>
                        </a:rPr>
                        <a:t>4</a:t>
                      </a:r>
                    </a:p>
                  </a:txBody>
                  <a:tcPr/>
                </a:tc>
                <a:tc>
                  <a:txBody>
                    <a:bodyPr lIns="54864" rIns="54864" tIns="18288" bIns="18288" wrap="square" anchor="ctr"/>
                    <a:lstStyle/>
                    <a:p>
                      <a:pPr algn="l"/>
                      <a:r>
                        <a:rPr sz="869" b="0">
                          <a:solidFill>
                            <a:srgbClr val="000000"/>
                          </a:solidFill>
                          <a:latin typeface="Calibri"/>
                        </a:rPr>
                        <a:t>Generate report</a:t>
                      </a:r>
                    </a:p>
                  </a:txBody>
                  <a:tcPr/>
                </a:tc>
                <a:tc>
                  <a:txBody>
                    <a:bodyPr lIns="54864" rIns="54864" tIns="18288" bIns="18288" wrap="square" anchor="ctr"/>
                    <a:lstStyle/>
                    <a:p>
                      <a:pPr algn="l"/>
                      <a:r>
                        <a:rPr sz="869" b="0">
                          <a:solidFill>
                            <a:srgbClr val="000000"/>
                          </a:solidFill>
                          <a:latin typeface="Calibri"/>
                        </a:rPr>
                        <a:t>p171</a:t>
                      </a:r>
                    </a:p>
                  </a:txBody>
                  <a:tcPr/>
                </a:tc>
                <a:tc>
                  <a:txBody>
                    <a:bodyPr lIns="54864" rIns="54864" tIns="18288" bIns="18288" wrap="square" anchor="ctr"/>
                    <a:lstStyle/>
                    <a:p>
                      <a:pPr algn="l"/>
                      <a:r>
                        <a:rPr sz="869" b="0">
                          <a:solidFill>
                            <a:srgbClr val="000000"/>
                          </a:solidFill>
                          <a:latin typeface="Calibri"/>
                        </a:rPr>
                        <a:t>the report itself, from S16</a:t>
                      </a:r>
                    </a:p>
                  </a:txBody>
                  <a:tcPr/>
                </a:tc>
              </a:tr>
              <a:tr h="324196">
                <a:tc>
                  <a:txBody>
                    <a:bodyPr lIns="54864" rIns="54864" tIns="18288" bIns="18288" wrap="square" anchor="ctr"/>
                    <a:lstStyle/>
                    <a:p>
                      <a:pPr algn="l"/>
                      <a:r>
                        <a:rPr sz="869" b="0">
                          <a:solidFill>
                            <a:srgbClr val="000000"/>
                          </a:solidFill>
                          <a:latin typeface="Calibri"/>
                        </a:rPr>
                        <a:t>5</a:t>
                      </a:r>
                    </a:p>
                  </a:txBody>
                  <a:tcPr/>
                </a:tc>
                <a:tc>
                  <a:txBody>
                    <a:bodyPr lIns="54864" rIns="54864" tIns="18288" bIns="18288" wrap="square" anchor="ctr"/>
                    <a:lstStyle/>
                    <a:p>
                      <a:pPr algn="l"/>
                      <a:r>
                        <a:rPr sz="869" b="0">
                          <a:solidFill>
                            <a:srgbClr val="000000"/>
                          </a:solidFill>
                          <a:latin typeface="Calibri"/>
                        </a:rPr>
                        <a:t>Auto-stop at fracture</a:t>
                      </a:r>
                    </a:p>
                  </a:txBody>
                  <a:tcPr/>
                </a:tc>
                <a:tc>
                  <a:txBody>
                    <a:bodyPr lIns="54864" rIns="54864" tIns="18288" bIns="18288" wrap="square" anchor="ctr"/>
                    <a:lstStyle/>
                    <a:p>
                      <a:pPr algn="l"/>
                      <a:r>
                        <a:rPr sz="869" b="0">
                          <a:solidFill>
                            <a:srgbClr val="000000"/>
                          </a:solidFill>
                          <a:latin typeface="Calibri"/>
                        </a:rPr>
                        <a:t>p172</a:t>
                      </a:r>
                    </a:p>
                  </a:txBody>
                  <a:tcPr/>
                </a:tc>
                <a:tc>
                  <a:txBody>
                    <a:bodyPr lIns="54864" rIns="54864" tIns="18288" bIns="18288" wrap="square" anchor="ctr"/>
                    <a:lstStyle/>
                    <a:p>
                      <a:pPr algn="l"/>
                      <a:r>
                        <a:rPr sz="869" b="0">
                          <a:solidFill>
                            <a:srgbClr val="000000"/>
                          </a:solidFill>
                          <a:latin typeface="Calibri"/>
                        </a:rPr>
                        <a:t>the halt on the load trace</a:t>
                      </a:r>
                    </a:p>
                  </a:txBody>
                  <a:tcPr/>
                </a:tc>
              </a:tr>
              <a:tr h="324196">
                <a:tc>
                  <a:txBody>
                    <a:bodyPr lIns="54864" rIns="54864" tIns="18288" bIns="18288" wrap="square" anchor="ctr"/>
                    <a:lstStyle/>
                    <a:p>
                      <a:pPr algn="l"/>
                      <a:r>
                        <a:rPr sz="869" b="0">
                          <a:solidFill>
                            <a:srgbClr val="000000"/>
                          </a:solidFill>
                          <a:latin typeface="Calibri"/>
                        </a:rPr>
                        <a:t>6</a:t>
                      </a:r>
                    </a:p>
                  </a:txBody>
                  <a:tcPr/>
                </a:tc>
                <a:tc>
                  <a:txBody>
                    <a:bodyPr lIns="54864" rIns="54864" tIns="18288" bIns="18288" wrap="square" anchor="ctr"/>
                    <a:lstStyle/>
                    <a:p>
                      <a:pPr algn="l"/>
                      <a:r>
                        <a:rPr sz="869" b="0">
                          <a:solidFill>
                            <a:srgbClr val="000000"/>
                          </a:solidFill>
                          <a:latin typeface="Calibri"/>
                        </a:rPr>
                        <a:t>Strain-rate fracture test</a:t>
                      </a:r>
                    </a:p>
                  </a:txBody>
                  <a:tcPr/>
                </a:tc>
                <a:tc>
                  <a:txBody>
                    <a:bodyPr lIns="54864" rIns="54864" tIns="18288" bIns="18288" wrap="square" anchor="ctr"/>
                    <a:lstStyle/>
                    <a:p>
                      <a:pPr algn="l"/>
                      <a:r>
                        <a:rPr sz="869" b="0">
                          <a:solidFill>
                            <a:srgbClr val="000000"/>
                          </a:solidFill>
                          <a:latin typeface="Calibri"/>
                        </a:rPr>
                        <a:t>p173 · p174</a:t>
                      </a:r>
                    </a:p>
                  </a:txBody>
                  <a:tcPr/>
                </a:tc>
                <a:tc>
                  <a:txBody>
                    <a:bodyPr lIns="54864" rIns="54864" tIns="18288" bIns="18288" wrap="square" anchor="ctr"/>
                    <a:lstStyle/>
                    <a:p>
                      <a:pPr algn="l"/>
                      <a:r>
                        <a:rPr sz="869" b="0">
                          <a:solidFill>
                            <a:srgbClr val="000000"/>
                          </a:solidFill>
                          <a:latin typeface="Calibri"/>
                        </a:rPr>
                        <a:t>0.00051/s held vs 0.0005 target</a:t>
                      </a:r>
                    </a:p>
                  </a:txBody>
                  <a:tcPr/>
                </a:tc>
              </a:tr>
              <a:tr h="324196">
                <a:tc>
                  <a:txBody>
                    <a:bodyPr lIns="54864" rIns="54864" tIns="18288" bIns="18288" wrap="square" anchor="ctr"/>
                    <a:lstStyle/>
                    <a:p>
                      <a:pPr algn="l"/>
                      <a:r>
                        <a:rPr sz="869" b="0">
                          <a:solidFill>
                            <a:srgbClr val="000000"/>
                          </a:solidFill>
                          <a:latin typeface="Calibri"/>
                        </a:rPr>
                        <a:t>7</a:t>
                      </a:r>
                    </a:p>
                  </a:txBody>
                  <a:tcPr/>
                </a:tc>
                <a:tc>
                  <a:txBody>
                    <a:bodyPr lIns="54864" rIns="54864" tIns="18288" bIns="18288" wrap="square" anchor="ctr"/>
                    <a:lstStyle/>
                    <a:p>
                      <a:pPr algn="l"/>
                      <a:r>
                        <a:rPr sz="869" b="0">
                          <a:solidFill>
                            <a:srgbClr val="000000"/>
                          </a:solidFill>
                          <a:latin typeface="Calibri"/>
                        </a:rPr>
                        <a:t>Stall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silent through a ductile draw</a:t>
                      </a:r>
                    </a:p>
                  </a:txBody>
                  <a:tcPr/>
                </a:tc>
              </a:tr>
              <a:tr h="324196">
                <a:tc>
                  <a:txBody>
                    <a:bodyPr lIns="54864" rIns="54864" tIns="18288" bIns="18288" wrap="square" anchor="ctr"/>
                    <a:lstStyle/>
                    <a:p>
                      <a:pPr algn="l"/>
                      <a:r>
                        <a:rPr sz="869" b="0">
                          <a:solidFill>
                            <a:srgbClr val="000000"/>
                          </a:solidFill>
                          <a:latin typeface="Calibri"/>
                        </a:rPr>
                        <a:t>8</a:t>
                      </a:r>
                    </a:p>
                  </a:txBody>
                  <a:tcPr/>
                </a:tc>
                <a:tc>
                  <a:txBody>
                    <a:bodyPr lIns="54864" rIns="54864" tIns="18288" bIns="18288" wrap="square" anchor="ctr"/>
                    <a:lstStyle/>
                    <a:p>
                      <a:pPr algn="l"/>
                      <a:r>
                        <a:rPr sz="869" b="0">
                          <a:solidFill>
                            <a:srgbClr val="000000"/>
                          </a:solidFill>
                          <a:latin typeface="Calibri"/>
                        </a:rPr>
                        <a:t>Release preload</a:t>
                      </a:r>
                    </a:p>
                  </a:txBody>
                  <a:tcPr/>
                </a:tc>
                <a:tc>
                  <a:txBody>
                    <a:bodyPr lIns="54864" rIns="54864" tIns="18288" bIns="18288" wrap="square" anchor="ctr"/>
                    <a:lstStyle/>
                    <a:p>
                      <a:pPr algn="l"/>
                      <a:r>
                        <a:rPr sz="869" b="0">
                          <a:solidFill>
                            <a:srgbClr val="000000"/>
                          </a:solidFill>
                          <a:latin typeface="Calibri"/>
                        </a:rPr>
                        <a:t>p176</a:t>
                      </a:r>
                    </a:p>
                  </a:txBody>
                  <a:tcPr/>
                </a:tc>
                <a:tc>
                  <a:txBody>
                    <a:bodyPr lIns="54864" rIns="54864" tIns="18288" bIns="18288" wrap="square" anchor="ctr"/>
                    <a:lstStyle/>
                    <a:p>
                      <a:pPr algn="l"/>
                      <a:r>
                        <a:rPr sz="869" b="0">
                          <a:solidFill>
                            <a:srgbClr val="000000"/>
                          </a:solidFill>
                          <a:latin typeface="Calibri"/>
                        </a:rPr>
                        <a:t>both depths on the trace</a:t>
                      </a:r>
                    </a:p>
                  </a:txBody>
                  <a:tcPr/>
                </a:tc>
              </a:tr>
              <a:tr h="324196">
                <a:tc>
                  <a:txBody>
                    <a:bodyPr lIns="54864" rIns="54864" tIns="18288" bIns="18288" wrap="square" anchor="ctr"/>
                    <a:lstStyle/>
                    <a:p>
                      <a:pPr algn="l"/>
                      <a:r>
                        <a:rPr sz="869" b="0">
                          <a:solidFill>
                            <a:srgbClr val="000000"/>
                          </a:solidFill>
                          <a:latin typeface="Calibri"/>
                        </a:rPr>
                        <a:t>9</a:t>
                      </a:r>
                    </a:p>
                  </a:txBody>
                  <a:tcPr/>
                </a:tc>
                <a:tc>
                  <a:txBody>
                    <a:bodyPr lIns="54864" rIns="54864" tIns="18288" bIns="18288" wrap="square" anchor="ctr"/>
                    <a:lstStyle/>
                    <a:p>
                      <a:pPr algn="l"/>
                      <a:r>
                        <a:rPr sz="869" b="0">
                          <a:solidFill>
                            <a:srgbClr val="000000"/>
                          </a:solidFill>
                          <a:latin typeface="Calibri"/>
                        </a:rPr>
                        <a:t>Six closed-loop protocols</a:t>
                      </a:r>
                    </a:p>
                  </a:txBody>
                  <a:tcPr/>
                </a:tc>
                <a:tc>
                  <a:txBody>
                    <a:bodyPr lIns="54864" rIns="54864" tIns="18288" bIns="18288" wrap="square" anchor="ctr"/>
                    <a:lstStyle/>
                    <a:p>
                      <a:pPr algn="l"/>
                      <a:r>
                        <a:rPr sz="869" b="0">
                          <a:solidFill>
                            <a:srgbClr val="000000"/>
                          </a:solidFill>
                          <a:latin typeface="Calibri"/>
                        </a:rPr>
                        <a:t>p188–p204 · p213–p218</a:t>
                      </a:r>
                    </a:p>
                  </a:txBody>
                  <a:tcPr/>
                </a:tc>
                <a:tc>
                  <a:txBody>
                    <a:bodyPr lIns="54864" rIns="54864" tIns="18288" bIns="18288" wrap="square" anchor="ctr"/>
                    <a:lstStyle/>
                    <a:p>
                      <a:pPr algn="l"/>
                      <a:r>
                        <a:rPr sz="869" b="0">
                          <a:solidFill>
                            <a:srgbClr val="000000"/>
                          </a:solidFill>
                          <a:latin typeface="Calibri"/>
                        </a:rPr>
                        <a:t>one How + one Results slide each</a:t>
                      </a:r>
                    </a:p>
                  </a:txBody>
                  <a:tcPr/>
                </a:tc>
              </a:tr>
              <a:tr h="324200">
                <a:tc>
                  <a:txBody>
                    <a:bodyPr lIns="54864" rIns="54864" tIns="18288" bIns="18288" wrap="square" anchor="ctr"/>
                    <a:lstStyle/>
                    <a:p>
                      <a:pPr algn="l"/>
                      <a:r>
                        <a:rPr sz="869" b="0">
                          <a:solidFill>
                            <a:srgbClr val="000000"/>
                          </a:solidFill>
                          <a:latin typeface="Calibri"/>
                        </a:rPr>
                        <a:t>10</a:t>
                      </a:r>
                    </a:p>
                  </a:txBody>
                  <a:tcPr/>
                </a:tc>
                <a:tc>
                  <a:txBody>
                    <a:bodyPr lIns="54864" rIns="54864" tIns="18288" bIns="18288" wrap="square" anchor="ctr"/>
                    <a:lstStyle/>
                    <a:p>
                      <a:pPr algn="l"/>
                      <a:r>
                        <a:rPr sz="869" b="0">
                          <a:solidFill>
                            <a:srgbClr val="000000"/>
                          </a:solidFill>
                          <a:latin typeface="Calibri"/>
                        </a:rPr>
                        <a:t>Auto-preload</a:t>
                      </a:r>
                    </a:p>
                  </a:txBody>
                  <a:tcPr/>
                </a:tc>
                <a:tc>
                  <a:txBody>
                    <a:bodyPr lIns="54864" rIns="54864" tIns="18288" bIns="18288" wrap="square" anchor="ctr"/>
                    <a:lstStyle/>
                    <a:p>
                      <a:pPr algn="l"/>
                      <a:r>
                        <a:rPr sz="869" b="0">
                          <a:solidFill>
                            <a:srgbClr val="000000"/>
                          </a:solidFill>
                          <a:latin typeface="Calibri"/>
                        </a:rPr>
                        <a:t>p162</a:t>
                      </a:r>
                    </a:p>
                  </a:txBody>
                  <a:tcPr/>
                </a:tc>
                <a:tc>
                  <a:txBody>
                    <a:bodyPr lIns="54864" rIns="54864" tIns="18288" bIns="18288" wrap="square" anchor="ctr"/>
                    <a:lstStyle/>
                    <a:p>
                      <a:pPr algn="l"/>
                      <a:r>
                        <a:rPr sz="869" b="0">
                          <a:solidFill>
                            <a:srgbClr val="000000"/>
                          </a:solidFill>
                          <a:latin typeface="Calibri"/>
                        </a:rPr>
                        <a:t>the 0.2→0.1→0.02 schedule</a:t>
                      </a:r>
                    </a:p>
                  </a:txBody>
                  <a:tcPr/>
                </a:tc>
              </a:tr>
            </a:tbl>
          </a:graphicData>
        </a:graphic>
      </p:graphicFrame>
      <p:graphicFrame>
        <p:nvGraphicFramePr>
          <p:cNvPr id="7" name="Table 6"/>
          <p:cNvGraphicFramePr>
            <a:graphicFrameLocks noGrp="1"/>
          </p:cNvGraphicFramePr>
          <p:nvPr/>
        </p:nvGraphicFramePr>
        <p:xfrm>
          <a:off x="621792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297180">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297180">
                <a:tc>
                  <a:txBody>
                    <a:bodyPr lIns="54864" rIns="54864" tIns="18288" bIns="18288" wrap="square" anchor="ctr"/>
                    <a:lstStyle/>
                    <a:p>
                      <a:pPr algn="l"/>
                      <a:r>
                        <a:rPr sz="869" b="0">
                          <a:solidFill>
                            <a:srgbClr val="000000"/>
                          </a:solidFill>
                          <a:latin typeface="Calibri"/>
                        </a:rPr>
                        <a:t>11</a:t>
                      </a:r>
                    </a:p>
                  </a:txBody>
                  <a:tcPr/>
                </a:tc>
                <a:tc>
                  <a:txBody>
                    <a:bodyPr lIns="54864" rIns="54864" tIns="18288" bIns="18288" wrap="square" anchor="ctr"/>
                    <a:lstStyle/>
                    <a:p>
                      <a:pPr algn="l"/>
                      <a:r>
                        <a:rPr sz="869" b="0">
                          <a:solidFill>
                            <a:srgbClr val="000000"/>
                          </a:solidFill>
                          <a:latin typeface="Calibri"/>
                        </a:rPr>
                        <a:t>Auto-metadata link</a:t>
                      </a:r>
                    </a:p>
                  </a:txBody>
                  <a:tcPr/>
                </a:tc>
                <a:tc>
                  <a:txBody>
                    <a:bodyPr lIns="54864" rIns="54864" tIns="18288" bIns="18288" wrap="square" anchor="ctr"/>
                    <a:lstStyle/>
                    <a:p>
                      <a:pPr algn="l"/>
                      <a:r>
                        <a:rPr sz="869" b="0">
                          <a:solidFill>
                            <a:srgbClr val="000000"/>
                          </a:solidFill>
                          <a:latin typeface="Calibri"/>
                        </a:rPr>
                        <a:t>p257</a:t>
                      </a:r>
                    </a:p>
                  </a:txBody>
                  <a:tcPr/>
                </a:tc>
                <a:tc>
                  <a:txBody>
                    <a:bodyPr lIns="54864" rIns="54864" tIns="18288" bIns="18288" wrap="square" anchor="ctr"/>
                    <a:lstStyle/>
                    <a:p>
                      <a:pPr algn="l"/>
                      <a:r>
                        <a:rPr sz="869" b="0">
                          <a:solidFill>
                            <a:srgbClr val="000000"/>
                          </a:solidFill>
                          <a:latin typeface="Calibri"/>
                        </a:rPr>
                        <a:t>both halves round-trip, 14/14</a:t>
                      </a:r>
                    </a:p>
                  </a:txBody>
                  <a:tcPr/>
                </a:tc>
              </a:tr>
              <a:tr h="297180">
                <a:tc>
                  <a:txBody>
                    <a:bodyPr lIns="54864" rIns="54864" tIns="18288" bIns="18288" wrap="square" anchor="ctr"/>
                    <a:lstStyle/>
                    <a:p>
                      <a:pPr algn="l"/>
                      <a:r>
                        <a:rPr sz="869" b="0">
                          <a:solidFill>
                            <a:srgbClr val="000000"/>
                          </a:solidFill>
                          <a:latin typeface="Calibri"/>
                        </a:rPr>
                        <a:t>12</a:t>
                      </a:r>
                    </a:p>
                  </a:txBody>
                  <a:tcPr/>
                </a:tc>
                <a:tc>
                  <a:txBody>
                    <a:bodyPr lIns="54864" rIns="54864" tIns="18288" bIns="18288" wrap="square" anchor="ctr"/>
                    <a:lstStyle/>
                    <a:p>
                      <a:pPr algn="l"/>
                      <a:r>
                        <a:rPr sz="869" b="0">
                          <a:solidFill>
                            <a:srgbClr val="000000"/>
                          </a:solidFill>
                          <a:latin typeface="Calibri"/>
                        </a:rPr>
                        <a:t>DIC auto-calibration</a:t>
                      </a:r>
                    </a:p>
                  </a:txBody>
                  <a:tcPr/>
                </a:tc>
                <a:tc>
                  <a:txBody>
                    <a:bodyPr lIns="54864" rIns="54864" tIns="18288" bIns="18288" wrap="square" anchor="ctr"/>
                    <a:lstStyle/>
                    <a:p>
                      <a:pPr algn="l"/>
                      <a:r>
                        <a:rPr sz="869" b="0">
                          <a:solidFill>
                            <a:srgbClr val="000000"/>
                          </a:solidFill>
                          <a:latin typeface="Calibri"/>
                        </a:rPr>
                        <a:t>NEXT SLIDE</a:t>
                      </a:r>
                    </a:p>
                  </a:txBody>
                  <a:tcPr/>
                </a:tc>
                <a:tc>
                  <a:txBody>
                    <a:bodyPr lIns="54864" rIns="54864" tIns="18288" bIns="18288" wrap="square" anchor="ctr"/>
                    <a:lstStyle/>
                    <a:p>
                      <a:pPr algn="l"/>
                      <a:r>
                        <a:rPr sz="869" b="0">
                          <a:solidFill>
                            <a:srgbClr val="000000"/>
                          </a:solidFill>
                          <a:latin typeface="Calibri"/>
                        </a:rPr>
                        <a:t>the sweep dialog, real numbers</a:t>
                      </a:r>
                    </a:p>
                  </a:txBody>
                  <a:tcPr/>
                </a:tc>
              </a:tr>
              <a:tr h="297180">
                <a:tc>
                  <a:txBody>
                    <a:bodyPr lIns="54864" rIns="54864" tIns="18288" bIns="18288" wrap="square" anchor="ctr"/>
                    <a:lstStyle/>
                    <a:p>
                      <a:pPr algn="l"/>
                      <a:r>
                        <a:rPr sz="869" b="0">
                          <a:solidFill>
                            <a:srgbClr val="000000"/>
                          </a:solidFill>
                          <a:latin typeface="Calibri"/>
                        </a:rPr>
                        <a:t>13</a:t>
                      </a:r>
                    </a:p>
                  </a:txBody>
                  <a:tcPr/>
                </a:tc>
                <a:tc>
                  <a:txBody>
                    <a:bodyPr lIns="54864" rIns="54864" tIns="18288" bIns="18288" wrap="square" anchor="ctr"/>
                    <a:lstStyle/>
                    <a:p>
                      <a:pPr algn="l"/>
                      <a:r>
                        <a:rPr sz="869" b="0">
                          <a:solidFill>
                            <a:srgbClr val="000000"/>
                          </a:solidFill>
                          <a:latin typeface="Calibri"/>
                        </a:rPr>
                        <a:t>Guided wizard</a:t>
                      </a:r>
                    </a:p>
                  </a:txBody>
                  <a:tcPr/>
                </a:tc>
                <a:tc>
                  <a:txBody>
                    <a:bodyPr lIns="54864" rIns="54864" tIns="18288" bIns="18288" wrap="square" anchor="ctr"/>
                    <a:lstStyle/>
                    <a:p>
                      <a:pPr algn="l"/>
                      <a:r>
                        <a:rPr sz="869" b="0">
                          <a:solidFill>
                            <a:srgbClr val="000000"/>
                          </a:solidFill>
                          <a:latin typeface="Calibri"/>
                        </a:rPr>
                        <a:t>NEXT SLIDE + 1</a:t>
                      </a:r>
                    </a:p>
                  </a:txBody>
                  <a:tcPr/>
                </a:tc>
                <a:tc>
                  <a:txBody>
                    <a:bodyPr lIns="54864" rIns="54864" tIns="18288" bIns="18288" wrap="square" anchor="ctr"/>
                    <a:lstStyle/>
                    <a:p>
                      <a:pPr algn="l"/>
                      <a:r>
                        <a:rPr sz="869" b="0">
                          <a:solidFill>
                            <a:srgbClr val="000000"/>
                          </a:solidFill>
                          <a:latin typeface="Calibri"/>
                        </a:rPr>
                        <a:t>9 of 9 done, on the rig</a:t>
                      </a:r>
                    </a:p>
                  </a:txBody>
                  <a:tcPr/>
                </a:tc>
              </a:tr>
              <a:tr h="297180">
                <a:tc>
                  <a:txBody>
                    <a:bodyPr lIns="54864" rIns="54864" tIns="18288" bIns="18288" wrap="square" anchor="ctr"/>
                    <a:lstStyle/>
                    <a:p>
                      <a:pPr algn="l"/>
                      <a:r>
                        <a:rPr sz="869" b="0">
                          <a:solidFill>
                            <a:srgbClr val="000000"/>
                          </a:solidFill>
                          <a:latin typeface="Calibri"/>
                        </a:rPr>
                        <a:t>14</a:t>
                      </a:r>
                    </a:p>
                  </a:txBody>
                  <a:tcPr/>
                </a:tc>
                <a:tc>
                  <a:txBody>
                    <a:bodyPr lIns="54864" rIns="54864" tIns="18288" bIns="18288" wrap="square" anchor="ctr"/>
                    <a:lstStyle/>
                    <a:p>
                      <a:pPr algn="l"/>
                      <a:r>
                        <a:rPr sz="869" b="0">
                          <a:solidFill>
                            <a:srgbClr val="000000"/>
                          </a:solidFill>
                          <a:latin typeface="Calibri"/>
                        </a:rPr>
                        <a:t>Poisson / true Cauchy</a:t>
                      </a:r>
                    </a:p>
                  </a:txBody>
                  <a:tcPr/>
                </a:tc>
                <a:tc>
                  <a:txBody>
                    <a:bodyPr lIns="54864" rIns="54864" tIns="18288" bIns="18288" wrap="square" anchor="ctr"/>
                    <a:lstStyle/>
                    <a:p>
                      <a:pPr algn="l"/>
                      <a:r>
                        <a:rPr sz="869" b="0">
                          <a:solidFill>
                            <a:srgbClr val="000000"/>
                          </a:solidFill>
                          <a:latin typeface="Calibri"/>
                        </a:rPr>
                        <a:t>p166 · p187</a:t>
                      </a:r>
                    </a:p>
                  </a:txBody>
                  <a:tcPr/>
                </a:tc>
                <a:tc>
                  <a:txBody>
                    <a:bodyPr lIns="54864" rIns="54864" tIns="18288" bIns="18288" wrap="square" anchor="ctr"/>
                    <a:lstStyle/>
                    <a:p>
                      <a:pPr algn="l"/>
                      <a:r>
                        <a:rPr sz="869" b="0">
                          <a:solidFill>
                            <a:srgbClr val="000000"/>
                          </a:solidFill>
                          <a:latin typeface="Calibri"/>
                        </a:rPr>
                        <a:t>why the optics block it</a:t>
                      </a:r>
                    </a:p>
                  </a:txBody>
                  <a:tcPr/>
                </a:tc>
              </a:tr>
              <a:tr h="297180">
                <a:tc>
                  <a:txBody>
                    <a:bodyPr lIns="54864" rIns="54864" tIns="18288" bIns="18288" wrap="square" anchor="ctr"/>
                    <a:lstStyle/>
                    <a:p>
                      <a:pPr algn="l"/>
                      <a:r>
                        <a:rPr sz="869" b="0">
                          <a:solidFill>
                            <a:srgbClr val="000000"/>
                          </a:solidFill>
                          <a:latin typeface="Calibri"/>
                        </a:rPr>
                        <a:t>15</a:t>
                      </a:r>
                    </a:p>
                  </a:txBody>
                  <a:tcPr/>
                </a:tc>
                <a:tc>
                  <a:txBody>
                    <a:bodyPr lIns="54864" rIns="54864" tIns="18288" bIns="18288" wrap="square" anchor="ctr"/>
                    <a:lstStyle/>
                    <a:p>
                      <a:pPr algn="l"/>
                      <a:r>
                        <a:rPr sz="869" b="0">
                          <a:solidFill>
                            <a:srgbClr val="000000"/>
                          </a:solidFill>
                          <a:latin typeface="Calibri"/>
                        </a:rPr>
                        <a:t>Test registry</a:t>
                      </a:r>
                    </a:p>
                  </a:txBody>
                  <a:tcPr/>
                </a:tc>
                <a:tc>
                  <a:txBody>
                    <a:bodyPr lIns="54864" rIns="54864" tIns="18288" bIns="18288" wrap="square" anchor="ctr"/>
                    <a:lstStyle/>
                    <a:p>
                      <a:pPr algn="l"/>
                      <a:r>
                        <a:rPr sz="869" b="0">
                          <a:solidFill>
                            <a:srgbClr val="000000"/>
                          </a:solidFill>
                          <a:latin typeface="Calibri"/>
                        </a:rPr>
                        <a:t>p258</a:t>
                      </a:r>
                    </a:p>
                  </a:txBody>
                  <a:tcPr/>
                </a:tc>
                <a:tc>
                  <a:txBody>
                    <a:bodyPr lIns="54864" rIns="54864" tIns="18288" bIns="18288" wrap="square" anchor="ctr"/>
                    <a:lstStyle/>
                    <a:p>
                      <a:pPr algn="l"/>
                      <a:r>
                        <a:rPr sz="869" b="0">
                          <a:solidFill>
                            <a:srgbClr val="000000"/>
                          </a:solidFill>
                          <a:latin typeface="Calibri"/>
                        </a:rPr>
                        <a:t>the CLI listing, 34 runs</a:t>
                      </a:r>
                    </a:p>
                  </a:txBody>
                  <a:tcPr/>
                </a:tc>
              </a:tr>
              <a:tr h="297180">
                <a:tc>
                  <a:txBody>
                    <a:bodyPr lIns="54864" rIns="54864" tIns="18288" bIns="18288" wrap="square" anchor="ctr"/>
                    <a:lstStyle/>
                    <a:p>
                      <a:pPr algn="l"/>
                      <a:r>
                        <a:rPr sz="869" b="0">
                          <a:solidFill>
                            <a:srgbClr val="000000"/>
                          </a:solidFill>
                          <a:latin typeface="Calibri"/>
                        </a:rPr>
                        <a:t>16</a:t>
                      </a:r>
                    </a:p>
                  </a:txBody>
                  <a:tcPr/>
                </a:tc>
                <a:tc>
                  <a:txBody>
                    <a:bodyPr lIns="54864" rIns="54864" tIns="18288" bIns="18288" wrap="square" anchor="ctr"/>
                    <a:lstStyle/>
                    <a:p>
                      <a:pPr algn="l"/>
                      <a:r>
                        <a:rPr sz="869" b="0">
                          <a:solidFill>
                            <a:srgbClr val="000000"/>
                          </a:solidFill>
                          <a:latin typeface="Calibri"/>
                        </a:rPr>
                        <a:t>Dead-DIC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the halt at 1.0 s stale</a:t>
                      </a:r>
                    </a:p>
                  </a:txBody>
                  <a:tcPr/>
                </a:tc>
              </a:tr>
              <a:tr h="297180">
                <a:tc>
                  <a:txBody>
                    <a:bodyPr lIns="54864" rIns="54864" tIns="18288" bIns="18288" wrap="square" anchor="ctr"/>
                    <a:lstStyle/>
                    <a:p>
                      <a:pPr algn="l"/>
                      <a:r>
                        <a:rPr sz="869" b="0">
                          <a:solidFill>
                            <a:srgbClr val="000000"/>
                          </a:solidFill>
                          <a:latin typeface="Calibri"/>
                        </a:rPr>
                        <a:t>18</a:t>
                      </a:r>
                    </a:p>
                  </a:txBody>
                  <a:tcPr/>
                </a:tc>
                <a:tc>
                  <a:txBody>
                    <a:bodyPr lIns="54864" rIns="54864" tIns="18288" bIns="18288" wrap="square" anchor="ctr"/>
                    <a:lstStyle/>
                    <a:p>
                      <a:pPr algn="l"/>
                      <a:r>
                        <a:rPr sz="869" b="0">
                          <a:solidFill>
                            <a:srgbClr val="000000"/>
                          </a:solidFill>
                          <a:latin typeface="Calibri"/>
                        </a:rPr>
                        <a:t>Live Px₀ overlay</a:t>
                      </a:r>
                    </a:p>
                  </a:txBody>
                  <a:tcPr/>
                </a:tc>
                <a:tc>
                  <a:txBody>
                    <a:bodyPr lIns="54864" rIns="54864" tIns="18288" bIns="18288" wrap="square" anchor="ctr"/>
                    <a:lstStyle/>
                    <a:p>
                      <a:pPr algn="l"/>
                      <a:r>
                        <a:rPr sz="869" b="0">
                          <a:solidFill>
                            <a:srgbClr val="000000"/>
                          </a:solidFill>
                          <a:latin typeface="Calibri"/>
                        </a:rPr>
                        <a:t>LAST OF THIS BLOCK</a:t>
                      </a:r>
                    </a:p>
                  </a:txBody>
                  <a:tcPr/>
                </a:tc>
                <a:tc>
                  <a:txBody>
                    <a:bodyPr lIns="54864" rIns="54864" tIns="18288" bIns="18288" wrap="square" anchor="ctr"/>
                    <a:lstStyle/>
                    <a:p>
                      <a:pPr algn="l"/>
                      <a:r>
                        <a:rPr sz="869" b="0">
                          <a:solidFill>
                            <a:srgbClr val="000000"/>
                          </a:solidFill>
                          <a:latin typeface="Calibri"/>
                        </a:rPr>
                        <a:t>overlay 1745 px = caption 1745 px</a:t>
                      </a:r>
                    </a:p>
                  </a:txBody>
                  <a:tcPr/>
                </a:tc>
              </a:tr>
              <a:tr h="297180">
                <a:tc>
                  <a:txBody>
                    <a:bodyPr lIns="54864" rIns="54864" tIns="18288" bIns="18288" wrap="square" anchor="ctr"/>
                    <a:lstStyle/>
                    <a:p>
                      <a:pPr algn="l"/>
                      <a:r>
                        <a:rPr sz="869" b="0">
                          <a:solidFill>
                            <a:srgbClr val="000000"/>
                          </a:solidFill>
                          <a:latin typeface="Calibri"/>
                        </a:rPr>
                        <a:t>19</a:t>
                      </a:r>
                    </a:p>
                  </a:txBody>
                  <a:tcPr/>
                </a:tc>
                <a:tc>
                  <a:txBody>
                    <a:bodyPr lIns="54864" rIns="54864" tIns="18288" bIns="18288" wrap="square" anchor="ctr"/>
                    <a:lstStyle/>
                    <a:p>
                      <a:pPr algn="l"/>
                      <a:r>
                        <a:rPr sz="869" b="0">
                          <a:solidFill>
                            <a:srgbClr val="000000"/>
                          </a:solidFill>
                          <a:latin typeface="Calibri"/>
                        </a:rPr>
                        <a:t>Video + image capture</a:t>
                      </a:r>
                    </a:p>
                  </a:txBody>
                  <a:tcPr/>
                </a:tc>
                <a:tc>
                  <a:txBody>
                    <a:bodyPr lIns="54864" rIns="54864" tIns="18288" bIns="18288" wrap="square" anchor="ctr"/>
                    <a:lstStyle/>
                    <a:p>
                      <a:pPr algn="l"/>
                      <a:r>
                        <a:rPr sz="869" b="0">
                          <a:solidFill>
                            <a:srgbClr val="000000"/>
                          </a:solidFill>
                          <a:latin typeface="Calibri"/>
                        </a:rPr>
                        <a:t>LAST TWO OF THIS BLOCK</a:t>
                      </a:r>
                    </a:p>
                  </a:txBody>
                  <a:tcPr/>
                </a:tc>
                <a:tc>
                  <a:txBody>
                    <a:bodyPr lIns="54864" rIns="54864" tIns="18288" bIns="18288" wrap="square" anchor="ctr"/>
                    <a:lstStyle/>
                    <a:p>
                      <a:pPr algn="l"/>
                      <a:r>
                        <a:rPr sz="869" b="0">
                          <a:solidFill>
                            <a:srgbClr val="000000"/>
                          </a:solidFill>
                          <a:latin typeface="Calibri"/>
                        </a:rPr>
                        <a:t>S26 frames and all 3 videos</a:t>
                      </a:r>
                    </a:p>
                  </a:txBody>
                  <a:tcPr/>
                </a:tc>
              </a:tr>
              <a:tr h="297180">
                <a:tc>
                  <a:txBody>
                    <a:bodyPr lIns="54864" rIns="54864" tIns="18288" bIns="18288" wrap="square" anchor="ctr"/>
                    <a:lstStyle/>
                    <a:p>
                      <a:pPr algn="l"/>
                      <a:r>
                        <a:rPr sz="869" b="0">
                          <a:solidFill>
                            <a:srgbClr val="000000"/>
                          </a:solidFill>
                          <a:latin typeface="Calibri"/>
                        </a:rPr>
                        <a:t>20</a:t>
                      </a:r>
                    </a:p>
                  </a:txBody>
                  <a:tcPr/>
                </a:tc>
                <a:tc>
                  <a:txBody>
                    <a:bodyPr lIns="54864" rIns="54864" tIns="18288" bIns="18288" wrap="square" anchor="ctr"/>
                    <a:lstStyle/>
                    <a:p>
                      <a:pPr algn="l"/>
                      <a:r>
                        <a:rPr sz="869" b="0">
                          <a:solidFill>
                            <a:srgbClr val="000000"/>
                          </a:solidFill>
                          <a:latin typeface="Calibri"/>
                        </a:rPr>
                        <a:t>DIC post-processing</a:t>
                      </a:r>
                    </a:p>
                  </a:txBody>
                  <a:tcPr/>
                </a:tc>
                <a:tc>
                  <a:txBody>
                    <a:bodyPr lIns="54864" rIns="54864" tIns="18288" bIns="18288" wrap="square" anchor="ctr"/>
                    <a:lstStyle/>
                    <a:p>
                      <a:pPr algn="l"/>
                      <a:r>
                        <a:rPr sz="869" b="0">
                          <a:solidFill>
                            <a:srgbClr val="000000"/>
                          </a:solidFill>
                          <a:latin typeface="Calibri"/>
                        </a:rPr>
                        <a:t>p299–p303</a:t>
                      </a:r>
                    </a:p>
                  </a:txBody>
                  <a:tcPr/>
                </a:tc>
                <a:tc>
                  <a:txBody>
                    <a:bodyPr lIns="54864" rIns="54864" tIns="18288" bIns="18288" wrap="square" anchor="ctr"/>
                    <a:lstStyle/>
                    <a:p>
                      <a:pPr algn="l"/>
                      <a:r>
                        <a:rPr sz="869" b="0">
                          <a:solidFill>
                            <a:srgbClr val="000000"/>
                          </a:solidFill>
                          <a:latin typeface="Calibri"/>
                        </a:rPr>
                        <a:t>three independent checks + the guide</a:t>
                      </a:r>
                    </a:p>
                  </a:txBody>
                  <a:tcPr/>
                </a:tc>
              </a:tr>
              <a:tr h="297180">
                <a:tc>
                  <a:txBody>
                    <a:bodyPr lIns="54864" rIns="54864" tIns="18288" bIns="18288" wrap="square" anchor="ctr"/>
                    <a:lstStyle/>
                    <a:p>
                      <a:pPr algn="l"/>
                      <a:r>
                        <a:rPr sz="869" b="0">
                          <a:solidFill>
                            <a:srgbClr val="000000"/>
                          </a:solidFill>
                          <a:latin typeface="Calibri"/>
                        </a:rPr>
                        <a:t>21</a:t>
                      </a:r>
                    </a:p>
                  </a:txBody>
                  <a:tcPr/>
                </a:tc>
                <a:tc>
                  <a:txBody>
                    <a:bodyPr lIns="54864" rIns="54864" tIns="18288" bIns="18288" wrap="square" anchor="ctr"/>
                    <a:lstStyle/>
                    <a:p>
                      <a:pPr algn="l"/>
                      <a:r>
                        <a:rPr sz="869" b="0">
                          <a:solidFill>
                            <a:srgbClr val="000000"/>
                          </a:solidFill>
                          <a:latin typeface="Calibri"/>
                        </a:rPr>
                        <a:t>Noise capture</a:t>
                      </a:r>
                    </a:p>
                  </a:txBody>
                  <a:tcPr/>
                </a:tc>
                <a:tc>
                  <a:txBody>
                    <a:bodyPr lIns="54864" rIns="54864" tIns="18288" bIns="18288" wrap="square" anchor="ctr"/>
                    <a:lstStyle/>
                    <a:p>
                      <a:pPr algn="l"/>
                      <a:r>
                        <a:rPr sz="869" b="0">
                          <a:solidFill>
                            <a:srgbClr val="000000"/>
                          </a:solidFill>
                          <a:latin typeface="Calibri"/>
                        </a:rPr>
                        <a:t>p309</a:t>
                      </a:r>
                    </a:p>
                  </a:txBody>
                  <a:tcPr/>
                </a:tc>
                <a:tc>
                  <a:txBody>
                    <a:bodyPr lIns="54864" rIns="54864" tIns="18288" bIns="18288" wrap="square" anchor="ctr"/>
                    <a:lstStyle/>
                    <a:p>
                      <a:pPr algn="l"/>
                      <a:r>
                        <a:rPr sz="869" b="0">
                          <a:solidFill>
                            <a:srgbClr val="000000"/>
                          </a:solidFill>
                          <a:latin typeface="Calibri"/>
                        </a:rPr>
                        <a:t>offset / drift / sd, separated</a:t>
                      </a:r>
                    </a:p>
                  </a:txBody>
                  <a:tcPr/>
                </a:tc>
              </a:tr>
              <a:tr h="297180">
                <a:tc>
                  <a:txBody>
                    <a:bodyPr lIns="54864" rIns="54864" tIns="18288" bIns="18288" wrap="square" anchor="ctr"/>
                    <a:lstStyle/>
                    <a:p>
                      <a:pPr algn="l"/>
                      <a:r>
                        <a:rPr sz="869" b="0">
                          <a:solidFill>
                            <a:srgbClr val="000000"/>
                          </a:solidFill>
                          <a:latin typeface="Calibri"/>
                        </a:rPr>
                        <a:t>—</a:t>
                      </a:r>
                    </a:p>
                  </a:txBody>
                  <a:tcPr/>
                </a:tc>
                <a:tc>
                  <a:txBody>
                    <a:bodyPr lIns="54864" rIns="54864" tIns="18288" bIns="18288" wrap="square" anchor="ctr"/>
                    <a:lstStyle/>
                    <a:p>
                      <a:pPr algn="l"/>
                      <a:r>
                        <a:rPr sz="869" b="0">
                          <a:solidFill>
                            <a:srgbClr val="000000"/>
                          </a:solidFill>
                          <a:latin typeface="Calibri"/>
                        </a:rPr>
                        <a:t>Capture formats &amp; disk</a:t>
                      </a:r>
                    </a:p>
                  </a:txBody>
                  <a:tcPr/>
                </a:tc>
                <a:tc>
                  <a:txBody>
                    <a:bodyPr lIns="54864" rIns="54864" tIns="18288" bIns="18288" wrap="square" anchor="ctr"/>
                    <a:lstStyle/>
                    <a:p>
                      <a:pPr algn="l"/>
                      <a:r>
                        <a:rPr sz="869" b="0">
                          <a:solidFill>
                            <a:srgbClr val="000000"/>
                          </a:solidFill>
                          <a:latin typeface="Calibri"/>
                        </a:rPr>
                        <a:t>p259 · p260</a:t>
                      </a:r>
                    </a:p>
                  </a:txBody>
                  <a:tcPr/>
                </a:tc>
                <a:tc>
                  <a:txBody>
                    <a:bodyPr lIns="54864" rIns="54864" tIns="18288" bIns="18288" wrap="square" anchor="ctr"/>
                    <a:lstStyle/>
                    <a:p>
                      <a:pPr algn="l"/>
                      <a:r>
                        <a:rPr sz="869" b="0">
                          <a:solidFill>
                            <a:srgbClr val="000000"/>
                          </a:solidFill>
                          <a:latin typeface="Calibri"/>
                        </a:rPr>
                        <a:t>TIFF/PNG, FFV1/Y800, cost</a:t>
                      </a:r>
                    </a:p>
                  </a:txBody>
                  <a:tcPr/>
                </a:tc>
              </a:tr>
            </a:tbl>
          </a:graphicData>
        </a:graphic>
      </p:graphicFrame>
      <p:sp>
        <p:nvSpPr>
          <p:cNvPr id="8" name="Rectangle 7"/>
          <p:cNvSpPr/>
          <p:nvPr/>
        </p:nvSpPr>
        <p:spPr>
          <a:xfrm>
            <a:off x="365760" y="557784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FOUR FEATURES WITH NO SCREENSHOT UNTIL NOW — AUTO-CALIBRATION, THE WIZARD, CAPTURE AND THE Px₀ OVERLAY — ARE PROVEN ON THE NEXT FIVE SLIDES.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(see the previous slide). Page numbers are this deck's own, and were read back off the built deck rather than written by hand.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SF12 · DIC AUTO-CALIBRATION — THE SWEEP, ON THE PPD-UTM</a:t>
            </a:r>
          </a:p>
        </p:txBody>
      </p:sp>
      <p:pic>
        <p:nvPicPr>
          <p:cNvPr id="5" name="Picture 4" descr="UTM_Autocalibrate.png"/>
          <p:cNvPicPr>
            <a:picLocks noChangeAspect="1"/>
          </p:cNvPicPr>
          <p:nvPr/>
        </p:nvPicPr>
        <p:blipFill>
          <a:blip r:embed="rId2"/>
          <a:stretch>
            <a:fillRect/>
          </a:stretch>
        </p:blipFill>
        <p:spPr>
          <a:xfrm>
            <a:off x="411480" y="1234440"/>
            <a:ext cx="5669280" cy="3996895"/>
          </a:xfrm>
          <a:prstGeom prst="rect">
            <a:avLst/>
          </a:prstGeom>
        </p:spPr>
      </p:pic>
      <p:sp>
        <p:nvSpPr>
          <p:cNvPr id="6" name="TextBox 5"/>
          <p:cNvSpPr txBox="1"/>
          <p:nvPr/>
        </p:nvSpPr>
        <p:spPr>
          <a:xfrm>
            <a:off x="6400800" y="123444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dialog is showing</a:t>
            </a:r>
          </a:p>
        </p:txBody>
      </p:sp>
      <p:sp>
        <p:nvSpPr>
          <p:cNvPr id="7" name="TextBox 6"/>
          <p:cNvSpPr txBox="1"/>
          <p:nvPr/>
        </p:nvSpPr>
        <p:spPr>
          <a:xfrm>
            <a:off x="6400800" y="1600200"/>
            <a:ext cx="5440680" cy="2286000"/>
          </a:xfrm>
          <a:prstGeom prst="rect">
            <a:avLst/>
          </a:prstGeom>
          <a:noFill/>
        </p:spPr>
        <p:txBody>
          <a:bodyPr wrap="square" lIns="45720" rIns="45720" tIns="18288" bIns="18288" anchor="t">
            <a:spAutoFit/>
          </a:bodyPr>
          <a:lstStyle/>
          <a:p>
            <a:pPr algn="l"/>
            <a:r>
              <a:rPr sz="980" b="0" i="0">
                <a:solidFill>
                  <a:srgbClr val="000000"/>
                </a:solidFill>
                <a:latin typeface="Calibri"/>
              </a:rPr>
              <a:t>Seven exposures swept at the working threshold, each scored on how well the markers would survive a disturbance — not on whether they happen to be found right now.
It picked 35 ms / threshold 120 over the 50 ms / 150 that was loaded: detect 100 %, contrast 0.96, only 0.1 % of pixels clipped, score 0.82. The two settings that also detect 100 % lose on clipping (0.8 % and 2.0 %) — at 140 ms the frame is so bright that detection collapses to 0 %.
It PROPOSES. Cancel puts the camera back exactly as it was, which is why it is safe to run with a specimen already mounted.</a:t>
            </a:r>
          </a:p>
        </p:txBody>
      </p:sp>
      <p:sp>
        <p:nvSpPr>
          <p:cNvPr id="8" name="TextBox 7"/>
          <p:cNvSpPr txBox="1"/>
          <p:nvPr/>
        </p:nvSpPr>
        <p:spPr>
          <a:xfrm>
            <a:off x="6400800" y="361188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contrast margin, not detection rate</a:t>
            </a:r>
          </a:p>
        </p:txBody>
      </p:sp>
      <p:sp>
        <p:nvSpPr>
          <p:cNvPr id="9" name="TextBox 8"/>
          <p:cNvSpPr txBox="1"/>
          <p:nvPr/>
        </p:nvSpPr>
        <p:spPr>
          <a:xfrm>
            <a:off x="6400800" y="3977639"/>
            <a:ext cx="5440680" cy="1325880"/>
          </a:xfrm>
          <a:prstGeom prst="rect">
            <a:avLst/>
          </a:prstGeom>
          <a:noFill/>
        </p:spPr>
        <p:txBody>
          <a:bodyPr wrap="square" lIns="45720" rIns="45720" tIns="18288" bIns="18288" anchor="t">
            <a:spAutoFit/>
          </a:bodyPr>
          <a:lstStyle/>
          <a:p>
            <a:pPr algn="l"/>
            <a:r>
              <a:rPr sz="960" b="0" i="0">
                <a:solidFill>
                  <a:srgbClr val="000000"/>
                </a:solidFill>
                <a:latin typeface="Calibri"/>
              </a:rPr>
              <a:t>Detection rate answers “does it work now”. Contrast margin answers “will it still work when the light flickers or the specimen necks” — how far the markers sit from the threshold. Three settings here detect 100 % and only one of them has room to spare.</a:t>
            </a:r>
          </a:p>
        </p:txBody>
      </p:sp>
      <p:sp>
        <p:nvSpPr>
          <p:cNvPr id="10" name="Rectangle 9"/>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SF12 WAS “BUILT, WAITING ON RIG TIME”. THIS IS IT RUNNING ON THE RIG — THE CARD IS NOW GREEN.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Settings ▸ DIC camera setup ▸ Auto-calibrate DIC.</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SF13 · GUIDED WIZARD — NINE OF NINE, ON A REAL RUN</a:t>
            </a:r>
          </a:p>
        </p:txBody>
      </p:sp>
      <p:pic>
        <p:nvPicPr>
          <p:cNvPr id="5" name="Picture 4" descr="UTM_GuidedWizard.png"/>
          <p:cNvPicPr>
            <a:picLocks noChangeAspect="1"/>
          </p:cNvPicPr>
          <p:nvPr/>
        </p:nvPicPr>
        <p:blipFill>
          <a:blip r:embed="rId2"/>
          <a:stretch>
            <a:fillRect/>
          </a:stretch>
        </p:blipFill>
        <p:spPr>
          <a:xfrm>
            <a:off x="1037173" y="1207008"/>
            <a:ext cx="2040453" cy="4571998"/>
          </a:xfrm>
          <a:prstGeom prst="rect">
            <a:avLst/>
          </a:prstGeom>
        </p:spPr>
      </p:pic>
      <p:sp>
        <p:nvSpPr>
          <p:cNvPr id="6" name="TextBox 5"/>
          <p:cNvSpPr txBox="1"/>
          <p:nvPr/>
        </p:nvSpPr>
        <p:spPr>
          <a:xfrm>
            <a:off x="402336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reading</a:t>
            </a:r>
          </a:p>
        </p:txBody>
      </p:sp>
      <p:sp>
        <p:nvSpPr>
          <p:cNvPr id="7" name="TextBox 6"/>
          <p:cNvSpPr txBox="1"/>
          <p:nvPr/>
        </p:nvSpPr>
        <p:spPr>
          <a:xfrm>
            <a:off x="402336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Nothing new is measured. Every line is a flag the app already had, put in the order the steps must happen:
•  serial link open
•  motors enabled
•  camera running, 2/2 markers
•  data streams on
•  specimen mode chosen
•  auto-calibrate run for THIS specimen
•  preload applied — 311 N now
•  Px₀ frozen — 1648.2 px @ 305 N
•  Prepare test done
•  frame capture armed (optional)
•  the run itself — 2 522 samples
•  data saved, with the path
The grey dots are the two OPTIONAL steps. They never block, and they never turn green.</a:t>
            </a:r>
          </a:p>
        </p:txBody>
      </p:sp>
      <p:sp>
        <p:nvSpPr>
          <p:cNvPr id="8" name="TextBox 7"/>
          <p:cNvSpPr txBox="1"/>
          <p:nvPr/>
        </p:nvSpPr>
        <p:spPr>
          <a:xfrm>
            <a:off x="809244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ORDER is the feature</a:t>
            </a:r>
          </a:p>
        </p:txBody>
      </p:sp>
      <p:sp>
        <p:nvSpPr>
          <p:cNvPr id="9" name="TextBox 8"/>
          <p:cNvSpPr txBox="1"/>
          <p:nvPr/>
        </p:nvSpPr>
        <p:spPr>
          <a:xfrm>
            <a:off x="809244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Three of these steps are order-dependent and each has already cost a run somewhere in this deck:
•  Auto-calibrate BEFORE arming capture — the speckle video follows the camera settings.
•  Px₀ AFTER preload — freeze it unloaded and every strain in the test is measured from the wrong zero.
•  Prepare test AFTER Px₀ — it tares the FORCE, so the load the freeze happened at can no longer be read back.
The panel shows Px₀ frozen at 305 N with the preload reading 311 N: the right order, self-evidently, without the operator having to remember it.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 the wizard at the end of a completed run (UTM_Test_20260822_180547.csv). Optional and off by default.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VIDEO + IMAGE CAPTURE — WHAT THE OPERATOR CHOOSES</a:t>
            </a:r>
          </a:p>
        </p:txBody>
      </p:sp>
      <p:pic>
        <p:nvPicPr>
          <p:cNvPr id="5" name="Picture 4" descr="UTM_capture_setup.png"/>
          <p:cNvPicPr>
            <a:picLocks noChangeAspect="1"/>
          </p:cNvPicPr>
          <p:nvPr/>
        </p:nvPicPr>
        <p:blipFill>
          <a:blip r:embed="rId2"/>
          <a:stretch>
            <a:fillRect/>
          </a:stretch>
        </p:blipFill>
        <p:spPr>
          <a:xfrm>
            <a:off x="527523" y="1234440"/>
            <a:ext cx="6625912" cy="4206240"/>
          </a:xfrm>
          <a:prstGeom prst="rect">
            <a:avLst/>
          </a:prstGeom>
        </p:spPr>
      </p:pic>
      <p:sp>
        <p:nvSpPr>
          <p:cNvPr id="6" name="TextBox 5"/>
          <p:cNvSpPr txBox="1"/>
          <p:nvPr/>
        </p:nvSpPr>
        <p:spPr>
          <a:xfrm>
            <a:off x="7543800" y="1234440"/>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decisions, all costed live</a:t>
            </a:r>
          </a:p>
        </p:txBody>
      </p:sp>
      <p:sp>
        <p:nvSpPr>
          <p:cNvPr id="7" name="TextBox 6"/>
          <p:cNvSpPr txBox="1"/>
          <p:nvPr/>
        </p:nvSpPr>
        <p:spPr>
          <a:xfrm>
            <a:off x="7543800" y="1600200"/>
            <a:ext cx="4297680" cy="3931920"/>
          </a:xfrm>
          <a:prstGeom prst="rect">
            <a:avLst/>
          </a:prstGeom>
          <a:noFill/>
        </p:spPr>
        <p:txBody>
          <a:bodyPr wrap="square" lIns="45720" rIns="45720" tIns="18288" bIns="18288" anchor="t">
            <a:spAutoFit/>
          </a:bodyPr>
          <a:lstStyle/>
          <a:p>
            <a:pPr algn="l"/>
            <a:r>
              <a:rPr sz="950" b="0" i="0">
                <a:solidFill>
                  <a:srgbClr val="000000"/>
                </a:solidFill>
                <a:latin typeface="Calibri"/>
              </a:rPr>
              <a:t>STILLS — TIFF uncompressed by default, PNG as the option. Both are lossless; TIFF is faster to write, PNG is smaller.
VIDEO — FFV1 (.mkv) or raw Y800 (.avi), both lossless, so the video can be MEASURED from rather than merely watched. MJPG was dropped: it is lossy and it drops the last column of an odd-width frame.
VIEWS — raw, speckle-only, boosted contrast; any combination, recorded together from the same pull.
The disk cost updates as the boxes change, in GB per minute AND per hour, against a 3-minute fracture pull and the free space on the drive. 237 GB/hour is the kind of number that has to be seen BEFORE a run, not discovered after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Every option carries a ? help button explaining the trade-off — added after the formats went 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WHAT IT ACTUALLY RECORDED — S26, START TO FRACTURE</a:t>
            </a:r>
          </a:p>
        </p:txBody>
      </p:sp>
      <p:pic>
        <p:nvPicPr>
          <p:cNvPr id="5" name="Picture 4" descr="sf_capture_strip.png"/>
          <p:cNvPicPr>
            <a:picLocks noChangeAspect="1"/>
          </p:cNvPicPr>
          <p:nvPr/>
        </p:nvPicPr>
        <p:blipFill>
          <a:blip r:embed="rId2"/>
          <a:stretch>
            <a:fillRect/>
          </a:stretch>
        </p:blipFill>
        <p:spPr>
          <a:xfrm>
            <a:off x="366192" y="1170432"/>
            <a:ext cx="5394094" cy="4571999"/>
          </a:xfrm>
          <a:prstGeom prst="rect">
            <a:avLst/>
          </a:prstGeom>
        </p:spPr>
      </p:pic>
      <p:pic>
        <p:nvPicPr>
          <p:cNvPr id="6" name="Picture 5" descr="sf_capture_views.png"/>
          <p:cNvPicPr>
            <a:picLocks noChangeAspect="1"/>
          </p:cNvPicPr>
          <p:nvPr/>
        </p:nvPicPr>
        <p:blipFill>
          <a:blip r:embed="rId3"/>
          <a:stretch>
            <a:fillRect/>
          </a:stretch>
        </p:blipFill>
        <p:spPr>
          <a:xfrm>
            <a:off x="6038828" y="1170432"/>
            <a:ext cx="5707423" cy="3026664"/>
          </a:xfrm>
          <a:prstGeom prst="rect">
            <a:avLst/>
          </a:prstGeom>
        </p:spPr>
      </p:pic>
      <p:sp>
        <p:nvSpPr>
          <p:cNvPr id="7" name="TextBox 6"/>
          <p:cNvSpPr txBox="1"/>
          <p:nvPr/>
        </p:nvSpPr>
        <p:spPr>
          <a:xfrm>
            <a:off x="6035040" y="4389120"/>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evidence and not an illustration</a:t>
            </a:r>
          </a:p>
        </p:txBody>
      </p:sp>
      <p:sp>
        <p:nvSpPr>
          <p:cNvPr id="8" name="TextBox 7"/>
          <p:cNvSpPr txBox="1"/>
          <p:nvPr/>
        </p:nvSpPr>
        <p:spPr>
          <a:xfrm>
            <a:off x="6035040" y="4754880"/>
            <a:ext cx="5715000" cy="1371600"/>
          </a:xfrm>
          <a:prstGeom prst="rect">
            <a:avLst/>
          </a:prstGeom>
          <a:noFill/>
        </p:spPr>
        <p:txBody>
          <a:bodyPr wrap="square" lIns="45720" rIns="45720" tIns="18288" bIns="18288" anchor="t">
            <a:spAutoFit/>
          </a:bodyPr>
          <a:lstStyle/>
          <a:p>
            <a:pPr algn="l"/>
            <a:r>
              <a:rPr sz="940" b="0" i="0">
                <a:solidFill>
                  <a:srgbClr val="000000"/>
                </a:solidFill>
                <a:latin typeface="Calibri"/>
              </a:rPr>
              <a:t>1682 stills at 19.9 fps and 1682 video frames per view, all read back off disk to build this slide. The last still is the fracture — the one frame that cannot be recaptured.
Each still carries the load and strain from the LOAD file at the same instant, matched on the clock: the capture ran t = 10.8–95.2 s of a 125 s test, so the two recordings do NOT start together and frame % cannot stand in for test %. Frame 1049 landing exactly on the 47.17 MPa peak is the check that the link is right.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S26, run 20260817_111525 — 1.7 GB of stills beside 62 + 144 + 60 MB of lossless video.</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LIVE Px₀ OVERLAY — FROZEN PAIR vs LIVE PAIR</a:t>
            </a:r>
          </a:p>
        </p:txBody>
      </p:sp>
      <p:pic>
        <p:nvPicPr>
          <p:cNvPr id="5" name="Picture 4" descr="CalibratePxo_live marker.png"/>
          <p:cNvPicPr>
            <a:picLocks noChangeAspect="1"/>
          </p:cNvPicPr>
          <p:nvPr/>
        </p:nvPicPr>
        <p:blipFill>
          <a:blip r:embed="rId2"/>
          <a:stretch>
            <a:fillRect/>
          </a:stretch>
        </p:blipFill>
        <p:spPr>
          <a:xfrm>
            <a:off x="1226585" y="1188720"/>
            <a:ext cx="9754068" cy="2788920"/>
          </a:xfrm>
          <a:prstGeom prst="rect">
            <a:avLst/>
          </a:prstGeom>
        </p:spPr>
      </p:pic>
      <p:sp>
        <p:nvSpPr>
          <p:cNvPr id="6" name="TextBox 5"/>
          <p:cNvSpPr txBox="1"/>
          <p:nvPr/>
        </p:nvSpPr>
        <p:spPr>
          <a:xfrm>
            <a:off x="411480" y="420624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drawn, and what it is for</a:t>
            </a:r>
          </a:p>
        </p:txBody>
      </p:sp>
      <p:sp>
        <p:nvSpPr>
          <p:cNvPr id="7" name="TextBox 6"/>
          <p:cNvSpPr txBox="1"/>
          <p:nvPr/>
        </p:nvSpPr>
        <p:spPr>
          <a:xfrm>
            <a:off x="411480" y="4553712"/>
            <a:ext cx="5623560" cy="1691640"/>
          </a:xfrm>
          <a:prstGeom prst="rect">
            <a:avLst/>
          </a:prstGeom>
          <a:noFill/>
        </p:spPr>
        <p:txBody>
          <a:bodyPr wrap="square" lIns="45720" rIns="45720" tIns="18288" bIns="18288" anchor="t">
            <a:spAutoFit/>
          </a:bodyPr>
          <a:lstStyle/>
          <a:p>
            <a:pPr algn="l"/>
            <a:r>
              <a:rPr sz="960" b="0" i="0">
                <a:solidFill>
                  <a:srgbClr val="000000"/>
                </a:solidFill>
                <a:latin typeface="Calibri"/>
              </a:rPr>
              <a:t>Two rings and a dashed line: the marker pair as it is RIGHT NOW, over the separation frozen at Calibrate Px₀. The caption carries both numbers and their difference.
It answers the question an operator actually has before starting a pull — “is the strain reference the one I think it is?” Before this, Px₀ was a number in a status bar with nothing tying it to what the camera could see.</a:t>
            </a:r>
          </a:p>
        </p:txBody>
      </p:sp>
      <p:sp>
        <p:nvSpPr>
          <p:cNvPr id="8" name="TextBox 7"/>
          <p:cNvSpPr txBox="1"/>
          <p:nvPr/>
        </p:nvSpPr>
        <p:spPr>
          <a:xfrm>
            <a:off x="6263640" y="42062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agreement is the evidence</a:t>
            </a:r>
          </a:p>
        </p:txBody>
      </p:sp>
      <p:sp>
        <p:nvSpPr>
          <p:cNvPr id="9" name="TextBox 8"/>
          <p:cNvSpPr txBox="1"/>
          <p:nvPr/>
        </p:nvSpPr>
        <p:spPr>
          <a:xfrm>
            <a:off x="6263640" y="4553712"/>
            <a:ext cx="5577840" cy="1691640"/>
          </a:xfrm>
          <a:prstGeom prst="rect">
            <a:avLst/>
          </a:prstGeom>
          <a:noFill/>
        </p:spPr>
        <p:txBody>
          <a:bodyPr wrap="square" lIns="45720" rIns="45720" tIns="18288" bIns="18288" anchor="t">
            <a:spAutoFit/>
          </a:bodyPr>
          <a:lstStyle/>
          <a:p>
            <a:pPr algn="l"/>
            <a:r>
              <a:rPr sz="960" b="0" i="0">
                <a:solidFill>
                  <a:srgbClr val="000000"/>
                </a:solidFill>
                <a:latin typeface="Calibri"/>
              </a:rPr>
              <a:t>The overlay reads Px₀ 1745 px → now 1745 px (−0). The status bar, computed separately, reads Px₀ 1745.3 px @ 0 N with Eng ε −0.000029.
Those come from DIFFERENT code paths — one draws the blob centroids, the other divides the live separation by the frozen one. Agreement to a fraction of a pixel is what says the strain readout is measuring the pair the overlay is drawing, and not some other pair.
Badge alongside: DIC OK, 2/2 markers, track 100 %, jitter 0.0 px, margin 82.</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SF18 WAS THE LAST CARD WAITING ON A SCREENSHOT. WITH THIS, EVERY BUILT SMART FEATURE IS RIG-VALIDATED — ONLY SF14 REMAINS, AND HARDWARE BLOCKS IT.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on the rig, unloaded at 0 N (ε −2.9×10⁻⁵ — the noise floor). White specimen mode, exposure 50 ms, threshold 150, 20 fps.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SF11 · AUTO-METADATA LINK — AND THAT BOTH HALVES STILL AGREE</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Saving writes each half of the link into the other's folder, so a capture and its load file can always find each other. The test is whether they still round-trip.</a:t>
            </a:r>
          </a:p>
        </p:txBody>
      </p:sp>
      <p:sp>
        <p:nvSpPr>
          <p:cNvPr id="6" name="TextBox 5"/>
          <p:cNvSpPr txBox="1"/>
          <p:nvPr/>
        </p:nvSpPr>
        <p:spPr>
          <a:xfrm>
            <a:off x="411480" y="151790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halves, on one run (S37)</a:t>
            </a:r>
          </a:p>
        </p:txBody>
      </p:sp>
      <p:graphicFrame>
        <p:nvGraphicFramePr>
          <p:cNvPr id="7" name="Table 6"/>
          <p:cNvGraphicFramePr>
            <a:graphicFrameLocks noGrp="1"/>
          </p:cNvGraphicFramePr>
          <p:nvPr/>
        </p:nvGraphicFramePr>
        <p:xfrm>
          <a:off x="411480" y="1865376"/>
          <a:ext cx="5623559" cy="2011680"/>
        </p:xfrm>
        <a:graphic>
          <a:graphicData uri="http://schemas.openxmlformats.org/drawingml/2006/table">
            <a:tbl>
              <a:tblPr firstRow="1" bandRow="1">
                <a:tableStyleId>{5C22544A-7EE6-4342-B048-85BDC9FD1C3A}</a:tableStyleId>
              </a:tblPr>
              <a:tblGrid>
                <a:gridCol w="1143000"/>
                <a:gridCol w="1234439"/>
                <a:gridCol w="3246120"/>
              </a:tblGrid>
              <a:tr h="402336">
                <a:tc>
                  <a:txBody>
                    <a:bodyPr lIns="54864" rIns="54864" tIns="18288" bIns="18288" wrap="square" anchor="ctr"/>
                    <a:lstStyle/>
                    <a:p>
                      <a:pPr algn="l"/>
                      <a:r>
                        <a:rPr sz="900" b="1">
                          <a:solidFill>
                            <a:srgbClr val="FFFFFF"/>
                          </a:solidFill>
                          <a:latin typeface="Calibri"/>
                        </a:rPr>
                        <a:t>Written into</a:t>
                      </a:r>
                    </a:p>
                  </a:txBody>
                  <a:tcPr>
                    <a:solidFill>
                      <a:srgbClr val="143D2F"/>
                    </a:solidFill>
                  </a:tcPr>
                </a:tc>
                <a:tc>
                  <a:txBody>
                    <a:bodyPr lIns="54864" rIns="54864" tIns="18288" bIns="18288" wrap="square" anchor="ctr"/>
                    <a:lstStyle/>
                    <a:p>
                      <a:pPr algn="l"/>
                      <a:r>
                        <a:rPr sz="900" b="1">
                          <a:solidFill>
                            <a:srgbClr val="FFFFFF"/>
                          </a:solidFill>
                          <a:latin typeface="Calibri"/>
                        </a:rPr>
                        <a:t>Field</a:t>
                      </a:r>
                    </a:p>
                  </a:txBody>
                  <a:tcPr>
                    <a:solidFill>
                      <a:srgbClr val="143D2F"/>
                    </a:solidFill>
                  </a:tcPr>
                </a:tc>
                <a:tc>
                  <a:txBody>
                    <a:bodyPr lIns="54864" rIns="54864" tIns="18288" bIns="18288" wrap="square" anchor="ctr"/>
                    <a:lstStyle/>
                    <a:p>
                      <a:pPr algn="l"/>
                      <a:r>
                        <a:rPr sz="900" b="1">
                          <a:solidFill>
                            <a:srgbClr val="FFFFFF"/>
                          </a:solidFill>
                          <a:latin typeface="Calibri"/>
                        </a:rPr>
                        <a:t>Value</a:t>
                      </a:r>
                    </a:p>
                  </a:txBody>
                  <a:tcPr>
                    <a:solidFill>
                      <a:srgbClr val="143D2F"/>
                    </a:solidFill>
                  </a:tcPr>
                </a:tc>
              </a:tr>
              <a:tr h="402336">
                <a:tc>
                  <a:txBody>
                    <a:bodyPr lIns="54864" rIns="54864" tIns="18288" bIns="18288" wrap="square" anchor="ctr"/>
                    <a:lstStyle/>
                    <a:p>
                      <a:pPr algn="l"/>
                      <a:r>
                        <a:rPr sz="740" b="0">
                          <a:solidFill>
                            <a:srgbClr val="000000"/>
                          </a:solidFill>
                          <a:latin typeface="Calibri"/>
                        </a:rPr>
                        <a:t>the CSV header</a:t>
                      </a:r>
                    </a:p>
                  </a:txBody>
                  <a:tcPr/>
                </a:tc>
                <a:tc>
                  <a:txBody>
                    <a:bodyPr lIns="54864" rIns="54864" tIns="18288" bIns="18288" wrap="square" anchor="ctr"/>
                    <a:lstStyle/>
                    <a:p>
                      <a:pPr algn="l"/>
                      <a:r>
                        <a:rPr sz="740" b="0">
                          <a:solidFill>
                            <a:srgbClr val="000000"/>
                          </a:solidFill>
                          <a:latin typeface="Calibri"/>
                        </a:rPr>
                        <a:t># Capture:</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Failure/Specimen_S37_V5_TPU_Spray_Video15/20260826_123049</a:t>
                      </a:r>
                    </a:p>
                  </a:txBody>
                  <a:tcPr/>
                </a:tc>
              </a:tr>
              <a:tr h="402336">
                <a:tc>
                  <a:txBody>
                    <a:bodyPr lIns="54864" rIns="54864" tIns="18288" bIns="18288" wrap="square" anchor="ctr"/>
                    <a:lstStyle/>
                    <a:p>
                      <a:pPr algn="l"/>
                      <a:r>
                        <a:rPr sz="740" b="0">
                          <a:solidFill>
                            <a:srgbClr val="000000"/>
                          </a:solidFill>
                          <a:latin typeface="Calibri"/>
                        </a:rPr>
                        <a:t>the capture folder</a:t>
                      </a:r>
                    </a:p>
                  </a:txBody>
                  <a:tcPr/>
                </a:tc>
                <a:tc>
                  <a:txBody>
                    <a:bodyPr lIns="54864" rIns="54864" tIns="18288" bIns="18288" wrap="square" anchor="ctr"/>
                    <a:lstStyle/>
                    <a:p>
                      <a:pPr algn="l"/>
                      <a:r>
                        <a:rPr sz="740" b="0">
                          <a:solidFill>
                            <a:srgbClr val="000000"/>
                          </a:solidFill>
                          <a:latin typeface="Calibri"/>
                        </a:rPr>
                        <a:t>csv</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Failure/Specimen_S37_V5_TPU_Spray_Video15/UTM_Test_20260826_123524.csv</a:t>
                      </a:r>
                    </a:p>
                  </a:txBody>
                  <a:tcPr/>
                </a:tc>
              </a:tr>
              <a:tr h="402336">
                <a:tc>
                  <a:txBody>
                    <a:bodyPr lIns="54864" rIns="54864" tIns="18288" bIns="18288" wrap="square" anchor="ctr"/>
                    <a:lstStyle/>
                    <a:p>
                      <a:pPr algn="l"/>
                      <a:r>
                        <a:rPr sz="740" b="0">
                          <a:solidFill>
                            <a:srgbClr val="000000"/>
                          </a:solidFill>
                          <a:latin typeface="Calibri"/>
                        </a:rPr>
                        <a:t>  (run.json)</a:t>
                      </a:r>
                    </a:p>
                  </a:txBody>
                  <a:tcPr/>
                </a:tc>
                <a:tc>
                  <a:txBody>
                    <a:bodyPr lIns="54864" rIns="54864" tIns="18288" bIns="18288" wrap="square" anchor="ctr"/>
                    <a:lstStyle/>
                    <a:p>
                      <a:pPr algn="l"/>
                      <a:r>
                        <a:rPr sz="740" b="0">
                          <a:solidFill>
                            <a:srgbClr val="000000"/>
                          </a:solidFill>
                          <a:latin typeface="Calibri"/>
                        </a:rPr>
                        <a:t>csv_name</a:t>
                      </a:r>
                    </a:p>
                  </a:txBody>
                  <a:tcPr/>
                </a:tc>
                <a:tc>
                  <a:txBody>
                    <a:bodyPr lIns="54864" rIns="54864" tIns="18288" bIns="18288" wrap="square" anchor="ctr"/>
                    <a:lstStyle/>
                    <a:p>
                      <a:pPr algn="l"/>
                      <a:r>
                        <a:rPr sz="740" b="0">
                          <a:solidFill>
                            <a:srgbClr val="000000"/>
                          </a:solidFill>
                          <a:latin typeface="Calibri"/>
                        </a:rPr>
                        <a:t>UTM_Test_20260826_123524.csv</a:t>
                      </a:r>
                    </a:p>
                  </a:txBody>
                  <a:tcPr/>
                </a:tc>
              </a:tr>
              <a:tr h="402336">
                <a:tc>
                  <a:txBody>
                    <a:bodyPr lIns="54864" rIns="54864" tIns="18288" bIns="18288" wrap="square" anchor="ctr"/>
                    <a:lstStyle/>
                    <a:p>
                      <a:pPr algn="l"/>
                      <a:r>
                        <a:rPr sz="740" b="0">
                          <a:solidFill>
                            <a:srgbClr val="000000"/>
                          </a:solidFill>
                          <a:latin typeface="Calibri"/>
                        </a:rPr>
                        <a:t/>
                      </a:r>
                    </a:p>
                  </a:txBody>
                  <a:tcPr/>
                </a:tc>
                <a:tc>
                  <a:txBody>
                    <a:bodyPr lIns="54864" rIns="54864" tIns="18288" bIns="18288" wrap="square" anchor="ctr"/>
                    <a:lstStyle/>
                    <a:p>
                      <a:pPr algn="l"/>
                      <a:r>
                        <a:rPr sz="740" b="0">
                          <a:solidFill>
                            <a:srgbClr val="000000"/>
                          </a:solidFill>
                          <a:latin typeface="Calibri"/>
                        </a:rPr>
                        <a:t>captured_from / to</a:t>
                      </a:r>
                    </a:p>
                  </a:txBody>
                  <a:tcPr/>
                </a:tc>
                <a:tc>
                  <a:txBody>
                    <a:bodyPr lIns="54864" rIns="54864" tIns="18288" bIns="18288" wrap="square" anchor="ctr"/>
                    <a:lstStyle/>
                    <a:p>
                      <a:pPr algn="l"/>
                      <a:r>
                        <a:rPr sz="740" b="0">
                          <a:solidFill>
                            <a:srgbClr val="000000"/>
                          </a:solidFill>
                          <a:latin typeface="Calibri"/>
                        </a:rPr>
                        <a:t>12:30:49 → 12:35:16</a:t>
                      </a:r>
                    </a:p>
                  </a:txBody>
                  <a:tcPr/>
                </a:tc>
              </a:tr>
            </a:tbl>
          </a:graphicData>
        </a:graphic>
      </p:graphicFrame>
      <p:sp>
        <p:nvSpPr>
          <p:cNvPr id="8" name="TextBox 7"/>
          <p:cNvSpPr txBox="1"/>
          <p:nvPr/>
        </p:nvSpPr>
        <p:spPr>
          <a:xfrm>
            <a:off x="411480" y="40416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Do they still point at each other?</a:t>
            </a:r>
          </a:p>
        </p:txBody>
      </p:sp>
      <p:graphicFrame>
        <p:nvGraphicFramePr>
          <p:cNvPr id="9" name="Table 8"/>
          <p:cNvGraphicFramePr>
            <a:graphicFrameLocks noGrp="1"/>
          </p:cNvGraphicFramePr>
          <p:nvPr/>
        </p:nvGraphicFramePr>
        <p:xfrm>
          <a:off x="411480" y="4389120"/>
          <a:ext cx="5623559" cy="1005840"/>
        </p:xfrm>
        <a:graphic>
          <a:graphicData uri="http://schemas.openxmlformats.org/drawingml/2006/table">
            <a:tbl>
              <a:tblPr firstRow="1" bandRow="1">
                <a:tableStyleId>{5C22544A-7EE6-4342-B048-85BDC9FD1C3A}</a:tableStyleId>
              </a:tblPr>
              <a:tblGrid>
                <a:gridCol w="3566159"/>
                <a:gridCol w="2057400"/>
              </a:tblGrid>
              <a:tr h="251460">
                <a:tc>
                  <a:txBody>
                    <a:bodyPr lIns="54864" rIns="54864" tIns="18288" bIns="18288" wrap="square" anchor="ctr"/>
                    <a:lstStyle/>
                    <a:p>
                      <a:pPr algn="l"/>
                      <a:r>
                        <a:rPr sz="900" b="1">
                          <a:solidFill>
                            <a:srgbClr val="FFFFFF"/>
                          </a:solidFill>
                          <a:latin typeface="Calibri"/>
                        </a:rPr>
                        <a:t>Check</a:t>
                      </a:r>
                    </a:p>
                  </a:txBody>
                  <a:tcPr>
                    <a:solidFill>
                      <a:srgbClr val="143D2F"/>
                    </a:solidFill>
                  </a:tcPr>
                </a:tc>
                <a:tc>
                  <a:txBody>
                    <a:bodyPr lIns="54864" rIns="54864" tIns="18288" bIns="18288" wrap="square" anchor="ctr"/>
                    <a:lstStyle/>
                    <a:p>
                      <a:pPr algn="l"/>
                      <a:r>
                        <a:rPr sz="900" b="1">
                          <a:solidFill>
                            <a:srgbClr val="FFFFFF"/>
                          </a:solidFill>
                          <a:latin typeface="Calibri"/>
                        </a:rPr>
                        <a:t>Result</a:t>
                      </a:r>
                    </a:p>
                  </a:txBody>
                  <a:tcPr>
                    <a:solidFill>
                      <a:srgbClr val="143D2F"/>
                    </a:solidFill>
                  </a:tcPr>
                </a:tc>
              </a:tr>
              <a:tr h="251460">
                <a:tc>
                  <a:txBody>
                    <a:bodyPr lIns="54864" rIns="54864" tIns="18288" bIns="18288" wrap="square" anchor="ctr"/>
                    <a:lstStyle/>
                    <a:p>
                      <a:pPr algn="l"/>
                      <a:r>
                        <a:rPr sz="840" b="0">
                          <a:solidFill>
                            <a:srgbClr val="000000"/>
                          </a:solidFill>
                          <a:latin typeface="Calibri"/>
                        </a:rPr>
                        <a:t>run.json → its CSV</a:t>
                      </a:r>
                    </a:p>
                  </a:txBody>
                  <a:tcPr/>
                </a:tc>
                <a:tc>
                  <a:txBody>
                    <a:bodyPr lIns="54864" rIns="54864" tIns="18288" bIns="18288" wrap="square" anchor="ctr"/>
                    <a:lstStyle/>
                    <a:p>
                      <a:pPr algn="l"/>
                      <a:r>
                        <a:rPr sz="840" b="0">
                          <a:solidFill>
                            <a:srgbClr val="000000"/>
                          </a:solidFill>
                          <a:latin typeface="Calibri"/>
                        </a:rPr>
                        <a:t>14 / 14 resolve</a:t>
                      </a:r>
                    </a:p>
                  </a:txBody>
                  <a:tcPr/>
                </a:tc>
              </a:tr>
              <a:tr h="251460">
                <a:tc>
                  <a:txBody>
                    <a:bodyPr lIns="54864" rIns="54864" tIns="18288" bIns="18288" wrap="square" anchor="ctr"/>
                    <a:lstStyle/>
                    <a:p>
                      <a:pPr algn="l"/>
                      <a:r>
                        <a:rPr sz="840" b="0">
                          <a:solidFill>
                            <a:srgbClr val="000000"/>
                          </a:solidFill>
                          <a:latin typeface="Calibri"/>
                        </a:rPr>
                        <a:t>CSV header → its capture folder</a:t>
                      </a:r>
                    </a:p>
                  </a:txBody>
                  <a:tcPr/>
                </a:tc>
                <a:tc>
                  <a:txBody>
                    <a:bodyPr lIns="54864" rIns="54864" tIns="18288" bIns="18288" wrap="square" anchor="ctr"/>
                    <a:lstStyle/>
                    <a:p>
                      <a:pPr algn="l"/>
                      <a:r>
                        <a:rPr sz="840" b="0">
                          <a:solidFill>
                            <a:srgbClr val="000000"/>
                          </a:solidFill>
                          <a:latin typeface="Calibri"/>
                        </a:rPr>
                        <a:t>19 / 20 resolve</a:t>
                      </a:r>
                    </a:p>
                  </a:txBody>
                  <a:tcPr/>
                </a:tc>
              </a:tr>
              <a:tr h="251460">
                <a:tc>
                  <a:txBody>
                    <a:bodyPr lIns="54864" rIns="54864" tIns="18288" bIns="18288" wrap="square" anchor="ctr"/>
                    <a:lstStyle/>
                    <a:p>
                      <a:pPr algn="l"/>
                      <a:r>
                        <a:rPr sz="840" b="0">
                          <a:solidFill>
                            <a:srgbClr val="000000"/>
                          </a:solidFill>
                          <a:latin typeface="Calibri"/>
                        </a:rPr>
                        <a:t>full round-trip, CSV → folder → back to the SAME CSV</a:t>
                      </a:r>
                    </a:p>
                  </a:txBody>
                  <a:tcPr/>
                </a:tc>
                <a:tc>
                  <a:txBody>
                    <a:bodyPr lIns="54864" rIns="54864" tIns="18288" bIns="18288" wrap="square" anchor="ctr"/>
                    <a:lstStyle/>
                    <a:p>
                      <a:pPr algn="l"/>
                      <a:r>
                        <a:rPr sz="840" b="0">
                          <a:solidFill>
                            <a:srgbClr val="000000"/>
                          </a:solidFill>
                          <a:latin typeface="Calibri"/>
                        </a:rPr>
                        <a:t>14 / 14</a:t>
                      </a:r>
                    </a:p>
                  </a:txBody>
                  <a:tcPr/>
                </a:tc>
              </a:tr>
            </a:tbl>
          </a:graphicData>
        </a:graphic>
      </p:graphicFrame>
      <p:sp>
        <p:nvSpPr>
          <p:cNvPr id="10" name="TextBox 9"/>
          <p:cNvSpPr txBox="1"/>
          <p:nvPr/>
        </p:nvSpPr>
        <p:spPr>
          <a:xfrm>
            <a:off x="6263640" y="151790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Matched by OVERLAP, never by recency</a:t>
            </a:r>
          </a:p>
        </p:txBody>
      </p:sp>
      <p:graphicFrame>
        <p:nvGraphicFramePr>
          <p:cNvPr id="11" name="Table 10"/>
          <p:cNvGraphicFramePr>
            <a:graphicFrameLocks noGrp="1"/>
          </p:cNvGraphicFramePr>
          <p:nvPr/>
        </p:nvGraphicFramePr>
        <p:xfrm>
          <a:off x="6263640" y="1865376"/>
          <a:ext cx="5577840" cy="1554480"/>
        </p:xfrm>
        <a:graphic>
          <a:graphicData uri="http://schemas.openxmlformats.org/drawingml/2006/table">
            <a:tbl>
              <a:tblPr firstRow="1" bandRow="1">
                <a:tableStyleId>{5C22544A-7EE6-4342-B048-85BDC9FD1C3A}</a:tableStyleId>
              </a:tblPr>
              <a:tblGrid>
                <a:gridCol w="502920"/>
                <a:gridCol w="1554480"/>
                <a:gridCol w="1554480"/>
                <a:gridCol w="1051560"/>
                <a:gridCol w="914400"/>
              </a:tblGrid>
              <a:tr h="310896">
                <a:tc>
                  <a:txBody>
                    <a:bodyPr lIns="54864" rIns="54864" tIns="18288" bIns="18288" wrap="square" anchor="ctr"/>
                    <a:lstStyle/>
                    <a:p>
                      <a:pPr algn="l"/>
                      <a:r>
                        <a:rPr sz="900" b="1">
                          <a:solidFill>
                            <a:srgbClr val="FFFFFF"/>
                          </a:solidFill>
                          <a:latin typeface="Calibri"/>
                        </a:rPr>
                        <a:t>Run</a:t>
                      </a:r>
                    </a:p>
                  </a:txBody>
                  <a:tcPr>
                    <a:solidFill>
                      <a:srgbClr val="143D2F"/>
                    </a:solidFill>
                  </a:tcPr>
                </a:tc>
                <a:tc>
                  <a:txBody>
                    <a:bodyPr lIns="54864" rIns="54864" tIns="18288" bIns="18288" wrap="square" anchor="ctr"/>
                    <a:lstStyle/>
                    <a:p>
                      <a:pPr algn="l"/>
                      <a:r>
                        <a:rPr sz="900" b="1">
                          <a:solidFill>
                            <a:srgbClr val="FFFFFF"/>
                          </a:solidFill>
                          <a:latin typeface="Calibri"/>
                        </a:rPr>
                        <a:t>Test window</a:t>
                      </a:r>
                    </a:p>
                  </a:txBody>
                  <a:tcPr>
                    <a:solidFill>
                      <a:srgbClr val="143D2F"/>
                    </a:solidFill>
                  </a:tcPr>
                </a:tc>
                <a:tc>
                  <a:txBody>
                    <a:bodyPr lIns="54864" rIns="54864" tIns="18288" bIns="18288" wrap="square" anchor="ctr"/>
                    <a:lstStyle/>
                    <a:p>
                      <a:pPr algn="l"/>
                      <a:r>
                        <a:rPr sz="900" b="1">
                          <a:solidFill>
                            <a:srgbClr val="FFFFFF"/>
                          </a:solidFill>
                          <a:latin typeface="Calibri"/>
                        </a:rPr>
                        <a:t>Capture window</a:t>
                      </a:r>
                    </a:p>
                  </a:txBody>
                  <a:tcPr>
                    <a:solidFill>
                      <a:srgbClr val="143D2F"/>
                    </a:solidFill>
                  </a:tcPr>
                </a:tc>
                <a:tc>
                  <a:txBody>
                    <a:bodyPr lIns="54864" rIns="54864" tIns="18288" bIns="18288" wrap="square" anchor="ctr"/>
                    <a:lstStyle/>
                    <a:p>
                      <a:pPr algn="l"/>
                      <a:r>
                        <a:rPr sz="900" b="1">
                          <a:solidFill>
                            <a:srgbClr val="FFFFFF"/>
                          </a:solidFill>
                          <a:latin typeface="Calibri"/>
                        </a:rPr>
                        <a:t>Folder</a:t>
                      </a:r>
                    </a:p>
                  </a:txBody>
                  <a:tcPr>
                    <a:solidFill>
                      <a:srgbClr val="143D2F"/>
                    </a:solidFill>
                  </a:tcPr>
                </a:tc>
                <a:tc>
                  <a:txBody>
                    <a:bodyPr lIns="54864" rIns="54864" tIns="18288" bIns="18288" wrap="square" anchor="ctr"/>
                    <a:lstStyle/>
                    <a:p>
                      <a:pPr algn="l"/>
                      <a:r>
                        <a:rPr sz="900" b="1">
                          <a:solidFill>
                            <a:srgbClr val="FFFFFF"/>
                          </a:solidFill>
                          <a:latin typeface="Calibri"/>
                        </a:rPr>
                        <a:t/>
                      </a:r>
                    </a:p>
                  </a:txBody>
                  <a:tcPr>
                    <a:solidFill>
                      <a:srgbClr val="143D2F"/>
                    </a:solidFill>
                  </a:tcPr>
                </a:tc>
              </a:tr>
              <a:tr h="310896">
                <a:tc>
                  <a:txBody>
                    <a:bodyPr lIns="54864" rIns="54864" tIns="18288" bIns="18288" wrap="square" anchor="ctr"/>
                    <a:lstStyle/>
                    <a:p>
                      <a:pPr algn="l"/>
                      <a:r>
                        <a:rPr sz="800" b="0">
                          <a:solidFill>
                            <a:srgbClr val="000000"/>
                          </a:solidFill>
                          <a:latin typeface="Calibri"/>
                        </a:rPr>
                        <a:t>S30</a:t>
                      </a:r>
                    </a:p>
                  </a:txBody>
                  <a:tcPr/>
                </a:tc>
                <a:tc>
                  <a:txBody>
                    <a:bodyPr lIns="54864" rIns="54864" tIns="18288" bIns="18288" wrap="square" anchor="ctr"/>
                    <a:lstStyle/>
                    <a:p>
                      <a:pPr algn="l"/>
                      <a:r>
                        <a:rPr sz="800" b="0">
                          <a:solidFill>
                            <a:srgbClr val="000000"/>
                          </a:solidFill>
                          <a:latin typeface="Calibri"/>
                        </a:rPr>
                        <a:t>18:02:30 – 18:05:51</a:t>
                      </a:r>
                    </a:p>
                  </a:txBody>
                  <a:tcPr/>
                </a:tc>
                <a:tc>
                  <a:txBody>
                    <a:bodyPr lIns="54864" rIns="54864" tIns="18288" bIns="18288" wrap="square" anchor="ctr"/>
                    <a:lstStyle/>
                    <a:p>
                      <a:pPr algn="l"/>
                      <a:r>
                        <a:rPr sz="800" b="0">
                          <a:solidFill>
                            <a:srgbClr val="000000"/>
                          </a:solidFill>
                          <a:latin typeface="Calibri"/>
                        </a:rPr>
                        <a:t>18:02:52 – 18:04:48</a:t>
                      </a:r>
                    </a:p>
                  </a:txBody>
                  <a:tcPr/>
                </a:tc>
                <a:tc>
                  <a:txBody>
                    <a:bodyPr lIns="54864" rIns="54864" tIns="18288" bIns="18288" wrap="square" anchor="ctr"/>
                    <a:lstStyle/>
                    <a:p>
                      <a:pPr algn="l"/>
                      <a:r>
                        <a:rPr sz="800" b="0">
                          <a:solidFill>
                            <a:srgbClr val="000000"/>
                          </a:solidFill>
                          <a:latin typeface="Calibri"/>
                        </a:rPr>
                        <a:t>180252</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S31</a:t>
                      </a:r>
                    </a:p>
                  </a:txBody>
                  <a:tcPr/>
                </a:tc>
                <a:tc>
                  <a:txBody>
                    <a:bodyPr lIns="54864" rIns="54864" tIns="18288" bIns="18288" wrap="square" anchor="ctr"/>
                    <a:lstStyle/>
                    <a:p>
                      <a:pPr algn="l"/>
                      <a:r>
                        <a:rPr sz="800" b="0">
                          <a:solidFill>
                            <a:srgbClr val="000000"/>
                          </a:solidFill>
                          <a:latin typeface="Calibri"/>
                        </a:rPr>
                        <a:t>18:18:04 – 18:20:05</a:t>
                      </a:r>
                    </a:p>
                  </a:txBody>
                  <a:tcPr/>
                </a:tc>
                <a:tc>
                  <a:txBody>
                    <a:bodyPr lIns="54864" rIns="54864" tIns="18288" bIns="18288" wrap="square" anchor="ctr"/>
                    <a:lstStyle/>
                    <a:p>
                      <a:pPr algn="l"/>
                      <a:r>
                        <a:rPr sz="800" b="0">
                          <a:solidFill>
                            <a:srgbClr val="000000"/>
                          </a:solidFill>
                          <a:latin typeface="Calibri"/>
                        </a:rPr>
                        <a:t>18:18:08 – 18:19:56</a:t>
                      </a:r>
                    </a:p>
                  </a:txBody>
                  <a:tcPr/>
                </a:tc>
                <a:tc>
                  <a:txBody>
                    <a:bodyPr lIns="54864" rIns="54864" tIns="18288" bIns="18288" wrap="square" anchor="ctr"/>
                    <a:lstStyle/>
                    <a:p>
                      <a:pPr algn="l"/>
                      <a:r>
                        <a:rPr sz="800" b="0">
                          <a:solidFill>
                            <a:srgbClr val="000000"/>
                          </a:solidFill>
                          <a:latin typeface="Calibri"/>
                        </a:rPr>
                        <a:t>181808</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S33</a:t>
                      </a:r>
                    </a:p>
                  </a:txBody>
                  <a:tcPr/>
                </a:tc>
                <a:tc>
                  <a:txBody>
                    <a:bodyPr lIns="54864" rIns="54864" tIns="18288" bIns="18288" wrap="square" anchor="ctr"/>
                    <a:lstStyle/>
                    <a:p>
                      <a:pPr algn="l"/>
                      <a:r>
                        <a:rPr sz="800" b="0">
                          <a:solidFill>
                            <a:srgbClr val="000000"/>
                          </a:solidFill>
                          <a:latin typeface="Calibri"/>
                        </a:rPr>
                        <a:t>11:17:56 – 11:19:35</a:t>
                      </a:r>
                    </a:p>
                  </a:txBody>
                  <a:tcPr/>
                </a:tc>
                <a:tc>
                  <a:txBody>
                    <a:bodyPr lIns="54864" rIns="54864" tIns="18288" bIns="18288" wrap="square" anchor="ctr"/>
                    <a:lstStyle/>
                    <a:p>
                      <a:pPr algn="l"/>
                      <a:r>
                        <a:rPr sz="800" b="0">
                          <a:solidFill>
                            <a:srgbClr val="000000"/>
                          </a:solidFill>
                          <a:latin typeface="Calibri"/>
                        </a:rPr>
                        <a:t>11:18:20 – 11:19:28</a:t>
                      </a:r>
                    </a:p>
                  </a:txBody>
                  <a:tcPr/>
                </a:tc>
                <a:tc>
                  <a:txBody>
                    <a:bodyPr lIns="54864" rIns="54864" tIns="18288" bIns="18288" wrap="square" anchor="ctr"/>
                    <a:lstStyle/>
                    <a:p>
                      <a:pPr algn="l"/>
                      <a:r>
                        <a:rPr sz="800" b="0">
                          <a:solidFill>
                            <a:srgbClr val="000000"/>
                          </a:solidFill>
                          <a:latin typeface="Calibri"/>
                        </a:rPr>
                        <a:t>111820</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S34</a:t>
                      </a:r>
                    </a:p>
                  </a:txBody>
                  <a:tcPr/>
                </a:tc>
                <a:tc>
                  <a:txBody>
                    <a:bodyPr lIns="54864" rIns="54864" tIns="18288" bIns="18288" wrap="square" anchor="ctr"/>
                    <a:lstStyle/>
                    <a:p>
                      <a:pPr algn="l"/>
                      <a:r>
                        <a:rPr sz="800" b="0">
                          <a:solidFill>
                            <a:srgbClr val="000000"/>
                          </a:solidFill>
                          <a:latin typeface="Calibri"/>
                        </a:rPr>
                        <a:t>11:32:07 – 11:33:51</a:t>
                      </a:r>
                    </a:p>
                  </a:txBody>
                  <a:tcPr/>
                </a:tc>
                <a:tc>
                  <a:txBody>
                    <a:bodyPr lIns="54864" rIns="54864" tIns="18288" bIns="18288" wrap="square" anchor="ctr"/>
                    <a:lstStyle/>
                    <a:p>
                      <a:pPr algn="l"/>
                      <a:r>
                        <a:rPr sz="800" b="0">
                          <a:solidFill>
                            <a:srgbClr val="000000"/>
                          </a:solidFill>
                          <a:latin typeface="Calibri"/>
                        </a:rPr>
                        <a:t>11:32:21 – 11:33:38</a:t>
                      </a:r>
                    </a:p>
                  </a:txBody>
                  <a:tcPr/>
                </a:tc>
                <a:tc>
                  <a:txBody>
                    <a:bodyPr lIns="54864" rIns="54864" tIns="18288" bIns="18288" wrap="square" anchor="ctr"/>
                    <a:lstStyle/>
                    <a:p>
                      <a:pPr algn="l"/>
                      <a:r>
                        <a:rPr sz="800" b="0">
                          <a:solidFill>
                            <a:srgbClr val="000000"/>
                          </a:solidFill>
                          <a:latin typeface="Calibri"/>
                        </a:rPr>
                        <a:t>113221</a:t>
                      </a:r>
                    </a:p>
                  </a:txBody>
                  <a:tcPr/>
                </a:tc>
                <a:tc>
                  <a:txBody>
                    <a:bodyPr lIns="54864" rIns="54864" tIns="18288" bIns="18288" wrap="square" anchor="ctr"/>
                    <a:lstStyle/>
                    <a:p>
                      <a:pPr algn="l"/>
                      <a:r>
                        <a:rPr sz="800" b="0">
                          <a:solidFill>
                            <a:srgbClr val="000000"/>
                          </a:solidFill>
                          <a:latin typeface="Calibri"/>
                        </a:rPr>
                        <a:t>inside</a:t>
                      </a:r>
                    </a:p>
                  </a:txBody>
                  <a:tcPr/>
                </a:tc>
              </a:tr>
            </a:tbl>
          </a:graphicData>
        </a:graphic>
      </p:graphicFrame>
      <p:sp>
        <p:nvSpPr>
          <p:cNvPr id="12" name="TextBox 11"/>
          <p:cNvSpPr txBox="1"/>
          <p:nvPr/>
        </p:nvSpPr>
        <p:spPr>
          <a:xfrm>
            <a:off x="6263640" y="4041648"/>
            <a:ext cx="5577840" cy="1371600"/>
          </a:xfrm>
          <a:prstGeom prst="rect">
            <a:avLst/>
          </a:prstGeom>
          <a:noFill/>
        </p:spPr>
        <p:txBody>
          <a:bodyPr wrap="square" lIns="45720" rIns="45720" tIns="18288" bIns="18288" anchor="t">
            <a:spAutoFit/>
          </a:bodyPr>
          <a:lstStyle/>
          <a:p>
            <a:pPr algn="l"/>
            <a:r>
              <a:rPr sz="930" b="0" i="0">
                <a:solidFill>
                  <a:srgbClr val="000000"/>
                </a:solidFill>
                <a:latin typeface="Calibri"/>
              </a:rPr>
              <a:t>Two same-session pairs. Each capture window sits INSIDE its own test window — the link is made from the largest overlap between the two intervals, not from whichever capture happened last.
These four were saved promptly, so recency would have agreed. It stops agreeing the moment two runs are saved after the fact, or a specimen folder holds more than one capture — S12's holds two. A mislabelled link is worse than none, because it looks authoritative.</a:t>
            </a:r>
          </a:p>
        </p:txBody>
      </p:sp>
      <p:sp>
        <p:nvSpPr>
          <p:cNvPr id="13" name="Rectangle 12"/>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THE LINK WAS ALWAYS CORRECT; THE STORED POINTER WAS NOT. BOTH HALVES RECORDED ABSOLUTE PATHS, WHICH DIED WHEN A CAPTURE FOLDER WAS FILED INTO ITS SPECIMEN FOLDER — 0/14 AND 1/20 RESOLVED. NOW STORED REPO-RELATIVE, AND EVERY EXISTING FILE REPAIRED FROM THE csv_name THAT DID SURVIVE.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capture is honestly unrecoverable: S29's folder was not kept, so its header is left pointing where it pointed rather than at an invented path.</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SF15 · TEST REGISTRY — ONE QUERYABLE INDEX OF EVERY RUN</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34 runs, each with its computed properties and its force anchor, addressable by specimen, material or test label instead of by a path typed into a script.</a:t>
            </a:r>
          </a:p>
        </p:txBody>
      </p:sp>
      <p:sp>
        <p:nvSpPr>
          <p:cNvPr id="6" name="TextBox 5"/>
          <p:cNvSpPr txBox="1"/>
          <p:nvPr/>
        </p:nvSpPr>
        <p:spPr>
          <a:xfrm>
            <a:off x="411480" y="1517904"/>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CLI, run for this slide</a:t>
            </a:r>
          </a:p>
        </p:txBody>
      </p:sp>
      <p:sp>
        <p:nvSpPr>
          <p:cNvPr id="7" name="TextBox 6"/>
          <p:cNvSpPr txBox="1"/>
          <p:nvPr/>
        </p:nvSpPr>
        <p:spPr>
          <a:xfrm>
            <a:off x="411480" y="1865376"/>
            <a:ext cx="6675120" cy="292608"/>
          </a:xfrm>
          <a:prstGeom prst="rect">
            <a:avLst/>
          </a:prstGeom>
          <a:noFill/>
        </p:spPr>
        <p:txBody>
          <a:bodyPr wrap="square" lIns="45720" rIns="45720" tIns="18288" bIns="18288" anchor="t">
            <a:spAutoFit/>
          </a:bodyPr>
          <a:lstStyle/>
          <a:p>
            <a:pPr algn="l"/>
            <a:r>
              <a:rPr sz="950" b="0" i="0">
                <a:solidFill>
                  <a:srgbClr val="000000"/>
                </a:solidFill>
                <a:latin typeface="Consolas"/>
              </a:rPr>
              <a:t>python Software/UTM_PyQt6/utm_registry.py list --contains TPU</a:t>
            </a:r>
          </a:p>
        </p:txBody>
      </p:sp>
      <p:sp>
        <p:nvSpPr>
          <p:cNvPr id="8" name="TextBox 7"/>
          <p:cNvSpPr txBox="1"/>
          <p:nvPr/>
        </p:nvSpPr>
        <p:spPr>
          <a:xfrm>
            <a:off x="411480" y="2231136"/>
            <a:ext cx="6675120" cy="1417320"/>
          </a:xfrm>
          <a:prstGeom prst="rect">
            <a:avLst/>
          </a:prstGeom>
          <a:noFill/>
        </p:spPr>
        <p:txBody>
          <a:bodyPr wrap="square" lIns="45720" rIns="45720" tIns="18288" bIns="18288" anchor="t">
            <a:spAutoFit/>
          </a:bodyPr>
          <a:lstStyle/>
          <a:p>
            <a:pPr algn="l"/>
            <a:r>
              <a:rPr sz="800" b="0" i="0">
                <a:solidFill>
                  <a:srgbClr val="000000"/>
                </a:solidFill>
                <a:latin typeface="Consolas"/>
              </a:rPr>
              <a:t>  test   spec  infill      UTS       sy       E       ef   tough  anchor                 date
---------------------------------------------------------------------------------------------
          S35   100.0     2.25     0.98   0.025   0.1262     178      20  2026-08-24 15:15:56
          S36   100.0     2.21     1.12   0.025   0.1168     165      20  2026-08-24 18:42:25
          S37   100.0      2.6     0.96   0.024   0.1849     601      19  2026-08-26 12:30:26
3 test(s).</a:t>
            </a:r>
          </a:p>
        </p:txBody>
      </p:sp>
      <p:sp>
        <p:nvSpPr>
          <p:cNvPr id="9" name="TextBox 8"/>
          <p:cNvSpPr txBox="1"/>
          <p:nvPr/>
        </p:nvSpPr>
        <p:spPr>
          <a:xfrm>
            <a:off x="411480" y="3703320"/>
            <a:ext cx="6675120" cy="731520"/>
          </a:xfrm>
          <a:prstGeom prst="rect">
            <a:avLst/>
          </a:prstGeom>
          <a:noFill/>
        </p:spPr>
        <p:txBody>
          <a:bodyPr wrap="square" lIns="45720" rIns="45720" tIns="18288" bIns="18288" anchor="t">
            <a:spAutoFit/>
          </a:bodyPr>
          <a:lstStyle/>
          <a:p>
            <a:pPr algn="l"/>
            <a:r>
              <a:rPr sz="900" b="0" i="1">
                <a:solidFill>
                  <a:srgbClr val="707070"/>
                </a:solidFill>
                <a:latin typeface="Calibri"/>
              </a:rPr>
              <a:t>Captured by RUNNING the command at build time, not re-rendered from the JSON — so this slide cannot show a table the tool would not.</a:t>
            </a:r>
          </a:p>
        </p:txBody>
      </p:sp>
      <p:sp>
        <p:nvSpPr>
          <p:cNvPr id="10" name="TextBox 9"/>
          <p:cNvSpPr txBox="1"/>
          <p:nvPr/>
        </p:nvSpPr>
        <p:spPr>
          <a:xfrm>
            <a:off x="7315200" y="15179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holds</a:t>
            </a:r>
          </a:p>
        </p:txBody>
      </p:sp>
      <p:graphicFrame>
        <p:nvGraphicFramePr>
          <p:cNvPr id="11" name="Table 10"/>
          <p:cNvGraphicFramePr>
            <a:graphicFrameLocks noGrp="1"/>
          </p:cNvGraphicFramePr>
          <p:nvPr/>
        </p:nvGraphicFramePr>
        <p:xfrm>
          <a:off x="7315200" y="1865376"/>
          <a:ext cx="4526280" cy="1188720"/>
        </p:xfrm>
        <a:graphic>
          <a:graphicData uri="http://schemas.openxmlformats.org/drawingml/2006/table">
            <a:tbl>
              <a:tblPr firstRow="1" bandRow="1">
                <a:tableStyleId>{5C22544A-7EE6-4342-B048-85BDC9FD1C3A}</a:tableStyleId>
              </a:tblPr>
              <a:tblGrid>
                <a:gridCol w="2743200"/>
                <a:gridCol w="1783080"/>
              </a:tblGrid>
              <a:tr h="23774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r>
              <a:tr h="237744">
                <a:tc>
                  <a:txBody>
                    <a:bodyPr lIns="54864" rIns="54864" tIns="18288" bIns="18288" wrap="square" anchor="ctr"/>
                    <a:lstStyle/>
                    <a:p>
                      <a:pPr algn="l"/>
                      <a:r>
                        <a:rPr sz="880" b="0">
                          <a:solidFill>
                            <a:srgbClr val="000000"/>
                          </a:solidFill>
                          <a:latin typeface="Calibri"/>
                        </a:rPr>
                        <a:t>PLA</a:t>
                      </a:r>
                    </a:p>
                  </a:txBody>
                  <a:tcPr/>
                </a:tc>
                <a:tc>
                  <a:txBody>
                    <a:bodyPr lIns="54864" rIns="54864" tIns="18288" bIns="18288" wrap="square" anchor="ctr"/>
                    <a:lstStyle/>
                    <a:p>
                      <a:pPr algn="l"/>
                      <a:r>
                        <a:rPr sz="880" b="0">
                          <a:solidFill>
                            <a:srgbClr val="000000"/>
                          </a:solidFill>
                          <a:latin typeface="Calibri"/>
                        </a:rPr>
                        <a:t>26</a:t>
                      </a:r>
                    </a:p>
                  </a:txBody>
                  <a:tcPr/>
                </a:tc>
              </a:tr>
              <a:tr h="237744">
                <a:tc>
                  <a:txBody>
                    <a:bodyPr lIns="54864" rIns="54864" tIns="18288" bIns="18288" wrap="square" anchor="ctr"/>
                    <a:lstStyle/>
                    <a:p>
                      <a:pPr algn="l"/>
                      <a:r>
                        <a:rPr sz="880" b="0">
                          <a:solidFill>
                            <a:srgbClr val="000000"/>
                          </a:solidFill>
                          <a:latin typeface="Calibri"/>
                        </a:rPr>
                        <a:t>PETG</a:t>
                      </a:r>
                    </a:p>
                  </a:txBody>
                  <a:tcPr/>
                </a:tc>
                <a:tc>
                  <a:txBody>
                    <a:bodyPr lIns="54864" rIns="54864" tIns="18288" bIns="18288" wrap="square" anchor="ctr"/>
                    <a:lstStyle/>
                    <a:p>
                      <a:pPr algn="l"/>
                      <a:r>
                        <a:rPr sz="880" b="0">
                          <a:solidFill>
                            <a:srgbClr val="000000"/>
                          </a:solidFill>
                          <a:latin typeface="Calibri"/>
                        </a:rPr>
                        <a:t>5</a:t>
                      </a:r>
                    </a:p>
                  </a:txBody>
                  <a:tcPr/>
                </a:tc>
              </a:tr>
              <a:tr h="237744">
                <a:tc>
                  <a:txBody>
                    <a:bodyPr lIns="54864" rIns="54864" tIns="18288" bIns="18288" wrap="square" anchor="ctr"/>
                    <a:lstStyle/>
                    <a:p>
                      <a:pPr algn="l"/>
                      <a:r>
                        <a:rPr sz="880" b="0">
                          <a:solidFill>
                            <a:srgbClr val="000000"/>
                          </a:solidFill>
                          <a:latin typeface="Calibri"/>
                        </a:rPr>
                        <a:t>TPU</a:t>
                      </a:r>
                    </a:p>
                  </a:txBody>
                  <a:tcPr/>
                </a:tc>
                <a:tc>
                  <a:txBody>
                    <a:bodyPr lIns="54864" rIns="54864" tIns="18288" bIns="18288" wrap="square" anchor="ctr"/>
                    <a:lstStyle/>
                    <a:p>
                      <a:pPr algn="l"/>
                      <a:r>
                        <a:rPr sz="880" b="0">
                          <a:solidFill>
                            <a:srgbClr val="000000"/>
                          </a:solidFill>
                          <a:latin typeface="Calibri"/>
                        </a:rPr>
                        <a:t>3</a:t>
                      </a:r>
                    </a:p>
                  </a:txBody>
                  <a:tcPr/>
                </a:tc>
              </a:tr>
              <a:tr h="237744">
                <a:tc>
                  <a:txBody>
                    <a:bodyPr lIns="54864" rIns="54864" tIns="18288" bIns="18288" wrap="square" anchor="ctr"/>
                    <a:lstStyle/>
                    <a:p>
                      <a:pPr algn="l"/>
                      <a:r>
                        <a:rPr sz="880" b="0">
                          <a:solidFill>
                            <a:srgbClr val="000000"/>
                          </a:solidFill>
                          <a:latin typeface="Calibri"/>
                        </a:rPr>
                        <a:t>with a full property set</a:t>
                      </a:r>
                    </a:p>
                  </a:txBody>
                  <a:tcPr/>
                </a:tc>
                <a:tc>
                  <a:txBody>
                    <a:bodyPr lIns="54864" rIns="54864" tIns="18288" bIns="18288" wrap="square" anchor="ctr"/>
                    <a:lstStyle/>
                    <a:p>
                      <a:pPr algn="l"/>
                      <a:r>
                        <a:rPr sz="880" b="0">
                          <a:solidFill>
                            <a:srgbClr val="000000"/>
                          </a:solidFill>
                          <a:latin typeface="Calibri"/>
                        </a:rPr>
                        <a:t>27 of 34</a:t>
                      </a:r>
                    </a:p>
                  </a:txBody>
                  <a:tcPr/>
                </a:tc>
              </a:tr>
            </a:tbl>
          </a:graphicData>
        </a:graphic>
      </p:graphicFrame>
      <p:sp>
        <p:nvSpPr>
          <p:cNvPr id="12" name="TextBox 11"/>
          <p:cNvSpPr txBox="1"/>
          <p:nvPr/>
        </p:nvSpPr>
        <p:spPr>
          <a:xfrm>
            <a:off x="7315200" y="3310128"/>
            <a:ext cx="4526280" cy="1188720"/>
          </a:xfrm>
          <a:prstGeom prst="rect">
            <a:avLst/>
          </a:prstGeom>
          <a:noFill/>
        </p:spPr>
        <p:txBody>
          <a:bodyPr wrap="square" lIns="45720" rIns="45720" tIns="18288" bIns="18288" anchor="t">
            <a:spAutoFit/>
          </a:bodyPr>
          <a:lstStyle/>
          <a:p>
            <a:pPr algn="l"/>
            <a:r>
              <a:rPr sz="919" b="0" i="0">
                <a:solidFill>
                  <a:srgbClr val="000000"/>
                </a:solidFill>
                <a:latin typeface="Calibri"/>
              </a:rPr>
              <a:t>The rest are runs analyze() cannot complete — an abandoned pull, or one that never fractured. The row is KEPT rather than dropped: a blank property is a fact about the run, and deleting it would quietly shrink the denominator.</a:t>
            </a:r>
          </a:p>
        </p:txBody>
      </p:sp>
      <p:sp>
        <p:nvSpPr>
          <p:cNvPr id="13" name="TextBox 12"/>
          <p:cNvSpPr txBox="1"/>
          <p:nvPr/>
        </p:nvSpPr>
        <p:spPr>
          <a:xfrm>
            <a:off x="411480" y="448056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actually worth — two bugs it caught</a:t>
            </a:r>
          </a:p>
        </p:txBody>
      </p:sp>
      <p:sp>
        <p:nvSpPr>
          <p:cNvPr id="14" name="TextBox 13"/>
          <p:cNvSpPr txBox="1"/>
          <p:nvPr/>
        </p:nvSpPr>
        <p:spPr>
          <a:xfrm>
            <a:off x="411480" y="4828032"/>
            <a:ext cx="11430000" cy="1051560"/>
          </a:xfrm>
          <a:prstGeom prst="rect">
            <a:avLst/>
          </a:prstGeom>
          <a:noFill/>
        </p:spPr>
        <p:txBody>
          <a:bodyPr wrap="square" lIns="45720" rIns="45720" tIns="18288" bIns="18288" anchor="t">
            <a:spAutoFit/>
          </a:bodyPr>
          <a:lstStyle/>
          <a:p>
            <a:pPr algn="l"/>
            <a:r>
              <a:rPr sz="940" b="0" i="0">
                <a:solidFill>
                  <a:srgbClr val="000000"/>
                </a:solidFill>
                <a:latin typeface="Calibri"/>
              </a:rPr>
              <a:t>•  THE FRACTURE CUT THAT NEVER RAN. Two deck scripts asked analyze() for "fracture_i"; the key is "fr_i", so .get() returned None every time and the PLA and PETG curves carried post-fracture data. Found by enumerating every run through the registry and re-analysing — with paths hard-coded into each script, there was nothing to enumerate.
•  A RENAME, CAUGHT IN ONE LINE. S37's folder gained a “_Video15” suffix after its run. The registry reported one unresolved row immediately; the alternative was a deck build failing later with no clue why.</a:t>
            </a:r>
          </a:p>
        </p:txBody>
      </p:sp>
      <p:sp>
        <p:nvSpPr>
          <p:cNvPr id="15" name="Rectangle 14"/>
          <p:cNvSpPr/>
          <p:nvPr/>
        </p:nvSpPr>
        <p:spPr>
          <a:xfrm>
            <a:off x="365760" y="5925312"/>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34 ROWS, 0 UNRESOLVED PATHS. THE REGISTRY IS WHAT MAKES “EVERY RUN ON RECORD” A QUERY RATHER THAN A CLAIM.</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Auto-populated on save (SF11) and by utm_registry.py scan. Properties are re-analysed from the CSVs, never copied from a previous result.</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STILL IMAGES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Three formats, and EVERY ONE OF THEM IS LOSSLESS — none changes a pixel. The choice is bytes against CPU, never image quality. PNG in particular was never lossy; that is the misconception this slide exists to kill.</a:t>
            </a:r>
          </a:p>
        </p:txBody>
      </p:sp>
      <p:pic>
        <p:nvPicPr>
          <p:cNvPr id="6" name="Picture 5" descr="cap_still_formats.png"/>
          <p:cNvPicPr>
            <a:picLocks noChangeAspect="1"/>
          </p:cNvPicPr>
          <p:nvPr/>
        </p:nvPicPr>
        <p:blipFill>
          <a:blip r:embed="rId2"/>
          <a:stretch>
            <a:fillRect/>
          </a:stretch>
        </p:blipFill>
        <p:spPr>
          <a:xfrm>
            <a:off x="1086479" y="1517904"/>
            <a:ext cx="10034281" cy="2395728"/>
          </a:xfrm>
          <a:prstGeom prst="rect">
            <a:avLst/>
          </a:prstGeom>
        </p:spPr>
      </p:pic>
      <p:graphicFrame>
        <p:nvGraphicFramePr>
          <p:cNvPr id="7" name="Table 6"/>
          <p:cNvGraphicFramePr>
            <a:graphicFrameLocks noGrp="1"/>
          </p:cNvGraphicFramePr>
          <p:nvPr/>
        </p:nvGraphicFramePr>
        <p:xfrm>
          <a:off x="365760" y="4078224"/>
          <a:ext cx="11475720" cy="1188720"/>
        </p:xfrm>
        <a:graphic>
          <a:graphicData uri="http://schemas.openxmlformats.org/drawingml/2006/table">
            <a:tbl>
              <a:tblPr firstRow="1" bandRow="1">
                <a:tableStyleId>{5C22544A-7EE6-4342-B048-85BDC9FD1C3A}</a:tableStyleId>
              </a:tblPr>
              <a:tblGrid>
                <a:gridCol w="2286000"/>
                <a:gridCol w="1188720"/>
                <a:gridCol w="1188720"/>
                <a:gridCol w="914400"/>
                <a:gridCol w="5897880"/>
              </a:tblGrid>
              <a:tr h="297180">
                <a:tc>
                  <a:txBody>
                    <a:bodyPr lIns="54864" rIns="54864" tIns="18288" bIns="18288" wrap="square" anchor="ctr"/>
                    <a:lstStyle/>
                    <a:p>
                      <a:pPr algn="l"/>
                      <a:r>
                        <a:rPr sz="1000" b="1">
                          <a:solidFill>
                            <a:srgbClr val="FFFFFF"/>
                          </a:solidFill>
                          <a:latin typeface="Calibri"/>
                        </a:rPr>
                        <a:t>Format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 to write</a:t>
                      </a:r>
                    </a:p>
                  </a:txBody>
                  <a:tcPr>
                    <a:solidFill>
                      <a:srgbClr val="143D2F"/>
                    </a:solidFill>
                  </a:tcPr>
                </a:tc>
                <a:tc>
                  <a:txBody>
                    <a:bodyPr lIns="54864" rIns="54864" tIns="18288" bIns="18288" wrap="square" anchor="ctr"/>
                    <a:lstStyle/>
                    <a:p>
                      <a:pPr algn="l"/>
                      <a:r>
                        <a:rPr sz="1000" b="1">
                          <a:solidFill>
                            <a:srgbClr val="FFFFFF"/>
                          </a:solidFill>
                          <a:latin typeface="Calibri"/>
                        </a:rPr>
                        <a:t>Lossless</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TIFF, uncompressed  ← default</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1.5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Default. The file IS the sensor bytes, and it is the cheapest to write by far.</a:t>
                      </a:r>
                    </a:p>
                  </a:txBody>
                  <a:tcPr/>
                </a:tc>
              </a:tr>
              <a:tr h="297180">
                <a:tc>
                  <a:txBody>
                    <a:bodyPr lIns="54864" rIns="54864" tIns="18288" bIns="18288" wrap="square" anchor="ctr"/>
                    <a:lstStyle/>
                    <a:p>
                      <a:pPr algn="l"/>
                      <a:r>
                        <a:rPr sz="950" b="0">
                          <a:solidFill>
                            <a:srgbClr val="000000"/>
                          </a:solidFill>
                          <a:latin typeface="Calibri"/>
                        </a:rPr>
                        <a:t>TIFF, LZW</a:t>
                      </a:r>
                    </a:p>
                  </a:txBody>
                  <a:tcPr/>
                </a:tc>
                <a:tc>
                  <a:txBody>
                    <a:bodyPr lIns="54864" rIns="54864" tIns="18288" bIns="18288" wrap="square" anchor="ctr"/>
                    <a:lstStyle/>
                    <a:p>
                      <a:pPr algn="l"/>
                      <a:r>
                        <a:rPr sz="950" b="0">
                          <a:solidFill>
                            <a:srgbClr val="000000"/>
                          </a:solidFill>
                          <a:latin typeface="Calibri"/>
                        </a:rPr>
                        <a:t>0.35 MB</a:t>
                      </a:r>
                    </a:p>
                  </a:txBody>
                  <a:tcPr/>
                </a:tc>
                <a:tc>
                  <a:txBody>
                    <a:bodyPr lIns="54864" rIns="54864" tIns="18288" bIns="18288" wrap="square" anchor="ctr"/>
                    <a:lstStyle/>
                    <a:p>
                      <a:pPr algn="l"/>
                      <a:r>
                        <a:rPr sz="950" b="0">
                          <a:solidFill>
                            <a:srgbClr val="000000"/>
                          </a:solidFill>
                          <a:latin typeface="Calibri"/>
                        </a:rPr>
                        <a:t>7.6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Long runs, or when a session has to fit on a stick — same pixels, a third of the disk.</a:t>
                      </a:r>
                    </a:p>
                  </a:txBody>
                  <a:tcPr/>
                </a:tc>
              </a:tr>
              <a:tr h="297180">
                <a:tc>
                  <a:txBody>
                    <a:bodyPr lIns="54864" rIns="54864" tIns="18288" bIns="18288" wrap="square" anchor="ctr"/>
                    <a:lstStyle/>
                    <a:p>
                      <a:pPr algn="l"/>
                      <a:r>
                        <a:rPr sz="950" b="0">
                          <a:solidFill>
                            <a:srgbClr val="000000"/>
                          </a:solidFill>
                          <a:latin typeface="Calibri"/>
                        </a:rPr>
                        <a:t>PNG</a:t>
                      </a:r>
                    </a:p>
                  </a:txBody>
                  <a:tcPr/>
                </a:tc>
                <a:tc>
                  <a:txBody>
                    <a:bodyPr lIns="54864" rIns="54864" tIns="18288" bIns="18288" wrap="square" anchor="ctr"/>
                    <a:lstStyle/>
                    <a:p>
                      <a:pPr algn="l"/>
                      <a:r>
                        <a:rPr sz="950" b="0">
                          <a:solidFill>
                            <a:srgbClr val="000000"/>
                          </a:solidFill>
                          <a:latin typeface="Calibri"/>
                        </a:rPr>
                        <a:t>0.95 MB</a:t>
                      </a:r>
                    </a:p>
                  </a:txBody>
                  <a:tcPr/>
                </a:tc>
                <a:tc>
                  <a:txBody>
                    <a:bodyPr lIns="54864" rIns="54864" tIns="18288" bIns="18288" wrap="square" anchor="ctr"/>
                    <a:lstStyle/>
                    <a:p>
                      <a:pPr algn="l"/>
                      <a:r>
                        <a:rPr sz="950" b="0">
                          <a:solidFill>
                            <a:srgbClr val="000000"/>
                          </a:solidFill>
                          <a:latin typeface="Calibri"/>
                        </a:rPr>
                        <a:t>7.3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What the rig wrote until 2026-08-21. Kept for tools that will not read TIFF.</a:t>
                      </a:r>
                    </a:p>
                  </a:txBody>
                  <a:tcPr/>
                </a:tc>
              </a:tr>
            </a:tbl>
          </a:graphicData>
        </a:graphic>
      </p:graphicFrame>
      <p:sp>
        <p:nvSpPr>
          <p:cNvPr id="8" name="Rectangle 7"/>
          <p:cNvSpPr/>
          <p:nvPr/>
        </p:nvSpPr>
        <p:spPr>
          <a:xfrm>
            <a:off x="365760" y="5431536"/>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Switching the default from PNG to uncompressed TIFF cost nothing and saved four fifths of the CPU: same pixels, same size on disk, 1.5 ms instead of 7.3.</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Measured on a real 419×2348 frame from S26. A binary speckle view is written compressed whichever format is chosen — uncompressed TIFF on a two-tone frame would waste the same 23× that PNG level 1 was introduced to capture.</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VIDEO</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Here the choice DOES change the pixels. The video was MJPG until 2026-08-21, and MJPG is lossy — the panel below shows exactly where it loses the image, and it is not a subtle place.</a:t>
            </a:r>
          </a:p>
        </p:txBody>
      </p:sp>
      <p:pic>
        <p:nvPicPr>
          <p:cNvPr id="6" name="Picture 5" descr="cap_video_codecs.png"/>
          <p:cNvPicPr>
            <a:picLocks noChangeAspect="1"/>
          </p:cNvPicPr>
          <p:nvPr/>
        </p:nvPicPr>
        <p:blipFill>
          <a:blip r:embed="rId2"/>
          <a:stretch>
            <a:fillRect/>
          </a:stretch>
        </p:blipFill>
        <p:spPr>
          <a:xfrm>
            <a:off x="1943348" y="1481328"/>
            <a:ext cx="8320543" cy="2487168"/>
          </a:xfrm>
          <a:prstGeom prst="rect">
            <a:avLst/>
          </a:prstGeom>
        </p:spPr>
      </p:pic>
      <p:graphicFrame>
        <p:nvGraphicFramePr>
          <p:cNvPr id="7" name="Table 6"/>
          <p:cNvGraphicFramePr>
            <a:graphicFrameLocks noGrp="1"/>
          </p:cNvGraphicFramePr>
          <p:nvPr/>
        </p:nvGraphicFramePr>
        <p:xfrm>
          <a:off x="365760" y="4133087"/>
          <a:ext cx="11475720" cy="1188720"/>
        </p:xfrm>
        <a:graphic>
          <a:graphicData uri="http://schemas.openxmlformats.org/drawingml/2006/table">
            <a:tbl>
              <a:tblPr firstRow="1" bandRow="1">
                <a:tableStyleId>{5C22544A-7EE6-4342-B048-85BDC9FD1C3A}</a:tableStyleId>
              </a:tblPr>
              <a:tblGrid>
                <a:gridCol w="1737360"/>
                <a:gridCol w="1097280"/>
                <a:gridCol w="1188720"/>
                <a:gridCol w="822960"/>
                <a:gridCol w="731520"/>
                <a:gridCol w="5897880"/>
              </a:tblGrid>
              <a:tr h="297180">
                <a:tc>
                  <a:txBody>
                    <a:bodyPr lIns="54864" rIns="54864" tIns="18288" bIns="18288" wrap="square" anchor="ctr"/>
                    <a:lstStyle/>
                    <a:p>
                      <a:pPr algn="l"/>
                      <a:r>
                        <a:rPr sz="1000" b="1">
                          <a:solidFill>
                            <a:srgbClr val="FFFFFF"/>
                          </a:solidFill>
                          <a:latin typeface="Calibri"/>
                        </a:rPr>
                        <a:t>Codec</a:t>
                      </a:r>
                    </a:p>
                  </a:txBody>
                  <a:tcPr>
                    <a:solidFill>
                      <a:srgbClr val="143D2F"/>
                    </a:solidFill>
                  </a:tcPr>
                </a:tc>
                <a:tc>
                  <a:txBody>
                    <a:bodyPr lIns="54864" rIns="54864" tIns="18288" bIns="18288" wrap="square" anchor="ctr"/>
                    <a:lstStyle/>
                    <a:p>
                      <a:pPr algn="l"/>
                      <a:r>
                        <a:rPr sz="1000" b="1">
                          <a:solidFill>
                            <a:srgbClr val="FFFFFF"/>
                          </a:solidFill>
                          <a:latin typeface="Calibri"/>
                        </a:rPr>
                        <a:t>Pixels kept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a:t>
                      </a:r>
                    </a:p>
                  </a:txBody>
                  <a:tcPr>
                    <a:solidFill>
                      <a:srgbClr val="143D2F"/>
                    </a:solidFill>
                  </a:tcPr>
                </a:tc>
                <a:tc>
                  <a:txBody>
                    <a:bodyPr lIns="54864" rIns="54864" tIns="18288" bIns="18288" wrap="square" anchor="ctr"/>
                    <a:lstStyle/>
                    <a:p>
                      <a:pPr algn="l"/>
                      <a:r>
                        <a:rPr sz="1000" b="1">
                          <a:solidFill>
                            <a:srgbClr val="FFFFFF"/>
                          </a:solidFill>
                          <a:latin typeface="Calibri"/>
                        </a:rPr>
                        <a:t>File</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FFV1  ← default</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0.22 MB</a:t>
                      </a:r>
                    </a:p>
                  </a:txBody>
                  <a:tcPr/>
                </a:tc>
                <a:tc>
                  <a:txBody>
                    <a:bodyPr lIns="54864" rIns="54864" tIns="18288" bIns="18288" wrap="square" anchor="ctr"/>
                    <a:lstStyle/>
                    <a:p>
                      <a:pPr algn="l"/>
                      <a:r>
                        <a:rPr sz="950" b="0">
                          <a:solidFill>
                            <a:srgbClr val="000000"/>
                          </a:solidFill>
                          <a:latin typeface="Calibri"/>
                        </a:rPr>
                        <a:t>9.7 ms</a:t>
                      </a:r>
                    </a:p>
                  </a:txBody>
                  <a:tcPr/>
                </a:tc>
                <a:tc>
                  <a:txBody>
                    <a:bodyPr lIns="54864" rIns="54864" tIns="18288" bIns="18288" wrap="square" anchor="ctr"/>
                    <a:lstStyle/>
                    <a:p>
                      <a:pPr algn="l"/>
                      <a:r>
                        <a:rPr sz="950" b="0">
                          <a:solidFill>
                            <a:srgbClr val="000000"/>
                          </a:solidFill>
                          <a:latin typeface="Calibri"/>
                        </a:rPr>
                        <a:t>.mkv</a:t>
                      </a:r>
                    </a:p>
                  </a:txBody>
                  <a:tcPr/>
                </a:tc>
                <a:tc>
                  <a:txBody>
                    <a:bodyPr lIns="54864" rIns="54864" tIns="18288" bIns="18288" wrap="square" anchor="ctr"/>
                    <a:lstStyle/>
                    <a:p>
                      <a:pPr algn="l"/>
                      <a:r>
                        <a:rPr sz="950" b="0">
                          <a:solidFill>
                            <a:srgbClr val="000000"/>
                          </a:solidFill>
                          <a:latin typeface="Calibri"/>
                        </a:rPr>
                        <a:t>Default. The only codec that is both lossless AND small — use it if the video will be re-analysed.</a:t>
                      </a:r>
                    </a:p>
                  </a:txBody>
                  <a:tcPr/>
                </a:tc>
              </a:tr>
              <a:tr h="297180">
                <a:tc>
                  <a:txBody>
                    <a:bodyPr lIns="54864" rIns="54864" tIns="18288" bIns="18288" wrap="square" anchor="ctr"/>
                    <a:lstStyle/>
                    <a:p>
                      <a:pPr algn="l"/>
                      <a:r>
                        <a:rPr sz="950" b="0">
                          <a:solidFill>
                            <a:srgbClr val="000000"/>
                          </a:solidFill>
                          <a:latin typeface="Calibri"/>
                        </a:rPr>
                        <a:t>Raw Y800</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0.8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No encoding at all. Pixel-perfect and cheapest on CPU, but 4× the size.</a:t>
                      </a:r>
                    </a:p>
                  </a:txBody>
                  <a:tcPr/>
                </a:tc>
              </a:tr>
              <a:tr h="297180">
                <a:tc>
                  <a:txBody>
                    <a:bodyPr lIns="54864" rIns="54864" tIns="18288" bIns="18288" wrap="square" anchor="ctr"/>
                    <a:lstStyle/>
                    <a:p>
                      <a:pPr algn="l"/>
                      <a:r>
                        <a:rPr sz="950" b="0">
                          <a:solidFill>
                            <a:srgbClr val="000000"/>
                          </a:solidFill>
                          <a:latin typeface="Calibri"/>
                        </a:rPr>
                        <a:t>MJPG</a:t>
                      </a:r>
                    </a:p>
                  </a:txBody>
                  <a:tcPr/>
                </a:tc>
                <a:tc>
                  <a:txBody>
                    <a:bodyPr lIns="54864" rIns="54864" tIns="18288" bIns="18288" wrap="square" anchor="ctr"/>
                    <a:lstStyle/>
                    <a:p>
                      <a:pPr algn="l"/>
                      <a:r>
                        <a:rPr sz="950" b="0">
                          <a:solidFill>
                            <a:srgbClr val="000000"/>
                          </a:solidFill>
                          <a:latin typeface="Calibri"/>
                        </a:rPr>
                        <a:t>51.8 %</a:t>
                      </a:r>
                    </a:p>
                  </a:txBody>
                  <a:tcPr/>
                </a:tc>
                <a:tc>
                  <a:txBody>
                    <a:bodyPr lIns="54864" rIns="54864" tIns="18288" bIns="18288" wrap="square" anchor="ctr"/>
                    <a:lstStyle/>
                    <a:p>
                      <a:pPr algn="l"/>
                      <a:r>
                        <a:rPr sz="950" b="0">
                          <a:solidFill>
                            <a:srgbClr val="000000"/>
                          </a:solidFill>
                          <a:latin typeface="Calibri"/>
                        </a:rPr>
                        <a:t>0.04 MB</a:t>
                      </a:r>
                    </a:p>
                  </a:txBody>
                  <a:tcPr/>
                </a:tc>
                <a:tc>
                  <a:txBody>
                    <a:bodyPr lIns="54864" rIns="54864" tIns="18288" bIns="18288" wrap="square" anchor="ctr"/>
                    <a:lstStyle/>
                    <a:p>
                      <a:pPr algn="l"/>
                      <a:r>
                        <a:rPr sz="950" b="0">
                          <a:solidFill>
                            <a:srgbClr val="000000"/>
                          </a:solidFill>
                          <a:latin typeface="Calibri"/>
                        </a:rPr>
                        <a:t>2.6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Tiny and seeks well, so it is fine to WATCH — but never measure from it.</a:t>
                      </a:r>
                    </a:p>
                  </a:txBody>
                  <a:tcPr/>
                </a:tc>
              </a:tr>
            </a:tbl>
          </a:graphicData>
        </a:graphic>
      </p:graphicFrame>
      <p:sp>
        <p:nvSpPr>
          <p:cNvPr id="8" name="Rectangle 7"/>
          <p:cNvSpPr/>
          <p:nvPr/>
        </p:nvSpPr>
        <p:spPr>
          <a:xfrm>
            <a:off x="365760" y="5486400"/>
            <a:ext cx="1147572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ALSO FIXED: every codec works in even-width blocks, so the rig's 419 px ROI came back 418 and the outermost column was gone for good. Frames are now PADDED to even and run.json records the true width, so a reader can crop it back exactly.</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HuffYUV, FFVHuff and both Ut Video variants claim lossless and returned only 72 % identical on this build; lossless JPEG silently fell back to MJPG. Only the two verified at 100.0 % are offered as lossless.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THREE RUNS ON ONE MATERIAL</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S29 is excluded outright: it was loaded repeatedly before it finally fractured, so its curve is not a single monotonic pull and nothing from it describes virgin material. Three runs remain, all 100 % infill at 0.10 mm/s.</a:t>
            </a:r>
          </a:p>
        </p:txBody>
      </p:sp>
      <p:pic>
        <p:nvPicPr>
          <p:cNvPr id="6" name="Picture 5" descr="petg_trio.png"/>
          <p:cNvPicPr>
            <a:picLocks noChangeAspect="1"/>
          </p:cNvPicPr>
          <p:nvPr/>
        </p:nvPicPr>
        <p:blipFill>
          <a:blip r:embed="rId2"/>
          <a:stretch>
            <a:fillRect/>
          </a:stretch>
        </p:blipFill>
        <p:spPr>
          <a:xfrm>
            <a:off x="1661160" y="1572768"/>
            <a:ext cx="8656319" cy="3246120"/>
          </a:xfrm>
          <a:prstGeom prst="rect">
            <a:avLst/>
          </a:prstGeom>
        </p:spPr>
      </p:pic>
      <p:graphicFrame>
        <p:nvGraphicFramePr>
          <p:cNvPr id="7" name="Table 6"/>
          <p:cNvGraphicFramePr>
            <a:graphicFrameLocks noGrp="1"/>
          </p:cNvGraphicFramePr>
          <p:nvPr/>
        </p:nvGraphicFramePr>
        <p:xfrm>
          <a:off x="365760" y="4992624"/>
          <a:ext cx="11475716" cy="960120"/>
        </p:xfrm>
        <a:graphic>
          <a:graphicData uri="http://schemas.openxmlformats.org/drawingml/2006/table">
            <a:tbl>
              <a:tblPr firstRow="1" bandRow="1">
                <a:tableStyleId>{5C22544A-7EE6-4342-B048-85BDC9FD1C3A}</a:tableStyleId>
              </a:tblPr>
              <a:tblGrid>
                <a:gridCol w="1012563"/>
                <a:gridCol w="1237577"/>
                <a:gridCol w="1575098"/>
                <a:gridCol w="1350084"/>
                <a:gridCol w="1125070"/>
                <a:gridCol w="1125070"/>
                <a:gridCol w="4050254"/>
              </a:tblGrid>
              <a:tr h="240030">
                <a:tc>
                  <a:txBody>
                    <a:bodyPr lIns="54864" rIns="54864" tIns="18288" bIns="18288" wrap="square" anchor="ctr"/>
                    <a:lstStyle/>
                    <a:p>
                      <a:pPr algn="l"/>
                      <a:r>
                        <a:rPr sz="1000" b="1">
                          <a:solidFill>
                            <a:srgbClr val="FFFFFF"/>
                          </a:solidFill>
                          <a:latin typeface="Calibri"/>
                        </a:rPr>
                        <a:t>Run</a:t>
                      </a:r>
                    </a:p>
                  </a:txBody>
                  <a:tcPr>
                    <a:solidFill>
                      <a:srgbClr val="143D2F"/>
                    </a:solidFill>
                  </a:tcPr>
                </a:tc>
                <a:tc>
                  <a:txBody>
                    <a:bodyPr lIns="54864" rIns="54864" tIns="18288" bIns="18288" wrap="square" anchor="ctr"/>
                    <a:lstStyle/>
                    <a:p>
                      <a:pPr algn="l"/>
                      <a:r>
                        <a:rPr sz="1000" b="1">
                          <a:solidFill>
                            <a:srgbClr val="FFFFFF"/>
                          </a:solidFill>
                          <a:latin typeface="Calibri"/>
                        </a:rPr>
                        <a:t>Tracked</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What it can carry</a:t>
                      </a:r>
                    </a:p>
                  </a:txBody>
                  <a:tcPr>
                    <a:solidFill>
                      <a:srgbClr val="143D2F"/>
                    </a:solidFill>
                  </a:tcPr>
                </a:tc>
              </a:tr>
              <a:tr h="24003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3340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everything</a:t>
                      </a:r>
                    </a:p>
                  </a:txBody>
                  <a:tcPr/>
                </a:tc>
              </a:tr>
              <a:tr h="24003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3244</a:t>
                      </a:r>
                    </a:p>
                  </a:txBody>
                  <a:tcPr/>
                </a:tc>
                <a:tc>
                  <a:txBody>
                    <a:bodyPr lIns="54864" rIns="54864" tIns="18288" bIns="18288" wrap="square" anchor="ctr"/>
                    <a:lstStyle/>
                    <a:p>
                      <a:pPr algn="l"/>
                      <a:r>
                        <a:rPr sz="950" b="0">
                          <a:solidFill>
                            <a:srgbClr val="000000"/>
                          </a:solidFill>
                          <a:latin typeface="Calibri"/>
                        </a:rPr>
                        <a:t>40.55</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strength only</a:t>
                      </a:r>
                    </a:p>
                  </a:txBody>
                  <a:tcPr/>
                </a:tc>
              </a:tr>
              <a:tr h="24003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3417</a:t>
                      </a:r>
                    </a:p>
                  </a:txBody>
                  <a:tcPr/>
                </a:tc>
                <a:tc>
                  <a:txBody>
                    <a:bodyPr lIns="54864" rIns="54864" tIns="18288" bIns="18288" wrap="square" anchor="ctr"/>
                    <a:lstStyle/>
                    <a:p>
                      <a:pPr algn="l"/>
                      <a:r>
                        <a:rPr sz="950" b="0">
                          <a:solidFill>
                            <a:srgbClr val="000000"/>
                          </a:solidFill>
                          <a:latin typeface="Calibri"/>
                        </a:rPr>
                        <a:t>42.72 *</a:t>
                      </a:r>
                    </a:p>
                  </a:txBody>
                  <a:tcPr/>
                </a:tc>
                <a:tc>
                  <a:txBody>
                    <a:bodyPr lIns="54864" rIns="54864" tIns="18288" bIns="18288" wrap="square" anchor="ctr"/>
                    <a:lstStyle/>
                    <a:p>
                      <a:pPr algn="l"/>
                      <a:r>
                        <a:rPr sz="950" b="0">
                          <a:solidFill>
                            <a:srgbClr val="000000"/>
                          </a:solidFill>
                          <a:latin typeface="Calibri"/>
                        </a:rPr>
                        <a:t>1.78</a:t>
                      </a:r>
                    </a:p>
                  </a:txBody>
                  <a:tcPr/>
                </a:tc>
                <a:tc>
                  <a:txBody>
                    <a:bodyPr lIns="54864" rIns="54864" tIns="18288" bIns="18288" wrap="square" anchor="ctr"/>
                    <a:lstStyle/>
                    <a:p>
                      <a:pPr algn="l"/>
                      <a:r>
                        <a:rPr sz="950" b="0">
                          <a:solidFill>
                            <a:srgbClr val="000000"/>
                          </a:solidFill>
                          <a:latin typeface="Calibri"/>
                        </a:rPr>
                        <a:t>8.01</a:t>
                      </a:r>
                    </a:p>
                  </a:txBody>
                  <a:tcPr/>
                </a:tc>
                <a:tc>
                  <a:txBody>
                    <a:bodyPr lIns="54864" rIns="54864" tIns="18288" bIns="18288" wrap="square" anchor="ctr"/>
                    <a:lstStyle/>
                    <a:p>
                      <a:pPr algn="l"/>
                      <a:r>
                        <a:rPr sz="950" b="0">
                          <a:solidFill>
                            <a:srgbClr val="000000"/>
                          </a:solidFill>
                          <a:latin typeface="Calibri"/>
                        </a:rPr>
                        <a:t>force and slopes, not absolute stress</a:t>
                      </a:r>
                    </a:p>
                  </a:txBody>
                  <a:tcPr/>
                </a:tc>
              </a:tr>
            </a:tbl>
          </a:graphicData>
        </a:graphic>
      </p:graphicFrame>
      <p:sp>
        <p:nvSpPr>
          <p:cNvPr id="8" name="Rectangle 7"/>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PEAK LOAD IS THE ONE NUMBER ALL THREE CAN CARRY — 3340, 3244 and 3417 N, a spread of 5.4 %. It comes straight off the load cell and touches neither the DIC nor the anchor.</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S32's UTS is re-derived with the rig's usual 300 N preload because its own anchor recovery failed — see the next slide. Same protocol as the PLA pair throughout.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WHAT LIMITS EACH RUN, AND WHAT SURVIVES IT</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different faults, neither of them the material — and in both cases some of the run is still perfectly good. Discarding a whole specimen because part of it is compromised throws away evidence.</a:t>
            </a:r>
          </a:p>
        </p:txBody>
      </p:sp>
      <p:pic>
        <p:nvPicPr>
          <p:cNvPr id="6" name="Picture 5" descr="petg_limits.png"/>
          <p:cNvPicPr>
            <a:picLocks noChangeAspect="1"/>
          </p:cNvPicPr>
          <p:nvPr/>
        </p:nvPicPr>
        <p:blipFill>
          <a:blip r:embed="rId2"/>
          <a:stretch>
            <a:fillRect/>
          </a:stretch>
        </p:blipFill>
        <p:spPr>
          <a:xfrm>
            <a:off x="430183" y="1554480"/>
            <a:ext cx="11346872" cy="2880360"/>
          </a:xfrm>
          <a:prstGeom prst="rect">
            <a:avLst/>
          </a:prstGeom>
        </p:spPr>
      </p:pic>
      <p:sp>
        <p:nvSpPr>
          <p:cNvPr id="7" name="TextBox 6"/>
          <p:cNvSpPr txBox="1"/>
          <p:nvPr/>
        </p:nvSpPr>
        <p:spPr>
          <a:xfrm>
            <a:off x="36576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S31 — 57 % tracked</a:t>
            </a:r>
          </a:p>
        </p:txBody>
      </p:sp>
      <p:sp>
        <p:nvSpPr>
          <p:cNvPr id="8" name="TextBox 7"/>
          <p:cNvSpPr txBox="1"/>
          <p:nvPr/>
        </p:nvSpPr>
        <p:spPr>
          <a:xfrm>
            <a:off x="36576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sprayed dots carry a crescent of overspray FUSED to the rim, which puts circularity at 0.49–0.51 against a 0.50 gate; noise then flipped markers in and out frame by frame. UTS and σ_y come from the LOAD CELL and never touch the DIC, so they stand — and agree with S30 to 2.9 %. E, ε_f and toughness are strain quantities and do not.</a:t>
            </a:r>
          </a:p>
        </p:txBody>
      </p:sp>
      <p:sp>
        <p:nvSpPr>
          <p:cNvPr id="9" name="TextBox 8"/>
          <p:cNvSpPr txBox="1"/>
          <p:nvPr/>
        </p:nvSpPr>
        <p:spPr>
          <a:xfrm>
            <a:off x="621792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S32 — the force anchor failed</a:t>
            </a:r>
          </a:p>
        </p:txBody>
      </p:sp>
      <p:sp>
        <p:nvSpPr>
          <p:cNvPr id="10" name="TextBox 9"/>
          <p:cNvSpPr txBox="1"/>
          <p:nvPr/>
        </p:nvSpPr>
        <p:spPr>
          <a:xfrm>
            <a:off x="621792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anchor is recovered from the settled post-fracture tail, which should read −(the tared-away preload) ≈ −300 N. S30's tail settles at −311 N; S32's settled at +936 N — the specimen never fully released — so the anchor came out −1044 N and shifted every stress down by 13 MPa. Its peak LOAD, 3117 N off the load cell, is untouched.</a:t>
            </a:r>
          </a:p>
        </p:txBody>
      </p:sp>
      <p:sp>
        <p:nvSpPr>
          <p:cNvPr id="11" name="Rectangle 10"/>
          <p:cNvSpPr/>
          <p:nvPr/>
        </p:nvSpPr>
        <p:spPr>
          <a:xfrm>
            <a:off x="365760" y="5943600"/>
            <a:ext cx="11475720" cy="42062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 CONSTANT OFFSET CANCELS IN ANY SLOPE, which is why S32's E (1.78 GPa) already matches S30's (1.81) and why it can still be compared on the plastic slope two slides on.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min_circularity was loosened 0.50 → 0.40 after S31 ran; the roadmap carries the revert. S32 should be redone, or re-derived with an explicit anchor.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vs PLA — S30 AGAINST S25</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first time this rig has compared two materials. Same protocol, same gauge, same DIC — so any difference is the polymer, not the machine.</a:t>
            </a:r>
          </a:p>
        </p:txBody>
      </p:sp>
      <p:pic>
        <p:nvPicPr>
          <p:cNvPr id="6" name="Picture 5" descr="petg_vs_pla.png"/>
          <p:cNvPicPr>
            <a:picLocks noChangeAspect="1"/>
          </p:cNvPicPr>
          <p:nvPr/>
        </p:nvPicPr>
        <p:blipFill>
          <a:blip r:embed="rId2"/>
          <a:stretch>
            <a:fillRect/>
          </a:stretch>
        </p:blipFill>
        <p:spPr>
          <a:xfrm>
            <a:off x="714756" y="1481328"/>
            <a:ext cx="10777727" cy="2615184"/>
          </a:xfrm>
          <a:prstGeom prst="rect">
            <a:avLst/>
          </a:prstGeom>
        </p:spPr>
      </p:pic>
      <p:graphicFrame>
        <p:nvGraphicFramePr>
          <p:cNvPr id="7" name="Table 6"/>
          <p:cNvGraphicFramePr>
            <a:graphicFrameLocks noGrp="1"/>
          </p:cNvGraphicFramePr>
          <p:nvPr/>
        </p:nvGraphicFramePr>
        <p:xfrm>
          <a:off x="365760" y="4242816"/>
          <a:ext cx="11475717" cy="1188720"/>
        </p:xfrm>
        <a:graphic>
          <a:graphicData uri="http://schemas.openxmlformats.org/drawingml/2006/table">
            <a:tbl>
              <a:tblPr firstRow="1" bandRow="1">
                <a:tableStyleId>{5C22544A-7EE6-4342-B048-85BDC9FD1C3A}</a:tableStyleId>
              </a:tblPr>
              <a:tblGrid>
                <a:gridCol w="2075396"/>
                <a:gridCol w="1464985"/>
                <a:gridCol w="1464985"/>
                <a:gridCol w="1342903"/>
                <a:gridCol w="1342903"/>
                <a:gridCol w="2075396"/>
                <a:gridCol w="1709149"/>
              </a:tblGrid>
              <a:tr h="2971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σ_y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toughness kJ/m³</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PLA  S25</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3692</a:t>
                      </a:r>
                    </a:p>
                  </a:txBody>
                  <a:tcPr/>
                </a:tc>
              </a:tr>
              <a:tr h="297180">
                <a:tc>
                  <a:txBody>
                    <a:bodyPr lIns="54864" rIns="54864" tIns="18288" bIns="18288" wrap="square" anchor="ctr"/>
                    <a:lstStyle/>
                    <a:p>
                      <a:pPr algn="l"/>
                      <a:r>
                        <a:rPr sz="950" b="0">
                          <a:solidFill>
                            <a:srgbClr val="000000"/>
                          </a:solidFill>
                          <a:latin typeface="Calibri"/>
                        </a:rPr>
                        <a:t>PETG S30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31.51</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2715</a:t>
                      </a:r>
                    </a:p>
                  </a:txBody>
                  <a:tcPr/>
                </a:tc>
                <a:tc>
                  <a:txBody>
                    <a:bodyPr lIns="54864" rIns="54864" tIns="18288" bIns="18288" wrap="square" anchor="ctr"/>
                    <a:lstStyle/>
                    <a:p>
                      <a:pPr algn="l"/>
                      <a:r>
                        <a:rPr sz="950" b="0">
                          <a:solidFill>
                            <a:srgbClr val="000000"/>
                          </a:solidFill>
                          <a:latin typeface="Calibri"/>
                        </a:rPr>
                        <a:t>3340</a:t>
                      </a:r>
                    </a:p>
                  </a:txBody>
                  <a:tcPr/>
                </a:tc>
              </a:tr>
              <a:tr h="297180">
                <a:tc>
                  <a:txBody>
                    <a:bodyPr lIns="54864" rIns="54864" tIns="18288" bIns="18288" wrap="square" anchor="ctr"/>
                    <a:lstStyle/>
                    <a:p>
                      <a:pPr algn="l"/>
                      <a:r>
                        <a:rPr sz="950" b="0">
                          <a:solidFill>
                            <a:srgbClr val="000000"/>
                          </a:solidFill>
                          <a:latin typeface="Calibri"/>
                        </a:rPr>
                        <a:t>PETG vs PLA</a:t>
                      </a:r>
                    </a:p>
                  </a:txBody>
                  <a:tcPr/>
                </a:tc>
                <a:tc>
                  <a:txBody>
                    <a:bodyPr lIns="54864" rIns="54864" tIns="18288" bIns="18288" wrap="square" anchor="ctr"/>
                    <a:lstStyle/>
                    <a:p>
                      <a:pPr algn="l"/>
                      <a:r>
                        <a:rPr sz="950" b="0">
                          <a:solidFill>
                            <a:srgbClr val="000000"/>
                          </a:solidFill>
                          <a:latin typeface="Calibri"/>
                        </a:rPr>
                        <a:t>-9.6 %</a:t>
                      </a:r>
                    </a:p>
                  </a:txBody>
                  <a:tcPr/>
                </a:tc>
                <a:tc>
                  <a:txBody>
                    <a:bodyPr lIns="54864" rIns="54864" tIns="18288" bIns="18288" wrap="square" anchor="ctr"/>
                    <a:lstStyle/>
                    <a:p>
                      <a:pPr algn="l"/>
                      <a:r>
                        <a:rPr sz="950" b="0">
                          <a:solidFill>
                            <a:srgbClr val="000000"/>
                          </a:solidFill>
                          <a:latin typeface="Calibri"/>
                        </a:rPr>
                        <a:t>-20.9 %</a:t>
                      </a:r>
                    </a:p>
                  </a:txBody>
                  <a:tcPr/>
                </a:tc>
                <a:tc>
                  <a:txBody>
                    <a:bodyPr lIns="54864" rIns="54864" tIns="18288" bIns="18288" wrap="square" anchor="ctr"/>
                    <a:lstStyle/>
                    <a:p>
                      <a:pPr algn="l"/>
                      <a:r>
                        <a:rPr sz="950" b="0">
                          <a:solidFill>
                            <a:srgbClr val="000000"/>
                          </a:solidFill>
                          <a:latin typeface="Calibri"/>
                        </a:rPr>
                        <a:t>-42.9 %</a:t>
                      </a:r>
                    </a:p>
                  </a:txBody>
                  <a:tcPr/>
                </a:tc>
                <a:tc>
                  <a:txBody>
                    <a:bodyPr lIns="54864" rIns="54864" tIns="18288" bIns="18288" wrap="square" anchor="ctr"/>
                    <a:lstStyle/>
                    <a:p>
                      <a:pPr algn="l"/>
                      <a:r>
                        <a:rPr sz="950" b="0">
                          <a:solidFill>
                            <a:srgbClr val="000000"/>
                          </a:solidFill>
                          <a:latin typeface="Calibri"/>
                        </a:rPr>
                        <a:t>+87.1 %</a:t>
                      </a:r>
                    </a:p>
                  </a:txBody>
                  <a:tcPr/>
                </a:tc>
                <a:tc>
                  <a:txBody>
                    <a:bodyPr lIns="54864" rIns="54864" tIns="18288" bIns="18288" wrap="square" anchor="ctr"/>
                    <a:lstStyle/>
                    <a:p>
                      <a:pPr algn="l"/>
                      <a:r>
                        <a:rPr sz="950" b="0">
                          <a:solidFill>
                            <a:srgbClr val="000000"/>
                          </a:solidFill>
                          <a:latin typeface="Calibri"/>
                        </a:rPr>
                        <a:t>+73.6 %</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PETG trades STRENGTH AND STIFFNESS for TOUGHNESS: 90 % of PLA's UTS and 57 % of its modulus, but 87 % more strain before fracture and 74 % more energy absorbed. That is the classic PLA-vs-PETG trade, and the rig reproduced it unaided.</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S25 chosen as the PLA comparator: same frame-capture protocol, 100 % DIC coverage, and the closest run in date. S26 is drawn on the curve for context.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WHAT LITERATURE PREDICTS?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ORDERING is the prediction worth testing — absolute values move with spool, printer and settings, but which material wins each property does not.</a:t>
            </a:r>
          </a:p>
        </p:txBody>
      </p:sp>
      <p:graphicFrame>
        <p:nvGraphicFramePr>
          <p:cNvPr id="6" name="Table 5"/>
          <p:cNvGraphicFramePr>
            <a:graphicFrameLocks noGrp="1"/>
          </p:cNvGraphicFramePr>
          <p:nvPr/>
        </p:nvGraphicFramePr>
        <p:xfrm>
          <a:off x="365760" y="1517904"/>
          <a:ext cx="11475717" cy="1481328"/>
        </p:xfrm>
        <a:graphic>
          <a:graphicData uri="http://schemas.openxmlformats.org/drawingml/2006/table">
            <a:tbl>
              <a:tblPr firstRow="1" bandRow="1">
                <a:tableStyleId>{5C22544A-7EE6-4342-B048-85BDC9FD1C3A}</a:tableStyleId>
              </a:tblPr>
              <a:tblGrid>
                <a:gridCol w="2049235"/>
                <a:gridCol w="1946773"/>
                <a:gridCol w="1741850"/>
                <a:gridCol w="1741850"/>
                <a:gridCol w="1741850"/>
                <a:gridCol w="2254159"/>
              </a:tblGrid>
              <a:tr h="296265">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Literature says</a:t>
                      </a:r>
                    </a:p>
                  </a:txBody>
                  <a:tcPr>
                    <a:solidFill>
                      <a:srgbClr val="143D2F"/>
                    </a:solidFill>
                  </a:tcPr>
                </a:tc>
                <a:tc>
                  <a:txBody>
                    <a:bodyPr lIns="54864" rIns="54864" tIns="18288" bIns="18288" wrap="square" anchor="ctr"/>
                    <a:lstStyle/>
                    <a:p>
                      <a:pPr algn="l"/>
                      <a:r>
                        <a:rPr sz="1000" b="1">
                          <a:solidFill>
                            <a:srgbClr val="FFFFFF"/>
                          </a:solidFill>
                          <a:latin typeface="Calibri"/>
                        </a:rPr>
                        <a:t>We measured</a:t>
                      </a:r>
                    </a:p>
                  </a:txBody>
                  <a:tcPr>
                    <a:solidFill>
                      <a:srgbClr val="143D2F"/>
                    </a:solidFill>
                  </a:tcPr>
                </a:tc>
                <a:tc>
                  <a:txBody>
                    <a:bodyPr lIns="54864" rIns="54864" tIns="18288" bIns="18288" wrap="square" anchor="ctr"/>
                    <a:lstStyle/>
                    <a:p>
                      <a:pPr algn="l"/>
                      <a:r>
                        <a:rPr sz="1000" b="1">
                          <a:solidFill>
                            <a:srgbClr val="FFFFFF"/>
                          </a:solidFill>
                          <a:latin typeface="Calibri"/>
                        </a:rPr>
                        <a:t>PLA</a:t>
                      </a:r>
                    </a:p>
                  </a:txBody>
                  <a:tcPr>
                    <a:solidFill>
                      <a:srgbClr val="143D2F"/>
                    </a:solidFill>
                  </a:tcPr>
                </a:tc>
                <a:tc>
                  <a:txBody>
                    <a:bodyPr lIns="54864" rIns="54864" tIns="18288" bIns="18288" wrap="square" anchor="ctr"/>
                    <a:lstStyle/>
                    <a:p>
                      <a:pPr algn="l"/>
                      <a:r>
                        <a:rPr sz="1000" b="1">
                          <a:solidFill>
                            <a:srgbClr val="FFFFFF"/>
                          </a:solidFill>
                          <a:latin typeface="Calibri"/>
                        </a:rPr>
                        <a:t>PETG</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296265">
                <a:tc>
                  <a:txBody>
                    <a:bodyPr lIns="54864" rIns="54864" tIns="18288" bIns="18288" wrap="square" anchor="ctr"/>
                    <a:lstStyle/>
                    <a:p>
                      <a:pPr algn="l"/>
                      <a:r>
                        <a:rPr sz="950" b="0">
                          <a:solidFill>
                            <a:srgbClr val="000000"/>
                          </a:solidFill>
                          <a:latin typeface="Calibri"/>
                        </a:rPr>
                        <a:t>UTS</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46.16 MPa</a:t>
                      </a:r>
                    </a:p>
                  </a:txBody>
                  <a:tcPr/>
                </a:tc>
                <a:tc>
                  <a:txBody>
                    <a:bodyPr lIns="54864" rIns="54864" tIns="18288" bIns="18288" wrap="square" anchor="ctr"/>
                    <a:lstStyle/>
                    <a:p>
                      <a:pPr algn="l"/>
                      <a:r>
                        <a:rPr sz="950" b="0">
                          <a:solidFill>
                            <a:srgbClr val="000000"/>
                          </a:solidFill>
                          <a:latin typeface="Calibri"/>
                        </a:rPr>
                        <a:t>41.75 MPa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Stiffness E</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Ductility ε_f</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4.18 %</a:t>
                      </a:r>
                    </a:p>
                  </a:txBody>
                  <a:tcPr/>
                </a:tc>
                <a:tc>
                  <a:txBody>
                    <a:bodyPr lIns="54864" rIns="54864" tIns="18288" bIns="18288" wrap="square" anchor="ctr"/>
                    <a:lstStyle/>
                    <a:p>
                      <a:pPr algn="l"/>
                      <a:r>
                        <a:rPr sz="950" b="0">
                          <a:solidFill>
                            <a:srgbClr val="000000"/>
                          </a:solidFill>
                          <a:latin typeface="Calibri"/>
                        </a:rPr>
                        <a:t>7.81 %</a:t>
                      </a:r>
                    </a:p>
                  </a:txBody>
                  <a:tcPr/>
                </a:tc>
                <a:tc>
                  <a:txBody>
                    <a:bodyPr lIns="54864" rIns="54864" tIns="18288" bIns="18288" wrap="square" anchor="ctr"/>
                    <a:lstStyle/>
                    <a:p>
                      <a:pPr algn="l"/>
                      <a:r>
                        <a:rPr sz="950" b="0">
                          <a:solidFill>
                            <a:srgbClr val="000000"/>
                          </a:solidFill>
                          <a:latin typeface="Calibri"/>
                        </a:rPr>
                        <a:t>✔ as expected</a:t>
                      </a:r>
                    </a:p>
                  </a:txBody>
                  <a:tcPr/>
                </a:tc>
              </a:tr>
              <a:tr h="296268">
                <a:tc>
                  <a:txBody>
                    <a:bodyPr lIns="54864" rIns="54864" tIns="18288" bIns="18288" wrap="square" anchor="ctr"/>
                    <a:lstStyle/>
                    <a:p>
                      <a:pPr algn="l"/>
                      <a:r>
                        <a:rPr sz="950" b="0">
                          <a:solidFill>
                            <a:srgbClr val="000000"/>
                          </a:solidFill>
                          <a:latin typeface="Calibri"/>
                        </a:rPr>
                        <a:t>Toughness</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1564.11 kJ/m³</a:t>
                      </a:r>
                    </a:p>
                  </a:txBody>
                  <a:tcPr/>
                </a:tc>
                <a:tc>
                  <a:txBody>
                    <a:bodyPr lIns="54864" rIns="54864" tIns="18288" bIns="18288" wrap="square" anchor="ctr"/>
                    <a:lstStyle/>
                    <a:p>
                      <a:pPr algn="l"/>
                      <a:r>
                        <a:rPr sz="950" b="0">
                          <a:solidFill>
                            <a:srgbClr val="000000"/>
                          </a:solidFill>
                          <a:latin typeface="Calibri"/>
                        </a:rPr>
                        <a:t>2714.82 kJ/m³</a:t>
                      </a:r>
                    </a:p>
                  </a:txBody>
                  <a:tcPr/>
                </a:tc>
                <a:tc>
                  <a:txBody>
                    <a:bodyPr lIns="54864" rIns="54864" tIns="18288" bIns="18288" wrap="square" anchor="ctr"/>
                    <a:lstStyle/>
                    <a:p>
                      <a:pPr algn="l"/>
                      <a:r>
                        <a:rPr sz="950" b="0">
                          <a:solidFill>
                            <a:srgbClr val="000000"/>
                          </a:solidFill>
                          <a:latin typeface="Calibri"/>
                        </a:rPr>
                        <a:t>✔ as expected</a:t>
                      </a:r>
                    </a:p>
                  </a:txBody>
                  <a:tcPr/>
                </a:tc>
              </a:tr>
            </a:tbl>
          </a:graphicData>
        </a:graphic>
      </p:graphicFrame>
      <p:pic>
        <p:nvPicPr>
          <p:cNvPr id="7" name="Picture 6" descr="petg_expect.png"/>
          <p:cNvPicPr>
            <a:picLocks noChangeAspect="1"/>
          </p:cNvPicPr>
          <p:nvPr/>
        </p:nvPicPr>
        <p:blipFill>
          <a:blip r:embed="rId2"/>
          <a:stretch>
            <a:fillRect/>
          </a:stretch>
        </p:blipFill>
        <p:spPr>
          <a:xfrm>
            <a:off x="1295235" y="3127248"/>
            <a:ext cx="9616769" cy="2331720"/>
          </a:xfrm>
          <a:prstGeom prst="rect">
            <a:avLst/>
          </a:prstGeom>
        </p:spPr>
      </p:pic>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ALL FOUR PREDICTIONS HOLD. And the one MISS is shared: both materials sit ~7-8 % below the published UTS band while E and ε_f land inside it. A strength knock-down that is the SAME SIZE on two different polymers is the print process, not the instrument — the measurement is exonerated by the very thing that looked like a shortfall.</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Bands are typical published values for 100 % infill printed parts. The PETG spool's OWN datasheet has not been obtained — until it is, this is a sanity check on the ordering, not the like-for-like validation PLA has against add:north E-PLA.</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PLASTIC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After the peak, PETG draws: stress falls while strain keeps climbing. The RATE it falls at is a material response the toe and the grips cannot reach, which makes it a cleaner specimen-to-specimen comparison than UTS.</a:t>
            </a:r>
          </a:p>
        </p:txBody>
      </p:sp>
      <p:pic>
        <p:nvPicPr>
          <p:cNvPr id="6" name="Picture 5" descr="petg_plastic.png"/>
          <p:cNvPicPr>
            <a:picLocks noChangeAspect="1"/>
          </p:cNvPicPr>
          <p:nvPr/>
        </p:nvPicPr>
        <p:blipFill>
          <a:blip r:embed="rId2"/>
          <a:stretch>
            <a:fillRect/>
          </a:stretch>
        </p:blipFill>
        <p:spPr>
          <a:xfrm>
            <a:off x="790522" y="1499616"/>
            <a:ext cx="10626195" cy="2615183"/>
          </a:xfrm>
          <a:prstGeom prst="rect">
            <a:avLst/>
          </a:prstGeom>
        </p:spPr>
      </p:pic>
      <p:graphicFrame>
        <p:nvGraphicFramePr>
          <p:cNvPr id="7" name="Table 6"/>
          <p:cNvGraphicFramePr>
            <a:graphicFrameLocks noGrp="1"/>
          </p:cNvGraphicFramePr>
          <p:nvPr/>
        </p:nvGraphicFramePr>
        <p:xfrm>
          <a:off x="365760" y="4261104"/>
          <a:ext cx="6949438" cy="1188720"/>
        </p:xfrm>
        <a:graphic>
          <a:graphicData uri="http://schemas.openxmlformats.org/drawingml/2006/table">
            <a:tbl>
              <a:tblPr firstRow="1" bandRow="1">
                <a:tableStyleId>{5C22544A-7EE6-4342-B048-85BDC9FD1C3A}</a:tableStyleId>
              </a:tblPr>
              <a:tblGrid>
                <a:gridCol w="914400"/>
                <a:gridCol w="1005839"/>
                <a:gridCol w="2103120"/>
                <a:gridCol w="1005839"/>
                <a:gridCol w="1920240"/>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a:t>
                      </a:r>
                    </a:p>
                  </a:txBody>
                  <a:tcPr>
                    <a:solidFill>
                      <a:srgbClr val="143D2F"/>
                    </a:solidFill>
                  </a:tcPr>
                </a:tc>
                <a:tc>
                  <a:txBody>
                    <a:bodyPr lIns="54864" rIns="54864" tIns="18288" bIns="18288" wrap="square" anchor="ctr"/>
                    <a:lstStyle/>
                    <a:p>
                      <a:pPr algn="l"/>
                      <a:r>
                        <a:rPr sz="950" b="1">
                          <a:solidFill>
                            <a:srgbClr val="FFFFFF"/>
                          </a:solidFill>
                          <a:latin typeface="Calibri"/>
                        </a:rPr>
                        <a:t>dσ/dε  (MPa per % strain)</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Fitted over</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-2.361</a:t>
                      </a:r>
                    </a:p>
                  </a:txBody>
                  <a:tcPr/>
                </a:tc>
                <a:tc>
                  <a:txBody>
                    <a:bodyPr lIns="54864" rIns="54864" tIns="18288" bIns="18288" wrap="square" anchor="ctr"/>
                    <a:lstStyle/>
                    <a:p>
                      <a:pPr algn="l"/>
                      <a:r>
                        <a:rPr sz="950" b="0">
                          <a:solidFill>
                            <a:srgbClr val="000000"/>
                          </a:solidFill>
                          <a:latin typeface="Calibri"/>
                        </a:rPr>
                        <a:t>0.9837</a:t>
                      </a:r>
                    </a:p>
                  </a:txBody>
                  <a:tcPr/>
                </a:tc>
                <a:tc>
                  <a:txBody>
                    <a:bodyPr lIns="54864" rIns="54864" tIns="18288" bIns="18288" wrap="square" anchor="ctr"/>
                    <a:lstStyle/>
                    <a:p>
                      <a:pPr algn="l"/>
                      <a:r>
                        <a:rPr sz="950" b="0">
                          <a:solidFill>
                            <a:srgbClr val="000000"/>
                          </a:solidFill>
                          <a:latin typeface="Calibri"/>
                        </a:rPr>
                        <a:t>4.03 – 7.14 %</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-2.017</a:t>
                      </a:r>
                    </a:p>
                  </a:txBody>
                  <a:tcPr/>
                </a:tc>
                <a:tc>
                  <a:txBody>
                    <a:bodyPr lIns="54864" rIns="54864" tIns="18288" bIns="18288" wrap="square" anchor="ctr"/>
                    <a:lstStyle/>
                    <a:p>
                      <a:pPr algn="l"/>
                      <a:r>
                        <a:rPr sz="950" b="0">
                          <a:solidFill>
                            <a:srgbClr val="000000"/>
                          </a:solidFill>
                          <a:latin typeface="Calibri"/>
                        </a:rPr>
                        <a:t>0.9928</a:t>
                      </a:r>
                    </a:p>
                  </a:txBody>
                  <a:tcPr/>
                </a:tc>
                <a:tc>
                  <a:txBody>
                    <a:bodyPr lIns="54864" rIns="54864" tIns="18288" bIns="18288" wrap="square" anchor="ctr"/>
                    <a:lstStyle/>
                    <a:p>
                      <a:pPr algn="l"/>
                      <a:r>
                        <a:rPr sz="950" b="0">
                          <a:solidFill>
                            <a:srgbClr val="000000"/>
                          </a:solidFill>
                          <a:latin typeface="Calibri"/>
                        </a:rPr>
                        <a:t>4.31 – 7.35 %</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cannot be fitted</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curve ends 1.08 % past the peak</a:t>
                      </a:r>
                    </a:p>
                  </a:txBody>
                  <a:tcPr/>
                </a:tc>
              </a:tr>
            </a:tbl>
          </a:graphicData>
        </a:graphic>
      </p:graphicFrame>
      <p:sp>
        <p:nvSpPr>
          <p:cNvPr id="8" name="TextBox 7"/>
          <p:cNvSpPr txBox="1"/>
          <p:nvPr/>
        </p:nvSpPr>
        <p:spPr>
          <a:xfrm>
            <a:off x="7543800" y="4261104"/>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comparison survives S32's anchor</a:t>
            </a:r>
          </a:p>
        </p:txBody>
      </p:sp>
      <p:sp>
        <p:nvSpPr>
          <p:cNvPr id="9" name="TextBox 8"/>
          <p:cNvSpPr txBox="1"/>
          <p:nvPr/>
        </p:nvSpPr>
        <p:spPr>
          <a:xfrm>
            <a:off x="7543800" y="4590288"/>
            <a:ext cx="4297680" cy="1280160"/>
          </a:xfrm>
          <a:prstGeom prst="rect">
            <a:avLst/>
          </a:prstGeom>
          <a:noFill/>
        </p:spPr>
        <p:txBody>
          <a:bodyPr wrap="square" lIns="45720" rIns="45720" tIns="18288" bIns="18288" anchor="t">
            <a:spAutoFit/>
          </a:bodyPr>
          <a:lstStyle/>
          <a:p>
            <a:pPr algn="l"/>
            <a:r>
              <a:rPr sz="980" b="0" i="0">
                <a:solidFill>
                  <a:srgbClr val="000000"/>
                </a:solidFill>
                <a:latin typeface="Calibri"/>
              </a:rPr>
              <a:t>The failed anchor enters the stress axis as a CONSTANT OFFSET, and a constant cancels in any derivative. So S32's absolute UTS cannot be trusted while its SLOPES can — its E (1.78 GPa) already matches S30's (1.81), which is the same fact showing up twice.</a:t>
            </a:r>
          </a:p>
        </p:txBody>
      </p:sp>
      <p:sp>
        <p:nvSpPr>
          <p:cNvPr id="10" name="Rectangle 9"/>
          <p:cNvSpPr/>
          <p:nvPr/>
        </p:nvSpPr>
        <p:spPr>
          <a:xfrm>
            <a:off x="365760" y="5888736"/>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two runs that can be fitted agree to 15 % on the softening rate (-2.36 vs -2.02 MPa per % strain, both R² &gt; 0.98), and their curves lie almost on top of one another. For a first pass at a new material on this rig, that is a good result.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between 15 % and 85 % of the way from the UTS strain to fracture, so neither the turnover at the peak nor the last dying samples enter the 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ELASTIC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straight run at the very start of the curve. Compared over the SAME 0.05–0.35 % strain interval the MOT extensometer analysis used on p245–247, so the two sit on one basis instead of each inventing its own region.</a:t>
            </a:r>
          </a:p>
        </p:txBody>
      </p:sp>
      <p:pic>
        <p:nvPicPr>
          <p:cNvPr id="6" name="Picture 5" descr="petg_elastic.png"/>
          <p:cNvPicPr>
            <a:picLocks noChangeAspect="1"/>
          </p:cNvPicPr>
          <p:nvPr/>
        </p:nvPicPr>
        <p:blipFill>
          <a:blip r:embed="rId2"/>
          <a:stretch>
            <a:fillRect/>
          </a:stretch>
        </p:blipFill>
        <p:spPr>
          <a:xfrm>
            <a:off x="800100" y="1499616"/>
            <a:ext cx="10607040" cy="2651760"/>
          </a:xfrm>
          <a:prstGeom prst="rect">
            <a:avLst/>
          </a:prstGeom>
        </p:spPr>
      </p:pic>
      <p:graphicFrame>
        <p:nvGraphicFramePr>
          <p:cNvPr id="7" name="Table 6"/>
          <p:cNvGraphicFramePr>
            <a:graphicFrameLocks noGrp="1"/>
          </p:cNvGraphicFramePr>
          <p:nvPr/>
        </p:nvGraphicFramePr>
        <p:xfrm>
          <a:off x="365760" y="4297680"/>
          <a:ext cx="7223760" cy="1188720"/>
        </p:xfrm>
        <a:graphic>
          <a:graphicData uri="http://schemas.openxmlformats.org/drawingml/2006/table">
            <a:tbl>
              <a:tblPr firstRow="1" bandRow="1">
                <a:tableStyleId>{5C22544A-7EE6-4342-B048-85BDC9FD1C3A}</a:tableStyleId>
              </a:tblPr>
              <a:tblGrid>
                <a:gridCol w="812673"/>
                <a:gridCol w="1715643"/>
                <a:gridCol w="2438019"/>
                <a:gridCol w="1444752"/>
                <a:gridCol w="812673"/>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 in E window</a:t>
                      </a:r>
                    </a:p>
                  </a:txBody>
                  <a:tcPr>
                    <a:solidFill>
                      <a:srgbClr val="143D2F"/>
                    </a:solidFill>
                  </a:tcPr>
                </a:tc>
                <a:tc>
                  <a:txBody>
                    <a:bodyPr lIns="54864" rIns="54864" tIns="18288" bIns="18288" wrap="square" anchor="ctr"/>
                    <a:lstStyle/>
                    <a:p>
                      <a:pPr algn="l"/>
                      <a:r>
                        <a:rPr sz="950" b="1">
                          <a:solidFill>
                            <a:srgbClr val="FFFFFF"/>
                          </a:solidFill>
                          <a:latin typeface="Calibri"/>
                        </a:rPr>
                        <a:t>E — own steepest run</a:t>
                      </a:r>
                    </a:p>
                  </a:txBody>
                  <a:tcPr>
                    <a:solidFill>
                      <a:srgbClr val="143D2F"/>
                    </a:solidFill>
                  </a:tcPr>
                </a:tc>
                <a:tc>
                  <a:txBody>
                    <a:bodyPr lIns="54864" rIns="54864" tIns="18288" bIns="18288" wrap="square" anchor="ctr"/>
                    <a:lstStyle/>
                    <a:p>
                      <a:pPr algn="l"/>
                      <a:r>
                        <a:rPr sz="950" b="1">
                          <a:solidFill>
                            <a:srgbClr val="FFFFFF"/>
                          </a:solidFill>
                          <a:latin typeface="Calibri"/>
                        </a:rPr>
                        <a:t>E — 0.05–0.35 %</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1.808 GPa  (0.18–0.43 %)</a:t>
                      </a:r>
                    </a:p>
                  </a:txBody>
                  <a:tcPr/>
                </a:tc>
                <a:tc>
                  <a:txBody>
                    <a:bodyPr lIns="54864" rIns="54864" tIns="18288" bIns="18288" wrap="square" anchor="ctr"/>
                    <a:lstStyle/>
                    <a:p>
                      <a:pPr algn="l"/>
                      <a:r>
                        <a:rPr sz="950" b="0">
                          <a:solidFill>
                            <a:srgbClr val="000000"/>
                          </a:solidFill>
                          <a:latin typeface="Calibri"/>
                        </a:rPr>
                        <a:t>1.697 GPa</a:t>
                      </a:r>
                    </a:p>
                  </a:txBody>
                  <a:tcPr/>
                </a:tc>
                <a:tc>
                  <a:txBody>
                    <a:bodyPr lIns="54864" rIns="54864" tIns="18288" bIns="18288" wrap="square" anchor="ctr"/>
                    <a:lstStyle/>
                    <a:p>
                      <a:pPr algn="l"/>
                      <a:r>
                        <a:rPr sz="950" b="0">
                          <a:solidFill>
                            <a:srgbClr val="000000"/>
                          </a:solidFill>
                          <a:latin typeface="Calibri"/>
                        </a:rPr>
                        <a:t>0.9975</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2.122 GPa  (0.06–0.34 %)</a:t>
                      </a:r>
                    </a:p>
                  </a:txBody>
                  <a:tcPr/>
                </a:tc>
                <a:tc>
                  <a:txBody>
                    <a:bodyPr lIns="54864" rIns="54864" tIns="18288" bIns="18288" wrap="square" anchor="ctr"/>
                    <a:lstStyle/>
                    <a:p>
                      <a:pPr algn="l"/>
                      <a:r>
                        <a:rPr sz="950" b="0">
                          <a:solidFill>
                            <a:srgbClr val="000000"/>
                          </a:solidFill>
                          <a:latin typeface="Calibri"/>
                        </a:rPr>
                        <a:t>2.119 GPa</a:t>
                      </a:r>
                    </a:p>
                  </a:txBody>
                  <a:tcPr/>
                </a:tc>
                <a:tc>
                  <a:txBody>
                    <a:bodyPr lIns="54864" rIns="54864" tIns="18288" bIns="18288" wrap="square" anchor="ctr"/>
                    <a:lstStyle/>
                    <a:p>
                      <a:pPr algn="l"/>
                      <a:r>
                        <a:rPr sz="950" b="0">
                          <a:solidFill>
                            <a:srgbClr val="000000"/>
                          </a:solidFill>
                          <a:latin typeface="Calibri"/>
                        </a:rPr>
                        <a:t>0.9990</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1.778 GPa  (0.48–0.76 %)</a:t>
                      </a:r>
                    </a:p>
                  </a:txBody>
                  <a:tcPr/>
                </a:tc>
                <a:tc>
                  <a:txBody>
                    <a:bodyPr lIns="54864" rIns="54864" tIns="18288" bIns="18288" wrap="square" anchor="ctr"/>
                    <a:lstStyle/>
                    <a:p>
                      <a:pPr algn="l"/>
                      <a:r>
                        <a:rPr sz="950" b="0">
                          <a:solidFill>
                            <a:srgbClr val="000000"/>
                          </a:solidFill>
                          <a:latin typeface="Calibri"/>
                        </a:rPr>
                        <a:t>1.673 GPa</a:t>
                      </a:r>
                    </a:p>
                  </a:txBody>
                  <a:tcPr/>
                </a:tc>
                <a:tc>
                  <a:txBody>
                    <a:bodyPr lIns="54864" rIns="54864" tIns="18288" bIns="18288" wrap="square" anchor="ctr"/>
                    <a:lstStyle/>
                    <a:p>
                      <a:pPr algn="l"/>
                      <a:r>
                        <a:rPr sz="950" b="0">
                          <a:solidFill>
                            <a:srgbClr val="000000"/>
                          </a:solidFill>
                          <a:latin typeface="Calibri"/>
                        </a:rPr>
                        <a:t>0.9988</a:t>
                      </a:r>
                    </a:p>
                  </a:txBody>
                  <a:tcPr/>
                </a:tc>
              </a:tr>
            </a:tbl>
          </a:graphicData>
        </a:graphic>
      </p:graphicFrame>
      <p:sp>
        <p:nvSpPr>
          <p:cNvPr id="8" name="TextBox 7"/>
          <p:cNvSpPr txBox="1"/>
          <p:nvPr/>
        </p:nvSpPr>
        <p:spPr>
          <a:xfrm>
            <a:off x="7818120" y="4297680"/>
            <a:ext cx="40233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this settles</a:t>
            </a:r>
          </a:p>
        </p:txBody>
      </p:sp>
      <p:sp>
        <p:nvSpPr>
          <p:cNvPr id="9" name="TextBox 8"/>
          <p:cNvSpPr txBox="1"/>
          <p:nvPr/>
        </p:nvSpPr>
        <p:spPr>
          <a:xfrm>
            <a:off x="7818120" y="4626864"/>
            <a:ext cx="4023360" cy="1371600"/>
          </a:xfrm>
          <a:prstGeom prst="rect">
            <a:avLst/>
          </a:prstGeom>
          <a:noFill/>
        </p:spPr>
        <p:txBody>
          <a:bodyPr wrap="square" lIns="45720" rIns="45720" tIns="18288" bIns="18288" anchor="t">
            <a:spAutoFit/>
          </a:bodyPr>
          <a:lstStyle/>
          <a:p>
            <a:pPr algn="l"/>
            <a:r>
              <a:rPr sz="960" b="0" i="0">
                <a:solidFill>
                  <a:srgbClr val="000000"/>
                </a:solidFill>
                <a:latin typeface="Calibri"/>
              </a:rPr>
              <a:t>S31's STIFFNESS IS SOUND even though its run is not — all three tracked 100 % of the samples inside their elastic window, because its dropouts came later. It carries E as well as strength; only ε_f and toughness are lost.
And the fit WINDOW is not what separates them: S31 reads the same 2.12 either way.</a:t>
            </a:r>
          </a:p>
        </p:txBody>
      </p:sp>
      <p:sp>
        <p:nvSpPr>
          <p:cNvPr id="10" name="Rectangle 9"/>
          <p:cNvSpPr/>
          <p:nvPr/>
        </p:nvSpPr>
        <p:spPr>
          <a:xfrm>
            <a:off x="365760" y="5815584"/>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S30 AND S32 AGREE TO 1.4 % (1.697 vs 1.673 GPa) AND LIE ON TOP OF ONE ANOTHER. S31 sits 26 % stiffer than both — a real specimen difference, not a fit artefact. Quoting a single 19 % spread would have hidden a clean pair and one outlier.</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each run fitted over its OWN steepest straight run (shaded) — S32's sits later because its toe is longer. Right: the same three refitted over one common window, which removes the fit rule from the comparison.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95A — WHY AN ELASTOMER IS A DIFFERENT TEST ON THE SAME RIG</a:t>
            </a:r>
          </a:p>
        </p:txBody>
      </p:sp>
      <p:sp>
        <p:nvSpPr>
          <p:cNvPr id="5" name="TextBox 4"/>
          <p:cNvSpPr txBox="1"/>
          <p:nvPr/>
        </p:nvSpPr>
        <p:spPr>
          <a:xfrm>
            <a:off x="457200" y="12344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change, and why</a:t>
            </a:r>
          </a:p>
        </p:txBody>
      </p:sp>
      <p:graphicFrame>
        <p:nvGraphicFramePr>
          <p:cNvPr id="6" name="Table 5"/>
          <p:cNvGraphicFramePr>
            <a:graphicFrameLocks noGrp="1"/>
          </p:cNvGraphicFramePr>
          <p:nvPr/>
        </p:nvGraphicFramePr>
        <p:xfrm>
          <a:off x="457200" y="1600200"/>
          <a:ext cx="5577840" cy="2788920"/>
        </p:xfrm>
        <a:graphic>
          <a:graphicData uri="http://schemas.openxmlformats.org/drawingml/2006/table">
            <a:tbl>
              <a:tblPr firstRow="1" bandRow="1">
                <a:tableStyleId>{5C22544A-7EE6-4342-B048-85BDC9FD1C3A}</a:tableStyleId>
              </a:tblPr>
              <a:tblGrid>
                <a:gridCol w="822960"/>
                <a:gridCol w="822960"/>
                <a:gridCol w="822960"/>
                <a:gridCol w="3108960"/>
              </a:tblGrid>
              <a:tr h="46482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PLA / PETG</a:t>
                      </a:r>
                    </a:p>
                  </a:txBody>
                  <a:tcPr>
                    <a:solidFill>
                      <a:srgbClr val="143D2F"/>
                    </a:solidFill>
                  </a:tcPr>
                </a:tc>
                <a:tc>
                  <a:txBody>
                    <a:bodyPr lIns="54864" rIns="54864" tIns="18288" bIns="18288" wrap="square" anchor="ctr"/>
                    <a:lstStyle/>
                    <a:p>
                      <a:pPr algn="l"/>
                      <a:r>
                        <a:rPr sz="950" b="1">
                          <a:solidFill>
                            <a:srgbClr val="FFFFFF"/>
                          </a:solidFill>
                          <a:latin typeface="Calibri"/>
                        </a:rPr>
                        <a:t>TPU</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64820">
                <a:tc>
                  <a:txBody>
                    <a:bodyPr lIns="54864" rIns="54864" tIns="18288" bIns="18288" wrap="square" anchor="ctr"/>
                    <a:lstStyle/>
                    <a:p>
                      <a:pPr algn="l"/>
                      <a:r>
                        <a:rPr sz="860" b="0">
                          <a:solidFill>
                            <a:srgbClr val="000000"/>
                          </a:solidFill>
                          <a:latin typeface="Calibri"/>
                        </a:rPr>
                        <a:t>Preload</a:t>
                      </a:r>
                    </a:p>
                  </a:txBody>
                  <a:tcPr/>
                </a:tc>
                <a:tc>
                  <a:txBody>
                    <a:bodyPr lIns="54864" rIns="54864" tIns="18288" bIns="18288" wrap="square" anchor="ctr"/>
                    <a:lstStyle/>
                    <a:p>
                      <a:pPr algn="l"/>
                      <a:r>
                        <a:rPr sz="860" b="0">
                          <a:solidFill>
                            <a:srgbClr val="000000"/>
                          </a:solidFill>
                          <a:latin typeface="Calibri"/>
                        </a:rPr>
                        <a:t>300 N</a:t>
                      </a:r>
                    </a:p>
                  </a:txBody>
                  <a:tcPr/>
                </a:tc>
                <a:tc>
                  <a:txBody>
                    <a:bodyPr lIns="54864" rIns="54864" tIns="18288" bIns="18288" wrap="square" anchor="ctr"/>
                    <a:lstStyle/>
                    <a:p>
                      <a:pPr algn="l"/>
                      <a:r>
                        <a:rPr sz="860" b="0">
                          <a:solidFill>
                            <a:srgbClr val="000000"/>
                          </a:solidFill>
                          <a:latin typeface="Calibri"/>
                        </a:rPr>
                        <a:t>20 N</a:t>
                      </a:r>
                    </a:p>
                  </a:txBody>
                  <a:tcPr/>
                </a:tc>
                <a:tc>
                  <a:txBody>
                    <a:bodyPr lIns="54864" rIns="54864" tIns="18288" bIns="18288" wrap="square" anchor="ctr"/>
                    <a:lstStyle/>
                    <a:p>
                      <a:pPr algn="l"/>
                      <a:r>
                        <a:rPr sz="860" b="0">
                          <a:solidFill>
                            <a:srgbClr val="000000"/>
                          </a:solidFill>
                          <a:latin typeface="Calibri"/>
                        </a:rPr>
                        <a:t>300 N is ~0.15 % strain on PLA but a large part of TPU's elastic range — it would be tared away</a:t>
                      </a:r>
                    </a:p>
                  </a:txBody>
                  <a:tcPr/>
                </a:tc>
              </a:tr>
              <a:tr h="464820">
                <a:tc>
                  <a:txBody>
                    <a:bodyPr lIns="54864" rIns="54864" tIns="18288" bIns="18288" wrap="square" anchor="ctr"/>
                    <a:lstStyle/>
                    <a:p>
                      <a:pPr algn="l"/>
                      <a:r>
                        <a:rPr sz="860" b="0">
                          <a:solidFill>
                            <a:srgbClr val="000000"/>
                          </a:solidFill>
                          <a:latin typeface="Calibri"/>
                        </a:rPr>
                        <a:t>Auto-stop</a:t>
                      </a:r>
                    </a:p>
                  </a:txBody>
                  <a:tcPr/>
                </a:tc>
                <a:tc>
                  <a:txBody>
                    <a:bodyPr lIns="54864" rIns="54864" tIns="18288" bIns="18288" wrap="square" anchor="ctr"/>
                    <a:lstStyle/>
                    <a:p>
                      <a:pPr algn="l"/>
                      <a:r>
                        <a:rPr sz="860" b="0">
                          <a:solidFill>
                            <a:srgbClr val="000000"/>
                          </a:solidFill>
                          <a:latin typeface="Calibri"/>
                        </a:rPr>
                        <a:t>armed</a:t>
                      </a:r>
                    </a:p>
                  </a:txBody>
                  <a:tcPr/>
                </a:tc>
                <a:tc>
                  <a:txBody>
                    <a:bodyPr lIns="54864" rIns="54864" tIns="18288" bIns="18288" wrap="square" anchor="ctr"/>
                    <a:lstStyle/>
                    <a:p>
                      <a:pPr algn="l"/>
                      <a:r>
                        <a:rPr sz="860" b="0">
                          <a:solidFill>
                            <a:srgbClr val="000000"/>
                          </a:solidFill>
                          <a:latin typeface="Calibri"/>
                        </a:rPr>
                        <a:t>OFF</a:t>
                      </a:r>
                    </a:p>
                  </a:txBody>
                  <a:tcPr/>
                </a:tc>
                <a:tc>
                  <a:txBody>
                    <a:bodyPr lIns="54864" rIns="54864" tIns="18288" bIns="18288" wrap="square" anchor="ctr"/>
                    <a:lstStyle/>
                    <a:p>
                      <a:pPr algn="l"/>
                      <a:r>
                        <a:rPr sz="860" b="0">
                          <a:solidFill>
                            <a:srgbClr val="000000"/>
                          </a:solidFill>
                          <a:latin typeface="Calibri"/>
                        </a:rPr>
                        <a:t>watches for a load COLLAPSE; a drawing elastomer never produces one, so armed it can only misfire</a:t>
                      </a:r>
                    </a:p>
                  </a:txBody>
                  <a:tcPr/>
                </a:tc>
              </a:tr>
              <a:tr h="464820">
                <a:tc>
                  <a:txBody>
                    <a:bodyPr lIns="54864" rIns="54864" tIns="18288" bIns="18288" wrap="square" anchor="ctr"/>
                    <a:lstStyle/>
                    <a:p>
                      <a:pPr algn="l"/>
                      <a:r>
                        <a:rPr sz="860" b="0">
                          <a:solidFill>
                            <a:srgbClr val="000000"/>
                          </a:solidFill>
                          <a:latin typeface="Calibri"/>
                        </a:rPr>
                        <a:t>Strain cap</a:t>
                      </a:r>
                    </a:p>
                  </a:txBody>
                  <a:tcPr/>
                </a:tc>
                <a:tc>
                  <a:txBody>
                    <a:bodyPr lIns="54864" rIns="54864" tIns="18288" bIns="18288" wrap="square" anchor="ctr"/>
                    <a:lstStyle/>
                    <a:p>
                      <a:pPr algn="l"/>
                      <a:r>
                        <a:rPr sz="860" b="0">
                          <a:solidFill>
                            <a:srgbClr val="000000"/>
                          </a:solidFill>
                          <a:latin typeface="Calibri"/>
                        </a:rPr>
                        <a:t>25 %</a:t>
                      </a:r>
                    </a:p>
                  </a:txBody>
                  <a:tcPr/>
                </a:tc>
                <a:tc>
                  <a:txBody>
                    <a:bodyPr lIns="54864" rIns="54864" tIns="18288" bIns="18288" wrap="square" anchor="ctr"/>
                    <a:lstStyle/>
                    <a:p>
                      <a:pPr algn="l"/>
                      <a:r>
                        <a:rPr sz="860" b="0">
                          <a:solidFill>
                            <a:srgbClr val="000000"/>
                          </a:solidFill>
                          <a:latin typeface="Calibri"/>
                        </a:rPr>
                        <a:t>60 %</a:t>
                      </a:r>
                    </a:p>
                  </a:txBody>
                  <a:tcPr/>
                </a:tc>
                <a:tc>
                  <a:txBody>
                    <a:bodyPr lIns="54864" rIns="54864" tIns="18288" bIns="18288" wrap="square" anchor="ctr"/>
                    <a:lstStyle/>
                    <a:p>
                      <a:pPr algn="l"/>
                      <a:r>
                        <a:rPr sz="860" b="0">
                          <a:solidFill>
                            <a:srgbClr val="000000"/>
                          </a:solidFill>
                          <a:latin typeface="Calibri"/>
                        </a:rPr>
                        <a:t>the DIC calls a bigger separation a lost marker; TPU reaches the rig's travel limit as REAL strain</a:t>
                      </a:r>
                    </a:p>
                  </a:txBody>
                  <a:tcPr/>
                </a:tc>
              </a:tr>
              <a:tr h="464820">
                <a:tc>
                  <a:txBody>
                    <a:bodyPr lIns="54864" rIns="54864" tIns="18288" bIns="18288" wrap="square" anchor="ctr"/>
                    <a:lstStyle/>
                    <a:p>
                      <a:pPr algn="l"/>
                      <a:r>
                        <a:rPr sz="860" b="0">
                          <a:solidFill>
                            <a:srgbClr val="000000"/>
                          </a:solidFill>
                          <a:latin typeface="Calibri"/>
                        </a:rPr>
                        <a:t>Marker gate</a:t>
                      </a:r>
                    </a:p>
                  </a:txBody>
                  <a:tcPr/>
                </a:tc>
                <a:tc>
                  <a:txBody>
                    <a:bodyPr lIns="54864" rIns="54864" tIns="18288" bIns="18288" wrap="square" anchor="ctr"/>
                    <a:lstStyle/>
                    <a:p>
                      <a:pPr algn="l"/>
                      <a:r>
                        <a:rPr sz="860" b="0">
                          <a:solidFill>
                            <a:srgbClr val="000000"/>
                          </a:solidFill>
                          <a:latin typeface="Calibri"/>
                        </a:rPr>
                        <a:t>0.40</a:t>
                      </a:r>
                    </a:p>
                  </a:txBody>
                  <a:tcPr/>
                </a:tc>
                <a:tc>
                  <a:txBody>
                    <a:bodyPr lIns="54864" rIns="54864" tIns="18288" bIns="18288" wrap="square" anchor="ctr"/>
                    <a:lstStyle/>
                    <a:p>
                      <a:pPr algn="l"/>
                      <a:r>
                        <a:rPr sz="860" b="0">
                          <a:solidFill>
                            <a:srgbClr val="000000"/>
                          </a:solidFill>
                          <a:latin typeface="Calibri"/>
                        </a:rPr>
                        <a:t>0.25</a:t>
                      </a:r>
                    </a:p>
                  </a:txBody>
                  <a:tcPr/>
                </a:tc>
                <a:tc>
                  <a:txBody>
                    <a:bodyPr lIns="54864" rIns="54864" tIns="18288" bIns="18288" wrap="square" anchor="ctr"/>
                    <a:lstStyle/>
                    <a:p>
                      <a:pPr algn="l"/>
                      <a:r>
                        <a:rPr sz="860" b="0">
                          <a:solidFill>
                            <a:srgbClr val="000000"/>
                          </a:solidFill>
                          <a:latin typeface="Calibri"/>
                        </a:rPr>
                        <a:t>sprayed dots on TPU score 0.50-0.65 roundness against 0.76 for a clean dot</a:t>
                      </a:r>
                    </a:p>
                  </a:txBody>
                  <a:tcPr/>
                </a:tc>
              </a:tr>
              <a:tr h="464820">
                <a:tc>
                  <a:txBody>
                    <a:bodyPr lIns="54864" rIns="54864" tIns="18288" bIns="18288" wrap="square" anchor="ctr"/>
                    <a:lstStyle/>
                    <a:p>
                      <a:pPr algn="l"/>
                      <a:r>
                        <a:rPr sz="860" b="0">
                          <a:solidFill>
                            <a:srgbClr val="000000"/>
                          </a:solidFill>
                          <a:latin typeface="Calibri"/>
                        </a:rPr>
                        <a:t>Ends at</a:t>
                      </a:r>
                    </a:p>
                  </a:txBody>
                  <a:tcPr/>
                </a:tc>
                <a:tc>
                  <a:txBody>
                    <a:bodyPr lIns="54864" rIns="54864" tIns="18288" bIns="18288" wrap="square" anchor="ctr"/>
                    <a:lstStyle/>
                    <a:p>
                      <a:pPr algn="l"/>
                      <a:r>
                        <a:rPr sz="860" b="0">
                          <a:solidFill>
                            <a:srgbClr val="000000"/>
                          </a:solidFill>
                          <a:latin typeface="Calibri"/>
                        </a:rPr>
                        <a:t>fracture</a:t>
                      </a:r>
                    </a:p>
                  </a:txBody>
                  <a:tcPr/>
                </a:tc>
                <a:tc>
                  <a:txBody>
                    <a:bodyPr lIns="54864" rIns="54864" tIns="18288" bIns="18288" wrap="square" anchor="ctr"/>
                    <a:lstStyle/>
                    <a:p>
                      <a:pPr algn="l"/>
                      <a:r>
                        <a:rPr sz="860" b="0">
                          <a:solidFill>
                            <a:srgbClr val="000000"/>
                          </a:solidFill>
                          <a:latin typeface="Calibri"/>
                        </a:rPr>
                        <a:t>28 mm travel</a:t>
                      </a:r>
                    </a:p>
                  </a:txBody>
                  <a:tcPr/>
                </a:tc>
                <a:tc>
                  <a:txBody>
                    <a:bodyPr lIns="54864" rIns="54864" tIns="18288" bIns="18288" wrap="square" anchor="ctr"/>
                    <a:lstStyle/>
                    <a:p>
                      <a:pPr algn="l"/>
                      <a:r>
                        <a:rPr sz="860" b="0">
                          <a:solidFill>
                            <a:srgbClr val="000000"/>
                          </a:solidFill>
                          <a:latin typeface="Calibri"/>
                        </a:rPr>
                        <a:t>TPU does not break: the run has to end on a travel target instead</a:t>
                      </a:r>
                    </a:p>
                  </a:txBody>
                  <a:tcPr/>
                </a:tc>
              </a:tr>
            </a:tbl>
          </a:graphicData>
        </a:graphic>
      </p:graphicFrame>
      <p:sp>
        <p:nvSpPr>
          <p:cNvPr id="7" name="TextBox 6"/>
          <p:cNvSpPr txBox="1"/>
          <p:nvPr/>
        </p:nvSpPr>
        <p:spPr>
          <a:xfrm>
            <a:off x="6309360" y="123444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8" name="Table 7"/>
          <p:cNvGraphicFramePr>
            <a:graphicFrameLocks noGrp="1"/>
          </p:cNvGraphicFramePr>
          <p:nvPr/>
        </p:nvGraphicFramePr>
        <p:xfrm>
          <a:off x="6309360" y="1600200"/>
          <a:ext cx="5532119" cy="1371600"/>
        </p:xfrm>
        <a:graphic>
          <a:graphicData uri="http://schemas.openxmlformats.org/drawingml/2006/table">
            <a:tbl>
              <a:tblPr firstRow="1" bandRow="1">
                <a:tableStyleId>{5C22544A-7EE6-4342-B048-85BDC9FD1C3A}</a:tableStyleId>
              </a:tblPr>
              <a:tblGrid>
                <a:gridCol w="2479915"/>
                <a:gridCol w="3052204"/>
              </a:tblGrid>
              <a:tr h="27432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 mm</a:t>
                      </a:r>
                    </a:p>
                  </a:txBody>
                  <a:tcPr/>
                </a:tc>
              </a:tr>
              <a:tr h="274320">
                <a:tc>
                  <a:txBody>
                    <a:bodyPr lIns="54864" rIns="54864" tIns="18288" bIns="18288" wrap="square" anchor="ctr"/>
                    <a:lstStyle/>
                    <a:p>
                      <a:pPr algn="l"/>
                      <a:r>
                        <a:rPr sz="900" b="0">
                          <a:solidFill>
                            <a:srgbClr val="000000"/>
                          </a:solidFill>
                          <a:latin typeface="Calibri"/>
                        </a:rPr>
                        <a:t>Cross-section</a:t>
                      </a:r>
                    </a:p>
                  </a:txBody>
                  <a:tcPr/>
                </a:tc>
                <a:tc>
                  <a:txBody>
                    <a:bodyPr lIns="54864" rIns="54864" tIns="18288" bIns="18288" wrap="square" anchor="ctr"/>
                    <a:lstStyle/>
                    <a:p>
                      <a:pPr algn="l"/>
                      <a:r>
                        <a:rPr sz="900" b="0">
                          <a:solidFill>
                            <a:srgbClr val="000000"/>
                          </a:solidFill>
                          <a:latin typeface="Calibri"/>
                        </a:rPr>
                        <a:t>80 mm² (CAD-verified)</a:t>
                      </a:r>
                    </a:p>
                  </a:txBody>
                  <a:tcPr/>
                </a:tc>
              </a:tr>
              <a:tr h="274320">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74320">
                <a:tc>
                  <a:txBody>
                    <a:bodyPr lIns="54864" rIns="54864" tIns="18288" bIns="18288" wrap="square" anchor="ctr"/>
                    <a:lstStyle/>
                    <a:p>
                      <a:pPr algn="l"/>
                      <a:r>
                        <a:rPr sz="900" b="0">
                          <a:solidFill>
                            <a:srgbClr val="000000"/>
                          </a:solidFill>
                          <a:latin typeface="Calibri"/>
                        </a:rPr>
                        <a:t>Marker method</a:t>
                      </a:r>
                    </a:p>
                  </a:txBody>
                  <a:tcPr/>
                </a:tc>
                <a:tc>
                  <a:txBody>
                    <a:bodyPr lIns="54864" rIns="54864" tIns="18288" bIns="18288" wrap="square" anchor="ctr"/>
                    <a:lstStyle/>
                    <a:p>
                      <a:pPr algn="l"/>
                      <a:r>
                        <a:rPr sz="900" b="0">
                          <a:solidFill>
                            <a:srgbClr val="000000"/>
                          </a:solidFill>
                          <a:latin typeface="Calibri"/>
                        </a:rPr>
                        <a:t>spray dots, same batch of paint</a:t>
                      </a:r>
                    </a:p>
                  </a:txBody>
                  <a:tcPr/>
                </a:tc>
              </a:tr>
            </a:tbl>
          </a:graphicData>
        </a:graphic>
      </p:graphicFrame>
      <p:sp>
        <p:nvSpPr>
          <p:cNvPr id="9" name="TextBox 8"/>
          <p:cNvSpPr txBox="1"/>
          <p:nvPr/>
        </p:nvSpPr>
        <p:spPr>
          <a:xfrm>
            <a:off x="6309360" y="3154680"/>
            <a:ext cx="5532120" cy="1280160"/>
          </a:xfrm>
          <a:prstGeom prst="rect">
            <a:avLst/>
          </a:prstGeom>
          <a:noFill/>
        </p:spPr>
        <p:txBody>
          <a:bodyPr wrap="square" lIns="45720" rIns="45720" tIns="18288" bIns="18288" anchor="t">
            <a:spAutoFit/>
          </a:bodyPr>
          <a:lstStyle/>
          <a:p>
            <a:pPr algn="l"/>
            <a:r>
              <a:rPr sz="1000" b="0" i="0">
                <a:solidFill>
                  <a:srgbClr val="000000"/>
                </a:solidFill>
                <a:latin typeface="Calibri"/>
              </a:rPr>
              <a:t>Everything in the left table is a property of the MATERIAL. Everything here is a property of the TEST. Keeping the second column fixed is what makes PLA, PETG and TPU comparable at all — a different gauge or rate would confound the modulus we are about to compare.
All five left-hand settings ride with a saved 'TPU' profile, so they move together in one click and revert together. None of them is a constant edited before a run.</a:t>
            </a:r>
          </a:p>
        </p:txBody>
      </p:sp>
      <p:sp>
        <p:nvSpPr>
          <p:cNvPr id="10" name="Rounded Rectangle 9"/>
          <p:cNvSpPr/>
          <p:nvPr/>
        </p:nvSpPr>
        <p:spPr>
          <a:xfrm>
            <a:off x="45720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S35 – S37</a:t>
            </a:r>
          </a:p>
          <a:p>
            <a:pPr algn="ctr"/>
            <a:r>
              <a:rPr sz="950">
                <a:solidFill>
                  <a:srgbClr val="000000"/>
                </a:solidFill>
                <a:latin typeface="Calibri"/>
              </a:rPr>
              <a:t>Specimens</a:t>
            </a:r>
          </a:p>
        </p:txBody>
      </p:sp>
      <p:sp>
        <p:nvSpPr>
          <p:cNvPr id="11" name="Rounded Rectangle 10"/>
          <p:cNvSpPr/>
          <p:nvPr/>
        </p:nvSpPr>
        <p:spPr>
          <a:xfrm>
            <a:off x="242316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24.6 MPa</a:t>
            </a:r>
          </a:p>
          <a:p>
            <a:pPr algn="ctr"/>
            <a:r>
              <a:rPr sz="950">
                <a:solidFill>
                  <a:srgbClr val="000000"/>
                </a:solidFill>
                <a:latin typeface="Calibri"/>
              </a:rPr>
              <a:t>E (mean)</a:t>
            </a:r>
          </a:p>
        </p:txBody>
      </p:sp>
      <p:sp>
        <p:nvSpPr>
          <p:cNvPr id="12" name="Rounded Rectangle 11"/>
          <p:cNvSpPr/>
          <p:nvPr/>
        </p:nvSpPr>
        <p:spPr>
          <a:xfrm>
            <a:off x="438912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2.4 % spread</a:t>
            </a:r>
          </a:p>
          <a:p>
            <a:pPr algn="ctr"/>
            <a:r>
              <a:rPr sz="950">
                <a:solidFill>
                  <a:srgbClr val="000000"/>
                </a:solidFill>
                <a:latin typeface="Calibri"/>
              </a:rPr>
              <a:t>Run-to-run</a:t>
            </a:r>
          </a:p>
        </p:txBody>
      </p:sp>
      <p:sp>
        <p:nvSpPr>
          <p:cNvPr id="13" name="Rounded Rectangle 12"/>
          <p:cNvSpPr/>
          <p:nvPr/>
        </p:nvSpPr>
        <p:spPr>
          <a:xfrm>
            <a:off x="635508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2.35 MPa</a:t>
            </a:r>
          </a:p>
          <a:p>
            <a:pPr algn="ctr"/>
            <a:r>
              <a:rPr sz="950">
                <a:solidFill>
                  <a:srgbClr val="000000"/>
                </a:solidFill>
                <a:latin typeface="Calibri"/>
              </a:rPr>
              <a:t>Peak stress</a:t>
            </a:r>
          </a:p>
        </p:txBody>
      </p:sp>
      <p:sp>
        <p:nvSpPr>
          <p:cNvPr id="14" name="Rounded Rectangle 13"/>
          <p:cNvSpPr/>
          <p:nvPr/>
        </p:nvSpPr>
        <p:spPr>
          <a:xfrm>
            <a:off x="832104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14.3 %</a:t>
            </a:r>
          </a:p>
          <a:p>
            <a:pPr algn="ctr"/>
            <a:r>
              <a:rPr sz="950">
                <a:solidFill>
                  <a:srgbClr val="000000"/>
                </a:solidFill>
                <a:latin typeface="Calibri"/>
              </a:rPr>
              <a:t>Strain reached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TPU 95A, 100 % infill, same 80 mm gauge and 80 mm² section as every PLA and PETG specimen in this deck.</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TPU RUNS STOP AT ~15 mm — THE FRAME, NOT THE SPECIMEN</a:t>
            </a:r>
          </a:p>
        </p:txBody>
      </p:sp>
      <p:pic>
        <p:nvPicPr>
          <p:cNvPr id="5" name="Picture 4" descr="tpu_framing.png"/>
          <p:cNvPicPr>
            <a:picLocks noChangeAspect="1"/>
          </p:cNvPicPr>
          <p:nvPr/>
        </p:nvPicPr>
        <p:blipFill>
          <a:blip r:embed="rId2"/>
          <a:stretch>
            <a:fillRect/>
          </a:stretch>
        </p:blipFill>
        <p:spPr>
          <a:xfrm>
            <a:off x="365760" y="1170432"/>
            <a:ext cx="11430000" cy="2902857"/>
          </a:xfrm>
          <a:prstGeom prst="rect">
            <a:avLst/>
          </a:prstGeom>
        </p:spPr>
      </p:pic>
      <p:sp>
        <p:nvSpPr>
          <p:cNvPr id="6" name="TextBox 5"/>
          <p:cNvSpPr txBox="1"/>
          <p:nvPr/>
        </p:nvSpPr>
        <p:spPr>
          <a:xfrm>
            <a:off x="457200" y="42793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of hard limits</a:t>
            </a:r>
          </a:p>
        </p:txBody>
      </p:sp>
      <p:graphicFrame>
        <p:nvGraphicFramePr>
          <p:cNvPr id="7" name="Table 6"/>
          <p:cNvGraphicFramePr>
            <a:graphicFrameLocks noGrp="1"/>
          </p:cNvGraphicFramePr>
          <p:nvPr/>
        </p:nvGraphicFramePr>
        <p:xfrm>
          <a:off x="457200" y="4617720"/>
          <a:ext cx="5577839" cy="960120"/>
        </p:xfrm>
        <a:graphic>
          <a:graphicData uri="http://schemas.openxmlformats.org/drawingml/2006/table">
            <a:tbl>
              <a:tblPr firstRow="1" bandRow="1">
                <a:tableStyleId>{5C22544A-7EE6-4342-B048-85BDC9FD1C3A}</a:tableStyleId>
              </a:tblPr>
              <a:tblGrid>
                <a:gridCol w="2359855"/>
                <a:gridCol w="1072661"/>
                <a:gridCol w="2145323"/>
              </a:tblGrid>
              <a:tr h="192024">
                <a:tc>
                  <a:txBody>
                    <a:bodyPr lIns="54864" rIns="54864" tIns="18288" bIns="18288" wrap="square" anchor="ctr"/>
                    <a:lstStyle/>
                    <a:p>
                      <a:pPr algn="l"/>
                      <a:r>
                        <a:rPr sz="950" b="1">
                          <a:solidFill>
                            <a:srgbClr val="FFFFFF"/>
                          </a:solidFill>
                          <a:latin typeface="Calibri"/>
                        </a:rPr>
                        <a:t>Limit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Can it be relaxed?</a:t>
                      </a:r>
                    </a:p>
                  </a:txBody>
                  <a:tcPr>
                    <a:solidFill>
                      <a:srgbClr val="143D2F"/>
                    </a:solidFill>
                  </a:tcPr>
                </a:tc>
              </a:tr>
              <a:tr h="192024">
                <a:tc>
                  <a:txBody>
                    <a:bodyPr lIns="54864" rIns="54864" tIns="18288" bIns="18288" wrap="square" anchor="ctr"/>
                    <a:lstStyle/>
                    <a:p>
                      <a:pPr algn="l"/>
                      <a:r>
                        <a:rPr sz="860" b="0">
                          <a:solidFill>
                            <a:srgbClr val="000000"/>
                          </a:solidFill>
                          <a:latin typeface="Calibri"/>
                        </a:rPr>
                        <a:t>Sensor width along the specimen</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acA2440 is 2448 × 2048</a:t>
                      </a:r>
                    </a:p>
                  </a:txBody>
                  <a:tcPr/>
                </a:tc>
              </a:tr>
              <a:tr h="192024">
                <a:tc>
                  <a:txBody>
                    <a:bodyPr lIns="54864" rIns="54864" tIns="18288" bIns="18288" wrap="square" anchor="ctr"/>
                    <a:lstStyle/>
                    <a:p>
                      <a:pPr algn="l"/>
                      <a:r>
                        <a:rPr sz="860" b="0">
                          <a:solidFill>
                            <a:srgbClr val="000000"/>
                          </a:solidFill>
                          <a:latin typeface="Calibri"/>
                        </a:rPr>
                        <a:t>ROI width in use</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already the FULL sensor</a:t>
                      </a:r>
                    </a:p>
                  </a:txBody>
                  <a:tcPr/>
                </a:tc>
              </a:tr>
              <a:tr h="192024">
                <a:tc>
                  <a:txBody>
                    <a:bodyPr lIns="54864" rIns="54864" tIns="18288" bIns="18288" wrap="square" anchor="ctr"/>
                    <a:lstStyle/>
                    <a:p>
                      <a:pPr algn="l"/>
                      <a:r>
                        <a:rPr sz="860" b="0">
                          <a:solidFill>
                            <a:srgbClr val="000000"/>
                          </a:solidFill>
                          <a:latin typeface="Calibri"/>
                        </a:rPr>
                        <a:t>ROI offset on the tight side</a:t>
                      </a:r>
                    </a:p>
                  </a:txBody>
                  <a:tcPr/>
                </a:tc>
                <a:tc>
                  <a:txBody>
                    <a:bodyPr lIns="54864" rIns="54864" tIns="18288" bIns="18288" wrap="square" anchor="ctr"/>
                    <a:lstStyle/>
                    <a:p>
                      <a:pPr algn="l"/>
                      <a:r>
                        <a:rPr sz="860" b="0">
                          <a:solidFill>
                            <a:srgbClr val="000000"/>
                          </a:solidFill>
                          <a:latin typeface="Calibri"/>
                        </a:rPr>
                        <a:t>OffsetX = 0</a:t>
                      </a:r>
                    </a:p>
                  </a:txBody>
                  <a:tcPr/>
                </a:tc>
                <a:tc>
                  <a:txBody>
                    <a:bodyPr lIns="54864" rIns="54864" tIns="18288" bIns="18288" wrap="square" anchor="ctr"/>
                    <a:lstStyle/>
                    <a:p>
                      <a:pPr algn="l"/>
                      <a:r>
                        <a:rPr sz="860" b="0">
                          <a:solidFill>
                            <a:srgbClr val="000000"/>
                          </a:solidFill>
                          <a:latin typeface="Calibri"/>
                        </a:rPr>
                        <a:t>No — the sensor's own edge</a:t>
                      </a:r>
                    </a:p>
                  </a:txBody>
                  <a:tcPr/>
                </a:tc>
              </a:tr>
              <a:tr h="192024">
                <a:tc>
                  <a:txBody>
                    <a:bodyPr lIns="54864" rIns="54864" tIns="18288" bIns="18288" wrap="square" anchor="ctr"/>
                    <a:lstStyle/>
                    <a:p>
                      <a:pPr algn="l"/>
                      <a:r>
                        <a:rPr sz="860" b="0">
                          <a:solidFill>
                            <a:srgbClr val="000000"/>
                          </a:solidFill>
                          <a:latin typeface="Calibri"/>
                        </a:rPr>
                        <a:t>Room ahead of the moving marker</a:t>
                      </a:r>
                    </a:p>
                  </a:txBody>
                  <a:tcPr/>
                </a:tc>
                <a:tc>
                  <a:txBody>
                    <a:bodyPr lIns="54864" rIns="54864" tIns="18288" bIns="18288" wrap="square" anchor="ctr"/>
                    <a:lstStyle/>
                    <a:p>
                      <a:pPr algn="l"/>
                      <a:r>
                        <a:rPr sz="860" b="0">
                          <a:solidFill>
                            <a:srgbClr val="000000"/>
                          </a:solidFill>
                          <a:latin typeface="Calibri"/>
                        </a:rPr>
                        <a:t>228 px</a:t>
                      </a:r>
                    </a:p>
                  </a:txBody>
                  <a:tcPr/>
                </a:tc>
                <a:tc>
                  <a:txBody>
                    <a:bodyPr lIns="54864" rIns="54864" tIns="18288" bIns="18288" wrap="square" anchor="ctr"/>
                    <a:lstStyle/>
                    <a:p>
                      <a:pPr algn="l"/>
                      <a:r>
                        <a:rPr sz="860" b="0">
                          <a:solidFill>
                            <a:srgbClr val="000000"/>
                          </a:solidFill>
                          <a:latin typeface="Calibri"/>
                        </a:rPr>
                        <a:t>Only by moving the CAMERA</a:t>
                      </a:r>
                    </a:p>
                  </a:txBody>
                  <a:tcPr/>
                </a:tc>
              </a:tr>
            </a:tbl>
          </a:graphicData>
        </a:graphic>
      </p:graphicFrame>
      <p:sp>
        <p:nvSpPr>
          <p:cNvPr id="8" name="TextBox 7"/>
          <p:cNvSpPr txBox="1"/>
          <p:nvPr/>
        </p:nvSpPr>
        <p:spPr>
          <a:xfrm>
            <a:off x="6309360" y="427939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honest statement is</a:t>
            </a:r>
          </a:p>
        </p:txBody>
      </p:sp>
      <p:sp>
        <p:nvSpPr>
          <p:cNvPr id="9" name="TextBox 8"/>
          <p:cNvSpPr txBox="1"/>
          <p:nvPr/>
        </p:nvSpPr>
        <p:spPr>
          <a:xfrm>
            <a:off x="6309360" y="4617720"/>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The frame is long enough for a 28 mm pull — it supports ~37 mm with the pair aimed correctly. It is AIMED wrong: the marker that travels sits 283 px from the edge it moves toward, and needs 541 px. The 305 px of spare frame is at the end that never moves.
Correcting it needs the camera shifted ~12 mm along the specimen. On this rig the camera mount is fixed, so 15 mm of travel is the ceiling for these two specimens — an INSTRUMENT limit, recorded as such, not a material result.</a:t>
            </a:r>
          </a:p>
        </p:txBody>
      </p:sp>
      <p:sp>
        <p:nvSpPr>
          <p:cNvPr id="10" name="Rectangle 9"/>
          <p:cNvSpPr/>
          <p:nvPr/>
        </p:nvSpPr>
        <p:spPr>
          <a:xfrm>
            <a:off x="365760" y="585216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SPECIMEN WAS INTACT AND STILL CARRYING RISING LOAD WHEN TRACKING ENDED. ELONGATION AT BREAK AND TOUGHNESS ARE THEREFORE LOWER BOUNDS, NOT MEASUREMENTS.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Drawn to scale from the measured marker positions of S36 (Px₀ 1690 px, 21.12 px/mm). RESOLVED LATER BY S37 — not by moving the camera, which this rig cannot do, but by shortening the marker pair to 45 mm so it travels fewer pixels per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REPEATABILITY — S35 AND S36 OVER THE SAME TRAVEL</a:t>
            </a:r>
          </a:p>
        </p:txBody>
      </p:sp>
      <p:pic>
        <p:nvPicPr>
          <p:cNvPr id="5" name="Picture 4" descr="tpu_pair.png"/>
          <p:cNvPicPr>
            <a:picLocks noChangeAspect="1"/>
          </p:cNvPicPr>
          <p:nvPr/>
        </p:nvPicPr>
        <p:blipFill>
          <a:blip r:embed="rId2"/>
          <a:stretch>
            <a:fillRect/>
          </a:stretch>
        </p:blipFill>
        <p:spPr>
          <a:xfrm>
            <a:off x="800100" y="1188720"/>
            <a:ext cx="10561319" cy="3200400"/>
          </a:xfrm>
          <a:prstGeom prst="rect">
            <a:avLst/>
          </a:prstGeom>
        </p:spPr>
      </p:pic>
      <p:sp>
        <p:nvSpPr>
          <p:cNvPr id="6" name="TextBox 5"/>
          <p:cNvSpPr txBox="1"/>
          <p:nvPr/>
        </p:nvSpPr>
        <p:spPr>
          <a:xfrm>
            <a:off x="457200" y="45720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At matched crosshead travel</a:t>
            </a:r>
          </a:p>
        </p:txBody>
      </p:sp>
      <p:graphicFrame>
        <p:nvGraphicFramePr>
          <p:cNvPr id="7" name="Table 6"/>
          <p:cNvGraphicFramePr>
            <a:graphicFrameLocks noGrp="1"/>
          </p:cNvGraphicFramePr>
          <p:nvPr/>
        </p:nvGraphicFramePr>
        <p:xfrm>
          <a:off x="457200" y="4901184"/>
          <a:ext cx="5577837" cy="1188720"/>
        </p:xfrm>
        <a:graphic>
          <a:graphicData uri="http://schemas.openxmlformats.org/drawingml/2006/table">
            <a:tbl>
              <a:tblPr firstRow="1" bandRow="1">
                <a:tableStyleId>{5C22544A-7EE6-4342-B048-85BDC9FD1C3A}</a:tableStyleId>
              </a:tblPr>
              <a:tblGrid>
                <a:gridCol w="1032933"/>
                <a:gridCol w="1239519"/>
                <a:gridCol w="1239519"/>
                <a:gridCol w="1032933"/>
                <a:gridCol w="1032933"/>
              </a:tblGrid>
              <a:tr h="297180">
                <a:tc>
                  <a:txBody>
                    <a:bodyPr lIns="54864" rIns="54864" tIns="18288" bIns="18288" wrap="square" anchor="ctr"/>
                    <a:lstStyle/>
                    <a:p>
                      <a:pPr algn="l"/>
                      <a:r>
                        <a:rPr sz="950" b="1">
                          <a:solidFill>
                            <a:srgbClr val="FFFFFF"/>
                          </a:solidFill>
                          <a:latin typeface="Calibri"/>
                        </a:rPr>
                        <a:t>Travel</a:t>
                      </a:r>
                    </a:p>
                  </a:txBody>
                  <a:tcPr>
                    <a:solidFill>
                      <a:srgbClr val="143D2F"/>
                    </a:solidFill>
                  </a:tcPr>
                </a:tc>
                <a:tc>
                  <a:txBody>
                    <a:bodyPr lIns="54864" rIns="54864" tIns="18288" bIns="18288" wrap="square" anchor="ctr"/>
                    <a:lstStyle/>
                    <a:p>
                      <a:pPr algn="l"/>
                      <a:r>
                        <a:rPr sz="950" b="1">
                          <a:solidFill>
                            <a:srgbClr val="FFFFFF"/>
                          </a:solidFill>
                          <a:latin typeface="Calibri"/>
                        </a:rPr>
                        <a:t>S35 strain</a:t>
                      </a:r>
                    </a:p>
                  </a:txBody>
                  <a:tcPr>
                    <a:solidFill>
                      <a:srgbClr val="143D2F"/>
                    </a:solidFill>
                  </a:tcPr>
                </a:tc>
                <a:tc>
                  <a:txBody>
                    <a:bodyPr lIns="54864" rIns="54864" tIns="18288" bIns="18288" wrap="square" anchor="ctr"/>
                    <a:lstStyle/>
                    <a:p>
                      <a:pPr algn="l"/>
                      <a:r>
                        <a:rPr sz="950" b="1">
                          <a:solidFill>
                            <a:srgbClr val="FFFFFF"/>
                          </a:solidFill>
                          <a:latin typeface="Calibri"/>
                        </a:rPr>
                        <a:t>S36 strain</a:t>
                      </a:r>
                    </a:p>
                  </a:txBody>
                  <a:tcPr>
                    <a:solidFill>
                      <a:srgbClr val="143D2F"/>
                    </a:solidFill>
                  </a:tcPr>
                </a:tc>
                <a:tc>
                  <a:txBody>
                    <a:bodyPr lIns="54864" rIns="54864" tIns="18288" bIns="18288" wrap="square" anchor="ctr"/>
                    <a:lstStyle/>
                    <a:p>
                      <a:pPr algn="l"/>
                      <a:r>
                        <a:rPr sz="950" b="1">
                          <a:solidFill>
                            <a:srgbClr val="FFFFFF"/>
                          </a:solidFill>
                          <a:latin typeface="Calibri"/>
                        </a:rPr>
                        <a:t>S35 σ</a:t>
                      </a:r>
                    </a:p>
                  </a:txBody>
                  <a:tcPr>
                    <a:solidFill>
                      <a:srgbClr val="143D2F"/>
                    </a:solidFill>
                  </a:tcPr>
                </a:tc>
                <a:tc>
                  <a:txBody>
                    <a:bodyPr lIns="54864" rIns="54864" tIns="18288" bIns="18288" wrap="square" anchor="ctr"/>
                    <a:lstStyle/>
                    <a:p>
                      <a:pPr algn="l"/>
                      <a:r>
                        <a:rPr sz="950" b="1">
                          <a:solidFill>
                            <a:srgbClr val="FFFFFF"/>
                          </a:solidFill>
                          <a:latin typeface="Calibri"/>
                        </a:rPr>
                        <a:t>S36 σ</a:t>
                      </a:r>
                    </a:p>
                  </a:txBody>
                  <a:tcPr>
                    <a:solidFill>
                      <a:srgbClr val="143D2F"/>
                    </a:solidFill>
                  </a:tcPr>
                </a:tc>
              </a:tr>
              <a:tr h="297180">
                <a:tc>
                  <a:txBody>
                    <a:bodyPr lIns="54864" rIns="54864" tIns="18288" bIns="18288" wrap="square" anchor="ctr"/>
                    <a:lstStyle/>
                    <a:p>
                      <a:pPr algn="l"/>
                      <a:r>
                        <a:rPr sz="900" b="0">
                          <a:solidFill>
                            <a:srgbClr val="000000"/>
                          </a:solidFill>
                          <a:latin typeface="Calibri"/>
                        </a:rPr>
                        <a:t>4 mm</a:t>
                      </a:r>
                    </a:p>
                  </a:txBody>
                  <a:tcPr/>
                </a:tc>
                <a:tc>
                  <a:txBody>
                    <a:bodyPr lIns="54864" rIns="54864" tIns="18288" bIns="18288" wrap="square" anchor="ctr"/>
                    <a:lstStyle/>
                    <a:p>
                      <a:pPr algn="l"/>
                      <a:r>
                        <a:rPr sz="900" b="0">
                          <a:solidFill>
                            <a:srgbClr val="000000"/>
                          </a:solidFill>
                          <a:latin typeface="Calibri"/>
                        </a:rPr>
                        <a:t>3.24 %</a:t>
                      </a:r>
                    </a:p>
                  </a:txBody>
                  <a:tcPr/>
                </a:tc>
                <a:tc>
                  <a:txBody>
                    <a:bodyPr lIns="54864" rIns="54864" tIns="18288" bIns="18288" wrap="square" anchor="ctr"/>
                    <a:lstStyle/>
                    <a:p>
                      <a:pPr algn="l"/>
                      <a:r>
                        <a:rPr sz="900" b="0">
                          <a:solidFill>
                            <a:srgbClr val="000000"/>
                          </a:solidFill>
                          <a:latin typeface="Calibri"/>
                        </a:rPr>
                        <a:t>3.06 %</a:t>
                      </a:r>
                    </a:p>
                  </a:txBody>
                  <a:tcPr/>
                </a:tc>
                <a:tc>
                  <a:txBody>
                    <a:bodyPr lIns="54864" rIns="54864" tIns="18288" bIns="18288" wrap="square" anchor="ctr"/>
                    <a:lstStyle/>
                    <a:p>
                      <a:pPr algn="l"/>
                      <a:r>
                        <a:rPr sz="900" b="0">
                          <a:solidFill>
                            <a:srgbClr val="000000"/>
                          </a:solidFill>
                          <a:latin typeface="Calibri"/>
                        </a:rPr>
                        <a:t>0.997</a:t>
                      </a:r>
                    </a:p>
                  </a:txBody>
                  <a:tcPr/>
                </a:tc>
                <a:tc>
                  <a:txBody>
                    <a:bodyPr lIns="54864" rIns="54864" tIns="18288" bIns="18288" wrap="square" anchor="ctr"/>
                    <a:lstStyle/>
                    <a:p>
                      <a:pPr algn="l"/>
                      <a:r>
                        <a:rPr sz="900" b="0">
                          <a:solidFill>
                            <a:srgbClr val="000000"/>
                          </a:solidFill>
                          <a:latin typeface="Calibri"/>
                        </a:rPr>
                        <a:t>0.984</a:t>
                      </a:r>
                    </a:p>
                  </a:txBody>
                  <a:tcPr/>
                </a:tc>
              </a:tr>
              <a:tr h="297180">
                <a:tc>
                  <a:txBody>
                    <a:bodyPr lIns="54864" rIns="54864" tIns="18288" bIns="18288" wrap="square" anchor="ctr"/>
                    <a:lstStyle/>
                    <a:p>
                      <a:pPr algn="l"/>
                      <a:r>
                        <a:rPr sz="900" b="0">
                          <a:solidFill>
                            <a:srgbClr val="000000"/>
                          </a:solidFill>
                          <a:latin typeface="Calibri"/>
                        </a:rPr>
                        <a:t>10 mm</a:t>
                      </a:r>
                    </a:p>
                  </a:txBody>
                  <a:tcPr/>
                </a:tc>
                <a:tc>
                  <a:txBody>
                    <a:bodyPr lIns="54864" rIns="54864" tIns="18288" bIns="18288" wrap="square" anchor="ctr"/>
                    <a:lstStyle/>
                    <a:p>
                      <a:pPr algn="l"/>
                      <a:r>
                        <a:rPr sz="900" b="0">
                          <a:solidFill>
                            <a:srgbClr val="000000"/>
                          </a:solidFill>
                          <a:latin typeface="Calibri"/>
                        </a:rPr>
                        <a:t>8.10 %</a:t>
                      </a:r>
                    </a:p>
                  </a:txBody>
                  <a:tcPr/>
                </a:tc>
                <a:tc>
                  <a:txBody>
                    <a:bodyPr lIns="54864" rIns="54864" tIns="18288" bIns="18288" wrap="square" anchor="ctr"/>
                    <a:lstStyle/>
                    <a:p>
                      <a:pPr algn="l"/>
                      <a:r>
                        <a:rPr sz="900" b="0">
                          <a:solidFill>
                            <a:srgbClr val="000000"/>
                          </a:solidFill>
                          <a:latin typeface="Calibri"/>
                        </a:rPr>
                        <a:t>7.80 %</a:t>
                      </a:r>
                    </a:p>
                  </a:txBody>
                  <a:tcPr/>
                </a:tc>
                <a:tc>
                  <a:txBody>
                    <a:bodyPr lIns="54864" rIns="54864" tIns="18288" bIns="18288" wrap="square" anchor="ctr"/>
                    <a:lstStyle/>
                    <a:p>
                      <a:pPr algn="l"/>
                      <a:r>
                        <a:rPr sz="900" b="0">
                          <a:solidFill>
                            <a:srgbClr val="000000"/>
                          </a:solidFill>
                          <a:latin typeface="Calibri"/>
                        </a:rPr>
                        <a:t>1.726</a:t>
                      </a:r>
                    </a:p>
                  </a:txBody>
                  <a:tcPr/>
                </a:tc>
                <a:tc>
                  <a:txBody>
                    <a:bodyPr lIns="54864" rIns="54864" tIns="18288" bIns="18288" wrap="square" anchor="ctr"/>
                    <a:lstStyle/>
                    <a:p>
                      <a:pPr algn="l"/>
                      <a:r>
                        <a:rPr sz="900" b="0">
                          <a:solidFill>
                            <a:srgbClr val="000000"/>
                          </a:solidFill>
                          <a:latin typeface="Calibri"/>
                        </a:rPr>
                        <a:t>1.754</a:t>
                      </a:r>
                    </a:p>
                  </a:txBody>
                  <a:tcPr/>
                </a:tc>
              </a:tr>
              <a:tr h="297180">
                <a:tc>
                  <a:txBody>
                    <a:bodyPr lIns="54864" rIns="54864" tIns="18288" bIns="18288" wrap="square" anchor="ctr"/>
                    <a:lstStyle/>
                    <a:p>
                      <a:pPr algn="l"/>
                      <a:r>
                        <a:rPr sz="900" b="0">
                          <a:solidFill>
                            <a:srgbClr val="000000"/>
                          </a:solidFill>
                          <a:latin typeface="Calibri"/>
                        </a:rPr>
                        <a:t>15 mm</a:t>
                      </a:r>
                    </a:p>
                  </a:txBody>
                  <a:tcPr/>
                </a:tc>
                <a:tc>
                  <a:txBody>
                    <a:bodyPr lIns="54864" rIns="54864" tIns="18288" bIns="18288" wrap="square" anchor="ctr"/>
                    <a:lstStyle/>
                    <a:p>
                      <a:pPr algn="l"/>
                      <a:r>
                        <a:rPr sz="900" b="0">
                          <a:solidFill>
                            <a:srgbClr val="000000"/>
                          </a:solidFill>
                          <a:latin typeface="Calibri"/>
                        </a:rPr>
                        <a:t>12.29 %</a:t>
                      </a:r>
                    </a:p>
                  </a:txBody>
                  <a:tcPr/>
                </a:tc>
                <a:tc>
                  <a:txBody>
                    <a:bodyPr lIns="54864" rIns="54864" tIns="18288" bIns="18288" wrap="square" anchor="ctr"/>
                    <a:lstStyle/>
                    <a:p>
                      <a:pPr algn="l"/>
                      <a:r>
                        <a:rPr sz="900" b="0">
                          <a:solidFill>
                            <a:srgbClr val="000000"/>
                          </a:solidFill>
                          <a:latin typeface="Calibri"/>
                        </a:rPr>
                        <a:t>11.64 %</a:t>
                      </a:r>
                    </a:p>
                  </a:txBody>
                  <a:tcPr/>
                </a:tc>
                <a:tc>
                  <a:txBody>
                    <a:bodyPr lIns="54864" rIns="54864" tIns="18288" bIns="18288" wrap="square" anchor="ctr"/>
                    <a:lstStyle/>
                    <a:p>
                      <a:pPr algn="l"/>
                      <a:r>
                        <a:rPr sz="900" b="0">
                          <a:solidFill>
                            <a:srgbClr val="000000"/>
                          </a:solidFill>
                          <a:latin typeface="Calibri"/>
                        </a:rPr>
                        <a:t>2.181</a:t>
                      </a:r>
                    </a:p>
                  </a:txBody>
                  <a:tcPr/>
                </a:tc>
                <a:tc>
                  <a:txBody>
                    <a:bodyPr lIns="54864" rIns="54864" tIns="18288" bIns="18288" wrap="square" anchor="ctr"/>
                    <a:lstStyle/>
                    <a:p>
                      <a:pPr algn="l"/>
                      <a:r>
                        <a:rPr sz="900" b="0">
                          <a:solidFill>
                            <a:srgbClr val="000000"/>
                          </a:solidFill>
                          <a:latin typeface="Calibri"/>
                        </a:rPr>
                        <a:t>2.203</a:t>
                      </a:r>
                    </a:p>
                  </a:txBody>
                  <a:tcPr/>
                </a:tc>
              </a:tr>
            </a:tbl>
          </a:graphicData>
        </a:graphic>
      </p:graphicFrame>
      <p:sp>
        <p:nvSpPr>
          <p:cNvPr id="8" name="TextBox 7"/>
          <p:cNvSpPr txBox="1"/>
          <p:nvPr/>
        </p:nvSpPr>
        <p:spPr>
          <a:xfrm>
            <a:off x="6309360" y="45720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pair establishes</a:t>
            </a:r>
          </a:p>
        </p:txBody>
      </p:sp>
      <p:sp>
        <p:nvSpPr>
          <p:cNvPr id="9" name="TextBox 8"/>
          <p:cNvSpPr txBox="1"/>
          <p:nvPr/>
        </p:nvSpPr>
        <p:spPr>
          <a:xfrm>
            <a:off x="6309360" y="4901184"/>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E agrees to 1.1 % (24.9 vs 24.6 MPa, R² 0.999 on both) and stress agrees within ±4 % at every matched strain. That is repeatability of the same order as the PLA set.
Only ~65 % of crosshead travel reaches the gauge — the rest goes into the shoulders and grips — so 15 mm of travel is ~12 % gauge strain, not 19 %.</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truncated at the common 15.09 mm so neither is credited with travel the other could not track.</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THE CURVES</a:t>
            </a:r>
          </a:p>
        </p:txBody>
      </p:sp>
      <p:pic>
        <p:nvPicPr>
          <p:cNvPr id="5" name="Picture 4" descr="trio_curves.png"/>
          <p:cNvPicPr>
            <a:picLocks noChangeAspect="1"/>
          </p:cNvPicPr>
          <p:nvPr/>
        </p:nvPicPr>
        <p:blipFill>
          <a:blip r:embed="rId2"/>
          <a:stretch>
            <a:fillRect/>
          </a:stretch>
        </p:blipFill>
        <p:spPr>
          <a:xfrm>
            <a:off x="772986" y="1188720"/>
            <a:ext cx="10615546" cy="3566160"/>
          </a:xfrm>
          <a:prstGeom prst="rect">
            <a:avLst/>
          </a:prstGeom>
        </p:spPr>
      </p:pic>
      <p:sp>
        <p:nvSpPr>
          <p:cNvPr id="6" name="TextBox 5"/>
          <p:cNvSpPr txBox="1"/>
          <p:nvPr/>
        </p:nvSpPr>
        <p:spPr>
          <a:xfrm>
            <a:off x="457200" y="4937760"/>
            <a:ext cx="11338560" cy="1188720"/>
          </a:xfrm>
          <a:prstGeom prst="rect">
            <a:avLst/>
          </a:prstGeom>
          <a:noFill/>
        </p:spPr>
        <p:txBody>
          <a:bodyPr wrap="square" lIns="45720" rIns="45720" tIns="18288" bIns="18288" anchor="t">
            <a:spAutoFit/>
          </a:bodyPr>
          <a:lstStyle/>
          <a:p>
            <a:pPr algn="l"/>
            <a:r>
              <a:rPr sz="1000" b="0" i="0">
                <a:solidFill>
                  <a:srgbClr val="000000"/>
                </a:solidFill>
                <a:latin typeface="Calibri"/>
              </a:rPr>
              <a:t>LEFT, log stress: all three are legible at once and the ordering is plain — PLA stiffest and strongest, PETG close behind, TPU two decades below both.
RIGHT, the same data linearly: TPU is a flat line on the floor. This is the reason the comparison is made on MODULUS and on matched-strain stress rather than on one shared stress axis, and the reason a single 'PLA is 20× stronger than TPU' number would mislead — that ratio is taken at matched strain, and TPU has not finished stretching.</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representative run per material: PLA S25, PETG S30, TPU S36. Curves end at fracture (PLA, PETG) or at the frame limit (TPU).</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MODULUS AGAINST THE PUBLISHED BANDS — ALL THREE LAND INSIDE</a:t>
            </a:r>
          </a:p>
        </p:txBody>
      </p:sp>
      <p:pic>
        <p:nvPicPr>
          <p:cNvPr id="5" name="Picture 4" descr="trio_modulus.png"/>
          <p:cNvPicPr>
            <a:picLocks noChangeAspect="1"/>
          </p:cNvPicPr>
          <p:nvPr/>
        </p:nvPicPr>
        <p:blipFill>
          <a:blip r:embed="rId2"/>
          <a:stretch>
            <a:fillRect/>
          </a:stretch>
        </p:blipFill>
        <p:spPr>
          <a:xfrm>
            <a:off x="320040" y="1143000"/>
            <a:ext cx="6858000" cy="4146698"/>
          </a:xfrm>
          <a:prstGeom prst="rect">
            <a:avLst/>
          </a:prstGeom>
        </p:spPr>
      </p:pic>
      <p:sp>
        <p:nvSpPr>
          <p:cNvPr id="6" name="TextBox 5"/>
          <p:cNvSpPr txBox="1"/>
          <p:nvPr/>
        </p:nvSpPr>
        <p:spPr>
          <a:xfrm>
            <a:off x="7406640" y="1234440"/>
            <a:ext cx="4434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vs literature</a:t>
            </a:r>
          </a:p>
        </p:txBody>
      </p:sp>
      <p:graphicFrame>
        <p:nvGraphicFramePr>
          <p:cNvPr id="7" name="Table 6"/>
          <p:cNvGraphicFramePr>
            <a:graphicFrameLocks noGrp="1"/>
          </p:cNvGraphicFramePr>
          <p:nvPr/>
        </p:nvGraphicFramePr>
        <p:xfrm>
          <a:off x="7406640" y="1600200"/>
          <a:ext cx="4434838" cy="1234440"/>
        </p:xfrm>
        <a:graphic>
          <a:graphicData uri="http://schemas.openxmlformats.org/drawingml/2006/table">
            <a:tbl>
              <a:tblPr firstRow="1" bandRow="1">
                <a:tableStyleId>{5C22544A-7EE6-4342-B048-85BDC9FD1C3A}</a:tableStyleId>
              </a:tblPr>
              <a:tblGrid>
                <a:gridCol w="1209501"/>
                <a:gridCol w="1108710"/>
                <a:gridCol w="1209501"/>
                <a:gridCol w="907126"/>
              </a:tblGrid>
              <a:tr h="308610">
                <a:tc>
                  <a:txBody>
                    <a:bodyPr lIns="54864" rIns="54864" tIns="18288" bIns="18288" wrap="square" anchor="ctr"/>
                    <a:lstStyle/>
                    <a:p>
                      <a:pPr algn="l"/>
                      <a:r>
                        <a:rPr sz="950" b="1">
                          <a:solidFill>
                            <a:srgbClr val="FFFFFF"/>
                          </a:solidFill>
                          <a:latin typeface="Calibri"/>
                        </a:rPr>
                        <a:t>Material</a:t>
                      </a:r>
                    </a:p>
                  </a:txBody>
                  <a:tcPr>
                    <a:solidFill>
                      <a:srgbClr val="143D2F"/>
                    </a:solidFill>
                  </a:tcPr>
                </a:tc>
                <a:tc>
                  <a:txBody>
                    <a:bodyPr lIns="54864" rIns="54864" tIns="18288" bIns="18288" wrap="square" anchor="ctr"/>
                    <a:lstStyle/>
                    <a:p>
                      <a:pPr algn="l"/>
                      <a:r>
                        <a:rPr sz="950" b="1">
                          <a:solidFill>
                            <a:srgbClr val="FFFFFF"/>
                          </a:solidFill>
                          <a:latin typeface="Calibri"/>
                        </a:rPr>
                        <a:t>Measured E</a:t>
                      </a:r>
                    </a:p>
                  </a:txBody>
                  <a:tcPr>
                    <a:solidFill>
                      <a:srgbClr val="143D2F"/>
                    </a:solidFill>
                  </a:tcPr>
                </a:tc>
                <a:tc>
                  <a:txBody>
                    <a:bodyPr lIns="54864" rIns="54864" tIns="18288" bIns="18288" wrap="square" anchor="ctr"/>
                    <a:lstStyle/>
                    <a:p>
                      <a:pPr algn="l"/>
                      <a:r>
                        <a:rPr sz="950" b="1">
                          <a:solidFill>
                            <a:srgbClr val="FFFFFF"/>
                          </a:solidFill>
                          <a:latin typeface="Calibri"/>
                        </a:rPr>
                        <a:t>Literature</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(n=6)</a:t>
                      </a:r>
                    </a:p>
                  </a:txBody>
                  <a:tcPr/>
                </a:tc>
                <a:tc>
                  <a:txBody>
                    <a:bodyPr lIns="54864" rIns="54864" tIns="18288" bIns="18288" wrap="square" anchor="ctr"/>
                    <a:lstStyle/>
                    <a:p>
                      <a:pPr algn="l"/>
                      <a:r>
                        <a:rPr sz="900" b="0">
                          <a:solidFill>
                            <a:srgbClr val="000000"/>
                          </a:solidFill>
                          <a:latin typeface="Calibri"/>
                        </a:rPr>
                        <a:t>3.09 GPa</a:t>
                      </a:r>
                    </a:p>
                  </a:txBody>
                  <a:tcPr/>
                </a:tc>
                <a:tc>
                  <a:txBody>
                    <a:bodyPr lIns="54864" rIns="54864" tIns="18288" bIns="18288" wrap="square" anchor="ctr"/>
                    <a:lstStyle/>
                    <a:p>
                      <a:pPr algn="l"/>
                      <a:r>
                        <a:rPr sz="900" b="0">
                          <a:solidFill>
                            <a:srgbClr val="000000"/>
                          </a:solidFill>
                          <a:latin typeface="Calibri"/>
                        </a:rPr>
                        <a:t>2.0-3.5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PETG (n=2)</a:t>
                      </a:r>
                    </a:p>
                  </a:txBody>
                  <a:tcPr/>
                </a:tc>
                <a:tc>
                  <a:txBody>
                    <a:bodyPr lIns="54864" rIns="54864" tIns="18288" bIns="18288" wrap="square" anchor="ctr"/>
                    <a:lstStyle/>
                    <a:p>
                      <a:pPr algn="l"/>
                      <a:r>
                        <a:rPr sz="900" b="0">
                          <a:solidFill>
                            <a:srgbClr val="000000"/>
                          </a:solidFill>
                          <a:latin typeface="Calibri"/>
                        </a:rPr>
                        <a:t>1.96 GPa</a:t>
                      </a:r>
                    </a:p>
                  </a:txBody>
                  <a:tcPr/>
                </a:tc>
                <a:tc>
                  <a:txBody>
                    <a:bodyPr lIns="54864" rIns="54864" tIns="18288" bIns="18288" wrap="square" anchor="ctr"/>
                    <a:lstStyle/>
                    <a:p>
                      <a:pPr algn="l"/>
                      <a:r>
                        <a:rPr sz="900" b="0">
                          <a:solidFill>
                            <a:srgbClr val="000000"/>
                          </a:solidFill>
                          <a:latin typeface="Calibri"/>
                        </a:rPr>
                        <a:t>1.5-2.1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TPU (n=3)</a:t>
                      </a:r>
                    </a:p>
                  </a:txBody>
                  <a:tcPr/>
                </a:tc>
                <a:tc>
                  <a:txBody>
                    <a:bodyPr lIns="54864" rIns="54864" tIns="18288" bIns="18288" wrap="square" anchor="ctr"/>
                    <a:lstStyle/>
                    <a:p>
                      <a:pPr algn="l"/>
                      <a:r>
                        <a:rPr sz="900" b="0">
                          <a:solidFill>
                            <a:srgbClr val="000000"/>
                          </a:solidFill>
                          <a:latin typeface="Calibri"/>
                        </a:rPr>
                        <a:t>24.6 MPa</a:t>
                      </a:r>
                    </a:p>
                  </a:txBody>
                  <a:tcPr/>
                </a:tc>
                <a:tc>
                  <a:txBody>
                    <a:bodyPr lIns="54864" rIns="54864" tIns="18288" bIns="18288" wrap="square" anchor="ctr"/>
                    <a:lstStyle/>
                    <a:p>
                      <a:pPr algn="l"/>
                      <a:r>
                        <a:rPr sz="900" b="0">
                          <a:solidFill>
                            <a:srgbClr val="000000"/>
                          </a:solidFill>
                          <a:latin typeface="Calibri"/>
                        </a:rPr>
                        <a:t>12-30 MPa</a:t>
                      </a:r>
                    </a:p>
                  </a:txBody>
                  <a:tcPr/>
                </a:tc>
                <a:tc>
                  <a:txBody>
                    <a:bodyPr lIns="54864" rIns="54864" tIns="18288" bIns="18288" wrap="square" anchor="ctr"/>
                    <a:lstStyle/>
                    <a:p>
                      <a:pPr algn="l"/>
                      <a:r>
                        <a:rPr sz="900" b="0">
                          <a:solidFill>
                            <a:srgbClr val="000000"/>
                          </a:solidFill>
                          <a:latin typeface="Calibri"/>
                        </a:rPr>
                        <a:t>in band</a:t>
                      </a:r>
                    </a:p>
                  </a:txBody>
                  <a:tcPr/>
                </a:tc>
              </a:tr>
            </a:tbl>
          </a:graphicData>
        </a:graphic>
      </p:graphicFrame>
      <p:sp>
        <p:nvSpPr>
          <p:cNvPr id="8" name="TextBox 7"/>
          <p:cNvSpPr txBox="1"/>
          <p:nvPr/>
        </p:nvSpPr>
        <p:spPr>
          <a:xfrm>
            <a:off x="7406640" y="3063240"/>
            <a:ext cx="4434840" cy="2377440"/>
          </a:xfrm>
          <a:prstGeom prst="rect">
            <a:avLst/>
          </a:prstGeom>
          <a:noFill/>
        </p:spPr>
        <p:txBody>
          <a:bodyPr wrap="square" lIns="45720" rIns="45720" tIns="18288" bIns="18288" anchor="t">
            <a:spAutoFit/>
          </a:bodyPr>
          <a:lstStyle/>
          <a:p>
            <a:pPr algn="l"/>
            <a:r>
              <a:rPr sz="980" b="0" i="0">
                <a:solidFill>
                  <a:srgbClr val="000000"/>
                </a:solidFill>
                <a:latin typeface="Calibri"/>
              </a:rPr>
              <a:t>The modulus is the claim this campaign can actually make, and it is the strongest one:
•  three materials, two decades apart, every one inside its published range
•  n=6 / 2 / 3, with run-to-run spread well inside the band width
•  E is a SLOPE, so the force anchor cancels out of it entirely — the 20 N that was missing from TPU's stress never touched its modulus
Stiffness ratio PLA : PETG : TPU = 126 : 80 : 1.</a:t>
            </a:r>
          </a:p>
        </p:txBody>
      </p:sp>
      <p:sp>
        <p:nvSpPr>
          <p:cNvPr id="9" name="Rectangle 8"/>
          <p:cNvSpPr/>
          <p:nvPr/>
        </p:nvSpPr>
        <p:spPr>
          <a:xfrm>
            <a:off x="365760" y="5870448"/>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PLA 3.09 GPa · PETG 1.96 GPa · TPU 25 MPa — THE EXPECTED ORDER, AND EVERY VALUE INSIDE ITS PUBLISHED BAND.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Bands: PLA Chacón 2017 + filament TDS; PETG Durgashyam 2019 + TDS; TPU 95A TDS (Ultimaker / SainSmart) + Hohimer 2020. Shaded = published range, dots = our runs.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EXPECTED SLOPE vs MEASURED SLOPE — MATERIAL BY MATERIAL</a:t>
            </a:r>
          </a:p>
        </p:txBody>
      </p:sp>
      <p:pic>
        <p:nvPicPr>
          <p:cNvPr id="5" name="Picture 4" descr="trio_slopes.png"/>
          <p:cNvPicPr>
            <a:picLocks noChangeAspect="1"/>
          </p:cNvPicPr>
          <p:nvPr/>
        </p:nvPicPr>
        <p:blipFill>
          <a:blip r:embed="rId2"/>
          <a:stretch>
            <a:fillRect/>
          </a:stretch>
        </p:blipFill>
        <p:spPr>
          <a:xfrm>
            <a:off x="365760" y="1115568"/>
            <a:ext cx="11430000" cy="3750469"/>
          </a:xfrm>
          <a:prstGeom prst="rect">
            <a:avLst/>
          </a:prstGeom>
        </p:spPr>
      </p:pic>
      <p:sp>
        <p:nvSpPr>
          <p:cNvPr id="6" name="TextBox 5"/>
          <p:cNvSpPr txBox="1"/>
          <p:nvPr/>
        </p:nvSpPr>
        <p:spPr>
          <a:xfrm>
            <a:off x="457200" y="5413248"/>
            <a:ext cx="11338560" cy="1051560"/>
          </a:xfrm>
          <a:prstGeom prst="rect">
            <a:avLst/>
          </a:prstGeom>
          <a:noFill/>
        </p:spPr>
        <p:txBody>
          <a:bodyPr wrap="square" lIns="45720" rIns="45720" tIns="18288" bIns="18288" anchor="t">
            <a:spAutoFit/>
          </a:bodyPr>
          <a:lstStyle/>
          <a:p>
            <a:pPr algn="l"/>
            <a:r>
              <a:rPr sz="980" b="0" i="0">
                <a:solidFill>
                  <a:srgbClr val="000000"/>
                </a:solidFill>
                <a:latin typeface="Calibri"/>
              </a:rPr>
              <a:t>Each panel draws the SLOPE the published modulus predicts (shaded wedge), the slope we measured (dashed) and the run itself (black). Wedge and dashed line are anchored to the run's OWN intercept: Px₀ is frozen at the preloaded state, so every curve starts at the preload stress rather than at the origin, and what is being compared here is slope, not offset.
All three runs lie inside their own wedge. The wedges are two decades apart in height — the same statement the modulus chart makes, drawn a different way: PLA &gt; PETG ≫ TPU is not a subtle effect needing careful statistics, it is the dominant feature of the data.</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vertical band = the strain window each run's E was actually fitted over. The INTERCEPT is taken over 0.05-0.4 %. Expected bands are literature — sources on the chart.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THAT DASHED LINE CHOSEN FAIRLY? — AUDITING THE MODULUS RULE</a:t>
            </a:r>
          </a:p>
        </p:txBody>
      </p:sp>
      <p:sp>
        <p:nvSpPr>
          <p:cNvPr id="5" name="TextBox 4"/>
          <p:cNvSpPr txBox="1"/>
          <p:nvPr/>
        </p:nvSpPr>
        <p:spPr>
          <a:xfrm>
            <a:off x="365760" y="1024128"/>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dashed line decides whether each material passes, so the rule that produced it is worth more than an assertion. Here it is, and here is the rule it beat.</a:t>
            </a:r>
          </a:p>
        </p:txBody>
      </p:sp>
      <p:pic>
        <p:nvPicPr>
          <p:cNvPr id="6" name="Picture 5" descr="e_method.png"/>
          <p:cNvPicPr>
            <a:picLocks noChangeAspect="1"/>
          </p:cNvPicPr>
          <p:nvPr/>
        </p:nvPicPr>
        <p:blipFill>
          <a:blip r:embed="rId2"/>
          <a:stretch>
            <a:fillRect/>
          </a:stretch>
        </p:blipFill>
        <p:spPr>
          <a:xfrm>
            <a:off x="818388" y="1444752"/>
            <a:ext cx="10570463" cy="3108960"/>
          </a:xfrm>
          <a:prstGeom prst="rect">
            <a:avLst/>
          </a:prstGeom>
        </p:spPr>
      </p:pic>
      <p:sp>
        <p:nvSpPr>
          <p:cNvPr id="7" name="TextBox 6"/>
          <p:cNvSpPr txBox="1"/>
          <p:nvPr/>
        </p:nvSpPr>
        <p:spPr>
          <a:xfrm>
            <a:off x="3657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dashed line actually is</a:t>
            </a:r>
          </a:p>
        </p:txBody>
      </p:sp>
      <p:sp>
        <p:nvSpPr>
          <p:cNvPr id="8" name="TextBox 7"/>
          <p:cNvSpPr txBox="1"/>
          <p:nvPr/>
        </p:nvSpPr>
        <p:spPr>
          <a:xfrm>
            <a:off x="3657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Its SLOPE is the group-mean measured E. Its INTERCEPT alone is fitted to the run drawn beside it. It is therefore a prediction laid over one run, not a regression of that run — which is why it leaves the black curve once the material leaves its elastic region.</a:t>
            </a:r>
          </a:p>
        </p:txBody>
      </p:sp>
      <p:sp>
        <p:nvSpPr>
          <p:cNvPr id="9" name="TextBox 8"/>
          <p:cNvSpPr txBox="1"/>
          <p:nvPr/>
        </p:nvSpPr>
        <p:spPr>
          <a:xfrm>
            <a:off x="42519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each E is found</a:t>
            </a:r>
          </a:p>
        </p:txBody>
      </p:sp>
      <p:sp>
        <p:nvSpPr>
          <p:cNvPr id="10" name="TextBox 9"/>
          <p:cNvSpPr txBox="1"/>
          <p:nvPr/>
        </p:nvSpPr>
        <p:spPr>
          <a:xfrm>
            <a:off x="42519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Every candidate window is scored, the straightness gate (R² ≈ 0.999) is applied FIRST, and the STEEPEST survivor wins. Not a fixed window — our runs are not straight in the same place: S25 is straight over 0.22–0.47 %, S16 not until 0.71–1.11 %.</a:t>
            </a:r>
          </a:p>
        </p:txBody>
      </p:sp>
      <p:sp>
        <p:nvSpPr>
          <p:cNvPr id="11" name="TextBox 10"/>
          <p:cNvSpPr txBox="1"/>
          <p:nvPr/>
        </p:nvSpPr>
        <p:spPr>
          <a:xfrm>
            <a:off x="81381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verdict, including the cost</a:t>
            </a:r>
          </a:p>
        </p:txBody>
      </p:sp>
      <p:sp>
        <p:nvSpPr>
          <p:cNvPr id="12" name="TextBox 11"/>
          <p:cNvSpPr txBox="1"/>
          <p:nvPr/>
        </p:nvSpPr>
        <p:spPr>
          <a:xfrm>
            <a:off x="81381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A rule chasing noise RAISES scatter. This one lowers it on all three: PLA 16.0→9.6 %, PETG 13.8→11.3 %, TPU 5.3→1.2 %. The cost is a slight upward bias — for PLA the fixed window sits nearer the band centre. Both rules stay in band.</a:t>
            </a:r>
          </a:p>
        </p:txBody>
      </p:sp>
      <p:sp>
        <p:nvSpPr>
          <p:cNvPr id="13" name="Rectangle 12"/>
          <p:cNvSpPr/>
          <p:nvPr/>
        </p:nvSpPr>
        <p:spPr>
          <a:xfrm>
            <a:off x="365760" y="5961888"/>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19" b="1">
                <a:solidFill>
                  <a:srgbClr val="1F3F2F"/>
                </a:solidFill>
                <a:latin typeface="Calibri"/>
              </a:rPr>
              <a:t>DEFENSIBLE, NOT PERFECT: THE RULE WINS ON REPEATABILITY IN EVERY MATERIAL AND COSTS A SMALL UPWARD BIAS — AND BOTH RULES LAND INSIDE EVERY PUBLISHED BAND.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Fixed-window comparison from the same CSVs (analyze() reports both). S26 and S16 are the cases that decide it: their straight stretch starts late, so the fixed window averages the compliant toe into the slope and reads ~41 % low.</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WHAT EACH NUMBER IS WORTH</a:t>
            </a:r>
          </a:p>
        </p:txBody>
      </p:sp>
      <p:graphicFrame>
        <p:nvGraphicFramePr>
          <p:cNvPr id="5" name="Table 4"/>
          <p:cNvGraphicFramePr>
            <a:graphicFrameLocks noGrp="1"/>
          </p:cNvGraphicFramePr>
          <p:nvPr/>
        </p:nvGraphicFramePr>
        <p:xfrm>
          <a:off x="457200" y="1371600"/>
          <a:ext cx="11338556" cy="1920240"/>
        </p:xfrm>
        <a:graphic>
          <a:graphicData uri="http://schemas.openxmlformats.org/drawingml/2006/table">
            <a:tbl>
              <a:tblPr firstRow="1" bandRow="1">
                <a:tableStyleId>{5C22544A-7EE6-4342-B048-85BDC9FD1C3A}</a:tableStyleId>
              </a:tblPr>
              <a:tblGrid>
                <a:gridCol w="2074126"/>
                <a:gridCol w="2074126"/>
                <a:gridCol w="2074126"/>
                <a:gridCol w="2074126"/>
                <a:gridCol w="3042052"/>
              </a:tblGrid>
              <a:tr h="384048">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PLA (n=6)</a:t>
                      </a:r>
                    </a:p>
                  </a:txBody>
                  <a:tcPr>
                    <a:solidFill>
                      <a:srgbClr val="143D2F"/>
                    </a:solidFill>
                  </a:tcPr>
                </a:tc>
                <a:tc>
                  <a:txBody>
                    <a:bodyPr lIns="54864" rIns="54864" tIns="18288" bIns="18288" wrap="square" anchor="ctr"/>
                    <a:lstStyle/>
                    <a:p>
                      <a:pPr algn="l"/>
                      <a:r>
                        <a:rPr sz="980" b="1">
                          <a:solidFill>
                            <a:srgbClr val="FFFFFF"/>
                          </a:solidFill>
                          <a:latin typeface="Calibri"/>
                        </a:rPr>
                        <a:t>PETG (n=2)</a:t>
                      </a:r>
                    </a:p>
                  </a:txBody>
                  <a:tcPr>
                    <a:solidFill>
                      <a:srgbClr val="143D2F"/>
                    </a:solidFill>
                  </a:tcPr>
                </a:tc>
                <a:tc>
                  <a:txBody>
                    <a:bodyPr lIns="54864" rIns="54864" tIns="18288" bIns="18288" wrap="square" anchor="ctr"/>
                    <a:lstStyle/>
                    <a:p>
                      <a:pPr algn="l"/>
                      <a:r>
                        <a:rPr sz="980" b="1">
                          <a:solidFill>
                            <a:srgbClr val="FFFFFF"/>
                          </a:solidFill>
                          <a:latin typeface="Calibri"/>
                        </a:rPr>
                        <a:t>TPU (n=3)</a:t>
                      </a:r>
                    </a:p>
                  </a:txBody>
                  <a:tcPr>
                    <a:solidFill>
                      <a:srgbClr val="143D2F"/>
                    </a:solidFill>
                  </a:tcPr>
                </a:tc>
                <a:tc>
                  <a:txBody>
                    <a:bodyPr lIns="54864" rIns="54864" tIns="18288" bIns="18288" wrap="square" anchor="ctr"/>
                    <a:lstStyle/>
                    <a:p>
                      <a:pPr algn="l"/>
                      <a:r>
                        <a:rPr sz="980" b="1">
                          <a:solidFill>
                            <a:srgbClr val="FFFFFF"/>
                          </a:solidFill>
                          <a:latin typeface="Calibri"/>
                        </a:rPr>
                        <a:t>Status</a:t>
                      </a:r>
                    </a:p>
                  </a:txBody>
                  <a:tcPr>
                    <a:solidFill>
                      <a:srgbClr val="143D2F"/>
                    </a:solidFill>
                  </a:tcPr>
                </a:tc>
              </a:tr>
              <a:tr h="384048">
                <a:tc>
                  <a:txBody>
                    <a:bodyPr lIns="54864" rIns="54864" tIns="18288" bIns="18288" wrap="square" anchor="ctr"/>
                    <a:lstStyle/>
                    <a:p>
                      <a:pPr algn="l"/>
                      <a:r>
                        <a:rPr sz="919" b="0">
                          <a:solidFill>
                            <a:srgbClr val="000000"/>
                          </a:solidFill>
                          <a:latin typeface="Calibri"/>
                        </a:rPr>
                        <a:t>Elastic modulus</a:t>
                      </a:r>
                    </a:p>
                  </a:txBody>
                  <a:tcPr/>
                </a:tc>
                <a:tc>
                  <a:txBody>
                    <a:bodyPr lIns="54864" rIns="54864" tIns="18288" bIns="18288" wrap="square" anchor="ctr"/>
                    <a:lstStyle/>
                    <a:p>
                      <a:pPr algn="l"/>
                      <a:r>
                        <a:rPr sz="919" b="0">
                          <a:solidFill>
                            <a:srgbClr val="000000"/>
                          </a:solidFill>
                          <a:latin typeface="Calibri"/>
                        </a:rPr>
                        <a:t>3.09 ± 0.27 GPa</a:t>
                      </a:r>
                    </a:p>
                  </a:txBody>
                  <a:tcPr/>
                </a:tc>
                <a:tc>
                  <a:txBody>
                    <a:bodyPr lIns="54864" rIns="54864" tIns="18288" bIns="18288" wrap="square" anchor="ctr"/>
                    <a:lstStyle/>
                    <a:p>
                      <a:pPr algn="l"/>
                      <a:r>
                        <a:rPr sz="919" b="0">
                          <a:solidFill>
                            <a:srgbClr val="000000"/>
                          </a:solidFill>
                          <a:latin typeface="Calibri"/>
                        </a:rPr>
                        <a:t>1.96 ± 0.16 GPa</a:t>
                      </a:r>
                    </a:p>
                  </a:txBody>
                  <a:tcPr/>
                </a:tc>
                <a:tc>
                  <a:txBody>
                    <a:bodyPr lIns="54864" rIns="54864" tIns="18288" bIns="18288" wrap="square" anchor="ctr"/>
                    <a:lstStyle/>
                    <a:p>
                      <a:pPr algn="l"/>
                      <a:r>
                        <a:rPr sz="919" b="0">
                          <a:solidFill>
                            <a:srgbClr val="000000"/>
                          </a:solidFill>
                          <a:latin typeface="Calibri"/>
                        </a:rPr>
                        <a:t>24.6 ± 0.2 MPa</a:t>
                      </a:r>
                    </a:p>
                  </a:txBody>
                  <a:tcPr/>
                </a:tc>
                <a:tc>
                  <a:txBody>
                    <a:bodyPr lIns="54864" rIns="54864" tIns="18288" bIns="18288" wrap="square" anchor="ctr"/>
                    <a:lstStyle/>
                    <a:p>
                      <a:pPr algn="l"/>
                      <a:r>
                        <a:rPr sz="919" b="0">
                          <a:solidFill>
                            <a:srgbClr val="000000"/>
                          </a:solidFill>
                          <a:latin typeface="Calibri"/>
                        </a:rPr>
                        <a:t>MEASURED — all in band</a:t>
                      </a:r>
                    </a:p>
                  </a:txBody>
                  <a:tcPr/>
                </a:tc>
              </a:tr>
              <a:tr h="384048">
                <a:tc>
                  <a:txBody>
                    <a:bodyPr lIns="54864" rIns="54864" tIns="18288" bIns="18288" wrap="square" anchor="ctr"/>
                    <a:lstStyle/>
                    <a:p>
                      <a:pPr algn="l"/>
                      <a:r>
                        <a:rPr sz="919" b="0">
                          <a:solidFill>
                            <a:srgbClr val="000000"/>
                          </a:solidFill>
                          <a:latin typeface="Calibri"/>
                        </a:rPr>
                        <a:t>Max stress reached</a:t>
                      </a:r>
                    </a:p>
                  </a:txBody>
                  <a:tcPr/>
                </a:tc>
                <a:tc>
                  <a:txBody>
                    <a:bodyPr lIns="54864" rIns="54864" tIns="18288" bIns="18288" wrap="square" anchor="ctr"/>
                    <a:lstStyle/>
                    <a:p>
                      <a:pPr algn="l"/>
                      <a:r>
                        <a:rPr sz="919" b="0">
                          <a:solidFill>
                            <a:srgbClr val="000000"/>
                          </a:solidFill>
                          <a:latin typeface="Calibri"/>
                        </a:rPr>
                        <a:t>46.8 MPa</a:t>
                      </a:r>
                    </a:p>
                  </a:txBody>
                  <a:tcPr/>
                </a:tc>
                <a:tc>
                  <a:txBody>
                    <a:bodyPr lIns="54864" rIns="54864" tIns="18288" bIns="18288" wrap="square" anchor="ctr"/>
                    <a:lstStyle/>
                    <a:p>
                      <a:pPr algn="l"/>
                      <a:r>
                        <a:rPr sz="919" b="0">
                          <a:solidFill>
                            <a:srgbClr val="000000"/>
                          </a:solidFill>
                          <a:latin typeface="Calibri"/>
                        </a:rPr>
                        <a:t>41.1 MPa</a:t>
                      </a:r>
                    </a:p>
                  </a:txBody>
                  <a:tcPr/>
                </a:tc>
                <a:tc>
                  <a:txBody>
                    <a:bodyPr lIns="54864" rIns="54864" tIns="18288" bIns="18288" wrap="square" anchor="ctr"/>
                    <a:lstStyle/>
                    <a:p>
                      <a:pPr algn="l"/>
                      <a:r>
                        <a:rPr sz="919" b="0">
                          <a:solidFill>
                            <a:srgbClr val="000000"/>
                          </a:solidFill>
                          <a:latin typeface="Calibri"/>
                        </a:rPr>
                        <a:t>2.35 MPa</a:t>
                      </a:r>
                    </a:p>
                  </a:txBody>
                  <a:tcPr/>
                </a:tc>
                <a:tc>
                  <a:txBody>
                    <a:bodyPr lIns="54864" rIns="54864" tIns="18288" bIns="18288" wrap="square" anchor="ctr"/>
                    <a:lstStyle/>
                    <a:p>
                      <a:pPr algn="l"/>
                      <a:r>
                        <a:rPr sz="919" b="0">
                          <a:solidFill>
                            <a:srgbClr val="000000"/>
                          </a:solidFill>
                          <a:latin typeface="Calibri"/>
                        </a:rPr>
                        <a:t>PLA/PETG = UTS; TPU = lower bound</a:t>
                      </a:r>
                    </a:p>
                  </a:txBody>
                  <a:tcPr/>
                </a:tc>
              </a:tr>
              <a:tr h="384048">
                <a:tc>
                  <a:txBody>
                    <a:bodyPr lIns="54864" rIns="54864" tIns="18288" bIns="18288" wrap="square" anchor="ctr"/>
                    <a:lstStyle/>
                    <a:p>
                      <a:pPr algn="l"/>
                      <a:r>
                        <a:rPr sz="919" b="0">
                          <a:solidFill>
                            <a:srgbClr val="000000"/>
                          </a:solidFill>
                          <a:latin typeface="Calibri"/>
                        </a:rPr>
                        <a:t>Strain at end</a:t>
                      </a:r>
                    </a:p>
                  </a:txBody>
                  <a:tcPr/>
                </a:tc>
                <a:tc>
                  <a:txBody>
                    <a:bodyPr lIns="54864" rIns="54864" tIns="18288" bIns="18288" wrap="square" anchor="ctr"/>
                    <a:lstStyle/>
                    <a:p>
                      <a:pPr algn="l"/>
                      <a:r>
                        <a:rPr sz="919" b="0">
                          <a:solidFill>
                            <a:srgbClr val="000000"/>
                          </a:solidFill>
                          <a:latin typeface="Calibri"/>
                        </a:rPr>
                        <a:t>5.2 %</a:t>
                      </a:r>
                    </a:p>
                  </a:txBody>
                  <a:tcPr/>
                </a:tc>
                <a:tc>
                  <a:txBody>
                    <a:bodyPr lIns="54864" rIns="54864" tIns="18288" bIns="18288" wrap="square" anchor="ctr"/>
                    <a:lstStyle/>
                    <a:p>
                      <a:pPr algn="l"/>
                      <a:r>
                        <a:rPr sz="919" b="0">
                          <a:solidFill>
                            <a:srgbClr val="000000"/>
                          </a:solidFill>
                          <a:latin typeface="Calibri"/>
                        </a:rPr>
                        <a:t>5.8 %</a:t>
                      </a:r>
                    </a:p>
                  </a:txBody>
                  <a:tcPr/>
                </a:tc>
                <a:tc>
                  <a:txBody>
                    <a:bodyPr lIns="54864" rIns="54864" tIns="18288" bIns="18288" wrap="square" anchor="ctr"/>
                    <a:lstStyle/>
                    <a:p>
                      <a:pPr algn="l"/>
                      <a:r>
                        <a:rPr sz="919" b="0">
                          <a:solidFill>
                            <a:srgbClr val="000000"/>
                          </a:solidFill>
                          <a:latin typeface="Calibri"/>
                        </a:rPr>
                        <a:t>14.3 %</a:t>
                      </a:r>
                    </a:p>
                  </a:txBody>
                  <a:tcPr/>
                </a:tc>
                <a:tc>
                  <a:txBody>
                    <a:bodyPr lIns="54864" rIns="54864" tIns="18288" bIns="18288" wrap="square" anchor="ctr"/>
                    <a:lstStyle/>
                    <a:p>
                      <a:pPr algn="l"/>
                      <a:r>
                        <a:rPr sz="919" b="0">
                          <a:solidFill>
                            <a:srgbClr val="000000"/>
                          </a:solidFill>
                          <a:latin typeface="Calibri"/>
                        </a:rPr>
                        <a:t>PLA/PETG = at fracture; TPU = frame limit</a:t>
                      </a:r>
                    </a:p>
                  </a:txBody>
                  <a:tcPr/>
                </a:tc>
              </a:tr>
              <a:tr h="384048">
                <a:tc>
                  <a:txBody>
                    <a:bodyPr lIns="54864" rIns="54864" tIns="18288" bIns="18288" wrap="square" anchor="ctr"/>
                    <a:lstStyle/>
                    <a:p>
                      <a:pPr algn="l"/>
                      <a:r>
                        <a:rPr sz="919" b="0">
                          <a:solidFill>
                            <a:srgbClr val="000000"/>
                          </a:solidFill>
                          <a:latin typeface="Calibri"/>
                        </a:rPr>
                        <a:t>Ended by</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frame ran out at 15 mm</a:t>
                      </a:r>
                    </a:p>
                  </a:txBody>
                  <a:tcPr/>
                </a:tc>
                <a:tc>
                  <a:txBody>
                    <a:bodyPr lIns="54864" rIns="54864" tIns="18288" bIns="18288" wrap="square" anchor="ctr"/>
                    <a:lstStyle/>
                    <a:p>
                      <a:pPr algn="l"/>
                      <a:r>
                        <a:rPr sz="919" b="0">
                          <a:solidFill>
                            <a:srgbClr val="000000"/>
                          </a:solidFill>
                          <a:latin typeface="Calibri"/>
                        </a:rPr>
                        <a:t>—</a:t>
                      </a:r>
                    </a:p>
                  </a:txBody>
                  <a:tcPr/>
                </a:tc>
              </a:tr>
            </a:tbl>
          </a:graphicData>
        </a:graphic>
      </p:graphicFrame>
      <p:sp>
        <p:nvSpPr>
          <p:cNvPr id="6" name="TextBox 5"/>
          <p:cNvSpPr txBox="1"/>
          <p:nvPr/>
        </p:nvSpPr>
        <p:spPr>
          <a:xfrm>
            <a:off x="457200" y="3657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can claim</a:t>
            </a:r>
          </a:p>
        </p:txBody>
      </p:sp>
      <p:sp>
        <p:nvSpPr>
          <p:cNvPr id="7" name="TextBox 6"/>
          <p:cNvSpPr txBox="1"/>
          <p:nvPr/>
        </p:nvSpPr>
        <p:spPr>
          <a:xfrm>
            <a:off x="457200" y="4005072"/>
            <a:ext cx="5577840" cy="2377440"/>
          </a:xfrm>
          <a:prstGeom prst="rect">
            <a:avLst/>
          </a:prstGeom>
          <a:noFill/>
        </p:spPr>
        <p:txBody>
          <a:bodyPr wrap="square" lIns="45720" rIns="45720" tIns="18288" bIns="18288" anchor="t">
            <a:spAutoFit/>
          </a:bodyPr>
          <a:lstStyle/>
          <a:p>
            <a:pPr algn="l"/>
            <a:r>
              <a:rPr sz="980" b="0" i="0">
                <a:solidFill>
                  <a:srgbClr val="000000"/>
                </a:solidFill>
                <a:latin typeface="Calibri"/>
              </a:rPr>
              <a:t>•  STIFFNESS, fully. Three materials, correct order, every value inside its published band, with repeatability on all three.
•  PLA vs PETG, fully. Both fractured, so strength and ductility are real measurements: 46.8 vs 41.1 MPa and 5.2 vs 5.8 % strain. PETG less strong, more ductile — as expected.
•  The DUCTILITY ORDERING including TPU. TPU passed 14.3 % without failing, which already exceeds both fractured values.</a:t>
            </a:r>
          </a:p>
        </p:txBody>
      </p:sp>
      <p:sp>
        <p:nvSpPr>
          <p:cNvPr id="8" name="TextBox 7"/>
          <p:cNvSpPr txBox="1"/>
          <p:nvPr/>
        </p:nvSpPr>
        <p:spPr>
          <a:xfrm>
            <a:off x="6309360" y="36576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must NOT claim</a:t>
            </a:r>
          </a:p>
        </p:txBody>
      </p:sp>
      <p:sp>
        <p:nvSpPr>
          <p:cNvPr id="9" name="TextBox 8"/>
          <p:cNvSpPr txBox="1"/>
          <p:nvPr/>
        </p:nvSpPr>
        <p:spPr>
          <a:xfrm>
            <a:off x="6309360" y="4005072"/>
            <a:ext cx="5532120" cy="2377440"/>
          </a:xfrm>
          <a:prstGeom prst="rect">
            <a:avLst/>
          </a:prstGeom>
          <a:noFill/>
        </p:spPr>
        <p:txBody>
          <a:bodyPr wrap="square" lIns="45720" rIns="45720" tIns="18288" bIns="18288" anchor="t">
            <a:spAutoFit/>
          </a:bodyPr>
          <a:lstStyle/>
          <a:p>
            <a:pPr algn="l"/>
            <a:r>
              <a:rPr sz="940" b="0" i="0">
                <a:solidFill>
                  <a:srgbClr val="000000"/>
                </a:solidFill>
                <a:latin typeface="Calibri"/>
              </a:rPr>
              <a:t>•  TPU's STRENGTH. Its curve was still rising when the frame ran out. Published TPU 95A breaks at 25-40 MPa — comparable to PETG — but at 400-700 % elongation.
•  Any 'PLA is 20× stronger than TPU' figure. That ratio is taken at MATCHED STRAIN and would misrepresent the material.
•  TPU's ε_f or toughness. Both are lower bounds set by the instrument.
•  A TPU fracture on this rig at all: 30 mm of travel is 24 % gauge strain, and TPU needs 400 %. It would take a gauge of ~5 mm, which breaks the comparison.</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THE TREND AS EXPECTED? — YES, AND FOR THE RIGHT REASONS</a:t>
            </a:r>
          </a:p>
        </p:txBody>
      </p:sp>
      <p:sp>
        <p:nvSpPr>
          <p:cNvPr id="5" name="TextBox 4"/>
          <p:cNvSpPr txBox="1"/>
          <p:nvPr/>
        </p:nvSpPr>
        <p:spPr>
          <a:xfrm>
            <a:off x="457200" y="1234440"/>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Prediction, result, and the physical reason</a:t>
            </a:r>
          </a:p>
        </p:txBody>
      </p:sp>
      <p:graphicFrame>
        <p:nvGraphicFramePr>
          <p:cNvPr id="6" name="Table 5"/>
          <p:cNvGraphicFramePr>
            <a:graphicFrameLocks noGrp="1"/>
          </p:cNvGraphicFramePr>
          <p:nvPr/>
        </p:nvGraphicFramePr>
        <p:xfrm>
          <a:off x="457200" y="1600200"/>
          <a:ext cx="11338559" cy="2377440"/>
        </p:xfrm>
        <a:graphic>
          <a:graphicData uri="http://schemas.openxmlformats.org/drawingml/2006/table">
            <a:tbl>
              <a:tblPr firstRow="1" bandRow="1">
                <a:tableStyleId>{5C22544A-7EE6-4342-B048-85BDC9FD1C3A}</a:tableStyleId>
              </a:tblPr>
              <a:tblGrid>
                <a:gridCol w="2834640"/>
                <a:gridCol w="3924886"/>
                <a:gridCol w="4579033"/>
              </a:tblGrid>
              <a:tr h="594360">
                <a:tc>
                  <a:txBody>
                    <a:bodyPr lIns="54864" rIns="54864" tIns="18288" bIns="18288" wrap="square" anchor="ctr"/>
                    <a:lstStyle/>
                    <a:p>
                      <a:pPr algn="l"/>
                      <a:r>
                        <a:rPr sz="980" b="1">
                          <a:solidFill>
                            <a:srgbClr val="FFFFFF"/>
                          </a:solidFill>
                          <a:latin typeface="Calibri"/>
                        </a:rPr>
                        <a:t>Expectation from the literature</a:t>
                      </a:r>
                    </a:p>
                  </a:txBody>
                  <a:tcPr>
                    <a:solidFill>
                      <a:srgbClr val="143D2F"/>
                    </a:solidFill>
                  </a:tcPr>
                </a:tc>
                <a:tc>
                  <a:txBody>
                    <a:bodyPr lIns="54864" rIns="54864" tIns="18288" bIns="18288" wrap="square" anchor="ctr"/>
                    <a:lstStyle/>
                    <a:p>
                      <a:pPr algn="l"/>
                      <a:r>
                        <a:rPr sz="980" b="1">
                          <a:solidFill>
                            <a:srgbClr val="FFFFFF"/>
                          </a:solidFill>
                          <a:latin typeface="Calibri"/>
                        </a:rPr>
                        <a:t>What the rig measured</a:t>
                      </a:r>
                    </a:p>
                  </a:txBody>
                  <a:tcPr>
                    <a:solidFill>
                      <a:srgbClr val="143D2F"/>
                    </a:solidFill>
                  </a:tcPr>
                </a:tc>
                <a:tc>
                  <a:txBody>
                    <a:bodyPr lIns="54864" rIns="54864" tIns="18288" bIns="18288" wrap="square" anchor="ctr"/>
                    <a:lstStyle/>
                    <a:p>
                      <a:pPr algn="l"/>
                      <a:r>
                        <a:rPr sz="980" b="1">
                          <a:solidFill>
                            <a:srgbClr val="FFFFFF"/>
                          </a:solidFill>
                          <a:latin typeface="Calibri"/>
                        </a:rPr>
                        <a:t>Why the material does this</a:t>
                      </a:r>
                    </a:p>
                  </a:txBody>
                  <a:tcPr>
                    <a:solidFill>
                      <a:srgbClr val="143D2F"/>
                    </a:solidFill>
                  </a:tcPr>
                </a:tc>
              </a:tr>
              <a:tr h="594360">
                <a:tc>
                  <a:txBody>
                    <a:bodyPr lIns="54864" rIns="54864" tIns="18288" bIns="18288" wrap="square" anchor="ctr"/>
                    <a:lstStyle/>
                    <a:p>
                      <a:pPr algn="l"/>
                      <a:r>
                        <a:rPr sz="880" b="0">
                          <a:solidFill>
                            <a:srgbClr val="000000"/>
                          </a:solidFill>
                          <a:latin typeface="Calibri"/>
                        </a:rPr>
                        <a:t>PLA stiffest and strongest, least ductile</a:t>
                      </a:r>
                    </a:p>
                  </a:txBody>
                  <a:tcPr/>
                </a:tc>
                <a:tc>
                  <a:txBody>
                    <a:bodyPr lIns="54864" rIns="54864" tIns="18288" bIns="18288" wrap="square" anchor="ctr"/>
                    <a:lstStyle/>
                    <a:p>
                      <a:pPr algn="l"/>
                      <a:r>
                        <a:rPr sz="880" b="0">
                          <a:solidFill>
                            <a:srgbClr val="000000"/>
                          </a:solidFill>
                          <a:latin typeface="Calibri"/>
                        </a:rPr>
                        <a:t>E 3.09 GPa · σ 46.8 MPa · fractures at 5.2 % strain — highest E, highest σ, least ductile</a:t>
                      </a:r>
                    </a:p>
                  </a:txBody>
                  <a:tcPr/>
                </a:tc>
                <a:tc>
                  <a:txBody>
                    <a:bodyPr lIns="54864" rIns="54864" tIns="18288" bIns="18288" wrap="square" anchor="ctr"/>
                    <a:lstStyle/>
                    <a:p>
                      <a:pPr algn="l"/>
                      <a:r>
                        <a:rPr sz="880" b="0">
                          <a:solidFill>
                            <a:srgbClr val="000000"/>
                          </a:solidFill>
                          <a:latin typeface="Calibri"/>
                        </a:rPr>
                        <a:t>Glassy, high-crystallinity polyester well below Tg; chains cannot slide, so it fails by brittle crazing soon after yield</a:t>
                      </a:r>
                    </a:p>
                  </a:txBody>
                  <a:tcPr/>
                </a:tc>
              </a:tr>
              <a:tr h="594360">
                <a:tc>
                  <a:txBody>
                    <a:bodyPr lIns="54864" rIns="54864" tIns="18288" bIns="18288" wrap="square" anchor="ctr"/>
                    <a:lstStyle/>
                    <a:p>
                      <a:pPr algn="l"/>
                      <a:r>
                        <a:rPr sz="880" b="0">
                          <a:solidFill>
                            <a:srgbClr val="000000"/>
                          </a:solidFill>
                          <a:latin typeface="Calibri"/>
                        </a:rPr>
                        <a:t>PETG slightly less stiff and strong, more ductile</a:t>
                      </a:r>
                    </a:p>
                  </a:txBody>
                  <a:tcPr/>
                </a:tc>
                <a:tc>
                  <a:txBody>
                    <a:bodyPr lIns="54864" rIns="54864" tIns="18288" bIns="18288" wrap="square" anchor="ctr"/>
                    <a:lstStyle/>
                    <a:p>
                      <a:pPr algn="l"/>
                      <a:r>
                        <a:rPr sz="880" b="0">
                          <a:solidFill>
                            <a:srgbClr val="000000"/>
                          </a:solidFill>
                          <a:latin typeface="Calibri"/>
                        </a:rPr>
                        <a:t>E 1.96 GPa (−36 % vs PLA) · σ 41.1 MPa (−12 %) · fractures at 5.8 % strain (+11 %)</a:t>
                      </a:r>
                    </a:p>
                  </a:txBody>
                  <a:tcPr/>
                </a:tc>
                <a:tc>
                  <a:txBody>
                    <a:bodyPr lIns="54864" rIns="54864" tIns="18288" bIns="18288" wrap="square" anchor="ctr"/>
                    <a:lstStyle/>
                    <a:p>
                      <a:pPr algn="l"/>
                      <a:r>
                        <a:rPr sz="880" b="0">
                          <a:solidFill>
                            <a:srgbClr val="000000"/>
                          </a:solidFill>
                          <a:latin typeface="Calibri"/>
                        </a:rPr>
                        <a:t>The glycol modification suppresses crystallisation, leaving an amorphous copolyester that yields and draws instead of crazing</a:t>
                      </a:r>
                    </a:p>
                  </a:txBody>
                  <a:tcPr/>
                </a:tc>
              </a:tr>
              <a:tr h="594360">
                <a:tc>
                  <a:txBody>
                    <a:bodyPr lIns="54864" rIns="54864" tIns="18288" bIns="18288" wrap="square" anchor="ctr"/>
                    <a:lstStyle/>
                    <a:p>
                      <a:pPr algn="l"/>
                      <a:r>
                        <a:rPr sz="880" b="0">
                          <a:solidFill>
                            <a:srgbClr val="000000"/>
                          </a:solidFill>
                          <a:latin typeface="Calibri"/>
                        </a:rPr>
                        <a:t>TPU two decades softer, effectively unbreakable at this scale</a:t>
                      </a:r>
                    </a:p>
                  </a:txBody>
                  <a:tcPr/>
                </a:tc>
                <a:tc>
                  <a:txBody>
                    <a:bodyPr lIns="54864" rIns="54864" tIns="18288" bIns="18288" wrap="square" anchor="ctr"/>
                    <a:lstStyle/>
                    <a:p>
                      <a:pPr algn="l"/>
                      <a:r>
                        <a:rPr sz="880" b="0">
                          <a:solidFill>
                            <a:srgbClr val="000000"/>
                          </a:solidFill>
                          <a:latin typeface="Calibri"/>
                        </a:rPr>
                        <a:t>E 25 MPa — 126× below PLA. Still rising at 14.3 % strain with no yield point</a:t>
                      </a:r>
                    </a:p>
                  </a:txBody>
                  <a:tcPr/>
                </a:tc>
                <a:tc>
                  <a:txBody>
                    <a:bodyPr lIns="54864" rIns="54864" tIns="18288" bIns="18288" wrap="square" anchor="ctr"/>
                    <a:lstStyle/>
                    <a:p>
                      <a:pPr algn="l"/>
                      <a:r>
                        <a:rPr sz="880" b="0">
                          <a:solidFill>
                            <a:srgbClr val="000000"/>
                          </a:solidFill>
                          <a:latin typeface="Calibri"/>
                        </a:rPr>
                        <a:t>Block copolymer: rubbery soft segments carry the strain while hard segments act as physical crosslinks — hyperelastic, so there is no yield to find</a:t>
                      </a:r>
                    </a:p>
                  </a:txBody>
                  <a:tcPr/>
                </a:tc>
              </a:tr>
            </a:tbl>
          </a:graphicData>
        </a:graphic>
      </p:graphicFrame>
      <p:sp>
        <p:nvSpPr>
          <p:cNvPr id="7" name="TextBox 6"/>
          <p:cNvSpPr txBox="1"/>
          <p:nvPr/>
        </p:nvSpPr>
        <p:spPr>
          <a:xfrm>
            <a:off x="457200" y="41605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number that carries it</a:t>
            </a:r>
          </a:p>
        </p:txBody>
      </p:sp>
      <p:sp>
        <p:nvSpPr>
          <p:cNvPr id="8" name="Rounded Rectangle 7"/>
          <p:cNvSpPr/>
          <p:nvPr/>
        </p:nvSpPr>
        <p:spPr>
          <a:xfrm>
            <a:off x="45720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GPa</a:t>
            </a:r>
          </a:p>
          <a:p>
            <a:pPr algn="ctr"/>
            <a:r>
              <a:rPr sz="950">
                <a:solidFill>
                  <a:srgbClr val="000000"/>
                </a:solidFill>
                <a:latin typeface="Calibri"/>
              </a:rPr>
              <a:t>PLA</a:t>
            </a:r>
          </a:p>
        </p:txBody>
      </p:sp>
      <p:sp>
        <p:nvSpPr>
          <p:cNvPr id="9" name="Rounded Rectangle 8"/>
          <p:cNvSpPr/>
          <p:nvPr/>
        </p:nvSpPr>
        <p:spPr>
          <a:xfrm>
            <a:off x="233172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1.96 GPa</a:t>
            </a:r>
          </a:p>
          <a:p>
            <a:pPr algn="ctr"/>
            <a:r>
              <a:rPr sz="950">
                <a:solidFill>
                  <a:srgbClr val="000000"/>
                </a:solidFill>
                <a:latin typeface="Calibri"/>
              </a:rPr>
              <a:t>PETG</a:t>
            </a:r>
          </a:p>
        </p:txBody>
      </p:sp>
      <p:sp>
        <p:nvSpPr>
          <p:cNvPr id="10" name="Rounded Rectangle 9"/>
          <p:cNvSpPr/>
          <p:nvPr/>
        </p:nvSpPr>
        <p:spPr>
          <a:xfrm>
            <a:off x="420624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25 MPa</a:t>
            </a:r>
          </a:p>
          <a:p>
            <a:pPr algn="ctr"/>
            <a:r>
              <a:rPr sz="950">
                <a:solidFill>
                  <a:srgbClr val="000000"/>
                </a:solidFill>
                <a:latin typeface="Calibri"/>
              </a:rPr>
              <a:t>TPU</a:t>
            </a:r>
          </a:p>
        </p:txBody>
      </p:sp>
      <p:sp>
        <p:nvSpPr>
          <p:cNvPr id="11" name="TextBox 10"/>
          <p:cNvSpPr txBox="1"/>
          <p:nvPr/>
        </p:nvSpPr>
        <p:spPr>
          <a:xfrm>
            <a:off x="6309360" y="4160520"/>
            <a:ext cx="5532120" cy="1645920"/>
          </a:xfrm>
          <a:prstGeom prst="rect">
            <a:avLst/>
          </a:prstGeom>
          <a:noFill/>
        </p:spPr>
        <p:txBody>
          <a:bodyPr wrap="square" lIns="45720" rIns="45720" tIns="18288" bIns="18288" anchor="t">
            <a:spAutoFit/>
          </a:bodyPr>
          <a:lstStyle/>
          <a:p>
            <a:pPr algn="l"/>
            <a:r>
              <a:rPr sz="1000" b="0" i="0">
                <a:solidFill>
                  <a:srgbClr val="000000"/>
                </a:solidFill>
                <a:latin typeface="Calibri"/>
              </a:rPr>
              <a:t>Three materials chosen to span the useful range of FDM polymers, and the rig separates them by a factor of 126 without ambiguity — every value inside its published band, every material repeatable run to run.
That is the result. TPU's strength and elongation at break sit outside what this rig can reach and are quoted from the datasheet, clearly marked as such.</a:t>
            </a:r>
          </a:p>
        </p:txBody>
      </p:sp>
      <p:sp>
        <p:nvSpPr>
          <p:cNvPr id="12" name="Rectangle 11"/>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STIFFNESS RATIO PLA : PETG : TPU = 126 : 80 : 1 — THE EXPECTED ORDER, THE EXPECTED MAGNITUDES, ON ONE RIG WITH ONE PROTOCOL.</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DOES MARKER SPACING CHANGE THE STRAIN? — S33 / S34 AT 45 mm</a:t>
            </a:r>
          </a:p>
        </p:txBody>
      </p:sp>
      <p:pic>
        <p:nvPicPr>
          <p:cNvPr id="5" name="Picture 4" descr="gauge_geometry.png"/>
          <p:cNvPicPr>
            <a:picLocks noChangeAspect="1"/>
          </p:cNvPicPr>
          <p:nvPr/>
        </p:nvPicPr>
        <p:blipFill>
          <a:blip r:embed="rId2"/>
          <a:stretch>
            <a:fillRect/>
          </a:stretch>
        </p:blipFill>
        <p:spPr>
          <a:xfrm>
            <a:off x="1699952" y="1152144"/>
            <a:ext cx="8761614" cy="2331720"/>
          </a:xfrm>
          <a:prstGeom prst="rect">
            <a:avLst/>
          </a:prstGeom>
        </p:spPr>
      </p:pic>
      <p:sp>
        <p:nvSpPr>
          <p:cNvPr id="6" name="TextBox 5"/>
          <p:cNvSpPr txBox="1"/>
          <p:nvPr/>
        </p:nvSpPr>
        <p:spPr>
          <a:xfrm>
            <a:off x="457200" y="37033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deliberate change</a:t>
            </a:r>
          </a:p>
        </p:txBody>
      </p:sp>
      <p:graphicFrame>
        <p:nvGraphicFramePr>
          <p:cNvPr id="7" name="Table 6"/>
          <p:cNvGraphicFramePr>
            <a:graphicFrameLocks noGrp="1"/>
          </p:cNvGraphicFramePr>
          <p:nvPr/>
        </p:nvGraphicFramePr>
        <p:xfrm>
          <a:off x="457200" y="4041648"/>
          <a:ext cx="5577839" cy="1234440"/>
        </p:xfrm>
        <a:graphic>
          <a:graphicData uri="http://schemas.openxmlformats.org/drawingml/2006/table">
            <a:tbl>
              <a:tblPr firstRow="1" bandRow="1">
                <a:tableStyleId>{5C22544A-7EE6-4342-B048-85BDC9FD1C3A}</a:tableStyleId>
              </a:tblPr>
              <a:tblGrid>
                <a:gridCol w="2873432"/>
                <a:gridCol w="2704407"/>
              </a:tblGrid>
              <a:tr h="30861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Changed</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100 % infill, white specimen</a:t>
                      </a:r>
                    </a:p>
                  </a:txBody>
                  <a:tcPr/>
                </a:tc>
                <a:tc>
                  <a:txBody>
                    <a:bodyPr lIns="54864" rIns="54864" tIns="18288" bIns="18288" wrap="square" anchor="ctr"/>
                    <a:lstStyle/>
                    <a:p>
                      <a:pPr algn="l"/>
                      <a:r>
                        <a:rPr sz="900" b="0">
                          <a:solidFill>
                            <a:srgbClr val="000000"/>
                          </a:solidFill>
                          <a:latin typeface="Calibri"/>
                        </a:rPr>
                        <a:t>marker spacing 80 mm → 45 mm</a:t>
                      </a:r>
                    </a:p>
                  </a:txBody>
                  <a:tcPr/>
                </a:tc>
              </a:tr>
              <a:tr h="308610">
                <a:tc>
                  <a:txBody>
                    <a:bodyPr lIns="54864" rIns="54864" tIns="18288" bIns="18288" wrap="square" anchor="ctr"/>
                    <a:lstStyle/>
                    <a:p>
                      <a:pPr algn="l"/>
                      <a:r>
                        <a:rPr sz="900" b="0">
                          <a:solidFill>
                            <a:srgbClr val="000000"/>
                          </a:solidFill>
                          <a:latin typeface="Calibri"/>
                        </a:rPr>
                        <a:t>80 mm² section, 0.10 mm/s, ~300 N preload</a:t>
                      </a:r>
                    </a:p>
                  </a:txBody>
                  <a:tcPr/>
                </a:tc>
                <a:tc>
                  <a:txBody>
                    <a:bodyPr lIns="54864" rIns="54864" tIns="18288" bIns="18288" wrap="square" anchor="ctr"/>
                    <a:lstStyle/>
                    <a:p>
                      <a:pPr algn="l"/>
                      <a:r>
                        <a:rPr sz="900" b="0">
                          <a:solidFill>
                            <a:srgbClr val="000000"/>
                          </a:solidFill>
                          <a:latin typeface="Calibri"/>
                        </a:rPr>
                        <a:t>Px₀ 1675 px → 939 px</a:t>
                      </a:r>
                    </a:p>
                  </a:txBody>
                  <a:tcPr/>
                </a:tc>
              </a:tr>
              <a:tr h="308610">
                <a:tc>
                  <a:txBody>
                    <a:bodyPr lIns="54864" rIns="54864" tIns="18288" bIns="18288" wrap="square" anchor="ctr"/>
                    <a:lstStyle/>
                    <a:p>
                      <a:pPr algn="l"/>
                      <a:r>
                        <a:rPr sz="900" b="0">
                          <a:solidFill>
                            <a:srgbClr val="000000"/>
                          </a:solidFill>
                          <a:latin typeface="Calibri"/>
                        </a:rPr>
                        <a:t>same rig, same optics at 20.9 px/mm</a:t>
                      </a:r>
                    </a:p>
                  </a:txBody>
                  <a:tcPr/>
                </a:tc>
                <a:tc>
                  <a:txBody>
                    <a:bodyPr lIns="54864" rIns="54864" tIns="18288" bIns="18288" wrap="square" anchor="ctr"/>
                    <a:lstStyle/>
                    <a:p>
                      <a:pPr algn="l"/>
                      <a:r>
                        <a:rPr sz="900" b="0">
                          <a:solidFill>
                            <a:srgbClr val="000000"/>
                          </a:solidFill>
                          <a:latin typeface="Calibri"/>
                        </a:rPr>
                        <a:t>(a 44 % shorter pixel baseline)</a:t>
                      </a:r>
                    </a:p>
                  </a:txBody>
                  <a:tcPr/>
                </a:tc>
              </a:tr>
            </a:tbl>
          </a:graphicData>
        </a:graphic>
      </p:graphicFrame>
      <p:sp>
        <p:nvSpPr>
          <p:cNvPr id="8" name="TextBox 7"/>
          <p:cNvSpPr txBox="1"/>
          <p:nvPr/>
        </p:nvSpPr>
        <p:spPr>
          <a:xfrm>
            <a:off x="6309360" y="370332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recording error found on the way in</a:t>
            </a:r>
          </a:p>
        </p:txBody>
      </p:sp>
      <p:sp>
        <p:nvSpPr>
          <p:cNvPr id="9" name="TextBox 8"/>
          <p:cNvSpPr txBox="1"/>
          <p:nvPr/>
        </p:nvSpPr>
        <p:spPr>
          <a:xfrm>
            <a:off x="6309360" y="4041648"/>
            <a:ext cx="5532120" cy="1234440"/>
          </a:xfrm>
          <a:prstGeom prst="rect">
            <a:avLst/>
          </a:prstGeom>
          <a:noFill/>
        </p:spPr>
        <p:txBody>
          <a:bodyPr wrap="square" lIns="45720" rIns="45720" tIns="18288" bIns="18288" anchor="t">
            <a:spAutoFit/>
          </a:bodyPr>
          <a:lstStyle/>
          <a:p>
            <a:pPr algn="l"/>
            <a:r>
              <a:rPr sz="950" b="0" i="0">
                <a:solidFill>
                  <a:srgbClr val="000000"/>
                </a:solidFill>
                <a:latin typeface="Calibri"/>
              </a:rPr>
              <a:t>Both CSVs were written with “Gauge Length: 80.0 mm” — the app was left on the old setting. Corrected in the files, with the original preserved in a note.
It changed NO result, and that was checked rather than assumed: DIC strain is (L_px − Px₀)/Px₀, a ratio of PIXELS, and the gauge length never enters it. Only px_per_mm was wrong (11.75 → 20.89). Re-analysing both files at 45 mm and at 80 mm gives identical E, σ_y, UTS, ε_f and toughness.</a:t>
            </a:r>
          </a:p>
        </p:txBody>
      </p:sp>
      <p:sp>
        <p:nvSpPr>
          <p:cNvPr id="10" name="Rectangle 9"/>
          <p:cNvSpPr/>
          <p:nvPr/>
        </p:nvSpPr>
        <p:spPr>
          <a:xfrm>
            <a:off x="365760" y="585216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Px₀ / 45 mm = 20.89 px/mm and Px₀ / 80 mm = 20.94 px/mm — THE SAME OPTICS, so the data itself confirms the two spacings.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S33 and S34, 2026-08-24, on the PPD-UTM Mk II (see p183). Reference pair S25 / S26 from the same material and protocol at 80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S33 vs S34 — REPEATABILITY AT THE NEW 45 mm SPACING</a:t>
            </a:r>
          </a:p>
        </p:txBody>
      </p:sp>
      <p:pic>
        <p:nvPicPr>
          <p:cNvPr id="5" name="Picture 4" descr="gauge_pair.png"/>
          <p:cNvPicPr>
            <a:picLocks noChangeAspect="1"/>
          </p:cNvPicPr>
          <p:nvPr/>
        </p:nvPicPr>
        <p:blipFill>
          <a:blip r:embed="rId2"/>
          <a:stretch>
            <a:fillRect/>
          </a:stretch>
        </p:blipFill>
        <p:spPr>
          <a:xfrm>
            <a:off x="681445" y="1170432"/>
            <a:ext cx="10798628" cy="3657600"/>
          </a:xfrm>
          <a:prstGeom prst="rect">
            <a:avLst/>
          </a:prstGeom>
        </p:spPr>
      </p:pic>
      <p:sp>
        <p:nvSpPr>
          <p:cNvPr id="6" name="TextBox 5"/>
          <p:cNvSpPr txBox="1"/>
          <p:nvPr/>
        </p:nvSpPr>
        <p:spPr>
          <a:xfrm>
            <a:off x="457200" y="49834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pair</a:t>
            </a:r>
          </a:p>
        </p:txBody>
      </p:sp>
      <p:graphicFrame>
        <p:nvGraphicFramePr>
          <p:cNvPr id="7" name="Table 6"/>
          <p:cNvGraphicFramePr>
            <a:graphicFrameLocks noGrp="1"/>
          </p:cNvGraphicFramePr>
          <p:nvPr/>
        </p:nvGraphicFramePr>
        <p:xfrm>
          <a:off x="457200" y="5321808"/>
          <a:ext cx="5577839" cy="914400"/>
        </p:xfrm>
        <a:graphic>
          <a:graphicData uri="http://schemas.openxmlformats.org/drawingml/2006/table">
            <a:tbl>
              <a:tblPr firstRow="1" bandRow="1">
                <a:tableStyleId>{5C22544A-7EE6-4342-B048-85BDC9FD1C3A}</a:tableStyleId>
              </a:tblPr>
              <a:tblGrid>
                <a:gridCol w="2296757"/>
                <a:gridCol w="1640541"/>
                <a:gridCol w="1640541"/>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S33</a:t>
                      </a:r>
                    </a:p>
                  </a:txBody>
                  <a:tcPr>
                    <a:solidFill>
                      <a:srgbClr val="143D2F"/>
                    </a:solidFill>
                  </a:tcPr>
                </a:tc>
                <a:tc>
                  <a:txBody>
                    <a:bodyPr lIns="54864" rIns="54864" tIns="18288" bIns="18288" wrap="square" anchor="ctr"/>
                    <a:lstStyle/>
                    <a:p>
                      <a:pPr algn="l"/>
                      <a:r>
                        <a:rPr sz="950" b="1">
                          <a:solidFill>
                            <a:srgbClr val="FFFFFF"/>
                          </a:solidFill>
                          <a:latin typeface="Calibri"/>
                        </a:rPr>
                        <a:t>S34</a:t>
                      </a:r>
                    </a:p>
                  </a:txBody>
                  <a:tcPr>
                    <a:solidFill>
                      <a:srgbClr val="143D2F"/>
                    </a:solidFill>
                  </a:tcPr>
                </a:tc>
              </a:tr>
              <a:tr h="228600">
                <a:tc>
                  <a:txBody>
                    <a:bodyPr lIns="54864" rIns="54864" tIns="18288" bIns="18288" wrap="square" anchor="ctr"/>
                    <a:lstStyle/>
                    <a:p>
                      <a:pPr algn="l"/>
                      <a:r>
                        <a:rPr sz="900" b="0">
                          <a:solidFill>
                            <a:srgbClr val="000000"/>
                          </a:solidFill>
                          <a:latin typeface="Calibri"/>
                        </a:rPr>
                        <a:t>E (GPa)</a:t>
                      </a:r>
                    </a:p>
                  </a:txBody>
                  <a:tcPr/>
                </a:tc>
                <a:tc>
                  <a:txBody>
                    <a:bodyPr lIns="54864" rIns="54864" tIns="18288" bIns="18288" wrap="square" anchor="ctr"/>
                    <a:lstStyle/>
                    <a:p>
                      <a:pPr algn="l"/>
                      <a:r>
                        <a:rPr sz="900" b="0">
                          <a:solidFill>
                            <a:srgbClr val="000000"/>
                          </a:solidFill>
                          <a:latin typeface="Calibri"/>
                        </a:rPr>
                        <a:t>3.174</a:t>
                      </a:r>
                    </a:p>
                  </a:txBody>
                  <a:tcPr/>
                </a:tc>
                <a:tc>
                  <a:txBody>
                    <a:bodyPr lIns="54864" rIns="54864" tIns="18288" bIns="18288" wrap="square" anchor="ctr"/>
                    <a:lstStyle/>
                    <a:p>
                      <a:pPr algn="l"/>
                      <a:r>
                        <a:rPr sz="900" b="0">
                          <a:solidFill>
                            <a:srgbClr val="000000"/>
                          </a:solidFill>
                          <a:latin typeface="Calibri"/>
                        </a:rPr>
                        <a:t>3.451</a:t>
                      </a:r>
                    </a:p>
                  </a:txBody>
                  <a:tcPr/>
                </a:tc>
              </a:tr>
              <a:tr h="228600">
                <a:tc>
                  <a:txBody>
                    <a:bodyPr lIns="54864" rIns="54864" tIns="18288" bIns="18288" wrap="square" anchor="ctr"/>
                    <a:lstStyle/>
                    <a:p>
                      <a:pPr algn="l"/>
                      <a:r>
                        <a:rPr sz="900" b="0">
                          <a:solidFill>
                            <a:srgbClr val="000000"/>
                          </a:solidFill>
                          <a:latin typeface="Calibri"/>
                        </a:rPr>
                        <a:t>UTS (MPa)</a:t>
                      </a:r>
                    </a:p>
                  </a:txBody>
                  <a:tcPr/>
                </a:tc>
                <a:tc>
                  <a:txBody>
                    <a:bodyPr lIns="54864" rIns="54864" tIns="18288" bIns="18288" wrap="square" anchor="ctr"/>
                    <a:lstStyle/>
                    <a:p>
                      <a:pPr algn="l"/>
                      <a:r>
                        <a:rPr sz="900" b="0">
                          <a:solidFill>
                            <a:srgbClr val="000000"/>
                          </a:solidFill>
                          <a:latin typeface="Calibri"/>
                        </a:rPr>
                        <a:t>47.09</a:t>
                      </a:r>
                    </a:p>
                  </a:txBody>
                  <a:tcPr/>
                </a:tc>
                <a:tc>
                  <a:txBody>
                    <a:bodyPr lIns="54864" rIns="54864" tIns="18288" bIns="18288" wrap="square" anchor="ctr"/>
                    <a:lstStyle/>
                    <a:p>
                      <a:pPr algn="l"/>
                      <a:r>
                        <a:rPr sz="900" b="0">
                          <a:solidFill>
                            <a:srgbClr val="000000"/>
                          </a:solidFill>
                          <a:latin typeface="Calibri"/>
                        </a:rPr>
                        <a:t>48.34</a:t>
                      </a:r>
                    </a:p>
                  </a:txBody>
                  <a:tcPr/>
                </a:tc>
              </a:tr>
              <a:tr h="228600">
                <a:tc>
                  <a:txBody>
                    <a:bodyPr lIns="54864" rIns="54864" tIns="18288" bIns="18288" wrap="square" anchor="ctr"/>
                    <a:lstStyle/>
                    <a:p>
                      <a:pPr algn="l"/>
                      <a:r>
                        <a:rPr sz="900" b="0">
                          <a:solidFill>
                            <a:srgbClr val="000000"/>
                          </a:solidFill>
                          <a:latin typeface="Calibri"/>
                        </a:rPr>
                        <a:t>ε_f (%)</a:t>
                      </a:r>
                    </a:p>
                  </a:txBody>
                  <a:tcPr/>
                </a:tc>
                <a:tc>
                  <a:txBody>
                    <a:bodyPr lIns="54864" rIns="54864" tIns="18288" bIns="18288" wrap="square" anchor="ctr"/>
                    <a:lstStyle/>
                    <a:p>
                      <a:pPr algn="l"/>
                      <a:r>
                        <a:rPr sz="900" b="0">
                          <a:solidFill>
                            <a:srgbClr val="000000"/>
                          </a:solidFill>
                          <a:latin typeface="Calibri"/>
                        </a:rPr>
                        <a:t>2.95</a:t>
                      </a:r>
                    </a:p>
                  </a:txBody>
                  <a:tcPr/>
                </a:tc>
                <a:tc>
                  <a:txBody>
                    <a:bodyPr lIns="54864" rIns="54864" tIns="18288" bIns="18288" wrap="square" anchor="ctr"/>
                    <a:lstStyle/>
                    <a:p>
                      <a:pPr algn="l"/>
                      <a:r>
                        <a:rPr sz="900" b="0">
                          <a:solidFill>
                            <a:srgbClr val="000000"/>
                          </a:solidFill>
                          <a:latin typeface="Calibri"/>
                        </a:rPr>
                        <a:t>5.25</a:t>
                      </a:r>
                    </a:p>
                  </a:txBody>
                  <a:tcPr/>
                </a:tc>
              </a:tr>
            </a:tbl>
          </a:graphicData>
        </a:graphic>
      </p:graphicFrame>
      <p:sp>
        <p:nvSpPr>
          <p:cNvPr id="8" name="TextBox 7"/>
          <p:cNvSpPr txBox="1"/>
          <p:nvPr/>
        </p:nvSpPr>
        <p:spPr>
          <a:xfrm>
            <a:off x="6309360" y="49834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this before the comparison</a:t>
            </a:r>
          </a:p>
        </p:txBody>
      </p:sp>
      <p:sp>
        <p:nvSpPr>
          <p:cNvPr id="9" name="TextBox 8"/>
          <p:cNvSpPr txBox="1"/>
          <p:nvPr/>
        </p:nvSpPr>
        <p:spPr>
          <a:xfrm>
            <a:off x="6309360" y="5321808"/>
            <a:ext cx="5532120" cy="914400"/>
          </a:xfrm>
          <a:prstGeom prst="rect">
            <a:avLst/>
          </a:prstGeom>
          <a:noFill/>
        </p:spPr>
        <p:txBody>
          <a:bodyPr wrap="square" lIns="45720" rIns="45720" tIns="18288" bIns="18288" anchor="t">
            <a:spAutoFit/>
          </a:bodyPr>
          <a:lstStyle/>
          <a:p>
            <a:pPr algn="l"/>
            <a:r>
              <a:rPr sz="940" b="0" i="0">
                <a:solidFill>
                  <a:srgbClr val="000000"/>
                </a:solidFill>
                <a:latin typeface="Calibri"/>
              </a:rPr>
              <a:t>The two agree on UTS to 2.6 % but differ by up to 20 % in measured strain at low stress, closing to a few % by 40 MPa. That shape — large early, converging late — is GRIP SEATING in the toe region, not the material and not the markers.
It is also the yardstick for the next slide: this is what two specimens of the SAME spacing do.</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Curves end at fracture. Stress includes the recovered preload anchor (310 and 318 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45 mm vs 80 mm — THE CURVES DO NOT SEPARATE BY GAUGE</a:t>
            </a:r>
          </a:p>
        </p:txBody>
      </p:sp>
      <p:pic>
        <p:nvPicPr>
          <p:cNvPr id="5" name="Picture 4" descr="gauge_compare.png"/>
          <p:cNvPicPr>
            <a:picLocks noChangeAspect="1"/>
          </p:cNvPicPr>
          <p:nvPr/>
        </p:nvPicPr>
        <p:blipFill>
          <a:blip r:embed="rId2"/>
          <a:stretch>
            <a:fillRect/>
          </a:stretch>
        </p:blipFill>
        <p:spPr>
          <a:xfrm>
            <a:off x="587980" y="1170432"/>
            <a:ext cx="10985559" cy="3749040"/>
          </a:xfrm>
          <a:prstGeom prst="rect">
            <a:avLst/>
          </a:prstGeom>
        </p:spPr>
      </p:pic>
      <p:sp>
        <p:nvSpPr>
          <p:cNvPr id="6" name="TextBox 5"/>
          <p:cNvSpPr txBox="1"/>
          <p:nvPr/>
        </p:nvSpPr>
        <p:spPr>
          <a:xfrm>
            <a:off x="457200" y="5074920"/>
            <a:ext cx="11338560" cy="1143000"/>
          </a:xfrm>
          <a:prstGeom prst="rect">
            <a:avLst/>
          </a:prstGeom>
          <a:noFill/>
        </p:spPr>
        <p:txBody>
          <a:bodyPr wrap="square" lIns="45720" rIns="45720" tIns="18288" bIns="18288" anchor="t">
            <a:spAutoFit/>
          </a:bodyPr>
          <a:lstStyle/>
          <a:p>
            <a:pPr algn="l"/>
            <a:r>
              <a:rPr sz="980" b="0" i="0">
                <a:solidFill>
                  <a:srgbClr val="000000"/>
                </a:solidFill>
                <a:latin typeface="Calibri"/>
              </a:rPr>
              <a:t>LEFT: all four runs on one axis, coloured by spacing. They interleave — the 45 mm runs do not sit above or below the 80 mm runs.
RIGHT: the difference in measured strain at matched stress, one line per pairing. S33 against S25 holds within ±1.3 % from 10 to 40 MPa despite a pixel baseline 44 % shorter. The other pairing, S34 against S26, starts at −30 % and closes to −1 % by 40 MPa — the same toe-region signature seen WITHIN the 45 mm pair on the previous slide.</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Matched STRESS, not matched strain: force is what the machine applies, strain is what the DIC measures, and the measurement is what is under test.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TEST THAT SETTLES IT — SCATTER WITHIN vs BETWEEN GAUGES</a:t>
            </a:r>
          </a:p>
        </p:txBody>
      </p:sp>
      <p:pic>
        <p:nvPicPr>
          <p:cNvPr id="5" name="Picture 4" descr="gauge_scatter.png"/>
          <p:cNvPicPr>
            <a:picLocks noChangeAspect="1"/>
          </p:cNvPicPr>
          <p:nvPr/>
        </p:nvPicPr>
        <p:blipFill>
          <a:blip r:embed="rId2"/>
          <a:stretch>
            <a:fillRect/>
          </a:stretch>
        </p:blipFill>
        <p:spPr>
          <a:xfrm>
            <a:off x="365760" y="1234440"/>
            <a:ext cx="7680960" cy="3175782"/>
          </a:xfrm>
          <a:prstGeom prst="rect">
            <a:avLst/>
          </a:prstGeom>
        </p:spPr>
      </p:pic>
      <p:sp>
        <p:nvSpPr>
          <p:cNvPr id="6" name="TextBox 5"/>
          <p:cNvSpPr txBox="1"/>
          <p:nvPr/>
        </p:nvSpPr>
        <p:spPr>
          <a:xfrm>
            <a:off x="8183879" y="1234440"/>
            <a:ext cx="3657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argument</a:t>
            </a:r>
          </a:p>
        </p:txBody>
      </p:sp>
      <p:sp>
        <p:nvSpPr>
          <p:cNvPr id="7" name="TextBox 6"/>
          <p:cNvSpPr txBox="1"/>
          <p:nvPr/>
        </p:nvSpPr>
        <p:spPr>
          <a:xfrm>
            <a:off x="8183879" y="1600200"/>
            <a:ext cx="3657600" cy="3566160"/>
          </a:xfrm>
          <a:prstGeom prst="rect">
            <a:avLst/>
          </a:prstGeom>
          <a:noFill/>
        </p:spPr>
        <p:txBody>
          <a:bodyPr wrap="square" lIns="45720" rIns="45720" tIns="18288" bIns="18288" anchor="t">
            <a:spAutoFit/>
          </a:bodyPr>
          <a:lstStyle/>
          <a:p>
            <a:pPr algn="l"/>
            <a:r>
              <a:rPr sz="960" b="0" i="0">
                <a:solidFill>
                  <a:srgbClr val="000000"/>
                </a:solidFill>
                <a:latin typeface="Calibri"/>
              </a:rPr>
              <a:t>A gauge-length effect would show up as a green bar taller than the red and blue ones — a difference between the two spacings that exceeds what two specimens of the SAME spacing do.
It does not. At NO stress level is the green bar the tallest of the three, and by 40 MPa it is 0.3 % against 10.1 % and 7.9 % of within-pair scatter. It does exceed the BLUE bar at 15 and 20 MPa — but that is the toe region, where the 80 mm pair happens to agree closely with itself while the 45 mm pair does not.
So the honest conclusion is a NEGATIVE result, and a useful one: moving the markers from 80 mm to 45 mm does not measurably change the strain the DIC reports.</a:t>
            </a:r>
          </a:p>
        </p:txBody>
      </p:sp>
      <p:sp>
        <p:nvSpPr>
          <p:cNvPr id="8" name="Rectangle 7"/>
          <p:cNvSpPr/>
          <p:nvPr/>
        </p:nvSpPr>
        <p:spPr>
          <a:xfrm>
            <a:off x="365760" y="5349240"/>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DIFFERENCE BETWEEN GAUGES IS SMALLER THAN THE DIFFERENCE BETWEEN TWO SPECIMENS OF THE SAME GAUGE. THERE IS NO SPACING EFFECT TO FIND AT n=2.</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Bars are |difference| in measured strain at matched stress, per specimen pair.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MARKER-SPACING TEST VALIDATES — AND WHAT IT CANNOT</a:t>
            </a:r>
          </a:p>
        </p:txBody>
      </p:sp>
      <p:graphicFrame>
        <p:nvGraphicFramePr>
          <p:cNvPr id="5" name="Table 4"/>
          <p:cNvGraphicFramePr>
            <a:graphicFrameLocks noGrp="1"/>
          </p:cNvGraphicFramePr>
          <p:nvPr/>
        </p:nvGraphicFramePr>
        <p:xfrm>
          <a:off x="457200" y="1280160"/>
          <a:ext cx="11338560" cy="1417320"/>
        </p:xfrm>
        <a:graphic>
          <a:graphicData uri="http://schemas.openxmlformats.org/drawingml/2006/table">
            <a:tbl>
              <a:tblPr firstRow="1" bandRow="1">
                <a:tableStyleId>{5C22544A-7EE6-4342-B048-85BDC9FD1C3A}</a:tableStyleId>
              </a:tblPr>
              <a:tblGrid>
                <a:gridCol w="2125980"/>
                <a:gridCol w="2267712"/>
                <a:gridCol w="2267712"/>
                <a:gridCol w="1559052"/>
                <a:gridCol w="3118104"/>
              </a:tblGrid>
              <a:tr h="283464">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45 mm  (S33, S34)</a:t>
                      </a:r>
                    </a:p>
                  </a:txBody>
                  <a:tcPr>
                    <a:solidFill>
                      <a:srgbClr val="143D2F"/>
                    </a:solidFill>
                  </a:tcPr>
                </a:tc>
                <a:tc>
                  <a:txBody>
                    <a:bodyPr lIns="54864" rIns="54864" tIns="18288" bIns="18288" wrap="square" anchor="ctr"/>
                    <a:lstStyle/>
                    <a:p>
                      <a:pPr algn="l"/>
                      <a:r>
                        <a:rPr sz="980" b="1">
                          <a:solidFill>
                            <a:srgbClr val="FFFFFF"/>
                          </a:solidFill>
                          <a:latin typeface="Calibri"/>
                        </a:rPr>
                        <a:t>80 mm  (S25, S26)</a:t>
                      </a:r>
                    </a:p>
                  </a:txBody>
                  <a:tcPr>
                    <a:solidFill>
                      <a:srgbClr val="143D2F"/>
                    </a:solidFill>
                  </a:tcPr>
                </a:tc>
                <a:tc>
                  <a:txBody>
                    <a:bodyPr lIns="54864" rIns="54864" tIns="18288" bIns="18288" wrap="square" anchor="ctr"/>
                    <a:lstStyle/>
                    <a:p>
                      <a:pPr algn="l"/>
                      <a:r>
                        <a:rPr sz="980" b="1">
                          <a:solidFill>
                            <a:srgbClr val="FFFFFF"/>
                          </a:solidFill>
                          <a:latin typeface="Calibri"/>
                        </a:rPr>
                        <a:t>difference</a:t>
                      </a:r>
                    </a:p>
                  </a:txBody>
                  <a:tcPr>
                    <a:solidFill>
                      <a:srgbClr val="143D2F"/>
                    </a:solidFill>
                  </a:tcPr>
                </a:tc>
                <a:tc>
                  <a:txBody>
                    <a:bodyPr lIns="54864" rIns="54864" tIns="18288" bIns="18288" wrap="square" anchor="ctr"/>
                    <a:lstStyle/>
                    <a:p>
                      <a:pPr algn="l"/>
                      <a:r>
                        <a:rPr sz="980" b="1">
                          <a:solidFill>
                            <a:srgbClr val="FFFFFF"/>
                          </a:solidFill>
                          <a:latin typeface="Calibri"/>
                        </a:rPr>
                        <a:t>verdict</a:t>
                      </a:r>
                    </a:p>
                  </a:txBody>
                  <a:tcPr>
                    <a:solidFill>
                      <a:srgbClr val="143D2F"/>
                    </a:solidFill>
                  </a:tcPr>
                </a:tc>
              </a:tr>
              <a:tr h="283464">
                <a:tc>
                  <a:txBody>
                    <a:bodyPr lIns="54864" rIns="54864" tIns="18288" bIns="18288" wrap="square" anchor="ctr"/>
                    <a:lstStyle/>
                    <a:p>
                      <a:pPr algn="l"/>
                      <a:r>
                        <a:rPr sz="900" b="0">
                          <a:solidFill>
                            <a:srgbClr val="000000"/>
                          </a:solidFill>
                          <a:latin typeface="Calibri"/>
                        </a:rPr>
                        <a:t>Elastic modulus</a:t>
                      </a:r>
                    </a:p>
                  </a:txBody>
                  <a:tcPr/>
                </a:tc>
                <a:tc>
                  <a:txBody>
                    <a:bodyPr lIns="54864" rIns="54864" tIns="18288" bIns="18288" wrap="square" anchor="ctr"/>
                    <a:lstStyle/>
                    <a:p>
                      <a:pPr algn="l"/>
                      <a:r>
                        <a:rPr sz="900" b="0">
                          <a:solidFill>
                            <a:srgbClr val="000000"/>
                          </a:solidFill>
                          <a:latin typeface="Calibri"/>
                        </a:rPr>
                        <a:t>3.31 ± 0.14 GPa</a:t>
                      </a:r>
                    </a:p>
                  </a:txBody>
                  <a:tcPr/>
                </a:tc>
                <a:tc>
                  <a:txBody>
                    <a:bodyPr lIns="54864" rIns="54864" tIns="18288" bIns="18288" wrap="square" anchor="ctr"/>
                    <a:lstStyle/>
                    <a:p>
                      <a:pPr algn="l"/>
                      <a:r>
                        <a:rPr sz="900" b="0">
                          <a:solidFill>
                            <a:srgbClr val="000000"/>
                          </a:solidFill>
                          <a:latin typeface="Calibri"/>
                        </a:rPr>
                        <a:t>3.36 ± 0.19 GPa</a:t>
                      </a:r>
                    </a:p>
                  </a:txBody>
                  <a:tcPr/>
                </a:tc>
                <a:tc>
                  <a:txBody>
                    <a:bodyPr lIns="54864" rIns="54864" tIns="18288" bIns="18288" wrap="square" anchor="ctr"/>
                    <a:lstStyle/>
                    <a:p>
                      <a:pPr algn="l"/>
                      <a:r>
                        <a:rPr sz="900" b="0">
                          <a:solidFill>
                            <a:srgbClr val="000000"/>
                          </a:solidFill>
                          <a:latin typeface="Calibri"/>
                        </a:rPr>
                        <a:t>-1.3 %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47.71 ± 0.63 MPa</a:t>
                      </a:r>
                    </a:p>
                  </a:txBody>
                  <a:tcPr/>
                </a:tc>
                <a:tc>
                  <a:txBody>
                    <a:bodyPr lIns="54864" rIns="54864" tIns="18288" bIns="18288" wrap="square" anchor="ctr"/>
                    <a:lstStyle/>
                    <a:p>
                      <a:pPr algn="l"/>
                      <a:r>
                        <a:rPr sz="900" b="0">
                          <a:solidFill>
                            <a:srgbClr val="000000"/>
                          </a:solidFill>
                          <a:latin typeface="Calibri"/>
                        </a:rPr>
                        <a:t>46.66 ± 0.50 MPa</a:t>
                      </a:r>
                    </a:p>
                  </a:txBody>
                  <a:tcPr/>
                </a:tc>
                <a:tc>
                  <a:txBody>
                    <a:bodyPr lIns="54864" rIns="54864" tIns="18288" bIns="18288" wrap="square" anchor="ctr"/>
                    <a:lstStyle/>
                    <a:p>
                      <a:pPr algn="l"/>
                      <a:r>
                        <a:rPr sz="900" b="0">
                          <a:solidFill>
                            <a:srgbClr val="000000"/>
                          </a:solidFill>
                          <a:latin typeface="Calibri"/>
                        </a:rPr>
                        <a:t>+2.3 %</a:t>
                      </a:r>
                    </a:p>
                  </a:txBody>
                  <a:tcPr/>
                </a:tc>
                <a:tc>
                  <a:txBody>
                    <a:bodyPr lIns="54864" rIns="54864" tIns="18288" bIns="18288" wrap="square" anchor="ctr"/>
                    <a:lstStyle/>
                    <a:p>
                      <a:pPr algn="l"/>
                      <a:r>
                        <a:rPr sz="900" b="0">
                          <a:solidFill>
                            <a:srgbClr val="000000"/>
                          </a:solidFill>
                          <a:latin typeface="Calibri"/>
                        </a:rPr>
                        <a:t>cannot depend on gauge — it is F/A</a:t>
                      </a:r>
                    </a:p>
                  </a:txBody>
                  <a:tcPr/>
                </a:tc>
              </a:tr>
              <a:tr h="283464">
                <a:tc>
                  <a:txBody>
                    <a:bodyPr lIns="54864" rIns="54864" tIns="18288" bIns="18288" wrap="square" anchor="ctr"/>
                    <a:lstStyle/>
                    <a:p>
                      <a:pPr algn="l"/>
                      <a:r>
                        <a:rPr sz="900" b="0">
                          <a:solidFill>
                            <a:srgbClr val="000000"/>
                          </a:solidFill>
                          <a:latin typeface="Calibri"/>
                        </a:rPr>
                        <a:t>σ_y (0.2 %)</a:t>
                      </a:r>
                    </a:p>
                  </a:txBody>
                  <a:tcPr/>
                </a:tc>
                <a:tc>
                  <a:txBody>
                    <a:bodyPr lIns="54864" rIns="54864" tIns="18288" bIns="18288" wrap="square" anchor="ctr"/>
                    <a:lstStyle/>
                    <a:p>
                      <a:pPr algn="l"/>
                      <a:r>
                        <a:rPr sz="900" b="0">
                          <a:solidFill>
                            <a:srgbClr val="000000"/>
                          </a:solidFill>
                          <a:latin typeface="Calibri"/>
                        </a:rPr>
                        <a:t>39.37 ± 0.06 MPa</a:t>
                      </a:r>
                    </a:p>
                  </a:txBody>
                  <a:tcPr/>
                </a:tc>
                <a:tc>
                  <a:txBody>
                    <a:bodyPr lIns="54864" rIns="54864" tIns="18288" bIns="18288" wrap="square" anchor="ctr"/>
                    <a:lstStyle/>
                    <a:p>
                      <a:pPr algn="l"/>
                      <a:r>
                        <a:rPr sz="900" b="0">
                          <a:solidFill>
                            <a:srgbClr val="000000"/>
                          </a:solidFill>
                          <a:latin typeface="Calibri"/>
                        </a:rPr>
                        <a:t>40.78 ± 0.96 MPa</a:t>
                      </a:r>
                    </a:p>
                  </a:txBody>
                  <a:tcPr/>
                </a:tc>
                <a:tc>
                  <a:txBody>
                    <a:bodyPr lIns="54864" rIns="54864" tIns="18288" bIns="18288" wrap="square" anchor="ctr"/>
                    <a:lstStyle/>
                    <a:p>
                      <a:pPr algn="l"/>
                      <a:r>
                        <a:rPr sz="900" b="0">
                          <a:solidFill>
                            <a:srgbClr val="000000"/>
                          </a:solidFill>
                          <a:latin typeface="Calibri"/>
                        </a:rPr>
                        <a:t>-3.5 %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4.10 ± 1.15 %</a:t>
                      </a:r>
                    </a:p>
                  </a:txBody>
                  <a:tcPr/>
                </a:tc>
                <a:tc>
                  <a:txBody>
                    <a:bodyPr lIns="54864" rIns="54864" tIns="18288" bIns="18288" wrap="square" anchor="ctr"/>
                    <a:lstStyle/>
                    <a:p>
                      <a:pPr algn="l"/>
                      <a:r>
                        <a:rPr sz="900" b="0">
                          <a:solidFill>
                            <a:srgbClr val="000000"/>
                          </a:solidFill>
                          <a:latin typeface="Calibri"/>
                        </a:rPr>
                        <a:t>4.96 ± 0.78 %</a:t>
                      </a:r>
                    </a:p>
                  </a:txBody>
                  <a:tcPr/>
                </a:tc>
                <a:tc>
                  <a:txBody>
                    <a:bodyPr lIns="54864" rIns="54864" tIns="18288" bIns="18288" wrap="square" anchor="ctr"/>
                    <a:lstStyle/>
                    <a:p>
                      <a:pPr algn="l"/>
                      <a:r>
                        <a:rPr sz="900" b="0">
                          <a:solidFill>
                            <a:srgbClr val="000000"/>
                          </a:solidFill>
                          <a:latin typeface="Calibri"/>
                        </a:rPr>
                        <a:t>-17 %</a:t>
                      </a:r>
                    </a:p>
                  </a:txBody>
                  <a:tcPr/>
                </a:tc>
                <a:tc>
                  <a:txBody>
                    <a:bodyPr lIns="54864" rIns="54864" tIns="18288" bIns="18288" wrap="square" anchor="ctr"/>
                    <a:lstStyle/>
                    <a:p>
                      <a:pPr algn="l"/>
                      <a:r>
                        <a:rPr sz="900" b="0">
                          <a:solidFill>
                            <a:srgbClr val="000000"/>
                          </a:solidFill>
                          <a:latin typeface="Calibri"/>
                        </a:rPr>
                        <a:t>UNRESOLVED — see right</a:t>
                      </a:r>
                    </a:p>
                  </a:txBody>
                  <a:tcPr/>
                </a:tc>
              </a:tr>
            </a:tbl>
          </a:graphicData>
        </a:graphic>
      </p:graphicFrame>
      <p:sp>
        <p:nvSpPr>
          <p:cNvPr id="6" name="TextBox 5"/>
          <p:cNvSpPr txBox="1"/>
          <p:nvPr/>
        </p:nvSpPr>
        <p:spPr>
          <a:xfrm>
            <a:off x="457200" y="29260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establishes</a:t>
            </a:r>
          </a:p>
        </p:txBody>
      </p:sp>
      <p:sp>
        <p:nvSpPr>
          <p:cNvPr id="7" name="TextBox 6"/>
          <p:cNvSpPr txBox="1"/>
          <p:nvPr/>
        </p:nvSpPr>
        <p:spPr>
          <a:xfrm>
            <a:off x="457200" y="3273552"/>
            <a:ext cx="5577840" cy="2743200"/>
          </a:xfrm>
          <a:prstGeom prst="rect">
            <a:avLst/>
          </a:prstGeom>
          <a:noFill/>
        </p:spPr>
        <p:txBody>
          <a:bodyPr wrap="square" lIns="45720" rIns="45720" tIns="18288" bIns="18288" anchor="t">
            <a:spAutoFit/>
          </a:bodyPr>
          <a:lstStyle/>
          <a:p>
            <a:pPr algn="l"/>
            <a:r>
              <a:rPr sz="940" b="0" i="0">
                <a:solidFill>
                  <a:srgbClr val="000000"/>
                </a:solidFill>
                <a:latin typeface="Calibri"/>
              </a:rPr>
              <a:t>•  The DIC strain is scale-free, which it must be — strain is a pixel ratio — but this is the first time the rig has been asked to prove it on two different baselines.
•  The strain field between the markers is uniform. If the 80 mm span reached into the shoulders it would read a different average strain than the 45 mm span. It does not.
•  A bound on a fixed centroid bias. Such a bias shifts strain by δ/Px₀, which differs between a 939 px and a 1675 px baseline. The agreement puts δ below 0.10 px — an upper bound, since it credits the whole discrepancy to that one cause.
•  Either spacing may be used, so a shorter gauge is available when the frame is the constraint — which is exactly the TPU problem on p268.</a:t>
            </a:r>
          </a:p>
        </p:txBody>
      </p:sp>
      <p:sp>
        <p:nvSpPr>
          <p:cNvPr id="8" name="TextBox 7"/>
          <p:cNvSpPr txBox="1"/>
          <p:nvPr/>
        </p:nvSpPr>
        <p:spPr>
          <a:xfrm>
            <a:off x="6309360" y="29260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establish</a:t>
            </a:r>
          </a:p>
        </p:txBody>
      </p:sp>
      <p:sp>
        <p:nvSpPr>
          <p:cNvPr id="9" name="TextBox 8"/>
          <p:cNvSpPr txBox="1"/>
          <p:nvPr/>
        </p:nvSpPr>
        <p:spPr>
          <a:xfrm>
            <a:off x="6309360" y="3273552"/>
            <a:ext cx="5532120" cy="2743200"/>
          </a:xfrm>
          <a:prstGeom prst="rect">
            <a:avLst/>
          </a:prstGeom>
          <a:noFill/>
        </p:spPr>
        <p:txBody>
          <a:bodyPr wrap="square" lIns="45720" rIns="45720" tIns="18288" bIns="18288" anchor="t">
            <a:spAutoFit/>
          </a:bodyPr>
          <a:lstStyle/>
          <a:p>
            <a:pPr algn="l"/>
            <a:r>
              <a:rPr sz="940" b="0" i="0">
                <a:solidFill>
                  <a:srgbClr val="000000"/>
                </a:solidFill>
                <a:latin typeface="Calibri"/>
              </a:rPr>
              <a:t>•  ε_f. This is the one property that SHOULD depend on gauge length, because fracture localises and a shorter gauge weights the necking region more heavily. But within the 45 mm pair ε_f is 2.95 % and 5.25 % — a 78 % spread from where the specimen happened to break. n=2 cannot separate a real effect from that.
•  Anything below ~15 MPa. The toe region is dominated by grip seating and varies more between specimens than between gauges.
•  Spacings outside 45–80 mm. Nothing here says a 10 mm gauge would behave; it would sit far closer to the fracture and sample a different strain field.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TPU WITH A 45 mm MARKER GAUGE — THE TEST SETUP</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One change, made for one reason: S35 and S36 both lost the travelling marker at ~15 mm of crosshead travel. A shorter marker pair needs less frame per mm of travel.</a:t>
            </a:r>
          </a:p>
        </p:txBody>
      </p:sp>
      <p:sp>
        <p:nvSpPr>
          <p:cNvPr id="6" name="TextBox 5"/>
          <p:cNvSpPr txBox="1"/>
          <p:nvPr/>
        </p:nvSpPr>
        <p:spPr>
          <a:xfrm>
            <a:off x="411480" y="153619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changed from S35 / S36 — and why</a:t>
            </a:r>
          </a:p>
        </p:txBody>
      </p:sp>
      <p:graphicFrame>
        <p:nvGraphicFramePr>
          <p:cNvPr id="7" name="Table 6"/>
          <p:cNvGraphicFramePr>
            <a:graphicFrameLocks noGrp="1"/>
          </p:cNvGraphicFramePr>
          <p:nvPr/>
        </p:nvGraphicFramePr>
        <p:xfrm>
          <a:off x="411480" y="1883664"/>
          <a:ext cx="5623560" cy="2286000"/>
        </p:xfrm>
        <a:graphic>
          <a:graphicData uri="http://schemas.openxmlformats.org/drawingml/2006/table">
            <a:tbl>
              <a:tblPr firstRow="1" bandRow="1">
                <a:tableStyleId>{5C22544A-7EE6-4342-B048-85BDC9FD1C3A}</a:tableStyleId>
              </a:tblPr>
              <a:tblGrid>
                <a:gridCol w="1051560"/>
                <a:gridCol w="868680"/>
                <a:gridCol w="731520"/>
                <a:gridCol w="2971800"/>
              </a:tblGrid>
              <a:tr h="45720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S35 · S36</a:t>
                      </a:r>
                    </a:p>
                  </a:txBody>
                  <a:tcPr>
                    <a:solidFill>
                      <a:srgbClr val="143D2F"/>
                    </a:solidFill>
                  </a:tcPr>
                </a:tc>
                <a:tc>
                  <a:txBody>
                    <a:bodyPr lIns="54864" rIns="54864" tIns="18288" bIns="18288" wrap="square" anchor="ctr"/>
                    <a:lstStyle/>
                    <a:p>
                      <a:pPr algn="l"/>
                      <a:r>
                        <a:rPr sz="950" b="1">
                          <a:solidFill>
                            <a:srgbClr val="FFFFFF"/>
                          </a:solidFill>
                          <a:latin typeface="Calibri"/>
                        </a:rPr>
                        <a:t>S37</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Marker gauge</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the binding constraint — a shorter pair travels fewer pixels per mm, so it stays in frame further</a:t>
                      </a:r>
                    </a:p>
                  </a:txBody>
                  <a:tcPr/>
                </a:tc>
              </a:tr>
              <a:tr h="457200">
                <a:tc>
                  <a:txBody>
                    <a:bodyPr lIns="54864" rIns="54864" tIns="18288" bIns="18288" wrap="square" anchor="ctr"/>
                    <a:lstStyle/>
                    <a:p>
                      <a:pPr algn="l"/>
                      <a:r>
                        <a:rPr sz="850" b="0">
                          <a:solidFill>
                            <a:srgbClr val="000000"/>
                          </a:solidFill>
                          <a:latin typeface="Calibri"/>
                        </a:rPr>
                        <a:t>Specimen mode</a:t>
                      </a:r>
                    </a:p>
                  </a:txBody>
                  <a:tcPr/>
                </a:tc>
                <a:tc>
                  <a:txBody>
                    <a:bodyPr lIns="54864" rIns="54864" tIns="18288" bIns="18288" wrap="square" anchor="ctr"/>
                    <a:lstStyle/>
                    <a:p>
                      <a:pPr algn="l"/>
                      <a:r>
                        <a:rPr sz="850" b="0">
                          <a:solidFill>
                            <a:srgbClr val="000000"/>
                          </a:solidFill>
                          <a:latin typeface="Calibri"/>
                        </a:rPr>
                        <a:t>White</a:t>
                      </a:r>
                    </a:p>
                  </a:txBody>
                  <a:tcPr/>
                </a:tc>
                <a:tc>
                  <a:txBody>
                    <a:bodyPr lIns="54864" rIns="54864" tIns="18288" bIns="18288" wrap="square" anchor="ctr"/>
                    <a:lstStyle/>
                    <a:p>
                      <a:pPr algn="l"/>
                      <a:r>
                        <a:rPr sz="850" b="0">
                          <a:solidFill>
                            <a:srgbClr val="000000"/>
                          </a:solidFill>
                          <a:latin typeface="Calibri"/>
                        </a:rPr>
                        <a:t>Black</a:t>
                      </a:r>
                    </a:p>
                  </a:txBody>
                  <a:tcPr/>
                </a:tc>
                <a:tc>
                  <a:txBody>
                    <a:bodyPr lIns="54864" rIns="54864" tIns="18288" bIns="18288" wrap="square" anchor="ctr"/>
                    <a:lstStyle/>
                    <a:p>
                      <a:pPr algn="l"/>
                      <a:r>
                        <a:rPr sz="850" b="0">
                          <a:solidFill>
                            <a:srgbClr val="000000"/>
                          </a:solidFill>
                          <a:latin typeface="Calibri"/>
                        </a:rPr>
                        <a:t>this specimen is BRIGHT dots on dark speckle: THRESH_BINARY, the opposite polarity to the earlier TPU</a:t>
                      </a:r>
                    </a:p>
                  </a:txBody>
                  <a:tcPr/>
                </a:tc>
              </a:tr>
              <a:tr h="457200">
                <a:tc>
                  <a:txBody>
                    <a:bodyPr lIns="54864" rIns="54864" tIns="18288" bIns="18288" wrap="square" anchor="ctr"/>
                    <a:lstStyle/>
                    <a:p>
                      <a:pPr algn="l"/>
                      <a:r>
                        <a:rPr sz="850" b="0">
                          <a:solidFill>
                            <a:srgbClr val="000000"/>
                          </a:solidFill>
                          <a:latin typeface="Calibri"/>
                        </a:rPr>
                        <a:t>Roundness gate</a:t>
                      </a:r>
                    </a:p>
                  </a:txBody>
                  <a:tcPr/>
                </a:tc>
                <a:tc>
                  <a:txBody>
                    <a:bodyPr lIns="54864" rIns="54864" tIns="18288" bIns="18288" wrap="square" anchor="ctr"/>
                    <a:lstStyle/>
                    <a:p>
                      <a:pPr algn="l"/>
                      <a:r>
                        <a:rPr sz="850" b="0">
                          <a:solidFill>
                            <a:srgbClr val="000000"/>
                          </a:solidFill>
                          <a:latin typeface="Calibri"/>
                        </a:rPr>
                        <a:t>0.25</a:t>
                      </a:r>
                    </a:p>
                  </a:txBody>
                  <a:tcPr/>
                </a:tc>
                <a:tc>
                  <a:txBody>
                    <a:bodyPr lIns="54864" rIns="54864" tIns="18288" bIns="18288" wrap="square" anchor="ctr"/>
                    <a:lstStyle/>
                    <a:p>
                      <a:pPr algn="l"/>
                      <a:r>
                        <a:rPr sz="850" b="0">
                          <a:solidFill>
                            <a:srgbClr val="000000"/>
                          </a:solidFill>
                          <a:latin typeface="Calibri"/>
                        </a:rPr>
                        <a:t>0.16</a:t>
                      </a:r>
                    </a:p>
                  </a:txBody>
                  <a:tcPr/>
                </a:tc>
                <a:tc>
                  <a:txBody>
                    <a:bodyPr lIns="54864" rIns="54864" tIns="18288" bIns="18288" wrap="square" anchor="ctr"/>
                    <a:lstStyle/>
                    <a:p>
                      <a:pPr algn="l"/>
                      <a:r>
                        <a:rPr sz="850" b="0">
                          <a:solidFill>
                            <a:srgbClr val="000000"/>
                          </a:solidFill>
                          <a:latin typeface="Calibri"/>
                        </a:rPr>
                        <a:t>these sprayed dots score 0.18–0.24 where the earlier TPU dots scored 0.50–0.65. A one-off, not a new default</a:t>
                      </a:r>
                    </a:p>
                  </a:txBody>
                  <a:tcPr/>
                </a:tc>
              </a:tr>
              <a:tr h="457200">
                <a:tc>
                  <a:txBody>
                    <a:bodyPr lIns="54864" rIns="54864" tIns="18288" bIns="18288" wrap="square" anchor="ctr"/>
                    <a:lstStyle/>
                    <a:p>
                      <a:pPr algn="l"/>
                      <a:r>
                        <a:rPr sz="850" b="0">
                          <a:solidFill>
                            <a:srgbClr val="000000"/>
                          </a:solidFill>
                          <a:latin typeface="Calibri"/>
                        </a:rPr>
                        <a:t>Cross-section</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unchanged — only the marker SPACING differs, so the stress axis stays directly comparable</a:t>
                      </a:r>
                    </a:p>
                  </a:txBody>
                  <a:tcPr/>
                </a:tc>
              </a:tr>
            </a:tbl>
          </a:graphicData>
        </a:graphic>
      </p:graphicFrame>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9" name="Table 8"/>
          <p:cNvGraphicFramePr>
            <a:graphicFrameLocks noGrp="1"/>
          </p:cNvGraphicFramePr>
          <p:nvPr/>
        </p:nvGraphicFramePr>
        <p:xfrm>
          <a:off x="6263640" y="1883664"/>
          <a:ext cx="5577840" cy="1325880"/>
        </p:xfrm>
        <a:graphic>
          <a:graphicData uri="http://schemas.openxmlformats.org/drawingml/2006/table">
            <a:tbl>
              <a:tblPr firstRow="1" bandRow="1">
                <a:tableStyleId>{5C22544A-7EE6-4342-B048-85BDC9FD1C3A}</a:tableStyleId>
              </a:tblPr>
              <a:tblGrid>
                <a:gridCol w="2231136"/>
                <a:gridCol w="3346704"/>
              </a:tblGrid>
              <a:tr h="265176">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65176">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20 N  (Px₀ frozen at 19 N)</a:t>
                      </a:r>
                    </a:p>
                  </a:txBody>
                  <a:tcPr/>
                </a:tc>
              </a:tr>
              <a:tr h="265176">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OFF — TPU does not break</a:t>
                      </a:r>
                    </a:p>
                  </a:txBody>
                  <a:tcPr/>
                </a:tc>
              </a:tr>
              <a:tr h="265176">
                <a:tc>
                  <a:txBody>
                    <a:bodyPr lIns="54864" rIns="54864" tIns="18288" bIns="18288" wrap="square" anchor="ctr"/>
                    <a:lstStyle/>
                    <a:p>
                      <a:pPr algn="l"/>
                      <a:r>
                        <a:rPr sz="900" b="0">
                          <a:solidFill>
                            <a:srgbClr val="000000"/>
                          </a:solidFill>
                          <a:latin typeface="Calibri"/>
                        </a:rPr>
                        <a:t>Strain cap</a:t>
                      </a:r>
                    </a:p>
                  </a:txBody>
                  <a:tcPr/>
                </a:tc>
                <a:tc>
                  <a:txBody>
                    <a:bodyPr lIns="54864" rIns="54864" tIns="18288" bIns="18288" wrap="square" anchor="ctr"/>
                    <a:lstStyle/>
                    <a:p>
                      <a:pPr algn="l"/>
                      <a:r>
                        <a:rPr sz="900" b="0">
                          <a:solidFill>
                            <a:srgbClr val="000000"/>
                          </a:solidFill>
                          <a:latin typeface="Calibri"/>
                        </a:rPr>
                        <a:t>60 %</a:t>
                      </a:r>
                    </a:p>
                  </a:txBody>
                  <a:tcPr/>
                </a:tc>
              </a:tr>
            </a:tbl>
          </a:graphicData>
        </a:graphic>
      </p:graphicFrame>
      <p:sp>
        <p:nvSpPr>
          <p:cNvPr id="10" name="TextBox 9"/>
          <p:cNvSpPr txBox="1"/>
          <p:nvPr/>
        </p:nvSpPr>
        <p:spPr>
          <a:xfrm>
            <a:off x="6263640" y="3310128"/>
            <a:ext cx="5577840" cy="1554480"/>
          </a:xfrm>
          <a:prstGeom prst="rect">
            <a:avLst/>
          </a:prstGeom>
          <a:noFill/>
        </p:spPr>
        <p:txBody>
          <a:bodyPr wrap="square" lIns="45720" rIns="45720" tIns="18288" bIns="18288" anchor="t">
            <a:spAutoFit/>
          </a:bodyPr>
          <a:lstStyle/>
          <a:p>
            <a:pPr algn="l"/>
            <a:r>
              <a:rPr sz="960" b="0" i="0">
                <a:solidFill>
                  <a:srgbClr val="000000"/>
                </a:solidFill>
                <a:latin typeface="Calibri"/>
              </a:rPr>
              <a:t>Why the gauge can change without invalidating anything: DIC strain is a PIXEL ratio, (L_px − Px₀)/Px₀. The gauge length does not appear in it at all — only px_per_mm depends on the gauge, and that scales millimetres, not strain.
So if the initial slope moves when the gauge moves, something other than the material is being measured. That is exactly what the next slide tests.</a:t>
            </a:r>
          </a:p>
        </p:txBody>
      </p:sp>
      <p:sp>
        <p:nvSpPr>
          <p:cNvPr id="11" name="Rounded Rectangle 10"/>
          <p:cNvSpPr/>
          <p:nvPr/>
        </p:nvSpPr>
        <p:spPr>
          <a:xfrm>
            <a:off x="41148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45 mm</a:t>
            </a:r>
          </a:p>
          <a:p>
            <a:pPr algn="ctr"/>
            <a:r>
              <a:rPr sz="950">
                <a:solidFill>
                  <a:srgbClr val="000000"/>
                </a:solidFill>
                <a:latin typeface="Calibri"/>
              </a:rPr>
              <a:t>Gauge</a:t>
            </a:r>
          </a:p>
        </p:txBody>
      </p:sp>
      <p:sp>
        <p:nvSpPr>
          <p:cNvPr id="12" name="Rounded Rectangle 11"/>
          <p:cNvSpPr/>
          <p:nvPr/>
        </p:nvSpPr>
        <p:spPr>
          <a:xfrm>
            <a:off x="237744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20.47</a:t>
            </a:r>
          </a:p>
          <a:p>
            <a:pPr algn="ctr"/>
            <a:r>
              <a:rPr sz="950">
                <a:solidFill>
                  <a:srgbClr val="000000"/>
                </a:solidFill>
                <a:latin typeface="Calibri"/>
              </a:rPr>
              <a:t>px per mm</a:t>
            </a:r>
          </a:p>
        </p:txBody>
      </p:sp>
      <p:sp>
        <p:nvSpPr>
          <p:cNvPr id="13" name="Rounded Rectangle 12"/>
          <p:cNvSpPr/>
          <p:nvPr/>
        </p:nvSpPr>
        <p:spPr>
          <a:xfrm>
            <a:off x="4343400" y="498348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0.16</a:t>
            </a:r>
          </a:p>
          <a:p>
            <a:pPr algn="ctr"/>
            <a:r>
              <a:rPr sz="950">
                <a:solidFill>
                  <a:srgbClr val="000000"/>
                </a:solidFill>
                <a:latin typeface="Calibri"/>
              </a:rPr>
              <a:t>Roundness gate</a:t>
            </a:r>
          </a:p>
        </p:txBody>
      </p:sp>
      <p:sp>
        <p:nvSpPr>
          <p:cNvPr id="14" name="Rounded Rectangle 13"/>
          <p:cNvSpPr/>
          <p:nvPr/>
        </p:nvSpPr>
        <p:spPr>
          <a:xfrm>
            <a:off x="630936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3499</a:t>
            </a:r>
          </a:p>
          <a:p>
            <a:pPr algn="ctr"/>
            <a:r>
              <a:rPr sz="950">
                <a:solidFill>
                  <a:srgbClr val="000000"/>
                </a:solidFill>
                <a:latin typeface="Calibri"/>
              </a:rPr>
              <a:t>Samples</a:t>
            </a:r>
          </a:p>
        </p:txBody>
      </p:sp>
      <p:sp>
        <p:nvSpPr>
          <p:cNvPr id="15" name="Rounded Rectangle 14"/>
          <p:cNvSpPr/>
          <p:nvPr/>
        </p:nvSpPr>
        <p:spPr>
          <a:xfrm>
            <a:off x="827532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s</a:t>
            </a:r>
          </a:p>
          <a:p>
            <a:pPr algn="ctr"/>
            <a:r>
              <a:rPr sz="950">
                <a:solidFill>
                  <a:srgbClr val="000000"/>
                </a:solidFill>
                <a:latin typeface="Calibri"/>
              </a:rPr>
              <a:t>Duration</a:t>
            </a:r>
          </a:p>
        </p:txBody>
      </p:sp>
      <p:sp>
        <p:nvSpPr>
          <p:cNvPr id="16" name="Rectangle 15"/>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0.16 ROUNDNESS GATE IS A ONE-OFF FOR THIS SPECIMEN, RECORDED IN THE CSV HEADER. THE STANDING DEFAULT IS 0.40 — THE PROPER FIX IS BETTER MARKER PREPARATION, NOT A LOOSER GATE.</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S37, TPU 95A, 100 % infill, 80 mm² section. UTM_Test_20260826_123524.csv</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WHAT THE 45 mm GAUGE BOUGHT — THE RESULT</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run tracked 95 % of its samples and reached 18.9 % strain, against 21–33 % coverage and ~12 % strain on the two 80 mm runs.</a:t>
            </a:r>
          </a:p>
        </p:txBody>
      </p:sp>
      <p:sp>
        <p:nvSpPr>
          <p:cNvPr id="6" name="Rounded Rectangle 5"/>
          <p:cNvSpPr/>
          <p:nvPr/>
        </p:nvSpPr>
        <p:spPr>
          <a:xfrm>
            <a:off x="41148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95 %</a:t>
            </a:r>
          </a:p>
          <a:p>
            <a:pPr algn="ctr"/>
            <a:r>
              <a:rPr sz="950">
                <a:solidFill>
                  <a:srgbClr val="000000"/>
                </a:solidFill>
                <a:latin typeface="Calibri"/>
              </a:rPr>
              <a:t>DIC coverage</a:t>
            </a:r>
          </a:p>
        </p:txBody>
      </p:sp>
      <p:sp>
        <p:nvSpPr>
          <p:cNvPr id="7" name="Rounded Rectangle 6"/>
          <p:cNvSpPr/>
          <p:nvPr/>
        </p:nvSpPr>
        <p:spPr>
          <a:xfrm>
            <a:off x="274320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18.9 %</a:t>
            </a:r>
          </a:p>
          <a:p>
            <a:pPr algn="ctr"/>
            <a:r>
              <a:rPr sz="950">
                <a:solidFill>
                  <a:srgbClr val="000000"/>
                </a:solidFill>
                <a:latin typeface="Calibri"/>
              </a:rPr>
              <a:t>Max DIC strain</a:t>
            </a:r>
          </a:p>
        </p:txBody>
      </p:sp>
      <p:sp>
        <p:nvSpPr>
          <p:cNvPr id="8" name="Rounded Rectangle 7"/>
          <p:cNvSpPr/>
          <p:nvPr/>
        </p:nvSpPr>
        <p:spPr>
          <a:xfrm>
            <a:off x="507492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24.3 MPa</a:t>
            </a:r>
          </a:p>
          <a:p>
            <a:pPr algn="ctr"/>
            <a:r>
              <a:rPr sz="950">
                <a:solidFill>
                  <a:srgbClr val="000000"/>
                </a:solidFill>
                <a:latin typeface="Calibri"/>
              </a:rPr>
              <a:t>Elastic modulus</a:t>
            </a:r>
          </a:p>
        </p:txBody>
      </p:sp>
      <p:sp>
        <p:nvSpPr>
          <p:cNvPr id="9" name="Rounded Rectangle 8"/>
          <p:cNvSpPr/>
          <p:nvPr/>
        </p:nvSpPr>
        <p:spPr>
          <a:xfrm>
            <a:off x="7406640" y="1517904"/>
            <a:ext cx="21945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MPa</a:t>
            </a:r>
          </a:p>
          <a:p>
            <a:pPr algn="ctr"/>
            <a:r>
              <a:rPr sz="950">
                <a:solidFill>
                  <a:srgbClr val="000000"/>
                </a:solidFill>
                <a:latin typeface="Calibri"/>
              </a:rPr>
              <a:t>Peak stress</a:t>
            </a:r>
          </a:p>
        </p:txBody>
      </p:sp>
      <p:sp>
        <p:nvSpPr>
          <p:cNvPr id="10" name="Rounded Rectangle 9"/>
          <p:cNvSpPr/>
          <p:nvPr/>
        </p:nvSpPr>
        <p:spPr>
          <a:xfrm>
            <a:off x="9738360" y="1517904"/>
            <a:ext cx="21031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mm</a:t>
            </a:r>
          </a:p>
          <a:p>
            <a:pPr algn="ctr"/>
            <a:r>
              <a:rPr sz="950">
                <a:solidFill>
                  <a:srgbClr val="000000"/>
                </a:solidFill>
                <a:latin typeface="Calibri"/>
              </a:rPr>
              <a:t>Travel</a:t>
            </a:r>
          </a:p>
        </p:txBody>
      </p:sp>
      <p:sp>
        <p:nvSpPr>
          <p:cNvPr id="11" name="TextBox 10"/>
          <p:cNvSpPr txBox="1"/>
          <p:nvPr/>
        </p:nvSpPr>
        <p:spPr>
          <a:xfrm>
            <a:off x="411480" y="25146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record itself</a:t>
            </a:r>
          </a:p>
        </p:txBody>
      </p:sp>
      <p:graphicFrame>
        <p:nvGraphicFramePr>
          <p:cNvPr id="12" name="Table 11"/>
          <p:cNvGraphicFramePr>
            <a:graphicFrameLocks noGrp="1"/>
          </p:cNvGraphicFramePr>
          <p:nvPr/>
        </p:nvGraphicFramePr>
        <p:xfrm>
          <a:off x="411480" y="2862072"/>
          <a:ext cx="5623560" cy="1645920"/>
        </p:xfrm>
        <a:graphic>
          <a:graphicData uri="http://schemas.openxmlformats.org/drawingml/2006/table">
            <a:tbl>
              <a:tblPr firstRow="1" bandRow="1">
                <a:tableStyleId>{5C22544A-7EE6-4342-B048-85BDC9FD1C3A}</a:tableStyleId>
              </a:tblPr>
              <a:tblGrid>
                <a:gridCol w="1828800"/>
                <a:gridCol w="1828800"/>
                <a:gridCol w="1965960"/>
              </a:tblGrid>
              <a:tr h="274320">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S37 (45 mm)</a:t>
                      </a:r>
                    </a:p>
                  </a:txBody>
                  <a:tcPr>
                    <a:solidFill>
                      <a:srgbClr val="143D2F"/>
                    </a:solidFill>
                  </a:tcPr>
                </a:tc>
                <a:tc>
                  <a:txBody>
                    <a:bodyPr lIns="54864" rIns="54864" tIns="18288" bIns="18288" wrap="square" anchor="ctr"/>
                    <a:lstStyle/>
                    <a:p>
                      <a:pPr algn="l"/>
                      <a:r>
                        <a:rPr sz="950" b="1">
                          <a:solidFill>
                            <a:srgbClr val="FFFFFF"/>
                          </a:solidFill>
                          <a:latin typeface="Calibri"/>
                        </a:rPr>
                        <a:t>S36 (80 mm)</a:t>
                      </a:r>
                    </a:p>
                  </a:txBody>
                  <a:tcPr>
                    <a:solidFill>
                      <a:srgbClr val="143D2F"/>
                    </a:solidFill>
                  </a:tcPr>
                </a:tc>
              </a:tr>
              <a:tr h="274320">
                <a:tc>
                  <a:txBody>
                    <a:bodyPr lIns="54864" rIns="54864" tIns="18288" bIns="18288" wrap="square" anchor="ctr"/>
                    <a:lstStyle/>
                    <a:p>
                      <a:pPr algn="l"/>
                      <a:r>
                        <a:rPr sz="880" b="0">
                          <a:solidFill>
                            <a:srgbClr val="000000"/>
                          </a:solidFill>
                          <a:latin typeface="Calibri"/>
                        </a:rPr>
                        <a:t>DIC coverage</a:t>
                      </a:r>
                    </a:p>
                  </a:txBody>
                  <a:tcPr/>
                </a:tc>
                <a:tc>
                  <a:txBody>
                    <a:bodyPr lIns="54864" rIns="54864" tIns="18288" bIns="18288" wrap="square" anchor="ctr"/>
                    <a:lstStyle/>
                    <a:p>
                      <a:pPr algn="l"/>
                      <a:r>
                        <a:rPr sz="880" b="0">
                          <a:solidFill>
                            <a:srgbClr val="000000"/>
                          </a:solidFill>
                          <a:latin typeface="Calibri"/>
                        </a:rPr>
                        <a:t>95 % of samples</a:t>
                      </a:r>
                    </a:p>
                  </a:txBody>
                  <a:tcPr/>
                </a:tc>
                <a:tc>
                  <a:txBody>
                    <a:bodyPr lIns="54864" rIns="54864" tIns="18288" bIns="18288" wrap="square" anchor="ctr"/>
                    <a:lstStyle/>
                    <a:p>
                      <a:pPr algn="l"/>
                      <a:r>
                        <a:rPr sz="880" b="0">
                          <a:solidFill>
                            <a:srgbClr val="000000"/>
                          </a:solidFill>
                          <a:latin typeface="Calibri"/>
                        </a:rPr>
                        <a:t>21 %</a:t>
                      </a:r>
                    </a:p>
                  </a:txBody>
                  <a:tcPr/>
                </a:tc>
              </a:tr>
              <a:tr h="274320">
                <a:tc>
                  <a:txBody>
                    <a:bodyPr lIns="54864" rIns="54864" tIns="18288" bIns="18288" wrap="square" anchor="ctr"/>
                    <a:lstStyle/>
                    <a:p>
                      <a:pPr algn="l"/>
                      <a:r>
                        <a:rPr sz="880" b="0">
                          <a:solidFill>
                            <a:srgbClr val="000000"/>
                          </a:solidFill>
                          <a:latin typeface="Calibri"/>
                        </a:rPr>
                        <a:t>Frames tracked 2/2</a:t>
                      </a:r>
                    </a:p>
                  </a:txBody>
                  <a:tcPr/>
                </a:tc>
                <a:tc>
                  <a:txBody>
                    <a:bodyPr lIns="54864" rIns="54864" tIns="18288" bIns="18288" wrap="square" anchor="ctr"/>
                    <a:lstStyle/>
                    <a:p>
                      <a:pPr algn="l"/>
                      <a:r>
                        <a:rPr sz="880" b="0">
                          <a:solidFill>
                            <a:srgbClr val="000000"/>
                          </a:solidFill>
                          <a:latin typeface="Calibri"/>
                        </a:rPr>
                        <a:t>90 %  (3154 / 3499)</a:t>
                      </a:r>
                    </a:p>
                  </a:txBody>
                  <a:tcPr/>
                </a:tc>
                <a:tc>
                  <a:txBody>
                    <a:bodyPr lIns="54864" rIns="54864" tIns="18288" bIns="18288" wrap="square" anchor="ctr"/>
                    <a:lstStyle/>
                    <a:p>
                      <a:pPr algn="l"/>
                      <a:r>
                        <a:rPr sz="880" b="0">
                          <a:solidFill>
                            <a:srgbClr val="000000"/>
                          </a:solidFill>
                          <a:latin typeface="Calibri"/>
                        </a:rPr>
                        <a:t>—</a:t>
                      </a:r>
                    </a:p>
                  </a:txBody>
                  <a:tcPr/>
                </a:tc>
              </a:tr>
              <a:tr h="274320">
                <a:tc>
                  <a:txBody>
                    <a:bodyPr lIns="54864" rIns="54864" tIns="18288" bIns="18288" wrap="square" anchor="ctr"/>
                    <a:lstStyle/>
                    <a:p>
                      <a:pPr algn="l"/>
                      <a:r>
                        <a:rPr sz="880" b="0">
                          <a:solidFill>
                            <a:srgbClr val="000000"/>
                          </a:solidFill>
                          <a:latin typeface="Calibri"/>
                        </a:rPr>
                        <a:t>Max DIC strain</a:t>
                      </a:r>
                    </a:p>
                  </a:txBody>
                  <a:tcPr/>
                </a:tc>
                <a:tc>
                  <a:txBody>
                    <a:bodyPr lIns="54864" rIns="54864" tIns="18288" bIns="18288" wrap="square" anchor="ctr"/>
                    <a:lstStyle/>
                    <a:p>
                      <a:pPr algn="l"/>
                      <a:r>
                        <a:rPr sz="880" b="0">
                          <a:solidFill>
                            <a:srgbClr val="000000"/>
                          </a:solidFill>
                          <a:latin typeface="Calibri"/>
                        </a:rPr>
                        <a:t>18.94 %</a:t>
                      </a:r>
                    </a:p>
                  </a:txBody>
                  <a:tcPr/>
                </a:tc>
                <a:tc>
                  <a:txBody>
                    <a:bodyPr lIns="54864" rIns="54864" tIns="18288" bIns="18288" wrap="square" anchor="ctr"/>
                    <a:lstStyle/>
                    <a:p>
                      <a:pPr algn="l"/>
                      <a:r>
                        <a:rPr sz="880" b="0">
                          <a:solidFill>
                            <a:srgbClr val="000000"/>
                          </a:solidFill>
                          <a:latin typeface="Calibri"/>
                        </a:rPr>
                        <a:t>11.68 %</a:t>
                      </a:r>
                    </a:p>
                  </a:txBody>
                  <a:tcPr/>
                </a:tc>
              </a:tr>
              <a:tr h="274320">
                <a:tc>
                  <a:txBody>
                    <a:bodyPr lIns="54864" rIns="54864" tIns="18288" bIns="18288" wrap="square" anchor="ctr"/>
                    <a:lstStyle/>
                    <a:p>
                      <a:pPr algn="l"/>
                      <a:r>
                        <a:rPr sz="880" b="0">
                          <a:solidFill>
                            <a:srgbClr val="000000"/>
                          </a:solidFill>
                          <a:latin typeface="Calibri"/>
                        </a:rPr>
                        <a:t>Crosshead travel</a:t>
                      </a:r>
                    </a:p>
                  </a:txBody>
                  <a:tcPr/>
                </a:tc>
                <a:tc>
                  <a:txBody>
                    <a:bodyPr lIns="54864" rIns="54864" tIns="18288" bIns="18288" wrap="square" anchor="ctr"/>
                    <a:lstStyle/>
                    <a:p>
                      <a:pPr algn="l"/>
                      <a:r>
                        <a:rPr sz="880" b="0">
                          <a:solidFill>
                            <a:srgbClr val="000000"/>
                          </a:solidFill>
                          <a:latin typeface="Calibri"/>
                        </a:rPr>
                        <a:t>26.0 mm</a:t>
                      </a:r>
                    </a:p>
                  </a:txBody>
                  <a:tcPr/>
                </a:tc>
                <a:tc>
                  <a:txBody>
                    <a:bodyPr lIns="54864" rIns="54864" tIns="18288" bIns="18288" wrap="square" anchor="ctr"/>
                    <a:lstStyle/>
                    <a:p>
                      <a:pPr algn="l"/>
                      <a:r>
                        <a:rPr sz="880" b="0">
                          <a:solidFill>
                            <a:srgbClr val="000000"/>
                          </a:solidFill>
                          <a:latin typeface="Calibri"/>
                        </a:rPr>
                        <a:t>15.1 mm</a:t>
                      </a:r>
                    </a:p>
                  </a:txBody>
                  <a:tcPr/>
                </a:tc>
              </a:tr>
              <a:tr h="274320">
                <a:tc>
                  <a:txBody>
                    <a:bodyPr lIns="54864" rIns="54864" tIns="18288" bIns="18288" wrap="square" anchor="ctr"/>
                    <a:lstStyle/>
                    <a:p>
                      <a:pPr algn="l"/>
                      <a:r>
                        <a:rPr sz="880" b="0">
                          <a:solidFill>
                            <a:srgbClr val="000000"/>
                          </a:solidFill>
                          <a:latin typeface="Calibri"/>
                        </a:rPr>
                        <a:t>Gauge share of travel</a:t>
                      </a:r>
                    </a:p>
                  </a:txBody>
                  <a:tcPr/>
                </a:tc>
                <a:tc>
                  <a:txBody>
                    <a:bodyPr lIns="54864" rIns="54864" tIns="18288" bIns="18288" wrap="square" anchor="ctr"/>
                    <a:lstStyle/>
                    <a:p>
                      <a:pPr algn="l"/>
                      <a:r>
                        <a:rPr sz="880" b="0">
                          <a:solidFill>
                            <a:srgbClr val="000000"/>
                          </a:solidFill>
                          <a:latin typeface="Calibri"/>
                        </a:rPr>
                        <a:t>33 %</a:t>
                      </a:r>
                    </a:p>
                  </a:txBody>
                  <a:tcPr/>
                </a:tc>
                <a:tc>
                  <a:txBody>
                    <a:bodyPr lIns="54864" rIns="54864" tIns="18288" bIns="18288" wrap="square" anchor="ctr"/>
                    <a:lstStyle/>
                    <a:p>
                      <a:pPr algn="l"/>
                      <a:r>
                        <a:rPr sz="880" b="0">
                          <a:solidFill>
                            <a:srgbClr val="000000"/>
                          </a:solidFill>
                          <a:latin typeface="Calibri"/>
                        </a:rPr>
                        <a:t>62 %</a:t>
                      </a:r>
                    </a:p>
                  </a:txBody>
                  <a:tcPr/>
                </a:tc>
              </a:tr>
            </a:tbl>
          </a:graphicData>
        </a:graphic>
      </p:graphicFrame>
      <p:sp>
        <p:nvSpPr>
          <p:cNvPr id="13" name="TextBox 12"/>
          <p:cNvSpPr txBox="1"/>
          <p:nvPr/>
        </p:nvSpPr>
        <p:spPr>
          <a:xfrm>
            <a:off x="6263640" y="2514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to read carefully</a:t>
            </a:r>
          </a:p>
        </p:txBody>
      </p:sp>
      <p:sp>
        <p:nvSpPr>
          <p:cNvPr id="14" name="TextBox 13"/>
          <p:cNvSpPr txBox="1"/>
          <p:nvPr/>
        </p:nvSpPr>
        <p:spPr>
          <a:xfrm>
            <a:off x="6263640" y="2862072"/>
            <a:ext cx="5577840" cy="2377440"/>
          </a:xfrm>
          <a:prstGeom prst="rect">
            <a:avLst/>
          </a:prstGeom>
          <a:noFill/>
        </p:spPr>
        <p:txBody>
          <a:bodyPr wrap="square" lIns="45720" rIns="45720" tIns="18288" bIns="18288" anchor="t">
            <a:spAutoFit/>
          </a:bodyPr>
          <a:lstStyle/>
          <a:p>
            <a:pPr algn="l"/>
            <a:r>
              <a:rPr sz="950" b="0" i="0">
                <a:solidFill>
                  <a:srgbClr val="000000"/>
                </a:solidFill>
                <a:latin typeface="Calibri"/>
              </a:rPr>
              <a:t>GAUGE SHARE FELL TO 33 %, from ~62 % on the 80 mm runs. Expected, not a fault: the marked span is a smaller fraction of the specimen, so it receives a smaller share of the crosshead. 45/80 of 62 % is 35 % — the measured 33 % sits right there.
THIS RUN'S HEADER SAYS “Max Strain: 0.5788”, AND THAT IS NOT DIC STRAIN. It was motor strain — travel over gauge, 26.0 mm / 45 mm = 57.9 % — while the DIC strain maxes at 18.94 %. On the 80 mm specimens the two sat close enough that it never stood out; at 45 mm the header read three times the real strain.
FIXED SINCE: the app now writes “Max DIC Strain” and “Max Motor Strain” as two labelled lines. S37 is the last run recorded under the old single label.</a:t>
            </a:r>
          </a:p>
        </p:txBody>
      </p:sp>
      <p:sp>
        <p:nvSpPr>
          <p:cNvPr id="15" name="Rectangle 14"/>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NO FRACTURE: TPU DID NOT BREAK, SO PEAK STRESS AND STRAIN ARE LOWER BOUNDS SET BY WHERE THE TEST WAS STOPPED — NOT MEASUREMENTS OF STRENGTH OR ELONGATION AT BREAK.</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Anchor 19 N, added back so the 20 N preload is present in the stress. UTM_Test_20260826_123524.csv</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S36 vs S37 — DOES THE 45 mm GAUGE CHANGE THE ANSWER?</a:t>
            </a:r>
          </a:p>
        </p:txBody>
      </p:sp>
      <p:pic>
        <p:nvPicPr>
          <p:cNvPr id="5" name="Picture 4" descr="tpu_s37.png"/>
          <p:cNvPicPr>
            <a:picLocks noChangeAspect="1"/>
          </p:cNvPicPr>
          <p:nvPr/>
        </p:nvPicPr>
        <p:blipFill>
          <a:blip r:embed="rId2"/>
          <a:stretch>
            <a:fillRect/>
          </a:stretch>
        </p:blipFill>
        <p:spPr>
          <a:xfrm>
            <a:off x="480060" y="1115568"/>
            <a:ext cx="11247119" cy="3749040"/>
          </a:xfrm>
          <a:prstGeom prst="rect">
            <a:avLst/>
          </a:prstGeom>
        </p:spPr>
      </p:pic>
      <p:sp>
        <p:nvSpPr>
          <p:cNvPr id="6" name="TextBox 5"/>
          <p:cNvSpPr txBox="1"/>
          <p:nvPr/>
        </p:nvSpPr>
        <p:spPr>
          <a:xfrm>
            <a:off x="411480" y="49560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initial slope, on a matched window</a:t>
            </a:r>
          </a:p>
        </p:txBody>
      </p:sp>
      <p:sp>
        <p:nvSpPr>
          <p:cNvPr id="7" name="TextBox 6"/>
          <p:cNvSpPr txBox="1"/>
          <p:nvPr/>
        </p:nvSpPr>
        <p:spPr>
          <a:xfrm>
            <a:off x="411480" y="5303520"/>
            <a:ext cx="5623560" cy="1005840"/>
          </a:xfrm>
          <a:prstGeom prst="rect">
            <a:avLst/>
          </a:prstGeom>
          <a:noFill/>
        </p:spPr>
        <p:txBody>
          <a:bodyPr wrap="square" lIns="45720" rIns="45720" tIns="18288" bIns="18288" anchor="t">
            <a:spAutoFit/>
          </a:bodyPr>
          <a:lstStyle/>
          <a:p>
            <a:pPr algn="l"/>
            <a:r>
              <a:rPr sz="960" b="0" i="0">
                <a:solidFill>
                  <a:srgbClr val="000000"/>
                </a:solidFill>
                <a:latin typeface="Calibri"/>
              </a:rPr>
              <a:t>Fitted over the SAME 0.05–1.20 % strain window for all three, so no run is credited with a window that flatters it:
S35 24.82 MPa   ·   S36 24.55 MPa   ·   S37 24.75 MPa
S37 differs from S36 by +0.8 % — and the two 80 mm runs differ from EACH OTHER by +1.1 %.</a:t>
            </a:r>
          </a:p>
        </p:txBody>
      </p:sp>
      <p:sp>
        <p:nvSpPr>
          <p:cNvPr id="8" name="TextBox 7"/>
          <p:cNvSpPr txBox="1"/>
          <p:nvPr/>
        </p:nvSpPr>
        <p:spPr>
          <a:xfrm>
            <a:off x="6263640" y="495604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settles</a:t>
            </a:r>
          </a:p>
        </p:txBody>
      </p:sp>
      <p:sp>
        <p:nvSpPr>
          <p:cNvPr id="9" name="TextBox 8"/>
          <p:cNvSpPr txBox="1"/>
          <p:nvPr/>
        </p:nvSpPr>
        <p:spPr>
          <a:xfrm>
            <a:off x="6263640" y="5303520"/>
            <a:ext cx="5577840" cy="1005840"/>
          </a:xfrm>
          <a:prstGeom prst="rect">
            <a:avLst/>
          </a:prstGeom>
          <a:noFill/>
        </p:spPr>
        <p:txBody>
          <a:bodyPr wrap="square" lIns="45720" rIns="45720" tIns="18288" bIns="18288" anchor="t">
            <a:spAutoFit/>
          </a:bodyPr>
          <a:lstStyle/>
          <a:p>
            <a:pPr algn="l"/>
            <a:r>
              <a:rPr sz="960" b="0" i="0">
                <a:solidFill>
                  <a:srgbClr val="000000"/>
                </a:solidFill>
                <a:latin typeface="Calibri"/>
              </a:rPr>
              <a:t>The gauge change moves the modulus by LESS than the run-to-run scatter of the original pair — the answer the pixel-ratio argument predicts. S37 lands between S35 and S36.
Stress at matched strain runs 2–8 % below S36: ordinary specimen scatter for an elastomer, and it does not touch E, which is a slope and so is offset-independent.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S35 is the better-instrumented of the two 80 mm runs (33 % DIC coverage against S36's 21 %); both are plotted so the comparison does not rest on picking one.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MATCHED STRAIN, THEN EACH TO ITS OWN END</a:t>
            </a:r>
          </a:p>
        </p:txBody>
      </p:sp>
      <p:pic>
        <p:nvPicPr>
          <p:cNvPr id="5" name="Picture 4" descr="trio_s37.png"/>
          <p:cNvPicPr>
            <a:picLocks noChangeAspect="1"/>
          </p:cNvPicPr>
          <p:nvPr/>
        </p:nvPicPr>
        <p:blipFill>
          <a:blip r:embed="rId2"/>
          <a:stretch>
            <a:fillRect/>
          </a:stretch>
        </p:blipFill>
        <p:spPr>
          <a:xfrm>
            <a:off x="739140" y="1115568"/>
            <a:ext cx="10728960" cy="3657600"/>
          </a:xfrm>
          <a:prstGeom prst="rect">
            <a:avLst/>
          </a:prstGeom>
        </p:spPr>
      </p:pic>
      <p:sp>
        <p:nvSpPr>
          <p:cNvPr id="6" name="TextBox 5"/>
          <p:cNvSpPr txBox="1"/>
          <p:nvPr/>
        </p:nvSpPr>
        <p:spPr>
          <a:xfrm>
            <a:off x="411480" y="4882896"/>
            <a:ext cx="603504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Stress at matched DIC strain</a:t>
            </a:r>
          </a:p>
        </p:txBody>
      </p:sp>
      <p:graphicFrame>
        <p:nvGraphicFramePr>
          <p:cNvPr id="7" name="Table 6"/>
          <p:cNvGraphicFramePr>
            <a:graphicFrameLocks noGrp="1"/>
          </p:cNvGraphicFramePr>
          <p:nvPr/>
        </p:nvGraphicFramePr>
        <p:xfrm>
          <a:off x="411480" y="5212080"/>
          <a:ext cx="6035040" cy="914400"/>
        </p:xfrm>
        <a:graphic>
          <a:graphicData uri="http://schemas.openxmlformats.org/drawingml/2006/table">
            <a:tbl>
              <a:tblPr firstRow="1" bandRow="1">
                <a:tableStyleId>{5C22544A-7EE6-4342-B048-85BDC9FD1C3A}</a:tableStyleId>
              </a:tblPr>
              <a:tblGrid>
                <a:gridCol w="1188720"/>
                <a:gridCol w="1645920"/>
                <a:gridCol w="1645920"/>
                <a:gridCol w="1554480"/>
              </a:tblGrid>
              <a:tr h="182880">
                <a:tc>
                  <a:txBody>
                    <a:bodyPr lIns="54864" rIns="54864" tIns="18288" bIns="18288" wrap="square" anchor="ctr"/>
                    <a:lstStyle/>
                    <a:p>
                      <a:pPr algn="l"/>
                      <a:r>
                        <a:rPr sz="900" b="1">
                          <a:solidFill>
                            <a:srgbClr val="FFFFFF"/>
                          </a:solidFill>
                          <a:latin typeface="Calibri"/>
                        </a:rPr>
                        <a:t>Strain</a:t>
                      </a:r>
                    </a:p>
                  </a:txBody>
                  <a:tcPr>
                    <a:solidFill>
                      <a:srgbClr val="143D2F"/>
                    </a:solidFill>
                  </a:tcPr>
                </a:tc>
                <a:tc>
                  <a:txBody>
                    <a:bodyPr lIns="54864" rIns="54864" tIns="18288" bIns="18288" wrap="square" anchor="ctr"/>
                    <a:lstStyle/>
                    <a:p>
                      <a:pPr algn="l"/>
                      <a:r>
                        <a:rPr sz="900" b="1">
                          <a:solidFill>
                            <a:srgbClr val="FFFFFF"/>
                          </a:solidFill>
                          <a:latin typeface="Calibri"/>
                        </a:rPr>
                        <a:t>PLA (S25)</a:t>
                      </a:r>
                    </a:p>
                  </a:txBody>
                  <a:tcPr>
                    <a:solidFill>
                      <a:srgbClr val="143D2F"/>
                    </a:solidFill>
                  </a:tcPr>
                </a:tc>
                <a:tc>
                  <a:txBody>
                    <a:bodyPr lIns="54864" rIns="54864" tIns="18288" bIns="18288" wrap="square" anchor="ctr"/>
                    <a:lstStyle/>
                    <a:p>
                      <a:pPr algn="l"/>
                      <a:r>
                        <a:rPr sz="900" b="1">
                          <a:solidFill>
                            <a:srgbClr val="FFFFFF"/>
                          </a:solidFill>
                          <a:latin typeface="Calibri"/>
                        </a:rPr>
                        <a:t>PETG (S30)</a:t>
                      </a:r>
                    </a:p>
                  </a:txBody>
                  <a:tcPr>
                    <a:solidFill>
                      <a:srgbClr val="143D2F"/>
                    </a:solidFill>
                  </a:tcPr>
                </a:tc>
                <a:tc>
                  <a:txBody>
                    <a:bodyPr lIns="54864" rIns="54864" tIns="18288" bIns="18288" wrap="square" anchor="ctr"/>
                    <a:lstStyle/>
                    <a:p>
                      <a:pPr algn="l"/>
                      <a:r>
                        <a:rPr sz="900" b="1">
                          <a:solidFill>
                            <a:srgbClr val="FFFFFF"/>
                          </a:solidFill>
                          <a:latin typeface="Calibri"/>
                        </a:rPr>
                        <a:t>TPU (S37)</a:t>
                      </a:r>
                    </a:p>
                  </a:txBody>
                  <a:tcPr>
                    <a:solidFill>
                      <a:srgbClr val="143D2F"/>
                    </a:solidFill>
                  </a:tcPr>
                </a:tc>
              </a:tr>
              <a:tr h="182880">
                <a:tc>
                  <a:txBody>
                    <a:bodyPr lIns="54864" rIns="54864" tIns="18288" bIns="18288" wrap="square" anchor="ctr"/>
                    <a:lstStyle/>
                    <a:p>
                      <a:pPr algn="l"/>
                      <a:r>
                        <a:rPr sz="819" b="0">
                          <a:solidFill>
                            <a:srgbClr val="000000"/>
                          </a:solidFill>
                          <a:latin typeface="Calibri"/>
                        </a:rPr>
                        <a:t>0.5 %</a:t>
                      </a:r>
                    </a:p>
                  </a:txBody>
                  <a:tcPr/>
                </a:tc>
                <a:tc>
                  <a:txBody>
                    <a:bodyPr lIns="54864" rIns="54864" tIns="18288" bIns="18288" wrap="square" anchor="ctr"/>
                    <a:lstStyle/>
                    <a:p>
                      <a:pPr algn="l"/>
                      <a:r>
                        <a:rPr sz="819" b="0">
                          <a:solidFill>
                            <a:srgbClr val="000000"/>
                          </a:solidFill>
                          <a:latin typeface="Calibri"/>
                        </a:rPr>
                        <a:t>18.10 MPa</a:t>
                      </a:r>
                    </a:p>
                  </a:txBody>
                  <a:tcPr/>
                </a:tc>
                <a:tc>
                  <a:txBody>
                    <a:bodyPr lIns="54864" rIns="54864" tIns="18288" bIns="18288" wrap="square" anchor="ctr"/>
                    <a:lstStyle/>
                    <a:p>
                      <a:pPr algn="l"/>
                      <a:r>
                        <a:rPr sz="819" b="0">
                          <a:solidFill>
                            <a:srgbClr val="000000"/>
                          </a:solidFill>
                          <a:latin typeface="Calibri"/>
                        </a:rPr>
                        <a:t>12.43 MPa</a:t>
                      </a:r>
                    </a:p>
                  </a:txBody>
                  <a:tcPr/>
                </a:tc>
                <a:tc>
                  <a:txBody>
                    <a:bodyPr lIns="54864" rIns="54864" tIns="18288" bIns="18288" wrap="square" anchor="ctr"/>
                    <a:lstStyle/>
                    <a:p>
                      <a:pPr algn="l"/>
                      <a:r>
                        <a:rPr sz="819" b="0">
                          <a:solidFill>
                            <a:srgbClr val="000000"/>
                          </a:solidFill>
                          <a:latin typeface="Calibri"/>
                        </a:rPr>
                        <a:t>0.36 MPa</a:t>
                      </a:r>
                    </a:p>
                  </a:txBody>
                  <a:tcPr/>
                </a:tc>
              </a:tr>
              <a:tr h="182880">
                <a:tc>
                  <a:txBody>
                    <a:bodyPr lIns="54864" rIns="54864" tIns="18288" bIns="18288" wrap="square" anchor="ctr"/>
                    <a:lstStyle/>
                    <a:p>
                      <a:pPr algn="l"/>
                      <a:r>
                        <a:rPr sz="819" b="0">
                          <a:solidFill>
                            <a:srgbClr val="000000"/>
                          </a:solidFill>
                          <a:latin typeface="Calibri"/>
                        </a:rPr>
                        <a:t>1.0 %</a:t>
                      </a:r>
                    </a:p>
                  </a:txBody>
                  <a:tcPr/>
                </a:tc>
                <a:tc>
                  <a:txBody>
                    <a:bodyPr lIns="54864" rIns="54864" tIns="18288" bIns="18288" wrap="square" anchor="ctr"/>
                    <a:lstStyle/>
                    <a:p>
                      <a:pPr algn="l"/>
                      <a:r>
                        <a:rPr sz="819" b="0">
                          <a:solidFill>
                            <a:srgbClr val="000000"/>
                          </a:solidFill>
                          <a:latin typeface="Calibri"/>
                        </a:rPr>
                        <a:t>31.67 MPa</a:t>
                      </a:r>
                    </a:p>
                  </a:txBody>
                  <a:tcPr/>
                </a:tc>
                <a:tc>
                  <a:txBody>
                    <a:bodyPr lIns="54864" rIns="54864" tIns="18288" bIns="18288" wrap="square" anchor="ctr"/>
                    <a:lstStyle/>
                    <a:p>
                      <a:pPr algn="l"/>
                      <a:r>
                        <a:rPr sz="819" b="0">
                          <a:solidFill>
                            <a:srgbClr val="000000"/>
                          </a:solidFill>
                          <a:latin typeface="Calibri"/>
                        </a:rPr>
                        <a:t>20.73 MPa</a:t>
                      </a:r>
                    </a:p>
                  </a:txBody>
                  <a:tcPr/>
                </a:tc>
                <a:tc>
                  <a:txBody>
                    <a:bodyPr lIns="54864" rIns="54864" tIns="18288" bIns="18288" wrap="square" anchor="ctr"/>
                    <a:lstStyle/>
                    <a:p>
                      <a:pPr algn="l"/>
                      <a:r>
                        <a:rPr sz="819" b="0">
                          <a:solidFill>
                            <a:srgbClr val="000000"/>
                          </a:solidFill>
                          <a:latin typeface="Calibri"/>
                        </a:rPr>
                        <a:t>0.48 MPa</a:t>
                      </a:r>
                    </a:p>
                  </a:txBody>
                  <a:tcPr/>
                </a:tc>
              </a:tr>
              <a:tr h="182880">
                <a:tc>
                  <a:txBody>
                    <a:bodyPr lIns="54864" rIns="54864" tIns="18288" bIns="18288" wrap="square" anchor="ctr"/>
                    <a:lstStyle/>
                    <a:p>
                      <a:pPr algn="l"/>
                      <a:r>
                        <a:rPr sz="819" b="0">
                          <a:solidFill>
                            <a:srgbClr val="000000"/>
                          </a:solidFill>
                          <a:latin typeface="Calibri"/>
                        </a:rPr>
                        <a:t>2.0 %</a:t>
                      </a:r>
                    </a:p>
                  </a:txBody>
                  <a:tcPr/>
                </a:tc>
                <a:tc>
                  <a:txBody>
                    <a:bodyPr lIns="54864" rIns="54864" tIns="18288" bIns="18288" wrap="square" anchor="ctr"/>
                    <a:lstStyle/>
                    <a:p>
                      <a:pPr algn="l"/>
                      <a:r>
                        <a:rPr sz="819" b="0">
                          <a:solidFill>
                            <a:srgbClr val="000000"/>
                          </a:solidFill>
                          <a:latin typeface="Calibri"/>
                        </a:rPr>
                        <a:t>45.92 MPa</a:t>
                      </a:r>
                    </a:p>
                  </a:txBody>
                  <a:tcPr/>
                </a:tc>
                <a:tc>
                  <a:txBody>
                    <a:bodyPr lIns="54864" rIns="54864" tIns="18288" bIns="18288" wrap="square" anchor="ctr"/>
                    <a:lstStyle/>
                    <a:p>
                      <a:pPr algn="l"/>
                      <a:r>
                        <a:rPr sz="819" b="0">
                          <a:solidFill>
                            <a:srgbClr val="000000"/>
                          </a:solidFill>
                          <a:latin typeface="Calibri"/>
                        </a:rPr>
                        <a:t>34.39 MPa</a:t>
                      </a:r>
                    </a:p>
                  </a:txBody>
                  <a:tcPr/>
                </a:tc>
                <a:tc>
                  <a:txBody>
                    <a:bodyPr lIns="54864" rIns="54864" tIns="18288" bIns="18288" wrap="square" anchor="ctr"/>
                    <a:lstStyle/>
                    <a:p>
                      <a:pPr algn="l"/>
                      <a:r>
                        <a:rPr sz="819" b="0">
                          <a:solidFill>
                            <a:srgbClr val="000000"/>
                          </a:solidFill>
                          <a:latin typeface="Calibri"/>
                        </a:rPr>
                        <a:t>0.71 MPa</a:t>
                      </a:r>
                    </a:p>
                  </a:txBody>
                  <a:tcPr/>
                </a:tc>
              </a:tr>
              <a:tr h="182880">
                <a:tc>
                  <a:txBody>
                    <a:bodyPr lIns="54864" rIns="54864" tIns="18288" bIns="18288" wrap="square" anchor="ctr"/>
                    <a:lstStyle/>
                    <a:p>
                      <a:pPr algn="l"/>
                      <a:r>
                        <a:rPr sz="819" b="0">
                          <a:solidFill>
                            <a:srgbClr val="000000"/>
                          </a:solidFill>
                          <a:latin typeface="Calibri"/>
                        </a:rPr>
                        <a:t>4.0 %</a:t>
                      </a:r>
                    </a:p>
                  </a:txBody>
                  <a:tcPr/>
                </a:tc>
                <a:tc>
                  <a:txBody>
                    <a:bodyPr lIns="54864" rIns="54864" tIns="18288" bIns="18288" wrap="square" anchor="ctr"/>
                    <a:lstStyle/>
                    <a:p>
                      <a:pPr algn="l"/>
                      <a:r>
                        <a:rPr sz="819" b="0">
                          <a:solidFill>
                            <a:srgbClr val="000000"/>
                          </a:solidFill>
                          <a:latin typeface="Calibri"/>
                        </a:rPr>
                        <a:t>42.57 MPa</a:t>
                      </a:r>
                    </a:p>
                  </a:txBody>
                  <a:tcPr/>
                </a:tc>
                <a:tc>
                  <a:txBody>
                    <a:bodyPr lIns="54864" rIns="54864" tIns="18288" bIns="18288" wrap="square" anchor="ctr"/>
                    <a:lstStyle/>
                    <a:p>
                      <a:pPr algn="l"/>
                      <a:r>
                        <a:rPr sz="819" b="0">
                          <a:solidFill>
                            <a:srgbClr val="000000"/>
                          </a:solidFill>
                          <a:latin typeface="Calibri"/>
                        </a:rPr>
                        <a:t>41.19 MPa</a:t>
                      </a:r>
                    </a:p>
                  </a:txBody>
                  <a:tcPr/>
                </a:tc>
                <a:tc>
                  <a:txBody>
                    <a:bodyPr lIns="54864" rIns="54864" tIns="18288" bIns="18288" wrap="square" anchor="ctr"/>
                    <a:lstStyle/>
                    <a:p>
                      <a:pPr algn="l"/>
                      <a:r>
                        <a:rPr sz="819" b="0">
                          <a:solidFill>
                            <a:srgbClr val="000000"/>
                          </a:solidFill>
                          <a:latin typeface="Calibri"/>
                        </a:rPr>
                        <a:t>1.10 MPa</a:t>
                      </a:r>
                    </a:p>
                  </a:txBody>
                  <a:tcPr/>
                </a:tc>
              </a:tr>
            </a:tbl>
          </a:graphicData>
        </a:graphic>
      </p:graphicFrame>
      <p:sp>
        <p:nvSpPr>
          <p:cNvPr id="8" name="TextBox 7"/>
          <p:cNvSpPr txBox="1"/>
          <p:nvPr/>
        </p:nvSpPr>
        <p:spPr>
          <a:xfrm>
            <a:off x="6629400" y="4882896"/>
            <a:ext cx="52120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comparison is drawn twice</a:t>
            </a:r>
          </a:p>
        </p:txBody>
      </p:sp>
      <p:sp>
        <p:nvSpPr>
          <p:cNvPr id="9" name="TextBox 8"/>
          <p:cNvSpPr txBox="1"/>
          <p:nvPr/>
        </p:nvSpPr>
        <p:spPr>
          <a:xfrm>
            <a:off x="6629400" y="5212080"/>
            <a:ext cx="5212080" cy="1143000"/>
          </a:xfrm>
          <a:prstGeom prst="rect">
            <a:avLst/>
          </a:prstGeom>
          <a:noFill/>
        </p:spPr>
        <p:txBody>
          <a:bodyPr wrap="square" lIns="45720" rIns="45720" tIns="18288" bIns="18288" anchor="t">
            <a:spAutoFit/>
          </a:bodyPr>
          <a:lstStyle/>
          <a:p>
            <a:pPr algn="l"/>
            <a:r>
              <a:rPr sz="940" b="0" i="0">
                <a:solidFill>
                  <a:srgbClr val="000000"/>
                </a:solidFill>
                <a:latin typeface="Calibri"/>
              </a:rPr>
              <a:t>LEFT is the only region where all three are still intact — PLA fractures first, at 4.2 %. Comparing beyond it would set a broken specimen against an unbroken one.
RIGHT lets each run to its own end, which is the honest picture of how differently the three fail: PLA and PETG fracture; TPU never does, and the test is stopped by hand.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Log stress on both panels — the three span two decades, and TPU is a flat line on a linear axis. TPU is S37 here, the only TPU run that tracked most of its pull.</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A DIC POSITION ESTIMATOR DOES, AND WHY IT IS NEEDED</a:t>
            </a:r>
          </a:p>
        </p:txBody>
      </p:sp>
      <p:pic>
        <p:nvPicPr>
          <p:cNvPr id="5" name="Picture 4" descr="est_whatfor.png"/>
          <p:cNvPicPr>
            <a:picLocks noChangeAspect="1"/>
          </p:cNvPicPr>
          <p:nvPr/>
        </p:nvPicPr>
        <p:blipFill>
          <a:blip r:embed="rId2"/>
          <a:stretch>
            <a:fillRect/>
          </a:stretch>
        </p:blipFill>
        <p:spPr>
          <a:xfrm>
            <a:off x="2006228" y="1097280"/>
            <a:ext cx="8149062" cy="2761488"/>
          </a:xfrm>
          <a:prstGeom prst="rect">
            <a:avLst/>
          </a:prstGeom>
        </p:spPr>
      </p:pic>
      <p:sp>
        <p:nvSpPr>
          <p:cNvPr id="6" name="TextBox 5"/>
          <p:cNvSpPr txBox="1"/>
          <p:nvPr/>
        </p:nvSpPr>
        <p:spPr>
          <a:xfrm>
            <a:off x="411480" y="40050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sits in the chain</a:t>
            </a:r>
          </a:p>
        </p:txBody>
      </p:sp>
      <p:sp>
        <p:nvSpPr>
          <p:cNvPr id="7" name="TextBox 6"/>
          <p:cNvSpPr txBox="1"/>
          <p:nvPr/>
        </p:nvSpPr>
        <p:spPr>
          <a:xfrm>
            <a:off x="411480" y="4352544"/>
            <a:ext cx="5623560" cy="1325880"/>
          </a:xfrm>
          <a:prstGeom prst="rect">
            <a:avLst/>
          </a:prstGeom>
          <a:noFill/>
        </p:spPr>
        <p:txBody>
          <a:bodyPr wrap="square" lIns="45720" rIns="45720" tIns="18288" bIns="18288" anchor="t">
            <a:spAutoFit/>
          </a:bodyPr>
          <a:lstStyle/>
          <a:p>
            <a:pPr algn="l"/>
            <a:r>
              <a:rPr sz="1000" b="0" i="0">
                <a:solidFill>
                  <a:srgbClr val="000000"/>
                </a:solidFill>
                <a:latin typeface="Calibri"/>
              </a:rPr>
              <a:t>frame  →  find the two markers  →  ESTIMATE EACH CENTRE  →  L_px  →  ε = (L_px − Px₀) / Px₀
Everything else in that chain is bookkeeping. The estimator is the only step that decides a NUMBER, and it decides it for both markers on every frame. DIC strain is a ratio of PIXELS (p276), so its precision is set entirely by how well those two centres are known.</a:t>
            </a:r>
          </a:p>
        </p:txBody>
      </p:sp>
      <p:sp>
        <p:nvSpPr>
          <p:cNvPr id="8" name="TextBox 7"/>
          <p:cNvSpPr txBox="1"/>
          <p:nvPr/>
        </p:nvSpPr>
        <p:spPr>
          <a:xfrm>
            <a:off x="6263640" y="400507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whole pixel is nowhere near good enough</a:t>
            </a:r>
          </a:p>
        </p:txBody>
      </p:sp>
      <p:graphicFrame>
        <p:nvGraphicFramePr>
          <p:cNvPr id="9" name="Table 8"/>
          <p:cNvGraphicFramePr>
            <a:graphicFrameLocks noGrp="1"/>
          </p:cNvGraphicFramePr>
          <p:nvPr/>
        </p:nvGraphicFramePr>
        <p:xfrm>
          <a:off x="6263640" y="4352544"/>
          <a:ext cx="5577839" cy="1325880"/>
        </p:xfrm>
        <a:graphic>
          <a:graphicData uri="http://schemas.openxmlformats.org/drawingml/2006/table">
            <a:tbl>
              <a:tblPr firstRow="1" bandRow="1">
                <a:tableStyleId>{5C22544A-7EE6-4342-B048-85BDC9FD1C3A}</a:tableStyleId>
              </a:tblPr>
              <a:tblGrid>
                <a:gridCol w="2743199"/>
                <a:gridCol w="2834640"/>
              </a:tblGrid>
              <a:tr h="265176">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Marker separation Px₀</a:t>
                      </a:r>
                    </a:p>
                  </a:txBody>
                  <a:tcPr/>
                </a:tc>
                <a:tc>
                  <a:txBody>
                    <a:bodyPr lIns="54864" rIns="54864" tIns="18288" bIns="18288" wrap="square" anchor="ctr"/>
                    <a:lstStyle/>
                    <a:p>
                      <a:pPr algn="l"/>
                      <a:r>
                        <a:rPr sz="900" b="0">
                          <a:solidFill>
                            <a:srgbClr val="000000"/>
                          </a:solidFill>
                          <a:latin typeface="Calibri"/>
                        </a:rPr>
                        <a:t>1676 px</a:t>
                      </a:r>
                    </a:p>
                  </a:txBody>
                  <a:tcPr/>
                </a:tc>
              </a:tr>
              <a:tr h="265176">
                <a:tc>
                  <a:txBody>
                    <a:bodyPr lIns="54864" rIns="54864" tIns="18288" bIns="18288" wrap="square" anchor="ctr"/>
                    <a:lstStyle/>
                    <a:p>
                      <a:pPr algn="l"/>
                      <a:r>
                        <a:rPr sz="900" b="0">
                          <a:solidFill>
                            <a:srgbClr val="000000"/>
                          </a:solidFill>
                          <a:latin typeface="Calibri"/>
                        </a:rPr>
                        <a:t>Strain per WHOLE pixel</a:t>
                      </a:r>
                    </a:p>
                  </a:txBody>
                  <a:tcPr/>
                </a:tc>
                <a:tc>
                  <a:txBody>
                    <a:bodyPr lIns="54864" rIns="54864" tIns="18288" bIns="18288" wrap="square" anchor="ctr"/>
                    <a:lstStyle/>
                    <a:p>
                      <a:pPr algn="l"/>
                      <a:r>
                        <a:rPr sz="900" b="0">
                          <a:solidFill>
                            <a:srgbClr val="000000"/>
                          </a:solidFill>
                          <a:latin typeface="Calibri"/>
                        </a:rPr>
                        <a:t>597 µε — the red staircase</a:t>
                      </a:r>
                    </a:p>
                  </a:txBody>
                  <a:tcPr/>
                </a:tc>
              </a:tr>
              <a:tr h="265176">
                <a:tc>
                  <a:txBody>
                    <a:bodyPr lIns="54864" rIns="54864" tIns="18288" bIns="18288" wrap="square" anchor="ctr"/>
                    <a:lstStyle/>
                    <a:p>
                      <a:pPr algn="l"/>
                      <a:r>
                        <a:rPr sz="900" b="0">
                          <a:solidFill>
                            <a:srgbClr val="000000"/>
                          </a:solidFill>
                          <a:latin typeface="Calibri"/>
                        </a:rPr>
                        <a:t>Rig's measured noise floor</a:t>
                      </a:r>
                    </a:p>
                  </a:txBody>
                  <a:tcPr/>
                </a:tc>
                <a:tc>
                  <a:txBody>
                    <a:bodyPr lIns="54864" rIns="54864" tIns="18288" bIns="18288" wrap="square" anchor="ctr"/>
                    <a:lstStyle/>
                    <a:p>
                      <a:pPr algn="l"/>
                      <a:r>
                        <a:rPr sz="900" b="0">
                          <a:solidFill>
                            <a:srgbClr val="000000"/>
                          </a:solidFill>
                          <a:latin typeface="Calibri"/>
                        </a:rPr>
                        <a:t>29 µε</a:t>
                      </a:r>
                    </a:p>
                  </a:txBody>
                  <a:tcPr/>
                </a:tc>
              </a:tr>
              <a:tr h="265176">
                <a:tc>
                  <a:txBody>
                    <a:bodyPr lIns="54864" rIns="54864" tIns="18288" bIns="18288" wrap="square" anchor="ctr"/>
                    <a:lstStyle/>
                    <a:p>
                      <a:pPr algn="l"/>
                      <a:r>
                        <a:rPr sz="900" b="0">
                          <a:solidFill>
                            <a:srgbClr val="000000"/>
                          </a:solidFill>
                          <a:latin typeface="Calibri"/>
                        </a:rPr>
                        <a:t>…so a centre must be known to</a:t>
                      </a:r>
                    </a:p>
                  </a:txBody>
                  <a:tcPr/>
                </a:tc>
                <a:tc>
                  <a:txBody>
                    <a:bodyPr lIns="54864" rIns="54864" tIns="18288" bIns="18288" wrap="square" anchor="ctr"/>
                    <a:lstStyle/>
                    <a:p>
                      <a:pPr algn="l"/>
                      <a:r>
                        <a:rPr sz="900" b="0">
                          <a:solidFill>
                            <a:srgbClr val="000000"/>
                          </a:solidFill>
                          <a:latin typeface="Calibri"/>
                        </a:rPr>
                        <a:t>0.048 px</a:t>
                      </a:r>
                    </a:p>
                  </a:txBody>
                  <a:tcPr/>
                </a:tc>
              </a:tr>
            </a:tbl>
          </a:graphicData>
        </a:graphic>
      </p:graphicFrame>
      <p:sp>
        <p:nvSpPr>
          <p:cNvPr id="10" name="Rectangle 9"/>
          <p:cNvSpPr/>
          <p:nvPr/>
        </p:nvSpPr>
        <p:spPr>
          <a:xfrm>
            <a:off x="365760" y="5797296"/>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Without sub-pixel estimation the elastic region — the part that gives E — would be a 597 µε staircase, about 21× coarser than the noise floor the rig actually achieves.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S26's own elastic region, the same marker pair read with and without sub-pixel estimation. Measurements cached 2026-08-27 14:55.</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FOUR WAYS TO FIND A MARKER CENTRE — AND WHAT EACH COSTS</a:t>
            </a:r>
          </a:p>
        </p:txBody>
      </p:sp>
      <p:pic>
        <p:nvPicPr>
          <p:cNvPr id="5" name="Picture 4" descr="est_methods.png"/>
          <p:cNvPicPr>
            <a:picLocks noChangeAspect="1"/>
          </p:cNvPicPr>
          <p:nvPr/>
        </p:nvPicPr>
        <p:blipFill>
          <a:blip r:embed="rId2"/>
          <a:stretch>
            <a:fillRect/>
          </a:stretch>
        </p:blipFill>
        <p:spPr>
          <a:xfrm>
            <a:off x="2086640" y="1078992"/>
            <a:ext cx="7988239" cy="2267712"/>
          </a:xfrm>
          <a:prstGeom prst="rect">
            <a:avLst/>
          </a:prstGeom>
        </p:spPr>
      </p:pic>
      <p:graphicFrame>
        <p:nvGraphicFramePr>
          <p:cNvPr id="6" name="Table 5"/>
          <p:cNvGraphicFramePr>
            <a:graphicFrameLocks noGrp="1"/>
          </p:cNvGraphicFramePr>
          <p:nvPr/>
        </p:nvGraphicFramePr>
        <p:xfrm>
          <a:off x="365760" y="3529584"/>
          <a:ext cx="11475720" cy="2743200"/>
        </p:xfrm>
        <a:graphic>
          <a:graphicData uri="http://schemas.openxmlformats.org/drawingml/2006/table">
            <a:tbl>
              <a:tblPr firstRow="1" bandRow="1">
                <a:tableStyleId>{5C22544A-7EE6-4342-B048-85BDC9FD1C3A}</a:tableStyleId>
              </a:tblPr>
              <a:tblGrid>
                <a:gridCol w="1874520"/>
                <a:gridCol w="3977640"/>
                <a:gridCol w="2788920"/>
                <a:gridCol w="2834640"/>
              </a:tblGrid>
              <a:tr h="548640">
                <a:tc>
                  <a:txBody>
                    <a:bodyPr lIns="54864" rIns="54864" tIns="18288" bIns="18288" wrap="square" anchor="ctr"/>
                    <a:lstStyle/>
                    <a:p>
                      <a:pPr algn="l"/>
                      <a:r>
                        <a:rPr sz="950" b="1">
                          <a:solidFill>
                            <a:srgbClr val="FFFFFF"/>
                          </a:solidFill>
                          <a:latin typeface="Calibri"/>
                        </a:rPr>
                        <a:t>Method</a:t>
                      </a:r>
                    </a:p>
                  </a:txBody>
                  <a:tcPr>
                    <a:solidFill>
                      <a:srgbClr val="143D2F"/>
                    </a:solidFill>
                  </a:tcPr>
                </a:tc>
                <a:tc>
                  <a:txBody>
                    <a:bodyPr lIns="54864" rIns="54864" tIns="18288" bIns="18288" wrap="square" anchor="ctr"/>
                    <a:lstStyle/>
                    <a:p>
                      <a:pPr algn="l"/>
                      <a:r>
                        <a:rPr sz="950" b="1">
                          <a:solidFill>
                            <a:srgbClr val="FFFFFF"/>
                          </a:solidFill>
                          <a:latin typeface="Calibri"/>
                        </a:rPr>
                        <a:t>How it decides where the centre is</a:t>
                      </a:r>
                    </a:p>
                  </a:txBody>
                  <a:tcPr>
                    <a:solidFill>
                      <a:srgbClr val="143D2F"/>
                    </a:solidFill>
                  </a:tcPr>
                </a:tc>
                <a:tc>
                  <a:txBody>
                    <a:bodyPr lIns="54864" rIns="54864" tIns="18288" bIns="18288" wrap="square" anchor="ctr"/>
                    <a:lstStyle/>
                    <a:p>
                      <a:pPr algn="l"/>
                      <a:r>
                        <a:rPr sz="950" b="1">
                          <a:solidFill>
                            <a:srgbClr val="FFFFFF"/>
                          </a:solidFill>
                          <a:latin typeface="Calibri"/>
                        </a:rPr>
                        <a:t>Advantage</a:t>
                      </a:r>
                    </a:p>
                  </a:txBody>
                  <a:tcPr>
                    <a:solidFill>
                      <a:srgbClr val="143D2F"/>
                    </a:solidFill>
                  </a:tcPr>
                </a:tc>
                <a:tc>
                  <a:txBody>
                    <a:bodyPr lIns="54864" rIns="54864" tIns="18288" bIns="18288" wrap="square" anchor="ctr"/>
                    <a:lstStyle/>
                    <a:p>
                      <a:pPr algn="l"/>
                      <a:r>
                        <a:rPr sz="950" b="1">
                          <a:solidFill>
                            <a:srgbClr val="FFFFFF"/>
                          </a:solidFill>
                          <a:latin typeface="Calibri"/>
                        </a:rPr>
                        <a:t>Disadvantage</a:t>
                      </a:r>
                    </a:p>
                  </a:txBody>
                  <a:tcPr>
                    <a:solidFill>
                      <a:srgbClr val="143D2F"/>
                    </a:solidFill>
                  </a:tcPr>
                </a:tc>
              </a:tr>
              <a:tr h="548640">
                <a:tc>
                  <a:txBody>
                    <a:bodyPr lIns="54864" rIns="54864" tIns="18288" bIns="18288" wrap="square" anchor="ctr"/>
                    <a:lstStyle/>
                    <a:p>
                      <a:pPr algn="l"/>
                      <a:r>
                        <a:rPr sz="800" b="0">
                          <a:solidFill>
                            <a:srgbClr val="000000"/>
                          </a:solidFill>
                          <a:latin typeface="Calibri"/>
                        </a:rPr>
                        <a:t>(a) Correlation +
parabola peak-fit</a:t>
                      </a:r>
                    </a:p>
                  </a:txBody>
                  <a:tcPr/>
                </a:tc>
                <a:tc>
                  <a:txBody>
                    <a:bodyPr lIns="54864" rIns="54864" tIns="18288" bIns="18288" wrap="square" anchor="ctr"/>
                    <a:lstStyle/>
                    <a:p>
                      <a:pPr algn="l"/>
                      <a:r>
                        <a:rPr sz="800" b="0">
                          <a:solidFill>
                            <a:srgbClr val="000000"/>
                          </a:solidFill>
                          <a:latin typeface="Calibri"/>
                        </a:rPr>
                        <a:t>Slides the reference patch over the search area; the best-matching
offset, refined by a parabola through the peak and its neighbours.</a:t>
                      </a:r>
                    </a:p>
                  </a:txBody>
                  <a:tcPr/>
                </a:tc>
                <a:tc>
                  <a:txBody>
                    <a:bodyPr lIns="54864" rIns="54864" tIns="18288" bIns="18288" wrap="square" anchor="ctr"/>
                    <a:lstStyle/>
                    <a:p>
                      <a:pPr algn="l"/>
                      <a:r>
                        <a:rPr sz="800" b="0">
                          <a:solidFill>
                            <a:srgbClr val="000000"/>
                          </a:solidFill>
                          <a:latin typeface="Calibri"/>
                        </a:rPr>
                        <a:t>Needs no threshold at all, and works on any
texture — so it is what FINDS a moved patch.</a:t>
                      </a:r>
                    </a:p>
                  </a:txBody>
                  <a:tcPr/>
                </a:tc>
                <a:tc>
                  <a:txBody>
                    <a:bodyPr lIns="54864" rIns="54864" tIns="18288" bIns="18288" wrap="square" anchor="ctr"/>
                    <a:lstStyle/>
                    <a:p>
                      <a:pPr algn="l"/>
                      <a:r>
                        <a:rPr sz="800" b="0">
                          <a:solidFill>
                            <a:srgbClr val="000000"/>
                          </a:solidFill>
                          <a:latin typeface="Calibri"/>
                        </a:rPr>
                        <a:t>On a large flat disc the correlation peak is broad, so the
parabola is ill-conditioned. Erratic: 25.8 µε on S25, 11.0 on S26.</a:t>
                      </a:r>
                    </a:p>
                  </a:txBody>
                  <a:tcPr/>
                </a:tc>
              </a:tr>
              <a:tr h="548640">
                <a:tc>
                  <a:txBody>
                    <a:bodyPr lIns="54864" rIns="54864" tIns="18288" bIns="18288" wrap="square" anchor="ctr"/>
                    <a:lstStyle/>
                    <a:p>
                      <a:pPr algn="l"/>
                      <a:r>
                        <a:rPr sz="800" b="0">
                          <a:solidFill>
                            <a:srgbClr val="000000"/>
                          </a:solidFill>
                          <a:latin typeface="Calibri"/>
                        </a:rPr>
                        <a:t>(b) Binary contour
centroid  (the live rig)</a:t>
                      </a:r>
                    </a:p>
                  </a:txBody>
                  <a:tcPr/>
                </a:tc>
                <a:tc>
                  <a:txBody>
                    <a:bodyPr lIns="54864" rIns="54864" tIns="18288" bIns="18288" wrap="square" anchor="ctr"/>
                    <a:lstStyle/>
                    <a:p>
                      <a:pPr algn="l"/>
                      <a:r>
                        <a:rPr sz="800" b="0">
                          <a:solidFill>
                            <a:srgbClr val="000000"/>
                          </a:solidFill>
                          <a:latin typeface="Calibri"/>
                        </a:rPr>
                        <a:t>Thresholds the patch, takes the blob nearest the centre, and averages
the coordinates of every pixel inside it — each pixel counting once.</a:t>
                      </a:r>
                    </a:p>
                  </a:txBody>
                  <a:tcPr/>
                </a:tc>
                <a:tc>
                  <a:txBody>
                    <a:bodyPr lIns="54864" rIns="54864" tIns="18288" bIns="18288" wrap="square" anchor="ctr"/>
                    <a:lstStyle/>
                    <a:p>
                      <a:pPr algn="l"/>
                      <a:r>
                        <a:rPr sz="800" b="0">
                          <a:solidFill>
                            <a:srgbClr val="000000"/>
                          </a:solidFill>
                          <a:latin typeface="Calibri"/>
                        </a:rPr>
                        <a:t>Simple, fast and robust. Runs at frame rate
on the rig today.</a:t>
                      </a:r>
                    </a:p>
                  </a:txBody>
                  <a:tcPr/>
                </a:tc>
                <a:tc>
                  <a:txBody>
                    <a:bodyPr lIns="54864" rIns="54864" tIns="18288" bIns="18288" wrap="square" anchor="ctr"/>
                    <a:lstStyle/>
                    <a:p>
                      <a:pPr algn="l"/>
                      <a:r>
                        <a:rPr sz="800" b="0">
                          <a:solidFill>
                            <a:srgbClr val="000000"/>
                          </a:solidFill>
                          <a:latin typeface="Calibri"/>
                        </a:rPr>
                        <a:t>Where the threshold cuts the soft edge DECIDES the answer.
Worst of the three on the harder specimen (20.5 µε, S26).</a:t>
                      </a:r>
                    </a:p>
                  </a:txBody>
                  <a:tcPr/>
                </a:tc>
              </a:tr>
              <a:tr h="548640">
                <a:tc>
                  <a:txBody>
                    <a:bodyPr lIns="54864" rIns="54864" tIns="18288" bIns="18288" wrap="square" anchor="ctr"/>
                    <a:lstStyle/>
                    <a:p>
                      <a:pPr algn="l"/>
                      <a:r>
                        <a:rPr sz="800" b="0">
                          <a:solidFill>
                            <a:srgbClr val="000000"/>
                          </a:solidFill>
                          <a:latin typeface="Calibri"/>
                        </a:rPr>
                        <a:t>(c) Contour + intensity
weighting   ← CHOSEN</a:t>
                      </a:r>
                    </a:p>
                  </a:txBody>
                  <a:tcPr/>
                </a:tc>
                <a:tc>
                  <a:txBody>
                    <a:bodyPr lIns="54864" rIns="54864" tIns="18288" bIns="18288" wrap="square" anchor="ctr"/>
                    <a:lstStyle/>
                    <a:p>
                      <a:pPr algn="l"/>
                      <a:r>
                        <a:rPr sz="800" b="0">
                          <a:solidFill>
                            <a:srgbClr val="000000"/>
                          </a:solidFill>
                          <a:latin typeface="Calibri"/>
                        </a:rPr>
                        <a:t>The same contour still selects the blob, but each pixel then votes in
proportion to how dark it is, using the graded edge instead of cutting it.</a:t>
                      </a:r>
                    </a:p>
                  </a:txBody>
                  <a:tcPr/>
                </a:tc>
                <a:tc>
                  <a:txBody>
                    <a:bodyPr lIns="54864" rIns="54864" tIns="18288" bIns="18288" wrap="square" anchor="ctr"/>
                    <a:lstStyle/>
                    <a:p>
                      <a:pPr algn="l"/>
                      <a:r>
                        <a:rPr sz="800" b="0">
                          <a:solidFill>
                            <a:srgbClr val="000000"/>
                          </a:solidFill>
                          <a:latin typeface="Calibri"/>
                        </a:rPr>
                        <a:t>Best or tied-best on BOTH specimens (18.4 / 11.3 µε)
and ~2.5× less sensitive to the threshold.</a:t>
                      </a:r>
                    </a:p>
                  </a:txBody>
                  <a:tcPr/>
                </a:tc>
                <a:tc>
                  <a:txBody>
                    <a:bodyPr lIns="54864" rIns="54864" tIns="18288" bIns="18288" wrap="square" anchor="ctr"/>
                    <a:lstStyle/>
                    <a:p>
                      <a:pPr algn="l"/>
                      <a:r>
                        <a:rPr sz="800" b="0">
                          <a:solidFill>
                            <a:srgbClr val="000000"/>
                          </a:solidFill>
                          <a:latin typeface="Calibri"/>
                        </a:rPr>
                        <a:t>Assumes a symmetric marker — which is why the detector
requires circularity ≥ 0.40 before it accepts a blob.</a:t>
                      </a:r>
                    </a:p>
                  </a:txBody>
                  <a:tcPr/>
                </a:tc>
              </a:tr>
              <a:tr h="548640">
                <a:tc>
                  <a:txBody>
                    <a:bodyPr lIns="54864" rIns="54864" tIns="18288" bIns="18288" wrap="square" anchor="ctr"/>
                    <a:lstStyle/>
                    <a:p>
                      <a:pPr algn="l"/>
                      <a:r>
                        <a:rPr sz="800" b="0">
                          <a:solidFill>
                            <a:srgbClr val="000000"/>
                          </a:solidFill>
                          <a:latin typeface="Calibri"/>
                        </a:rPr>
                        <a:t>(d) Full-field subset DIC
(Ncorr / DICe style)</a:t>
                      </a:r>
                    </a:p>
                  </a:txBody>
                  <a:tcPr/>
                </a:tc>
                <a:tc>
                  <a:txBody>
                    <a:bodyPr lIns="54864" rIns="54864" tIns="18288" bIns="18288" wrap="square" anchor="ctr"/>
                    <a:lstStyle/>
                    <a:p>
                      <a:pPr algn="l"/>
                      <a:r>
                        <a:rPr sz="800" b="0">
                          <a:solidFill>
                            <a:srgbClr val="000000"/>
                          </a:solidFill>
                          <a:latin typeface="Calibri"/>
                        </a:rPr>
                        <a:t>Correlates thousands of small subsets across a sprayed speckle pattern
and solves for a whole displacement field, not two points.</a:t>
                      </a:r>
                    </a:p>
                  </a:txBody>
                  <a:tcPr/>
                </a:tc>
                <a:tc>
                  <a:txBody>
                    <a:bodyPr lIns="54864" rIns="54864" tIns="18288" bIns="18288" wrap="square" anchor="ctr"/>
                    <a:lstStyle/>
                    <a:p>
                      <a:pPr algn="l"/>
                      <a:r>
                        <a:rPr sz="800" b="0">
                          <a:solidFill>
                            <a:srgbClr val="000000"/>
                          </a:solidFill>
                          <a:latin typeface="Calibri"/>
                        </a:rPr>
                        <a:t>Gives strain FIELDS, Poisson's ratio and
localisation. The research standard.</a:t>
                      </a:r>
                    </a:p>
                  </a:txBody>
                  <a:tcPr/>
                </a:tc>
                <a:tc>
                  <a:txBody>
                    <a:bodyPr lIns="54864" rIns="54864" tIns="18288" bIns="18288" wrap="square" anchor="ctr"/>
                    <a:lstStyle/>
                    <a:p>
                      <a:pPr algn="l"/>
                      <a:r>
                        <a:rPr sz="800" b="0">
                          <a:solidFill>
                            <a:srgbClr val="000000"/>
                          </a:solidFill>
                          <a:latin typeface="Calibri"/>
                        </a:rPr>
                        <a:t>Needs a speckle pattern rather than two dots, and is minutes
of offline compute — so it cannot drive a live control loop.</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Panels drawn from a real S26 marker at the reference frame. All four answer the SAME question and differ only in which pixels vote, and how loudly — except (d), which is a different instrument. Noise over the fixed window; see p288.</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INTENSITY-WEIGHTED CENTROID — THE REASONING</a:t>
            </a:r>
          </a:p>
        </p:txBody>
      </p:sp>
      <p:sp>
        <p:nvSpPr>
          <p:cNvPr id="5" name="TextBox 4"/>
          <p:cNvSpPr txBox="1"/>
          <p:nvPr/>
        </p:nvSpPr>
        <p:spPr>
          <a:xfrm>
            <a:off x="411480" y="111556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Position information lives in the GRADIENT, nowhere else</a:t>
            </a:r>
          </a:p>
        </p:txBody>
      </p:sp>
      <p:sp>
        <p:nvSpPr>
          <p:cNvPr id="6" name="TextBox 5"/>
          <p:cNvSpPr txBox="1"/>
          <p:nvPr/>
        </p:nvSpPr>
        <p:spPr>
          <a:xfrm>
            <a:off x="411480" y="1463040"/>
            <a:ext cx="5623560" cy="1389888"/>
          </a:xfrm>
          <a:prstGeom prst="rect">
            <a:avLst/>
          </a:prstGeom>
          <a:noFill/>
        </p:spPr>
        <p:txBody>
          <a:bodyPr wrap="square" lIns="45720" rIns="45720" tIns="18288" bIns="18288" anchor="t">
            <a:spAutoFit/>
          </a:bodyPr>
          <a:lstStyle/>
          <a:p>
            <a:pPr algn="l"/>
            <a:r>
              <a:rPr sz="1000" b="0" i="0">
                <a:solidFill>
                  <a:srgbClr val="000000"/>
                </a:solidFill>
                <a:latin typeface="Calibri"/>
              </a:rPr>
              <a:t>For a feature in an image carrying noise σ_n, the best achievable position variance is bounded
        var(x̂)  ≥  σ_n²  ⁄  Σ (∂I/∂x)²
summed over pixels. A flat region contributes EXACTLY ZERO: the interior of the dot and the background say nothing about where the dot is. All of it sits in the brightness ramp at the rim — measured on our markers at 12 px wide.</a:t>
            </a:r>
          </a:p>
        </p:txBody>
      </p:sp>
      <p:sp>
        <p:nvSpPr>
          <p:cNvPr id="7" name="TextBox 6"/>
          <p:cNvSpPr txBox="1"/>
          <p:nvPr/>
        </p:nvSpPr>
        <p:spPr>
          <a:xfrm>
            <a:off x="6263640" y="111556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 binary threshold throws that gradient away</a:t>
            </a:r>
          </a:p>
        </p:txBody>
      </p:sp>
      <p:sp>
        <p:nvSpPr>
          <p:cNvPr id="8" name="TextBox 7"/>
          <p:cNvSpPr txBox="1"/>
          <p:nvPr/>
        </p:nvSpPr>
        <p:spPr>
          <a:xfrm>
            <a:off x="6263640" y="1463040"/>
            <a:ext cx="5577840" cy="1389888"/>
          </a:xfrm>
          <a:prstGeom prst="rect">
            <a:avLst/>
          </a:prstGeom>
          <a:noFill/>
        </p:spPr>
        <p:txBody>
          <a:bodyPr wrap="square" lIns="45720" rIns="45720" tIns="18288" bIns="18288" anchor="t">
            <a:spAutoFit/>
          </a:bodyPr>
          <a:lstStyle/>
          <a:p>
            <a:pPr algn="l"/>
            <a:r>
              <a:rPr sz="1000" b="0" i="0">
                <a:solidFill>
                  <a:srgbClr val="000000"/>
                </a:solidFill>
                <a:latin typeface="Calibri"/>
              </a:rPr>
              <a:t>Thresholding replaces the 12 px ramp with a step, and the centroid then depends on WHERE the step landed. Move the level — or the illumination, or the exposure — and the boundary slides along the ramp, taking the centre with it.
Weighting by darkness uses the ramp's shape instead, averaging over the whole transition rather than over one arbitrary contour of it.</a:t>
            </a:r>
          </a:p>
        </p:txBody>
      </p:sp>
      <p:sp>
        <p:nvSpPr>
          <p:cNvPr id="9" name="TextBox 8"/>
          <p:cNvSpPr txBox="1"/>
          <p:nvPr/>
        </p:nvSpPr>
        <p:spPr>
          <a:xfrm>
            <a:off x="411480" y="29809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Two jobs, deliberately kept separate</a:t>
            </a:r>
          </a:p>
        </p:txBody>
      </p:sp>
      <p:graphicFrame>
        <p:nvGraphicFramePr>
          <p:cNvPr id="10" name="Table 9"/>
          <p:cNvGraphicFramePr>
            <a:graphicFrameLocks noGrp="1"/>
          </p:cNvGraphicFramePr>
          <p:nvPr/>
        </p:nvGraphicFramePr>
        <p:xfrm>
          <a:off x="411480" y="3328416"/>
          <a:ext cx="5623559" cy="1371600"/>
        </p:xfrm>
        <a:graphic>
          <a:graphicData uri="http://schemas.openxmlformats.org/drawingml/2006/table">
            <a:tbl>
              <a:tblPr firstRow="1" bandRow="1">
                <a:tableStyleId>{5C22544A-7EE6-4342-B048-85BDC9FD1C3A}</a:tableStyleId>
              </a:tblPr>
              <a:tblGrid>
                <a:gridCol w="1417320"/>
                <a:gridCol w="1234439"/>
                <a:gridCol w="2971800"/>
              </a:tblGrid>
              <a:tr h="457200">
                <a:tc>
                  <a:txBody>
                    <a:bodyPr lIns="54864" rIns="54864" tIns="18288" bIns="18288" wrap="square" anchor="ctr"/>
                    <a:lstStyle/>
                    <a:p>
                      <a:pPr algn="l"/>
                      <a:r>
                        <a:rPr sz="950" b="1">
                          <a:solidFill>
                            <a:srgbClr val="FFFFFF"/>
                          </a:solidFill>
                          <a:latin typeface="Calibri"/>
                        </a:rPr>
                        <a:t>Job</a:t>
                      </a:r>
                    </a:p>
                  </a:txBody>
                  <a:tcPr>
                    <a:solidFill>
                      <a:srgbClr val="143D2F"/>
                    </a:solidFill>
                  </a:tcPr>
                </a:tc>
                <a:tc>
                  <a:txBody>
                    <a:bodyPr lIns="54864" rIns="54864" tIns="18288" bIns="18288" wrap="square" anchor="ctr"/>
                    <a:lstStyle/>
                    <a:p>
                      <a:pPr algn="l"/>
                      <a:r>
                        <a:rPr sz="950" b="1">
                          <a:solidFill>
                            <a:srgbClr val="FFFFFF"/>
                          </a:solidFill>
                          <a:latin typeface="Calibri"/>
                        </a:rPr>
                        <a:t>Done by</a:t>
                      </a:r>
                    </a:p>
                  </a:txBody>
                  <a:tcPr>
                    <a:solidFill>
                      <a:srgbClr val="143D2F"/>
                    </a:solidFill>
                  </a:tcPr>
                </a:tc>
                <a:tc>
                  <a:txBody>
                    <a:bodyPr lIns="54864" rIns="54864" tIns="18288" bIns="18288" wrap="square" anchor="ctr"/>
                    <a:lstStyle/>
                    <a:p>
                      <a:pPr algn="l"/>
                      <a:r>
                        <a:rPr sz="950" b="1">
                          <a:solidFill>
                            <a:srgbClr val="FFFFFF"/>
                          </a:solidFill>
                          <a:latin typeface="Calibri"/>
                        </a:rPr>
                        <a:t>Why that one</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Which blob is
the marker?</a:t>
                      </a:r>
                    </a:p>
                  </a:txBody>
                  <a:tcPr/>
                </a:tc>
                <a:tc>
                  <a:txBody>
                    <a:bodyPr lIns="54864" rIns="54864" tIns="18288" bIns="18288" wrap="square" anchor="ctr"/>
                    <a:lstStyle/>
                    <a:p>
                      <a:pPr algn="l"/>
                      <a:r>
                        <a:rPr sz="850" b="0">
                          <a:solidFill>
                            <a:srgbClr val="000000"/>
                          </a:solidFill>
                          <a:latin typeface="Calibri"/>
                        </a:rPr>
                        <a:t>the contour
(binary)</a:t>
                      </a:r>
                    </a:p>
                  </a:txBody>
                  <a:tcPr/>
                </a:tc>
                <a:tc>
                  <a:txBody>
                    <a:bodyPr lIns="54864" rIns="54864" tIns="18288" bIns="18288" wrap="square" anchor="ctr"/>
                    <a:lstStyle/>
                    <a:p>
                      <a:pPr algn="l"/>
                      <a:r>
                        <a:rPr sz="850" b="0">
                          <a:solidFill>
                            <a:srgbClr val="000000"/>
                          </a:solidFill>
                          <a:latin typeface="Calibri"/>
                        </a:rPr>
                        <a:t>A yes/no question — robustness
matters, precision does not.</a:t>
                      </a:r>
                    </a:p>
                  </a:txBody>
                  <a:tcPr/>
                </a:tc>
              </a:tr>
              <a:tr h="457200">
                <a:tc>
                  <a:txBody>
                    <a:bodyPr lIns="54864" rIns="54864" tIns="18288" bIns="18288" wrap="square" anchor="ctr"/>
                    <a:lstStyle/>
                    <a:p>
                      <a:pPr algn="l"/>
                      <a:r>
                        <a:rPr sz="850" b="0">
                          <a:solidFill>
                            <a:srgbClr val="000000"/>
                          </a:solidFill>
                          <a:latin typeface="Calibri"/>
                        </a:rPr>
                        <a:t>Where exactly is
its centre?</a:t>
                      </a:r>
                    </a:p>
                  </a:txBody>
                  <a:tcPr/>
                </a:tc>
                <a:tc>
                  <a:txBody>
                    <a:bodyPr lIns="54864" rIns="54864" tIns="18288" bIns="18288" wrap="square" anchor="ctr"/>
                    <a:lstStyle/>
                    <a:p>
                      <a:pPr algn="l"/>
                      <a:r>
                        <a:rPr sz="850" b="0">
                          <a:solidFill>
                            <a:srgbClr val="000000"/>
                          </a:solidFill>
                          <a:latin typeface="Calibri"/>
                        </a:rPr>
                        <a:t>intensity
weighting</a:t>
                      </a:r>
                    </a:p>
                  </a:txBody>
                  <a:tcPr/>
                </a:tc>
                <a:tc>
                  <a:txBody>
                    <a:bodyPr lIns="54864" rIns="54864" tIns="18288" bIns="18288" wrap="square" anchor="ctr"/>
                    <a:lstStyle/>
                    <a:p>
                      <a:pPr algn="l"/>
                      <a:r>
                        <a:rPr sz="850" b="0">
                          <a:solidFill>
                            <a:srgbClr val="000000"/>
                          </a:solidFill>
                          <a:latin typeface="Calibri"/>
                        </a:rPr>
                        <a:t>A continuous question — needs the
gradient, so no hard cut is used.</a:t>
                      </a:r>
                    </a:p>
                  </a:txBody>
                  <a:tcPr/>
                </a:tc>
              </a:tr>
            </a:tbl>
          </a:graphicData>
        </a:graphic>
      </p:graphicFrame>
      <p:sp>
        <p:nvSpPr>
          <p:cNvPr id="11" name="TextBox 10"/>
          <p:cNvSpPr txBox="1"/>
          <p:nvPr/>
        </p:nvSpPr>
        <p:spPr>
          <a:xfrm>
            <a:off x="6263640" y="29809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Why not simply correlate, as the tracker already does</a:t>
            </a:r>
          </a:p>
        </p:txBody>
      </p:sp>
      <p:sp>
        <p:nvSpPr>
          <p:cNvPr id="12" name="TextBox 11"/>
          <p:cNvSpPr txBox="1"/>
          <p:nvPr/>
        </p:nvSpPr>
        <p:spPr>
          <a:xfrm>
            <a:off x="6263640" y="3328416"/>
            <a:ext cx="5577840" cy="1371600"/>
          </a:xfrm>
          <a:prstGeom prst="rect">
            <a:avLst/>
          </a:prstGeom>
          <a:noFill/>
        </p:spPr>
        <p:txBody>
          <a:bodyPr wrap="square" lIns="45720" rIns="45720" tIns="18288" bIns="18288" anchor="t">
            <a:spAutoFit/>
          </a:bodyPr>
          <a:lstStyle/>
          <a:p>
            <a:pPr algn="l"/>
            <a:r>
              <a:rPr sz="1000" b="0" i="0">
                <a:solidFill>
                  <a:srgbClr val="000000"/>
                </a:solidFill>
                <a:latin typeface="Calibri"/>
              </a:rPr>
              <a:t>Correlation is the right tool for FINDING a patch that has moved, and it is still what the post-processor uses for that. But its peak on a near-uniform disc is broad — low curvature — so the sub-pixel parabola through it is poorly conditioned and prone to peak-locking toward whole pixels. Correlation locates the marker; the centroid then measures it.</a:t>
            </a:r>
          </a:p>
        </p:txBody>
      </p:sp>
      <p:sp>
        <p:nvSpPr>
          <p:cNvPr id="13" name="TextBox 12"/>
          <p:cNvSpPr txBox="1"/>
          <p:nvPr/>
        </p:nvSpPr>
        <p:spPr>
          <a:xfrm>
            <a:off x="411480" y="480974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5 · What that reasoning PREDICTS — which is what the next two slides test</a:t>
            </a:r>
          </a:p>
        </p:txBody>
      </p:sp>
      <p:graphicFrame>
        <p:nvGraphicFramePr>
          <p:cNvPr id="14" name="Table 13"/>
          <p:cNvGraphicFramePr>
            <a:graphicFrameLocks noGrp="1"/>
          </p:cNvGraphicFramePr>
          <p:nvPr/>
        </p:nvGraphicFramePr>
        <p:xfrm>
          <a:off x="411480" y="5157216"/>
          <a:ext cx="11430000" cy="1097280"/>
        </p:xfrm>
        <a:graphic>
          <a:graphicData uri="http://schemas.openxmlformats.org/drawingml/2006/table">
            <a:tbl>
              <a:tblPr firstRow="1" bandRow="1">
                <a:tableStyleId>{5C22544A-7EE6-4342-B048-85BDC9FD1C3A}</a:tableStyleId>
              </a:tblPr>
              <a:tblGrid>
                <a:gridCol w="3657600"/>
                <a:gridCol w="5120640"/>
                <a:gridCol w="2651760"/>
              </a:tblGrid>
              <a:tr h="274320">
                <a:tc>
                  <a:txBody>
                    <a:bodyPr lIns="54864" rIns="54864" tIns="18288" bIns="18288" wrap="square" anchor="ctr"/>
                    <a:lstStyle/>
                    <a:p>
                      <a:pPr algn="l"/>
                      <a:r>
                        <a:rPr sz="950" b="1">
                          <a:solidFill>
                            <a:srgbClr val="FFFFFF"/>
                          </a:solidFill>
                          <a:latin typeface="Calibri"/>
                        </a:rPr>
                        <a:t>If the reasoning is right, then…</a:t>
                      </a:r>
                    </a:p>
                  </a:txBody>
                  <a:tcPr>
                    <a:solidFill>
                      <a:srgbClr val="143D2F"/>
                    </a:solidFill>
                  </a:tcPr>
                </a:tc>
                <a:tc>
                  <a:txBody>
                    <a:bodyPr lIns="54864" rIns="54864" tIns="18288" bIns="18288" wrap="square" anchor="ctr"/>
                    <a:lstStyle/>
                    <a:p>
                      <a:pPr algn="l"/>
                      <a:r>
                        <a:rPr sz="950" b="1">
                          <a:solidFill>
                            <a:srgbClr val="FFFFFF"/>
                          </a:solidFill>
                          <a:latin typeface="Calibri"/>
                        </a:rPr>
                        <a:t>Testable consequence</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850" b="0">
                          <a:solidFill>
                            <a:srgbClr val="000000"/>
                          </a:solidFill>
                          <a:latin typeface="Calibri"/>
                        </a:rPr>
                        <a:t>information is in the edge, not the interior</a:t>
                      </a:r>
                    </a:p>
                  </a:txBody>
                  <a:tcPr/>
                </a:tc>
                <a:tc>
                  <a:txBody>
                    <a:bodyPr lIns="54864" rIns="54864" tIns="18288" bIns="18288" wrap="square" anchor="ctr"/>
                    <a:lstStyle/>
                    <a:p>
                      <a:pPr algn="l"/>
                      <a:r>
                        <a:rPr sz="850" b="0">
                          <a:solidFill>
                            <a:srgbClr val="000000"/>
                          </a:solidFill>
                          <a:latin typeface="Calibri"/>
                        </a:rPr>
                        <a:t>a patch too small to reach the rim tracks badly however good the estimator</a:t>
                      </a:r>
                    </a:p>
                  </a:txBody>
                  <a:tcPr/>
                </a:tc>
                <a:tc>
                  <a:txBody>
                    <a:bodyPr lIns="54864" rIns="54864" tIns="18288" bIns="18288" wrap="square" anchor="ctr"/>
                    <a:lstStyle/>
                    <a:p>
                      <a:pPr algn="l"/>
                      <a:r>
                        <a:rPr sz="850" b="0">
                          <a:solidFill>
                            <a:srgbClr val="000000"/>
                          </a:solidFill>
                          <a:latin typeface="Calibri"/>
                        </a:rPr>
                        <a:t>confirmed — 13× worse</a:t>
                      </a:r>
                    </a:p>
                  </a:txBody>
                  <a:tcPr/>
                </a:tc>
              </a:tr>
              <a:tr h="274320">
                <a:tc>
                  <a:txBody>
                    <a:bodyPr lIns="54864" rIns="54864" tIns="18288" bIns="18288" wrap="square" anchor="ctr"/>
                    <a:lstStyle/>
                    <a:p>
                      <a:pPr algn="l"/>
                      <a:r>
                        <a:rPr sz="850" b="0">
                          <a:solidFill>
                            <a:srgbClr val="000000"/>
                          </a:solidFill>
                          <a:latin typeface="Calibri"/>
                        </a:rPr>
                        <a:t>weighting uses the ramp; thresholding cuts it</a:t>
                      </a:r>
                    </a:p>
                  </a:txBody>
                  <a:tcPr/>
                </a:tc>
                <a:tc>
                  <a:txBody>
                    <a:bodyPr lIns="54864" rIns="54864" tIns="18288" bIns="18288" wrap="square" anchor="ctr"/>
                    <a:lstStyle/>
                    <a:p>
                      <a:pPr algn="l"/>
                      <a:r>
                        <a:rPr sz="850" b="0">
                          <a:solidFill>
                            <a:srgbClr val="000000"/>
                          </a:solidFill>
                          <a:latin typeface="Calibri"/>
                        </a:rPr>
                        <a:t>sweeping the threshold moves a binary centre much further than a weighted one</a:t>
                      </a:r>
                    </a:p>
                  </a:txBody>
                  <a:tcPr/>
                </a:tc>
                <a:tc>
                  <a:txBody>
                    <a:bodyPr lIns="54864" rIns="54864" tIns="18288" bIns="18288" wrap="square" anchor="ctr"/>
                    <a:lstStyle/>
                    <a:p>
                      <a:pPr algn="l"/>
                      <a:r>
                        <a:rPr sz="850" b="0">
                          <a:solidFill>
                            <a:srgbClr val="000000"/>
                          </a:solidFill>
                          <a:latin typeface="Calibri"/>
                        </a:rPr>
                        <a:t>confirmed — 2.4× and 2.5× further</a:t>
                      </a:r>
                    </a:p>
                  </a:txBody>
                  <a:tcPr/>
                </a:tc>
              </a:tr>
              <a:tr h="274320">
                <a:tc>
                  <a:txBody>
                    <a:bodyPr lIns="54864" rIns="54864" tIns="18288" bIns="18288" wrap="square" anchor="ctr"/>
                    <a:lstStyle/>
                    <a:p>
                      <a:pPr algn="l"/>
                      <a:r>
                        <a:rPr sz="850" b="0">
                          <a:solidFill>
                            <a:srgbClr val="000000"/>
                          </a:solidFill>
                          <a:latin typeface="Calibri"/>
                        </a:rPr>
                        <a:t>the estimator sets precision, not the value</a:t>
                      </a:r>
                    </a:p>
                  </a:txBody>
                  <a:tcPr/>
                </a:tc>
                <a:tc>
                  <a:txBody>
                    <a:bodyPr lIns="54864" rIns="54864" tIns="18288" bIns="18288" wrap="square" anchor="ctr"/>
                    <a:lstStyle/>
                    <a:p>
                      <a:pPr algn="l"/>
                      <a:r>
                        <a:rPr sz="850" b="0">
                          <a:solidFill>
                            <a:srgbClr val="000000"/>
                          </a:solidFill>
                          <a:latin typeface="Calibri"/>
                        </a:rPr>
                        <a:t>all three agree on Px₀ and on peak strain, and differ only in scatter</a:t>
                      </a:r>
                    </a:p>
                  </a:txBody>
                  <a:tcPr/>
                </a:tc>
                <a:tc>
                  <a:txBody>
                    <a:bodyPr lIns="54864" rIns="54864" tIns="18288" bIns="18288" wrap="square" anchor="ctr"/>
                    <a:lstStyle/>
                    <a:p>
                      <a:pPr algn="l"/>
                      <a:r>
                        <a:rPr sz="850" b="0">
                          <a:solidFill>
                            <a:srgbClr val="000000"/>
                          </a:solidFill>
                          <a:latin typeface="Calibri"/>
                        </a:rPr>
                        <a:t>confirmed — Px₀ within 0.05 %</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bound in (1) is the Cramér–Rao limit for feature localisation; it is quoted to say WHERE the information is, not to claim the estimator attains it. Proof on p288 and p289.</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(1 OF 2) — PATCH SIZE FIRST, THEN THE ESTIMATOR</a:t>
            </a:r>
          </a:p>
        </p:txBody>
      </p:sp>
      <p:pic>
        <p:nvPicPr>
          <p:cNvPr id="5" name="Picture 4" descr="est_box.png"/>
          <p:cNvPicPr>
            <a:picLocks noChangeAspect="1"/>
          </p:cNvPicPr>
          <p:nvPr/>
        </p:nvPicPr>
        <p:blipFill>
          <a:blip r:embed="rId2"/>
          <a:stretch>
            <a:fillRect/>
          </a:stretch>
        </p:blipFill>
        <p:spPr>
          <a:xfrm>
            <a:off x="3043758" y="1060704"/>
            <a:ext cx="6074002" cy="2084832"/>
          </a:xfrm>
          <a:prstGeom prst="rect">
            <a:avLst/>
          </a:prstGeom>
        </p:spPr>
      </p:pic>
      <p:pic>
        <p:nvPicPr>
          <p:cNvPr id="6" name="Picture 5" descr="est_compare.png"/>
          <p:cNvPicPr>
            <a:picLocks noChangeAspect="1"/>
          </p:cNvPicPr>
          <p:nvPr/>
        </p:nvPicPr>
        <p:blipFill>
          <a:blip r:embed="rId3"/>
          <a:stretch>
            <a:fillRect/>
          </a:stretch>
        </p:blipFill>
        <p:spPr>
          <a:xfrm>
            <a:off x="2997000" y="3218688"/>
            <a:ext cx="6167518" cy="2084832"/>
          </a:xfrm>
          <a:prstGeom prst="rect">
            <a:avLst/>
          </a:prstGeom>
        </p:spPr>
      </p:pic>
      <p:sp>
        <p:nvSpPr>
          <p:cNvPr id="7" name="Rounded Rectangle 6"/>
          <p:cNvSpPr/>
          <p:nvPr/>
        </p:nvSpPr>
        <p:spPr>
          <a:xfrm>
            <a:off x="411480" y="5413248"/>
            <a:ext cx="2697480" cy="80467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PATCH TOO SMALL (&lt; 1× r)</a:t>
            </a:r>
          </a:p>
        </p:txBody>
      </p:sp>
      <p:sp>
        <p:nvSpPr>
          <p:cNvPr id="8" name="Rounded Rectangle 7"/>
          <p:cNvSpPr/>
          <p:nvPr/>
        </p:nvSpPr>
        <p:spPr>
          <a:xfrm>
            <a:off x="329184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 µε</a:t>
            </a:r>
          </a:p>
          <a:p>
            <a:pPr algn="ctr"/>
            <a:r>
              <a:rPr sz="950">
                <a:solidFill>
                  <a:srgbClr val="000000"/>
                </a:solidFill>
                <a:latin typeface="Calibri"/>
              </a:rPr>
              <a:t>PATCH CLEAR OF THE EDGE</a:t>
            </a:r>
          </a:p>
        </p:txBody>
      </p:sp>
      <p:sp>
        <p:nvSpPr>
          <p:cNvPr id="9" name="Rounded Rectangle 8"/>
          <p:cNvSpPr/>
          <p:nvPr/>
        </p:nvSpPr>
        <p:spPr>
          <a:xfrm>
            <a:off x="6172200" y="5413248"/>
            <a:ext cx="2697480" cy="80467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25.2 µε</a:t>
            </a:r>
          </a:p>
          <a:p>
            <a:pPr algn="ctr"/>
            <a:r>
              <a:rPr sz="950">
                <a:solidFill>
                  <a:srgbClr val="000000"/>
                </a:solidFill>
                <a:latin typeface="Calibri"/>
              </a:rPr>
              <a:t>BINARY CENTROID, WORST CASE</a:t>
            </a:r>
          </a:p>
        </p:txBody>
      </p:sp>
      <p:sp>
        <p:nvSpPr>
          <p:cNvPr id="10" name="Rounded Rectangle 9"/>
          <p:cNvSpPr/>
          <p:nvPr/>
        </p:nvSpPr>
        <p:spPr>
          <a:xfrm>
            <a:off x="905256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WEIGHTED, WORST CASE</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Order of operations matters: patch size buys 13×, the estimator a further 1.4× — so a wrong patch cannot be repaired by a better estimator. Every configuration is scored over the same fixed FRAME window taken from the rig's own strain.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(2 OF 2) — ROBUSTNESS AND ACCURACY</a:t>
            </a:r>
          </a:p>
        </p:txBody>
      </p:sp>
      <p:pic>
        <p:nvPicPr>
          <p:cNvPr id="5" name="Picture 4" descr="est_threshold.png"/>
          <p:cNvPicPr>
            <a:picLocks noChangeAspect="1"/>
          </p:cNvPicPr>
          <p:nvPr/>
        </p:nvPicPr>
        <p:blipFill>
          <a:blip r:embed="rId2"/>
          <a:stretch>
            <a:fillRect/>
          </a:stretch>
        </p:blipFill>
        <p:spPr>
          <a:xfrm>
            <a:off x="3161741" y="1042415"/>
            <a:ext cx="5838037" cy="1938528"/>
          </a:xfrm>
          <a:prstGeom prst="rect">
            <a:avLst/>
          </a:prstGeom>
        </p:spPr>
      </p:pic>
      <p:pic>
        <p:nvPicPr>
          <p:cNvPr id="6" name="Picture 5" descr="est_accuracy.png"/>
          <p:cNvPicPr>
            <a:picLocks noChangeAspect="1"/>
          </p:cNvPicPr>
          <p:nvPr/>
        </p:nvPicPr>
        <p:blipFill>
          <a:blip r:embed="rId3"/>
          <a:stretch>
            <a:fillRect/>
          </a:stretch>
        </p:blipFill>
        <p:spPr>
          <a:xfrm>
            <a:off x="3229051" y="3054096"/>
            <a:ext cx="5703417" cy="1938528"/>
          </a:xfrm>
          <a:prstGeom prst="rect">
            <a:avLst/>
          </a:prstGeom>
        </p:spPr>
      </p:pic>
      <p:sp>
        <p:nvSpPr>
          <p:cNvPr id="7" name="TextBox 6"/>
          <p:cNvSpPr txBox="1"/>
          <p:nvPr/>
        </p:nvSpPr>
        <p:spPr>
          <a:xfrm>
            <a:off x="411480" y="50292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Precision bought without buying error</a:t>
            </a:r>
          </a:p>
        </p:txBody>
      </p:sp>
      <p:graphicFrame>
        <p:nvGraphicFramePr>
          <p:cNvPr id="8" name="Table 7"/>
          <p:cNvGraphicFramePr>
            <a:graphicFrameLocks noGrp="1"/>
          </p:cNvGraphicFramePr>
          <p:nvPr/>
        </p:nvGraphicFramePr>
        <p:xfrm>
          <a:off x="411480" y="5376672"/>
          <a:ext cx="5623560" cy="914400"/>
        </p:xfrm>
        <a:graphic>
          <a:graphicData uri="http://schemas.openxmlformats.org/drawingml/2006/table">
            <a:tbl>
              <a:tblPr firstRow="1" bandRow="1">
                <a:tableStyleId>{5C22544A-7EE6-4342-B048-85BDC9FD1C3A}</a:tableStyleId>
              </a:tblPr>
              <a:tblGrid>
                <a:gridCol w="3063240"/>
                <a:gridCol w="1280160"/>
                <a:gridCol w="1280160"/>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S25</a:t>
                      </a:r>
                    </a:p>
                  </a:txBody>
                  <a:tcPr>
                    <a:solidFill>
                      <a:srgbClr val="143D2F"/>
                    </a:solidFill>
                  </a:tcPr>
                </a:tc>
                <a:tc>
                  <a:txBody>
                    <a:bodyPr lIns="54864" rIns="54864" tIns="18288" bIns="18288" wrap="square" anchor="ctr"/>
                    <a:lstStyle/>
                    <a:p>
                      <a:pPr algn="l"/>
                      <a:r>
                        <a:rPr sz="950" b="1">
                          <a:solidFill>
                            <a:srgbClr val="FFFFFF"/>
                          </a:solidFill>
                          <a:latin typeface="Calibri"/>
                        </a:rPr>
                        <a:t>S26</a:t>
                      </a:r>
                    </a:p>
                  </a:txBody>
                  <a:tcPr>
                    <a:solidFill>
                      <a:srgbClr val="143D2F"/>
                    </a:solidFill>
                  </a:tcPr>
                </a:tc>
              </a:tr>
              <a:tr h="228600">
                <a:tc>
                  <a:txBody>
                    <a:bodyPr lIns="54864" rIns="54864" tIns="18288" bIns="18288" wrap="square" anchor="ctr"/>
                    <a:lstStyle/>
                    <a:p>
                      <a:pPr algn="l"/>
                      <a:r>
                        <a:rPr sz="850" b="0">
                          <a:solidFill>
                            <a:srgbClr val="000000"/>
                          </a:solidFill>
                          <a:latin typeface="Calibri"/>
                        </a:rPr>
                        <a:t>ε_f measured by the rig (%)</a:t>
                      </a:r>
                    </a:p>
                  </a:txBody>
                  <a:tcPr/>
                </a:tc>
                <a:tc>
                  <a:txBody>
                    <a:bodyPr lIns="54864" rIns="54864" tIns="18288" bIns="18288" wrap="square" anchor="ctr"/>
                    <a:lstStyle/>
                    <a:p>
                      <a:pPr algn="l"/>
                      <a:r>
                        <a:rPr sz="850" b="0">
                          <a:solidFill>
                            <a:srgbClr val="000000"/>
                          </a:solidFill>
                          <a:latin typeface="Calibri"/>
                        </a:rPr>
                        <a:t>4.18</a:t>
                      </a:r>
                    </a:p>
                  </a:txBody>
                  <a:tcPr/>
                </a:tc>
                <a:tc>
                  <a:txBody>
                    <a:bodyPr lIns="54864" rIns="54864" tIns="18288" bIns="18288" wrap="square" anchor="ctr"/>
                    <a:lstStyle/>
                    <a:p>
                      <a:pPr algn="l"/>
                      <a:r>
                        <a:rPr sz="850" b="0">
                          <a:solidFill>
                            <a:srgbClr val="000000"/>
                          </a:solidFill>
                          <a:latin typeface="Calibri"/>
                        </a:rPr>
                        <a:t>5.74</a:t>
                      </a:r>
                    </a:p>
                  </a:txBody>
                  <a:tcPr/>
                </a:tc>
              </a:tr>
              <a:tr h="228600">
                <a:tc>
                  <a:txBody>
                    <a:bodyPr lIns="54864" rIns="54864" tIns="18288" bIns="18288" wrap="square" anchor="ctr"/>
                    <a:lstStyle/>
                    <a:p>
                      <a:pPr algn="l"/>
                      <a:r>
                        <a:rPr sz="850" b="0">
                          <a:solidFill>
                            <a:srgbClr val="000000"/>
                          </a:solidFill>
                          <a:latin typeface="Calibri"/>
                        </a:rPr>
                        <a:t>peak ε re-measured here (%)</a:t>
                      </a:r>
                    </a:p>
                  </a:txBody>
                  <a:tcPr/>
                </a:tc>
                <a:tc>
                  <a:txBody>
                    <a:bodyPr lIns="54864" rIns="54864" tIns="18288" bIns="18288" wrap="square" anchor="ctr"/>
                    <a:lstStyle/>
                    <a:p>
                      <a:pPr algn="l"/>
                      <a:r>
                        <a:rPr sz="850" b="0">
                          <a:solidFill>
                            <a:srgbClr val="000000"/>
                          </a:solidFill>
                          <a:latin typeface="Calibri"/>
                        </a:rPr>
                        <a:t>4.17</a:t>
                      </a:r>
                    </a:p>
                  </a:txBody>
                  <a:tcPr/>
                </a:tc>
                <a:tc>
                  <a:txBody>
                    <a:bodyPr lIns="54864" rIns="54864" tIns="18288" bIns="18288" wrap="square" anchor="ctr"/>
                    <a:lstStyle/>
                    <a:p>
                      <a:pPr algn="l"/>
                      <a:r>
                        <a:rPr sz="850" b="0">
                          <a:solidFill>
                            <a:srgbClr val="000000"/>
                          </a:solidFill>
                          <a:latin typeface="Calibri"/>
                        </a:rPr>
                        <a:t>5.72</a:t>
                      </a:r>
                    </a:p>
                  </a:txBody>
                  <a:tcPr/>
                </a:tc>
              </a:tr>
              <a:tr h="228600">
                <a:tc>
                  <a:txBody>
                    <a:bodyPr lIns="54864" rIns="54864" tIns="18288" bIns="18288" wrap="square" anchor="ctr"/>
                    <a:lstStyle/>
                    <a:p>
                      <a:pPr algn="l"/>
                      <a:r>
                        <a:rPr sz="850" b="0">
                          <a:solidFill>
                            <a:srgbClr val="000000"/>
                          </a:solidFill>
                          <a:latin typeface="Calibri"/>
                        </a:rPr>
                        <a:t>scatter against the live rig (µε)</a:t>
                      </a:r>
                    </a:p>
                  </a:txBody>
                  <a:tcPr/>
                </a:tc>
                <a:tc>
                  <a:txBody>
                    <a:bodyPr lIns="54864" rIns="54864" tIns="18288" bIns="18288" wrap="square" anchor="ctr"/>
                    <a:lstStyle/>
                    <a:p>
                      <a:pPr algn="l"/>
                      <a:r>
                        <a:rPr sz="850" b="0">
                          <a:solidFill>
                            <a:srgbClr val="000000"/>
                          </a:solidFill>
                          <a:latin typeface="Calibri"/>
                        </a:rPr>
                        <a:t>330</a:t>
                      </a:r>
                    </a:p>
                  </a:txBody>
                  <a:tcPr/>
                </a:tc>
                <a:tc>
                  <a:txBody>
                    <a:bodyPr lIns="54864" rIns="54864" tIns="18288" bIns="18288" wrap="square" anchor="ctr"/>
                    <a:lstStyle/>
                    <a:p>
                      <a:pPr algn="l"/>
                      <a:r>
                        <a:rPr sz="850" b="0">
                          <a:solidFill>
                            <a:srgbClr val="000000"/>
                          </a:solidFill>
                          <a:latin typeface="Calibri"/>
                        </a:rPr>
                        <a:t>363</a:t>
                      </a:r>
                    </a:p>
                  </a:txBody>
                  <a:tcPr/>
                </a:tc>
              </a:tr>
            </a:tbl>
          </a:graphicData>
        </a:graphic>
      </p:graphicFrame>
      <p:sp>
        <p:nvSpPr>
          <p:cNvPr id="9" name="TextBox 8"/>
          <p:cNvSpPr txBox="1"/>
          <p:nvPr/>
        </p:nvSpPr>
        <p:spPr>
          <a:xfrm>
            <a:off x="6263640" y="50292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Tested, and WITHDRAWN — artefacts of a moving window</a:t>
            </a:r>
          </a:p>
        </p:txBody>
      </p:sp>
      <p:graphicFrame>
        <p:nvGraphicFramePr>
          <p:cNvPr id="10" name="Table 9"/>
          <p:cNvGraphicFramePr>
            <a:graphicFrameLocks noGrp="1"/>
          </p:cNvGraphicFramePr>
          <p:nvPr/>
        </p:nvGraphicFramePr>
        <p:xfrm>
          <a:off x="6263640" y="5376672"/>
          <a:ext cx="5577839" cy="914400"/>
        </p:xfrm>
        <a:graphic>
          <a:graphicData uri="http://schemas.openxmlformats.org/drawingml/2006/table">
            <a:tbl>
              <a:tblPr firstRow="1" bandRow="1">
                <a:tableStyleId>{5C22544A-7EE6-4342-B048-85BDC9FD1C3A}</a:tableStyleId>
              </a:tblPr>
              <a:tblGrid>
                <a:gridCol w="2606039"/>
                <a:gridCol w="1783080"/>
                <a:gridCol w="1188720"/>
              </a:tblGrid>
              <a:tr h="304800">
                <a:tc>
                  <a:txBody>
                    <a:bodyPr lIns="54864" rIns="54864" tIns="18288" bIns="18288" wrap="square" anchor="ctr"/>
                    <a:lstStyle/>
                    <a:p>
                      <a:pPr algn="l"/>
                      <a:r>
                        <a:rPr sz="950" b="1">
                          <a:solidFill>
                            <a:srgbClr val="FFFFFF"/>
                          </a:solidFill>
                          <a:latin typeface="Calibri"/>
                        </a:rPr>
                        <a:t>Claim previously made here</a:t>
                      </a:r>
                    </a:p>
                  </a:txBody>
                  <a:tcPr>
                    <a:solidFill>
                      <a:srgbClr val="143D2F"/>
                    </a:solidFill>
                  </a:tcPr>
                </a:tc>
                <a:tc>
                  <a:txBody>
                    <a:bodyPr lIns="54864" rIns="54864" tIns="18288" bIns="18288" wrap="square" anchor="ctr"/>
                    <a:lstStyle/>
                    <a:p>
                      <a:pPr algn="l"/>
                      <a:r>
                        <a:rPr sz="950" b="1">
                          <a:solidFill>
                            <a:srgbClr val="FFFFFF"/>
                          </a:solidFill>
                          <a:latin typeface="Calibri"/>
                        </a:rPr>
                        <a:t>Re-measured</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750" b="0">
                          <a:solidFill>
                            <a:srgbClr val="000000"/>
                          </a:solidFill>
                          <a:latin typeface="Calibri"/>
                        </a:rPr>
                        <a:t>a centroid anchored to its own last position
beats one re-centred on correlation</a:t>
                      </a:r>
                    </a:p>
                  </a:txBody>
                  <a:tcPr/>
                </a:tc>
                <a:tc>
                  <a:txBody>
                    <a:bodyPr lIns="54864" rIns="54864" tIns="18288" bIns="18288" wrap="square" anchor="ctr"/>
                    <a:lstStyle/>
                    <a:p>
                      <a:pPr algn="l"/>
                      <a:r>
                        <a:rPr sz="750" b="0">
                          <a:solidFill>
                            <a:srgbClr val="000000"/>
                          </a:solidFill>
                          <a:latin typeface="Calibri"/>
                        </a:rPr>
                        <a:t>18.51 vs 18.52 µε (S25)
11.52 vs 11.49 µε (S26)</a:t>
                      </a:r>
                    </a:p>
                  </a:txBody>
                  <a:tcPr/>
                </a:tc>
                <a:tc>
                  <a:txBody>
                    <a:bodyPr lIns="54864" rIns="54864" tIns="18288" bIns="18288" wrap="square" anchor="ctr"/>
                    <a:lstStyle/>
                    <a:p>
                      <a:pPr algn="l"/>
                      <a:r>
                        <a:rPr sz="750" b="0">
                          <a:solidFill>
                            <a:srgbClr val="000000"/>
                          </a:solidFill>
                          <a:latin typeface="Calibri"/>
                        </a:rPr>
                        <a:t>no effect —
withdrawn</a:t>
                      </a:r>
                    </a:p>
                  </a:txBody>
                  <a:tcPr/>
                </a:tc>
              </a:tr>
              <a:tr h="304800">
                <a:tc>
                  <a:txBody>
                    <a:bodyPr lIns="54864" rIns="54864" tIns="18288" bIns="18288" wrap="square" anchor="ctr"/>
                    <a:lstStyle/>
                    <a:p>
                      <a:pPr algn="l"/>
                      <a:r>
                        <a:rPr sz="750" b="0">
                          <a:solidFill>
                            <a:srgbClr val="000000"/>
                          </a:solidFill>
                          <a:latin typeface="Calibri"/>
                        </a:rPr>
                        <a:t>a fixed grey level beats per-frame Otsu,
by about six times</a:t>
                      </a:r>
                    </a:p>
                  </a:txBody>
                  <a:tcPr/>
                </a:tc>
                <a:tc>
                  <a:txBody>
                    <a:bodyPr lIns="54864" rIns="54864" tIns="18288" bIns="18288" wrap="square" anchor="ctr"/>
                    <a:lstStyle/>
                    <a:p>
                      <a:pPr algn="l"/>
                      <a:r>
                        <a:rPr sz="750" b="0">
                          <a:solidFill>
                            <a:srgbClr val="000000"/>
                          </a:solidFill>
                          <a:latin typeface="Calibri"/>
                        </a:rPr>
                        <a:t>18.5 vs 18.2 µε (S25)
11.5 vs 11.2 µε (S26)</a:t>
                      </a:r>
                    </a:p>
                  </a:txBody>
                  <a:tcPr/>
                </a:tc>
                <a:tc>
                  <a:txBody>
                    <a:bodyPr lIns="54864" rIns="54864" tIns="18288" bIns="18288" wrap="square" anchor="ctr"/>
                    <a:lstStyle/>
                    <a:p>
                      <a:pPr algn="l"/>
                      <a:r>
                        <a:rPr sz="750" b="0">
                          <a:solidFill>
                            <a:srgbClr val="000000"/>
                          </a:solidFill>
                          <a:latin typeface="Calibri"/>
                        </a:rPr>
                        <a:t>equal within 2 %
— withdrawn</a:t>
                      </a:r>
                    </a:p>
                  </a:txBody>
                  <a:tcPr/>
                </a:tc>
              </a:tr>
            </a:tbl>
          </a:graphicData>
        </a:graphic>
      </p:graphicFrame>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fixed level is KEPT — for reproducibility, since it depends only on the reference frame — but it is not what makes the centroid quiet; the weighting is, which is why the level stopped mattering. The −473 / −526 µε offset against the live rig is the same in every mode, so it is not the estimator.</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HOW THE NOISE IS MEASURED — AND WHAT A MICROSTRAIN IS</a:t>
            </a:r>
          </a:p>
        </p:txBody>
      </p:sp>
      <p:pic>
        <p:nvPicPr>
          <p:cNvPr id="5" name="Picture 4" descr="est_noise_method.png"/>
          <p:cNvPicPr>
            <a:picLocks noChangeAspect="1"/>
          </p:cNvPicPr>
          <p:nvPr/>
        </p:nvPicPr>
        <p:blipFill>
          <a:blip r:embed="rId2"/>
          <a:stretch>
            <a:fillRect/>
          </a:stretch>
        </p:blipFill>
        <p:spPr>
          <a:xfrm>
            <a:off x="2145146" y="1060704"/>
            <a:ext cx="7871227" cy="2395728"/>
          </a:xfrm>
          <a:prstGeom prst="rect">
            <a:avLst/>
          </a:prstGeom>
        </p:spPr>
      </p:pic>
      <p:sp>
        <p:nvSpPr>
          <p:cNvPr id="6" name="TextBox 5"/>
          <p:cNvSpPr txBox="1"/>
          <p:nvPr/>
        </p:nvSpPr>
        <p:spPr>
          <a:xfrm>
            <a:off x="41148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unit: microstrain (µε)</a:t>
            </a:r>
          </a:p>
        </p:txBody>
      </p:sp>
      <p:sp>
        <p:nvSpPr>
          <p:cNvPr id="7" name="TextBox 6"/>
          <p:cNvSpPr txBox="1"/>
          <p:nvPr/>
        </p:nvSpPr>
        <p:spPr>
          <a:xfrm>
            <a:off x="411480" y="4005072"/>
            <a:ext cx="3703320" cy="1874519"/>
          </a:xfrm>
          <a:prstGeom prst="rect">
            <a:avLst/>
          </a:prstGeom>
          <a:noFill/>
        </p:spPr>
        <p:txBody>
          <a:bodyPr wrap="square" lIns="45720" rIns="45720" tIns="18288" bIns="18288" anchor="t">
            <a:spAutoFit/>
          </a:bodyPr>
          <a:lstStyle/>
          <a:p>
            <a:pPr algn="l"/>
            <a:r>
              <a:rPr sz="1000" b="0" i="0">
                <a:solidFill>
                  <a:srgbClr val="000000"/>
                </a:solidFill>
                <a:latin typeface="Calibri"/>
              </a:rPr>
              <a:t>Strain is a length divided by a length, so it carries NO unit. That makes the raw numbers inconveniently small — a good measurement here is 0.000011 — so they are quoted in millionths.
        1 µε  =  10⁻⁶ strain  =  0.0001 %
On this rig's 80 mm gauge, 1 µε is 0.08 µm of extension. Across the 1676 px pixel baseline it is 0.0017 px of marker movement — which is why sub-pixel estimation is not optional.</a:t>
            </a:r>
          </a:p>
        </p:txBody>
      </p:sp>
      <p:sp>
        <p:nvSpPr>
          <p:cNvPr id="8" name="TextBox 7"/>
          <p:cNvSpPr txBox="1"/>
          <p:nvPr/>
        </p:nvSpPr>
        <p:spPr>
          <a:xfrm>
            <a:off x="434340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measurement, in three steps</a:t>
            </a:r>
          </a:p>
        </p:txBody>
      </p:sp>
      <p:graphicFrame>
        <p:nvGraphicFramePr>
          <p:cNvPr id="9" name="Table 8"/>
          <p:cNvGraphicFramePr>
            <a:graphicFrameLocks noGrp="1"/>
          </p:cNvGraphicFramePr>
          <p:nvPr/>
        </p:nvGraphicFramePr>
        <p:xfrm>
          <a:off x="4343400" y="4005072"/>
          <a:ext cx="3703320" cy="1874519"/>
        </p:xfrm>
        <a:graphic>
          <a:graphicData uri="http://schemas.openxmlformats.org/drawingml/2006/table">
            <a:tbl>
              <a:tblPr firstRow="1" bandRow="1">
                <a:tableStyleId>{5C22544A-7EE6-4342-B048-85BDC9FD1C3A}</a:tableStyleId>
              </a:tblPr>
              <a:tblGrid>
                <a:gridCol w="320040"/>
                <a:gridCol w="1828800"/>
                <a:gridCol w="1554480"/>
              </a:tblGrid>
              <a:tr h="468629">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468629">
                <a:tc>
                  <a:txBody>
                    <a:bodyPr lIns="54864" rIns="54864" tIns="18288" bIns="18288" wrap="square" anchor="ctr"/>
                    <a:lstStyle/>
                    <a:p>
                      <a:pPr algn="l"/>
                      <a:r>
                        <a:rPr sz="800" b="0">
                          <a:solidFill>
                            <a:srgbClr val="000000"/>
                          </a:solidFill>
                          <a:latin typeface="Calibri"/>
                        </a:rPr>
                        <a:t>1</a:t>
                      </a:r>
                    </a:p>
                  </a:txBody>
                  <a:tcPr/>
                </a:tc>
                <a:tc>
                  <a:txBody>
                    <a:bodyPr lIns="54864" rIns="54864" tIns="18288" bIns="18288" wrap="square" anchor="ctr"/>
                    <a:lstStyle/>
                    <a:p>
                      <a:pPr algn="l"/>
                      <a:r>
                        <a:rPr sz="800" b="0">
                          <a:solidFill>
                            <a:srgbClr val="000000"/>
                          </a:solidFill>
                          <a:latin typeface="Calibri"/>
                        </a:rPr>
                        <a:t>Take a SHORT window where the
true response is nearly straight</a:t>
                      </a:r>
                    </a:p>
                  </a:txBody>
                  <a:tcPr/>
                </a:tc>
                <a:tc>
                  <a:txBody>
                    <a:bodyPr lIns="54864" rIns="54864" tIns="18288" bIns="18288" wrap="square" anchor="ctr"/>
                    <a:lstStyle/>
                    <a:p>
                      <a:pPr algn="l"/>
                      <a:r>
                        <a:rPr sz="800" b="0">
                          <a:solidFill>
                            <a:srgbClr val="000000"/>
                          </a:solidFill>
                          <a:latin typeface="Calibri"/>
                        </a:rPr>
                        <a:t>0.02 – 0.32 % strain, 50 points</a:t>
                      </a:r>
                    </a:p>
                  </a:txBody>
                  <a:tcPr/>
                </a:tc>
              </a:tr>
              <a:tr h="468629">
                <a:tc>
                  <a:txBody>
                    <a:bodyPr lIns="54864" rIns="54864" tIns="18288" bIns="18288" wrap="square" anchor="ctr"/>
                    <a:lstStyle/>
                    <a:p>
                      <a:pPr algn="l"/>
                      <a:r>
                        <a:rPr sz="800" b="0">
                          <a:solidFill>
                            <a:srgbClr val="000000"/>
                          </a:solidFill>
                          <a:latin typeface="Calibri"/>
                        </a:rPr>
                        <a:t>2</a:t>
                      </a:r>
                    </a:p>
                  </a:txBody>
                  <a:tcPr/>
                </a:tc>
                <a:tc>
                  <a:txBody>
                    <a:bodyPr lIns="54864" rIns="54864" tIns="18288" bIns="18288" wrap="square" anchor="ctr"/>
                    <a:lstStyle/>
                    <a:p>
                      <a:pPr algn="l"/>
                      <a:r>
                        <a:rPr sz="800" b="0">
                          <a:solidFill>
                            <a:srgbClr val="000000"/>
                          </a:solidFill>
                          <a:latin typeface="Calibri"/>
                        </a:rPr>
                        <a:t>Fit a straight line to the marker
separation L over that window</a:t>
                      </a:r>
                    </a:p>
                  </a:txBody>
                  <a:tcPr/>
                </a:tc>
                <a:tc>
                  <a:txBody>
                    <a:bodyPr lIns="54864" rIns="54864" tIns="18288" bIns="18288" wrap="square" anchor="ctr"/>
                    <a:lstStyle/>
                    <a:p>
                      <a:pPr algn="l"/>
                      <a:r>
                        <a:rPr sz="800" b="0">
                          <a:solidFill>
                            <a:srgbClr val="000000"/>
                          </a:solidFill>
                          <a:latin typeface="Calibri"/>
                        </a:rPr>
                        <a:t>the material is still elastic
there, so a line IS the model</a:t>
                      </a:r>
                    </a:p>
                  </a:txBody>
                  <a:tcPr/>
                </a:tc>
              </a:tr>
              <a:tr h="468632">
                <a:tc>
                  <a:txBody>
                    <a:bodyPr lIns="54864" rIns="54864" tIns="18288" bIns="18288" wrap="square" anchor="ctr"/>
                    <a:lstStyle/>
                    <a:p>
                      <a:pPr algn="l"/>
                      <a:r>
                        <a:rPr sz="800" b="0">
                          <a:solidFill>
                            <a:srgbClr val="000000"/>
                          </a:solidFill>
                          <a:latin typeface="Calibri"/>
                        </a:rPr>
                        <a:t>3</a:t>
                      </a:r>
                    </a:p>
                  </a:txBody>
                  <a:tcPr/>
                </a:tc>
                <a:tc>
                  <a:txBody>
                    <a:bodyPr lIns="54864" rIns="54864" tIns="18288" bIns="18288" wrap="square" anchor="ctr"/>
                    <a:lstStyle/>
                    <a:p>
                      <a:pPr algn="l"/>
                      <a:r>
                        <a:rPr sz="800" b="0">
                          <a:solidFill>
                            <a:srgbClr val="000000"/>
                          </a:solidFill>
                          <a:latin typeface="Calibri"/>
                        </a:rPr>
                        <a:t>Take the standard deviation of
what is left, ÷ Px₀, × 10⁶</a:t>
                      </a:r>
                    </a:p>
                  </a:txBody>
                  <a:tcPr/>
                </a:tc>
                <a:tc>
                  <a:txBody>
                    <a:bodyPr lIns="54864" rIns="54864" tIns="18288" bIns="18288" wrap="square" anchor="ctr"/>
                    <a:lstStyle/>
                    <a:p>
                      <a:pPr algn="l"/>
                      <a:r>
                        <a:rPr sz="800" b="0">
                          <a:solidFill>
                            <a:srgbClr val="000000"/>
                          </a:solidFill>
                          <a:latin typeface="Calibri"/>
                        </a:rPr>
                        <a:t>0.019 px  →  11.3 µε</a:t>
                      </a:r>
                    </a:p>
                  </a:txBody>
                  <a:tcPr/>
                </a:tc>
              </a:tr>
            </a:tbl>
          </a:graphicData>
        </a:graphic>
      </p:graphicFrame>
      <p:sp>
        <p:nvSpPr>
          <p:cNvPr id="10" name="TextBox 9"/>
          <p:cNvSpPr txBox="1"/>
          <p:nvPr/>
        </p:nvSpPr>
        <p:spPr>
          <a:xfrm>
            <a:off x="8275320" y="3657600"/>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NOT</a:t>
            </a:r>
          </a:p>
        </p:txBody>
      </p:sp>
      <p:sp>
        <p:nvSpPr>
          <p:cNvPr id="11" name="TextBox 10"/>
          <p:cNvSpPr txBox="1"/>
          <p:nvPr/>
        </p:nvSpPr>
        <p:spPr>
          <a:xfrm>
            <a:off x="8275320" y="4005072"/>
            <a:ext cx="3566160" cy="1874519"/>
          </a:xfrm>
          <a:prstGeom prst="rect">
            <a:avLst/>
          </a:prstGeom>
          <a:noFill/>
        </p:spPr>
        <p:txBody>
          <a:bodyPr wrap="square" lIns="45720" rIns="45720" tIns="18288" bIns="18288" anchor="t">
            <a:spAutoFit/>
          </a:bodyPr>
          <a:lstStyle/>
          <a:p>
            <a:pPr algn="l"/>
            <a:r>
              <a:rPr sz="1000" b="0" i="0">
                <a:solidFill>
                  <a:srgbClr val="000000"/>
                </a:solidFill>
                <a:latin typeface="Calibri"/>
              </a:rPr>
              <a:t>Noise is the SCATTER, not the error in the answer. A measurement can be quiet and still be offset — which is why accuracy is checked separately, against the live rig (p289).
It is not a fixed property of the rig either. It depends on the estimator, the patch size and the marker, so a microstrain figure only means something alongside the settings that produced it.</a:t>
            </a:r>
          </a:p>
        </p:txBody>
      </p:sp>
      <p:sp>
        <p:nvSpPr>
          <p:cNvPr id="12" name="Rectangle 11"/>
          <p:cNvSpPr/>
          <p:nvPr/>
        </p:nvSpPr>
        <p:spPr>
          <a:xfrm>
            <a:off x="365760" y="5989320"/>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window must be SHORT and nearly straight, and fixed the same way for anything being compared. Detrending a whole fracture curve with a polynomial measures how badly the polynomial fits — a mistake already made once in this project, and the reason every figure here is scored over one window pinned in frame numbers.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Worked on S26 with the chosen estimator, over the same window every other estimator figure uses — so this walkthrough lands on 11.3 µε, the same number quoted on p288.</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XT-205 vs PPD-UTM — WHAT WAS TESTED, AND HOW</a:t>
            </a:r>
          </a:p>
        </p:txBody>
      </p:sp>
      <p:pic>
        <p:nvPicPr>
          <p:cNvPr id="5" name="Picture 4" descr="motpp_setup.png"/>
          <p:cNvPicPr>
            <a:picLocks noChangeAspect="1"/>
          </p:cNvPicPr>
          <p:nvPr/>
        </p:nvPicPr>
        <p:blipFill>
          <a:blip r:embed="rId2"/>
          <a:stretch>
            <a:fillRect/>
          </a:stretch>
        </p:blipFill>
        <p:spPr>
          <a:xfrm>
            <a:off x="3883147" y="1060704"/>
            <a:ext cx="4395224" cy="2487167"/>
          </a:xfrm>
          <a:prstGeom prst="rect">
            <a:avLst/>
          </a:prstGeom>
        </p:spPr>
      </p:pic>
      <p:sp>
        <p:nvSpPr>
          <p:cNvPr id="6" name="TextBox 5"/>
          <p:cNvSpPr txBox="1"/>
          <p:nvPr/>
        </p:nvSpPr>
        <p:spPr>
          <a:xfrm>
            <a:off x="411480" y="36758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design: three legs, so a disagreement can be attributed</a:t>
            </a:r>
          </a:p>
        </p:txBody>
      </p:sp>
      <p:graphicFrame>
        <p:nvGraphicFramePr>
          <p:cNvPr id="7" name="Table 6"/>
          <p:cNvGraphicFramePr>
            <a:graphicFrameLocks noGrp="1"/>
          </p:cNvGraphicFramePr>
          <p:nvPr/>
        </p:nvGraphicFramePr>
        <p:xfrm>
          <a:off x="411480" y="4023360"/>
          <a:ext cx="5623560" cy="1481328"/>
        </p:xfrm>
        <a:graphic>
          <a:graphicData uri="http://schemas.openxmlformats.org/drawingml/2006/table">
            <a:tbl>
              <a:tblPr firstRow="1" bandRow="1">
                <a:tableStyleId>{5C22544A-7EE6-4342-B048-85BDC9FD1C3A}</a:tableStyleId>
              </a:tblPr>
              <a:tblGrid>
                <a:gridCol w="2194560"/>
                <a:gridCol w="2148840"/>
                <a:gridCol w="1280160"/>
              </a:tblGrid>
              <a:tr h="370332">
                <a:tc>
                  <a:txBody>
                    <a:bodyPr lIns="54864" rIns="54864" tIns="18288" bIns="18288" wrap="square" anchor="ctr"/>
                    <a:lstStyle/>
                    <a:p>
                      <a:pPr algn="l"/>
                      <a:r>
                        <a:rPr sz="950" b="1">
                          <a:solidFill>
                            <a:srgbClr val="FFFFFF"/>
                          </a:solidFill>
                          <a:latin typeface="Calibri"/>
                        </a:rPr>
                        <a:t>Comparison</a:t>
                      </a:r>
                    </a:p>
                  </a:txBody>
                  <a:tcPr>
                    <a:solidFill>
                      <a:srgbClr val="143D2F"/>
                    </a:solidFill>
                  </a:tcPr>
                </a:tc>
                <a:tc>
                  <a:txBody>
                    <a:bodyPr lIns="54864" rIns="54864" tIns="18288" bIns="18288" wrap="square" anchor="ctr"/>
                    <a:lstStyle/>
                    <a:p>
                      <a:pPr algn="l"/>
                      <a:r>
                        <a:rPr sz="950" b="1">
                          <a:solidFill>
                            <a:srgbClr val="FFFFFF"/>
                          </a:solidFill>
                          <a:latin typeface="Calibri"/>
                        </a:rPr>
                        <a:t>What differs</a:t>
                      </a:r>
                    </a:p>
                  </a:txBody>
                  <a:tcPr>
                    <a:solidFill>
                      <a:srgbClr val="143D2F"/>
                    </a:solidFill>
                  </a:tcPr>
                </a:tc>
                <a:tc>
                  <a:txBody>
                    <a:bodyPr lIns="54864" rIns="54864" tIns="18288" bIns="18288" wrap="square" anchor="ctr"/>
                    <a:lstStyle/>
                    <a:p>
                      <a:pPr algn="l"/>
                      <a:r>
                        <a:rPr sz="950" b="1">
                          <a:solidFill>
                            <a:srgbClr val="FFFFFF"/>
                          </a:solidFill>
                          <a:latin typeface="Calibri"/>
                        </a:rPr>
                        <a:t>What it isolates</a:t>
                      </a:r>
                    </a:p>
                  </a:txBody>
                  <a:tcPr>
                    <a:solidFill>
                      <a:srgbClr val="143D2F"/>
                    </a:solidFill>
                  </a:tcPr>
                </a:tc>
              </a:tr>
              <a:tr h="370332">
                <a:tc>
                  <a:txBody>
                    <a:bodyPr lIns="54864" rIns="54864" tIns="18288" bIns="18288" wrap="square" anchor="ctr"/>
                    <a:lstStyle/>
                    <a:p>
                      <a:pPr algn="l"/>
                      <a:r>
                        <a:rPr sz="800" b="0">
                          <a:solidFill>
                            <a:srgbClr val="000000"/>
                          </a:solidFill>
                          <a:latin typeface="Calibri"/>
                        </a:rPr>
                        <a:t>XT-205 extensometer  vs
PPD-UTM DIC on the same footage</a:t>
                      </a:r>
                    </a:p>
                  </a:txBody>
                  <a:tcPr/>
                </a:tc>
                <a:tc>
                  <a:txBody>
                    <a:bodyPr lIns="54864" rIns="54864" tIns="18288" bIns="18288" wrap="square" anchor="ctr"/>
                    <a:lstStyle/>
                    <a:p>
                      <a:pPr algn="l"/>
                      <a:r>
                        <a:rPr sz="800" b="0">
                          <a:solidFill>
                            <a:srgbClr val="000000"/>
                          </a:solidFill>
                          <a:latin typeface="Calibri"/>
                        </a:rPr>
                        <a:t>only the analysis — same footage,
specimen and instant</a:t>
                      </a:r>
                    </a:p>
                  </a:txBody>
                  <a:tcPr/>
                </a:tc>
                <a:tc>
                  <a:txBody>
                    <a:bodyPr lIns="54864" rIns="54864" tIns="18288" bIns="18288" wrap="square" anchor="ctr"/>
                    <a:lstStyle/>
                    <a:p>
                      <a:pPr algn="l"/>
                      <a:r>
                        <a:rPr sz="800" b="0">
                          <a:solidFill>
                            <a:srgbClr val="000000"/>
                          </a:solidFill>
                          <a:latin typeface="Calibri"/>
                        </a:rPr>
                        <a:t>the CALCULATION</a:t>
                      </a:r>
                    </a:p>
                  </a:txBody>
                  <a:tcPr/>
                </a:tc>
              </a:tr>
              <a:tr h="370332">
                <a:tc>
                  <a:txBody>
                    <a:bodyPr lIns="54864" rIns="54864" tIns="18288" bIns="18288" wrap="square" anchor="ctr"/>
                    <a:lstStyle/>
                    <a:p>
                      <a:pPr algn="l"/>
                      <a:r>
                        <a:rPr sz="800" b="0">
                          <a:solidFill>
                            <a:srgbClr val="000000"/>
                          </a:solidFill>
                          <a:latin typeface="Calibri"/>
                        </a:rPr>
                        <a:t>PPD-UTM DIC on XT-205 footage  vs
PPD-UTM DIC on S25 / S26</a:t>
                      </a:r>
                    </a:p>
                  </a:txBody>
                  <a:tcPr/>
                </a:tc>
                <a:tc>
                  <a:txBody>
                    <a:bodyPr lIns="54864" rIns="54864" tIns="18288" bIns="18288" wrap="square" anchor="ctr"/>
                    <a:lstStyle/>
                    <a:p>
                      <a:pPr algn="l"/>
                      <a:r>
                        <a:rPr sz="800" b="0">
                          <a:solidFill>
                            <a:srgbClr val="000000"/>
                          </a:solidFill>
                          <a:latin typeface="Calibri"/>
                        </a:rPr>
                        <a:t>the machine and the mounting,
not the analysis</a:t>
                      </a:r>
                    </a:p>
                  </a:txBody>
                  <a:tcPr/>
                </a:tc>
                <a:tc>
                  <a:txBody>
                    <a:bodyPr lIns="54864" rIns="54864" tIns="18288" bIns="18288" wrap="square" anchor="ctr"/>
                    <a:lstStyle/>
                    <a:p>
                      <a:pPr algn="l"/>
                      <a:r>
                        <a:rPr sz="800" b="0">
                          <a:solidFill>
                            <a:srgbClr val="000000"/>
                          </a:solidFill>
                          <a:latin typeface="Calibri"/>
                        </a:rPr>
                        <a:t>the RIG</a:t>
                      </a:r>
                    </a:p>
                  </a:txBody>
                  <a:tcPr/>
                </a:tc>
              </a:tr>
              <a:tr h="370332">
                <a:tc>
                  <a:txBody>
                    <a:bodyPr lIns="54864" rIns="54864" tIns="18288" bIns="18288" wrap="square" anchor="ctr"/>
                    <a:lstStyle/>
                    <a:p>
                      <a:pPr algn="l"/>
                      <a:r>
                        <a:rPr sz="800" b="0">
                          <a:solidFill>
                            <a:srgbClr val="000000"/>
                          </a:solidFill>
                          <a:latin typeface="Calibri"/>
                        </a:rPr>
                        <a:t>(previously) XT-205  vs  PPD-UTM</a:t>
                      </a:r>
                    </a:p>
                  </a:txBody>
                  <a:tcPr/>
                </a:tc>
                <a:tc>
                  <a:txBody>
                    <a:bodyPr lIns="54864" rIns="54864" tIns="18288" bIns="18288" wrap="square" anchor="ctr"/>
                    <a:lstStyle/>
                    <a:p>
                      <a:pPr algn="l"/>
                      <a:r>
                        <a:rPr sz="800" b="0">
                          <a:solidFill>
                            <a:srgbClr val="000000"/>
                          </a:solidFill>
                          <a:latin typeface="Calibri"/>
                        </a:rPr>
                        <a:t>instrument AND specimen at once</a:t>
                      </a:r>
                    </a:p>
                  </a:txBody>
                  <a:tcPr/>
                </a:tc>
                <a:tc>
                  <a:txBody>
                    <a:bodyPr lIns="54864" rIns="54864" tIns="18288" bIns="18288" wrap="square" anchor="ctr"/>
                    <a:lstStyle/>
                    <a:p>
                      <a:pPr algn="l"/>
                      <a:r>
                        <a:rPr sz="800" b="0">
                          <a:solidFill>
                            <a:srgbClr val="000000"/>
                          </a:solidFill>
                          <a:latin typeface="Calibri"/>
                        </a:rPr>
                        <a:t>nothing, on its own</a:t>
                      </a:r>
                    </a:p>
                  </a:txBody>
                  <a:tcPr/>
                </a:tc>
              </a:tr>
            </a:tbl>
          </a:graphicData>
        </a:graphic>
      </p:graphicFrame>
      <p:sp>
        <p:nvSpPr>
          <p:cNvPr id="8" name="TextBox 7"/>
          <p:cNvSpPr txBox="1"/>
          <p:nvPr/>
        </p:nvSpPr>
        <p:spPr>
          <a:xfrm>
            <a:off x="6263640" y="36758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records</a:t>
            </a:r>
          </a:p>
        </p:txBody>
      </p:sp>
      <p:graphicFrame>
        <p:nvGraphicFramePr>
          <p:cNvPr id="9" name="Table 8"/>
          <p:cNvGraphicFramePr>
            <a:graphicFrameLocks noGrp="1"/>
          </p:cNvGraphicFramePr>
          <p:nvPr/>
        </p:nvGraphicFramePr>
        <p:xfrm>
          <a:off x="6263640" y="4023360"/>
          <a:ext cx="5577840" cy="1481328"/>
        </p:xfrm>
        <a:graphic>
          <a:graphicData uri="http://schemas.openxmlformats.org/drawingml/2006/table">
            <a:tbl>
              <a:tblPr firstRow="1" bandRow="1">
                <a:tableStyleId>{5C22544A-7EE6-4342-B048-85BDC9FD1C3A}</a:tableStyleId>
              </a:tblPr>
              <a:tblGrid>
                <a:gridCol w="1691640"/>
                <a:gridCol w="1965960"/>
                <a:gridCol w="1920240"/>
              </a:tblGrid>
              <a:tr h="211618">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  (S25/S26)</a:t>
                      </a:r>
                    </a:p>
                  </a:txBody>
                  <a:tcPr>
                    <a:solidFill>
                      <a:srgbClr val="143D2F"/>
                    </a:solidFill>
                  </a:tcPr>
                </a:tc>
              </a:tr>
              <a:tr h="211618">
                <a:tc>
                  <a:txBody>
                    <a:bodyPr lIns="54864" rIns="54864" tIns="18288" bIns="18288" wrap="square" anchor="ctr"/>
                    <a:lstStyle/>
                    <a:p>
                      <a:pPr algn="l"/>
                      <a:r>
                        <a:rPr sz="800" b="0">
                          <a:solidFill>
                            <a:srgbClr val="000000"/>
                          </a:solidFill>
                          <a:latin typeface="Calibri"/>
                        </a:rPr>
                        <a:t>configuration</a:t>
                      </a:r>
                    </a:p>
                  </a:txBody>
                  <a:tcPr/>
                </a:tc>
                <a:tc>
                  <a:txBody>
                    <a:bodyPr lIns="54864" rIns="54864" tIns="18288" bIns="18288" wrap="square" anchor="ctr"/>
                    <a:lstStyle/>
                    <a:p>
                      <a:pPr algn="l"/>
                      <a:r>
                        <a:rPr sz="800" b="0">
                          <a:solidFill>
                            <a:srgbClr val="000000"/>
                          </a:solidFill>
                          <a:latin typeface="Calibri"/>
                        </a:rPr>
                        <a:t>—</a:t>
                      </a:r>
                    </a:p>
                  </a:txBody>
                  <a:tcPr/>
                </a:tc>
                <a:tc>
                  <a:txBody>
                    <a:bodyPr lIns="54864" rIns="54864" tIns="18288" bIns="18288" wrap="square" anchor="ctr"/>
                    <a:lstStyle/>
                    <a:p>
                      <a:pPr algn="l"/>
                      <a:r>
                        <a:rPr sz="800" b="0">
                          <a:solidFill>
                            <a:srgbClr val="000000"/>
                          </a:solidFill>
                          <a:latin typeface="Calibri"/>
                        </a:rPr>
                        <a:t>Mk II, after the
2026-08-12 realignment</a:t>
                      </a:r>
                    </a:p>
                  </a:txBody>
                  <a:tcPr/>
                </a:tc>
              </a:tr>
              <a:tr h="211618">
                <a:tc>
                  <a:txBody>
                    <a:bodyPr lIns="54864" rIns="54864" tIns="18288" bIns="18288" wrap="square" anchor="ctr"/>
                    <a:lstStyle/>
                    <a:p>
                      <a:pPr algn="l"/>
                      <a:r>
                        <a:rPr sz="800" b="0">
                          <a:solidFill>
                            <a:srgbClr val="000000"/>
                          </a:solidFill>
                          <a:latin typeface="Calibri"/>
                        </a:rPr>
                        <a:t>marker span Px₀</a:t>
                      </a:r>
                    </a:p>
                  </a:txBody>
                  <a:tcPr/>
                </a:tc>
                <a:tc>
                  <a:txBody>
                    <a:bodyPr lIns="54864" rIns="54864" tIns="18288" bIns="18288" wrap="square" anchor="ctr"/>
                    <a:lstStyle/>
                    <a:p>
                      <a:pPr algn="l"/>
                      <a:r>
                        <a:rPr sz="800" b="0">
                          <a:solidFill>
                            <a:srgbClr val="000000"/>
                          </a:solidFill>
                          <a:latin typeface="Calibri"/>
                        </a:rPr>
                        <a:t>2234 px</a:t>
                      </a:r>
                    </a:p>
                  </a:txBody>
                  <a:tcPr/>
                </a:tc>
                <a:tc>
                  <a:txBody>
                    <a:bodyPr lIns="54864" rIns="54864" tIns="18288" bIns="18288" wrap="square" anchor="ctr"/>
                    <a:lstStyle/>
                    <a:p>
                      <a:pPr algn="l"/>
                      <a:r>
                        <a:rPr sz="800" b="0">
                          <a:solidFill>
                            <a:srgbClr val="000000"/>
                          </a:solidFill>
                          <a:latin typeface="Calibri"/>
                        </a:rPr>
                        <a:t>1676 px</a:t>
                      </a:r>
                    </a:p>
                  </a:txBody>
                  <a:tcPr/>
                </a:tc>
              </a:tr>
              <a:tr h="211618">
                <a:tc>
                  <a:txBody>
                    <a:bodyPr lIns="54864" rIns="54864" tIns="18288" bIns="18288" wrap="square" anchor="ctr"/>
                    <a:lstStyle/>
                    <a:p>
                      <a:pPr algn="l"/>
                      <a:r>
                        <a:rPr sz="800" b="0">
                          <a:solidFill>
                            <a:srgbClr val="000000"/>
                          </a:solidFill>
                          <a:latin typeface="Calibri"/>
                        </a:rPr>
                        <a:t>scale</a:t>
                      </a:r>
                    </a:p>
                  </a:txBody>
                  <a:tcPr/>
                </a:tc>
                <a:tc>
                  <a:txBody>
                    <a:bodyPr lIns="54864" rIns="54864" tIns="18288" bIns="18288" wrap="square" anchor="ctr"/>
                    <a:lstStyle/>
                    <a:p>
                      <a:pPr algn="l"/>
                      <a:r>
                        <a:rPr sz="800" b="0">
                          <a:solidFill>
                            <a:srgbClr val="000000"/>
                          </a:solidFill>
                          <a:latin typeface="Calibri"/>
                        </a:rPr>
                        <a:t>27.9 px/mm</a:t>
                      </a:r>
                    </a:p>
                  </a:txBody>
                  <a:tcPr/>
                </a:tc>
                <a:tc>
                  <a:txBody>
                    <a:bodyPr lIns="54864" rIns="54864" tIns="18288" bIns="18288" wrap="square" anchor="ctr"/>
                    <a:lstStyle/>
                    <a:p>
                      <a:pPr algn="l"/>
                      <a:r>
                        <a:rPr sz="800" b="0">
                          <a:solidFill>
                            <a:srgbClr val="000000"/>
                          </a:solidFill>
                          <a:latin typeface="Calibri"/>
                        </a:rPr>
                        <a:t>21.0 px/mm</a:t>
                      </a:r>
                    </a:p>
                  </a:txBody>
                  <a:tcPr/>
                </a:tc>
              </a:tr>
              <a:tr h="211618">
                <a:tc>
                  <a:txBody>
                    <a:bodyPr lIns="54864" rIns="54864" tIns="18288" bIns="18288" wrap="square" anchor="ctr"/>
                    <a:lstStyle/>
                    <a:p>
                      <a:pPr algn="l"/>
                      <a:r>
                        <a:rPr sz="800" b="0">
                          <a:solidFill>
                            <a:srgbClr val="000000"/>
                          </a:solidFill>
                          <a:latin typeface="Calibri"/>
                        </a:rPr>
                        <a:t>specimen width</a:t>
                      </a:r>
                    </a:p>
                  </a:txBody>
                  <a:tcPr/>
                </a:tc>
                <a:tc>
                  <a:txBody>
                    <a:bodyPr lIns="54864" rIns="54864" tIns="18288" bIns="18288" wrap="square" anchor="ctr"/>
                    <a:lstStyle/>
                    <a:p>
                      <a:pPr algn="l"/>
                      <a:r>
                        <a:rPr sz="800" b="0">
                          <a:solidFill>
                            <a:srgbClr val="000000"/>
                          </a:solidFill>
                          <a:latin typeface="Calibri"/>
                        </a:rPr>
                        <a:t>9.60 mm</a:t>
                      </a:r>
                    </a:p>
                  </a:txBody>
                  <a:tcPr/>
                </a:tc>
                <a:tc>
                  <a:txBody>
                    <a:bodyPr lIns="54864" rIns="54864" tIns="18288" bIns="18288" wrap="square" anchor="ctr"/>
                    <a:lstStyle/>
                    <a:p>
                      <a:pPr algn="l"/>
                      <a:r>
                        <a:rPr sz="800" b="0">
                          <a:solidFill>
                            <a:srgbClr val="000000"/>
                          </a:solidFill>
                          <a:latin typeface="Calibri"/>
                        </a:rPr>
                        <a:t>10.12 mm</a:t>
                      </a:r>
                    </a:p>
                  </a:txBody>
                  <a:tcPr/>
                </a:tc>
              </a:tr>
              <a:tr h="211618">
                <a:tc>
                  <a:txBody>
                    <a:bodyPr lIns="54864" rIns="54864" tIns="18288" bIns="18288" wrap="square" anchor="ctr"/>
                    <a:lstStyle/>
                    <a:p>
                      <a:pPr algn="l"/>
                      <a:r>
                        <a:rPr sz="800" b="0">
                          <a:solidFill>
                            <a:srgbClr val="000000"/>
                          </a:solidFill>
                          <a:latin typeface="Calibri"/>
                        </a:rPr>
                        <a:t>frame rate</a:t>
                      </a:r>
                    </a:p>
                  </a:txBody>
                  <a:tcPr/>
                </a:tc>
                <a:tc>
                  <a:txBody>
                    <a:bodyPr lIns="54864" rIns="54864" tIns="18288" bIns="18288" wrap="square" anchor="ctr"/>
                    <a:lstStyle/>
                    <a:p>
                      <a:pPr algn="l"/>
                      <a:r>
                        <a:rPr sz="800" b="0">
                          <a:solidFill>
                            <a:srgbClr val="000000"/>
                          </a:solidFill>
                          <a:latin typeface="Calibri"/>
                        </a:rPr>
                        <a:t>19.405 fps, from its own
per-frame acquisition log</a:t>
                      </a:r>
                    </a:p>
                  </a:txBody>
                  <a:tcPr/>
                </a:tc>
                <a:tc>
                  <a:txBody>
                    <a:bodyPr lIns="54864" rIns="54864" tIns="18288" bIns="18288" wrap="square" anchor="ctr"/>
                    <a:lstStyle/>
                    <a:p>
                      <a:pPr algn="l"/>
                      <a:r>
                        <a:rPr sz="800" b="0">
                          <a:solidFill>
                            <a:srgbClr val="000000"/>
                          </a:solidFill>
                          <a:latin typeface="Calibri"/>
                        </a:rPr>
                        <a:t>19.93 fps, from the
capture's index.csv</a:t>
                      </a:r>
                    </a:p>
                  </a:txBody>
                  <a:tcPr/>
                </a:tc>
              </a:tr>
              <a:tr h="211620">
                <a:tc>
                  <a:txBody>
                    <a:bodyPr lIns="54864" rIns="54864" tIns="18288" bIns="18288" wrap="square" anchor="ctr"/>
                    <a:lstStyle/>
                    <a:p>
                      <a:pPr algn="l"/>
                      <a:r>
                        <a:rPr sz="800" b="0">
                          <a:solidFill>
                            <a:srgbClr val="000000"/>
                          </a:solidFill>
                          <a:latin typeface="Calibri"/>
                        </a:rPr>
                        <a:t>strain range usable</a:t>
                      </a:r>
                    </a:p>
                  </a:txBody>
                  <a:tcPr/>
                </a:tc>
                <a:tc>
                  <a:txBody>
                    <a:bodyPr lIns="54864" rIns="54864" tIns="18288" bIns="18288" wrap="square" anchor="ctr"/>
                    <a:lstStyle/>
                    <a:p>
                      <a:pPr algn="l"/>
                      <a:r>
                        <a:rPr sz="800" b="0">
                          <a:solidFill>
                            <a:srgbClr val="000000"/>
                          </a:solidFill>
                          <a:latin typeface="Calibri"/>
                        </a:rPr>
                        <a:t>to 0.40 %, then its
marks are lost</a:t>
                      </a:r>
                    </a:p>
                  </a:txBody>
                  <a:tcPr/>
                </a:tc>
                <a:tc>
                  <a:txBody>
                    <a:bodyPr lIns="54864" rIns="54864" tIns="18288" bIns="18288" wrap="square" anchor="ctr"/>
                    <a:lstStyle/>
                    <a:p>
                      <a:pPr algn="l"/>
                      <a:r>
                        <a:rPr sz="800" b="0">
                          <a:solidFill>
                            <a:srgbClr val="000000"/>
                          </a:solidFill>
                          <a:latin typeface="Calibri"/>
                        </a:rPr>
                        <a:t>to fracture</a:t>
                      </a:r>
                    </a:p>
                  </a:txBody>
                  <a:tcPr/>
                </a:tc>
              </a:tr>
            </a:tbl>
          </a:graphicData>
        </a:graphic>
      </p:graphicFrame>
      <p:sp>
        <p:nvSpPr>
          <p:cNvPr id="10" name="Rectangle 9"/>
          <p:cNvSpPr/>
          <p:nvPr/>
        </p:nvSpPr>
        <p:spPr>
          <a:xfrm>
            <a:off x="365760" y="5705856"/>
            <a:ext cx="11475720" cy="512064"/>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machines were set to the SAME 0.1 mm/s crosshead speed, and both measure an 80 mm marker span — so anything left over after the calculation is checked belongs to the machine, the grips or the specimen.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 record: test2.chan 0.avi + strain.csv + test2.daq, XT-205, gauge 80.0033 mm. Ours: S25 and S26, PLA 100 % infill, the same pair used throughout this deck.</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SAME 80 mm GAUGE, DIFFERENT PIXEL COUNTS — WHY THAT IS FINE</a:t>
            </a:r>
          </a:p>
        </p:txBody>
      </p:sp>
      <p:sp>
        <p:nvSpPr>
          <p:cNvPr id="5" name="TextBox 4"/>
          <p:cNvSpPr txBox="1"/>
          <p:nvPr/>
        </p:nvSpPr>
        <p:spPr>
          <a:xfrm>
            <a:off x="411480" y="1024128"/>
            <a:ext cx="11430000" cy="384048"/>
          </a:xfrm>
          <a:prstGeom prst="rect">
            <a:avLst/>
          </a:prstGeom>
          <a:noFill/>
        </p:spPr>
        <p:txBody>
          <a:bodyPr wrap="square" lIns="45720" rIns="45720" tIns="18288" bIns="18288" anchor="t">
            <a:spAutoFit/>
          </a:bodyPr>
          <a:lstStyle/>
          <a:p>
            <a:pPr algn="l"/>
            <a:r>
              <a:rPr sz="1100" b="0" i="0">
                <a:solidFill>
                  <a:srgbClr val="000000"/>
                </a:solidFill>
                <a:latin typeface="Calibri"/>
              </a:rPr>
              <a:t>On the previous slide the XT-205's gauge spans 2234 px and the PPD-UTM's spans 1676 px, yet both are 80 mm of the same kind of specimen. Nothing is wrong: the two cameras magnify differently.</a:t>
            </a:r>
          </a:p>
        </p:txBody>
      </p:sp>
      <p:pic>
        <p:nvPicPr>
          <p:cNvPr id="6" name="Picture 5" descr="motpp_pixels.png"/>
          <p:cNvPicPr>
            <a:picLocks noChangeAspect="1"/>
          </p:cNvPicPr>
          <p:nvPr/>
        </p:nvPicPr>
        <p:blipFill>
          <a:blip r:embed="rId2"/>
          <a:stretch>
            <a:fillRect/>
          </a:stretch>
        </p:blipFill>
        <p:spPr>
          <a:xfrm>
            <a:off x="3203580" y="1499616"/>
            <a:ext cx="5845798" cy="2487168"/>
          </a:xfrm>
          <a:prstGeom prst="rect">
            <a:avLst/>
          </a:prstGeom>
        </p:spPr>
      </p:pic>
      <p:sp>
        <p:nvSpPr>
          <p:cNvPr id="7" name="TextBox 6"/>
          <p:cNvSpPr txBox="1"/>
          <p:nvPr/>
        </p:nvSpPr>
        <p:spPr>
          <a:xfrm>
            <a:off x="41148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counts differ</a:t>
            </a:r>
          </a:p>
        </p:txBody>
      </p:sp>
      <p:sp>
        <p:nvSpPr>
          <p:cNvPr id="8" name="TextBox 7"/>
          <p:cNvSpPr txBox="1"/>
          <p:nvPr/>
        </p:nvSpPr>
        <p:spPr>
          <a:xfrm>
            <a:off x="41148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The XT-205 lays 27.9 pixels across a millimetre; we lay 21.0. Over an 80 mm gauge that is 2234 px against 1676 px — a 33 % difference that belongs entirely to the optics and says nothing about the specimen, the grips or the test.</a:t>
            </a:r>
          </a:p>
        </p:txBody>
      </p:sp>
      <p:sp>
        <p:nvSpPr>
          <p:cNvPr id="9" name="TextBox 8"/>
          <p:cNvSpPr txBox="1"/>
          <p:nvPr/>
        </p:nvSpPr>
        <p:spPr>
          <a:xfrm>
            <a:off x="434340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does not affect the strain</a:t>
            </a:r>
          </a:p>
        </p:txBody>
      </p:sp>
      <p:sp>
        <p:nvSpPr>
          <p:cNvPr id="10" name="TextBox 9"/>
          <p:cNvSpPr txBox="1"/>
          <p:nvPr/>
        </p:nvSpPr>
        <p:spPr>
          <a:xfrm>
            <a:off x="434340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Because strain is a RATIO of pixels:
        ε = (L_px − Px₀) / Px₀
px/mm appears in the numerator and the denominator and cancels exactly. Neither machine needs the other's optics, or even a correct gauge length, for the two strains to be comparable — which is what makes the comparison on p293 possible at all.</a:t>
            </a:r>
          </a:p>
        </p:txBody>
      </p:sp>
      <p:sp>
        <p:nvSpPr>
          <p:cNvPr id="11" name="TextBox 10"/>
          <p:cNvSpPr txBox="1"/>
          <p:nvPr/>
        </p:nvSpPr>
        <p:spPr>
          <a:xfrm>
            <a:off x="8275320" y="4133087"/>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DOES matter</a:t>
            </a:r>
          </a:p>
        </p:txBody>
      </p:sp>
      <p:sp>
        <p:nvSpPr>
          <p:cNvPr id="12" name="TextBox 11"/>
          <p:cNvSpPr txBox="1"/>
          <p:nvPr/>
        </p:nvSpPr>
        <p:spPr>
          <a:xfrm>
            <a:off x="8275320" y="4480560"/>
            <a:ext cx="3566160" cy="1572768"/>
          </a:xfrm>
          <a:prstGeom prst="rect">
            <a:avLst/>
          </a:prstGeom>
          <a:noFill/>
        </p:spPr>
        <p:txBody>
          <a:bodyPr wrap="square" lIns="45720" rIns="45720" tIns="18288" bIns="18288" anchor="t">
            <a:spAutoFit/>
          </a:bodyPr>
          <a:lstStyle/>
          <a:p>
            <a:pPr algn="l"/>
            <a:r>
              <a:rPr sz="1000" b="0" i="0">
                <a:solidFill>
                  <a:srgbClr val="000000"/>
                </a:solidFill>
                <a:latin typeface="Calibri"/>
              </a:rPr>
              <a:t>Resolution. One whole pixel is 448 µε on their longer baseline and 597 µε on ours — their pixel is worth 25 % less strain. It also matters for px/mm if an EXTENSION in millimetres is wanted; for strain alone it is not used.</a:t>
            </a:r>
          </a:p>
        </p:txBody>
      </p:sp>
      <p:sp>
        <p:nvSpPr>
          <p:cNvPr id="13" name="Rectangle 12"/>
          <p:cNvSpPr/>
          <p:nvPr/>
        </p:nvSpPr>
        <p:spPr>
          <a:xfrm>
            <a:off x="365760" y="6144768"/>
            <a:ext cx="11475720" cy="182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000000"/>
                </a:solidFill>
                <a:latin typeface="Calibri"/>
              </a:rPr>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the right-hand plot carefully: our pipeline reaches 5.7 µε on their footage and 23.5 µε on S25, a 4× gap where the magnification alone accounts for only 1.3×. The rest is the specimen, the lighting and the marker quality — not the camera.</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TWO CALCULATIONS AGREE — SAME VIDEO, SAME ANSWER</a:t>
            </a:r>
          </a:p>
        </p:txBody>
      </p:sp>
      <p:pic>
        <p:nvPicPr>
          <p:cNvPr id="5" name="Picture 4" descr="mot_postproc_compare.png"/>
          <p:cNvPicPr>
            <a:picLocks noChangeAspect="1"/>
          </p:cNvPicPr>
          <p:nvPr/>
        </p:nvPicPr>
        <p:blipFill>
          <a:blip r:embed="rId2"/>
          <a:stretch>
            <a:fillRect/>
          </a:stretch>
        </p:blipFill>
        <p:spPr>
          <a:xfrm>
            <a:off x="2971800" y="1042415"/>
            <a:ext cx="6217920" cy="2331720"/>
          </a:xfrm>
          <a:prstGeom prst="rect">
            <a:avLst/>
          </a:prstGeom>
        </p:spPr>
      </p:pic>
      <p:sp>
        <p:nvSpPr>
          <p:cNvPr id="6" name="TextBox 5"/>
          <p:cNvSpPr txBox="1"/>
          <p:nvPr/>
        </p:nvSpPr>
        <p:spPr>
          <a:xfrm>
            <a:off x="411480" y="35112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at matched instants — no fitting at all</a:t>
            </a:r>
          </a:p>
        </p:txBody>
      </p:sp>
      <p:graphicFrame>
        <p:nvGraphicFramePr>
          <p:cNvPr id="7" name="Table 6"/>
          <p:cNvGraphicFramePr>
            <a:graphicFrameLocks noGrp="1"/>
          </p:cNvGraphicFramePr>
          <p:nvPr/>
        </p:nvGraphicFramePr>
        <p:xfrm>
          <a:off x="411480" y="3858768"/>
          <a:ext cx="5623559" cy="1417320"/>
        </p:xfrm>
        <a:graphic>
          <a:graphicData uri="http://schemas.openxmlformats.org/drawingml/2006/table">
            <a:tbl>
              <a:tblPr firstRow="1" bandRow="1">
                <a:tableStyleId>{5C22544A-7EE6-4342-B048-85BDC9FD1C3A}</a:tableStyleId>
              </a:tblPr>
              <a:tblGrid>
                <a:gridCol w="3566159"/>
                <a:gridCol w="2057400"/>
              </a:tblGrid>
              <a:tr h="283464">
                <a:tc>
                  <a:txBody>
                    <a:bodyPr lIns="54864" rIns="54864" tIns="18288" bIns="18288" wrap="square" anchor="ctr"/>
                    <a:lstStyle/>
                    <a:p>
                      <a:pPr algn="l"/>
                      <a:r>
                        <a:rPr sz="950" b="1">
                          <a:solidFill>
                            <a:srgbClr val="FFFFFF"/>
                          </a:solidFill>
                          <a:latin typeface="Calibri"/>
                        </a:rPr>
                        <a:t>Test</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strain ratio, PPD-UTM DIC ÷ XT-205 (83 points)</a:t>
                      </a:r>
                    </a:p>
                  </a:txBody>
                  <a:tcPr/>
                </a:tc>
                <a:tc>
                  <a:txBody>
                    <a:bodyPr lIns="54864" rIns="54864" tIns="18288" bIns="18288" wrap="square" anchor="ctr"/>
                    <a:lstStyle/>
                    <a:p>
                      <a:pPr algn="l"/>
                      <a:r>
                        <a:rPr sz="850" b="0">
                          <a:solidFill>
                            <a:srgbClr val="000000"/>
                          </a:solidFill>
                          <a:latin typeface="Calibri"/>
                        </a:rPr>
                        <a:t>median 1.0017</a:t>
                      </a:r>
                    </a:p>
                  </a:txBody>
                  <a:tcPr/>
                </a:tc>
              </a:tr>
              <a:tr h="283464">
                <a:tc>
                  <a:txBody>
                    <a:bodyPr lIns="54864" rIns="54864" tIns="18288" bIns="18288" wrap="square" anchor="ctr"/>
                    <a:lstStyle/>
                    <a:p>
                      <a:pPr algn="l"/>
                      <a:r>
                        <a:rPr sz="850" b="0">
                          <a:solidFill>
                            <a:srgbClr val="000000"/>
                          </a:solidFill>
                          <a:latin typeface="Calibri"/>
                        </a:rPr>
                        <a:t>PPD-UTM DIC as a straight fit of the XT-205</a:t>
                      </a:r>
                    </a:p>
                  </a:txBody>
                  <a:tcPr/>
                </a:tc>
                <a:tc>
                  <a:txBody>
                    <a:bodyPr lIns="54864" rIns="54864" tIns="18288" bIns="18288" wrap="square" anchor="ctr"/>
                    <a:lstStyle/>
                    <a:p>
                      <a:pPr algn="l"/>
                      <a:r>
                        <a:rPr sz="850" b="0">
                          <a:solidFill>
                            <a:srgbClr val="000000"/>
                          </a:solidFill>
                          <a:latin typeface="Calibri"/>
                        </a:rPr>
                        <a:t>1.0256 × XT-205 -32 µε</a:t>
                      </a:r>
                    </a:p>
                  </a:txBody>
                  <a:tcPr/>
                </a:tc>
              </a:tr>
              <a:tr h="283464">
                <a:tc>
                  <a:txBody>
                    <a:bodyPr lIns="54864" rIns="54864" tIns="18288" bIns="18288" wrap="square" anchor="ctr"/>
                    <a:lstStyle/>
                    <a:p>
                      <a:pPr algn="l"/>
                      <a:r>
                        <a:rPr sz="850" b="0">
                          <a:solidFill>
                            <a:srgbClr val="000000"/>
                          </a:solidFill>
                          <a:latin typeface="Calibri"/>
                        </a:rPr>
                        <a:t>independent scale check (p296)</a:t>
                      </a:r>
                    </a:p>
                  </a:txBody>
                  <a:tcPr/>
                </a:tc>
                <a:tc>
                  <a:txBody>
                    <a:bodyPr lIns="54864" rIns="54864" tIns="18288" bIns="18288" wrap="square" anchor="ctr"/>
                    <a:lstStyle/>
                    <a:p>
                      <a:pPr algn="l"/>
                      <a:r>
                        <a:rPr sz="850" b="0">
                          <a:solidFill>
                            <a:srgbClr val="000000"/>
                          </a:solidFill>
                          <a:latin typeface="Calibri"/>
                        </a:rPr>
                        <a:t>k = 0.99991</a:t>
                      </a:r>
                    </a:p>
                  </a:txBody>
                  <a:tcPr/>
                </a:tc>
              </a:tr>
              <a:tr h="283464">
                <a:tc>
                  <a:txBody>
                    <a:bodyPr lIns="54864" rIns="54864" tIns="18288" bIns="18288" wrap="square" anchor="ctr"/>
                    <a:lstStyle/>
                    <a:p>
                      <a:pPr algn="l"/>
                      <a:r>
                        <a:rPr sz="850" b="0">
                          <a:solidFill>
                            <a:srgbClr val="000000"/>
                          </a:solidFill>
                          <a:latin typeface="Calibri"/>
                        </a:rPr>
                        <a:t>fitted strain-rate ratio</a:t>
                      </a:r>
                    </a:p>
                  </a:txBody>
                  <a:tcPr/>
                </a:tc>
                <a:tc>
                  <a:txBody>
                    <a:bodyPr lIns="54864" rIns="54864" tIns="18288" bIns="18288" wrap="square" anchor="ctr"/>
                    <a:lstStyle/>
                    <a:p>
                      <a:pPr algn="l"/>
                      <a:r>
                        <a:rPr sz="850" b="0">
                          <a:solidFill>
                            <a:srgbClr val="000000"/>
                          </a:solidFill>
                          <a:latin typeface="Calibri"/>
                        </a:rPr>
                        <a:t>1.0235</a:t>
                      </a:r>
                    </a:p>
                  </a:txBody>
                  <a:tcPr/>
                </a:tc>
              </a:tr>
            </a:tbl>
          </a:graphicData>
        </a:graphic>
      </p:graphicFrame>
      <p:sp>
        <p:nvSpPr>
          <p:cNvPr id="8" name="TextBox 7"/>
          <p:cNvSpPr txBox="1"/>
          <p:nvPr/>
        </p:nvSpPr>
        <p:spPr>
          <a:xfrm>
            <a:off x="6263640" y="35112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PPD-UTM is the quieter of the two</a:t>
            </a:r>
          </a:p>
        </p:txBody>
      </p:sp>
      <p:graphicFrame>
        <p:nvGraphicFramePr>
          <p:cNvPr id="9" name="Table 8"/>
          <p:cNvGraphicFramePr>
            <a:graphicFrameLocks noGrp="1"/>
          </p:cNvGraphicFramePr>
          <p:nvPr/>
        </p:nvGraphicFramePr>
        <p:xfrm>
          <a:off x="6263640" y="3858768"/>
          <a:ext cx="5577838" cy="1417320"/>
        </p:xfrm>
        <a:graphic>
          <a:graphicData uri="http://schemas.openxmlformats.org/drawingml/2006/table">
            <a:tbl>
              <a:tblPr firstRow="1" bandRow="1">
                <a:tableStyleId>{5C22544A-7EE6-4342-B048-85BDC9FD1C3A}</a:tableStyleId>
              </a:tblPr>
              <a:tblGrid>
                <a:gridCol w="2606039"/>
                <a:gridCol w="1600200"/>
                <a:gridCol w="1371599"/>
              </a:tblGrid>
              <a:tr h="283464">
                <a:tc>
                  <a:txBody>
                    <a:bodyPr lIns="54864" rIns="54864" tIns="18288" bIns="18288" wrap="square" anchor="ctr"/>
                    <a:lstStyle/>
                    <a:p>
                      <a:pPr algn="l"/>
                      <a:r>
                        <a:rPr sz="950" b="1">
                          <a:solidFill>
                            <a:srgbClr val="FFFFFF"/>
                          </a:solidFill>
                          <a:latin typeface="Calibri"/>
                        </a:rPr>
                        <a:t>Record</a:t>
                      </a:r>
                    </a:p>
                  </a:txBody>
                  <a:tcPr>
                    <a:solidFill>
                      <a:srgbClr val="143D2F"/>
                    </a:solidFill>
                  </a:tcPr>
                </a:tc>
                <a:tc>
                  <a:txBody>
                    <a:bodyPr lIns="54864" rIns="54864" tIns="18288" bIns="18288" wrap="square" anchor="ctr"/>
                    <a:lstStyle/>
                    <a:p>
                      <a:pPr algn="l"/>
                      <a:r>
                        <a:rPr sz="950" b="1">
                          <a:solidFill>
                            <a:srgbClr val="FFFFFF"/>
                          </a:solidFill>
                          <a:latin typeface="Calibri"/>
                        </a:rPr>
                        <a:t>d(ε)/dt</a:t>
                      </a:r>
                    </a:p>
                  </a:txBody>
                  <a:tcPr>
                    <a:solidFill>
                      <a:srgbClr val="143D2F"/>
                    </a:solidFill>
                  </a:tcPr>
                </a:tc>
                <a:tc>
                  <a:txBody>
                    <a:bodyPr lIns="54864" rIns="54864" tIns="18288" bIns="18288" wrap="square" anchor="ctr"/>
                    <a:lstStyle/>
                    <a:p>
                      <a:pPr algn="l"/>
                      <a:r>
                        <a:rPr sz="950" b="1">
                          <a:solidFill>
                            <a:srgbClr val="FFFFFF"/>
                          </a:solidFill>
                          <a:latin typeface="Calibri"/>
                        </a:rPr>
                        <a:t>noise</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XT-205 footage, PPD-UTM DIC</a:t>
                      </a:r>
                    </a:p>
                  </a:txBody>
                  <a:tcPr/>
                </a:tc>
                <a:tc>
                  <a:txBody>
                    <a:bodyPr lIns="54864" rIns="54864" tIns="18288" bIns="18288" wrap="square" anchor="ctr"/>
                    <a:lstStyle/>
                    <a:p>
                      <a:pPr algn="l"/>
                      <a:r>
                        <a:rPr sz="850" b="0">
                          <a:solidFill>
                            <a:srgbClr val="000000"/>
                          </a:solidFill>
                          <a:latin typeface="Calibri"/>
                        </a:rPr>
                        <a:t>7.598e-04 /s</a:t>
                      </a:r>
                    </a:p>
                  </a:txBody>
                  <a:tcPr/>
                </a:tc>
                <a:tc>
                  <a:txBody>
                    <a:bodyPr lIns="54864" rIns="54864" tIns="18288" bIns="18288" wrap="square" anchor="ctr"/>
                    <a:lstStyle/>
                    <a:p>
                      <a:pPr algn="l"/>
                      <a:r>
                        <a:rPr sz="850" b="0">
                          <a:solidFill>
                            <a:srgbClr val="000000"/>
                          </a:solidFill>
                          <a:latin typeface="Calibri"/>
                        </a:rPr>
                        <a:t>5.7 µε</a:t>
                      </a:r>
                    </a:p>
                  </a:txBody>
                  <a:tcPr/>
                </a:tc>
              </a:tr>
              <a:tr h="283464">
                <a:tc>
                  <a:txBody>
                    <a:bodyPr lIns="54864" rIns="54864" tIns="18288" bIns="18288" wrap="square" anchor="ctr"/>
                    <a:lstStyle/>
                    <a:p>
                      <a:pPr algn="l"/>
                      <a:r>
                        <a:rPr sz="850" b="0">
                          <a:solidFill>
                            <a:srgbClr val="000000"/>
                          </a:solidFill>
                          <a:latin typeface="Calibri"/>
                        </a:rPr>
                        <a:t>XT-205 footage, XT-205 extensometer</a:t>
                      </a:r>
                    </a:p>
                  </a:txBody>
                  <a:tcPr/>
                </a:tc>
                <a:tc>
                  <a:txBody>
                    <a:bodyPr lIns="54864" rIns="54864" tIns="18288" bIns="18288" wrap="square" anchor="ctr"/>
                    <a:lstStyle/>
                    <a:p>
                      <a:pPr algn="l"/>
                      <a:r>
                        <a:rPr sz="850" b="0">
                          <a:solidFill>
                            <a:srgbClr val="000000"/>
                          </a:solidFill>
                          <a:latin typeface="Calibri"/>
                        </a:rPr>
                        <a:t>7.424e-04 /s</a:t>
                      </a:r>
                    </a:p>
                  </a:txBody>
                  <a:tcPr/>
                </a:tc>
                <a:tc>
                  <a:txBody>
                    <a:bodyPr lIns="54864" rIns="54864" tIns="18288" bIns="18288" wrap="square" anchor="ctr"/>
                    <a:lstStyle/>
                    <a:p>
                      <a:pPr algn="l"/>
                      <a:r>
                        <a:rPr sz="850" b="0">
                          <a:solidFill>
                            <a:srgbClr val="000000"/>
                          </a:solidFill>
                          <a:latin typeface="Calibri"/>
                        </a:rPr>
                        <a:t>44.9 µε</a:t>
                      </a:r>
                    </a:p>
                  </a:txBody>
                  <a:tcPr/>
                </a:tc>
              </a:tr>
              <a:tr h="283464">
                <a:tc>
                  <a:txBody>
                    <a:bodyPr lIns="54864" rIns="54864" tIns="18288" bIns="18288" wrap="square" anchor="ctr"/>
                    <a:lstStyle/>
                    <a:p>
                      <a:pPr algn="l"/>
                      <a:r>
                        <a:rPr sz="850" b="0">
                          <a:solidFill>
                            <a:srgbClr val="000000"/>
                          </a:solidFill>
                          <a:latin typeface="Calibri"/>
                        </a:rPr>
                        <a:t>S25, PPD-UTM</a:t>
                      </a:r>
                    </a:p>
                  </a:txBody>
                  <a:tcPr/>
                </a:tc>
                <a:tc>
                  <a:txBody>
                    <a:bodyPr lIns="54864" rIns="54864" tIns="18288" bIns="18288" wrap="square" anchor="ctr"/>
                    <a:lstStyle/>
                    <a:p>
                      <a:pPr algn="l"/>
                      <a:r>
                        <a:rPr sz="850" b="0">
                          <a:solidFill>
                            <a:srgbClr val="000000"/>
                          </a:solidFill>
                          <a:latin typeface="Calibri"/>
                        </a:rPr>
                        <a:t>2.666e-04 /s</a:t>
                      </a:r>
                    </a:p>
                  </a:txBody>
                  <a:tcPr/>
                </a:tc>
                <a:tc>
                  <a:txBody>
                    <a:bodyPr lIns="54864" rIns="54864" tIns="18288" bIns="18288" wrap="square" anchor="ctr"/>
                    <a:lstStyle/>
                    <a:p>
                      <a:pPr algn="l"/>
                      <a:r>
                        <a:rPr sz="850" b="0">
                          <a:solidFill>
                            <a:srgbClr val="000000"/>
                          </a:solidFill>
                          <a:latin typeface="Calibri"/>
                        </a:rPr>
                        <a:t>23.5 µε</a:t>
                      </a:r>
                    </a:p>
                  </a:txBody>
                  <a:tcPr/>
                </a:tc>
              </a:tr>
              <a:tr h="283464">
                <a:tc>
                  <a:txBody>
                    <a:bodyPr lIns="54864" rIns="54864" tIns="18288" bIns="18288" wrap="square" anchor="ctr"/>
                    <a:lstStyle/>
                    <a:p>
                      <a:pPr algn="l"/>
                      <a:r>
                        <a:rPr sz="850" b="0">
                          <a:solidFill>
                            <a:srgbClr val="000000"/>
                          </a:solidFill>
                          <a:latin typeface="Calibri"/>
                        </a:rPr>
                        <a:t>S26, PPD-UTM</a:t>
                      </a:r>
                    </a:p>
                  </a:txBody>
                  <a:tcPr/>
                </a:tc>
                <a:tc>
                  <a:txBody>
                    <a:bodyPr lIns="54864" rIns="54864" tIns="18288" bIns="18288" wrap="square" anchor="ctr"/>
                    <a:lstStyle/>
                    <a:p>
                      <a:pPr algn="l"/>
                      <a:r>
                        <a:rPr sz="850" b="0">
                          <a:solidFill>
                            <a:srgbClr val="000000"/>
                          </a:solidFill>
                          <a:latin typeface="Calibri"/>
                        </a:rPr>
                        <a:t>4.063e-04 /s</a:t>
                      </a:r>
                    </a:p>
                  </a:txBody>
                  <a:tcPr/>
                </a:tc>
                <a:tc>
                  <a:txBody>
                    <a:bodyPr lIns="54864" rIns="54864" tIns="18288" bIns="18288" wrap="square" anchor="ctr"/>
                    <a:lstStyle/>
                    <a:p>
                      <a:pPr algn="l"/>
                      <a:r>
                        <a:rPr sz="850" b="0">
                          <a:solidFill>
                            <a:srgbClr val="000000"/>
                          </a:solidFill>
                          <a:latin typeface="Calibri"/>
                        </a:rPr>
                        <a:t>23.6 µε</a:t>
                      </a:r>
                    </a:p>
                  </a:txBody>
                  <a:tcPr/>
                </a:tc>
              </a:tr>
            </a:tbl>
          </a:graphicData>
        </a:graphic>
      </p:graphicFrame>
      <p:sp>
        <p:nvSpPr>
          <p:cNvPr id="10" name="Rectangle 9"/>
          <p:cNvSpPr/>
          <p:nvPr/>
        </p:nvSpPr>
        <p:spPr>
          <a:xfrm>
            <a:off x="365760" y="5394960"/>
            <a:ext cx="1147572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Same footage, same specimen, same instant — so the only thing that differs is the arithmetic, and it agrees. That the two strains are also the same SIZE, and not merely the same shape, is established separately and to 0.01 % (p296); what is left over here is each instrument's own noise.</a:t>
            </a:r>
          </a:p>
        </p:txBody>
      </p:sp>
      <p:sp>
        <p:nvSpPr>
          <p:cNvPr id="11" name="TextBox 10"/>
          <p:cNvSpPr txBox="1"/>
          <p:nvPr/>
        </p:nvSpPr>
        <p:spPr>
          <a:xfrm>
            <a:off x="365760" y="5980176"/>
            <a:ext cx="11475720" cy="310896"/>
          </a:xfrm>
          <a:prstGeom prst="rect">
            <a:avLst/>
          </a:prstGeom>
          <a:noFill/>
        </p:spPr>
        <p:txBody>
          <a:bodyPr wrap="square" lIns="45720" rIns="45720" tIns="18288" bIns="18288" anchor="t">
            <a:spAutoFit/>
          </a:bodyPr>
          <a:lstStyle/>
          <a:p>
            <a:pPr algn="ctr"/>
            <a:r>
              <a:rPr sz="1000" b="0" i="0">
                <a:solidFill>
                  <a:srgbClr val="000000"/>
                </a:solidFill>
                <a:latin typeface="Calibri"/>
              </a:rPr>
              <a:t>On the XT-205's own footage the PPD-UTM reads 7.9× quieter (5.7 vs 44.9 µε) — a larger pixel baseline and a sub-pixel centroid against the extensometer's 20 Hz output.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over 0.05–0.35 % strain, inside the XT-205's valid range — it loses its marks at 0.4015 %. See p290 for what a microstrain is.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SLOPES DIFFER — WHERE THE COMMANDED MOTION GOES</a:t>
            </a:r>
          </a:p>
        </p:txBody>
      </p:sp>
      <p:pic>
        <p:nvPicPr>
          <p:cNvPr id="5" name="Picture 4" descr="motpp_share.png"/>
          <p:cNvPicPr>
            <a:picLocks noChangeAspect="1"/>
          </p:cNvPicPr>
          <p:nvPr/>
        </p:nvPicPr>
        <p:blipFill>
          <a:blip r:embed="rId2"/>
          <a:stretch>
            <a:fillRect/>
          </a:stretch>
        </p:blipFill>
        <p:spPr>
          <a:xfrm>
            <a:off x="1930534" y="1024128"/>
            <a:ext cx="8300450" cy="2231136"/>
          </a:xfrm>
          <a:prstGeom prst="rect">
            <a:avLst/>
          </a:prstGeom>
        </p:spPr>
      </p:pic>
      <p:sp>
        <p:nvSpPr>
          <p:cNvPr id="6" name="TextBox 5"/>
          <p:cNvSpPr txBox="1"/>
          <p:nvPr/>
        </p:nvSpPr>
        <p:spPr>
          <a:xfrm>
            <a:off x="411480" y="33467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Ranked by how much of the gap each accounts for — the MOT's crosshead is commanded, not measured</a:t>
            </a:r>
          </a:p>
        </p:txBody>
      </p:sp>
      <p:graphicFrame>
        <p:nvGraphicFramePr>
          <p:cNvPr id="7" name="Table 6"/>
          <p:cNvGraphicFramePr>
            <a:graphicFrameLocks noGrp="1"/>
          </p:cNvGraphicFramePr>
          <p:nvPr/>
        </p:nvGraphicFramePr>
        <p:xfrm>
          <a:off x="411480" y="3694176"/>
          <a:ext cx="11430000" cy="2340864"/>
        </p:xfrm>
        <a:graphic>
          <a:graphicData uri="http://schemas.openxmlformats.org/drawingml/2006/table">
            <a:tbl>
              <a:tblPr firstRow="1" bandRow="1">
                <a:tableStyleId>{5C22544A-7EE6-4342-B048-85BDC9FD1C3A}</a:tableStyleId>
              </a:tblPr>
              <a:tblGrid>
                <a:gridCol w="292608"/>
                <a:gridCol w="4114800"/>
                <a:gridCol w="5074920"/>
                <a:gridCol w="1947672"/>
              </a:tblGrid>
              <a:tr h="468172">
                <a:tc>
                  <a:txBody>
                    <a:bodyPr lIns="54864" rIns="54864" tIns="18288" bIns="18288" wrap="square" anchor="ctr"/>
                    <a:lstStyle/>
                    <a:p>
                      <a:pPr algn="l"/>
                      <a:r>
                        <a:rPr sz="950" b="1">
                          <a:solidFill>
                            <a:srgbClr val="FFFFFF"/>
                          </a:solidFill>
                          <a:latin typeface="Calibri"/>
                        </a:rPr>
                        <a:t>#</a:t>
                      </a:r>
                    </a:p>
                  </a:txBody>
                  <a:tcPr>
                    <a:solidFill>
                      <a:srgbClr val="143D2F"/>
                    </a:solidFill>
                  </a:tcPr>
                </a:tc>
                <a:tc>
                  <a:txBody>
                    <a:bodyPr lIns="54864" rIns="54864" tIns="18288" bIns="18288" wrap="square" anchor="ctr"/>
                    <a:lstStyle/>
                    <a:p>
                      <a:pPr algn="l"/>
                      <a:r>
                        <a:rPr sz="950" b="1">
                          <a:solidFill>
                            <a:srgbClr val="FFFFFF"/>
                          </a:solidFill>
                          <a:latin typeface="Calibri"/>
                        </a:rPr>
                        <a:t>Cause</a:t>
                      </a:r>
                    </a:p>
                  </a:txBody>
                  <a:tcPr>
                    <a:solidFill>
                      <a:srgbClr val="143D2F"/>
                    </a:solidFill>
                  </a:tcPr>
                </a:tc>
                <a:tc>
                  <a:txBody>
                    <a:bodyPr lIns="54864" rIns="54864" tIns="18288" bIns="18288" wrap="square" anchor="ctr"/>
                    <a:lstStyle/>
                    <a:p>
                      <a:pPr algn="l"/>
                      <a:r>
                        <a:rPr sz="950" b="1">
                          <a:solidFill>
                            <a:srgbClr val="FFFFFF"/>
                          </a:solidFill>
                          <a:latin typeface="Calibri"/>
                        </a:rPr>
                        <a:t>The evidence</a:t>
                      </a:r>
                    </a:p>
                  </a:txBody>
                  <a:tcPr>
                    <a:solidFill>
                      <a:srgbClr val="143D2F"/>
                    </a:solidFill>
                  </a:tcPr>
                </a:tc>
                <a:tc>
                  <a:txBody>
                    <a:bodyPr lIns="54864" rIns="54864" tIns="18288" bIns="18288" wrap="square" anchor="ctr"/>
                    <a:lstStyle/>
                    <a:p>
                      <a:pPr algn="l"/>
                      <a:r>
                        <a:rPr sz="950" b="1">
                          <a:solidFill>
                            <a:srgbClr val="FFFFFF"/>
                          </a:solidFill>
                          <a:latin typeface="Calibri"/>
                        </a:rPr>
                        <a:t>Size</a:t>
                      </a:r>
                    </a:p>
                  </a:txBody>
                  <a:tcPr>
                    <a:solidFill>
                      <a:srgbClr val="143D2F"/>
                    </a:solidFill>
                  </a:tcPr>
                </a:tc>
              </a:tr>
              <a:tr h="468172">
                <a:tc>
                  <a:txBody>
                    <a:bodyPr lIns="54864" rIns="54864" tIns="18288" bIns="18288" wrap="square" anchor="ctr"/>
                    <a:lstStyle/>
                    <a:p>
                      <a:pPr algn="l"/>
                      <a:r>
                        <a:rPr sz="750" b="0">
                          <a:solidFill>
                            <a:srgbClr val="000000"/>
                          </a:solidFill>
                          <a:latin typeface="Calibri"/>
                        </a:rPr>
                        <a:t>1</a:t>
                      </a:r>
                    </a:p>
                  </a:txBody>
                  <a:tcPr/>
                </a:tc>
                <a:tc>
                  <a:txBody>
                    <a:bodyPr lIns="54864" rIns="54864" tIns="18288" bIns="18288" wrap="square" anchor="ctr"/>
                    <a:lstStyle/>
                    <a:p>
                      <a:pPr algn="l"/>
                      <a:r>
                        <a:rPr sz="750" b="0">
                          <a:solidFill>
                            <a:srgbClr val="000000"/>
                          </a:solidFill>
                          <a:latin typeface="Calibri"/>
                        </a:rPr>
                        <a:t>Motor speed is not specimen speed.
The rig's Position_mm is a MOTOR-shaft encoder read through 20:1 gearing
and a 5 mm screw. It proves the motor turned; it proves nothing about
the grips, and no sensor measures them directly.</a:t>
                      </a:r>
                    </a:p>
                  </a:txBody>
                  <a:tcPr/>
                </a:tc>
                <a:tc>
                  <a:txBody>
                    <a:bodyPr lIns="54864" rIns="54864" tIns="18288" bIns="18288" wrap="square" anchor="ctr"/>
                    <a:lstStyle/>
                    <a:p>
                      <a:pPr algn="l"/>
                      <a:r>
                        <a:rPr sz="750" b="0">
                          <a:solidFill>
                            <a:srgbClr val="000000"/>
                          </a:solidFill>
                          <a:latin typeface="Calibri"/>
                        </a:rPr>
                        <a:t>motor 0.1001 mm/s — exactly commanded — while the gauge
sees 0.0213 mm/s (S25) and 0.0325 mm/s (S26). Everything between
the motor and the specimen is assumed rigid, and is not.</a:t>
                      </a:r>
                    </a:p>
                  </a:txBody>
                  <a:tcPr/>
                </a:tc>
                <a:tc>
                  <a:txBody>
                    <a:bodyPr lIns="54864" rIns="54864" tIns="18288" bIns="18288" wrap="square" anchor="ctr"/>
                    <a:lstStyle/>
                    <a:p>
                      <a:pPr algn="l"/>
                      <a:r>
                        <a:rPr sz="750" b="0">
                          <a:solidFill>
                            <a:srgbClr val="000000"/>
                          </a:solidFill>
                          <a:latin typeface="Calibri"/>
                        </a:rPr>
                        <a:t>the bulk of it</a:t>
                      </a:r>
                    </a:p>
                  </a:txBody>
                  <a:tcPr/>
                </a:tc>
              </a:tr>
              <a:tr h="468172">
                <a:tc>
                  <a:txBody>
                    <a:bodyPr lIns="54864" rIns="54864" tIns="18288" bIns="18288" wrap="square" anchor="ctr"/>
                    <a:lstStyle/>
                    <a:p>
                      <a:pPr algn="l"/>
                      <a:r>
                        <a:rPr sz="750" b="0">
                          <a:solidFill>
                            <a:srgbClr val="000000"/>
                          </a:solidFill>
                          <a:latin typeface="Calibri"/>
                        </a:rPr>
                        <a:t>2</a:t>
                      </a:r>
                    </a:p>
                  </a:txBody>
                  <a:tcPr/>
                </a:tc>
                <a:tc>
                  <a:txBody>
                    <a:bodyPr lIns="54864" rIns="54864" tIns="18288" bIns="18288" wrap="square" anchor="ctr"/>
                    <a:lstStyle/>
                    <a:p>
                      <a:pPr algn="l"/>
                      <a:r>
                        <a:rPr sz="750" b="0">
                          <a:solidFill>
                            <a:srgbClr val="000000"/>
                          </a:solidFill>
                          <a:latin typeface="Calibri"/>
                        </a:rPr>
                        <a:t>Grip seating varies from mounting to mounting.
The XT-205 clamps with jaws; matching PRELOAD in newtons does not
match how the specimen is seated.</a:t>
                      </a:r>
                    </a:p>
                  </a:txBody>
                  <a:tcPr/>
                </a:tc>
                <a:tc>
                  <a:txBody>
                    <a:bodyPr lIns="54864" rIns="54864" tIns="18288" bIns="18288" wrap="square" anchor="ctr"/>
                    <a:lstStyle/>
                    <a:p>
                      <a:pPr algn="l"/>
                      <a:r>
                        <a:rPr sz="750" b="0">
                          <a:solidFill>
                            <a:srgbClr val="000000"/>
                          </a:solidFill>
                          <a:latin typeface="Calibri"/>
                        </a:rPr>
                        <a:t>S25 21 % against S26 33 % — 11 points apart on two runs of
the same protocol. A fixed frame compliance would repeat.
Something that varies per mounting does not.</a:t>
                      </a:r>
                    </a:p>
                  </a:txBody>
                  <a:tcPr/>
                </a:tc>
                <a:tc>
                  <a:txBody>
                    <a:bodyPr lIns="54864" rIns="54864" tIns="18288" bIns="18288" wrap="square" anchor="ctr"/>
                    <a:lstStyle/>
                    <a:p>
                      <a:pPr algn="l"/>
                      <a:r>
                        <a:rPr sz="750" b="0">
                          <a:solidFill>
                            <a:srgbClr val="000000"/>
                          </a:solidFill>
                          <a:latin typeface="Calibri"/>
                        </a:rPr>
                        <a:t>explains the
SPREAD</a:t>
                      </a:r>
                    </a:p>
                  </a:txBody>
                  <a:tcPr/>
                </a:tc>
              </a:tr>
              <a:tr h="468172">
                <a:tc>
                  <a:txBody>
                    <a:bodyPr lIns="54864" rIns="54864" tIns="18288" bIns="18288" wrap="square" anchor="ctr"/>
                    <a:lstStyle/>
                    <a:p>
                      <a:pPr algn="l"/>
                      <a:r>
                        <a:rPr sz="750" b="0">
                          <a:solidFill>
                            <a:srgbClr val="000000"/>
                          </a:solidFill>
                          <a:latin typeface="Calibri"/>
                        </a:rPr>
                        <a:t>3</a:t>
                      </a:r>
                    </a:p>
                  </a:txBody>
                  <a:tcPr/>
                </a:tc>
                <a:tc>
                  <a:txBody>
                    <a:bodyPr lIns="54864" rIns="54864" tIns="18288" bIns="18288" wrap="square" anchor="ctr"/>
                    <a:lstStyle/>
                    <a:p>
                      <a:pPr algn="l"/>
                      <a:r>
                        <a:rPr sz="750" b="0">
                          <a:solidFill>
                            <a:srgbClr val="000000"/>
                          </a:solidFill>
                          <a:latin typeface="Calibri"/>
                        </a:rPr>
                        <a:t>The PPD-UTM markers sit on the fillet shoulders.
Wider material carries the same load at lower stress, so it strains less
and dilutes the average over the span.</a:t>
                      </a:r>
                    </a:p>
                  </a:txBody>
                  <a:tcPr/>
                </a:tc>
                <a:tc>
                  <a:txBody>
                    <a:bodyPr lIns="54864" rIns="54864" tIns="18288" bIns="18288" wrap="square" anchor="ctr"/>
                    <a:lstStyle/>
                    <a:p>
                      <a:pPr algn="l"/>
                      <a:r>
                        <a:rPr sz="750" b="0">
                          <a:solidFill>
                            <a:srgbClr val="000000"/>
                          </a:solidFill>
                          <a:latin typeface="Calibri"/>
                        </a:rPr>
                        <a:t>only 85 % of the PPD-UTM marker span is parallel; at its two ends the
specimen is 64 % and 69 % wider. The XT-205's span is parallel
across 100 %.</a:t>
                      </a:r>
                    </a:p>
                  </a:txBody>
                  <a:tcPr/>
                </a:tc>
                <a:tc>
                  <a:txBody>
                    <a:bodyPr lIns="54864" rIns="54864" tIns="18288" bIns="18288" wrap="square" anchor="ctr"/>
                    <a:lstStyle/>
                    <a:p>
                      <a:pPr algn="l"/>
                      <a:r>
                        <a:rPr sz="750" b="0">
                          <a:solidFill>
                            <a:srgbClr val="000000"/>
                          </a:solidFill>
                          <a:latin typeface="Calibri"/>
                        </a:rPr>
                        <a:t>6.5 % — real
but minor</a:t>
                      </a:r>
                    </a:p>
                  </a:txBody>
                  <a:tcPr/>
                </a:tc>
              </a:tr>
              <a:tr h="468176">
                <a:tc>
                  <a:txBody>
                    <a:bodyPr lIns="54864" rIns="54864" tIns="18288" bIns="18288" wrap="square" anchor="ctr"/>
                    <a:lstStyle/>
                    <a:p>
                      <a:pPr algn="l"/>
                      <a:r>
                        <a:rPr sz="750" b="0">
                          <a:solidFill>
                            <a:srgbClr val="000000"/>
                          </a:solidFill>
                          <a:latin typeface="Calibri"/>
                        </a:rPr>
                        <a:t>4</a:t>
                      </a:r>
                    </a:p>
                  </a:txBody>
                  <a:tcPr/>
                </a:tc>
                <a:tc>
                  <a:txBody>
                    <a:bodyPr lIns="54864" rIns="54864" tIns="18288" bIns="18288" wrap="square" anchor="ctr"/>
                    <a:lstStyle/>
                    <a:p>
                      <a:pPr algn="l"/>
                      <a:r>
                        <a:rPr sz="750" b="0">
                          <a:solidFill>
                            <a:srgbClr val="000000"/>
                          </a:solidFill>
                          <a:latin typeface="Calibri"/>
                        </a:rPr>
                        <a:t>Strain-rate dependence then compounds it.
PLA is viscoelastic, so its elastic slope rises with strain rate.</a:t>
                      </a:r>
                    </a:p>
                  </a:txBody>
                  <a:tcPr/>
                </a:tc>
                <a:tc>
                  <a:txBody>
                    <a:bodyPr lIns="54864" rIns="54864" tIns="18288" bIns="18288" wrap="square" anchor="ctr"/>
                    <a:lstStyle/>
                    <a:p>
                      <a:pPr algn="l"/>
                      <a:r>
                        <a:rPr sz="750" b="0">
                          <a:solidFill>
                            <a:srgbClr val="000000"/>
                          </a:solidFill>
                          <a:latin typeface="Calibri"/>
                        </a:rPr>
                        <a:t>the PPD-UTM gauge is strained at a third of the XT-205's, so a lower
modulus follows even from a perfect instrument. A CONSEQUENCE of 1–2,
not an independent cause.</a:t>
                      </a:r>
                    </a:p>
                  </a:txBody>
                  <a:tcPr/>
                </a:tc>
                <a:tc>
                  <a:txBody>
                    <a:bodyPr lIns="54864" rIns="54864" tIns="18288" bIns="18288" wrap="square" anchor="ctr"/>
                    <a:lstStyle/>
                    <a:p>
                      <a:pPr algn="l"/>
                      <a:r>
                        <a:rPr sz="750" b="0">
                          <a:solidFill>
                            <a:srgbClr val="000000"/>
                          </a:solidFill>
                          <a:latin typeface="Calibri"/>
                        </a:rPr>
                        <a:t>multiplies
1 and 2</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every loss is a fault — the shoulders and grip sections strain too, so 100 % is not the target on any machine; the XT-205 loses 41 % itself. Shares are d(ε)/dt × 80 mm ÷ crosshead speed over one window.</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HAD TO BE FIXED BEFORE THESE NUMBERS MEANT ANYTHING</a:t>
            </a:r>
          </a:p>
        </p:txBody>
      </p:sp>
      <p:sp>
        <p:nvSpPr>
          <p:cNvPr id="5" name="TextBox 4"/>
          <p:cNvSpPr txBox="1"/>
          <p:nvPr/>
        </p:nvSpPr>
        <p:spPr>
          <a:xfrm>
            <a:off x="411480" y="11155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Four traps, every one of which produced a confident wrong answer first</a:t>
            </a:r>
          </a:p>
        </p:txBody>
      </p:sp>
      <p:graphicFrame>
        <p:nvGraphicFramePr>
          <p:cNvPr id="6" name="Table 5"/>
          <p:cNvGraphicFramePr>
            <a:graphicFrameLocks noGrp="1"/>
          </p:cNvGraphicFramePr>
          <p:nvPr/>
        </p:nvGraphicFramePr>
        <p:xfrm>
          <a:off x="411480" y="1463040"/>
          <a:ext cx="11430000" cy="3017520"/>
        </p:xfrm>
        <a:graphic>
          <a:graphicData uri="http://schemas.openxmlformats.org/drawingml/2006/table">
            <a:tbl>
              <a:tblPr firstRow="1" bandRow="1">
                <a:tableStyleId>{5C22544A-7EE6-4342-B048-85BDC9FD1C3A}</a:tableStyleId>
              </a:tblPr>
              <a:tblGrid>
                <a:gridCol w="2286000"/>
                <a:gridCol w="4572000"/>
                <a:gridCol w="4572000"/>
              </a:tblGrid>
              <a:tr h="603504">
                <a:tc>
                  <a:txBody>
                    <a:bodyPr lIns="54864" rIns="54864" tIns="18288" bIns="18288" wrap="square" anchor="ctr"/>
                    <a:lstStyle/>
                    <a:p>
                      <a:pPr algn="l"/>
                      <a:r>
                        <a:rPr sz="950" b="1">
                          <a:solidFill>
                            <a:srgbClr val="FFFFFF"/>
                          </a:solidFill>
                          <a:latin typeface="Calibri"/>
                        </a:rPr>
                        <a:t>Trap</a:t>
                      </a:r>
                    </a:p>
                  </a:txBody>
                  <a:tcPr>
                    <a:solidFill>
                      <a:srgbClr val="143D2F"/>
                    </a:solidFill>
                  </a:tcPr>
                </a:tc>
                <a:tc>
                  <a:txBody>
                    <a:bodyPr lIns="54864" rIns="54864" tIns="18288" bIns="18288" wrap="square" anchor="ctr"/>
                    <a:lstStyle/>
                    <a:p>
                      <a:pPr algn="l"/>
                      <a:r>
                        <a:rPr sz="950" b="1">
                          <a:solidFill>
                            <a:srgbClr val="FFFFFF"/>
                          </a:solidFill>
                          <a:latin typeface="Calibri"/>
                        </a:rPr>
                        <a:t>What it did</a:t>
                      </a:r>
                    </a:p>
                  </a:txBody>
                  <a:tcPr>
                    <a:solidFill>
                      <a:srgbClr val="143D2F"/>
                    </a:solidFill>
                  </a:tcPr>
                </a:tc>
                <a:tc>
                  <a:txBody>
                    <a:bodyPr lIns="54864" rIns="54864" tIns="18288" bIns="18288" wrap="square" anchor="ctr"/>
                    <a:lstStyle/>
                    <a:p>
                      <a:pPr algn="l"/>
                      <a:r>
                        <a:rPr sz="950" b="1">
                          <a:solidFill>
                            <a:srgbClr val="FFFFFF"/>
                          </a:solidFill>
                          <a:latin typeface="Calibri"/>
                        </a:rPr>
                        <a:t>How it was caught, and fixed</a:t>
                      </a:r>
                    </a:p>
                  </a:txBody>
                  <a:tcPr>
                    <a:solidFill>
                      <a:srgbClr val="143D2F"/>
                    </a:solidFill>
                  </a:tcPr>
                </a:tc>
              </a:tr>
              <a:tr h="603504">
                <a:tc>
                  <a:txBody>
                    <a:bodyPr lIns="54864" rIns="54864" tIns="18288" bIns="18288" wrap="square" anchor="ctr"/>
                    <a:lstStyle/>
                    <a:p>
                      <a:pPr algn="l"/>
                      <a:r>
                        <a:rPr sz="750" b="0">
                          <a:solidFill>
                            <a:srgbClr val="000000"/>
                          </a:solidFill>
                          <a:latin typeface="Calibri"/>
                        </a:rPr>
                        <a:t>The video declares 1000 fps
and 117 497 frames</a:t>
                      </a:r>
                    </a:p>
                  </a:txBody>
                  <a:tcPr/>
                </a:tc>
                <a:tc>
                  <a:txBody>
                    <a:bodyPr lIns="54864" rIns="54864" tIns="18288" bIns="18288" wrap="square" anchor="ctr"/>
                    <a:lstStyle/>
                    <a:p>
                      <a:pPr algn="l"/>
                      <a:r>
                        <a:rPr sz="750" b="0">
                          <a:solidFill>
                            <a:srgbClr val="000000"/>
                          </a:solidFill>
                          <a:latin typeface="Calibri"/>
                        </a:rPr>
                        <a:t>It holds 2281 frames at 19.4 fps. Every time-based
figure in the first run was out by 52× — 'duration
0.77 s', 'mean rate 2.5e-02 /s'.</a:t>
                      </a:r>
                    </a:p>
                  </a:txBody>
                  <a:tcPr/>
                </a:tc>
                <a:tc>
                  <a:txBody>
                    <a:bodyPr lIns="54864" rIns="54864" tIns="18288" bIns="18288" wrap="square" anchor="ctr"/>
                    <a:lstStyle/>
                    <a:p>
                      <a:pPr algn="l"/>
                      <a:r>
                        <a:rPr sz="750" b="0">
                          <a:solidFill>
                            <a:srgbClr val="000000"/>
                          </a:solidFill>
                          <a:latin typeface="Calibri"/>
                        </a:rPr>
                        <a:t>test2.daq carries EXACTLY 2281 rows for those 2281
frames, each timestamped. The time base is now read
from it rather than from the container.</a:t>
                      </a:r>
                    </a:p>
                  </a:txBody>
                  <a:tcPr/>
                </a:tc>
              </a:tr>
              <a:tr h="603504">
                <a:tc>
                  <a:txBody>
                    <a:bodyPr lIns="54864" rIns="54864" tIns="18288" bIns="18288" wrap="square" anchor="ctr"/>
                    <a:lstStyle/>
                    <a:p>
                      <a:pPr algn="l"/>
                      <a:r>
                        <a:rPr sz="750" b="0">
                          <a:solidFill>
                            <a:srgbClr val="000000"/>
                          </a:solidFill>
                          <a:latin typeface="Calibri"/>
                        </a:rPr>
                        <a:t>Recovering the frame rate by
matching strain curves</a:t>
                      </a:r>
                    </a:p>
                  </a:txBody>
                  <a:tcPr/>
                </a:tc>
                <a:tc>
                  <a:txBody>
                    <a:bodyPr lIns="54864" rIns="54864" tIns="18288" bIns="18288" wrap="square" anchor="ctr"/>
                    <a:lstStyle/>
                    <a:p>
                      <a:pPr algn="l"/>
                      <a:r>
                        <a:rPr sz="750" b="0">
                          <a:solidFill>
                            <a:srgbClr val="000000"/>
                          </a:solidFill>
                          <a:latin typeface="Calibri"/>
                        </a:rPr>
                        <a:t>Circular. If the PPD-UTM strain were k× the XT-205's the fit
returns fps ÷ k, and the two rates then agree BY CONSTRUCTION.
That version reported 0.6 % agreement.</a:t>
                      </a:r>
                    </a:p>
                  </a:txBody>
                  <a:tcPr/>
                </a:tc>
                <a:tc>
                  <a:txBody>
                    <a:bodyPr lIns="54864" rIns="54864" tIns="18288" bIns="18288" wrap="square" anchor="ctr"/>
                    <a:lstStyle/>
                    <a:p>
                      <a:pPr algn="l"/>
                      <a:r>
                        <a:rPr sz="750" b="0">
                          <a:solidFill>
                            <a:srgbClr val="000000"/>
                          </a:solidFill>
                          <a:latin typeface="Calibri"/>
                        </a:rPr>
                        <a:t>Replaced by the acquisition log's per-frame
timestamps; the honest figure is 2.4 %. The fit is kept, demoted to
the scale check it is genuinely good for.</a:t>
                      </a:r>
                    </a:p>
                  </a:txBody>
                  <a:tcPr/>
                </a:tc>
              </a:tr>
              <a:tr h="603504">
                <a:tc>
                  <a:txBody>
                    <a:bodyPr lIns="54864" rIns="54864" tIns="18288" bIns="18288" wrap="square" anchor="ctr"/>
                    <a:lstStyle/>
                    <a:p>
                      <a:pPr algn="l"/>
                      <a:r>
                        <a:rPr sz="750" b="0">
                          <a:solidFill>
                            <a:srgbClr val="000000"/>
                          </a:solidFill>
                          <a:latin typeface="Calibri"/>
                        </a:rPr>
                        <a:t>cv2 seeking returns a STALE
frame on this file</a:t>
                      </a:r>
                    </a:p>
                  </a:txBody>
                  <a:tcPr/>
                </a:tc>
                <a:tc>
                  <a:txBody>
                    <a:bodyPr lIns="54864" rIns="54864" tIns="18288" bIns="18288" wrap="square" anchor="ctr"/>
                    <a:lstStyle/>
                    <a:p>
                      <a:pPr algn="l"/>
                      <a:r>
                        <a:rPr sz="750" b="0">
                          <a:solidFill>
                            <a:srgbClr val="000000"/>
                          </a:solidFill>
                          <a:latin typeface="Calibri"/>
                        </a:rPr>
                        <a:t>Correct for the first ~40 frames, wrong past ~80,
while reporting its position honestly. Sampling by
seek showed markers that never moved — and I
reported the video held no deformation. It holds a
pull to 4 % and a fracture.</a:t>
                      </a:r>
                    </a:p>
                  </a:txBody>
                  <a:tcPr/>
                </a:tc>
                <a:tc>
                  <a:txBody>
                    <a:bodyPr lIns="54864" rIns="54864" tIns="18288" bIns="18288" wrap="square" anchor="ctr"/>
                    <a:lstStyle/>
                    <a:p>
                      <a:pPr algn="l"/>
                      <a:r>
                        <a:rPr sz="750" b="0">
                          <a:solidFill>
                            <a:srgbClr val="000000"/>
                          </a:solidFill>
                          <a:latin typeface="Calibri"/>
                        </a:rPr>
                        <a:t>read_frame now probes each file and decodes in order
when the seek cannot be trusted. Two cheaper probes
were tried and rejected: the position property is
honest here, and the stale seeks are not identical.</a:t>
                      </a:r>
                    </a:p>
                  </a:txBody>
                  <a:tcPr/>
                </a:tc>
              </a:tr>
              <a:tr h="603504">
                <a:tc>
                  <a:txBody>
                    <a:bodyPr lIns="54864" rIns="54864" tIns="18288" bIns="18288" wrap="square" anchor="ctr"/>
                    <a:lstStyle/>
                    <a:p>
                      <a:pPr algn="l"/>
                      <a:r>
                        <a:rPr sz="750" b="0">
                          <a:solidFill>
                            <a:srgbClr val="000000"/>
                          </a:solidFill>
                          <a:latin typeface="Calibri"/>
                        </a:rPr>
                        <a:t>Box half-size 105 px, marker
121 px from the frame edge</a:t>
                      </a:r>
                    </a:p>
                  </a:txBody>
                  <a:tcPr/>
                </a:tc>
                <a:tc>
                  <a:txBody>
                    <a:bodyPr lIns="54864" rIns="54864" tIns="18288" bIns="18288" wrap="square" anchor="ctr"/>
                    <a:lstStyle/>
                    <a:p>
                      <a:pPr algn="l"/>
                      <a:r>
                        <a:rPr sz="750" b="0">
                          <a:solidFill>
                            <a:srgbClr val="000000"/>
                          </a:solidFill>
                          <a:latin typeface="Calibri"/>
                        </a:rPr>
                        <a:t>Box.clamp() pinned the box at 2357 px once the marker
travelled far enough; 184 rows sit at exactly that value,
after which the centroid flip-flops several px a frame.</a:t>
                      </a:r>
                    </a:p>
                  </a:txBody>
                  <a:tcPr/>
                </a:tc>
                <a:tc>
                  <a:txBody>
                    <a:bodyPr lIns="54864" rIns="54864" tIns="18288" bIns="18288" wrap="square" anchor="ctr"/>
                    <a:lstStyle/>
                    <a:p>
                      <a:pPr algn="l"/>
                      <a:r>
                        <a:rPr sz="750" b="0">
                          <a:solidFill>
                            <a:srgbClr val="000000"/>
                          </a:solidFill>
                          <a:latin typeface="Calibri"/>
                        </a:rPr>
                        <a:t>The run is trimmed at the first jump the specimen
could not physically make (0.085 px/frame is real,
the cut fires at 0.52). It lands at 0.52 % strain —
above the fitted window, so nothing fitted is lost.</a:t>
                      </a:r>
                    </a:p>
                  </a:txBody>
                  <a:tcPr/>
                </a:tc>
              </a:tr>
            </a:tbl>
          </a:graphicData>
        </a:graphic>
      </p:graphicFrame>
      <p:sp>
        <p:nvSpPr>
          <p:cNvPr id="7" name="TextBox 6"/>
          <p:cNvSpPr txBox="1"/>
          <p:nvPr/>
        </p:nvSpPr>
        <p:spPr>
          <a:xfrm>
            <a:off x="41148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to do differently next time</a:t>
            </a:r>
          </a:p>
        </p:txBody>
      </p:sp>
      <p:sp>
        <p:nvSpPr>
          <p:cNvPr id="8" name="TextBox 7"/>
          <p:cNvSpPr txBox="1"/>
          <p:nvPr/>
        </p:nvSpPr>
        <p:spPr>
          <a:xfrm>
            <a:off x="411480" y="4974336"/>
            <a:ext cx="5623560" cy="1298448"/>
          </a:xfrm>
          <a:prstGeom prst="rect">
            <a:avLst/>
          </a:prstGeom>
          <a:noFill/>
        </p:spPr>
        <p:txBody>
          <a:bodyPr wrap="square" lIns="45720" rIns="45720" tIns="18288" bIns="18288" anchor="t">
            <a:spAutoFit/>
          </a:bodyPr>
          <a:lstStyle/>
          <a:p>
            <a:pPr algn="l"/>
            <a:r>
              <a:rPr sz="1000" b="0" i="0">
                <a:solidFill>
                  <a:srgbClr val="000000"/>
                </a:solidFill>
                <a:latin typeface="Calibri"/>
              </a:rPr>
              <a:t>• Keep both markers well clear of the frame edge — at least the box half-size plus the travel expected, or the box runs out of room before the specimen does.
• Set the frame rate from the acquisition log, never from the container.
• Place the markers inside the PARALLEL section, not on the fillets.</a:t>
            </a:r>
          </a:p>
        </p:txBody>
      </p:sp>
      <p:sp>
        <p:nvSpPr>
          <p:cNvPr id="9" name="TextBox 8"/>
          <p:cNvSpPr txBox="1"/>
          <p:nvPr/>
        </p:nvSpPr>
        <p:spPr>
          <a:xfrm>
            <a:off x="6263640" y="462686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run can and cannot settle</a:t>
            </a:r>
          </a:p>
        </p:txBody>
      </p:sp>
      <p:sp>
        <p:nvSpPr>
          <p:cNvPr id="10" name="TextBox 9"/>
          <p:cNvSpPr txBox="1"/>
          <p:nvPr/>
        </p:nvSpPr>
        <p:spPr>
          <a:xfrm>
            <a:off x="6263640" y="4974336"/>
            <a:ext cx="5577840" cy="1298448"/>
          </a:xfrm>
          <a:prstGeom prst="rect">
            <a:avLst/>
          </a:prstGeom>
          <a:noFill/>
        </p:spPr>
        <p:txBody>
          <a:bodyPr wrap="square" lIns="45720" rIns="45720" tIns="18288" bIns="18288" anchor="t">
            <a:spAutoFit/>
          </a:bodyPr>
          <a:lstStyle/>
          <a:p>
            <a:pPr algn="l"/>
            <a:r>
              <a:rPr sz="1000" b="0" i="0">
                <a:solidFill>
                  <a:srgbClr val="000000"/>
                </a:solidFill>
                <a:latin typeface="Calibri"/>
              </a:rPr>
              <a:t>It settles the CALCULATION: same pixels in, same strain out, to 0.17 %.
It does not settle the modulus. The XT-205 record carries no force, so E, σ_y, UTS and ε_f cannot be compared at all — only d(ε)/dt and noise. One specimen on each machine is also not a repeatability claim.</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Sources: mot_postproc_compare.py and motpp_plots.py, both reading the raw records at build time. Measured 2026-08-27.</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SCALE CHECK — WHY IT IS NEEDED, AND WHAT IT RULES OUT</a:t>
            </a:r>
          </a:p>
        </p:txBody>
      </p:sp>
      <p:sp>
        <p:nvSpPr>
          <p:cNvPr id="5" name="TextBox 4"/>
          <p:cNvSpPr txBox="1"/>
          <p:nvPr/>
        </p:nvSpPr>
        <p:spPr>
          <a:xfrm>
            <a:off x="411480" y="1042415"/>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The problem: a strain RATE needs a clock</a:t>
            </a:r>
          </a:p>
        </p:txBody>
      </p:sp>
      <p:sp>
        <p:nvSpPr>
          <p:cNvPr id="6" name="TextBox 5"/>
          <p:cNvSpPr txBox="1"/>
          <p:nvPr/>
        </p:nvSpPr>
        <p:spPr>
          <a:xfrm>
            <a:off x="411480" y="1389888"/>
            <a:ext cx="5623560" cy="1078992"/>
          </a:xfrm>
          <a:prstGeom prst="rect">
            <a:avLst/>
          </a:prstGeom>
          <a:noFill/>
        </p:spPr>
        <p:txBody>
          <a:bodyPr wrap="square" lIns="45720" rIns="45720" tIns="18288" bIns="18288" anchor="t">
            <a:spAutoFit/>
          </a:bodyPr>
          <a:lstStyle/>
          <a:p>
            <a:pPr algn="l"/>
            <a:r>
              <a:rPr sz="1000" b="0" i="0">
                <a:solidFill>
                  <a:srgbClr val="000000"/>
                </a:solidFill>
                <a:latin typeface="Calibri"/>
              </a:rPr>
              <a:t>Comparing d(ε)/dt between two machines means knowing when each video frame happened. test2.chan 0.avi declares 1000 fps and 117 497 frames; it holds 2281 frames at about 19.4 fps. Believe the file and every rate on these slides is out by a factor of 52.</a:t>
            </a:r>
          </a:p>
        </p:txBody>
      </p:sp>
      <p:sp>
        <p:nvSpPr>
          <p:cNvPr id="7" name="TextBox 6"/>
          <p:cNvSpPr txBox="1"/>
          <p:nvPr/>
        </p:nvSpPr>
        <p:spPr>
          <a:xfrm>
            <a:off x="6263640" y="1042415"/>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Two ways to get the real one</a:t>
            </a:r>
          </a:p>
        </p:txBody>
      </p:sp>
      <p:graphicFrame>
        <p:nvGraphicFramePr>
          <p:cNvPr id="8" name="Table 7"/>
          <p:cNvGraphicFramePr>
            <a:graphicFrameLocks noGrp="1"/>
          </p:cNvGraphicFramePr>
          <p:nvPr/>
        </p:nvGraphicFramePr>
        <p:xfrm>
          <a:off x="6263640" y="1389888"/>
          <a:ext cx="5577839" cy="1078992"/>
        </p:xfrm>
        <a:graphic>
          <a:graphicData uri="http://schemas.openxmlformats.org/drawingml/2006/table">
            <a:tbl>
              <a:tblPr firstRow="1" bandRow="1">
                <a:tableStyleId>{5C22544A-7EE6-4342-B048-85BDC9FD1C3A}</a:tableStyleId>
              </a:tblPr>
              <a:tblGrid>
                <a:gridCol w="1051560"/>
                <a:gridCol w="2788920"/>
                <a:gridCol w="1737359"/>
              </a:tblGrid>
              <a:tr h="359664">
                <a:tc>
                  <a:txBody>
                    <a:bodyPr lIns="54864" rIns="54864" tIns="18288" bIns="18288" wrap="square" anchor="ctr"/>
                    <a:lstStyle/>
                    <a:p>
                      <a:pPr algn="l"/>
                      <a:r>
                        <a:rPr sz="950" b="1">
                          <a:solidFill>
                            <a:srgbClr val="FFFFFF"/>
                          </a:solidFill>
                          <a:latin typeface="Calibri"/>
                        </a:rPr>
                        <a:t>Route</a:t>
                      </a:r>
                    </a:p>
                  </a:txBody>
                  <a:tcPr>
                    <a:solidFill>
                      <a:srgbClr val="143D2F"/>
                    </a:solidFill>
                  </a:tcPr>
                </a:tc>
                <a:tc>
                  <a:txBody>
                    <a:bodyPr lIns="54864" rIns="54864" tIns="18288" bIns="18288" wrap="square" anchor="ctr"/>
                    <a:lstStyle/>
                    <a:p>
                      <a:pPr algn="l"/>
                      <a:r>
                        <a:rPr sz="950" b="1">
                          <a:solidFill>
                            <a:srgbClr val="FFFFFF"/>
                          </a:solidFill>
                          <a:latin typeface="Calibri"/>
                        </a:rPr>
                        <a:t>Where it comes from</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359664">
                <a:tc>
                  <a:txBody>
                    <a:bodyPr lIns="54864" rIns="54864" tIns="18288" bIns="18288" wrap="square" anchor="ctr"/>
                    <a:lstStyle/>
                    <a:p>
                      <a:pPr algn="l"/>
                      <a:r>
                        <a:rPr sz="850" b="0">
                          <a:solidFill>
                            <a:srgbClr val="000000"/>
                          </a:solidFill>
                          <a:latin typeface="Calibri"/>
                        </a:rPr>
                        <a:t>INFERRED</a:t>
                      </a:r>
                    </a:p>
                  </a:txBody>
                  <a:tcPr/>
                </a:tc>
                <a:tc>
                  <a:txBody>
                    <a:bodyPr lIns="54864" rIns="54864" tIns="18288" bIns="18288" wrap="square" anchor="ctr"/>
                    <a:lstStyle/>
                    <a:p>
                      <a:pPr algn="l"/>
                      <a:r>
                        <a:rPr sz="850" b="0">
                          <a:solidFill>
                            <a:srgbClr val="000000"/>
                          </a:solidFill>
                          <a:latin typeface="Calibri"/>
                        </a:rPr>
                        <a:t>when each record reaches the
same strain levels</a:t>
                      </a:r>
                    </a:p>
                  </a:txBody>
                  <a:tcPr/>
                </a:tc>
                <a:tc>
                  <a:txBody>
                    <a:bodyPr lIns="54864" rIns="54864" tIns="18288" bIns="18288" wrap="square" anchor="ctr"/>
                    <a:lstStyle/>
                    <a:p>
                      <a:pPr algn="l"/>
                      <a:r>
                        <a:rPr sz="850" b="0">
                          <a:solidFill>
                            <a:srgbClr val="000000"/>
                          </a:solidFill>
                          <a:latin typeface="Calibri"/>
                        </a:rPr>
                        <a:t>19.407 fps</a:t>
                      </a:r>
                    </a:p>
                  </a:txBody>
                  <a:tcPr/>
                </a:tc>
              </a:tr>
              <a:tr h="359664">
                <a:tc>
                  <a:txBody>
                    <a:bodyPr lIns="54864" rIns="54864" tIns="18288" bIns="18288" wrap="square" anchor="ctr"/>
                    <a:lstStyle/>
                    <a:p>
                      <a:pPr algn="l"/>
                      <a:r>
                        <a:rPr sz="850" b="0">
                          <a:solidFill>
                            <a:srgbClr val="000000"/>
                          </a:solidFill>
                          <a:latin typeface="Calibri"/>
                        </a:rPr>
                        <a:t>RECORDED</a:t>
                      </a:r>
                    </a:p>
                  </a:txBody>
                  <a:tcPr/>
                </a:tc>
                <a:tc>
                  <a:txBody>
                    <a:bodyPr lIns="54864" rIns="54864" tIns="18288" bIns="18288" wrap="square" anchor="ctr"/>
                    <a:lstStyle/>
                    <a:p>
                      <a:pPr algn="l"/>
                      <a:r>
                        <a:rPr sz="850" b="0">
                          <a:solidFill>
                            <a:srgbClr val="000000"/>
                          </a:solidFill>
                          <a:latin typeface="Calibri"/>
                        </a:rPr>
                        <a:t>the XT-205's own log, one
timestamped row per frame</a:t>
                      </a:r>
                    </a:p>
                  </a:txBody>
                  <a:tcPr/>
                </a:tc>
                <a:tc>
                  <a:txBody>
                    <a:bodyPr lIns="54864" rIns="54864" tIns="18288" bIns="18288" wrap="square" anchor="ctr"/>
                    <a:lstStyle/>
                    <a:p>
                      <a:pPr algn="l"/>
                      <a:r>
                        <a:rPr sz="850" b="0">
                          <a:solidFill>
                            <a:srgbClr val="000000"/>
                          </a:solidFill>
                          <a:latin typeface="Calibri"/>
                        </a:rPr>
                        <a:t>19.405 fps</a:t>
                      </a:r>
                    </a:p>
                  </a:txBody>
                  <a:tcPr/>
                </a:tc>
              </a:tr>
            </a:tbl>
          </a:graphicData>
        </a:graphic>
      </p:graphicFrame>
      <p:pic>
        <p:nvPicPr>
          <p:cNvPr id="9" name="Picture 8" descr="mot_scalecheck.png"/>
          <p:cNvPicPr>
            <a:picLocks noChangeAspect="1"/>
          </p:cNvPicPr>
          <p:nvPr/>
        </p:nvPicPr>
        <p:blipFill>
          <a:blip r:embed="rId2"/>
          <a:stretch>
            <a:fillRect/>
          </a:stretch>
        </p:blipFill>
        <p:spPr>
          <a:xfrm>
            <a:off x="3041656" y="2615184"/>
            <a:ext cx="6169646" cy="2615184"/>
          </a:xfrm>
          <a:prstGeom prst="rect">
            <a:avLst/>
          </a:prstGeom>
        </p:spPr>
      </p:pic>
      <p:sp>
        <p:nvSpPr>
          <p:cNvPr id="10" name="TextBox 9"/>
          <p:cNvSpPr txBox="1"/>
          <p:nvPr/>
        </p:nvSpPr>
        <p:spPr>
          <a:xfrm>
            <a:off x="411480" y="53400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Why not just use the recorded one and move on?</a:t>
            </a:r>
          </a:p>
        </p:txBody>
      </p:sp>
      <p:sp>
        <p:nvSpPr>
          <p:cNvPr id="11" name="TextBox 10"/>
          <p:cNvSpPr txBox="1"/>
          <p:nvPr/>
        </p:nvSpPr>
        <p:spPr>
          <a:xfrm>
            <a:off x="411480" y="5687568"/>
            <a:ext cx="5623560" cy="658368"/>
          </a:xfrm>
          <a:prstGeom prst="rect">
            <a:avLst/>
          </a:prstGeom>
          <a:noFill/>
        </p:spPr>
        <p:txBody>
          <a:bodyPr wrap="square" lIns="45720" rIns="45720" tIns="18288" bIns="18288" anchor="t">
            <a:spAutoFit/>
          </a:bodyPr>
          <a:lstStyle/>
          <a:p>
            <a:pPr algn="l"/>
            <a:r>
              <a:rPr sz="1000" b="0" i="0">
                <a:solidFill>
                  <a:srgbClr val="000000"/>
                </a:solidFill>
                <a:latin typeface="Calibri"/>
              </a:rPr>
              <a:t>Because then nothing would test whether the two strains agree in SIZE. The INFERRED route depends on size — stretch our strain by k and it returns fps ÷ k. The RECORDED route cannot move, because it never looks at strain. So the gap between them IS the size error.</a:t>
            </a:r>
          </a:p>
        </p:txBody>
      </p:sp>
      <p:sp>
        <p:nvSpPr>
          <p:cNvPr id="12" name="TextBox 11"/>
          <p:cNvSpPr txBox="1"/>
          <p:nvPr/>
        </p:nvSpPr>
        <p:spPr>
          <a:xfrm>
            <a:off x="6263640" y="53400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And the check is calibrated, not asserted</a:t>
            </a:r>
          </a:p>
        </p:txBody>
      </p:sp>
      <p:sp>
        <p:nvSpPr>
          <p:cNvPr id="13" name="TextBox 12"/>
          <p:cNvSpPr txBox="1"/>
          <p:nvPr/>
        </p:nvSpPr>
        <p:spPr>
          <a:xfrm>
            <a:off x="6263640" y="5687568"/>
            <a:ext cx="5577840" cy="658368"/>
          </a:xfrm>
          <a:prstGeom prst="rect">
            <a:avLst/>
          </a:prstGeom>
          <a:noFill/>
        </p:spPr>
        <p:txBody>
          <a:bodyPr wrap="square" lIns="45720" rIns="45720" tIns="18288" bIns="18288" anchor="t">
            <a:spAutoFit/>
          </a:bodyPr>
          <a:lstStyle/>
          <a:p>
            <a:pPr algn="l"/>
            <a:r>
              <a:rPr sz="1000" b="0" i="0">
                <a:solidFill>
                  <a:srgbClr val="000000"/>
                </a:solidFill>
                <a:latin typeface="Calibri"/>
              </a:rPr>
              <a:t>Feeding it a deliberate 10 % error makes it report 10 % (right-hand plot), so agreement is informative rather than inevitable. On the real data it reports k = 0.9999: the two strain scales match to 0.01 %.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What it does NOT rule out: if the recorded frame rate were wrong by a factor m AND our strain were stretched by the same m, the test would still pass. That needs two independent errors to coincide exactly — the log comes from the other instrument — but it is not logically excluded.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(1 OF 2) — 0.050 TO 0.205 % STRAIN</a:t>
            </a:r>
          </a:p>
        </p:txBody>
      </p:sp>
      <p:sp>
        <p:nvSpPr>
          <p:cNvPr id="5" name="TextBox 4"/>
          <p:cNvSpPr txBox="1"/>
          <p:nvPr/>
        </p:nvSpPr>
        <p:spPr>
          <a:xfrm>
            <a:off x="502920" y="1024128"/>
            <a:ext cx="11338560" cy="512064"/>
          </a:xfrm>
          <a:prstGeom prst="rect">
            <a:avLst/>
          </a:prstGeom>
          <a:noFill/>
        </p:spPr>
        <p:txBody>
          <a:bodyPr wrap="square" lIns="45720" rIns="45720" tIns="18288" bIns="18288" anchor="t">
            <a:spAutoFit/>
          </a:bodyPr>
          <a:lstStyle/>
          <a:p>
            <a:pPr algn="l"/>
            <a:r>
              <a:rPr sz="1000" b="0" i="0">
                <a:solidFill>
                  <a:srgbClr val="000000"/>
                </a:solidFill>
                <a:latin typeface="Calibri"/>
              </a:rPr>
              <a:t>All 83 matched samples across both slides, 15.80–19.90 s, unaveraged and unsmoothed. The PPD-UTM column is RAW: the post-processor applies no filtering of any kind, and its source value is exactly (L_px − Px₀) / Px₀. The XT-205 column is that instrument's own output interpolated onto our sample times — what it does internally cannot be seen from the file, so the two columns are NOT equally traceable and are not presented as if they were.</a:t>
            </a:r>
          </a:p>
        </p:txBody>
      </p:sp>
      <p:graphicFrame>
        <p:nvGraphicFramePr>
          <p:cNvPr id="6" name="Table 5"/>
          <p:cNvGraphicFramePr>
            <a:graphicFrameLocks noGrp="1"/>
          </p:cNvGraphicFramePr>
          <p:nvPr/>
        </p:nvGraphicFramePr>
        <p:xfrm>
          <a:off x="502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15.80</a:t>
                      </a:r>
                    </a:p>
                  </a:txBody>
                  <a:tcPr/>
                </a:tc>
                <a:tc>
                  <a:txBody>
                    <a:bodyPr lIns="54864" rIns="54864" tIns="18288" bIns="18288" wrap="square" anchor="ctr"/>
                    <a:lstStyle/>
                    <a:p>
                      <a:pPr algn="l"/>
                      <a:r>
                        <a:rPr sz="900" b="0">
                          <a:solidFill>
                            <a:srgbClr val="000000"/>
                          </a:solidFill>
                          <a:latin typeface="Calibri"/>
                        </a:rPr>
                        <a:t>0.0505</a:t>
                      </a:r>
                    </a:p>
                  </a:txBody>
                  <a:tcPr/>
                </a:tc>
                <a:tc>
                  <a:txBody>
                    <a:bodyPr lIns="54864" rIns="54864" tIns="18288" bIns="18288" wrap="square" anchor="ctr"/>
                    <a:lstStyle/>
                    <a:p>
                      <a:pPr algn="l"/>
                      <a:r>
                        <a:rPr sz="900" b="0">
                          <a:solidFill>
                            <a:srgbClr val="000000"/>
                          </a:solidFill>
                          <a:latin typeface="Calibri"/>
                        </a:rPr>
                        <a:t>0.0502</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+0.61</a:t>
                      </a:r>
                    </a:p>
                  </a:txBody>
                  <a:tcPr/>
                </a:tc>
              </a:tr>
              <a:tr h="182880">
                <a:tc>
                  <a:txBody>
                    <a:bodyPr lIns="54864" rIns="54864" tIns="18288" bIns="18288" wrap="square" anchor="ctr"/>
                    <a:lstStyle/>
                    <a:p>
                      <a:pPr algn="l"/>
                      <a:r>
                        <a:rPr sz="900" b="0">
                          <a:solidFill>
                            <a:srgbClr val="000000"/>
                          </a:solidFill>
                          <a:latin typeface="Calibri"/>
                        </a:rPr>
                        <a:t>15.85</a:t>
                      </a:r>
                    </a:p>
                  </a:txBody>
                  <a:tcPr/>
                </a:tc>
                <a:tc>
                  <a:txBody>
                    <a:bodyPr lIns="54864" rIns="54864" tIns="18288" bIns="18288" wrap="square" anchor="ctr"/>
                    <a:lstStyle/>
                    <a:p>
                      <a:pPr algn="l"/>
                      <a:r>
                        <a:rPr sz="900" b="0">
                          <a:solidFill>
                            <a:srgbClr val="000000"/>
                          </a:solidFill>
                          <a:latin typeface="Calibri"/>
                        </a:rPr>
                        <a:t>0.0534</a:t>
                      </a:r>
                    </a:p>
                  </a:txBody>
                  <a:tcPr/>
                </a:tc>
                <a:tc>
                  <a:txBody>
                    <a:bodyPr lIns="54864" rIns="54864" tIns="18288" bIns="18288" wrap="square" anchor="ctr"/>
                    <a:lstStyle/>
                    <a:p>
                      <a:pPr algn="l"/>
                      <a:r>
                        <a:rPr sz="900" b="0">
                          <a:solidFill>
                            <a:srgbClr val="000000"/>
                          </a:solidFill>
                          <a:latin typeface="Calibri"/>
                        </a:rPr>
                        <a:t>0.0541</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-1.43</a:t>
                      </a:r>
                    </a:p>
                  </a:txBody>
                  <a:tcPr/>
                </a:tc>
              </a:tr>
              <a:tr h="182880">
                <a:tc>
                  <a:txBody>
                    <a:bodyPr lIns="54864" rIns="54864" tIns="18288" bIns="18288" wrap="square" anchor="ctr"/>
                    <a:lstStyle/>
                    <a:p>
                      <a:pPr algn="l"/>
                      <a:r>
                        <a:rPr sz="900" b="0">
                          <a:solidFill>
                            <a:srgbClr val="000000"/>
                          </a:solidFill>
                          <a:latin typeface="Calibri"/>
                        </a:rPr>
                        <a:t>15.90</a:t>
                      </a:r>
                    </a:p>
                  </a:txBody>
                  <a:tcPr/>
                </a:tc>
                <a:tc>
                  <a:txBody>
                    <a:bodyPr lIns="54864" rIns="54864" tIns="18288" bIns="18288" wrap="square" anchor="ctr"/>
                    <a:lstStyle/>
                    <a:p>
                      <a:pPr algn="l"/>
                      <a:r>
                        <a:rPr sz="900" b="0">
                          <a:solidFill>
                            <a:srgbClr val="000000"/>
                          </a:solidFill>
                          <a:latin typeface="Calibri"/>
                        </a:rPr>
                        <a:t>0.0571</a:t>
                      </a:r>
                    </a:p>
                  </a:txBody>
                  <a:tcPr/>
                </a:tc>
                <a:tc>
                  <a:txBody>
                    <a:bodyPr lIns="54864" rIns="54864" tIns="18288" bIns="18288" wrap="square" anchor="ctr"/>
                    <a:lstStyle/>
                    <a:p>
                      <a:pPr algn="l"/>
                      <a:r>
                        <a:rPr sz="900" b="0">
                          <a:solidFill>
                            <a:srgbClr val="000000"/>
                          </a:solidFill>
                          <a:latin typeface="Calibri"/>
                        </a:rPr>
                        <a:t>0.0580</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-1.50</a:t>
                      </a:r>
                    </a:p>
                  </a:txBody>
                  <a:tcPr/>
                </a:tc>
              </a:tr>
              <a:tr h="182880">
                <a:tc>
                  <a:txBody>
                    <a:bodyPr lIns="54864" rIns="54864" tIns="18288" bIns="18288" wrap="square" anchor="ctr"/>
                    <a:lstStyle/>
                    <a:p>
                      <a:pPr algn="l"/>
                      <a:r>
                        <a:rPr sz="900" b="0">
                          <a:solidFill>
                            <a:srgbClr val="000000"/>
                          </a:solidFill>
                          <a:latin typeface="Calibri"/>
                        </a:rPr>
                        <a:t>15.95</a:t>
                      </a:r>
                    </a:p>
                  </a:txBody>
                  <a:tcPr/>
                </a:tc>
                <a:tc>
                  <a:txBody>
                    <a:bodyPr lIns="54864" rIns="54864" tIns="18288" bIns="18288" wrap="square" anchor="ctr"/>
                    <a:lstStyle/>
                    <a:p>
                      <a:pPr algn="l"/>
                      <a:r>
                        <a:rPr sz="900" b="0">
                          <a:solidFill>
                            <a:srgbClr val="000000"/>
                          </a:solidFill>
                          <a:latin typeface="Calibri"/>
                        </a:rPr>
                        <a:t>0.0620</a:t>
                      </a:r>
                    </a:p>
                  </a:txBody>
                  <a:tcPr/>
                </a:tc>
                <a:tc>
                  <a:txBody>
                    <a:bodyPr lIns="54864" rIns="54864" tIns="18288" bIns="18288" wrap="square" anchor="ctr"/>
                    <a:lstStyle/>
                    <a:p>
                      <a:pPr algn="l"/>
                      <a:r>
                        <a:rPr sz="900" b="0">
                          <a:solidFill>
                            <a:srgbClr val="000000"/>
                          </a:solidFill>
                          <a:latin typeface="Calibri"/>
                        </a:rPr>
                        <a:t>0.0614</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16.00</a:t>
                      </a:r>
                    </a:p>
                  </a:txBody>
                  <a:tcPr/>
                </a:tc>
                <a:tc>
                  <a:txBody>
                    <a:bodyPr lIns="54864" rIns="54864" tIns="18288" bIns="18288" wrap="square" anchor="ctr"/>
                    <a:lstStyle/>
                    <a:p>
                      <a:pPr algn="l"/>
                      <a:r>
                        <a:rPr sz="900" b="0">
                          <a:solidFill>
                            <a:srgbClr val="000000"/>
                          </a:solidFill>
                          <a:latin typeface="Calibri"/>
                        </a:rPr>
                        <a:t>0.0644</a:t>
                      </a:r>
                    </a:p>
                  </a:txBody>
                  <a:tcPr/>
                </a:tc>
                <a:tc>
                  <a:txBody>
                    <a:bodyPr lIns="54864" rIns="54864" tIns="18288" bIns="18288" wrap="square" anchor="ctr"/>
                    <a:lstStyle/>
                    <a:p>
                      <a:pPr algn="l"/>
                      <a:r>
                        <a:rPr sz="900" b="0">
                          <a:solidFill>
                            <a:srgbClr val="000000"/>
                          </a:solidFill>
                          <a:latin typeface="Calibri"/>
                        </a:rPr>
                        <a:t>0.0655</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16.05</a:t>
                      </a:r>
                    </a:p>
                  </a:txBody>
                  <a:tcPr/>
                </a:tc>
                <a:tc>
                  <a:txBody>
                    <a:bodyPr lIns="54864" rIns="54864" tIns="18288" bIns="18288" wrap="square" anchor="ctr"/>
                    <a:lstStyle/>
                    <a:p>
                      <a:pPr algn="l"/>
                      <a:r>
                        <a:rPr sz="900" b="0">
                          <a:solidFill>
                            <a:srgbClr val="000000"/>
                          </a:solidFill>
                          <a:latin typeface="Calibri"/>
                        </a:rPr>
                        <a:t>0.0684</a:t>
                      </a:r>
                    </a:p>
                  </a:txBody>
                  <a:tcPr/>
                </a:tc>
                <a:tc>
                  <a:txBody>
                    <a:bodyPr lIns="54864" rIns="54864" tIns="18288" bIns="18288" wrap="square" anchor="ctr"/>
                    <a:lstStyle/>
                    <a:p>
                      <a:pPr algn="l"/>
                      <a:r>
                        <a:rPr sz="900" b="0">
                          <a:solidFill>
                            <a:srgbClr val="000000"/>
                          </a:solidFill>
                          <a:latin typeface="Calibri"/>
                        </a:rPr>
                        <a:t>0.0690</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16.10</a:t>
                      </a:r>
                    </a:p>
                  </a:txBody>
                  <a:tcPr/>
                </a:tc>
                <a:tc>
                  <a:txBody>
                    <a:bodyPr lIns="54864" rIns="54864" tIns="18288" bIns="18288" wrap="square" anchor="ctr"/>
                    <a:lstStyle/>
                    <a:p>
                      <a:pPr algn="l"/>
                      <a:r>
                        <a:rPr sz="900" b="0">
                          <a:solidFill>
                            <a:srgbClr val="000000"/>
                          </a:solidFill>
                          <a:latin typeface="Calibri"/>
                        </a:rPr>
                        <a:t>0.0730</a:t>
                      </a:r>
                    </a:p>
                  </a:txBody>
                  <a:tcPr/>
                </a:tc>
                <a:tc>
                  <a:txBody>
                    <a:bodyPr lIns="54864" rIns="54864" tIns="18288" bIns="18288" wrap="square" anchor="ctr"/>
                    <a:lstStyle/>
                    <a:p>
                      <a:pPr algn="l"/>
                      <a:r>
                        <a:rPr sz="900" b="0">
                          <a:solidFill>
                            <a:srgbClr val="000000"/>
                          </a:solidFill>
                          <a:latin typeface="Calibri"/>
                        </a:rPr>
                        <a:t>0.0731</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-0.10</a:t>
                      </a:r>
                    </a:p>
                  </a:txBody>
                  <a:tcPr/>
                </a:tc>
              </a:tr>
              <a:tr h="182880">
                <a:tc>
                  <a:txBody>
                    <a:bodyPr lIns="54864" rIns="54864" tIns="18288" bIns="18288" wrap="square" anchor="ctr"/>
                    <a:lstStyle/>
                    <a:p>
                      <a:pPr algn="l"/>
                      <a:r>
                        <a:rPr sz="900" b="0">
                          <a:solidFill>
                            <a:srgbClr val="000000"/>
                          </a:solidFill>
                          <a:latin typeface="Calibri"/>
                        </a:rPr>
                        <a:t>16.15</a:t>
                      </a:r>
                    </a:p>
                  </a:txBody>
                  <a:tcPr/>
                </a:tc>
                <a:tc>
                  <a:txBody>
                    <a:bodyPr lIns="54864" rIns="54864" tIns="18288" bIns="18288" wrap="square" anchor="ctr"/>
                    <a:lstStyle/>
                    <a:p>
                      <a:pPr algn="l"/>
                      <a:r>
                        <a:rPr sz="900" b="0">
                          <a:solidFill>
                            <a:srgbClr val="000000"/>
                          </a:solidFill>
                          <a:latin typeface="Calibri"/>
                        </a:rPr>
                        <a:t>0.0766</a:t>
                      </a:r>
                    </a:p>
                  </a:txBody>
                  <a:tcPr/>
                </a:tc>
                <a:tc>
                  <a:txBody>
                    <a:bodyPr lIns="54864" rIns="54864" tIns="18288" bIns="18288" wrap="square" anchor="ctr"/>
                    <a:lstStyle/>
                    <a:p>
                      <a:pPr algn="l"/>
                      <a:r>
                        <a:rPr sz="900" b="0">
                          <a:solidFill>
                            <a:srgbClr val="000000"/>
                          </a:solidFill>
                          <a:latin typeface="Calibri"/>
                        </a:rPr>
                        <a:t>0.0767</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-0.16</a:t>
                      </a:r>
                    </a:p>
                  </a:txBody>
                  <a:tcPr/>
                </a:tc>
              </a:tr>
              <a:tr h="182880">
                <a:tc>
                  <a:txBody>
                    <a:bodyPr lIns="54864" rIns="54864" tIns="18288" bIns="18288" wrap="square" anchor="ctr"/>
                    <a:lstStyle/>
                    <a:p>
                      <a:pPr algn="l"/>
                      <a:r>
                        <a:rPr sz="900" b="0">
                          <a:solidFill>
                            <a:srgbClr val="000000"/>
                          </a:solidFill>
                          <a:latin typeface="Calibri"/>
                        </a:rPr>
                        <a:t>16.20</a:t>
                      </a:r>
                    </a:p>
                  </a:txBody>
                  <a:tcPr/>
                </a:tc>
                <a:tc>
                  <a:txBody>
                    <a:bodyPr lIns="54864" rIns="54864" tIns="18288" bIns="18288" wrap="square" anchor="ctr"/>
                    <a:lstStyle/>
                    <a:p>
                      <a:pPr algn="l"/>
                      <a:r>
                        <a:rPr sz="900" b="0">
                          <a:solidFill>
                            <a:srgbClr val="000000"/>
                          </a:solidFill>
                          <a:latin typeface="Calibri"/>
                        </a:rPr>
                        <a:t>0.0807</a:t>
                      </a:r>
                    </a:p>
                  </a:txBody>
                  <a:tcPr/>
                </a:tc>
                <a:tc>
                  <a:txBody>
                    <a:bodyPr lIns="54864" rIns="54864" tIns="18288" bIns="18288" wrap="square" anchor="ctr"/>
                    <a:lstStyle/>
                    <a:p>
                      <a:pPr algn="l"/>
                      <a:r>
                        <a:rPr sz="900" b="0">
                          <a:solidFill>
                            <a:srgbClr val="000000"/>
                          </a:solidFill>
                          <a:latin typeface="Calibri"/>
                        </a:rPr>
                        <a:t>0.0811</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-0.51</a:t>
                      </a:r>
                    </a:p>
                  </a:txBody>
                  <a:tcPr/>
                </a:tc>
              </a:tr>
              <a:tr h="182880">
                <a:tc>
                  <a:txBody>
                    <a:bodyPr lIns="54864" rIns="54864" tIns="18288" bIns="18288" wrap="square" anchor="ctr"/>
                    <a:lstStyle/>
                    <a:p>
                      <a:pPr algn="l"/>
                      <a:r>
                        <a:rPr sz="900" b="0">
                          <a:solidFill>
                            <a:srgbClr val="000000"/>
                          </a:solidFill>
                          <a:latin typeface="Calibri"/>
                        </a:rPr>
                        <a:t>16.25</a:t>
                      </a:r>
                    </a:p>
                  </a:txBody>
                  <a:tcPr/>
                </a:tc>
                <a:tc>
                  <a:txBody>
                    <a:bodyPr lIns="54864" rIns="54864" tIns="18288" bIns="18288" wrap="square" anchor="ctr"/>
                    <a:lstStyle/>
                    <a:p>
                      <a:pPr algn="l"/>
                      <a:r>
                        <a:rPr sz="900" b="0">
                          <a:solidFill>
                            <a:srgbClr val="000000"/>
                          </a:solidFill>
                          <a:latin typeface="Calibri"/>
                        </a:rPr>
                        <a:t>0.0846</a:t>
                      </a:r>
                    </a:p>
                  </a:txBody>
                  <a:tcPr/>
                </a:tc>
                <a:tc>
                  <a:txBody>
                    <a:bodyPr lIns="54864" rIns="54864" tIns="18288" bIns="18288" wrap="square" anchor="ctr"/>
                    <a:lstStyle/>
                    <a:p>
                      <a:pPr algn="l"/>
                      <a:r>
                        <a:rPr sz="900" b="0">
                          <a:solidFill>
                            <a:srgbClr val="000000"/>
                          </a:solidFill>
                          <a:latin typeface="Calibri"/>
                        </a:rPr>
                        <a:t>0.0848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-0.24</a:t>
                      </a:r>
                    </a:p>
                  </a:txBody>
                  <a:tcPr/>
                </a:tc>
              </a:tr>
              <a:tr h="182880">
                <a:tc>
                  <a:txBody>
                    <a:bodyPr lIns="54864" rIns="54864" tIns="18288" bIns="18288" wrap="square" anchor="ctr"/>
                    <a:lstStyle/>
                    <a:p>
                      <a:pPr algn="l"/>
                      <a:r>
                        <a:rPr sz="900" b="0">
                          <a:solidFill>
                            <a:srgbClr val="000000"/>
                          </a:solidFill>
                          <a:latin typeface="Calibri"/>
                        </a:rPr>
                        <a:t>16.30</a:t>
                      </a:r>
                    </a:p>
                  </a:txBody>
                  <a:tcPr/>
                </a:tc>
                <a:tc>
                  <a:txBody>
                    <a:bodyPr lIns="54864" rIns="54864" tIns="18288" bIns="18288" wrap="square" anchor="ctr"/>
                    <a:lstStyle/>
                    <a:p>
                      <a:pPr algn="l"/>
                      <a:r>
                        <a:rPr sz="900" b="0">
                          <a:solidFill>
                            <a:srgbClr val="000000"/>
                          </a:solidFill>
                          <a:latin typeface="Calibri"/>
                        </a:rPr>
                        <a:t>0.0876</a:t>
                      </a:r>
                    </a:p>
                  </a:txBody>
                  <a:tcPr/>
                </a:tc>
                <a:tc>
                  <a:txBody>
                    <a:bodyPr lIns="54864" rIns="54864" tIns="18288" bIns="18288" wrap="square" anchor="ctr"/>
                    <a:lstStyle/>
                    <a:p>
                      <a:pPr algn="l"/>
                      <a:r>
                        <a:rPr sz="900" b="0">
                          <a:solidFill>
                            <a:srgbClr val="000000"/>
                          </a:solidFill>
                          <a:latin typeface="Calibri"/>
                        </a:rPr>
                        <a:t>0.0883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16.35</a:t>
                      </a:r>
                    </a:p>
                  </a:txBody>
                  <a:tcPr/>
                </a:tc>
                <a:tc>
                  <a:txBody>
                    <a:bodyPr lIns="54864" rIns="54864" tIns="18288" bIns="18288" wrap="square" anchor="ctr"/>
                    <a:lstStyle/>
                    <a:p>
                      <a:pPr algn="l"/>
                      <a:r>
                        <a:rPr sz="900" b="0">
                          <a:solidFill>
                            <a:srgbClr val="000000"/>
                          </a:solidFill>
                          <a:latin typeface="Calibri"/>
                        </a:rPr>
                        <a:t>0.0905</a:t>
                      </a:r>
                    </a:p>
                  </a:txBody>
                  <a:tcPr/>
                </a:tc>
                <a:tc>
                  <a:txBody>
                    <a:bodyPr lIns="54864" rIns="54864" tIns="18288" bIns="18288" wrap="square" anchor="ctr"/>
                    <a:lstStyle/>
                    <a:p>
                      <a:pPr algn="l"/>
                      <a:r>
                        <a:rPr sz="900" b="0">
                          <a:solidFill>
                            <a:srgbClr val="000000"/>
                          </a:solidFill>
                          <a:latin typeface="Calibri"/>
                        </a:rPr>
                        <a:t>0.0921</a:t>
                      </a:r>
                    </a:p>
                  </a:txBody>
                  <a:tcPr/>
                </a:tc>
                <a:tc>
                  <a:txBody>
                    <a:bodyPr lIns="54864" rIns="54864" tIns="18288" bIns="18288" wrap="square" anchor="ctr"/>
                    <a:lstStyle/>
                    <a:p>
                      <a:pPr algn="l"/>
                      <a:r>
                        <a:rPr sz="900" b="0">
                          <a:solidFill>
                            <a:srgbClr val="000000"/>
                          </a:solidFill>
                          <a:latin typeface="Calibri"/>
                        </a:rPr>
                        <a:t>-16</a:t>
                      </a:r>
                    </a:p>
                  </a:txBody>
                  <a:tcPr/>
                </a:tc>
                <a:tc>
                  <a:txBody>
                    <a:bodyPr lIns="54864" rIns="54864" tIns="18288" bIns="18288" wrap="square" anchor="ctr"/>
                    <a:lstStyle/>
                    <a:p>
                      <a:pPr algn="l"/>
                      <a:r>
                        <a:rPr sz="900" b="0">
                          <a:solidFill>
                            <a:srgbClr val="000000"/>
                          </a:solidFill>
                          <a:latin typeface="Calibri"/>
                        </a:rPr>
                        <a:t>-1.69</a:t>
                      </a:r>
                    </a:p>
                  </a:txBody>
                  <a:tcPr/>
                </a:tc>
              </a:tr>
              <a:tr h="182880">
                <a:tc>
                  <a:txBody>
                    <a:bodyPr lIns="54864" rIns="54864" tIns="18288" bIns="18288" wrap="square" anchor="ctr"/>
                    <a:lstStyle/>
                    <a:p>
                      <a:pPr algn="l"/>
                      <a:r>
                        <a:rPr sz="900" b="0">
                          <a:solidFill>
                            <a:srgbClr val="000000"/>
                          </a:solidFill>
                          <a:latin typeface="Calibri"/>
                        </a:rPr>
                        <a:t>16.40</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-0.08</a:t>
                      </a:r>
                    </a:p>
                  </a:txBody>
                  <a:tcPr/>
                </a:tc>
              </a:tr>
              <a:tr h="182880">
                <a:tc>
                  <a:txBody>
                    <a:bodyPr lIns="54864" rIns="54864" tIns="18288" bIns="18288" wrap="square" anchor="ctr"/>
                    <a:lstStyle/>
                    <a:p>
                      <a:pPr algn="l"/>
                      <a:r>
                        <a:rPr sz="900" b="0">
                          <a:solidFill>
                            <a:srgbClr val="000000"/>
                          </a:solidFill>
                          <a:latin typeface="Calibri"/>
                        </a:rPr>
                        <a:t>16.45</a:t>
                      </a:r>
                    </a:p>
                  </a:txBody>
                  <a:tcPr/>
                </a:tc>
                <a:tc>
                  <a:txBody>
                    <a:bodyPr lIns="54864" rIns="54864" tIns="18288" bIns="18288" wrap="square" anchor="ctr"/>
                    <a:lstStyle/>
                    <a:p>
                      <a:pPr algn="l"/>
                      <a:r>
                        <a:rPr sz="900" b="0">
                          <a:solidFill>
                            <a:srgbClr val="000000"/>
                          </a:solidFill>
                          <a:latin typeface="Calibri"/>
                        </a:rPr>
                        <a:t>0.0994</a:t>
                      </a:r>
                    </a:p>
                  </a:txBody>
                  <a:tcPr/>
                </a:tc>
                <a:tc>
                  <a:txBody>
                    <a:bodyPr lIns="54864" rIns="54864" tIns="18288" bIns="18288" wrap="square" anchor="ctr"/>
                    <a:lstStyle/>
                    <a:p>
                      <a:pPr algn="l"/>
                      <a:r>
                        <a:rPr sz="900" b="0">
                          <a:solidFill>
                            <a:srgbClr val="000000"/>
                          </a:solidFill>
                          <a:latin typeface="Calibri"/>
                        </a:rPr>
                        <a:t>0.0999</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-0.59</a:t>
                      </a:r>
                    </a:p>
                  </a:txBody>
                  <a:tcPr/>
                </a:tc>
              </a:tr>
              <a:tr h="182880">
                <a:tc>
                  <a:txBody>
                    <a:bodyPr lIns="54864" rIns="54864" tIns="18288" bIns="18288" wrap="square" anchor="ctr"/>
                    <a:lstStyle/>
                    <a:p>
                      <a:pPr algn="l"/>
                      <a:r>
                        <a:rPr sz="900" b="0">
                          <a:solidFill>
                            <a:srgbClr val="000000"/>
                          </a:solidFill>
                          <a:latin typeface="Calibri"/>
                        </a:rPr>
                        <a:t>16.50</a:t>
                      </a:r>
                    </a:p>
                  </a:txBody>
                  <a:tcPr/>
                </a:tc>
                <a:tc>
                  <a:txBody>
                    <a:bodyPr lIns="54864" rIns="54864" tIns="18288" bIns="18288" wrap="square" anchor="ctr"/>
                    <a:lstStyle/>
                    <a:p>
                      <a:pPr algn="l"/>
                      <a:r>
                        <a:rPr sz="900" b="0">
                          <a:solidFill>
                            <a:srgbClr val="000000"/>
                          </a:solidFill>
                          <a:latin typeface="Calibri"/>
                        </a:rPr>
                        <a:t>0.1037</a:t>
                      </a:r>
                    </a:p>
                  </a:txBody>
                  <a:tcPr/>
                </a:tc>
                <a:tc>
                  <a:txBody>
                    <a:bodyPr lIns="54864" rIns="54864" tIns="18288" bIns="18288" wrap="square" anchor="ctr"/>
                    <a:lstStyle/>
                    <a:p>
                      <a:pPr algn="l"/>
                      <a:r>
                        <a:rPr sz="900" b="0">
                          <a:solidFill>
                            <a:srgbClr val="000000"/>
                          </a:solidFill>
                          <a:latin typeface="Calibri"/>
                        </a:rPr>
                        <a:t>0.1035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+0.21</a:t>
                      </a:r>
                    </a:p>
                  </a:txBody>
                  <a:tcPr/>
                </a:tc>
              </a:tr>
              <a:tr h="182880">
                <a:tc>
                  <a:txBody>
                    <a:bodyPr lIns="54864" rIns="54864" tIns="18288" bIns="18288" wrap="square" anchor="ctr"/>
                    <a:lstStyle/>
                    <a:p>
                      <a:pPr algn="l"/>
                      <a:r>
                        <a:rPr sz="900" b="0">
                          <a:solidFill>
                            <a:srgbClr val="000000"/>
                          </a:solidFill>
                          <a:latin typeface="Calibri"/>
                        </a:rPr>
                        <a:t>16.55</a:t>
                      </a:r>
                    </a:p>
                  </a:txBody>
                  <a:tcPr/>
                </a:tc>
                <a:tc>
                  <a:txBody>
                    <a:bodyPr lIns="54864" rIns="54864" tIns="18288" bIns="18288" wrap="square" anchor="ctr"/>
                    <a:lstStyle/>
                    <a:p>
                      <a:pPr algn="l"/>
                      <a:r>
                        <a:rPr sz="900" b="0">
                          <a:solidFill>
                            <a:srgbClr val="000000"/>
                          </a:solidFill>
                          <a:latin typeface="Calibri"/>
                        </a:rPr>
                        <a:t>0.1068</a:t>
                      </a:r>
                    </a:p>
                  </a:txBody>
                  <a:tcPr/>
                </a:tc>
                <a:tc>
                  <a:txBody>
                    <a:bodyPr lIns="54864" rIns="54864" tIns="18288" bIns="18288" wrap="square" anchor="ctr"/>
                    <a:lstStyle/>
                    <a:p>
                      <a:pPr algn="l"/>
                      <a:r>
                        <a:rPr sz="900" b="0">
                          <a:solidFill>
                            <a:srgbClr val="000000"/>
                          </a:solidFill>
                          <a:latin typeface="Calibri"/>
                        </a:rPr>
                        <a:t>0.1074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-0.57</a:t>
                      </a:r>
                    </a:p>
                  </a:txBody>
                  <a:tcPr/>
                </a:tc>
              </a:tr>
              <a:tr h="182880">
                <a:tc>
                  <a:txBody>
                    <a:bodyPr lIns="54864" rIns="54864" tIns="18288" bIns="18288" wrap="square" anchor="ctr"/>
                    <a:lstStyle/>
                    <a:p>
                      <a:pPr algn="l"/>
                      <a:r>
                        <a:rPr sz="900" b="0">
                          <a:solidFill>
                            <a:srgbClr val="000000"/>
                          </a:solidFill>
                          <a:latin typeface="Calibri"/>
                        </a:rPr>
                        <a:t>16.60</a:t>
                      </a:r>
                    </a:p>
                  </a:txBody>
                  <a:tcPr/>
                </a:tc>
                <a:tc>
                  <a:txBody>
                    <a:bodyPr lIns="54864" rIns="54864" tIns="18288" bIns="18288" wrap="square" anchor="ctr"/>
                    <a:lstStyle/>
                    <a:p>
                      <a:pPr algn="l"/>
                      <a:r>
                        <a:rPr sz="900" b="0">
                          <a:solidFill>
                            <a:srgbClr val="000000"/>
                          </a:solidFill>
                          <a:latin typeface="Calibri"/>
                        </a:rPr>
                        <a:t>0.1099</a:t>
                      </a:r>
                    </a:p>
                  </a:txBody>
                  <a:tcPr/>
                </a:tc>
                <a:tc>
                  <a:txBody>
                    <a:bodyPr lIns="54864" rIns="54864" tIns="18288" bIns="18288" wrap="square" anchor="ctr"/>
                    <a:lstStyle/>
                    <a:p>
                      <a:pPr algn="l"/>
                      <a:r>
                        <a:rPr sz="900" b="0">
                          <a:solidFill>
                            <a:srgbClr val="000000"/>
                          </a:solidFill>
                          <a:latin typeface="Calibri"/>
                        </a:rPr>
                        <a:t>0.1109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16.65</a:t>
                      </a:r>
                    </a:p>
                  </a:txBody>
                  <a:tcPr/>
                </a:tc>
                <a:tc>
                  <a:txBody>
                    <a:bodyPr lIns="54864" rIns="54864" tIns="18288" bIns="18288" wrap="square" anchor="ctr"/>
                    <a:lstStyle/>
                    <a:p>
                      <a:pPr algn="l"/>
                      <a:r>
                        <a:rPr sz="900" b="0">
                          <a:solidFill>
                            <a:srgbClr val="000000"/>
                          </a:solidFill>
                          <a:latin typeface="Calibri"/>
                        </a:rPr>
                        <a:t>0.1140</a:t>
                      </a:r>
                    </a:p>
                  </a:txBody>
                  <a:tcPr/>
                </a:tc>
                <a:tc>
                  <a:txBody>
                    <a:bodyPr lIns="54864" rIns="54864" tIns="18288" bIns="18288" wrap="square" anchor="ctr"/>
                    <a:lstStyle/>
                    <a:p>
                      <a:pPr algn="l"/>
                      <a:r>
                        <a:rPr sz="900" b="0">
                          <a:solidFill>
                            <a:srgbClr val="000000"/>
                          </a:solidFill>
                          <a:latin typeface="Calibri"/>
                        </a:rPr>
                        <a:t>0.1150</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16.70</a:t>
                      </a:r>
                    </a:p>
                  </a:txBody>
                  <a:tcPr/>
                </a:tc>
                <a:tc>
                  <a:txBody>
                    <a:bodyPr lIns="54864" rIns="54864" tIns="18288" bIns="18288" wrap="square" anchor="ctr"/>
                    <a:lstStyle/>
                    <a:p>
                      <a:pPr algn="l"/>
                      <a:r>
                        <a:rPr sz="900" b="0">
                          <a:solidFill>
                            <a:srgbClr val="000000"/>
                          </a:solidFill>
                          <a:latin typeface="Calibri"/>
                        </a:rPr>
                        <a:t>0.1186</a:t>
                      </a:r>
                    </a:p>
                  </a:txBody>
                  <a:tcPr/>
                </a:tc>
                <a:tc>
                  <a:txBody>
                    <a:bodyPr lIns="54864" rIns="54864" tIns="18288" bIns="18288" wrap="square" anchor="ctr"/>
                    <a:lstStyle/>
                    <a:p>
                      <a:pPr algn="l"/>
                      <a:r>
                        <a:rPr sz="900" b="0">
                          <a:solidFill>
                            <a:srgbClr val="000000"/>
                          </a:solidFill>
                          <a:latin typeface="Calibri"/>
                        </a:rPr>
                        <a:t>0.1189</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-0.23</a:t>
                      </a:r>
                    </a:p>
                  </a:txBody>
                  <a:tcPr/>
                </a:tc>
              </a:tr>
              <a:tr h="182880">
                <a:tc>
                  <a:txBody>
                    <a:bodyPr lIns="54864" rIns="54864" tIns="18288" bIns="18288" wrap="square" anchor="ctr"/>
                    <a:lstStyle/>
                    <a:p>
                      <a:pPr algn="l"/>
                      <a:r>
                        <a:rPr sz="900" b="0">
                          <a:solidFill>
                            <a:srgbClr val="000000"/>
                          </a:solidFill>
                          <a:latin typeface="Calibri"/>
                        </a:rPr>
                        <a:t>16.75</a:t>
                      </a:r>
                    </a:p>
                  </a:txBody>
                  <a:tcPr/>
                </a:tc>
                <a:tc>
                  <a:txBody>
                    <a:bodyPr lIns="54864" rIns="54864" tIns="18288" bIns="18288" wrap="square" anchor="ctr"/>
                    <a:lstStyle/>
                    <a:p>
                      <a:pPr algn="l"/>
                      <a:r>
                        <a:rPr sz="900" b="0">
                          <a:solidFill>
                            <a:srgbClr val="000000"/>
                          </a:solidFill>
                          <a:latin typeface="Calibri"/>
                        </a:rPr>
                        <a:t>0.1216</a:t>
                      </a:r>
                    </a:p>
                  </a:txBody>
                  <a:tcPr/>
                </a:tc>
                <a:tc>
                  <a:txBody>
                    <a:bodyPr lIns="54864" rIns="54864" tIns="18288" bIns="18288" wrap="square" anchor="ctr"/>
                    <a:lstStyle/>
                    <a:p>
                      <a:pPr algn="l"/>
                      <a:r>
                        <a:rPr sz="900" b="0">
                          <a:solidFill>
                            <a:srgbClr val="000000"/>
                          </a:solidFill>
                          <a:latin typeface="Calibri"/>
                        </a:rPr>
                        <a:t>0.1226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16.80</a:t>
                      </a:r>
                    </a:p>
                  </a:txBody>
                  <a:tcPr/>
                </a:tc>
                <a:tc>
                  <a:txBody>
                    <a:bodyPr lIns="54864" rIns="54864" tIns="18288" bIns="18288" wrap="square" anchor="ctr"/>
                    <a:lstStyle/>
                    <a:p>
                      <a:pPr algn="l"/>
                      <a:r>
                        <a:rPr sz="900" b="0">
                          <a:solidFill>
                            <a:srgbClr val="000000"/>
                          </a:solidFill>
                          <a:latin typeface="Calibri"/>
                        </a:rPr>
                        <a:t>0.1253</a:t>
                      </a:r>
                    </a:p>
                  </a:txBody>
                  <a:tcPr/>
                </a:tc>
                <a:tc>
                  <a:txBody>
                    <a:bodyPr lIns="54864" rIns="54864" tIns="18288" bIns="18288" wrap="square" anchor="ctr"/>
                    <a:lstStyle/>
                    <a:p>
                      <a:pPr algn="l"/>
                      <a:r>
                        <a:rPr sz="900" b="0">
                          <a:solidFill>
                            <a:srgbClr val="000000"/>
                          </a:solidFill>
                          <a:latin typeface="Calibri"/>
                        </a:rPr>
                        <a:t>0.1265</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-1.00</a:t>
                      </a:r>
                    </a:p>
                  </a:txBody>
                  <a:tcPr/>
                </a:tc>
              </a:tr>
            </a:tbl>
          </a:graphicData>
        </a:graphic>
      </p:graphicFrame>
      <p:graphicFrame>
        <p:nvGraphicFramePr>
          <p:cNvPr id="7" name="Table 6"/>
          <p:cNvGraphicFramePr>
            <a:graphicFrameLocks noGrp="1"/>
          </p:cNvGraphicFramePr>
          <p:nvPr/>
        </p:nvGraphicFramePr>
        <p:xfrm>
          <a:off x="6217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16.85</a:t>
                      </a:r>
                    </a:p>
                  </a:txBody>
                  <a:tcPr/>
                </a:tc>
                <a:tc>
                  <a:txBody>
                    <a:bodyPr lIns="54864" rIns="54864" tIns="18288" bIns="18288" wrap="square" anchor="ctr"/>
                    <a:lstStyle/>
                    <a:p>
                      <a:pPr algn="l"/>
                      <a:r>
                        <a:rPr sz="900" b="0">
                          <a:solidFill>
                            <a:srgbClr val="000000"/>
                          </a:solidFill>
                          <a:latin typeface="Calibri"/>
                        </a:rPr>
                        <a:t>0.1294</a:t>
                      </a:r>
                    </a:p>
                  </a:txBody>
                  <a:tcPr/>
                </a:tc>
                <a:tc>
                  <a:txBody>
                    <a:bodyPr lIns="54864" rIns="54864" tIns="18288" bIns="18288" wrap="square" anchor="ctr"/>
                    <a:lstStyle/>
                    <a:p>
                      <a:pPr algn="l"/>
                      <a:r>
                        <a:rPr sz="900" b="0">
                          <a:solidFill>
                            <a:srgbClr val="000000"/>
                          </a:solidFill>
                          <a:latin typeface="Calibri"/>
                        </a:rPr>
                        <a:t>0.1303</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-0.65</a:t>
                      </a:r>
                    </a:p>
                  </a:txBody>
                  <a:tcPr/>
                </a:tc>
              </a:tr>
              <a:tr h="182880">
                <a:tc>
                  <a:txBody>
                    <a:bodyPr lIns="54864" rIns="54864" tIns="18288" bIns="18288" wrap="square" anchor="ctr"/>
                    <a:lstStyle/>
                    <a:p>
                      <a:pPr algn="l"/>
                      <a:r>
                        <a:rPr sz="900" b="0">
                          <a:solidFill>
                            <a:srgbClr val="000000"/>
                          </a:solidFill>
                          <a:latin typeface="Calibri"/>
                        </a:rPr>
                        <a:t>16.90</a:t>
                      </a:r>
                    </a:p>
                  </a:txBody>
                  <a:tcPr/>
                </a:tc>
                <a:tc>
                  <a:txBody>
                    <a:bodyPr lIns="54864" rIns="54864" tIns="18288" bIns="18288" wrap="square" anchor="ctr"/>
                    <a:lstStyle/>
                    <a:p>
                      <a:pPr algn="l"/>
                      <a:r>
                        <a:rPr sz="900" b="0">
                          <a:solidFill>
                            <a:srgbClr val="000000"/>
                          </a:solidFill>
                          <a:latin typeface="Calibri"/>
                        </a:rPr>
                        <a:t>0.1334</a:t>
                      </a:r>
                    </a:p>
                  </a:txBody>
                  <a:tcPr/>
                </a:tc>
                <a:tc>
                  <a:txBody>
                    <a:bodyPr lIns="54864" rIns="54864" tIns="18288" bIns="18288" wrap="square" anchor="ctr"/>
                    <a:lstStyle/>
                    <a:p>
                      <a:pPr algn="l"/>
                      <a:r>
                        <a:rPr sz="900" b="0">
                          <a:solidFill>
                            <a:srgbClr val="000000"/>
                          </a:solidFill>
                          <a:latin typeface="Calibri"/>
                        </a:rPr>
                        <a:t>0.1338</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16.95</a:t>
                      </a:r>
                    </a:p>
                  </a:txBody>
                  <a:tcPr/>
                </a:tc>
                <a:tc>
                  <a:txBody>
                    <a:bodyPr lIns="54864" rIns="54864" tIns="18288" bIns="18288" wrap="square" anchor="ctr"/>
                    <a:lstStyle/>
                    <a:p>
                      <a:pPr algn="l"/>
                      <a:r>
                        <a:rPr sz="900" b="0">
                          <a:solidFill>
                            <a:srgbClr val="000000"/>
                          </a:solidFill>
                          <a:latin typeface="Calibri"/>
                        </a:rPr>
                        <a:t>0.1380</a:t>
                      </a:r>
                    </a:p>
                  </a:txBody>
                  <a:tcPr/>
                </a:tc>
                <a:tc>
                  <a:txBody>
                    <a:bodyPr lIns="54864" rIns="54864" tIns="18288" bIns="18288" wrap="square" anchor="ctr"/>
                    <a:lstStyle/>
                    <a:p>
                      <a:pPr algn="l"/>
                      <a:r>
                        <a:rPr sz="900" b="0">
                          <a:solidFill>
                            <a:srgbClr val="000000"/>
                          </a:solidFill>
                          <a:latin typeface="Calibri"/>
                        </a:rPr>
                        <a:t>0.1393</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-0.92</a:t>
                      </a:r>
                    </a:p>
                  </a:txBody>
                  <a:tcPr/>
                </a:tc>
              </a:tr>
              <a:tr h="182880">
                <a:tc>
                  <a:txBody>
                    <a:bodyPr lIns="54864" rIns="54864" tIns="18288" bIns="18288" wrap="square" anchor="ctr"/>
                    <a:lstStyle/>
                    <a:p>
                      <a:pPr algn="l"/>
                      <a:r>
                        <a:rPr sz="900" b="0">
                          <a:solidFill>
                            <a:srgbClr val="000000"/>
                          </a:solidFill>
                          <a:latin typeface="Calibri"/>
                        </a:rPr>
                        <a:t>17.00</a:t>
                      </a:r>
                    </a:p>
                  </a:txBody>
                  <a:tcPr/>
                </a:tc>
                <a:tc>
                  <a:txBody>
                    <a:bodyPr lIns="54864" rIns="54864" tIns="18288" bIns="18288" wrap="square" anchor="ctr"/>
                    <a:lstStyle/>
                    <a:p>
                      <a:pPr algn="l"/>
                      <a:r>
                        <a:rPr sz="900" b="0">
                          <a:solidFill>
                            <a:srgbClr val="000000"/>
                          </a:solidFill>
                          <a:latin typeface="Calibri"/>
                        </a:rPr>
                        <a:t>0.1414</a:t>
                      </a:r>
                    </a:p>
                  </a:txBody>
                  <a:tcPr/>
                </a:tc>
                <a:tc>
                  <a:txBody>
                    <a:bodyPr lIns="54864" rIns="54864" tIns="18288" bIns="18288" wrap="square" anchor="ctr"/>
                    <a:lstStyle/>
                    <a:p>
                      <a:pPr algn="l"/>
                      <a:r>
                        <a:rPr sz="900" b="0">
                          <a:solidFill>
                            <a:srgbClr val="000000"/>
                          </a:solidFill>
                          <a:latin typeface="Calibri"/>
                        </a:rPr>
                        <a:t>0.1417</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-0.28</a:t>
                      </a:r>
                    </a:p>
                  </a:txBody>
                  <a:tcPr/>
                </a:tc>
              </a:tr>
              <a:tr h="182880">
                <a:tc>
                  <a:txBody>
                    <a:bodyPr lIns="54864" rIns="54864" tIns="18288" bIns="18288" wrap="square" anchor="ctr"/>
                    <a:lstStyle/>
                    <a:p>
                      <a:pPr algn="l"/>
                      <a:r>
                        <a:rPr sz="900" b="0">
                          <a:solidFill>
                            <a:srgbClr val="000000"/>
                          </a:solidFill>
                          <a:latin typeface="Calibri"/>
                        </a:rPr>
                        <a:t>17.05</a:t>
                      </a:r>
                    </a:p>
                  </a:txBody>
                  <a:tcPr/>
                </a:tc>
                <a:tc>
                  <a:txBody>
                    <a:bodyPr lIns="54864" rIns="54864" tIns="18288" bIns="18288" wrap="square" anchor="ctr"/>
                    <a:lstStyle/>
                    <a:p>
                      <a:pPr algn="l"/>
                      <a:r>
                        <a:rPr sz="900" b="0">
                          <a:solidFill>
                            <a:srgbClr val="000000"/>
                          </a:solidFill>
                          <a:latin typeface="Calibri"/>
                        </a:rPr>
                        <a:t>0.1444</a:t>
                      </a:r>
                    </a:p>
                  </a:txBody>
                  <a:tcPr/>
                </a:tc>
                <a:tc>
                  <a:txBody>
                    <a:bodyPr lIns="54864" rIns="54864" tIns="18288" bIns="18288" wrap="square" anchor="ctr"/>
                    <a:lstStyle/>
                    <a:p>
                      <a:pPr algn="l"/>
                      <a:r>
                        <a:rPr sz="900" b="0">
                          <a:solidFill>
                            <a:srgbClr val="000000"/>
                          </a:solidFill>
                          <a:latin typeface="Calibri"/>
                        </a:rPr>
                        <a:t>0.1451</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-0.49</a:t>
                      </a:r>
                    </a:p>
                  </a:txBody>
                  <a:tcPr/>
                </a:tc>
              </a:tr>
              <a:tr h="182880">
                <a:tc>
                  <a:txBody>
                    <a:bodyPr lIns="54864" rIns="54864" tIns="18288" bIns="18288" wrap="square" anchor="ctr"/>
                    <a:lstStyle/>
                    <a:p>
                      <a:pPr algn="l"/>
                      <a:r>
                        <a:rPr sz="900" b="0">
                          <a:solidFill>
                            <a:srgbClr val="000000"/>
                          </a:solidFill>
                          <a:latin typeface="Calibri"/>
                        </a:rPr>
                        <a:t>17.10</a:t>
                      </a:r>
                    </a:p>
                  </a:txBody>
                  <a:tcPr/>
                </a:tc>
                <a:tc>
                  <a:txBody>
                    <a:bodyPr lIns="54864" rIns="54864" tIns="18288" bIns="18288" wrap="square" anchor="ctr"/>
                    <a:lstStyle/>
                    <a:p>
                      <a:pPr algn="l"/>
                      <a:r>
                        <a:rPr sz="900" b="0">
                          <a:solidFill>
                            <a:srgbClr val="000000"/>
                          </a:solidFill>
                          <a:latin typeface="Calibri"/>
                        </a:rPr>
                        <a:t>0.1487</a:t>
                      </a:r>
                    </a:p>
                  </a:txBody>
                  <a:tcPr/>
                </a:tc>
                <a:tc>
                  <a:txBody>
                    <a:bodyPr lIns="54864" rIns="54864" tIns="18288" bIns="18288" wrap="square" anchor="ctr"/>
                    <a:lstStyle/>
                    <a:p>
                      <a:pPr algn="l"/>
                      <a:r>
                        <a:rPr sz="900" b="0">
                          <a:solidFill>
                            <a:srgbClr val="000000"/>
                          </a:solidFill>
                          <a:latin typeface="Calibri"/>
                        </a:rPr>
                        <a:t>0.1481</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+0.40</a:t>
                      </a:r>
                    </a:p>
                  </a:txBody>
                  <a:tcPr/>
                </a:tc>
              </a:tr>
              <a:tr h="182880">
                <a:tc>
                  <a:txBody>
                    <a:bodyPr lIns="54864" rIns="54864" tIns="18288" bIns="18288" wrap="square" anchor="ctr"/>
                    <a:lstStyle/>
                    <a:p>
                      <a:pPr algn="l"/>
                      <a:r>
                        <a:rPr sz="900" b="0">
                          <a:solidFill>
                            <a:srgbClr val="000000"/>
                          </a:solidFill>
                          <a:latin typeface="Calibri"/>
                        </a:rPr>
                        <a:t>17.15</a:t>
                      </a:r>
                    </a:p>
                  </a:txBody>
                  <a:tcPr/>
                </a:tc>
                <a:tc>
                  <a:txBody>
                    <a:bodyPr lIns="54864" rIns="54864" tIns="18288" bIns="18288" wrap="square" anchor="ctr"/>
                    <a:lstStyle/>
                    <a:p>
                      <a:pPr algn="l"/>
                      <a:r>
                        <a:rPr sz="900" b="0">
                          <a:solidFill>
                            <a:srgbClr val="000000"/>
                          </a:solidFill>
                          <a:latin typeface="Calibri"/>
                        </a:rPr>
                        <a:t>0.1523</a:t>
                      </a:r>
                    </a:p>
                  </a:txBody>
                  <a:tcPr/>
                </a:tc>
                <a:tc>
                  <a:txBody>
                    <a:bodyPr lIns="54864" rIns="54864" tIns="18288" bIns="18288" wrap="square" anchor="ctr"/>
                    <a:lstStyle/>
                    <a:p>
                      <a:pPr algn="l"/>
                      <a:r>
                        <a:rPr sz="900" b="0">
                          <a:solidFill>
                            <a:srgbClr val="000000"/>
                          </a:solidFill>
                          <a:latin typeface="Calibri"/>
                        </a:rPr>
                        <a:t>0.1530</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-0.43</a:t>
                      </a:r>
                    </a:p>
                  </a:txBody>
                  <a:tcPr/>
                </a:tc>
              </a:tr>
              <a:tr h="182880">
                <a:tc>
                  <a:txBody>
                    <a:bodyPr lIns="54864" rIns="54864" tIns="18288" bIns="18288" wrap="square" anchor="ctr"/>
                    <a:lstStyle/>
                    <a:p>
                      <a:pPr algn="l"/>
                      <a:r>
                        <a:rPr sz="900" b="0">
                          <a:solidFill>
                            <a:srgbClr val="000000"/>
                          </a:solidFill>
                          <a:latin typeface="Calibri"/>
                        </a:rPr>
                        <a:t>17.20</a:t>
                      </a:r>
                    </a:p>
                  </a:txBody>
                  <a:tcPr/>
                </a:tc>
                <a:tc>
                  <a:txBody>
                    <a:bodyPr lIns="54864" rIns="54864" tIns="18288" bIns="18288" wrap="square" anchor="ctr"/>
                    <a:lstStyle/>
                    <a:p>
                      <a:pPr algn="l"/>
                      <a:r>
                        <a:rPr sz="900" b="0">
                          <a:solidFill>
                            <a:srgbClr val="000000"/>
                          </a:solidFill>
                          <a:latin typeface="Calibri"/>
                        </a:rPr>
                        <a:t>0.1564</a:t>
                      </a:r>
                    </a:p>
                  </a:txBody>
                  <a:tcPr/>
                </a:tc>
                <a:tc>
                  <a:txBody>
                    <a:bodyPr lIns="54864" rIns="54864" tIns="18288" bIns="18288" wrap="square" anchor="ctr"/>
                    <a:lstStyle/>
                    <a:p>
                      <a:pPr algn="l"/>
                      <a:r>
                        <a:rPr sz="900" b="0">
                          <a:solidFill>
                            <a:srgbClr val="000000"/>
                          </a:solidFill>
                          <a:latin typeface="Calibri"/>
                        </a:rPr>
                        <a:t>0.1557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+0.45</a:t>
                      </a:r>
                    </a:p>
                  </a:txBody>
                  <a:tcPr/>
                </a:tc>
              </a:tr>
              <a:tr h="182880">
                <a:tc>
                  <a:txBody>
                    <a:bodyPr lIns="54864" rIns="54864" tIns="18288" bIns="18288" wrap="square" anchor="ctr"/>
                    <a:lstStyle/>
                    <a:p>
                      <a:pPr algn="l"/>
                      <a:r>
                        <a:rPr sz="900" b="0">
                          <a:solidFill>
                            <a:srgbClr val="000000"/>
                          </a:solidFill>
                          <a:latin typeface="Calibri"/>
                        </a:rPr>
                        <a:t>17.25</a:t>
                      </a:r>
                    </a:p>
                  </a:txBody>
                  <a:tcPr/>
                </a:tc>
                <a:tc>
                  <a:txBody>
                    <a:bodyPr lIns="54864" rIns="54864" tIns="18288" bIns="18288" wrap="square" anchor="ctr"/>
                    <a:lstStyle/>
                    <a:p>
                      <a:pPr algn="l"/>
                      <a:r>
                        <a:rPr sz="900" b="0">
                          <a:solidFill>
                            <a:srgbClr val="000000"/>
                          </a:solidFill>
                          <a:latin typeface="Calibri"/>
                        </a:rPr>
                        <a:t>0.1599</a:t>
                      </a:r>
                    </a:p>
                  </a:txBody>
                  <a:tcPr/>
                </a:tc>
                <a:tc>
                  <a:txBody>
                    <a:bodyPr lIns="54864" rIns="54864" tIns="18288" bIns="18288" wrap="square" anchor="ctr"/>
                    <a:lstStyle/>
                    <a:p>
                      <a:pPr algn="l"/>
                      <a:r>
                        <a:rPr sz="900" b="0">
                          <a:solidFill>
                            <a:srgbClr val="000000"/>
                          </a:solidFill>
                          <a:latin typeface="Calibri"/>
                        </a:rPr>
                        <a:t>0.1469</a:t>
                      </a:r>
                    </a:p>
                  </a:txBody>
                  <a:tcPr/>
                </a:tc>
                <a:tc>
                  <a:txBody>
                    <a:bodyPr lIns="54864" rIns="54864" tIns="18288" bIns="18288" wrap="square" anchor="ctr"/>
                    <a:lstStyle/>
                    <a:p>
                      <a:pPr algn="l"/>
                      <a:r>
                        <a:rPr sz="900" b="0">
                          <a:solidFill>
                            <a:srgbClr val="000000"/>
                          </a:solidFill>
                          <a:latin typeface="Calibri"/>
                        </a:rPr>
                        <a:t>+131</a:t>
                      </a:r>
                    </a:p>
                  </a:txBody>
                  <a:tcPr/>
                </a:tc>
                <a:tc>
                  <a:txBody>
                    <a:bodyPr lIns="54864" rIns="54864" tIns="18288" bIns="18288" wrap="square" anchor="ctr"/>
                    <a:lstStyle/>
                    <a:p>
                      <a:pPr algn="l"/>
                      <a:r>
                        <a:rPr sz="900" b="0">
                          <a:solidFill>
                            <a:srgbClr val="000000"/>
                          </a:solidFill>
                          <a:latin typeface="Calibri"/>
                        </a:rPr>
                        <a:t>+8.90</a:t>
                      </a:r>
                    </a:p>
                  </a:txBody>
                  <a:tcPr/>
                </a:tc>
              </a:tr>
              <a:tr h="182880">
                <a:tc>
                  <a:txBody>
                    <a:bodyPr lIns="54864" rIns="54864" tIns="18288" bIns="18288" wrap="square" anchor="ctr"/>
                    <a:lstStyle/>
                    <a:p>
                      <a:pPr algn="l"/>
                      <a:r>
                        <a:rPr sz="900" b="0">
                          <a:solidFill>
                            <a:srgbClr val="000000"/>
                          </a:solidFill>
                          <a:latin typeface="Calibri"/>
                        </a:rPr>
                        <a:t>17.30</a:t>
                      </a:r>
                    </a:p>
                  </a:txBody>
                  <a:tcPr/>
                </a:tc>
                <a:tc>
                  <a:txBody>
                    <a:bodyPr lIns="54864" rIns="54864" tIns="18288" bIns="18288" wrap="square" anchor="ctr"/>
                    <a:lstStyle/>
                    <a:p>
                      <a:pPr algn="l"/>
                      <a:r>
                        <a:rPr sz="900" b="0">
                          <a:solidFill>
                            <a:srgbClr val="000000"/>
                          </a:solidFill>
                          <a:latin typeface="Calibri"/>
                        </a:rPr>
                        <a:t>0.1635</a:t>
                      </a:r>
                    </a:p>
                  </a:txBody>
                  <a:tcPr/>
                </a:tc>
                <a:tc>
                  <a:txBody>
                    <a:bodyPr lIns="54864" rIns="54864" tIns="18288" bIns="18288" wrap="square" anchor="ctr"/>
                    <a:lstStyle/>
                    <a:p>
                      <a:pPr algn="l"/>
                      <a:r>
                        <a:rPr sz="900" b="0">
                          <a:solidFill>
                            <a:srgbClr val="000000"/>
                          </a:solidFill>
                          <a:latin typeface="Calibri"/>
                        </a:rPr>
                        <a:t>0.1634</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17.35</a:t>
                      </a:r>
                    </a:p>
                  </a:txBody>
                  <a:tcPr/>
                </a:tc>
                <a:tc>
                  <a:txBody>
                    <a:bodyPr lIns="54864" rIns="54864" tIns="18288" bIns="18288" wrap="square" anchor="ctr"/>
                    <a:lstStyle/>
                    <a:p>
                      <a:pPr algn="l"/>
                      <a:r>
                        <a:rPr sz="900" b="0">
                          <a:solidFill>
                            <a:srgbClr val="000000"/>
                          </a:solidFill>
                          <a:latin typeface="Calibri"/>
                        </a:rPr>
                        <a:t>0.1691</a:t>
                      </a:r>
                    </a:p>
                  </a:txBody>
                  <a:tcPr/>
                </a:tc>
                <a:tc>
                  <a:txBody>
                    <a:bodyPr lIns="54864" rIns="54864" tIns="18288" bIns="18288" wrap="square" anchor="ctr"/>
                    <a:lstStyle/>
                    <a:p>
                      <a:pPr algn="l"/>
                      <a:r>
                        <a:rPr sz="900" b="0">
                          <a:solidFill>
                            <a:srgbClr val="000000"/>
                          </a:solidFill>
                          <a:latin typeface="Calibri"/>
                        </a:rPr>
                        <a:t>0.1670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+1.27</a:t>
                      </a:r>
                    </a:p>
                  </a:txBody>
                  <a:tcPr/>
                </a:tc>
              </a:tr>
              <a:tr h="182880">
                <a:tc>
                  <a:txBody>
                    <a:bodyPr lIns="54864" rIns="54864" tIns="18288" bIns="18288" wrap="square" anchor="ctr"/>
                    <a:lstStyle/>
                    <a:p>
                      <a:pPr algn="l"/>
                      <a:r>
                        <a:rPr sz="900" b="0">
                          <a:solidFill>
                            <a:srgbClr val="000000"/>
                          </a:solidFill>
                          <a:latin typeface="Calibri"/>
                        </a:rPr>
                        <a:t>17.40</a:t>
                      </a:r>
                    </a:p>
                  </a:txBody>
                  <a:tcPr/>
                </a:tc>
                <a:tc>
                  <a:txBody>
                    <a:bodyPr lIns="54864" rIns="54864" tIns="18288" bIns="18288" wrap="square" anchor="ctr"/>
                    <a:lstStyle/>
                    <a:p>
                      <a:pPr algn="l"/>
                      <a:r>
                        <a:rPr sz="900" b="0">
                          <a:solidFill>
                            <a:srgbClr val="000000"/>
                          </a:solidFill>
                          <a:latin typeface="Calibri"/>
                        </a:rPr>
                        <a:t>0.1721</a:t>
                      </a:r>
                    </a:p>
                  </a:txBody>
                  <a:tcPr/>
                </a:tc>
                <a:tc>
                  <a:txBody>
                    <a:bodyPr lIns="54864" rIns="54864" tIns="18288" bIns="18288" wrap="square" anchor="ctr"/>
                    <a:lstStyle/>
                    <a:p>
                      <a:pPr algn="l"/>
                      <a:r>
                        <a:rPr sz="900" b="0">
                          <a:solidFill>
                            <a:srgbClr val="000000"/>
                          </a:solidFill>
                          <a:latin typeface="Calibri"/>
                        </a:rPr>
                        <a:t>0.1581</a:t>
                      </a:r>
                    </a:p>
                  </a:txBody>
                  <a:tcPr/>
                </a:tc>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+8.88</a:t>
                      </a:r>
                    </a:p>
                  </a:txBody>
                  <a:tcPr/>
                </a:tc>
              </a:tr>
              <a:tr h="182880">
                <a:tc>
                  <a:txBody>
                    <a:bodyPr lIns="54864" rIns="54864" tIns="18288" bIns="18288" wrap="square" anchor="ctr"/>
                    <a:lstStyle/>
                    <a:p>
                      <a:pPr algn="l"/>
                      <a:r>
                        <a:rPr sz="900" b="0">
                          <a:solidFill>
                            <a:srgbClr val="000000"/>
                          </a:solidFill>
                          <a:latin typeface="Calibri"/>
                        </a:rPr>
                        <a:t>17.45</a:t>
                      </a:r>
                    </a:p>
                  </a:txBody>
                  <a:tcPr/>
                </a:tc>
                <a:tc>
                  <a:txBody>
                    <a:bodyPr lIns="54864" rIns="54864" tIns="18288" bIns="18288" wrap="square" anchor="ctr"/>
                    <a:lstStyle/>
                    <a:p>
                      <a:pPr algn="l"/>
                      <a:r>
                        <a:rPr sz="900" b="0">
                          <a:solidFill>
                            <a:srgbClr val="000000"/>
                          </a:solidFill>
                          <a:latin typeface="Calibri"/>
                        </a:rPr>
                        <a:t>0.1762</a:t>
                      </a:r>
                    </a:p>
                  </a:txBody>
                  <a:tcPr/>
                </a:tc>
                <a:tc>
                  <a:txBody>
                    <a:bodyPr lIns="54864" rIns="54864" tIns="18288" bIns="18288" wrap="square" anchor="ctr"/>
                    <a:lstStyle/>
                    <a:p>
                      <a:pPr algn="l"/>
                      <a:r>
                        <a:rPr sz="900" b="0">
                          <a:solidFill>
                            <a:srgbClr val="000000"/>
                          </a:solidFill>
                          <a:latin typeface="Calibri"/>
                        </a:rPr>
                        <a:t>0.1751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+0.63</a:t>
                      </a:r>
                    </a:p>
                  </a:txBody>
                  <a:tcPr/>
                </a:tc>
              </a:tr>
              <a:tr h="182880">
                <a:tc>
                  <a:txBody>
                    <a:bodyPr lIns="54864" rIns="54864" tIns="18288" bIns="18288" wrap="square" anchor="ctr"/>
                    <a:lstStyle/>
                    <a:p>
                      <a:pPr algn="l"/>
                      <a:r>
                        <a:rPr sz="900" b="0">
                          <a:solidFill>
                            <a:srgbClr val="000000"/>
                          </a:solidFill>
                          <a:latin typeface="Calibri"/>
                        </a:rPr>
                        <a:t>17.50</a:t>
                      </a:r>
                    </a:p>
                  </a:txBody>
                  <a:tcPr/>
                </a:tc>
                <a:tc>
                  <a:txBody>
                    <a:bodyPr lIns="54864" rIns="54864" tIns="18288" bIns="18288" wrap="square" anchor="ctr"/>
                    <a:lstStyle/>
                    <a:p>
                      <a:pPr algn="l"/>
                      <a:r>
                        <a:rPr sz="900" b="0">
                          <a:solidFill>
                            <a:srgbClr val="000000"/>
                          </a:solidFill>
                          <a:latin typeface="Calibri"/>
                        </a:rPr>
                        <a:t>0.1778</a:t>
                      </a:r>
                    </a:p>
                  </a:txBody>
                  <a:tcPr/>
                </a:tc>
                <a:tc>
                  <a:txBody>
                    <a:bodyPr lIns="54864" rIns="54864" tIns="18288" bIns="18288" wrap="square" anchor="ctr"/>
                    <a:lstStyle/>
                    <a:p>
                      <a:pPr algn="l"/>
                      <a:r>
                        <a:rPr sz="900" b="0">
                          <a:solidFill>
                            <a:srgbClr val="000000"/>
                          </a:solidFill>
                          <a:latin typeface="Calibri"/>
                        </a:rPr>
                        <a:t>0.1784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-0.31</a:t>
                      </a:r>
                    </a:p>
                  </a:txBody>
                  <a:tcPr/>
                </a:tc>
              </a:tr>
              <a:tr h="182880">
                <a:tc>
                  <a:txBody>
                    <a:bodyPr lIns="54864" rIns="54864" tIns="18288" bIns="18288" wrap="square" anchor="ctr"/>
                    <a:lstStyle/>
                    <a:p>
                      <a:pPr algn="l"/>
                      <a:r>
                        <a:rPr sz="900" b="0">
                          <a:solidFill>
                            <a:srgbClr val="000000"/>
                          </a:solidFill>
                          <a:latin typeface="Calibri"/>
                        </a:rPr>
                        <a:t>17.55</a:t>
                      </a:r>
                    </a:p>
                  </a:txBody>
                  <a:tcPr/>
                </a:tc>
                <a:tc>
                  <a:txBody>
                    <a:bodyPr lIns="54864" rIns="54864" tIns="18288" bIns="18288" wrap="square" anchor="ctr"/>
                    <a:lstStyle/>
                    <a:p>
                      <a:pPr algn="l"/>
                      <a:r>
                        <a:rPr sz="900" b="0">
                          <a:solidFill>
                            <a:srgbClr val="000000"/>
                          </a:solidFill>
                          <a:latin typeface="Calibri"/>
                        </a:rPr>
                        <a:t>0.1824</a:t>
                      </a:r>
                    </a:p>
                  </a:txBody>
                  <a:tcPr/>
                </a:tc>
                <a:tc>
                  <a:txBody>
                    <a:bodyPr lIns="54864" rIns="54864" tIns="18288" bIns="18288" wrap="square" anchor="ctr"/>
                    <a:lstStyle/>
                    <a:p>
                      <a:pPr algn="l"/>
                      <a:r>
                        <a:rPr sz="900" b="0">
                          <a:solidFill>
                            <a:srgbClr val="000000"/>
                          </a:solidFill>
                          <a:latin typeface="Calibri"/>
                        </a:rPr>
                        <a:t>0.1820</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17.60</a:t>
                      </a:r>
                    </a:p>
                  </a:txBody>
                  <a:tcPr/>
                </a:tc>
                <a:tc>
                  <a:txBody>
                    <a:bodyPr lIns="54864" rIns="54864" tIns="18288" bIns="18288" wrap="square" anchor="ctr"/>
                    <a:lstStyle/>
                    <a:p>
                      <a:pPr algn="l"/>
                      <a:r>
                        <a:rPr sz="900" b="0">
                          <a:solidFill>
                            <a:srgbClr val="000000"/>
                          </a:solidFill>
                          <a:latin typeface="Calibri"/>
                        </a:rPr>
                        <a:t>0.1864</a:t>
                      </a:r>
                    </a:p>
                  </a:txBody>
                  <a:tcPr/>
                </a:tc>
                <a:tc>
                  <a:txBody>
                    <a:bodyPr lIns="54864" rIns="54864" tIns="18288" bIns="18288" wrap="square" anchor="ctr"/>
                    <a:lstStyle/>
                    <a:p>
                      <a:pPr algn="l"/>
                      <a:r>
                        <a:rPr sz="900" b="0">
                          <a:solidFill>
                            <a:srgbClr val="000000"/>
                          </a:solidFill>
                          <a:latin typeface="Calibri"/>
                        </a:rPr>
                        <a:t>0.1859</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17.65</a:t>
                      </a:r>
                    </a:p>
                  </a:txBody>
                  <a:tcPr/>
                </a:tc>
                <a:tc>
                  <a:txBody>
                    <a:bodyPr lIns="54864" rIns="54864" tIns="18288" bIns="18288" wrap="square" anchor="ctr"/>
                    <a:lstStyle/>
                    <a:p>
                      <a:pPr algn="l"/>
                      <a:r>
                        <a:rPr sz="900" b="0">
                          <a:solidFill>
                            <a:srgbClr val="000000"/>
                          </a:solidFill>
                          <a:latin typeface="Calibri"/>
                        </a:rPr>
                        <a:t>0.1906</a:t>
                      </a:r>
                    </a:p>
                  </a:txBody>
                  <a:tcPr/>
                </a:tc>
                <a:tc>
                  <a:txBody>
                    <a:bodyPr lIns="54864" rIns="54864" tIns="18288" bIns="18288" wrap="square" anchor="ctr"/>
                    <a:lstStyle/>
                    <a:p>
                      <a:pPr algn="l"/>
                      <a:r>
                        <a:rPr sz="900" b="0">
                          <a:solidFill>
                            <a:srgbClr val="000000"/>
                          </a:solidFill>
                          <a:latin typeface="Calibri"/>
                        </a:rPr>
                        <a:t>0.1896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+0.55</a:t>
                      </a:r>
                    </a:p>
                  </a:txBody>
                  <a:tcPr/>
                </a:tc>
              </a:tr>
              <a:tr h="182880">
                <a:tc>
                  <a:txBody>
                    <a:bodyPr lIns="54864" rIns="54864" tIns="18288" bIns="18288" wrap="square" anchor="ctr"/>
                    <a:lstStyle/>
                    <a:p>
                      <a:pPr algn="l"/>
                      <a:r>
                        <a:rPr sz="900" b="0">
                          <a:solidFill>
                            <a:srgbClr val="000000"/>
                          </a:solidFill>
                          <a:latin typeface="Calibri"/>
                        </a:rPr>
                        <a:t>17.70</a:t>
                      </a:r>
                    </a:p>
                  </a:txBody>
                  <a:tcPr/>
                </a:tc>
                <a:tc>
                  <a:txBody>
                    <a:bodyPr lIns="54864" rIns="54864" tIns="18288" bIns="18288" wrap="square" anchor="ctr"/>
                    <a:lstStyle/>
                    <a:p>
                      <a:pPr algn="l"/>
                      <a:r>
                        <a:rPr sz="900" b="0">
                          <a:solidFill>
                            <a:srgbClr val="000000"/>
                          </a:solidFill>
                          <a:latin typeface="Calibri"/>
                        </a:rPr>
                        <a:t>0.1939</a:t>
                      </a:r>
                    </a:p>
                  </a:txBody>
                  <a:tcPr/>
                </a:tc>
                <a:tc>
                  <a:txBody>
                    <a:bodyPr lIns="54864" rIns="54864" tIns="18288" bIns="18288" wrap="square" anchor="ctr"/>
                    <a:lstStyle/>
                    <a:p>
                      <a:pPr algn="l"/>
                      <a:r>
                        <a:rPr sz="900" b="0">
                          <a:solidFill>
                            <a:srgbClr val="000000"/>
                          </a:solidFill>
                          <a:latin typeface="Calibri"/>
                        </a:rPr>
                        <a:t>0.1936</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17.75</a:t>
                      </a:r>
                    </a:p>
                  </a:txBody>
                  <a:tcPr/>
                </a:tc>
                <a:tc>
                  <a:txBody>
                    <a:bodyPr lIns="54864" rIns="54864" tIns="18288" bIns="18288" wrap="square" anchor="ctr"/>
                    <a:lstStyle/>
                    <a:p>
                      <a:pPr algn="l"/>
                      <a:r>
                        <a:rPr sz="900" b="0">
                          <a:solidFill>
                            <a:srgbClr val="000000"/>
                          </a:solidFill>
                          <a:latin typeface="Calibri"/>
                        </a:rPr>
                        <a:t>0.1984</a:t>
                      </a:r>
                    </a:p>
                  </a:txBody>
                  <a:tcPr/>
                </a:tc>
                <a:tc>
                  <a:txBody>
                    <a:bodyPr lIns="54864" rIns="54864" tIns="18288" bIns="18288" wrap="square" anchor="ctr"/>
                    <a:lstStyle/>
                    <a:p>
                      <a:pPr algn="l"/>
                      <a:r>
                        <a:rPr sz="900" b="0">
                          <a:solidFill>
                            <a:srgbClr val="000000"/>
                          </a:solidFill>
                          <a:latin typeface="Calibri"/>
                        </a:rPr>
                        <a:t>0.1971</a:t>
                      </a:r>
                    </a:p>
                  </a:txBody>
                  <a:tcPr/>
                </a:tc>
                <a:tc>
                  <a:txBody>
                    <a:bodyPr lIns="54864" rIns="54864" tIns="18288" bIns="18288" wrap="square" anchor="ctr"/>
                    <a:lstStyle/>
                    <a:p>
                      <a:pPr algn="l"/>
                      <a:r>
                        <a:rPr sz="900" b="0">
                          <a:solidFill>
                            <a:srgbClr val="000000"/>
                          </a:solidFill>
                          <a:latin typeface="Calibri"/>
                        </a:rPr>
                        <a:t>+14</a:t>
                      </a:r>
                    </a:p>
                  </a:txBody>
                  <a:tcPr/>
                </a:tc>
                <a:tc>
                  <a:txBody>
                    <a:bodyPr lIns="54864" rIns="54864" tIns="18288" bIns="18288" wrap="square" anchor="ctr"/>
                    <a:lstStyle/>
                    <a:p>
                      <a:pPr algn="l"/>
                      <a:r>
                        <a:rPr sz="900" b="0">
                          <a:solidFill>
                            <a:srgbClr val="000000"/>
                          </a:solidFill>
                          <a:latin typeface="Calibri"/>
                        </a:rPr>
                        <a:t>+0.69</a:t>
                      </a:r>
                    </a:p>
                  </a:txBody>
                  <a:tcPr/>
                </a:tc>
              </a:tr>
              <a:tr h="182880">
                <a:tc>
                  <a:txBody>
                    <a:bodyPr lIns="54864" rIns="54864" tIns="18288" bIns="18288" wrap="square" anchor="ctr"/>
                    <a:lstStyle/>
                    <a:p>
                      <a:pPr algn="l"/>
                      <a:r>
                        <a:rPr sz="900" b="0">
                          <a:solidFill>
                            <a:srgbClr val="000000"/>
                          </a:solidFill>
                          <a:latin typeface="Calibri"/>
                        </a:rPr>
                        <a:t>17.80</a:t>
                      </a:r>
                    </a:p>
                  </a:txBody>
                  <a:tcPr/>
                </a:tc>
                <a:tc>
                  <a:txBody>
                    <a:bodyPr lIns="54864" rIns="54864" tIns="18288" bIns="18288" wrap="square" anchor="ctr"/>
                    <a:lstStyle/>
                    <a:p>
                      <a:pPr algn="l"/>
                      <a:r>
                        <a:rPr sz="900" b="0">
                          <a:solidFill>
                            <a:srgbClr val="000000"/>
                          </a:solidFill>
                          <a:latin typeface="Calibri"/>
                        </a:rPr>
                        <a:t>0.2012</a:t>
                      </a:r>
                    </a:p>
                  </a:txBody>
                  <a:tcPr/>
                </a:tc>
                <a:tc>
                  <a:txBody>
                    <a:bodyPr lIns="54864" rIns="54864" tIns="18288" bIns="18288" wrap="square" anchor="ctr"/>
                    <a:lstStyle/>
                    <a:p>
                      <a:pPr algn="l"/>
                      <a:r>
                        <a:rPr sz="900" b="0">
                          <a:solidFill>
                            <a:srgbClr val="000000"/>
                          </a:solidFill>
                          <a:latin typeface="Calibri"/>
                        </a:rPr>
                        <a:t>0.2008</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17.85</a:t>
                      </a:r>
                    </a:p>
                  </a:txBody>
                  <a:tcPr/>
                </a:tc>
                <a:tc>
                  <a:txBody>
                    <a:bodyPr lIns="54864" rIns="54864" tIns="18288" bIns="18288" wrap="square" anchor="ctr"/>
                    <a:lstStyle/>
                    <a:p>
                      <a:pPr algn="l"/>
                      <a:r>
                        <a:rPr sz="900" b="0">
                          <a:solidFill>
                            <a:srgbClr val="000000"/>
                          </a:solidFill>
                          <a:latin typeface="Calibri"/>
                        </a:rPr>
                        <a:t>0.2054</a:t>
                      </a:r>
                    </a:p>
                  </a:txBody>
                  <a:tcPr/>
                </a:tc>
                <a:tc>
                  <a:txBody>
                    <a:bodyPr lIns="54864" rIns="54864" tIns="18288" bIns="18288" wrap="square" anchor="ctr"/>
                    <a:lstStyle/>
                    <a:p>
                      <a:pPr algn="l"/>
                      <a:r>
                        <a:rPr sz="900" b="0">
                          <a:solidFill>
                            <a:srgbClr val="000000"/>
                          </a:solidFill>
                          <a:latin typeface="Calibri"/>
                        </a:rPr>
                        <a:t>0.2048</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+0.27</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297</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(2 OF 2) — 0.209 TO 0.362 % STRAIN</a:t>
            </a:r>
          </a:p>
        </p:txBody>
      </p:sp>
      <p:sp>
        <p:nvSpPr>
          <p:cNvPr id="5" name="TextBox 4"/>
          <p:cNvSpPr txBox="1"/>
          <p:nvPr/>
        </p:nvSpPr>
        <p:spPr>
          <a:xfrm>
            <a:off x="502920" y="1024128"/>
            <a:ext cx="11338560" cy="274320"/>
          </a:xfrm>
          <a:prstGeom prst="rect">
            <a:avLst/>
          </a:prstGeom>
          <a:noFill/>
        </p:spPr>
        <p:txBody>
          <a:bodyPr wrap="square" lIns="45720" rIns="45720" tIns="18288" bIns="18288" anchor="t">
            <a:spAutoFit/>
          </a:bodyPr>
          <a:lstStyle/>
          <a:p>
            <a:pPr algn="l"/>
            <a:r>
              <a:rPr sz="1000" b="0" i="0">
                <a:solidFill>
                  <a:srgbClr val="000000"/>
                </a:solidFill>
                <a:latin typeface="Calibri"/>
              </a:rPr>
              <a:t>Continued — points 43 to 83 of 83. Same two columns, same raw values; see p297 for what each one is.</a:t>
            </a:r>
          </a:p>
        </p:txBody>
      </p:sp>
      <p:graphicFrame>
        <p:nvGraphicFramePr>
          <p:cNvPr id="6" name="Table 5"/>
          <p:cNvGraphicFramePr>
            <a:graphicFrameLocks noGrp="1"/>
          </p:cNvGraphicFramePr>
          <p:nvPr/>
        </p:nvGraphicFramePr>
        <p:xfrm>
          <a:off x="502920" y="1408176"/>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17.90</a:t>
                      </a:r>
                    </a:p>
                  </a:txBody>
                  <a:tcPr/>
                </a:tc>
                <a:tc>
                  <a:txBody>
                    <a:bodyPr lIns="54864" rIns="54864" tIns="18288" bIns="18288" wrap="square" anchor="ctr"/>
                    <a:lstStyle/>
                    <a:p>
                      <a:pPr algn="l"/>
                      <a:r>
                        <a:rPr sz="900" b="0">
                          <a:solidFill>
                            <a:srgbClr val="000000"/>
                          </a:solidFill>
                          <a:latin typeface="Calibri"/>
                        </a:rPr>
                        <a:t>0.2089</a:t>
                      </a:r>
                    </a:p>
                  </a:txBody>
                  <a:tcPr/>
                </a:tc>
                <a:tc>
                  <a:txBody>
                    <a:bodyPr lIns="54864" rIns="54864" tIns="18288" bIns="18288" wrap="square" anchor="ctr"/>
                    <a:lstStyle/>
                    <a:p>
                      <a:pPr algn="l"/>
                      <a:r>
                        <a:rPr sz="900" b="0">
                          <a:solidFill>
                            <a:srgbClr val="000000"/>
                          </a:solidFill>
                          <a:latin typeface="Calibri"/>
                        </a:rPr>
                        <a:t>0.2088</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17.95</a:t>
                      </a:r>
                    </a:p>
                  </a:txBody>
                  <a:tcPr/>
                </a:tc>
                <a:tc>
                  <a:txBody>
                    <a:bodyPr lIns="54864" rIns="54864" tIns="18288" bIns="18288" wrap="square" anchor="ctr"/>
                    <a:lstStyle/>
                    <a:p>
                      <a:pPr algn="l"/>
                      <a:r>
                        <a:rPr sz="900" b="0">
                          <a:solidFill>
                            <a:srgbClr val="000000"/>
                          </a:solidFill>
                          <a:latin typeface="Calibri"/>
                        </a:rPr>
                        <a:t>0.2124</a:t>
                      </a:r>
                    </a:p>
                  </a:txBody>
                  <a:tcPr/>
                </a:tc>
                <a:tc>
                  <a:txBody>
                    <a:bodyPr lIns="54864" rIns="54864" tIns="18288" bIns="18288" wrap="square" anchor="ctr"/>
                    <a:lstStyle/>
                    <a:p>
                      <a:pPr algn="l"/>
                      <a:r>
                        <a:rPr sz="900" b="0">
                          <a:solidFill>
                            <a:srgbClr val="000000"/>
                          </a:solidFill>
                          <a:latin typeface="Calibri"/>
                        </a:rPr>
                        <a:t>0.2123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+0.04</a:t>
                      </a:r>
                    </a:p>
                  </a:txBody>
                  <a:tcPr/>
                </a:tc>
              </a:tr>
              <a:tr h="182880">
                <a:tc>
                  <a:txBody>
                    <a:bodyPr lIns="54864" rIns="54864" tIns="18288" bIns="18288" wrap="square" anchor="ctr"/>
                    <a:lstStyle/>
                    <a:p>
                      <a:pPr algn="l"/>
                      <a:r>
                        <a:rPr sz="900" b="0">
                          <a:solidFill>
                            <a:srgbClr val="000000"/>
                          </a:solidFill>
                          <a:latin typeface="Calibri"/>
                        </a:rPr>
                        <a:t>18.00</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-0.02</a:t>
                      </a:r>
                    </a:p>
                  </a:txBody>
                  <a:tcPr/>
                </a:tc>
              </a:tr>
              <a:tr h="182880">
                <a:tc>
                  <a:txBody>
                    <a:bodyPr lIns="54864" rIns="54864" tIns="18288" bIns="18288" wrap="square" anchor="ctr"/>
                    <a:lstStyle/>
                    <a:p>
                      <a:pPr algn="l"/>
                      <a:r>
                        <a:rPr sz="900" b="0">
                          <a:solidFill>
                            <a:srgbClr val="000000"/>
                          </a:solidFill>
                          <a:latin typeface="Calibri"/>
                        </a:rPr>
                        <a:t>18.05</a:t>
                      </a:r>
                    </a:p>
                  </a:txBody>
                  <a:tcPr/>
                </a:tc>
                <a:tc>
                  <a:txBody>
                    <a:bodyPr lIns="54864" rIns="54864" tIns="18288" bIns="18288" wrap="square" anchor="ctr"/>
                    <a:lstStyle/>
                    <a:p>
                      <a:pPr algn="l"/>
                      <a:r>
                        <a:rPr sz="900" b="0">
                          <a:solidFill>
                            <a:srgbClr val="000000"/>
                          </a:solidFill>
                          <a:latin typeface="Calibri"/>
                        </a:rPr>
                        <a:t>0.2201</a:t>
                      </a:r>
                    </a:p>
                  </a:txBody>
                  <a:tcPr/>
                </a:tc>
                <a:tc>
                  <a:txBody>
                    <a:bodyPr lIns="54864" rIns="54864" tIns="18288" bIns="18288" wrap="square" anchor="ctr"/>
                    <a:lstStyle/>
                    <a:p>
                      <a:pPr algn="l"/>
                      <a:r>
                        <a:rPr sz="900" b="0">
                          <a:solidFill>
                            <a:srgbClr val="000000"/>
                          </a:solidFill>
                          <a:latin typeface="Calibri"/>
                        </a:rPr>
                        <a:t>0.2198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18.10</a:t>
                      </a:r>
                    </a:p>
                  </a:txBody>
                  <a:tcPr/>
                </a:tc>
                <a:tc>
                  <a:txBody>
                    <a:bodyPr lIns="54864" rIns="54864" tIns="18288" bIns="18288" wrap="square" anchor="ctr"/>
                    <a:lstStyle/>
                    <a:p>
                      <a:pPr algn="l"/>
                      <a:r>
                        <a:rPr sz="900" b="0">
                          <a:solidFill>
                            <a:srgbClr val="000000"/>
                          </a:solidFill>
                          <a:latin typeface="Calibri"/>
                        </a:rPr>
                        <a:t>0.2236</a:t>
                      </a:r>
                    </a:p>
                  </a:txBody>
                  <a:tcPr/>
                </a:tc>
                <a:tc>
                  <a:txBody>
                    <a:bodyPr lIns="54864" rIns="54864" tIns="18288" bIns="18288" wrap="square" anchor="ctr"/>
                    <a:lstStyle/>
                    <a:p>
                      <a:pPr algn="l"/>
                      <a:r>
                        <a:rPr sz="900" b="0">
                          <a:solidFill>
                            <a:srgbClr val="000000"/>
                          </a:solidFill>
                          <a:latin typeface="Calibri"/>
                        </a:rPr>
                        <a:t>0.2238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18.15</a:t>
                      </a:r>
                    </a:p>
                  </a:txBody>
                  <a:tcPr/>
                </a:tc>
                <a:tc>
                  <a:txBody>
                    <a:bodyPr lIns="54864" rIns="54864" tIns="18288" bIns="18288" wrap="square" anchor="ctr"/>
                    <a:lstStyle/>
                    <a:p>
                      <a:pPr algn="l"/>
                      <a:r>
                        <a:rPr sz="900" b="0">
                          <a:solidFill>
                            <a:srgbClr val="000000"/>
                          </a:solidFill>
                          <a:latin typeface="Calibri"/>
                        </a:rPr>
                        <a:t>0.2277</a:t>
                      </a:r>
                    </a:p>
                  </a:txBody>
                  <a:tcPr/>
                </a:tc>
                <a:tc>
                  <a:txBody>
                    <a:bodyPr lIns="54864" rIns="54864" tIns="18288" bIns="18288" wrap="square" anchor="ctr"/>
                    <a:lstStyle/>
                    <a:p>
                      <a:pPr algn="l"/>
                      <a:r>
                        <a:rPr sz="900" b="0">
                          <a:solidFill>
                            <a:srgbClr val="000000"/>
                          </a:solidFill>
                          <a:latin typeface="Calibri"/>
                        </a:rPr>
                        <a:t>0.2274</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18.20</a:t>
                      </a:r>
                    </a:p>
                  </a:txBody>
                  <a:tcPr/>
                </a:tc>
                <a:tc>
                  <a:txBody>
                    <a:bodyPr lIns="54864" rIns="54864" tIns="18288" bIns="18288" wrap="square" anchor="ctr"/>
                    <a:lstStyle/>
                    <a:p>
                      <a:pPr algn="l"/>
                      <a:r>
                        <a:rPr sz="900" b="0">
                          <a:solidFill>
                            <a:srgbClr val="000000"/>
                          </a:solidFill>
                          <a:latin typeface="Calibri"/>
                        </a:rPr>
                        <a:t>0.2320</a:t>
                      </a:r>
                    </a:p>
                  </a:txBody>
                  <a:tcPr/>
                </a:tc>
                <a:tc>
                  <a:txBody>
                    <a:bodyPr lIns="54864" rIns="54864" tIns="18288" bIns="18288" wrap="square" anchor="ctr"/>
                    <a:lstStyle/>
                    <a:p>
                      <a:pPr algn="l"/>
                      <a:r>
                        <a:rPr sz="900" b="0">
                          <a:solidFill>
                            <a:srgbClr val="000000"/>
                          </a:solidFill>
                          <a:latin typeface="Calibri"/>
                        </a:rPr>
                        <a:t>0.2318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18.25</a:t>
                      </a:r>
                    </a:p>
                  </a:txBody>
                  <a:tcPr/>
                </a:tc>
                <a:tc>
                  <a:txBody>
                    <a:bodyPr lIns="54864" rIns="54864" tIns="18288" bIns="18288" wrap="square" anchor="ctr"/>
                    <a:lstStyle/>
                    <a:p>
                      <a:pPr algn="l"/>
                      <a:r>
                        <a:rPr sz="900" b="0">
                          <a:solidFill>
                            <a:srgbClr val="000000"/>
                          </a:solidFill>
                          <a:latin typeface="Calibri"/>
                        </a:rPr>
                        <a:t>0.2362</a:t>
                      </a:r>
                    </a:p>
                  </a:txBody>
                  <a:tcPr/>
                </a:tc>
                <a:tc>
                  <a:txBody>
                    <a:bodyPr lIns="54864" rIns="54864" tIns="18288" bIns="18288" wrap="square" anchor="ctr"/>
                    <a:lstStyle/>
                    <a:p>
                      <a:pPr algn="l"/>
                      <a:r>
                        <a:rPr sz="900" b="0">
                          <a:solidFill>
                            <a:srgbClr val="000000"/>
                          </a:solidFill>
                          <a:latin typeface="Calibri"/>
                        </a:rPr>
                        <a:t>0.2351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+0.46</a:t>
                      </a:r>
                    </a:p>
                  </a:txBody>
                  <a:tcPr/>
                </a:tc>
              </a:tr>
              <a:tr h="182880">
                <a:tc>
                  <a:txBody>
                    <a:bodyPr lIns="54864" rIns="54864" tIns="18288" bIns="18288" wrap="square" anchor="ctr"/>
                    <a:lstStyle/>
                    <a:p>
                      <a:pPr algn="l"/>
                      <a:r>
                        <a:rPr sz="900" b="0">
                          <a:solidFill>
                            <a:srgbClr val="000000"/>
                          </a:solidFill>
                          <a:latin typeface="Calibri"/>
                        </a:rPr>
                        <a:t>18.30</a:t>
                      </a:r>
                    </a:p>
                  </a:txBody>
                  <a:tcPr/>
                </a:tc>
                <a:tc>
                  <a:txBody>
                    <a:bodyPr lIns="54864" rIns="54864" tIns="18288" bIns="18288" wrap="square" anchor="ctr"/>
                    <a:lstStyle/>
                    <a:p>
                      <a:pPr algn="l"/>
                      <a:r>
                        <a:rPr sz="900" b="0">
                          <a:solidFill>
                            <a:srgbClr val="000000"/>
                          </a:solidFill>
                          <a:latin typeface="Calibri"/>
                        </a:rPr>
                        <a:t>0.2400</a:t>
                      </a:r>
                    </a:p>
                  </a:txBody>
                  <a:tcPr/>
                </a:tc>
                <a:tc>
                  <a:txBody>
                    <a:bodyPr lIns="54864" rIns="54864" tIns="18288" bIns="18288" wrap="square" anchor="ctr"/>
                    <a:lstStyle/>
                    <a:p>
                      <a:pPr algn="l"/>
                      <a:r>
                        <a:rPr sz="900" b="0">
                          <a:solidFill>
                            <a:srgbClr val="000000"/>
                          </a:solidFill>
                          <a:latin typeface="Calibri"/>
                        </a:rPr>
                        <a:t>0.2391</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18.35</a:t>
                      </a:r>
                    </a:p>
                  </a:txBody>
                  <a:tcPr/>
                </a:tc>
                <a:tc>
                  <a:txBody>
                    <a:bodyPr lIns="54864" rIns="54864" tIns="18288" bIns="18288" wrap="square" anchor="ctr"/>
                    <a:lstStyle/>
                    <a:p>
                      <a:pPr algn="l"/>
                      <a:r>
                        <a:rPr sz="900" b="0">
                          <a:solidFill>
                            <a:srgbClr val="000000"/>
                          </a:solidFill>
                          <a:latin typeface="Calibri"/>
                        </a:rPr>
                        <a:t>0.2439</a:t>
                      </a:r>
                    </a:p>
                  </a:txBody>
                  <a:tcPr/>
                </a:tc>
                <a:tc>
                  <a:txBody>
                    <a:bodyPr lIns="54864" rIns="54864" tIns="18288" bIns="18288" wrap="square" anchor="ctr"/>
                    <a:lstStyle/>
                    <a:p>
                      <a:pPr algn="l"/>
                      <a:r>
                        <a:rPr sz="900" b="0">
                          <a:solidFill>
                            <a:srgbClr val="000000"/>
                          </a:solidFill>
                          <a:latin typeface="Calibri"/>
                        </a:rPr>
                        <a:t>0.2429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18.40</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-0.03</a:t>
                      </a:r>
                    </a:p>
                  </a:txBody>
                  <a:tcPr/>
                </a:tc>
              </a:tr>
              <a:tr h="182880">
                <a:tc>
                  <a:txBody>
                    <a:bodyPr lIns="54864" rIns="54864" tIns="18288" bIns="18288" wrap="square" anchor="ctr"/>
                    <a:lstStyle/>
                    <a:p>
                      <a:pPr algn="l"/>
                      <a:r>
                        <a:rPr sz="900" b="0">
                          <a:solidFill>
                            <a:srgbClr val="000000"/>
                          </a:solidFill>
                          <a:latin typeface="Calibri"/>
                        </a:rPr>
                        <a:t>18.45</a:t>
                      </a:r>
                    </a:p>
                  </a:txBody>
                  <a:tcPr/>
                </a:tc>
                <a:tc>
                  <a:txBody>
                    <a:bodyPr lIns="54864" rIns="54864" tIns="18288" bIns="18288" wrap="square" anchor="ctr"/>
                    <a:lstStyle/>
                    <a:p>
                      <a:pPr algn="l"/>
                      <a:r>
                        <a:rPr sz="900" b="0">
                          <a:solidFill>
                            <a:srgbClr val="000000"/>
                          </a:solidFill>
                          <a:latin typeface="Calibri"/>
                        </a:rPr>
                        <a:t>0.2506</a:t>
                      </a:r>
                    </a:p>
                  </a:txBody>
                  <a:tcPr/>
                </a:tc>
                <a:tc>
                  <a:txBody>
                    <a:bodyPr lIns="54864" rIns="54864" tIns="18288" bIns="18288" wrap="square" anchor="ctr"/>
                    <a:lstStyle/>
                    <a:p>
                      <a:pPr algn="l"/>
                      <a:r>
                        <a:rPr sz="900" b="0">
                          <a:solidFill>
                            <a:srgbClr val="000000"/>
                          </a:solidFill>
                          <a:latin typeface="Calibri"/>
                        </a:rPr>
                        <a:t>0.2503</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+0.12</a:t>
                      </a:r>
                    </a:p>
                  </a:txBody>
                  <a:tcPr/>
                </a:tc>
              </a:tr>
              <a:tr h="182880">
                <a:tc>
                  <a:txBody>
                    <a:bodyPr lIns="54864" rIns="54864" tIns="18288" bIns="18288" wrap="square" anchor="ctr"/>
                    <a:lstStyle/>
                    <a:p>
                      <a:pPr algn="l"/>
                      <a:r>
                        <a:rPr sz="900" b="0">
                          <a:solidFill>
                            <a:srgbClr val="000000"/>
                          </a:solidFill>
                          <a:latin typeface="Calibri"/>
                        </a:rPr>
                        <a:t>18.50</a:t>
                      </a:r>
                    </a:p>
                  </a:txBody>
                  <a:tcPr/>
                </a:tc>
                <a:tc>
                  <a:txBody>
                    <a:bodyPr lIns="54864" rIns="54864" tIns="18288" bIns="18288" wrap="square" anchor="ctr"/>
                    <a:lstStyle/>
                    <a:p>
                      <a:pPr algn="l"/>
                      <a:r>
                        <a:rPr sz="900" b="0">
                          <a:solidFill>
                            <a:srgbClr val="000000"/>
                          </a:solidFill>
                          <a:latin typeface="Calibri"/>
                        </a:rPr>
                        <a:t>0.2546</a:t>
                      </a:r>
                    </a:p>
                  </a:txBody>
                  <a:tcPr/>
                </a:tc>
                <a:tc>
                  <a:txBody>
                    <a:bodyPr lIns="54864" rIns="54864" tIns="18288" bIns="18288" wrap="square" anchor="ctr"/>
                    <a:lstStyle/>
                    <a:p>
                      <a:pPr algn="l"/>
                      <a:r>
                        <a:rPr sz="900" b="0">
                          <a:solidFill>
                            <a:srgbClr val="000000"/>
                          </a:solidFill>
                          <a:latin typeface="Calibri"/>
                        </a:rPr>
                        <a:t>0.2541</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18.55</a:t>
                      </a:r>
                    </a:p>
                  </a:txBody>
                  <a:tcPr/>
                </a:tc>
                <a:tc>
                  <a:txBody>
                    <a:bodyPr lIns="54864" rIns="54864" tIns="18288" bIns="18288" wrap="square" anchor="ctr"/>
                    <a:lstStyle/>
                    <a:p>
                      <a:pPr algn="l"/>
                      <a:r>
                        <a:rPr sz="900" b="0">
                          <a:solidFill>
                            <a:srgbClr val="000000"/>
                          </a:solidFill>
                          <a:latin typeface="Calibri"/>
                        </a:rPr>
                        <a:t>0.2591</a:t>
                      </a:r>
                    </a:p>
                  </a:txBody>
                  <a:tcPr/>
                </a:tc>
                <a:tc>
                  <a:txBody>
                    <a:bodyPr lIns="54864" rIns="54864" tIns="18288" bIns="18288" wrap="square" anchor="ctr"/>
                    <a:lstStyle/>
                    <a:p>
                      <a:pPr algn="l"/>
                      <a:r>
                        <a:rPr sz="900" b="0">
                          <a:solidFill>
                            <a:srgbClr val="000000"/>
                          </a:solidFill>
                          <a:latin typeface="Calibri"/>
                        </a:rPr>
                        <a:t>0.2581</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18.60</a:t>
                      </a:r>
                    </a:p>
                  </a:txBody>
                  <a:tcPr/>
                </a:tc>
                <a:tc>
                  <a:txBody>
                    <a:bodyPr lIns="54864" rIns="54864" tIns="18288" bIns="18288" wrap="square" anchor="ctr"/>
                    <a:lstStyle/>
                    <a:p>
                      <a:pPr algn="l"/>
                      <a:r>
                        <a:rPr sz="900" b="0">
                          <a:solidFill>
                            <a:srgbClr val="000000"/>
                          </a:solidFill>
                          <a:latin typeface="Calibri"/>
                        </a:rPr>
                        <a:t>0.2631</a:t>
                      </a:r>
                    </a:p>
                  </a:txBody>
                  <a:tcPr/>
                </a:tc>
                <a:tc>
                  <a:txBody>
                    <a:bodyPr lIns="54864" rIns="54864" tIns="18288" bIns="18288" wrap="square" anchor="ctr"/>
                    <a:lstStyle/>
                    <a:p>
                      <a:pPr algn="l"/>
                      <a:r>
                        <a:rPr sz="900" b="0">
                          <a:solidFill>
                            <a:srgbClr val="000000"/>
                          </a:solidFill>
                          <a:latin typeface="Calibri"/>
                        </a:rPr>
                        <a:t>0.2624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0.2669</a:t>
                      </a:r>
                    </a:p>
                  </a:txBody>
                  <a:tcPr/>
                </a:tc>
                <a:tc>
                  <a:txBody>
                    <a:bodyPr lIns="54864" rIns="54864" tIns="18288" bIns="18288" wrap="square" anchor="ctr"/>
                    <a:lstStyle/>
                    <a:p>
                      <a:pPr algn="l"/>
                      <a:r>
                        <a:rPr sz="900" b="0">
                          <a:solidFill>
                            <a:srgbClr val="000000"/>
                          </a:solidFill>
                          <a:latin typeface="Calibri"/>
                        </a:rPr>
                        <a:t>0.2659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+0.36</a:t>
                      </a:r>
                    </a:p>
                  </a:txBody>
                  <a:tcPr/>
                </a:tc>
              </a:tr>
              <a:tr h="182880">
                <a:tc>
                  <a:txBody>
                    <a:bodyPr lIns="54864" rIns="54864" tIns="18288" bIns="18288" wrap="square" anchor="ctr"/>
                    <a:lstStyle/>
                    <a:p>
                      <a:pPr algn="l"/>
                      <a:r>
                        <a:rPr sz="900" b="0">
                          <a:solidFill>
                            <a:srgbClr val="000000"/>
                          </a:solidFill>
                          <a:latin typeface="Calibri"/>
                        </a:rPr>
                        <a:t>18.70</a:t>
                      </a:r>
                    </a:p>
                  </a:txBody>
                  <a:tcPr/>
                </a:tc>
                <a:tc>
                  <a:txBody>
                    <a:bodyPr lIns="54864" rIns="54864" tIns="18288" bIns="18288" wrap="square" anchor="ctr"/>
                    <a:lstStyle/>
                    <a:p>
                      <a:pPr algn="l"/>
                      <a:r>
                        <a:rPr sz="900" b="0">
                          <a:solidFill>
                            <a:srgbClr val="000000"/>
                          </a:solidFill>
                          <a:latin typeface="Calibri"/>
                        </a:rPr>
                        <a:t>0.2701</a:t>
                      </a:r>
                    </a:p>
                  </a:txBody>
                  <a:tcPr/>
                </a:tc>
                <a:tc>
                  <a:txBody>
                    <a:bodyPr lIns="54864" rIns="54864" tIns="18288" bIns="18288" wrap="square" anchor="ctr"/>
                    <a:lstStyle/>
                    <a:p>
                      <a:pPr algn="l"/>
                      <a:r>
                        <a:rPr sz="900" b="0">
                          <a:solidFill>
                            <a:srgbClr val="000000"/>
                          </a:solidFill>
                          <a:latin typeface="Calibri"/>
                        </a:rPr>
                        <a:t>0.2694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18.75</a:t>
                      </a:r>
                    </a:p>
                  </a:txBody>
                  <a:tcPr/>
                </a:tc>
                <a:tc>
                  <a:txBody>
                    <a:bodyPr lIns="54864" rIns="54864" tIns="18288" bIns="18288" wrap="square" anchor="ctr"/>
                    <a:lstStyle/>
                    <a:p>
                      <a:pPr algn="l"/>
                      <a:r>
                        <a:rPr sz="900" b="0">
                          <a:solidFill>
                            <a:srgbClr val="000000"/>
                          </a:solidFill>
                          <a:latin typeface="Calibri"/>
                        </a:rPr>
                        <a:t>0.2737</a:t>
                      </a:r>
                    </a:p>
                  </a:txBody>
                  <a:tcPr/>
                </a:tc>
                <a:tc>
                  <a:txBody>
                    <a:bodyPr lIns="54864" rIns="54864" tIns="18288" bIns="18288" wrap="square" anchor="ctr"/>
                    <a:lstStyle/>
                    <a:p>
                      <a:pPr algn="l"/>
                      <a:r>
                        <a:rPr sz="900" b="0">
                          <a:solidFill>
                            <a:srgbClr val="000000"/>
                          </a:solidFill>
                          <a:latin typeface="Calibri"/>
                        </a:rPr>
                        <a:t>0.2735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18.80</a:t>
                      </a:r>
                    </a:p>
                  </a:txBody>
                  <a:tcPr/>
                </a:tc>
                <a:tc>
                  <a:txBody>
                    <a:bodyPr lIns="54864" rIns="54864" tIns="18288" bIns="18288" wrap="square" anchor="ctr"/>
                    <a:lstStyle/>
                    <a:p>
                      <a:pPr algn="l"/>
                      <a:r>
                        <a:rPr sz="900" b="0">
                          <a:solidFill>
                            <a:srgbClr val="000000"/>
                          </a:solidFill>
                          <a:latin typeface="Calibri"/>
                        </a:rPr>
                        <a:t>0.2780</a:t>
                      </a:r>
                    </a:p>
                  </a:txBody>
                  <a:tcPr/>
                </a:tc>
                <a:tc>
                  <a:txBody>
                    <a:bodyPr lIns="54864" rIns="54864" tIns="18288" bIns="18288" wrap="square" anchor="ctr"/>
                    <a:lstStyle/>
                    <a:p>
                      <a:pPr algn="l"/>
                      <a:r>
                        <a:rPr sz="900" b="0">
                          <a:solidFill>
                            <a:srgbClr val="000000"/>
                          </a:solidFill>
                          <a:latin typeface="Calibri"/>
                        </a:rPr>
                        <a:t>0.2773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+0.25</a:t>
                      </a:r>
                    </a:p>
                  </a:txBody>
                  <a:tcPr/>
                </a:tc>
              </a:tr>
              <a:tr h="182880">
                <a:tc>
                  <a:txBody>
                    <a:bodyPr lIns="54864" rIns="54864" tIns="18288" bIns="18288" wrap="square" anchor="ctr"/>
                    <a:lstStyle/>
                    <a:p>
                      <a:pPr algn="l"/>
                      <a:r>
                        <a:rPr sz="900" b="0">
                          <a:solidFill>
                            <a:srgbClr val="000000"/>
                          </a:solidFill>
                          <a:latin typeface="Calibri"/>
                        </a:rPr>
                        <a:t>18.85</a:t>
                      </a:r>
                    </a:p>
                  </a:txBody>
                  <a:tcPr/>
                </a:tc>
                <a:tc>
                  <a:txBody>
                    <a:bodyPr lIns="54864" rIns="54864" tIns="18288" bIns="18288" wrap="square" anchor="ctr"/>
                    <a:lstStyle/>
                    <a:p>
                      <a:pPr algn="l"/>
                      <a:r>
                        <a:rPr sz="900" b="0">
                          <a:solidFill>
                            <a:srgbClr val="000000"/>
                          </a:solidFill>
                          <a:latin typeface="Calibri"/>
                        </a:rPr>
                        <a:t>0.2814</a:t>
                      </a:r>
                    </a:p>
                  </a:txBody>
                  <a:tcPr/>
                </a:tc>
                <a:tc>
                  <a:txBody>
                    <a:bodyPr lIns="54864" rIns="54864" tIns="18288" bIns="18288" wrap="square" anchor="ctr"/>
                    <a:lstStyle/>
                    <a:p>
                      <a:pPr algn="l"/>
                      <a:r>
                        <a:rPr sz="900" b="0">
                          <a:solidFill>
                            <a:srgbClr val="000000"/>
                          </a:solidFill>
                          <a:latin typeface="Calibri"/>
                        </a:rPr>
                        <a:t>0.2806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18.90</a:t>
                      </a:r>
                    </a:p>
                  </a:txBody>
                  <a:tcPr/>
                </a:tc>
                <a:tc>
                  <a:txBody>
                    <a:bodyPr lIns="54864" rIns="54864" tIns="18288" bIns="18288" wrap="square" anchor="ctr"/>
                    <a:lstStyle/>
                    <a:p>
                      <a:pPr algn="l"/>
                      <a:r>
                        <a:rPr sz="900" b="0">
                          <a:solidFill>
                            <a:srgbClr val="000000"/>
                          </a:solidFill>
                          <a:latin typeface="Calibri"/>
                        </a:rPr>
                        <a:t>0.2857</a:t>
                      </a:r>
                    </a:p>
                  </a:txBody>
                  <a:tcPr/>
                </a:tc>
                <a:tc>
                  <a:txBody>
                    <a:bodyPr lIns="54864" rIns="54864" tIns="18288" bIns="18288" wrap="square" anchor="ctr"/>
                    <a:lstStyle/>
                    <a:p>
                      <a:pPr algn="l"/>
                      <a:r>
                        <a:rPr sz="900" b="0">
                          <a:solidFill>
                            <a:srgbClr val="000000"/>
                          </a:solidFill>
                          <a:latin typeface="Calibri"/>
                        </a:rPr>
                        <a:t>0.2846</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+0.39</a:t>
                      </a:r>
                    </a:p>
                  </a:txBody>
                  <a:tcPr/>
                </a:tc>
              </a:tr>
            </a:tbl>
          </a:graphicData>
        </a:graphic>
      </p:graphicFrame>
      <p:graphicFrame>
        <p:nvGraphicFramePr>
          <p:cNvPr id="7" name="Table 6"/>
          <p:cNvGraphicFramePr>
            <a:graphicFrameLocks noGrp="1"/>
          </p:cNvGraphicFramePr>
          <p:nvPr/>
        </p:nvGraphicFramePr>
        <p:xfrm>
          <a:off x="6217920" y="1408176"/>
          <a:ext cx="5394960" cy="384048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18.95</a:t>
                      </a:r>
                    </a:p>
                  </a:txBody>
                  <a:tcPr/>
                </a:tc>
                <a:tc>
                  <a:txBody>
                    <a:bodyPr lIns="54864" rIns="54864" tIns="18288" bIns="18288" wrap="square" anchor="ctr"/>
                    <a:lstStyle/>
                    <a:p>
                      <a:pPr algn="l"/>
                      <a:r>
                        <a:rPr sz="900" b="0">
                          <a:solidFill>
                            <a:srgbClr val="000000"/>
                          </a:solidFill>
                          <a:latin typeface="Calibri"/>
                        </a:rPr>
                        <a:t>0.2898</a:t>
                      </a:r>
                    </a:p>
                  </a:txBody>
                  <a:tcPr/>
                </a:tc>
                <a:tc>
                  <a:txBody>
                    <a:bodyPr lIns="54864" rIns="54864" tIns="18288" bIns="18288" wrap="square" anchor="ctr"/>
                    <a:lstStyle/>
                    <a:p>
                      <a:pPr algn="l"/>
                      <a:r>
                        <a:rPr sz="900" b="0">
                          <a:solidFill>
                            <a:srgbClr val="000000"/>
                          </a:solidFill>
                          <a:latin typeface="Calibri"/>
                        </a:rPr>
                        <a:t>0.2888</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19.00</a:t>
                      </a:r>
                    </a:p>
                  </a:txBody>
                  <a:tcPr/>
                </a:tc>
                <a:tc>
                  <a:txBody>
                    <a:bodyPr lIns="54864" rIns="54864" tIns="18288" bIns="18288" wrap="square" anchor="ctr"/>
                    <a:lstStyle/>
                    <a:p>
                      <a:pPr algn="l"/>
                      <a:r>
                        <a:rPr sz="900" b="0">
                          <a:solidFill>
                            <a:srgbClr val="000000"/>
                          </a:solidFill>
                          <a:latin typeface="Calibri"/>
                        </a:rPr>
                        <a:t>0.2929</a:t>
                      </a:r>
                    </a:p>
                  </a:txBody>
                  <a:tcPr/>
                </a:tc>
                <a:tc>
                  <a:txBody>
                    <a:bodyPr lIns="54864" rIns="54864" tIns="18288" bIns="18288" wrap="square" anchor="ctr"/>
                    <a:lstStyle/>
                    <a:p>
                      <a:pPr algn="l"/>
                      <a:r>
                        <a:rPr sz="900" b="0">
                          <a:solidFill>
                            <a:srgbClr val="000000"/>
                          </a:solidFill>
                          <a:latin typeface="Calibri"/>
                        </a:rPr>
                        <a:t>0.2927</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19.05</a:t>
                      </a:r>
                    </a:p>
                  </a:txBody>
                  <a:tcPr/>
                </a:tc>
                <a:tc>
                  <a:txBody>
                    <a:bodyPr lIns="54864" rIns="54864" tIns="18288" bIns="18288" wrap="square" anchor="ctr"/>
                    <a:lstStyle/>
                    <a:p>
                      <a:pPr algn="l"/>
                      <a:r>
                        <a:rPr sz="900" b="0">
                          <a:solidFill>
                            <a:srgbClr val="000000"/>
                          </a:solidFill>
                          <a:latin typeface="Calibri"/>
                        </a:rPr>
                        <a:t>0.2967</a:t>
                      </a:r>
                    </a:p>
                  </a:txBody>
                  <a:tcPr/>
                </a:tc>
                <a:tc>
                  <a:txBody>
                    <a:bodyPr lIns="54864" rIns="54864" tIns="18288" bIns="18288" wrap="square" anchor="ctr"/>
                    <a:lstStyle/>
                    <a:p>
                      <a:pPr algn="l"/>
                      <a:r>
                        <a:rPr sz="900" b="0">
                          <a:solidFill>
                            <a:srgbClr val="000000"/>
                          </a:solidFill>
                          <a:latin typeface="Calibri"/>
                        </a:rPr>
                        <a:t>0.2962</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19.10</a:t>
                      </a:r>
                    </a:p>
                  </a:txBody>
                  <a:tcPr/>
                </a:tc>
                <a:tc>
                  <a:txBody>
                    <a:bodyPr lIns="54864" rIns="54864" tIns="18288" bIns="18288" wrap="square" anchor="ctr"/>
                    <a:lstStyle/>
                    <a:p>
                      <a:pPr algn="l"/>
                      <a:r>
                        <a:rPr sz="900" b="0">
                          <a:solidFill>
                            <a:srgbClr val="000000"/>
                          </a:solidFill>
                          <a:latin typeface="Calibri"/>
                        </a:rPr>
                        <a:t>0.3009</a:t>
                      </a:r>
                    </a:p>
                  </a:txBody>
                  <a:tcPr/>
                </a:tc>
                <a:tc>
                  <a:txBody>
                    <a:bodyPr lIns="54864" rIns="54864" tIns="18288" bIns="18288" wrap="square" anchor="ctr"/>
                    <a:lstStyle/>
                    <a:p>
                      <a:pPr algn="l"/>
                      <a:r>
                        <a:rPr sz="900" b="0">
                          <a:solidFill>
                            <a:srgbClr val="000000"/>
                          </a:solidFill>
                          <a:latin typeface="Calibri"/>
                        </a:rPr>
                        <a:t>0.2999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+0.34</a:t>
                      </a:r>
                    </a:p>
                  </a:txBody>
                  <a:tcPr/>
                </a:tc>
              </a:tr>
              <a:tr h="182880">
                <a:tc>
                  <a:txBody>
                    <a:bodyPr lIns="54864" rIns="54864" tIns="18288" bIns="18288" wrap="square" anchor="ctr"/>
                    <a:lstStyle/>
                    <a:p>
                      <a:pPr algn="l"/>
                      <a:r>
                        <a:rPr sz="900" b="0">
                          <a:solidFill>
                            <a:srgbClr val="000000"/>
                          </a:solidFill>
                          <a:latin typeface="Calibri"/>
                        </a:rPr>
                        <a:t>19.15</a:t>
                      </a:r>
                    </a:p>
                  </a:txBody>
                  <a:tcPr/>
                </a:tc>
                <a:tc>
                  <a:txBody>
                    <a:bodyPr lIns="54864" rIns="54864" tIns="18288" bIns="18288" wrap="square" anchor="ctr"/>
                    <a:lstStyle/>
                    <a:p>
                      <a:pPr algn="l"/>
                      <a:r>
                        <a:rPr sz="900" b="0">
                          <a:solidFill>
                            <a:srgbClr val="000000"/>
                          </a:solidFill>
                          <a:latin typeface="Calibri"/>
                        </a:rPr>
                        <a:t>0.3051</a:t>
                      </a:r>
                    </a:p>
                  </a:txBody>
                  <a:tcPr/>
                </a:tc>
                <a:tc>
                  <a:txBody>
                    <a:bodyPr lIns="54864" rIns="54864" tIns="18288" bIns="18288" wrap="square" anchor="ctr"/>
                    <a:lstStyle/>
                    <a:p>
                      <a:pPr algn="l"/>
                      <a:r>
                        <a:rPr sz="900" b="0">
                          <a:solidFill>
                            <a:srgbClr val="000000"/>
                          </a:solidFill>
                          <a:latin typeface="Calibri"/>
                        </a:rPr>
                        <a:t>0.3039</a:t>
                      </a:r>
                    </a:p>
                  </a:txBody>
                  <a:tcPr/>
                </a:tc>
                <a:tc>
                  <a:txBody>
                    <a:bodyPr lIns="54864" rIns="54864" tIns="18288" bIns="18288" wrap="square" anchor="ctr"/>
                    <a:lstStyle/>
                    <a:p>
                      <a:pPr algn="l"/>
                      <a:r>
                        <a:rPr sz="900" b="0">
                          <a:solidFill>
                            <a:srgbClr val="000000"/>
                          </a:solidFill>
                          <a:latin typeface="Calibri"/>
                        </a:rPr>
                        <a:t>+12</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19.20</a:t>
                      </a:r>
                    </a:p>
                  </a:txBody>
                  <a:tcPr/>
                </a:tc>
                <a:tc>
                  <a:txBody>
                    <a:bodyPr lIns="54864" rIns="54864" tIns="18288" bIns="18288" wrap="square" anchor="ctr"/>
                    <a:lstStyle/>
                    <a:p>
                      <a:pPr algn="l"/>
                      <a:r>
                        <a:rPr sz="900" b="0">
                          <a:solidFill>
                            <a:srgbClr val="000000"/>
                          </a:solidFill>
                          <a:latin typeface="Calibri"/>
                        </a:rPr>
                        <a:t>0.3084</a:t>
                      </a:r>
                    </a:p>
                  </a:txBody>
                  <a:tcPr/>
                </a:tc>
                <a:tc>
                  <a:txBody>
                    <a:bodyPr lIns="54864" rIns="54864" tIns="18288" bIns="18288" wrap="square" anchor="ctr"/>
                    <a:lstStyle/>
                    <a:p>
                      <a:pPr algn="l"/>
                      <a:r>
                        <a:rPr sz="900" b="0">
                          <a:solidFill>
                            <a:srgbClr val="000000"/>
                          </a:solidFill>
                          <a:latin typeface="Calibri"/>
                        </a:rPr>
                        <a:t>0.3076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19.25</a:t>
                      </a:r>
                    </a:p>
                  </a:txBody>
                  <a:tcPr/>
                </a:tc>
                <a:tc>
                  <a:txBody>
                    <a:bodyPr lIns="54864" rIns="54864" tIns="18288" bIns="18288" wrap="square" anchor="ctr"/>
                    <a:lstStyle/>
                    <a:p>
                      <a:pPr algn="l"/>
                      <a:r>
                        <a:rPr sz="900" b="0">
                          <a:solidFill>
                            <a:srgbClr val="000000"/>
                          </a:solidFill>
                          <a:latin typeface="Calibri"/>
                        </a:rPr>
                        <a:t>0.3117</a:t>
                      </a:r>
                    </a:p>
                  </a:txBody>
                  <a:tcPr/>
                </a:tc>
                <a:tc>
                  <a:txBody>
                    <a:bodyPr lIns="54864" rIns="54864" tIns="18288" bIns="18288" wrap="square" anchor="ctr"/>
                    <a:lstStyle/>
                    <a:p>
                      <a:pPr algn="l"/>
                      <a:r>
                        <a:rPr sz="900" b="0">
                          <a:solidFill>
                            <a:srgbClr val="000000"/>
                          </a:solidFill>
                          <a:latin typeface="Calibri"/>
                        </a:rPr>
                        <a:t>0.3113</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19.30</a:t>
                      </a:r>
                    </a:p>
                  </a:txBody>
                  <a:tcPr/>
                </a:tc>
                <a:tc>
                  <a:txBody>
                    <a:bodyPr lIns="54864" rIns="54864" tIns="18288" bIns="18288" wrap="square" anchor="ctr"/>
                    <a:lstStyle/>
                    <a:p>
                      <a:pPr algn="l"/>
                      <a:r>
                        <a:rPr sz="900" b="0">
                          <a:solidFill>
                            <a:srgbClr val="000000"/>
                          </a:solidFill>
                          <a:latin typeface="Calibri"/>
                        </a:rPr>
                        <a:t>0.3160</a:t>
                      </a:r>
                    </a:p>
                  </a:txBody>
                  <a:tcPr/>
                </a:tc>
                <a:tc>
                  <a:txBody>
                    <a:bodyPr lIns="54864" rIns="54864" tIns="18288" bIns="18288" wrap="square" anchor="ctr"/>
                    <a:lstStyle/>
                    <a:p>
                      <a:pPr algn="l"/>
                      <a:r>
                        <a:rPr sz="900" b="0">
                          <a:solidFill>
                            <a:srgbClr val="000000"/>
                          </a:solidFill>
                          <a:latin typeface="Calibri"/>
                        </a:rPr>
                        <a:t>0.3155</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19.35</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-0.01</a:t>
                      </a:r>
                    </a:p>
                  </a:txBody>
                  <a:tcPr/>
                </a:tc>
              </a:tr>
              <a:tr h="182880">
                <a:tc>
                  <a:txBody>
                    <a:bodyPr lIns="54864" rIns="54864" tIns="18288" bIns="18288" wrap="square" anchor="ctr"/>
                    <a:lstStyle/>
                    <a:p>
                      <a:pPr algn="l"/>
                      <a:r>
                        <a:rPr sz="900" b="0">
                          <a:solidFill>
                            <a:srgbClr val="000000"/>
                          </a:solidFill>
                          <a:latin typeface="Calibri"/>
                        </a:rPr>
                        <a:t>19.40</a:t>
                      </a:r>
                    </a:p>
                  </a:txBody>
                  <a:tcPr/>
                </a:tc>
                <a:tc>
                  <a:txBody>
                    <a:bodyPr lIns="54864" rIns="54864" tIns="18288" bIns="18288" wrap="square" anchor="ctr"/>
                    <a:lstStyle/>
                    <a:p>
                      <a:pPr algn="l"/>
                      <a:r>
                        <a:rPr sz="900" b="0">
                          <a:solidFill>
                            <a:srgbClr val="000000"/>
                          </a:solidFill>
                          <a:latin typeface="Calibri"/>
                        </a:rPr>
                        <a:t>0.3234</a:t>
                      </a:r>
                    </a:p>
                  </a:txBody>
                  <a:tcPr/>
                </a:tc>
                <a:tc>
                  <a:txBody>
                    <a:bodyPr lIns="54864" rIns="54864" tIns="18288" bIns="18288" wrap="square" anchor="ctr"/>
                    <a:lstStyle/>
                    <a:p>
                      <a:pPr algn="l"/>
                      <a:r>
                        <a:rPr sz="900" b="0">
                          <a:solidFill>
                            <a:srgbClr val="000000"/>
                          </a:solidFill>
                          <a:latin typeface="Calibri"/>
                        </a:rPr>
                        <a:t>0.3227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+0.22</a:t>
                      </a:r>
                    </a:p>
                  </a:txBody>
                  <a:tcPr/>
                </a:tc>
              </a:tr>
              <a:tr h="182880">
                <a:tc>
                  <a:txBody>
                    <a:bodyPr lIns="54864" rIns="54864" tIns="18288" bIns="18288" wrap="square" anchor="ctr"/>
                    <a:lstStyle/>
                    <a:p>
                      <a:pPr algn="l"/>
                      <a:r>
                        <a:rPr sz="900" b="0">
                          <a:solidFill>
                            <a:srgbClr val="000000"/>
                          </a:solidFill>
                          <a:latin typeface="Calibri"/>
                        </a:rPr>
                        <a:t>19.45</a:t>
                      </a:r>
                    </a:p>
                  </a:txBody>
                  <a:tcPr/>
                </a:tc>
                <a:tc>
                  <a:txBody>
                    <a:bodyPr lIns="54864" rIns="54864" tIns="18288" bIns="18288" wrap="square" anchor="ctr"/>
                    <a:lstStyle/>
                    <a:p>
                      <a:pPr algn="l"/>
                      <a:r>
                        <a:rPr sz="900" b="0">
                          <a:solidFill>
                            <a:srgbClr val="000000"/>
                          </a:solidFill>
                          <a:latin typeface="Calibri"/>
                        </a:rPr>
                        <a:t>0.3283</a:t>
                      </a:r>
                    </a:p>
                  </a:txBody>
                  <a:tcPr/>
                </a:tc>
                <a:tc>
                  <a:txBody>
                    <a:bodyPr lIns="54864" rIns="54864" tIns="18288" bIns="18288" wrap="square" anchor="ctr"/>
                    <a:lstStyle/>
                    <a:p>
                      <a:pPr algn="l"/>
                      <a:r>
                        <a:rPr sz="900" b="0">
                          <a:solidFill>
                            <a:srgbClr val="000000"/>
                          </a:solidFill>
                          <a:latin typeface="Calibri"/>
                        </a:rPr>
                        <a:t>0.3020</a:t>
                      </a:r>
                    </a:p>
                  </a:txBody>
                  <a:tcPr/>
                </a:tc>
                <a:tc>
                  <a:txBody>
                    <a:bodyPr lIns="54864" rIns="54864" tIns="18288" bIns="18288" wrap="square" anchor="ctr"/>
                    <a:lstStyle/>
                    <a:p>
                      <a:pPr algn="l"/>
                      <a:r>
                        <a:rPr sz="900" b="0">
                          <a:solidFill>
                            <a:srgbClr val="000000"/>
                          </a:solidFill>
                          <a:latin typeface="Calibri"/>
                        </a:rPr>
                        <a:t>+263</a:t>
                      </a:r>
                    </a:p>
                  </a:txBody>
                  <a:tcPr/>
                </a:tc>
                <a:tc>
                  <a:txBody>
                    <a:bodyPr lIns="54864" rIns="54864" tIns="18288" bIns="18288" wrap="square" anchor="ctr"/>
                    <a:lstStyle/>
                    <a:p>
                      <a:pPr algn="l"/>
                      <a:r>
                        <a:rPr sz="900" b="0">
                          <a:solidFill>
                            <a:srgbClr val="000000"/>
                          </a:solidFill>
                          <a:latin typeface="Calibri"/>
                        </a:rPr>
                        <a:t>+8.70</a:t>
                      </a:r>
                    </a:p>
                  </a:txBody>
                  <a:tcPr/>
                </a:tc>
              </a:tr>
              <a:tr h="182880">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0.3311</a:t>
                      </a:r>
                    </a:p>
                  </a:txBody>
                  <a:tcPr/>
                </a:tc>
                <a:tc>
                  <a:txBody>
                    <a:bodyPr lIns="54864" rIns="54864" tIns="18288" bIns="18288" wrap="square" anchor="ctr"/>
                    <a:lstStyle/>
                    <a:p>
                      <a:pPr algn="l"/>
                      <a:r>
                        <a:rPr sz="900" b="0">
                          <a:solidFill>
                            <a:srgbClr val="000000"/>
                          </a:solidFill>
                          <a:latin typeface="Calibri"/>
                        </a:rPr>
                        <a:t>0.3210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+3.12</a:t>
                      </a:r>
                    </a:p>
                  </a:txBody>
                  <a:tcPr/>
                </a:tc>
              </a:tr>
              <a:tr h="182880">
                <a:tc>
                  <a:txBody>
                    <a:bodyPr lIns="54864" rIns="54864" tIns="18288" bIns="18288" wrap="square" anchor="ctr"/>
                    <a:lstStyle/>
                    <a:p>
                      <a:pPr algn="l"/>
                      <a:r>
                        <a:rPr sz="900" b="0">
                          <a:solidFill>
                            <a:srgbClr val="000000"/>
                          </a:solidFill>
                          <a:latin typeface="Calibri"/>
                        </a:rPr>
                        <a:t>19.55</a:t>
                      </a:r>
                    </a:p>
                  </a:txBody>
                  <a:tcPr/>
                </a:tc>
                <a:tc>
                  <a:txBody>
                    <a:bodyPr lIns="54864" rIns="54864" tIns="18288" bIns="18288" wrap="square" anchor="ctr"/>
                    <a:lstStyle/>
                    <a:p>
                      <a:pPr algn="l"/>
                      <a:r>
                        <a:rPr sz="900" b="0">
                          <a:solidFill>
                            <a:srgbClr val="000000"/>
                          </a:solidFill>
                          <a:latin typeface="Calibri"/>
                        </a:rPr>
                        <a:t>0.3354</a:t>
                      </a:r>
                    </a:p>
                  </a:txBody>
                  <a:tcPr/>
                </a:tc>
                <a:tc>
                  <a:txBody>
                    <a:bodyPr lIns="54864" rIns="54864" tIns="18288" bIns="18288" wrap="square" anchor="ctr"/>
                    <a:lstStyle/>
                    <a:p>
                      <a:pPr algn="l"/>
                      <a:r>
                        <a:rPr sz="900" b="0">
                          <a:solidFill>
                            <a:srgbClr val="000000"/>
                          </a:solidFill>
                          <a:latin typeface="Calibri"/>
                        </a:rPr>
                        <a:t>0.3408</a:t>
                      </a:r>
                    </a:p>
                  </a:txBody>
                  <a:tcPr/>
                </a:tc>
                <a:tc>
                  <a:txBody>
                    <a:bodyPr lIns="54864" rIns="54864" tIns="18288" bIns="18288" wrap="square" anchor="ctr"/>
                    <a:lstStyle/>
                    <a:p>
                      <a:pPr algn="l"/>
                      <a:r>
                        <a:rPr sz="900" b="0">
                          <a:solidFill>
                            <a:srgbClr val="000000"/>
                          </a:solidFill>
                          <a:latin typeface="Calibri"/>
                        </a:rPr>
                        <a:t>-54</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19.60</a:t>
                      </a:r>
                    </a:p>
                  </a:txBody>
                  <a:tcPr/>
                </a:tc>
                <a:tc>
                  <a:txBody>
                    <a:bodyPr lIns="54864" rIns="54864" tIns="18288" bIns="18288" wrap="square" anchor="ctr"/>
                    <a:lstStyle/>
                    <a:p>
                      <a:pPr algn="l"/>
                      <a:r>
                        <a:rPr sz="900" b="0">
                          <a:solidFill>
                            <a:srgbClr val="000000"/>
                          </a:solidFill>
                          <a:latin typeface="Calibri"/>
                        </a:rPr>
                        <a:t>0.3390</a:t>
                      </a:r>
                    </a:p>
                  </a:txBody>
                  <a:tcPr/>
                </a:tc>
                <a:tc>
                  <a:txBody>
                    <a:bodyPr lIns="54864" rIns="54864" tIns="18288" bIns="18288" wrap="square" anchor="ctr"/>
                    <a:lstStyle/>
                    <a:p>
                      <a:pPr algn="l"/>
                      <a:r>
                        <a:rPr sz="900" b="0">
                          <a:solidFill>
                            <a:srgbClr val="000000"/>
                          </a:solidFill>
                          <a:latin typeface="Calibri"/>
                        </a:rPr>
                        <a:t>0.3186</a:t>
                      </a:r>
                    </a:p>
                  </a:txBody>
                  <a:tcPr/>
                </a:tc>
                <a:tc>
                  <a:txBody>
                    <a:bodyPr lIns="54864" rIns="54864" tIns="18288" bIns="18288" wrap="square" anchor="ctr"/>
                    <a:lstStyle/>
                    <a:p>
                      <a:pPr algn="l"/>
                      <a:r>
                        <a:rPr sz="900" b="0">
                          <a:solidFill>
                            <a:srgbClr val="000000"/>
                          </a:solidFill>
                          <a:latin typeface="Calibri"/>
                        </a:rPr>
                        <a:t>+204</a:t>
                      </a:r>
                    </a:p>
                  </a:txBody>
                  <a:tcPr/>
                </a:tc>
                <a:tc>
                  <a:txBody>
                    <a:bodyPr lIns="54864" rIns="54864" tIns="18288" bIns="18288" wrap="square" anchor="ctr"/>
                    <a:lstStyle/>
                    <a:p>
                      <a:pPr algn="l"/>
                      <a:r>
                        <a:rPr sz="900" b="0">
                          <a:solidFill>
                            <a:srgbClr val="000000"/>
                          </a:solidFill>
                          <a:latin typeface="Calibri"/>
                        </a:rPr>
                        <a:t>+6.40</a:t>
                      </a:r>
                    </a:p>
                  </a:txBody>
                  <a:tcPr/>
                </a:tc>
              </a:tr>
              <a:tr h="182880">
                <a:tc>
                  <a:txBody>
                    <a:bodyPr lIns="54864" rIns="54864" tIns="18288" bIns="18288" wrap="square" anchor="ctr"/>
                    <a:lstStyle/>
                    <a:p>
                      <a:pPr algn="l"/>
                      <a:r>
                        <a:rPr sz="900" b="0">
                          <a:solidFill>
                            <a:srgbClr val="000000"/>
                          </a:solidFill>
                          <a:latin typeface="Calibri"/>
                        </a:rPr>
                        <a:t>19.65</a:t>
                      </a:r>
                    </a:p>
                  </a:txBody>
                  <a:tcPr/>
                </a:tc>
                <a:tc>
                  <a:txBody>
                    <a:bodyPr lIns="54864" rIns="54864" tIns="18288" bIns="18288" wrap="square" anchor="ctr"/>
                    <a:lstStyle/>
                    <a:p>
                      <a:pPr algn="l"/>
                      <a:r>
                        <a:rPr sz="900" b="0">
                          <a:solidFill>
                            <a:srgbClr val="000000"/>
                          </a:solidFill>
                          <a:latin typeface="Calibri"/>
                        </a:rPr>
                        <a:t>0.3429</a:t>
                      </a:r>
                    </a:p>
                  </a:txBody>
                  <a:tcPr/>
                </a:tc>
                <a:tc>
                  <a:txBody>
                    <a:bodyPr lIns="54864" rIns="54864" tIns="18288" bIns="18288" wrap="square" anchor="ctr"/>
                    <a:lstStyle/>
                    <a:p>
                      <a:pPr algn="l"/>
                      <a:r>
                        <a:rPr sz="900" b="0">
                          <a:solidFill>
                            <a:srgbClr val="000000"/>
                          </a:solidFill>
                          <a:latin typeface="Calibri"/>
                        </a:rPr>
                        <a:t>0.3371</a:t>
                      </a:r>
                    </a:p>
                  </a:txBody>
                  <a:tcPr/>
                </a:tc>
                <a:tc>
                  <a:txBody>
                    <a:bodyPr lIns="54864" rIns="54864" tIns="18288" bIns="18288" wrap="square" anchor="ctr"/>
                    <a:lstStyle/>
                    <a:p>
                      <a:pPr algn="l"/>
                      <a:r>
                        <a:rPr sz="900" b="0">
                          <a:solidFill>
                            <a:srgbClr val="000000"/>
                          </a:solidFill>
                          <a:latin typeface="Calibri"/>
                        </a:rPr>
                        <a:t>+58</a:t>
                      </a:r>
                    </a:p>
                  </a:txBody>
                  <a:tcPr/>
                </a:tc>
                <a:tc>
                  <a:txBody>
                    <a:bodyPr lIns="54864" rIns="54864" tIns="18288" bIns="18288" wrap="square" anchor="ctr"/>
                    <a:lstStyle/>
                    <a:p>
                      <a:pPr algn="l"/>
                      <a:r>
                        <a:rPr sz="900" b="0">
                          <a:solidFill>
                            <a:srgbClr val="000000"/>
                          </a:solidFill>
                          <a:latin typeface="Calibri"/>
                        </a:rPr>
                        <a:t>+1.72</a:t>
                      </a:r>
                    </a:p>
                  </a:txBody>
                  <a:tcPr/>
                </a:tc>
              </a:tr>
              <a:tr h="182880">
                <a:tc>
                  <a:txBody>
                    <a:bodyPr lIns="54864" rIns="54864" tIns="18288" bIns="18288" wrap="square" anchor="ctr"/>
                    <a:lstStyle/>
                    <a:p>
                      <a:pPr algn="l"/>
                      <a:r>
                        <a:rPr sz="900" b="0">
                          <a:solidFill>
                            <a:srgbClr val="000000"/>
                          </a:solidFill>
                          <a:latin typeface="Calibri"/>
                        </a:rPr>
                        <a:t>19.70</a:t>
                      </a:r>
                    </a:p>
                  </a:txBody>
                  <a:tcPr/>
                </a:tc>
                <a:tc>
                  <a:txBody>
                    <a:bodyPr lIns="54864" rIns="54864" tIns="18288" bIns="18288" wrap="square" anchor="ctr"/>
                    <a:lstStyle/>
                    <a:p>
                      <a:pPr algn="l"/>
                      <a:r>
                        <a:rPr sz="900" b="0">
                          <a:solidFill>
                            <a:srgbClr val="000000"/>
                          </a:solidFill>
                          <a:latin typeface="Calibri"/>
                        </a:rPr>
                        <a:t>0.3473</a:t>
                      </a:r>
                    </a:p>
                  </a:txBody>
                  <a:tcPr/>
                </a:tc>
                <a:tc>
                  <a:txBody>
                    <a:bodyPr lIns="54864" rIns="54864" tIns="18288" bIns="18288" wrap="square" anchor="ctr"/>
                    <a:lstStyle/>
                    <a:p>
                      <a:pPr algn="l"/>
                      <a:r>
                        <a:rPr sz="900" b="0">
                          <a:solidFill>
                            <a:srgbClr val="000000"/>
                          </a:solidFill>
                          <a:latin typeface="Calibri"/>
                        </a:rPr>
                        <a:t>0.3355</a:t>
                      </a:r>
                    </a:p>
                  </a:txBody>
                  <a:tcPr/>
                </a:tc>
                <a:tc>
                  <a:txBody>
                    <a:bodyPr lIns="54864" rIns="54864" tIns="18288" bIns="18288" wrap="square" anchor="ctr"/>
                    <a:lstStyle/>
                    <a:p>
                      <a:pPr algn="l"/>
                      <a:r>
                        <a:rPr sz="900" b="0">
                          <a:solidFill>
                            <a:srgbClr val="000000"/>
                          </a:solidFill>
                          <a:latin typeface="Calibri"/>
                        </a:rPr>
                        <a:t>+119</a:t>
                      </a:r>
                    </a:p>
                  </a:txBody>
                  <a:tcPr/>
                </a:tc>
                <a:tc>
                  <a:txBody>
                    <a:bodyPr lIns="54864" rIns="54864" tIns="18288" bIns="18288" wrap="square" anchor="ctr"/>
                    <a:lstStyle/>
                    <a:p>
                      <a:pPr algn="l"/>
                      <a:r>
                        <a:rPr sz="900" b="0">
                          <a:solidFill>
                            <a:srgbClr val="000000"/>
                          </a:solidFill>
                          <a:latin typeface="Calibri"/>
                        </a:rPr>
                        <a:t>+3.53</a:t>
                      </a:r>
                    </a:p>
                  </a:txBody>
                  <a:tcPr/>
                </a:tc>
              </a:tr>
              <a:tr h="182880">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0.3502</a:t>
                      </a:r>
                    </a:p>
                  </a:txBody>
                  <a:tcPr/>
                </a:tc>
                <a:tc>
                  <a:txBody>
                    <a:bodyPr lIns="54864" rIns="54864" tIns="18288" bIns="18288" wrap="square" anchor="ctr"/>
                    <a:lstStyle/>
                    <a:p>
                      <a:pPr algn="l"/>
                      <a:r>
                        <a:rPr sz="900" b="0">
                          <a:solidFill>
                            <a:srgbClr val="000000"/>
                          </a:solidFill>
                          <a:latin typeface="Calibri"/>
                        </a:rPr>
                        <a:t>0.3335</a:t>
                      </a:r>
                    </a:p>
                  </a:txBody>
                  <a:tcPr/>
                </a:tc>
                <a:tc>
                  <a:txBody>
                    <a:bodyPr lIns="54864" rIns="54864" tIns="18288" bIns="18288" wrap="square" anchor="ctr"/>
                    <a:lstStyle/>
                    <a:p>
                      <a:pPr algn="l"/>
                      <a:r>
                        <a:rPr sz="900" b="0">
                          <a:solidFill>
                            <a:srgbClr val="000000"/>
                          </a:solidFill>
                          <a:latin typeface="Calibri"/>
                        </a:rPr>
                        <a:t>+167</a:t>
                      </a:r>
                    </a:p>
                  </a:txBody>
                  <a:tcPr/>
                </a:tc>
                <a:tc>
                  <a:txBody>
                    <a:bodyPr lIns="54864" rIns="54864" tIns="18288" bIns="18288" wrap="square" anchor="ctr"/>
                    <a:lstStyle/>
                    <a:p>
                      <a:pPr algn="l"/>
                      <a:r>
                        <a:rPr sz="900" b="0">
                          <a:solidFill>
                            <a:srgbClr val="000000"/>
                          </a:solidFill>
                          <a:latin typeface="Calibri"/>
                        </a:rPr>
                        <a:t>+5.02</a:t>
                      </a:r>
                    </a:p>
                  </a:txBody>
                  <a:tcPr/>
                </a:tc>
              </a:tr>
              <a:tr h="182880">
                <a:tc>
                  <a:txBody>
                    <a:bodyPr lIns="54864" rIns="54864" tIns="18288" bIns="18288" wrap="square" anchor="ctr"/>
                    <a:lstStyle/>
                    <a:p>
                      <a:pPr algn="l"/>
                      <a:r>
                        <a:rPr sz="900" b="0">
                          <a:solidFill>
                            <a:srgbClr val="000000"/>
                          </a:solidFill>
                          <a:latin typeface="Calibri"/>
                        </a:rPr>
                        <a:t>19.80</a:t>
                      </a:r>
                    </a:p>
                  </a:txBody>
                  <a:tcPr/>
                </a:tc>
                <a:tc>
                  <a:txBody>
                    <a:bodyPr lIns="54864" rIns="54864" tIns="18288" bIns="18288" wrap="square" anchor="ctr"/>
                    <a:lstStyle/>
                    <a:p>
                      <a:pPr algn="l"/>
                      <a:r>
                        <a:rPr sz="900" b="0">
                          <a:solidFill>
                            <a:srgbClr val="000000"/>
                          </a:solidFill>
                          <a:latin typeface="Calibri"/>
                        </a:rPr>
                        <a:t>0.3542</a:t>
                      </a:r>
                    </a:p>
                  </a:txBody>
                  <a:tcPr/>
                </a:tc>
                <a:tc>
                  <a:txBody>
                    <a:bodyPr lIns="54864" rIns="54864" tIns="18288" bIns="18288" wrap="square" anchor="ctr"/>
                    <a:lstStyle/>
                    <a:p>
                      <a:pPr algn="l"/>
                      <a:r>
                        <a:rPr sz="900" b="0">
                          <a:solidFill>
                            <a:srgbClr val="000000"/>
                          </a:solidFill>
                          <a:latin typeface="Calibri"/>
                        </a:rPr>
                        <a:t>0.3383</a:t>
                      </a:r>
                    </a:p>
                  </a:txBody>
                  <a:tcPr/>
                </a:tc>
                <a:tc>
                  <a:txBody>
                    <a:bodyPr lIns="54864" rIns="54864" tIns="18288" bIns="18288" wrap="square" anchor="ctr"/>
                    <a:lstStyle/>
                    <a:p>
                      <a:pPr algn="l"/>
                      <a:r>
                        <a:rPr sz="900" b="0">
                          <a:solidFill>
                            <a:srgbClr val="000000"/>
                          </a:solidFill>
                          <a:latin typeface="Calibri"/>
                        </a:rPr>
                        <a:t>+159</a:t>
                      </a:r>
                    </a:p>
                  </a:txBody>
                  <a:tcPr/>
                </a:tc>
                <a:tc>
                  <a:txBody>
                    <a:bodyPr lIns="54864" rIns="54864" tIns="18288" bIns="18288" wrap="square" anchor="ctr"/>
                    <a:lstStyle/>
                    <a:p>
                      <a:pPr algn="l"/>
                      <a:r>
                        <a:rPr sz="900" b="0">
                          <a:solidFill>
                            <a:srgbClr val="000000"/>
                          </a:solidFill>
                          <a:latin typeface="Calibri"/>
                        </a:rPr>
                        <a:t>+4.69</a:t>
                      </a:r>
                    </a:p>
                  </a:txBody>
                  <a:tcPr/>
                </a:tc>
              </a:tr>
              <a:tr h="182880">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0.3570</a:t>
                      </a:r>
                    </a:p>
                  </a:txBody>
                  <a:tcPr/>
                </a:tc>
                <a:tc>
                  <a:txBody>
                    <a:bodyPr lIns="54864" rIns="54864" tIns="18288" bIns="18288" wrap="square" anchor="ctr"/>
                    <a:lstStyle/>
                    <a:p>
                      <a:pPr algn="l"/>
                      <a:r>
                        <a:rPr sz="900" b="0">
                          <a:solidFill>
                            <a:srgbClr val="000000"/>
                          </a:solidFill>
                          <a:latin typeface="Calibri"/>
                        </a:rPr>
                        <a:t>0.3441</a:t>
                      </a:r>
                    </a:p>
                  </a:txBody>
                  <a:tcPr/>
                </a:tc>
                <a:tc>
                  <a:txBody>
                    <a:bodyPr lIns="54864" rIns="54864" tIns="18288" bIns="18288" wrap="square" anchor="ctr"/>
                    <a:lstStyle/>
                    <a:p>
                      <a:pPr algn="l"/>
                      <a:r>
                        <a:rPr sz="900" b="0">
                          <a:solidFill>
                            <a:srgbClr val="000000"/>
                          </a:solidFill>
                          <a:latin typeface="Calibri"/>
                        </a:rPr>
                        <a:t>+129</a:t>
                      </a:r>
                    </a:p>
                  </a:txBody>
                  <a:tcPr/>
                </a:tc>
                <a:tc>
                  <a:txBody>
                    <a:bodyPr lIns="54864" rIns="54864" tIns="18288" bIns="18288" wrap="square" anchor="ctr"/>
                    <a:lstStyle/>
                    <a:p>
                      <a:pPr algn="l"/>
                      <a:r>
                        <a:rPr sz="900" b="0">
                          <a:solidFill>
                            <a:srgbClr val="000000"/>
                          </a:solidFill>
                          <a:latin typeface="Calibri"/>
                        </a:rPr>
                        <a:t>+3.74</a:t>
                      </a:r>
                    </a:p>
                  </a:txBody>
                  <a:tcPr/>
                </a:tc>
              </a:tr>
              <a:tr h="182880">
                <a:tc>
                  <a:txBody>
                    <a:bodyPr lIns="54864" rIns="54864" tIns="18288" bIns="18288" wrap="square" anchor="ctr"/>
                    <a:lstStyle/>
                    <a:p>
                      <a:pPr algn="l"/>
                      <a:r>
                        <a:rPr sz="900" b="0">
                          <a:solidFill>
                            <a:srgbClr val="000000"/>
                          </a:solidFill>
                          <a:latin typeface="Calibri"/>
                        </a:rPr>
                        <a:t>19.90</a:t>
                      </a:r>
                    </a:p>
                  </a:txBody>
                  <a:tcPr/>
                </a:tc>
                <a:tc>
                  <a:txBody>
                    <a:bodyPr lIns="54864" rIns="54864" tIns="18288" bIns="18288" wrap="square" anchor="ctr"/>
                    <a:lstStyle/>
                    <a:p>
                      <a:pPr algn="l"/>
                      <a:r>
                        <a:rPr sz="900" b="0">
                          <a:solidFill>
                            <a:srgbClr val="000000"/>
                          </a:solidFill>
                          <a:latin typeface="Calibri"/>
                        </a:rPr>
                        <a:t>0.3621</a:t>
                      </a:r>
                    </a:p>
                  </a:txBody>
                  <a:tcPr/>
                </a:tc>
                <a:tc>
                  <a:txBody>
                    <a:bodyPr lIns="54864" rIns="54864" tIns="18288" bIns="18288" wrap="square" anchor="ctr"/>
                    <a:lstStyle/>
                    <a:p>
                      <a:pPr algn="l"/>
                      <a:r>
                        <a:rPr sz="900" b="0">
                          <a:solidFill>
                            <a:srgbClr val="000000"/>
                          </a:solidFill>
                          <a:latin typeface="Calibri"/>
                        </a:rPr>
                        <a:t>0.3499</a:t>
                      </a:r>
                    </a:p>
                  </a:txBody>
                  <a:tcPr/>
                </a:tc>
                <a:tc>
                  <a:txBody>
                    <a:bodyPr lIns="54864" rIns="54864" tIns="18288" bIns="18288" wrap="square" anchor="ctr"/>
                    <a:lstStyle/>
                    <a:p>
                      <a:pPr algn="l"/>
                      <a:r>
                        <a:rPr sz="900" b="0">
                          <a:solidFill>
                            <a:srgbClr val="000000"/>
                          </a:solidFill>
                          <a:latin typeface="Calibri"/>
                        </a:rPr>
                        <a:t>+122</a:t>
                      </a:r>
                    </a:p>
                  </a:txBody>
                  <a:tcPr/>
                </a:tc>
                <a:tc>
                  <a:txBody>
                    <a:bodyPr lIns="54864" rIns="54864" tIns="18288" bIns="18288" wrap="square" anchor="ctr"/>
                    <a:lstStyle/>
                    <a:p>
                      <a:pPr algn="l"/>
                      <a:r>
                        <a:rPr sz="900" b="0">
                          <a:solidFill>
                            <a:srgbClr val="000000"/>
                          </a:solidFill>
                          <a:latin typeface="Calibri"/>
                        </a:rPr>
                        <a:t>+3.48</a:t>
                      </a:r>
                    </a:p>
                  </a:txBody>
                  <a:tcPr/>
                </a:tc>
              </a:tr>
            </a:tbl>
          </a:graphicData>
        </a:graphic>
      </p:graphicFrame>
      <p:sp>
        <p:nvSpPr>
          <p:cNvPr id="8" name="Rounded Rectangle 7"/>
          <p:cNvSpPr/>
          <p:nvPr/>
        </p:nvSpPr>
        <p:spPr>
          <a:xfrm>
            <a:off x="502920"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 µε</a:t>
            </a:r>
          </a:p>
          <a:p>
            <a:pPr algn="ctr"/>
            <a:r>
              <a:rPr sz="950">
                <a:solidFill>
                  <a:srgbClr val="000000"/>
                </a:solidFill>
                <a:latin typeface="Calibri"/>
              </a:rPr>
              <a:t>MEDIAN OFFSET</a:t>
            </a:r>
          </a:p>
        </p:txBody>
      </p:sp>
      <p:sp>
        <p:nvSpPr>
          <p:cNvPr id="9" name="Rounded Rectangle 8"/>
          <p:cNvSpPr/>
          <p:nvPr/>
        </p:nvSpPr>
        <p:spPr>
          <a:xfrm>
            <a:off x="3364992"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of 83</a:t>
            </a:r>
          </a:p>
          <a:p>
            <a:pPr algn="ctr"/>
            <a:r>
              <a:rPr sz="950">
                <a:solidFill>
                  <a:srgbClr val="000000"/>
                </a:solidFill>
                <a:latin typeface="Calibri"/>
              </a:rPr>
              <a:t>WITHIN ± 50 µε</a:t>
            </a:r>
          </a:p>
        </p:txBody>
      </p:sp>
      <p:sp>
        <p:nvSpPr>
          <p:cNvPr id="10" name="Rounded Rectangle 9"/>
          <p:cNvSpPr/>
          <p:nvPr/>
        </p:nvSpPr>
        <p:spPr>
          <a:xfrm>
            <a:off x="6227064" y="5614416"/>
            <a:ext cx="270662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-54 to +263 µε</a:t>
            </a:r>
          </a:p>
          <a:p>
            <a:pPr algn="ctr"/>
            <a:r>
              <a:rPr sz="950">
                <a:solidFill>
                  <a:srgbClr val="000000"/>
                </a:solidFill>
                <a:latin typeface="Calibri"/>
              </a:rPr>
              <a:t>RANGE</a:t>
            </a:r>
          </a:p>
        </p:txBody>
      </p:sp>
      <p:sp>
        <p:nvSpPr>
          <p:cNvPr id="11" name="Rounded Rectangle 10"/>
          <p:cNvSpPr/>
          <p:nvPr/>
        </p:nvSpPr>
        <p:spPr>
          <a:xfrm>
            <a:off x="9089136" y="5614416"/>
            <a:ext cx="275234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+0.17 %</a:t>
            </a:r>
          </a:p>
          <a:p>
            <a:pPr algn="ctr"/>
            <a:r>
              <a:rPr sz="950">
                <a:solidFill>
                  <a:srgbClr val="000000"/>
                </a:solidFill>
                <a:latin typeface="Calibri"/>
              </a:rPr>
              <a:t>MEDIAN, AS A %</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298</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SF20 · DIC POST-PROCESSING — MEASURE ANY RECORDED VIDEO</a:t>
            </a:r>
          </a:p>
        </p:txBody>
      </p:sp>
      <p:pic>
        <p:nvPicPr>
          <p:cNvPr id="5" name="Picture 4" descr="UTM_DIC Post.png"/>
          <p:cNvPicPr>
            <a:picLocks noChangeAspect="1"/>
          </p:cNvPicPr>
          <p:nvPr/>
        </p:nvPicPr>
        <p:blipFill>
          <a:blip r:embed="rId2"/>
          <a:stretch>
            <a:fillRect/>
          </a:stretch>
        </p:blipFill>
        <p:spPr>
          <a:xfrm>
            <a:off x="365760" y="1115568"/>
            <a:ext cx="7818120" cy="4661508"/>
          </a:xfrm>
          <a:prstGeom prst="rect">
            <a:avLst/>
          </a:prstGeom>
        </p:spPr>
      </p:pic>
      <p:sp>
        <p:nvSpPr>
          <p:cNvPr id="6" name="TextBox 5"/>
          <p:cNvSpPr txBox="1"/>
          <p:nvPr/>
        </p:nvSpPr>
        <p:spPr>
          <a:xfrm>
            <a:off x="8366760" y="1060704"/>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for</a:t>
            </a:r>
          </a:p>
        </p:txBody>
      </p:sp>
      <p:sp>
        <p:nvSpPr>
          <p:cNvPr id="7" name="TextBox 6"/>
          <p:cNvSpPr txBox="1"/>
          <p:nvPr/>
        </p:nvSpPr>
        <p:spPr>
          <a:xfrm>
            <a:off x="8366760" y="1408176"/>
            <a:ext cx="347472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rig measures strain live and throws the frames away. This tab measures strain from a video AFTERWARDS, with the same pixel-to-strain rule — utm_dic.dic_strain, the function the live camera path calls. Nothing about the maths is re-implemented.
That buys two things a live-only rig cannot have.</a:t>
            </a:r>
          </a:p>
        </p:txBody>
      </p:sp>
      <p:sp>
        <p:nvSpPr>
          <p:cNvPr id="8" name="TextBox 7"/>
          <p:cNvSpPr txBox="1"/>
          <p:nvPr/>
        </p:nvSpPr>
        <p:spPr>
          <a:xfrm>
            <a:off x="8366760" y="299923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Re-check our own runs</a:t>
            </a:r>
          </a:p>
        </p:txBody>
      </p:sp>
      <p:sp>
        <p:nvSpPr>
          <p:cNvPr id="9" name="TextBox 8"/>
          <p:cNvSpPr txBox="1"/>
          <p:nvPr/>
        </p:nvSpPr>
        <p:spPr>
          <a:xfrm>
            <a:off x="8366760" y="334670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Same pull, same frames, an independent path. A live number that cannot be reproduced offline is a number with no second opinion.</a:t>
            </a:r>
          </a:p>
        </p:txBody>
      </p:sp>
      <p:sp>
        <p:nvSpPr>
          <p:cNvPr id="10" name="TextBox 9"/>
          <p:cNvSpPr txBox="1"/>
          <p:nvPr/>
        </p:nvSpPr>
        <p:spPr>
          <a:xfrm>
            <a:off x="8366760" y="446227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Measure ANOTHER machine</a:t>
            </a:r>
          </a:p>
        </p:txBody>
      </p:sp>
      <p:sp>
        <p:nvSpPr>
          <p:cNvPr id="11" name="TextBox 10"/>
          <p:cNvSpPr txBox="1"/>
          <p:nvPr/>
        </p:nvSpPr>
        <p:spPr>
          <a:xfrm>
            <a:off x="8366760" y="480974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Point it at a commercial extensometer's own footage and our rule produces a strain from it — which is the only way to compare two instruments without also changing the specimen.</a:t>
            </a:r>
          </a:p>
        </p:txBody>
      </p:sp>
      <p:sp>
        <p:nvSpPr>
          <p:cNvPr id="12" name="Rectangle 11"/>
          <p:cNvSpPr/>
          <p:nvPr/>
        </p:nvSpPr>
        <p:spPr>
          <a:xfrm>
            <a:off x="365760" y="5888736"/>
            <a:ext cx="781812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Multi-video: each keeps its own boxes, frame rate and settings, and every finished run is plotted together — so two specimens, or two machines, land on one set of axes.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Software/UTM_PyQt6/utm_postproc.py (engine, no Qt) + utm_postdlg.py (the tab). The engine is importable on its own, which is what let every figure in this section be built from a script rather than by hand.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299</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SF20 · DOES IT ACTUALLY MEASURE? — THREE INDEPENDENT CHECKS</a:t>
            </a:r>
          </a:p>
        </p:txBody>
      </p:sp>
      <p:sp>
        <p:nvSpPr>
          <p:cNvPr id="5" name="TextBox 4"/>
          <p:cNvSpPr txBox="1"/>
          <p:nvPr/>
        </p:nvSpPr>
        <p:spPr>
          <a:xfrm>
            <a:off x="41148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Against our own live DIC</a:t>
            </a:r>
          </a:p>
        </p:txBody>
      </p:sp>
      <p:sp>
        <p:nvSpPr>
          <p:cNvPr id="6" name="TextBox 5"/>
          <p:cNvSpPr txBox="1"/>
          <p:nvPr/>
        </p:nvSpPr>
        <p:spPr>
          <a:xfrm>
            <a:off x="41148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Re-measuring S25 and S26 from their recordings reproduces the rig's live strain to 330 and 363 µε RMS, with Px₀ agreeing to 0.005 %. The residual is a reproducible −0.05 % offset on BOTH specimens, not scatter — see p289.</a:t>
            </a:r>
          </a:p>
        </p:txBody>
      </p:sp>
      <p:sp>
        <p:nvSpPr>
          <p:cNvPr id="7" name="TextBox 6"/>
          <p:cNvSpPr txBox="1"/>
          <p:nvPr/>
        </p:nvSpPr>
        <p:spPr>
          <a:xfrm>
            <a:off x="434340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Against a commercial instrument</a:t>
            </a:r>
          </a:p>
        </p:txBody>
      </p:sp>
      <p:sp>
        <p:nvSpPr>
          <p:cNvPr id="8" name="TextBox 7"/>
          <p:cNvSpPr txBox="1"/>
          <p:nvPr/>
        </p:nvSpPr>
        <p:spPr>
          <a:xfrm>
            <a:off x="434340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Run on the MOT XT-205's own footage it agrees with that machine's extensometer to a median ratio of 1.0017 over 83 matched points, and the strain SCALES match to 0.01 % (p296).</a:t>
            </a:r>
          </a:p>
        </p:txBody>
      </p:sp>
      <p:sp>
        <p:nvSpPr>
          <p:cNvPr id="9" name="TextBox 8"/>
          <p:cNvSpPr txBox="1"/>
          <p:nvPr/>
        </p:nvSpPr>
        <p:spPr>
          <a:xfrm>
            <a:off x="8275320" y="106070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Its estimator was chosen on data</a:t>
            </a:r>
          </a:p>
        </p:txBody>
      </p:sp>
      <p:sp>
        <p:nvSpPr>
          <p:cNvPr id="10" name="TextBox 9"/>
          <p:cNvSpPr txBox="1"/>
          <p:nvPr/>
        </p:nvSpPr>
        <p:spPr>
          <a:xfrm>
            <a:off x="8275320" y="1408176"/>
            <a:ext cx="3566160" cy="1298448"/>
          </a:xfrm>
          <a:prstGeom prst="rect">
            <a:avLst/>
          </a:prstGeom>
          <a:noFill/>
        </p:spPr>
        <p:txBody>
          <a:bodyPr wrap="square" lIns="45720" rIns="45720" tIns="18288" bIns="18288" anchor="t">
            <a:spAutoFit/>
          </a:bodyPr>
          <a:lstStyle/>
          <a:p>
            <a:pPr algn="l"/>
            <a:r>
              <a:rPr sz="1000" b="0" i="0">
                <a:solidFill>
                  <a:srgbClr val="000000"/>
                </a:solidFill>
                <a:latin typeface="Calibri"/>
              </a:rPr>
              <a:t>The sub-pixel method is not a default that happened to work: four candidates were measured on real video and the winner picked on its WORST case, not its best (p286).</a:t>
            </a:r>
          </a:p>
        </p:txBody>
      </p:sp>
      <p:sp>
        <p:nvSpPr>
          <p:cNvPr id="11" name="TextBox 10"/>
          <p:cNvSpPr txBox="1"/>
          <p:nvPr/>
        </p:nvSpPr>
        <p:spPr>
          <a:xfrm>
            <a:off x="411480" y="283464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numbers, and where each comes from</a:t>
            </a:r>
          </a:p>
        </p:txBody>
      </p:sp>
      <p:graphicFrame>
        <p:nvGraphicFramePr>
          <p:cNvPr id="12" name="Table 11"/>
          <p:cNvGraphicFramePr>
            <a:graphicFrameLocks noGrp="1"/>
          </p:cNvGraphicFramePr>
          <p:nvPr/>
        </p:nvGraphicFramePr>
        <p:xfrm>
          <a:off x="411480" y="3182112"/>
          <a:ext cx="11430000" cy="1783080"/>
        </p:xfrm>
        <a:graphic>
          <a:graphicData uri="http://schemas.openxmlformats.org/drawingml/2006/table">
            <a:tbl>
              <a:tblPr firstRow="1" bandRow="1">
                <a:tableStyleId>{5C22544A-7EE6-4342-B048-85BDC9FD1C3A}</a:tableStyleId>
              </a:tblPr>
              <a:tblGrid>
                <a:gridCol w="2743200"/>
                <a:gridCol w="4023360"/>
                <a:gridCol w="4663440"/>
              </a:tblGrid>
              <a:tr h="445770">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c>
                  <a:txBody>
                    <a:bodyPr lIns="54864" rIns="54864" tIns="18288" bIns="18288" wrap="square" anchor="ctr"/>
                    <a:lstStyle/>
                    <a:p>
                      <a:pPr algn="l"/>
                      <a:r>
                        <a:rPr sz="950" b="1">
                          <a:solidFill>
                            <a:srgbClr val="FFFFFF"/>
                          </a:solidFill>
                          <a:latin typeface="Calibri"/>
                        </a:rPr>
                        <a:t>Why it is the right test</a:t>
                      </a:r>
                    </a:p>
                  </a:txBody>
                  <a:tcPr>
                    <a:solidFill>
                      <a:srgbClr val="143D2F"/>
                    </a:solidFill>
                  </a:tcPr>
                </a:tc>
              </a:tr>
              <a:tr h="445770">
                <a:tc>
                  <a:txBody>
                    <a:bodyPr lIns="54864" rIns="54864" tIns="18288" bIns="18288" wrap="square" anchor="ctr"/>
                    <a:lstStyle/>
                    <a:p>
                      <a:pPr algn="l"/>
                      <a:r>
                        <a:rPr sz="850" b="0">
                          <a:solidFill>
                            <a:srgbClr val="000000"/>
                          </a:solidFill>
                          <a:latin typeface="Calibri"/>
                        </a:rPr>
                        <a:t>Noise on the XT-205's footage</a:t>
                      </a:r>
                    </a:p>
                  </a:txBody>
                  <a:tcPr/>
                </a:tc>
                <a:tc>
                  <a:txBody>
                    <a:bodyPr lIns="54864" rIns="54864" tIns="18288" bIns="18288" wrap="square" anchor="ctr"/>
                    <a:lstStyle/>
                    <a:p>
                      <a:pPr algn="l"/>
                      <a:r>
                        <a:rPr sz="850" b="0">
                          <a:solidFill>
                            <a:srgbClr val="000000"/>
                          </a:solidFill>
                          <a:latin typeface="Calibri"/>
                        </a:rPr>
                        <a:t>5.7 µε, against 44.9 µε for the XT-205's own
extensometer on the same frames</a:t>
                      </a:r>
                    </a:p>
                  </a:txBody>
                  <a:tcPr/>
                </a:tc>
                <a:tc>
                  <a:txBody>
                    <a:bodyPr lIns="54864" rIns="54864" tIns="18288" bIns="18288" wrap="square" anchor="ctr"/>
                    <a:lstStyle/>
                    <a:p>
                      <a:pPr algn="l"/>
                      <a:r>
                        <a:rPr sz="850" b="0">
                          <a:solidFill>
                            <a:srgbClr val="000000"/>
                          </a:solidFill>
                          <a:latin typeface="Calibri"/>
                        </a:rPr>
                        <a:t>Same footage and same window, so the comparison is of the
MEASUREMENT and not of two different pulls.</a:t>
                      </a:r>
                    </a:p>
                  </a:txBody>
                  <a:tcPr/>
                </a:tc>
              </a:tr>
              <a:tr h="445770">
                <a:tc>
                  <a:txBody>
                    <a:bodyPr lIns="54864" rIns="54864" tIns="18288" bIns="18288" wrap="square" anchor="ctr"/>
                    <a:lstStyle/>
                    <a:p>
                      <a:pPr algn="l"/>
                      <a:r>
                        <a:rPr sz="850" b="0">
                          <a:solidFill>
                            <a:srgbClr val="000000"/>
                          </a:solidFill>
                          <a:latin typeface="Calibri"/>
                        </a:rPr>
                        <a:t>Noise on our own footage</a:t>
                      </a:r>
                    </a:p>
                  </a:txBody>
                  <a:tcPr/>
                </a:tc>
                <a:tc>
                  <a:txBody>
                    <a:bodyPr lIns="54864" rIns="54864" tIns="18288" bIns="18288" wrap="square" anchor="ctr"/>
                    <a:lstStyle/>
                    <a:p>
                      <a:pPr algn="l"/>
                      <a:r>
                        <a:rPr sz="850" b="0">
                          <a:solidFill>
                            <a:srgbClr val="000000"/>
                          </a:solidFill>
                          <a:latin typeface="Calibri"/>
                        </a:rPr>
                        <a:t>18.4 µε (S25) and 11.3 µε (S26), against
28.9 µε for the rig measuring live</a:t>
                      </a:r>
                    </a:p>
                  </a:txBody>
                  <a:tcPr/>
                </a:tc>
                <a:tc>
                  <a:txBody>
                    <a:bodyPr lIns="54864" rIns="54864" tIns="18288" bIns="18288" wrap="square" anchor="ctr"/>
                    <a:lstStyle/>
                    <a:p>
                      <a:pPr algn="l"/>
                      <a:r>
                        <a:rPr sz="850" b="0">
                          <a:solidFill>
                            <a:srgbClr val="000000"/>
                          </a:solidFill>
                          <a:latin typeface="Calibri"/>
                        </a:rPr>
                        <a:t>Quieter than the live path because it is not racing the
control loop and can use a larger patch.</a:t>
                      </a:r>
                    </a:p>
                  </a:txBody>
                  <a:tcPr/>
                </a:tc>
              </a:tr>
              <a:tr h="445770">
                <a:tc>
                  <a:txBody>
                    <a:bodyPr lIns="54864" rIns="54864" tIns="18288" bIns="18288" wrap="square" anchor="ctr"/>
                    <a:lstStyle/>
                    <a:p>
                      <a:pPr algn="l"/>
                      <a:r>
                        <a:rPr sz="850" b="0">
                          <a:solidFill>
                            <a:srgbClr val="000000"/>
                          </a:solidFill>
                          <a:latin typeface="Calibri"/>
                        </a:rPr>
                        <a:t>Patch size, the biggest lever</a:t>
                      </a:r>
                    </a:p>
                  </a:txBody>
                  <a:tcPr/>
                </a:tc>
                <a:tc>
                  <a:txBody>
                    <a:bodyPr lIns="54864" rIns="54864" tIns="18288" bIns="18288" wrap="square" anchor="ctr"/>
                    <a:lstStyle/>
                    <a:p>
                      <a:pPr algn="l"/>
                      <a:r>
                        <a:rPr sz="850" b="0">
                          <a:solidFill>
                            <a:srgbClr val="000000"/>
                          </a:solidFill>
                          <a:latin typeface="Calibri"/>
                        </a:rPr>
                        <a:t>13× worse with a patch narrower than the marker</a:t>
                      </a:r>
                    </a:p>
                  </a:txBody>
                  <a:tcPr/>
                </a:tc>
                <a:tc>
                  <a:txBody>
                    <a:bodyPr lIns="54864" rIns="54864" tIns="18288" bIns="18288" wrap="square" anchor="ctr"/>
                    <a:lstStyle/>
                    <a:p>
                      <a:pPr algn="l"/>
                      <a:r>
                        <a:rPr sz="850" b="0">
                          <a:solidFill>
                            <a:srgbClr val="000000"/>
                          </a:solidFill>
                          <a:latin typeface="Calibri"/>
                        </a:rPr>
                        <a:t>Found by sweeping it, which is also how the tab learned to
SUGGEST a size from the detected marker.</a:t>
                      </a:r>
                    </a:p>
                  </a:txBody>
                  <a:tcPr/>
                </a:tc>
              </a:tr>
            </a:tbl>
          </a:graphicData>
        </a:graphic>
      </p:graphicFrame>
      <p:sp>
        <p:nvSpPr>
          <p:cNvPr id="13" name="TextBox 12"/>
          <p:cNvSpPr txBox="1"/>
          <p:nvPr/>
        </p:nvSpPr>
        <p:spPr>
          <a:xfrm>
            <a:off x="411480" y="513892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refuses to do, which is the part that makes it usable</a:t>
            </a:r>
          </a:p>
        </p:txBody>
      </p:sp>
      <p:graphicFrame>
        <p:nvGraphicFramePr>
          <p:cNvPr id="14" name="Table 13"/>
          <p:cNvGraphicFramePr>
            <a:graphicFrameLocks noGrp="1"/>
          </p:cNvGraphicFramePr>
          <p:nvPr/>
        </p:nvGraphicFramePr>
        <p:xfrm>
          <a:off x="411480" y="5486400"/>
          <a:ext cx="11430000" cy="804672"/>
        </p:xfrm>
        <a:graphic>
          <a:graphicData uri="http://schemas.openxmlformats.org/drawingml/2006/table">
            <a:tbl>
              <a:tblPr firstRow="1" bandRow="1">
                <a:tableStyleId>{5C22544A-7EE6-4342-B048-85BDC9FD1C3A}</a:tableStyleId>
              </a:tblPr>
              <a:tblGrid>
                <a:gridCol w="5669280"/>
                <a:gridCol w="5760720"/>
              </a:tblGrid>
              <a:tr h="201168">
                <a:tc>
                  <a:txBody>
                    <a:bodyPr lIns="54864" rIns="54864" tIns="18288" bIns="18288" wrap="square" anchor="ctr"/>
                    <a:lstStyle/>
                    <a:p>
                      <a:pPr algn="l"/>
                      <a:r>
                        <a:rPr sz="950" b="1">
                          <a:solidFill>
                            <a:srgbClr val="FFFFFF"/>
                          </a:solidFill>
                          <a:latin typeface="Calibri"/>
                        </a:rPr>
                        <a:t>Guard</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01168">
                <a:tc>
                  <a:txBody>
                    <a:bodyPr lIns="54864" rIns="54864" tIns="18288" bIns="18288" wrap="square" anchor="ctr"/>
                    <a:lstStyle/>
                    <a:p>
                      <a:pPr algn="l"/>
                      <a:r>
                        <a:rPr sz="850" b="0">
                          <a:solidFill>
                            <a:srgbClr val="000000"/>
                          </a:solidFill>
                          <a:latin typeface="Calibri"/>
                        </a:rPr>
                        <a:t>Stops when the markers are lost, and marks the point on the plot</a:t>
                      </a:r>
                    </a:p>
                  </a:txBody>
                  <a:tcPr/>
                </a:tc>
                <a:tc>
                  <a:txBody>
                    <a:bodyPr lIns="54864" rIns="54864" tIns="18288" bIns="18288" wrap="square" anchor="ctr"/>
                    <a:lstStyle/>
                    <a:p>
                      <a:pPr algn="l"/>
                      <a:r>
                        <a:rPr sz="850" b="0">
                          <a:solidFill>
                            <a:srgbClr val="000000"/>
                          </a:solidFill>
                          <a:latin typeface="Calibri"/>
                        </a:rPr>
                        <a:t>A curve that simply ends looks identical to one that reached the end of its video.</a:t>
                      </a:r>
                    </a:p>
                  </a:txBody>
                  <a:tcPr/>
                </a:tc>
              </a:tr>
              <a:tr h="201168">
                <a:tc>
                  <a:txBody>
                    <a:bodyPr lIns="54864" rIns="54864" tIns="18288" bIns="18288" wrap="square" anchor="ctr"/>
                    <a:lstStyle/>
                    <a:p>
                      <a:pPr algn="l"/>
                      <a:r>
                        <a:rPr sz="850" b="0">
                          <a:solidFill>
                            <a:srgbClr val="000000"/>
                          </a:solidFill>
                          <a:latin typeface="Calibri"/>
                        </a:rPr>
                        <a:t>Verifies the frame rate against a sidecar, and warns when the file's claim is implausible</a:t>
                      </a:r>
                    </a:p>
                  </a:txBody>
                  <a:tcPr/>
                </a:tc>
                <a:tc>
                  <a:txBody>
                    <a:bodyPr lIns="54864" rIns="54864" tIns="18288" bIns="18288" wrap="square" anchor="ctr"/>
                    <a:lstStyle/>
                    <a:p>
                      <a:pPr algn="l"/>
                      <a:r>
                        <a:rPr sz="850" b="0">
                          <a:solidFill>
                            <a:srgbClr val="000000"/>
                          </a:solidFill>
                          <a:latin typeface="Calibri"/>
                        </a:rPr>
                        <a:t>One of our own files declares 35 fps and ran at 19.93; an extensometer's declares 1000.</a:t>
                      </a:r>
                    </a:p>
                  </a:txBody>
                  <a:tcPr/>
                </a:tc>
              </a:tr>
              <a:tr h="201168">
                <a:tc>
                  <a:txBody>
                    <a:bodyPr lIns="54864" rIns="54864" tIns="18288" bIns="18288" wrap="square" anchor="ctr"/>
                    <a:lstStyle/>
                    <a:p>
                      <a:pPr algn="l"/>
                      <a:r>
                        <a:rPr sz="850" b="0">
                          <a:solidFill>
                            <a:srgbClr val="000000"/>
                          </a:solidFill>
                          <a:latin typeface="Calibri"/>
                        </a:rPr>
                        <a:t>Verifies that seeking works, and decodes in order when it does not</a:t>
                      </a:r>
                    </a:p>
                  </a:txBody>
                  <a:tcPr/>
                </a:tc>
                <a:tc>
                  <a:txBody>
                    <a:bodyPr lIns="54864" rIns="54864" tIns="18288" bIns="18288" wrap="square" anchor="ctr"/>
                    <a:lstStyle/>
                    <a:p>
                      <a:pPr algn="l"/>
                      <a:r>
                        <a:rPr sz="850" b="0">
                          <a:solidFill>
                            <a:srgbClr val="000000"/>
                          </a:solidFill>
                          <a:latin typeface="Calibri"/>
                        </a:rPr>
                        <a:t>On one real file cv2 returns stale frames past ~80, silently — it cost a wrong conclusion.</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Every figure in p296, p288 and the estimator slides was produced by this engine, driven from a script. Measured 2026-08-27 14:55.</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300</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SF20 · THE BUILT-IN GUIDE — THE PROCEDURE, IN THE TOOL</a:t>
            </a:r>
          </a:p>
        </p:txBody>
      </p:sp>
      <p:pic>
        <p:nvPicPr>
          <p:cNvPr id="5" name="Picture 4" descr="sf20_guide.png"/>
          <p:cNvPicPr>
            <a:picLocks noChangeAspect="1"/>
          </p:cNvPicPr>
          <p:nvPr/>
        </p:nvPicPr>
        <p:blipFill>
          <a:blip r:embed="rId2"/>
          <a:stretch>
            <a:fillRect/>
          </a:stretch>
        </p:blipFill>
        <p:spPr>
          <a:xfrm>
            <a:off x="979463" y="1097280"/>
            <a:ext cx="5493433" cy="3246120"/>
          </a:xfrm>
          <a:prstGeom prst="rect">
            <a:avLst/>
          </a:prstGeom>
        </p:spPr>
      </p:pic>
      <p:sp>
        <p:nvSpPr>
          <p:cNvPr id="6" name="TextBox 5"/>
          <p:cNvSpPr txBox="1"/>
          <p:nvPr/>
        </p:nvSpPr>
        <p:spPr>
          <a:xfrm>
            <a:off x="7315200" y="10607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tool carries its own instructions</a:t>
            </a:r>
          </a:p>
        </p:txBody>
      </p:sp>
      <p:sp>
        <p:nvSpPr>
          <p:cNvPr id="7" name="TextBox 6"/>
          <p:cNvSpPr txBox="1"/>
          <p:nvPr/>
        </p:nvSpPr>
        <p:spPr>
          <a:xfrm>
            <a:off x="7315200" y="1408176"/>
            <a:ext cx="4526280" cy="1554480"/>
          </a:xfrm>
          <a:prstGeom prst="rect">
            <a:avLst/>
          </a:prstGeom>
          <a:noFill/>
        </p:spPr>
        <p:txBody>
          <a:bodyPr wrap="square" lIns="45720" rIns="45720" tIns="18288" bIns="18288" anchor="t">
            <a:spAutoFit/>
          </a:bodyPr>
          <a:lstStyle/>
          <a:p>
            <a:pPr algn="l"/>
            <a:r>
              <a:rPr sz="1000" b="0" i="0">
                <a:solidFill>
                  <a:srgbClr val="000000"/>
                </a:solidFill>
                <a:latin typeface="Calibri"/>
              </a:rPr>
              <a:t>Post-processing has an order that matters and one step — the frame rate — that silently distorts everything if it is skipped. A procedure that lives in a document is a procedure nobody reads at the machine, so it lives in the tab: the Guide button beside Add video(s), or View ▸ Guided wizard ▸ DIC post-processing.</a:t>
            </a:r>
          </a:p>
        </p:txBody>
      </p:sp>
      <p:sp>
        <p:nvSpPr>
          <p:cNvPr id="8" name="TextBox 7"/>
          <p:cNvSpPr txBox="1"/>
          <p:nvPr/>
        </p:nvSpPr>
        <p:spPr>
          <a:xfrm>
            <a:off x="7315200" y="309067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It follows what you have actually done</a:t>
            </a:r>
          </a:p>
        </p:txBody>
      </p:sp>
      <p:sp>
        <p:nvSpPr>
          <p:cNvPr id="9" name="TextBox 8"/>
          <p:cNvSpPr txBox="1"/>
          <p:nvPr/>
        </p:nvSpPr>
        <p:spPr>
          <a:xfrm>
            <a:off x="7315200" y="3438144"/>
            <a:ext cx="4526280" cy="1554480"/>
          </a:xfrm>
          <a:prstGeom prst="rect">
            <a:avLst/>
          </a:prstGeom>
          <a:noFill/>
        </p:spPr>
        <p:txBody>
          <a:bodyPr wrap="square" lIns="45720" rIns="45720" tIns="18288" bIns="18288" anchor="t">
            <a:spAutoFit/>
          </a:bodyPr>
          <a:lstStyle/>
          <a:p>
            <a:pPr algn="l"/>
            <a:r>
              <a:rPr sz="1000" b="0" i="0">
                <a:solidFill>
                  <a:srgbClr val="000000"/>
                </a:solidFill>
                <a:latin typeface="Calibri"/>
              </a:rPr>
              <a:t>Each step is ticked when the state it produces EXISTS — a video loaded, both boxes placed, a run finished — not when the reader was told to do it. So it doubles as a “what is left” indicator, and it cannot claim a step is done when it is not.
It is modeless, so it stays open while you work, and “Follow my progress” switches itself off the moment you turn a page by hand.</a:t>
            </a:r>
          </a:p>
        </p:txBody>
      </p:sp>
      <p:sp>
        <p:nvSpPr>
          <p:cNvPr id="10" name="Rectangle 9"/>
          <p:cNvSpPr/>
          <p:nvPr/>
        </p:nvSpPr>
        <p:spPr>
          <a:xfrm>
            <a:off x="365760" y="4572000"/>
            <a:ext cx="672084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Ticked · current · pending, at a glance. The window is a real screenshot, rendered by driving the widget — so it cannot go stale unnoticed.</a:t>
            </a:r>
          </a:p>
        </p:txBody>
      </p:sp>
      <p:sp>
        <p:nvSpPr>
          <p:cNvPr id="11" name="TextBox 10"/>
          <p:cNvSpPr txBox="1"/>
          <p:nvPr/>
        </p:nvSpPr>
        <p:spPr>
          <a:xfrm>
            <a:off x="365760" y="519379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seven steps</a:t>
            </a:r>
          </a:p>
        </p:txBody>
      </p:sp>
      <p:sp>
        <p:nvSpPr>
          <p:cNvPr id="12" name="TextBox 11"/>
          <p:cNvSpPr txBox="1"/>
          <p:nvPr/>
        </p:nvSpPr>
        <p:spPr>
          <a:xfrm>
            <a:off x="365760" y="5541264"/>
            <a:ext cx="11475720" cy="658368"/>
          </a:xfrm>
          <a:prstGeom prst="rect">
            <a:avLst/>
          </a:prstGeom>
          <a:noFill/>
        </p:spPr>
        <p:txBody>
          <a:bodyPr wrap="square" lIns="45720" rIns="45720" tIns="18288" bIns="18288" anchor="t">
            <a:spAutoFit/>
          </a:bodyPr>
          <a:lstStyle/>
          <a:p>
            <a:pPr algn="l"/>
            <a:r>
              <a:rPr sz="1150" b="1" i="0">
                <a:solidFill>
                  <a:srgbClr val="1F3F2F"/>
                </a:solidFill>
                <a:latin typeface="Calibri"/>
              </a:rPr>
              <a:t>1 Add the video or videos → 2 Check the frame rate → 3 Fix the reference frame → 4 Place the two boxes → 5 Set the gauge → 6 Run it → 7 Take the results away</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step list on these slides is read from PostProcTab.GUIDE_STEPS when the deck is built, not retyped — so the deck and the tool cannot say different things.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301</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SF20 · THE PROCEDURE — SETTING IT UP</a:t>
            </a:r>
          </a:p>
        </p:txBody>
      </p:sp>
      <p:sp>
        <p:nvSpPr>
          <p:cNvPr id="5" name="TextBox 4"/>
          <p:cNvSpPr txBox="1"/>
          <p:nvPr/>
        </p:nvSpPr>
        <p:spPr>
          <a:xfrm>
            <a:off x="411480" y="1024128"/>
            <a:ext cx="11430000" cy="310896"/>
          </a:xfrm>
          <a:prstGeom prst="rect">
            <a:avLst/>
          </a:prstGeom>
          <a:noFill/>
        </p:spPr>
        <p:txBody>
          <a:bodyPr wrap="square" lIns="45720" rIns="45720" tIns="18288" bIns="18288" anchor="t">
            <a:spAutoFit/>
          </a:bodyPr>
          <a:lstStyle/>
          <a:p>
            <a:pPr algn="l"/>
            <a:r>
              <a:rPr sz="1100" b="0" i="1">
                <a:solidFill>
                  <a:srgbClr val="707070"/>
                </a:solidFill>
                <a:latin typeface="Calibri"/>
              </a:rPr>
              <a:t>Steps 1–4 of 7, as the tool states them. The right-hand column is the part that is easy to get wrong.</a:t>
            </a:r>
          </a:p>
        </p:txBody>
      </p:sp>
      <p:graphicFrame>
        <p:nvGraphicFramePr>
          <p:cNvPr id="6" name="Table 5"/>
          <p:cNvGraphicFramePr>
            <a:graphicFrameLocks noGrp="1"/>
          </p:cNvGraphicFramePr>
          <p:nvPr/>
        </p:nvGraphicFramePr>
        <p:xfrm>
          <a:off x="411480" y="1426464"/>
          <a:ext cx="11429999" cy="4343400"/>
        </p:xfrm>
        <a:graphic>
          <a:graphicData uri="http://schemas.openxmlformats.org/drawingml/2006/table">
            <a:tbl>
              <a:tblPr firstRow="1" bandRow="1">
                <a:tableStyleId>{5C22544A-7EE6-4342-B048-85BDC9FD1C3A}</a:tableStyleId>
              </a:tblPr>
              <a:tblGrid>
                <a:gridCol w="310896"/>
                <a:gridCol w="1874519"/>
                <a:gridCol w="4709160"/>
                <a:gridCol w="4535424"/>
              </a:tblGrid>
              <a:tr h="868680">
                <a:tc>
                  <a:txBody>
                    <a:bodyPr lIns="54864" rIns="54864" tIns="18288" bIns="18288" wrap="square" anchor="ctr"/>
                    <a:lstStyle/>
                    <a:p>
                      <a:pPr algn="l"/>
                      <a:r>
                        <a:rPr sz="1000" b="1">
                          <a:solidFill>
                            <a:srgbClr val="FFFFFF"/>
                          </a:solidFill>
                          <a:latin typeface="Calibri"/>
                        </a:rPr>
                        <a:t>#</a:t>
                      </a:r>
                    </a:p>
                  </a:txBody>
                  <a:tcPr>
                    <a:solidFill>
                      <a:srgbClr val="143D2F"/>
                    </a:solidFill>
                  </a:tcPr>
                </a:tc>
                <a:tc>
                  <a:txBody>
                    <a:bodyPr lIns="54864" rIns="54864" tIns="18288" bIns="18288" wrap="square" anchor="ctr"/>
                    <a:lstStyle/>
                    <a:p>
                      <a:pPr algn="l"/>
                      <a:r>
                        <a:rPr sz="1000" b="1">
                          <a:solidFill>
                            <a:srgbClr val="FFFFFF"/>
                          </a:solidFill>
                          <a:latin typeface="Calibri"/>
                        </a:rPr>
                        <a:t>Step</a:t>
                      </a:r>
                    </a:p>
                  </a:txBody>
                  <a:tcPr>
                    <a:solidFill>
                      <a:srgbClr val="143D2F"/>
                    </a:solidFill>
                  </a:tcPr>
                </a:tc>
                <a:tc>
                  <a:txBody>
                    <a:bodyPr lIns="54864" rIns="54864" tIns="18288" bIns="18288" wrap="square" anchor="ctr"/>
                    <a:lstStyle/>
                    <a:p>
                      <a:pPr algn="l"/>
                      <a:r>
                        <a:rPr sz="1000" b="1">
                          <a:solidFill>
                            <a:srgbClr val="FFFFFF"/>
                          </a:solidFill>
                          <a:latin typeface="Calibri"/>
                        </a:rPr>
                        <a:t>What to do</a:t>
                      </a:r>
                    </a:p>
                  </a:txBody>
                  <a:tcPr>
                    <a:solidFill>
                      <a:srgbClr val="143D2F"/>
                    </a:solidFill>
                  </a:tcPr>
                </a:tc>
                <a:tc>
                  <a:txBody>
                    <a:bodyPr lIns="54864" rIns="54864" tIns="18288" bIns="18288" wrap="square" anchor="ctr"/>
                    <a:lstStyle/>
                    <a:p>
                      <a:pPr algn="l"/>
                      <a:r>
                        <a:rPr sz="1000" b="1">
                          <a:solidFill>
                            <a:srgbClr val="FFFFFF"/>
                          </a:solidFill>
                          <a:latin typeface="Calibri"/>
                        </a:rPr>
                        <a:t>The part that catches people out</a:t>
                      </a:r>
                    </a:p>
                  </a:txBody>
                  <a:tcPr>
                    <a:solidFill>
                      <a:srgbClr val="143D2F"/>
                    </a:solidFill>
                  </a:tcPr>
                </a:tc>
              </a:tr>
              <a:tr h="868680">
                <a:tc>
                  <a:txBody>
                    <a:bodyPr lIns="54864" rIns="54864" tIns="18288" bIns="18288" wrap="square" anchor="ctr"/>
                    <a:lstStyle/>
                    <a:p>
                      <a:pPr algn="l"/>
                      <a:r>
                        <a:rPr sz="850" b="0">
                          <a:solidFill>
                            <a:srgbClr val="000000"/>
                          </a:solidFill>
                          <a:latin typeface="Calibri"/>
                        </a:rPr>
                        <a:t>1</a:t>
                      </a:r>
                    </a:p>
                  </a:txBody>
                  <a:tcPr/>
                </a:tc>
                <a:tc>
                  <a:txBody>
                    <a:bodyPr lIns="54864" rIns="54864" tIns="18288" bIns="18288" wrap="square" anchor="ctr"/>
                    <a:lstStyle/>
                    <a:p>
                      <a:pPr algn="l"/>
                      <a:r>
                        <a:rPr sz="850" b="0">
                          <a:solidFill>
                            <a:srgbClr val="000000"/>
                          </a:solidFill>
                          <a:latin typeface="Calibri"/>
                        </a:rPr>
                        <a:t>Add the video or videos</a:t>
                      </a:r>
                    </a:p>
                  </a:txBody>
                  <a:tcPr/>
                </a:tc>
                <a:tc>
                  <a:txBody>
                    <a:bodyPr lIns="54864" rIns="54864" tIns="18288" bIns="18288" wrap="square" anchor="ctr"/>
                    <a:lstStyle/>
                    <a:p>
                      <a:pPr algn="l"/>
                      <a:r>
                        <a:rPr sz="850" b="0">
                          <a:solidFill>
                            <a:srgbClr val="000000"/>
                          </a:solidFill>
                          <a:latin typeface="Calibri"/>
                        </a:rPr>
                        <a:t>Press Add video(s)… at the top left and pick one file, or several at once. Any format OpenCV can read works — .avi, .mp4, .mkv, .mov and more.</a:t>
                      </a:r>
                    </a:p>
                  </a:txBody>
                  <a:tcPr/>
                </a:tc>
                <a:tc>
                  <a:txBody>
                    <a:bodyPr lIns="54864" rIns="54864" tIns="18288" bIns="18288" wrap="square" anchor="ctr"/>
                    <a:lstStyle/>
                    <a:p>
                      <a:pPr algn="l"/>
                      <a:r>
                        <a:rPr sz="850" b="0">
                          <a:solidFill>
                            <a:srgbClr val="000000"/>
                          </a:solidFill>
                          <a:latin typeface="Calibri"/>
                        </a:rPr>
                        <a:t>Every video keeps its OWN boxes, frame rate and settings, so a rig recording and an extensometer recording can sit in the same list without one spoiling the other.</a:t>
                      </a:r>
                    </a:p>
                  </a:txBody>
                  <a:tcPr/>
                </a:tc>
              </a:tr>
              <a:tr h="868680">
                <a:tc>
                  <a:txBody>
                    <a:bodyPr lIns="54864" rIns="54864" tIns="18288" bIns="18288" wrap="square" anchor="ctr"/>
                    <a:lstStyle/>
                    <a:p>
                      <a:pPr algn="l"/>
                      <a:r>
                        <a:rPr sz="850" b="0">
                          <a:solidFill>
                            <a:srgbClr val="000000"/>
                          </a:solidFill>
                          <a:latin typeface="Calibri"/>
                        </a:rPr>
                        <a:t>2</a:t>
                      </a:r>
                    </a:p>
                  </a:txBody>
                  <a:tcPr/>
                </a:tc>
                <a:tc>
                  <a:txBody>
                    <a:bodyPr lIns="54864" rIns="54864" tIns="18288" bIns="18288" wrap="square" anchor="ctr"/>
                    <a:lstStyle/>
                    <a:p>
                      <a:pPr algn="l"/>
                      <a:r>
                        <a:rPr sz="850" b="0">
                          <a:solidFill>
                            <a:srgbClr val="000000"/>
                          </a:solidFill>
                          <a:latin typeface="Calibri"/>
                        </a:rPr>
                        <a:t>Check the frame rate</a:t>
                      </a:r>
                    </a:p>
                  </a:txBody>
                  <a:tcPr/>
                </a:tc>
                <a:tc>
                  <a:txBody>
                    <a:bodyPr lIns="54864" rIns="54864" tIns="18288" bIns="18288" wrap="square" anchor="ctr"/>
                    <a:lstStyle/>
                    <a:p>
                      <a:pPr algn="l"/>
                      <a:r>
                        <a:rPr sz="850" b="0">
                          <a:solidFill>
                            <a:srgbClr val="000000"/>
                          </a:solidFill>
                          <a:latin typeface="Calibri"/>
                        </a:rPr>
                        <a:t>Look at Timebase ▸ Frame rate and make sure it is the rate the camera actually ran at. This is the one setting that silently distorts a result, because it scales the whole time axis.</a:t>
                      </a:r>
                    </a:p>
                  </a:txBody>
                  <a:tcPr/>
                </a:tc>
                <a:tc>
                  <a:txBody>
                    <a:bodyPr lIns="54864" rIns="54864" tIns="18288" bIns="18288" wrap="square" anchor="ctr"/>
                    <a:lstStyle/>
                    <a:p>
                      <a:pPr algn="l"/>
                      <a:r>
                        <a:rPr sz="850" b="0">
                          <a:solidFill>
                            <a:srgbClr val="000000"/>
                          </a:solidFill>
                          <a:latin typeface="Calibri"/>
                        </a:rPr>
                        <a:t>A container's fps field is what the writer claimed, not what the camera did. One of our own recordings declares 35 fps and actually ran at 19.93 — believing it would stretch time by 1.76×.</a:t>
                      </a:r>
                    </a:p>
                  </a:txBody>
                  <a:tcPr/>
                </a:tc>
              </a:tr>
              <a:tr h="868680">
                <a:tc>
                  <a:txBody>
                    <a:bodyPr lIns="54864" rIns="54864" tIns="18288" bIns="18288" wrap="square" anchor="ctr"/>
                    <a:lstStyle/>
                    <a:p>
                      <a:pPr algn="l"/>
                      <a:r>
                        <a:rPr sz="850" b="0">
                          <a:solidFill>
                            <a:srgbClr val="000000"/>
                          </a:solidFill>
                          <a:latin typeface="Calibri"/>
                        </a:rPr>
                        <a:t>3</a:t>
                      </a:r>
                    </a:p>
                  </a:txBody>
                  <a:tcPr/>
                </a:tc>
                <a:tc>
                  <a:txBody>
                    <a:bodyPr lIns="54864" rIns="54864" tIns="18288" bIns="18288" wrap="square" anchor="ctr"/>
                    <a:lstStyle/>
                    <a:p>
                      <a:pPr algn="l"/>
                      <a:r>
                        <a:rPr sz="850" b="0">
                          <a:solidFill>
                            <a:srgbClr val="000000"/>
                          </a:solidFill>
                          <a:latin typeface="Calibri"/>
                        </a:rPr>
                        <a:t>Fix the reference frame</a:t>
                      </a:r>
                    </a:p>
                  </a:txBody>
                  <a:tcPr/>
                </a:tc>
                <a:tc>
                  <a:txBody>
                    <a:bodyPr lIns="54864" rIns="54864" tIns="18288" bIns="18288" wrap="square" anchor="ctr"/>
                    <a:lstStyle/>
                    <a:p>
                      <a:pPr algn="l"/>
                      <a:r>
                        <a:rPr sz="850" b="0">
                          <a:solidFill>
                            <a:srgbClr val="000000"/>
                          </a:solidFill>
                          <a:latin typeface="Calibri"/>
                        </a:rPr>
                        <a:t>Drag the Reference frame slider, or play the video with ▶ ⏸ ⏹, to the frame where strain should read zero — normally just after preload, before the pull starts — then press Set this frame as the reference.</a:t>
                      </a:r>
                    </a:p>
                  </a:txBody>
                  <a:tcPr/>
                </a:tc>
                <a:tc>
                  <a:txBody>
                    <a:bodyPr lIns="54864" rIns="54864" tIns="18288" bIns="18288" wrap="square" anchor="ctr"/>
                    <a:lstStyle/>
                    <a:p>
                      <a:pPr algn="l"/>
                      <a:r>
                        <a:rPr sz="850" b="0">
                          <a:solidFill>
                            <a:srgbClr val="000000"/>
                          </a:solidFill>
                          <a:latin typeface="Calibri"/>
                        </a:rPr>
                        <a:t>If the recording holds no clean frame of the specimen at rest — it starts after the pull began, or the early frames are mid-adjustment — press Use an image… and pick a still instead. It must be the SAME size as the video, and the boxes are then placed on it, because that is where Px₀ is measured.</a:t>
                      </a:r>
                    </a:p>
                  </a:txBody>
                  <a:tcPr/>
                </a:tc>
              </a:tr>
              <a:tr h="868680">
                <a:tc>
                  <a:txBody>
                    <a:bodyPr lIns="54864" rIns="54864" tIns="18288" bIns="18288" wrap="square" anchor="ctr"/>
                    <a:lstStyle/>
                    <a:p>
                      <a:pPr algn="l"/>
                      <a:r>
                        <a:rPr sz="850" b="0">
                          <a:solidFill>
                            <a:srgbClr val="000000"/>
                          </a:solidFill>
                          <a:latin typeface="Calibri"/>
                        </a:rPr>
                        <a:t>4</a:t>
                      </a:r>
                    </a:p>
                  </a:txBody>
                  <a:tcPr/>
                </a:tc>
                <a:tc>
                  <a:txBody>
                    <a:bodyPr lIns="54864" rIns="54864" tIns="18288" bIns="18288" wrap="square" anchor="ctr"/>
                    <a:lstStyle/>
                    <a:p>
                      <a:pPr algn="l"/>
                      <a:r>
                        <a:rPr sz="850" b="0">
                          <a:solidFill>
                            <a:srgbClr val="000000"/>
                          </a:solidFill>
                          <a:latin typeface="Calibri"/>
                        </a:rPr>
                        <a:t>Place the two boxes</a:t>
                      </a:r>
                    </a:p>
                  </a:txBody>
                  <a:tcPr/>
                </a:tc>
                <a:tc>
                  <a:txBody>
                    <a:bodyPr lIns="54864" rIns="54864" tIns="18288" bIns="18288" wrap="square" anchor="ctr"/>
                    <a:lstStyle/>
                    <a:p>
                      <a:pPr algn="l"/>
                      <a:r>
                        <a:rPr sz="850" b="0">
                          <a:solidFill>
                            <a:srgbClr val="000000"/>
                          </a:solidFill>
                          <a:latin typeface="Calibri"/>
                        </a:rPr>
                        <a:t>Press Auto-detect markers, or click near each marker and the box snaps to that marker's centre. Drag a box to move it, or select one and nudge it with the arrow keys.</a:t>
                      </a:r>
                    </a:p>
                  </a:txBody>
                  <a:tcPr/>
                </a:tc>
                <a:tc>
                  <a:txBody>
                    <a:bodyPr lIns="54864" rIns="54864" tIns="18288" bIns="18288" wrap="square" anchor="ctr"/>
                    <a:lstStyle/>
                    <a:p>
                      <a:pPr algn="l"/>
                      <a:r>
                        <a:rPr sz="850" b="0">
                          <a:solidFill>
                            <a:srgbClr val="000000"/>
                          </a:solidFill>
                          <a:latin typeface="Calibri"/>
                        </a:rPr>
                        <a:t>Make the box wider than the marker's radius. This is the single biggest lever on precision: a patch that sits inside the dot has only flat black to lock onto and is about 13× noisier than one that reaches past the edge.</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from the tool at build time. Every step's remaining notes are in the guide window itself — Guide, or Ctrl+Shift+P.</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302</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SF20 · THE PROCEDURE — MEASURING, AND TAKING THE RESULTS</a:t>
            </a:r>
          </a:p>
        </p:txBody>
      </p:sp>
      <p:sp>
        <p:nvSpPr>
          <p:cNvPr id="5" name="TextBox 4"/>
          <p:cNvSpPr txBox="1"/>
          <p:nvPr/>
        </p:nvSpPr>
        <p:spPr>
          <a:xfrm>
            <a:off x="411480" y="1024128"/>
            <a:ext cx="11430000" cy="310896"/>
          </a:xfrm>
          <a:prstGeom prst="rect">
            <a:avLst/>
          </a:prstGeom>
          <a:noFill/>
        </p:spPr>
        <p:txBody>
          <a:bodyPr wrap="square" lIns="45720" rIns="45720" tIns="18288" bIns="18288" anchor="t">
            <a:spAutoFit/>
          </a:bodyPr>
          <a:lstStyle/>
          <a:p>
            <a:pPr algn="l"/>
            <a:r>
              <a:rPr sz="1100" b="0" i="1">
                <a:solidFill>
                  <a:srgbClr val="707070"/>
                </a:solidFill>
                <a:latin typeface="Calibri"/>
              </a:rPr>
              <a:t>Steps 5–7 of 7, as the tool states them. The right-hand column is the part that is easy to get wrong.</a:t>
            </a:r>
          </a:p>
        </p:txBody>
      </p:sp>
      <p:graphicFrame>
        <p:nvGraphicFramePr>
          <p:cNvPr id="6" name="Table 5"/>
          <p:cNvGraphicFramePr>
            <a:graphicFrameLocks noGrp="1"/>
          </p:cNvGraphicFramePr>
          <p:nvPr/>
        </p:nvGraphicFramePr>
        <p:xfrm>
          <a:off x="411480" y="1426464"/>
          <a:ext cx="11429999" cy="3474720"/>
        </p:xfrm>
        <a:graphic>
          <a:graphicData uri="http://schemas.openxmlformats.org/drawingml/2006/table">
            <a:tbl>
              <a:tblPr firstRow="1" bandRow="1">
                <a:tableStyleId>{5C22544A-7EE6-4342-B048-85BDC9FD1C3A}</a:tableStyleId>
              </a:tblPr>
              <a:tblGrid>
                <a:gridCol w="310896"/>
                <a:gridCol w="1874519"/>
                <a:gridCol w="4709160"/>
                <a:gridCol w="4535424"/>
              </a:tblGrid>
              <a:tr h="868680">
                <a:tc>
                  <a:txBody>
                    <a:bodyPr lIns="54864" rIns="54864" tIns="18288" bIns="18288" wrap="square" anchor="ctr"/>
                    <a:lstStyle/>
                    <a:p>
                      <a:pPr algn="l"/>
                      <a:r>
                        <a:rPr sz="1000" b="1">
                          <a:solidFill>
                            <a:srgbClr val="FFFFFF"/>
                          </a:solidFill>
                          <a:latin typeface="Calibri"/>
                        </a:rPr>
                        <a:t>#</a:t>
                      </a:r>
                    </a:p>
                  </a:txBody>
                  <a:tcPr>
                    <a:solidFill>
                      <a:srgbClr val="143D2F"/>
                    </a:solidFill>
                  </a:tcPr>
                </a:tc>
                <a:tc>
                  <a:txBody>
                    <a:bodyPr lIns="54864" rIns="54864" tIns="18288" bIns="18288" wrap="square" anchor="ctr"/>
                    <a:lstStyle/>
                    <a:p>
                      <a:pPr algn="l"/>
                      <a:r>
                        <a:rPr sz="1000" b="1">
                          <a:solidFill>
                            <a:srgbClr val="FFFFFF"/>
                          </a:solidFill>
                          <a:latin typeface="Calibri"/>
                        </a:rPr>
                        <a:t>Step</a:t>
                      </a:r>
                    </a:p>
                  </a:txBody>
                  <a:tcPr>
                    <a:solidFill>
                      <a:srgbClr val="143D2F"/>
                    </a:solidFill>
                  </a:tcPr>
                </a:tc>
                <a:tc>
                  <a:txBody>
                    <a:bodyPr lIns="54864" rIns="54864" tIns="18288" bIns="18288" wrap="square" anchor="ctr"/>
                    <a:lstStyle/>
                    <a:p>
                      <a:pPr algn="l"/>
                      <a:r>
                        <a:rPr sz="1000" b="1">
                          <a:solidFill>
                            <a:srgbClr val="FFFFFF"/>
                          </a:solidFill>
                          <a:latin typeface="Calibri"/>
                        </a:rPr>
                        <a:t>What to do</a:t>
                      </a:r>
                    </a:p>
                  </a:txBody>
                  <a:tcPr>
                    <a:solidFill>
                      <a:srgbClr val="143D2F"/>
                    </a:solidFill>
                  </a:tcPr>
                </a:tc>
                <a:tc>
                  <a:txBody>
                    <a:bodyPr lIns="54864" rIns="54864" tIns="18288" bIns="18288" wrap="square" anchor="ctr"/>
                    <a:lstStyle/>
                    <a:p>
                      <a:pPr algn="l"/>
                      <a:r>
                        <a:rPr sz="1000" b="1">
                          <a:solidFill>
                            <a:srgbClr val="FFFFFF"/>
                          </a:solidFill>
                          <a:latin typeface="Calibri"/>
                        </a:rPr>
                        <a:t>The part that catches people out</a:t>
                      </a:r>
                    </a:p>
                  </a:txBody>
                  <a:tcPr>
                    <a:solidFill>
                      <a:srgbClr val="143D2F"/>
                    </a:solidFill>
                  </a:tcPr>
                </a:tc>
              </a:tr>
              <a:tr h="868680">
                <a:tc>
                  <a:txBody>
                    <a:bodyPr lIns="54864" rIns="54864" tIns="18288" bIns="18288" wrap="square" anchor="ctr"/>
                    <a:lstStyle/>
                    <a:p>
                      <a:pPr algn="l"/>
                      <a:r>
                        <a:rPr sz="850" b="0">
                          <a:solidFill>
                            <a:srgbClr val="000000"/>
                          </a:solidFill>
                          <a:latin typeface="Calibri"/>
                        </a:rPr>
                        <a:t>5</a:t>
                      </a:r>
                    </a:p>
                  </a:txBody>
                  <a:tcPr/>
                </a:tc>
                <a:tc>
                  <a:txBody>
                    <a:bodyPr lIns="54864" rIns="54864" tIns="18288" bIns="18288" wrap="square" anchor="ctr"/>
                    <a:lstStyle/>
                    <a:p>
                      <a:pPr algn="l"/>
                      <a:r>
                        <a:rPr sz="850" b="0">
                          <a:solidFill>
                            <a:srgbClr val="000000"/>
                          </a:solidFill>
                          <a:latin typeface="Calibri"/>
                        </a:rPr>
                        <a:t>Set the gauge</a:t>
                      </a:r>
                    </a:p>
                  </a:txBody>
                  <a:tcPr/>
                </a:tc>
                <a:tc>
                  <a:txBody>
                    <a:bodyPr lIns="54864" rIns="54864" tIns="18288" bIns="18288" wrap="square" anchor="ctr"/>
                    <a:lstStyle/>
                    <a:p>
                      <a:pPr algn="l"/>
                      <a:r>
                        <a:rPr sz="850" b="0">
                          <a:solidFill>
                            <a:srgbClr val="000000"/>
                          </a:solidFill>
                          <a:latin typeface="Calibri"/>
                        </a:rPr>
                        <a:t>Type the real distance between the two markers, in mm, into Gauge (A→B).</a:t>
                      </a:r>
                    </a:p>
                  </a:txBody>
                  <a:tcPr/>
                </a:tc>
                <a:tc>
                  <a:txBody>
                    <a:bodyPr lIns="54864" rIns="54864" tIns="18288" bIns="18288" wrap="square" anchor="ctr"/>
                    <a:lstStyle/>
                    <a:p>
                      <a:pPr algn="l"/>
                      <a:r>
                        <a:rPr sz="850" b="0">
                          <a:solidFill>
                            <a:srgbClr val="000000"/>
                          </a:solidFill>
                          <a:latin typeface="Calibri"/>
                        </a:rPr>
                        <a:t>This only sets px per mm. Strain itself is a ratio of PIXELS, so getting the gauge wrong changes no strain — it changes only the reported scale.</a:t>
                      </a:r>
                    </a:p>
                  </a:txBody>
                  <a:tcPr/>
                </a:tc>
              </a:tr>
              <a:tr h="868680">
                <a:tc>
                  <a:txBody>
                    <a:bodyPr lIns="54864" rIns="54864" tIns="18288" bIns="18288" wrap="square" anchor="ctr"/>
                    <a:lstStyle/>
                    <a:p>
                      <a:pPr algn="l"/>
                      <a:r>
                        <a:rPr sz="850" b="0">
                          <a:solidFill>
                            <a:srgbClr val="000000"/>
                          </a:solidFill>
                          <a:latin typeface="Calibri"/>
                        </a:rPr>
                        <a:t>6</a:t>
                      </a:r>
                    </a:p>
                  </a:txBody>
                  <a:tcPr/>
                </a:tc>
                <a:tc>
                  <a:txBody>
                    <a:bodyPr lIns="54864" rIns="54864" tIns="18288" bIns="18288" wrap="square" anchor="ctr"/>
                    <a:lstStyle/>
                    <a:p>
                      <a:pPr algn="l"/>
                      <a:r>
                        <a:rPr sz="850" b="0">
                          <a:solidFill>
                            <a:srgbClr val="000000"/>
                          </a:solidFill>
                          <a:latin typeface="Calibri"/>
                        </a:rPr>
                        <a:t>Run it</a:t>
                      </a:r>
                    </a:p>
                  </a:txBody>
                  <a:tcPr/>
                </a:tc>
                <a:tc>
                  <a:txBody>
                    <a:bodyPr lIns="54864" rIns="54864" tIns="18288" bIns="18288" wrap="square" anchor="ctr"/>
                    <a:lstStyle/>
                    <a:p>
                      <a:pPr algn="l"/>
                      <a:r>
                        <a:rPr sz="850" b="0">
                          <a:solidFill>
                            <a:srgbClr val="000000"/>
                          </a:solidFill>
                          <a:latin typeface="Calibri"/>
                        </a:rPr>
                        <a:t>Press Run this video, or Run all pending to work through every video that has its boxes placed, one after another, plotting each as it finishes.</a:t>
                      </a:r>
                    </a:p>
                  </a:txBody>
                  <a:tcPr/>
                </a:tc>
                <a:tc>
                  <a:txBody>
                    <a:bodyPr lIns="54864" rIns="54864" tIns="18288" bIns="18288" wrap="square" anchor="ctr"/>
                    <a:lstStyle/>
                    <a:p>
                      <a:pPr algn="l"/>
                      <a:r>
                        <a:rPr sz="850" b="0">
                          <a:solidFill>
                            <a:srgbClr val="000000"/>
                          </a:solidFill>
                          <a:latin typeface="Calibri"/>
                        </a:rPr>
                        <a:t>Watch the Px₀ / L / ε readout directly above the video. Seeing L climb while the specimen stretches is what makes the tracking believable — a strain curve alone gives no way to tell a real 2 % from a marker that has quietly slipped.</a:t>
                      </a:r>
                    </a:p>
                  </a:txBody>
                  <a:tcPr/>
                </a:tc>
              </a:tr>
              <a:tr h="868680">
                <a:tc>
                  <a:txBody>
                    <a:bodyPr lIns="54864" rIns="54864" tIns="18288" bIns="18288" wrap="square" anchor="ctr"/>
                    <a:lstStyle/>
                    <a:p>
                      <a:pPr algn="l"/>
                      <a:r>
                        <a:rPr sz="850" b="0">
                          <a:solidFill>
                            <a:srgbClr val="000000"/>
                          </a:solidFill>
                          <a:latin typeface="Calibri"/>
                        </a:rPr>
                        <a:t>7</a:t>
                      </a:r>
                    </a:p>
                  </a:txBody>
                  <a:tcPr/>
                </a:tc>
                <a:tc>
                  <a:txBody>
                    <a:bodyPr lIns="54864" rIns="54864" tIns="18288" bIns="18288" wrap="square" anchor="ctr"/>
                    <a:lstStyle/>
                    <a:p>
                      <a:pPr algn="l"/>
                      <a:r>
                        <a:rPr sz="850" b="0">
                          <a:solidFill>
                            <a:srgbClr val="000000"/>
                          </a:solidFill>
                          <a:latin typeface="Calibri"/>
                        </a:rPr>
                        <a:t>Take the results away</a:t>
                      </a:r>
                    </a:p>
                  </a:txBody>
                  <a:tcPr/>
                </a:tc>
                <a:tc>
                  <a:txBody>
                    <a:bodyPr lIns="54864" rIns="54864" tIns="18288" bIns="18288" wrap="square" anchor="ctr"/>
                    <a:lstStyle/>
                    <a:p>
                      <a:pPr algn="l"/>
                      <a:r>
                        <a:rPr sz="850" b="0">
                          <a:solidFill>
                            <a:srgbClr val="000000"/>
                          </a:solidFill>
                          <a:latin typeface="Calibri"/>
                        </a:rPr>
                        <a:t>The plot and the results table are both live. When you are happy with them, save what you need.</a:t>
                      </a:r>
                    </a:p>
                  </a:txBody>
                  <a:tcPr/>
                </a:tc>
                <a:tc>
                  <a:txBody>
                    <a:bodyPr lIns="54864" rIns="54864" tIns="18288" bIns="18288" wrap="square" anchor="ctr"/>
                    <a:lstStyle/>
                    <a:p>
                      <a:pPr algn="l"/>
                      <a:r>
                        <a:rPr sz="850" b="0">
                          <a:solidFill>
                            <a:srgbClr val="000000"/>
                          </a:solidFill>
                          <a:latin typeface="Calibri"/>
                        </a:rPr>
                        <a:t>The toolbar above the plot pans and zooms it, the same one the Load and Stress/Strain plots carry. A zoom set during a run is kept as the curve grows; Home returns to the whole curve, and a new run starts fresh.</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from the tool at build time. Every step's remaining notes are in the guide window itself — Guide, or Ctrl+Shift+P.</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20.9 px/mm — NOT A SETTING, BUT WHAT THE FRAME LEAVES</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px/mm is not a number anyone typed in. It is fixed by the lens, the working distance and the sensor crop, and it is what the FIELD OF VIEW leaves behind. The field of view is the thing that was actually chosen, and this is the constraint that chose it.</a:t>
            </a:r>
          </a:p>
        </p:txBody>
      </p:sp>
      <p:pic>
        <p:nvPicPr>
          <p:cNvPr id="6" name="Picture 5" descr="pxmm_tradeoff.png"/>
          <p:cNvPicPr>
            <a:picLocks noChangeAspect="1"/>
          </p:cNvPicPr>
          <p:nvPr/>
        </p:nvPicPr>
        <p:blipFill>
          <a:blip r:embed="rId2"/>
          <a:stretch>
            <a:fillRect/>
          </a:stretch>
        </p:blipFill>
        <p:spPr>
          <a:xfrm>
            <a:off x="413353" y="1481328"/>
            <a:ext cx="11380532" cy="2670048"/>
          </a:xfrm>
          <a:prstGeom prst="rect">
            <a:avLst/>
          </a:prstGeom>
        </p:spPr>
      </p:pic>
      <p:sp>
        <p:nvSpPr>
          <p:cNvPr id="7" name="TextBox 6"/>
          <p:cNvSpPr txBox="1"/>
          <p:nvPr/>
        </p:nvSpPr>
        <p:spPr>
          <a:xfrm>
            <a:off x="411480" y="42611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binding constraint</a:t>
            </a:r>
          </a:p>
        </p:txBody>
      </p:sp>
      <p:sp>
        <p:nvSpPr>
          <p:cNvPr id="8" name="TextBox 7"/>
          <p:cNvSpPr txBox="1"/>
          <p:nvPr/>
        </p:nvSpPr>
        <p:spPr>
          <a:xfrm>
            <a:off x="411480" y="4608576"/>
            <a:ext cx="3703320" cy="1481328"/>
          </a:xfrm>
          <a:prstGeom prst="rect">
            <a:avLst/>
          </a:prstGeom>
          <a:noFill/>
        </p:spPr>
        <p:txBody>
          <a:bodyPr wrap="square" lIns="45720" rIns="45720" tIns="18288" bIns="18288" anchor="t">
            <a:spAutoFit/>
          </a:bodyPr>
          <a:lstStyle/>
          <a:p>
            <a:pPr algn="l"/>
            <a:r>
              <a:rPr sz="1000" b="0" i="0">
                <a:solidFill>
                  <a:srgbClr val="000000"/>
                </a:solidFill>
                <a:latin typeface="Calibri"/>
              </a:rPr>
              <a:t>A fracture test is only useful if the markers stay in frame until the specimen breaks. On a 2348 px crop with a 75 px box, a marker reaches the edge at 31 % strain. The rig's own travel backstop is 37.5 % on an 80 mm gauge, so the frame very nearly outlasts the machine — and the full 2448 px sensor takes it to 37 %, past the backstop.</a:t>
            </a:r>
          </a:p>
        </p:txBody>
      </p:sp>
      <p:sp>
        <p:nvSpPr>
          <p:cNvPr id="9" name="TextBox 8"/>
          <p:cNvSpPr txBox="1"/>
          <p:nvPr/>
        </p:nvSpPr>
        <p:spPr>
          <a:xfrm>
            <a:off x="4343400" y="42611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much margin that actually is</a:t>
            </a:r>
          </a:p>
        </p:txBody>
      </p:sp>
      <p:graphicFrame>
        <p:nvGraphicFramePr>
          <p:cNvPr id="10" name="Table 9"/>
          <p:cNvGraphicFramePr>
            <a:graphicFrameLocks noGrp="1"/>
          </p:cNvGraphicFramePr>
          <p:nvPr/>
        </p:nvGraphicFramePr>
        <p:xfrm>
          <a:off x="4343400" y="4608576"/>
          <a:ext cx="3703320" cy="1481328"/>
        </p:xfrm>
        <a:graphic>
          <a:graphicData uri="http://schemas.openxmlformats.org/drawingml/2006/table">
            <a:tbl>
              <a:tblPr firstRow="1" bandRow="1">
                <a:tableStyleId>{5C22544A-7EE6-4342-B048-85BDC9FD1C3A}</a:tableStyleId>
              </a:tblPr>
              <a:tblGrid>
                <a:gridCol w="2514600"/>
                <a:gridCol w="1188720"/>
              </a:tblGrid>
              <a:tr h="296265">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strain</a:t>
                      </a:r>
                    </a:p>
                  </a:txBody>
                  <a:tcPr>
                    <a:solidFill>
                      <a:srgbClr val="143D2F"/>
                    </a:solidFill>
                  </a:tcPr>
                </a:tc>
              </a:tr>
              <a:tr h="296265">
                <a:tc>
                  <a:txBody>
                    <a:bodyPr lIns="54864" rIns="54864" tIns="18288" bIns="18288" wrap="square" anchor="ctr"/>
                    <a:lstStyle/>
                    <a:p>
                      <a:pPr algn="l"/>
                      <a:r>
                        <a:rPr sz="850" b="0">
                          <a:solidFill>
                            <a:srgbClr val="000000"/>
                          </a:solidFill>
                          <a:latin typeface="Calibri"/>
                        </a:rPr>
                        <a:t>S25 fractured at</a:t>
                      </a:r>
                    </a:p>
                  </a:txBody>
                  <a:tcPr/>
                </a:tc>
                <a:tc>
                  <a:txBody>
                    <a:bodyPr lIns="54864" rIns="54864" tIns="18288" bIns="18288" wrap="square" anchor="ctr"/>
                    <a:lstStyle/>
                    <a:p>
                      <a:pPr algn="l"/>
                      <a:r>
                        <a:rPr sz="850" b="0">
                          <a:solidFill>
                            <a:srgbClr val="000000"/>
                          </a:solidFill>
                          <a:latin typeface="Calibri"/>
                        </a:rPr>
                        <a:t>4.18 %</a:t>
                      </a:r>
                    </a:p>
                  </a:txBody>
                  <a:tcPr/>
                </a:tc>
              </a:tr>
              <a:tr h="296265">
                <a:tc>
                  <a:txBody>
                    <a:bodyPr lIns="54864" rIns="54864" tIns="18288" bIns="18288" wrap="square" anchor="ctr"/>
                    <a:lstStyle/>
                    <a:p>
                      <a:pPr algn="l"/>
                      <a:r>
                        <a:rPr sz="850" b="0">
                          <a:solidFill>
                            <a:srgbClr val="000000"/>
                          </a:solidFill>
                          <a:latin typeface="Calibri"/>
                        </a:rPr>
                        <a:t>S26 fractured at</a:t>
                      </a:r>
                    </a:p>
                  </a:txBody>
                  <a:tcPr/>
                </a:tc>
                <a:tc>
                  <a:txBody>
                    <a:bodyPr lIns="54864" rIns="54864" tIns="18288" bIns="18288" wrap="square" anchor="ctr"/>
                    <a:lstStyle/>
                    <a:p>
                      <a:pPr algn="l"/>
                      <a:r>
                        <a:rPr sz="850" b="0">
                          <a:solidFill>
                            <a:srgbClr val="000000"/>
                          </a:solidFill>
                          <a:latin typeface="Calibri"/>
                        </a:rPr>
                        <a:t>5.74 %</a:t>
                      </a:r>
                    </a:p>
                  </a:txBody>
                  <a:tcPr/>
                </a:tc>
              </a:tr>
              <a:tr h="296265">
                <a:tc>
                  <a:txBody>
                    <a:bodyPr lIns="54864" rIns="54864" tIns="18288" bIns="18288" wrap="square" anchor="ctr"/>
                    <a:lstStyle/>
                    <a:p>
                      <a:pPr algn="l"/>
                      <a:r>
                        <a:rPr sz="850" b="0">
                          <a:solidFill>
                            <a:srgbClr val="000000"/>
                          </a:solidFill>
                          <a:latin typeface="Calibri"/>
                        </a:rPr>
                        <a:t>a marker leaves the frame at</a:t>
                      </a:r>
                    </a:p>
                  </a:txBody>
                  <a:tcPr/>
                </a:tc>
                <a:tc>
                  <a:txBody>
                    <a:bodyPr lIns="54864" rIns="54864" tIns="18288" bIns="18288" wrap="square" anchor="ctr"/>
                    <a:lstStyle/>
                    <a:p>
                      <a:pPr algn="l"/>
                      <a:r>
                        <a:rPr sz="850" b="0">
                          <a:solidFill>
                            <a:srgbClr val="000000"/>
                          </a:solidFill>
                          <a:latin typeface="Calibri"/>
                        </a:rPr>
                        <a:t>31 %</a:t>
                      </a:r>
                    </a:p>
                  </a:txBody>
                  <a:tcPr/>
                </a:tc>
              </a:tr>
              <a:tr h="296268">
                <a:tc>
                  <a:txBody>
                    <a:bodyPr lIns="54864" rIns="54864" tIns="18288" bIns="18288" wrap="square" anchor="ctr"/>
                    <a:lstStyle/>
                    <a:p>
                      <a:pPr algn="l"/>
                      <a:r>
                        <a:rPr sz="850" b="0">
                          <a:solidFill>
                            <a:srgbClr val="000000"/>
                          </a:solidFill>
                          <a:latin typeface="Calibri"/>
                        </a:rPr>
                        <a:t>margin on PLA</a:t>
                      </a:r>
                    </a:p>
                  </a:txBody>
                  <a:tcPr/>
                </a:tc>
                <a:tc>
                  <a:txBody>
                    <a:bodyPr lIns="54864" rIns="54864" tIns="18288" bIns="18288" wrap="square" anchor="ctr"/>
                    <a:lstStyle/>
                    <a:p>
                      <a:pPr algn="l"/>
                      <a:r>
                        <a:rPr sz="850" b="0">
                          <a:solidFill>
                            <a:srgbClr val="000000"/>
                          </a:solidFill>
                          <a:latin typeface="Calibri"/>
                        </a:rPr>
                        <a:t>5×</a:t>
                      </a:r>
                    </a:p>
                  </a:txBody>
                  <a:tcPr/>
                </a:tc>
              </a:tr>
            </a:tbl>
          </a:graphicData>
        </a:graphic>
      </p:graphicFrame>
      <p:sp>
        <p:nvSpPr>
          <p:cNvPr id="11" name="TextBox 10"/>
          <p:cNvSpPr txBox="1"/>
          <p:nvPr/>
        </p:nvSpPr>
        <p:spPr>
          <a:xfrm>
            <a:off x="8275320" y="426110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is NOT enough</a:t>
            </a:r>
          </a:p>
        </p:txBody>
      </p:sp>
      <p:sp>
        <p:nvSpPr>
          <p:cNvPr id="12" name="TextBox 11"/>
          <p:cNvSpPr txBox="1"/>
          <p:nvPr/>
        </p:nvSpPr>
        <p:spPr>
          <a:xfrm>
            <a:off x="8275320" y="4608576"/>
            <a:ext cx="3566160" cy="1481328"/>
          </a:xfrm>
          <a:prstGeom prst="rect">
            <a:avLst/>
          </a:prstGeom>
          <a:noFill/>
        </p:spPr>
        <p:txBody>
          <a:bodyPr wrap="square" lIns="45720" rIns="45720" tIns="18288" bIns="18288" anchor="t">
            <a:spAutoFit/>
          </a:bodyPr>
          <a:lstStyle/>
          <a:p>
            <a:pPr algn="l"/>
            <a:r>
              <a:rPr sz="1000" b="0" i="0">
                <a:solidFill>
                  <a:srgbClr val="000000"/>
                </a:solidFill>
                <a:latin typeface="Calibri"/>
              </a:rPr>
              <a:t>TPU. An elastomer runs to hundreds of per cent, so the markers leave the frame long before anything stops the test and the trace simply ends mid-pull. That is a known limit of the shipped crop, recorded in camera_manager.set_roi, and the reason a wider ROI exists as an override rather than the ROI being treated as fixed.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Basler acA2440-35um, shipped ROI [0, 988, 2348, 419]. The 80 mm gauge lands on 1676 px, so px/mm = 20.95 — an OUTPUT of the optics, not an input.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304</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WOULD MORE PIXELS PER mm BE BETTER? — THE XT-205 ANSWERS IT</a:t>
            </a:r>
          </a:p>
        </p:txBody>
      </p:sp>
      <p:sp>
        <p:nvSpPr>
          <p:cNvPr id="5" name="TextBox 4"/>
          <p:cNvSpPr txBox="1"/>
          <p:nvPr/>
        </p:nvSpPr>
        <p:spPr>
          <a:xfrm>
            <a:off x="411480" y="1024128"/>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The XT-205 sits at the other end of the same trade: 33 % more pixels per millimetre, and a field of view that holds almost nothing but the gauge. It is the experiment we did not have to run ourselves.</a:t>
            </a:r>
          </a:p>
        </p:txBody>
      </p:sp>
      <p:sp>
        <p:nvSpPr>
          <p:cNvPr id="6" name="TextBox 5"/>
          <p:cNvSpPr txBox="1"/>
          <p:nvPr/>
        </p:nvSpPr>
        <p:spPr>
          <a:xfrm>
            <a:off x="411480" y="15179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extra magnification bought, and what it cost</a:t>
            </a:r>
          </a:p>
        </p:txBody>
      </p:sp>
      <p:graphicFrame>
        <p:nvGraphicFramePr>
          <p:cNvPr id="7" name="Table 6"/>
          <p:cNvGraphicFramePr>
            <a:graphicFrameLocks noGrp="1"/>
          </p:cNvGraphicFramePr>
          <p:nvPr/>
        </p:nvGraphicFramePr>
        <p:xfrm>
          <a:off x="411480" y="1865376"/>
          <a:ext cx="11430000" cy="2103120"/>
        </p:xfrm>
        <a:graphic>
          <a:graphicData uri="http://schemas.openxmlformats.org/drawingml/2006/table">
            <a:tbl>
              <a:tblPr firstRow="1" bandRow="1">
                <a:tableStyleId>{5C22544A-7EE6-4342-B048-85BDC9FD1C3A}</a:tableStyleId>
              </a:tblPr>
              <a:tblGrid>
                <a:gridCol w="2606040"/>
                <a:gridCol w="1965960"/>
                <a:gridCol w="1965960"/>
                <a:gridCol w="4892040"/>
              </a:tblGrid>
              <a:tr h="3505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350520">
                <a:tc>
                  <a:txBody>
                    <a:bodyPr lIns="54864" rIns="54864" tIns="18288" bIns="18288" wrap="square" anchor="ctr"/>
                    <a:lstStyle/>
                    <a:p>
                      <a:pPr algn="l"/>
                      <a:r>
                        <a:rPr sz="850" b="0">
                          <a:solidFill>
                            <a:srgbClr val="000000"/>
                          </a:solidFill>
                          <a:latin typeface="Calibri"/>
                        </a:rPr>
                        <a:t>pixels per millimetre</a:t>
                      </a:r>
                    </a:p>
                  </a:txBody>
                  <a:tcPr/>
                </a:tc>
                <a:tc>
                  <a:txBody>
                    <a:bodyPr lIns="54864" rIns="54864" tIns="18288" bIns="18288" wrap="square" anchor="ctr"/>
                    <a:lstStyle/>
                    <a:p>
                      <a:pPr algn="l"/>
                      <a:r>
                        <a:rPr sz="850" b="0">
                          <a:solidFill>
                            <a:srgbClr val="000000"/>
                          </a:solidFill>
                          <a:latin typeface="Calibri"/>
                        </a:rPr>
                        <a:t>21.0</a:t>
                      </a:r>
                    </a:p>
                  </a:txBody>
                  <a:tcPr/>
                </a:tc>
                <a:tc>
                  <a:txBody>
                    <a:bodyPr lIns="54864" rIns="54864" tIns="18288" bIns="18288" wrap="square" anchor="ctr"/>
                    <a:lstStyle/>
                    <a:p>
                      <a:pPr algn="l"/>
                      <a:r>
                        <a:rPr sz="850" b="0">
                          <a:solidFill>
                            <a:srgbClr val="000000"/>
                          </a:solidFill>
                          <a:latin typeface="Calibri"/>
                        </a:rPr>
                        <a:t>27.9</a:t>
                      </a:r>
                    </a:p>
                  </a:txBody>
                  <a:tcPr/>
                </a:tc>
                <a:tc>
                  <a:txBody>
                    <a:bodyPr lIns="54864" rIns="54864" tIns="18288" bIns="18288" wrap="square" anchor="ctr"/>
                    <a:lstStyle/>
                    <a:p>
                      <a:pPr algn="l"/>
                      <a:r>
                        <a:rPr sz="850" b="0">
                          <a:solidFill>
                            <a:srgbClr val="000000"/>
                          </a:solidFill>
                          <a:latin typeface="Calibri"/>
                        </a:rPr>
                        <a:t>the XT-205 magnifies 33 % more</a:t>
                      </a:r>
                    </a:p>
                  </a:txBody>
                  <a:tcPr/>
                </a:tc>
              </a:tr>
              <a:tr h="350520">
                <a:tc>
                  <a:txBody>
                    <a:bodyPr lIns="54864" rIns="54864" tIns="18288" bIns="18288" wrap="square" anchor="ctr"/>
                    <a:lstStyle/>
                    <a:p>
                      <a:pPr algn="l"/>
                      <a:r>
                        <a:rPr sz="850" b="0">
                          <a:solidFill>
                            <a:srgbClr val="000000"/>
                          </a:solidFill>
                          <a:latin typeface="Calibri"/>
                        </a:rPr>
                        <a:t>one whole pixel, in strain</a:t>
                      </a:r>
                    </a:p>
                  </a:txBody>
                  <a:tcPr/>
                </a:tc>
                <a:tc>
                  <a:txBody>
                    <a:bodyPr lIns="54864" rIns="54864" tIns="18288" bIns="18288" wrap="square" anchor="ctr"/>
                    <a:lstStyle/>
                    <a:p>
                      <a:pPr algn="l"/>
                      <a:r>
                        <a:rPr sz="850" b="0">
                          <a:solidFill>
                            <a:srgbClr val="000000"/>
                          </a:solidFill>
                          <a:latin typeface="Calibri"/>
                        </a:rPr>
                        <a:t>597 µε</a:t>
                      </a:r>
                    </a:p>
                  </a:txBody>
                  <a:tcPr/>
                </a:tc>
                <a:tc>
                  <a:txBody>
                    <a:bodyPr lIns="54864" rIns="54864" tIns="18288" bIns="18288" wrap="square" anchor="ctr"/>
                    <a:lstStyle/>
                    <a:p>
                      <a:pPr algn="l"/>
                      <a:r>
                        <a:rPr sz="850" b="0">
                          <a:solidFill>
                            <a:srgbClr val="000000"/>
                          </a:solidFill>
                          <a:latin typeface="Calibri"/>
                        </a:rPr>
                        <a:t>448 µε</a:t>
                      </a:r>
                    </a:p>
                  </a:txBody>
                  <a:tcPr/>
                </a:tc>
                <a:tc>
                  <a:txBody>
                    <a:bodyPr lIns="54864" rIns="54864" tIns="18288" bIns="18288" wrap="square" anchor="ctr"/>
                    <a:lstStyle/>
                    <a:p>
                      <a:pPr algn="l"/>
                      <a:r>
                        <a:rPr sz="850" b="0">
                          <a:solidFill>
                            <a:srgbClr val="000000"/>
                          </a:solidFill>
                          <a:latin typeface="Calibri"/>
                        </a:rPr>
                        <a:t>so its quantisation floor is 25 % finer — a real gain</a:t>
                      </a:r>
                    </a:p>
                  </a:txBody>
                  <a:tcPr/>
                </a:tc>
              </a:tr>
              <a:tr h="350520">
                <a:tc>
                  <a:txBody>
                    <a:bodyPr lIns="54864" rIns="54864" tIns="18288" bIns="18288" wrap="square" anchor="ctr"/>
                    <a:lstStyle/>
                    <a:p>
                      <a:pPr algn="l"/>
                      <a:r>
                        <a:rPr sz="850" b="0">
                          <a:solidFill>
                            <a:srgbClr val="000000"/>
                          </a:solidFill>
                          <a:latin typeface="Calibri"/>
                        </a:rPr>
                        <a:t>field of view</a:t>
                      </a:r>
                    </a:p>
                  </a:txBody>
                  <a:tcPr/>
                </a:tc>
                <a:tc>
                  <a:txBody>
                    <a:bodyPr lIns="54864" rIns="54864" tIns="18288" bIns="18288" wrap="square" anchor="ctr"/>
                    <a:lstStyle/>
                    <a:p>
                      <a:pPr algn="l"/>
                      <a:r>
                        <a:rPr sz="850" b="0">
                          <a:solidFill>
                            <a:srgbClr val="000000"/>
                          </a:solidFill>
                          <a:latin typeface="Calibri"/>
                        </a:rPr>
                        <a:t>112.1 mm</a:t>
                      </a:r>
                    </a:p>
                  </a:txBody>
                  <a:tcPr/>
                </a:tc>
                <a:tc>
                  <a:txBody>
                    <a:bodyPr lIns="54864" rIns="54864" tIns="18288" bIns="18288" wrap="square" anchor="ctr"/>
                    <a:lstStyle/>
                    <a:p>
                      <a:pPr algn="l"/>
                      <a:r>
                        <a:rPr sz="850" b="0">
                          <a:solidFill>
                            <a:srgbClr val="000000"/>
                          </a:solidFill>
                          <a:latin typeface="Calibri"/>
                        </a:rPr>
                        <a:t>88.2 mm</a:t>
                      </a:r>
                    </a:p>
                  </a:txBody>
                  <a:tcPr/>
                </a:tc>
                <a:tc>
                  <a:txBody>
                    <a:bodyPr lIns="54864" rIns="54864" tIns="18288" bIns="18288" wrap="square" anchor="ctr"/>
                    <a:lstStyle/>
                    <a:p>
                      <a:pPr algn="l"/>
                      <a:r>
                        <a:rPr sz="850" b="0">
                          <a:solidFill>
                            <a:srgbClr val="000000"/>
                          </a:solidFill>
                          <a:latin typeface="Calibri"/>
                        </a:rPr>
                        <a:t>and it holds only 8.2 mm beyond an 80 mm gauge</a:t>
                      </a:r>
                    </a:p>
                  </a:txBody>
                  <a:tcPr/>
                </a:tc>
              </a:tr>
              <a:tr h="350520">
                <a:tc>
                  <a:txBody>
                    <a:bodyPr lIns="54864" rIns="54864" tIns="18288" bIns="18288" wrap="square" anchor="ctr"/>
                    <a:lstStyle/>
                    <a:p>
                      <a:pPr algn="l"/>
                      <a:r>
                        <a:rPr sz="850" b="0">
                          <a:solidFill>
                            <a:srgbClr val="000000"/>
                          </a:solidFill>
                          <a:latin typeface="Calibri"/>
                        </a:rPr>
                        <a:t>a marker leaves the frame at</a:t>
                      </a:r>
                    </a:p>
                  </a:txBody>
                  <a:tcPr/>
                </a:tc>
                <a:tc>
                  <a:txBody>
                    <a:bodyPr lIns="54864" rIns="54864" tIns="18288" bIns="18288" wrap="square" anchor="ctr"/>
                    <a:lstStyle/>
                    <a:p>
                      <a:pPr algn="l"/>
                      <a:r>
                        <a:rPr sz="850" b="0">
                          <a:solidFill>
                            <a:srgbClr val="000000"/>
                          </a:solidFill>
                          <a:latin typeface="Calibri"/>
                        </a:rPr>
                        <a:t>31 % strain</a:t>
                      </a:r>
                    </a:p>
                  </a:txBody>
                  <a:tcPr/>
                </a:tc>
                <a:tc>
                  <a:txBody>
                    <a:bodyPr lIns="54864" rIns="54864" tIns="18288" bIns="18288" wrap="square" anchor="ctr"/>
                    <a:lstStyle/>
                    <a:p>
                      <a:pPr algn="l"/>
                      <a:r>
                        <a:rPr sz="850" b="0">
                          <a:solidFill>
                            <a:srgbClr val="000000"/>
                          </a:solidFill>
                          <a:latin typeface="Calibri"/>
                        </a:rPr>
                        <a:t>0.70 % strain</a:t>
                      </a:r>
                    </a:p>
                  </a:txBody>
                  <a:tcPr/>
                </a:tc>
                <a:tc>
                  <a:txBody>
                    <a:bodyPr lIns="54864" rIns="54864" tIns="18288" bIns="18288" wrap="square" anchor="ctr"/>
                    <a:lstStyle/>
                    <a:p>
                      <a:pPr algn="l"/>
                      <a:r>
                        <a:rPr sz="850" b="0">
                          <a:solidFill>
                            <a:srgbClr val="000000"/>
                          </a:solidFill>
                          <a:latin typeface="Calibri"/>
                        </a:rPr>
                        <a:t>which is the whole cost, in one number</a:t>
                      </a:r>
                    </a:p>
                  </a:txBody>
                  <a:tcPr/>
                </a:tc>
              </a:tr>
              <a:tr h="350520">
                <a:tc>
                  <a:txBody>
                    <a:bodyPr lIns="54864" rIns="54864" tIns="18288" bIns="18288" wrap="square" anchor="ctr"/>
                    <a:lstStyle/>
                    <a:p>
                      <a:pPr algn="l"/>
                      <a:r>
                        <a:rPr sz="850" b="0">
                          <a:solidFill>
                            <a:srgbClr val="000000"/>
                          </a:solidFill>
                          <a:latin typeface="Calibri"/>
                        </a:rPr>
                        <a:t>what actually happened</a:t>
                      </a:r>
                    </a:p>
                  </a:txBody>
                  <a:tcPr/>
                </a:tc>
                <a:tc>
                  <a:txBody>
                    <a:bodyPr lIns="54864" rIns="54864" tIns="18288" bIns="18288" wrap="square" anchor="ctr"/>
                    <a:lstStyle/>
                    <a:p>
                      <a:pPr algn="l"/>
                      <a:r>
                        <a:rPr sz="850" b="0">
                          <a:solidFill>
                            <a:srgbClr val="000000"/>
                          </a:solidFill>
                          <a:latin typeface="Calibri"/>
                        </a:rPr>
                        <a:t>ran to fracture</a:t>
                      </a:r>
                    </a:p>
                  </a:txBody>
                  <a:tcPr/>
                </a:tc>
                <a:tc>
                  <a:txBody>
                    <a:bodyPr lIns="54864" rIns="54864" tIns="18288" bIns="18288" wrap="square" anchor="ctr"/>
                    <a:lstStyle/>
                    <a:p>
                      <a:pPr algn="l"/>
                      <a:r>
                        <a:rPr sz="850" b="0">
                          <a:solidFill>
                            <a:srgbClr val="000000"/>
                          </a:solidFill>
                          <a:latin typeface="Calibri"/>
                        </a:rPr>
                        <a:t>degraded at 0.52 %</a:t>
                      </a:r>
                    </a:p>
                  </a:txBody>
                  <a:tcPr/>
                </a:tc>
                <a:tc>
                  <a:txBody>
                    <a:bodyPr lIns="54864" rIns="54864" tIns="18288" bIns="18288" wrap="square" anchor="ctr"/>
                    <a:lstStyle/>
                    <a:p>
                      <a:pPr algn="l"/>
                      <a:r>
                        <a:rPr sz="850" b="0">
                          <a:solidFill>
                            <a:srgbClr val="000000"/>
                          </a:solidFill>
                          <a:latin typeface="Calibri"/>
                        </a:rPr>
                        <a:t>its box hit the frame edge; 184 rows pinned there (p295)</a:t>
                      </a:r>
                    </a:p>
                  </a:txBody>
                  <a:tcPr/>
                </a:tc>
              </a:tr>
            </a:tbl>
          </a:graphicData>
        </a:graphic>
      </p:graphicFrame>
      <p:sp>
        <p:nvSpPr>
          <p:cNvPr id="8" name="TextBox 7"/>
          <p:cNvSpPr txBox="1"/>
          <p:nvPr/>
        </p:nvSpPr>
        <p:spPr>
          <a:xfrm>
            <a:off x="411480" y="41330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finer pixel did NOT set the precision</a:t>
            </a:r>
          </a:p>
        </p:txBody>
      </p:sp>
      <p:graphicFrame>
        <p:nvGraphicFramePr>
          <p:cNvPr id="9" name="Table 8"/>
          <p:cNvGraphicFramePr>
            <a:graphicFrameLocks noGrp="1"/>
          </p:cNvGraphicFramePr>
          <p:nvPr/>
        </p:nvGraphicFramePr>
        <p:xfrm>
          <a:off x="411480" y="4480560"/>
          <a:ext cx="5623560" cy="1234440"/>
        </p:xfrm>
        <a:graphic>
          <a:graphicData uri="http://schemas.openxmlformats.org/drawingml/2006/table">
            <a:tbl>
              <a:tblPr firstRow="1" bandRow="1">
                <a:tableStyleId>{5C22544A-7EE6-4342-B048-85BDC9FD1C3A}</a:tableStyleId>
              </a:tblPr>
              <a:tblGrid>
                <a:gridCol w="2377440"/>
                <a:gridCol w="1645920"/>
                <a:gridCol w="1600200"/>
              </a:tblGrid>
              <a:tr h="30861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 footage</a:t>
                      </a:r>
                    </a:p>
                  </a:txBody>
                  <a:tcPr>
                    <a:solidFill>
                      <a:srgbClr val="143D2F"/>
                    </a:solidFill>
                  </a:tcPr>
                </a:tc>
              </a:tr>
              <a:tr h="308610">
                <a:tc>
                  <a:txBody>
                    <a:bodyPr lIns="54864" rIns="54864" tIns="18288" bIns="18288" wrap="square" anchor="ctr"/>
                    <a:lstStyle/>
                    <a:p>
                      <a:pPr algn="l"/>
                      <a:r>
                        <a:rPr sz="850" b="0">
                          <a:solidFill>
                            <a:srgbClr val="000000"/>
                          </a:solidFill>
                          <a:latin typeface="Calibri"/>
                        </a:rPr>
                        <a:t>one whole pixel</a:t>
                      </a:r>
                    </a:p>
                  </a:txBody>
                  <a:tcPr/>
                </a:tc>
                <a:tc>
                  <a:txBody>
                    <a:bodyPr lIns="54864" rIns="54864" tIns="18288" bIns="18288" wrap="square" anchor="ctr"/>
                    <a:lstStyle/>
                    <a:p>
                      <a:pPr algn="l"/>
                      <a:r>
                        <a:rPr sz="850" b="0">
                          <a:solidFill>
                            <a:srgbClr val="000000"/>
                          </a:solidFill>
                          <a:latin typeface="Calibri"/>
                        </a:rPr>
                        <a:t>597 µε</a:t>
                      </a:r>
                    </a:p>
                  </a:txBody>
                  <a:tcPr/>
                </a:tc>
                <a:tc>
                  <a:txBody>
                    <a:bodyPr lIns="54864" rIns="54864" tIns="18288" bIns="18288" wrap="square" anchor="ctr"/>
                    <a:lstStyle/>
                    <a:p>
                      <a:pPr algn="l"/>
                      <a:r>
                        <a:rPr sz="850" b="0">
                          <a:solidFill>
                            <a:srgbClr val="000000"/>
                          </a:solidFill>
                          <a:latin typeface="Calibri"/>
                        </a:rPr>
                        <a:t>448 µε</a:t>
                      </a:r>
                    </a:p>
                  </a:txBody>
                  <a:tcPr/>
                </a:tc>
              </a:tr>
              <a:tr h="308610">
                <a:tc>
                  <a:txBody>
                    <a:bodyPr lIns="54864" rIns="54864" tIns="18288" bIns="18288" wrap="square" anchor="ctr"/>
                    <a:lstStyle/>
                    <a:p>
                      <a:pPr algn="l"/>
                      <a:r>
                        <a:rPr sz="850" b="0">
                          <a:solidFill>
                            <a:srgbClr val="000000"/>
                          </a:solidFill>
                          <a:latin typeface="Calibri"/>
                        </a:rPr>
                        <a:t>achieved by our pipeline</a:t>
                      </a:r>
                    </a:p>
                  </a:txBody>
                  <a:tcPr/>
                </a:tc>
                <a:tc>
                  <a:txBody>
                    <a:bodyPr lIns="54864" rIns="54864" tIns="18288" bIns="18288" wrap="square" anchor="ctr"/>
                    <a:lstStyle/>
                    <a:p>
                      <a:pPr algn="l"/>
                      <a:r>
                        <a:rPr sz="850" b="0">
                          <a:solidFill>
                            <a:srgbClr val="000000"/>
                          </a:solidFill>
                          <a:latin typeface="Calibri"/>
                        </a:rPr>
                        <a:t>11.3 µε</a:t>
                      </a:r>
                    </a:p>
                  </a:txBody>
                  <a:tcPr/>
                </a:tc>
                <a:tc>
                  <a:txBody>
                    <a:bodyPr lIns="54864" rIns="54864" tIns="18288" bIns="18288" wrap="square" anchor="ctr"/>
                    <a:lstStyle/>
                    <a:p>
                      <a:pPr algn="l"/>
                      <a:r>
                        <a:rPr sz="850" b="0">
                          <a:solidFill>
                            <a:srgbClr val="000000"/>
                          </a:solidFill>
                          <a:latin typeface="Calibri"/>
                        </a:rPr>
                        <a:t>5.7 µε</a:t>
                      </a:r>
                    </a:p>
                  </a:txBody>
                  <a:tcPr/>
                </a:tc>
              </a:tr>
              <a:tr h="308610">
                <a:tc>
                  <a:txBody>
                    <a:bodyPr lIns="54864" rIns="54864" tIns="18288" bIns="18288" wrap="square" anchor="ctr"/>
                    <a:lstStyle/>
                    <a:p>
                      <a:pPr algn="l"/>
                      <a:r>
                        <a:rPr sz="850" b="0">
                          <a:solidFill>
                            <a:srgbClr val="000000"/>
                          </a:solidFill>
                          <a:latin typeface="Calibri"/>
                        </a:rPr>
                        <a:t>sub-pixel factor</a:t>
                      </a:r>
                    </a:p>
                  </a:txBody>
                  <a:tcPr/>
                </a:tc>
                <a:tc>
                  <a:txBody>
                    <a:bodyPr lIns="54864" rIns="54864" tIns="18288" bIns="18288" wrap="square" anchor="ctr"/>
                    <a:lstStyle/>
                    <a:p>
                      <a:pPr algn="l"/>
                      <a:r>
                        <a:rPr sz="850" b="0">
                          <a:solidFill>
                            <a:srgbClr val="000000"/>
                          </a:solidFill>
                          <a:latin typeface="Calibri"/>
                        </a:rPr>
                        <a:t>53×</a:t>
                      </a:r>
                    </a:p>
                  </a:txBody>
                  <a:tcPr/>
                </a:tc>
                <a:tc>
                  <a:txBody>
                    <a:bodyPr lIns="54864" rIns="54864" tIns="18288" bIns="18288" wrap="square" anchor="ctr"/>
                    <a:lstStyle/>
                    <a:p>
                      <a:pPr algn="l"/>
                      <a:r>
                        <a:rPr sz="850" b="0">
                          <a:solidFill>
                            <a:srgbClr val="000000"/>
                          </a:solidFill>
                          <a:latin typeface="Calibri"/>
                        </a:rPr>
                        <a:t>79×</a:t>
                      </a:r>
                    </a:p>
                  </a:txBody>
                  <a:tcPr/>
                </a:tc>
              </a:tr>
            </a:tbl>
          </a:graphicData>
        </a:graphic>
      </p:graphicFrame>
      <p:sp>
        <p:nvSpPr>
          <p:cNvPr id="10" name="TextBox 9"/>
          <p:cNvSpPr txBox="1"/>
          <p:nvPr/>
        </p:nvSpPr>
        <p:spPr>
          <a:xfrm>
            <a:off x="6263640" y="41330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answer</a:t>
            </a:r>
          </a:p>
        </p:txBody>
      </p:sp>
      <p:sp>
        <p:nvSpPr>
          <p:cNvPr id="11" name="TextBox 10"/>
          <p:cNvSpPr txBox="1"/>
          <p:nvPr/>
        </p:nvSpPr>
        <p:spPr>
          <a:xfrm>
            <a:off x="6263640" y="4480560"/>
            <a:ext cx="5577840" cy="1234440"/>
          </a:xfrm>
          <a:prstGeom prst="rect">
            <a:avLst/>
          </a:prstGeom>
          <a:noFill/>
        </p:spPr>
        <p:txBody>
          <a:bodyPr wrap="square" lIns="45720" rIns="45720" tIns="18288" bIns="18288" anchor="t">
            <a:spAutoFit/>
          </a:bodyPr>
          <a:lstStyle/>
          <a:p>
            <a:pPr algn="l"/>
            <a:r>
              <a:rPr sz="1000" b="0" i="0">
                <a:solidFill>
                  <a:srgbClr val="000000"/>
                </a:solidFill>
                <a:latin typeface="Calibri"/>
              </a:rPr>
              <a:t>More px/mm IS better — but only while the frame still outlasts the test. Both machines achieve 53–79× better than one pixel, so the magnification sets the floor and the ESTIMATOR sets the result. Buying resolution with field of view is a bad trade for a fracture test, and a good one for a machine that only measures the elastic region.</a:t>
            </a:r>
          </a:p>
        </p:txBody>
      </p:sp>
      <p:sp>
        <p:nvSpPr>
          <p:cNvPr id="12" name="Rectangle 11"/>
          <p:cNvSpPr/>
          <p:nvPr/>
        </p:nvSpPr>
        <p:spPr>
          <a:xfrm>
            <a:off x="365760" y="5870448"/>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What we could NOT establish: no standard or literature basis for a px/mm target is recorded anywhere in this project. The choice is an engineering one — field of view against the machine's own travel limit — and it should be described that way rather than as a specification.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0.52 % figure is where the XT-205 run's own tracking degraded, measured independently; the 0.70 % is where its box geometry says it must. They agree.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305</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A CAMERA PROPERTY? — YES, AND A TAPE MEASURE CAN CHECK IT</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px/mm is the optical magnification divided by the pixel pitch — nothing else goes into it. Two constants of the hardware and one distance produce the number, and the last of those is the only thing anyone chose.</a:t>
            </a:r>
          </a:p>
        </p:txBody>
      </p:sp>
      <p:pic>
        <p:nvPicPr>
          <p:cNvPr id="6" name="Picture 5" descr="pxmm_optics.png"/>
          <p:cNvPicPr>
            <a:picLocks noChangeAspect="1"/>
          </p:cNvPicPr>
          <p:nvPr/>
        </p:nvPicPr>
        <p:blipFill>
          <a:blip r:embed="rId2"/>
          <a:stretch>
            <a:fillRect/>
          </a:stretch>
        </p:blipFill>
        <p:spPr>
          <a:xfrm>
            <a:off x="842072" y="1444752"/>
            <a:ext cx="10523095" cy="2468880"/>
          </a:xfrm>
          <a:prstGeom prst="rect">
            <a:avLst/>
          </a:prstGeom>
        </p:spPr>
      </p:pic>
      <p:sp>
        <p:nvSpPr>
          <p:cNvPr id="7" name="TextBox 6"/>
          <p:cNvSpPr txBox="1"/>
          <p:nvPr/>
        </p:nvSpPr>
        <p:spPr>
          <a:xfrm>
            <a:off x="411480" y="396849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end to end</a:t>
            </a:r>
          </a:p>
        </p:txBody>
      </p:sp>
      <p:graphicFrame>
        <p:nvGraphicFramePr>
          <p:cNvPr id="8" name="Table 7"/>
          <p:cNvGraphicFramePr>
            <a:graphicFrameLocks noGrp="1"/>
          </p:cNvGraphicFramePr>
          <p:nvPr/>
        </p:nvGraphicFramePr>
        <p:xfrm>
          <a:off x="411480" y="4315968"/>
          <a:ext cx="5715000" cy="1499616"/>
        </p:xfrm>
        <a:graphic>
          <a:graphicData uri="http://schemas.openxmlformats.org/drawingml/2006/table">
            <a:tbl>
              <a:tblPr firstRow="1" bandRow="1">
                <a:tableStyleId>{5C22544A-7EE6-4342-B048-85BDC9FD1C3A}</a:tableStyleId>
              </a:tblPr>
              <a:tblGrid>
                <a:gridCol w="1828800"/>
                <a:gridCol w="1051560"/>
                <a:gridCol w="2834640"/>
              </a:tblGrid>
              <a:tr h="249936">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where it comes from</a:t>
                      </a:r>
                    </a:p>
                  </a:txBody>
                  <a:tcPr>
                    <a:solidFill>
                      <a:srgbClr val="143D2F"/>
                    </a:solidFill>
                  </a:tcPr>
                </a:tc>
              </a:tr>
              <a:tr h="249936">
                <a:tc>
                  <a:txBody>
                    <a:bodyPr lIns="54864" rIns="54864" tIns="18288" bIns="18288" wrap="square" anchor="ctr"/>
                    <a:lstStyle/>
                    <a:p>
                      <a:pPr algn="l"/>
                      <a:r>
                        <a:rPr sz="850" b="0">
                          <a:solidFill>
                            <a:srgbClr val="000000"/>
                          </a:solidFill>
                          <a:latin typeface="Calibri"/>
                        </a:rPr>
                        <a:t>pixel pitch</a:t>
                      </a:r>
                    </a:p>
                  </a:txBody>
                  <a:tcPr/>
                </a:tc>
                <a:tc>
                  <a:txBody>
                    <a:bodyPr lIns="54864" rIns="54864" tIns="18288" bIns="18288" wrap="square" anchor="ctr"/>
                    <a:lstStyle/>
                    <a:p>
                      <a:pPr algn="l"/>
                      <a:r>
                        <a:rPr sz="850" b="0">
                          <a:solidFill>
                            <a:srgbClr val="000000"/>
                          </a:solidFill>
                          <a:latin typeface="Calibri"/>
                        </a:rPr>
                        <a:t>3.45 µm</a:t>
                      </a:r>
                    </a:p>
                  </a:txBody>
                  <a:tcPr/>
                </a:tc>
                <a:tc>
                  <a:txBody>
                    <a:bodyPr lIns="54864" rIns="54864" tIns="18288" bIns="18288" wrap="square" anchor="ctr"/>
                    <a:lstStyle/>
                    <a:p>
                      <a:pPr algn="l"/>
                      <a:r>
                        <a:rPr sz="850" b="0">
                          <a:solidFill>
                            <a:srgbClr val="000000"/>
                          </a:solidFill>
                          <a:latin typeface="Calibri"/>
                        </a:rPr>
                        <a:t>acA2440 datasheet</a:t>
                      </a:r>
                    </a:p>
                  </a:txBody>
                  <a:tcPr/>
                </a:tc>
              </a:tr>
              <a:tr h="249936">
                <a:tc>
                  <a:txBody>
                    <a:bodyPr lIns="54864" rIns="54864" tIns="18288" bIns="18288" wrap="square" anchor="ctr"/>
                    <a:lstStyle/>
                    <a:p>
                      <a:pPr algn="l"/>
                      <a:r>
                        <a:rPr sz="850" b="0">
                          <a:solidFill>
                            <a:srgbClr val="000000"/>
                          </a:solidFill>
                          <a:latin typeface="Calibri"/>
                        </a:rPr>
                        <a:t>lens</a:t>
                      </a:r>
                    </a:p>
                  </a:txBody>
                  <a:tcPr/>
                </a:tc>
                <a:tc>
                  <a:txBody>
                    <a:bodyPr lIns="54864" rIns="54864" tIns="18288" bIns="18288" wrap="square" anchor="ctr"/>
                    <a:lstStyle/>
                    <a:p>
                      <a:pPr algn="l"/>
                      <a:r>
                        <a:rPr sz="850" b="0">
                          <a:solidFill>
                            <a:srgbClr val="000000"/>
                          </a:solidFill>
                          <a:latin typeface="Calibri"/>
                        </a:rPr>
                        <a:t>25 mm</a:t>
                      </a:r>
                    </a:p>
                  </a:txBody>
                  <a:tcPr/>
                </a:tc>
                <a:tc>
                  <a:txBody>
                    <a:bodyPr lIns="54864" rIns="54864" tIns="18288" bIns="18288" wrap="square" anchor="ctr"/>
                    <a:lstStyle/>
                    <a:p>
                      <a:pPr algn="l"/>
                      <a:r>
                        <a:rPr sz="850" b="0">
                          <a:solidFill>
                            <a:srgbClr val="000000"/>
                          </a:solidFill>
                          <a:latin typeface="Calibri"/>
                        </a:rPr>
                        <a:t>Azure-2514M f/1.4 — TODO.md, README.md</a:t>
                      </a:r>
                    </a:p>
                  </a:txBody>
                  <a:tcPr/>
                </a:tc>
              </a:tr>
              <a:tr h="249936">
                <a:tc>
                  <a:txBody>
                    <a:bodyPr lIns="54864" rIns="54864" tIns="18288" bIns="18288" wrap="square" anchor="ctr"/>
                    <a:lstStyle/>
                    <a:p>
                      <a:pPr algn="l"/>
                      <a:r>
                        <a:rPr sz="850" b="0">
                          <a:solidFill>
                            <a:srgbClr val="000000"/>
                          </a:solidFill>
                          <a:latin typeface="Calibri"/>
                        </a:rPr>
                        <a:t>measured px/mm</a:t>
                      </a:r>
                    </a:p>
                  </a:txBody>
                  <a:tcPr/>
                </a:tc>
                <a:tc>
                  <a:txBody>
                    <a:bodyPr lIns="54864" rIns="54864" tIns="18288" bIns="18288" wrap="square" anchor="ctr"/>
                    <a:lstStyle/>
                    <a:p>
                      <a:pPr algn="l"/>
                      <a:r>
                        <a:rPr sz="850" b="0">
                          <a:solidFill>
                            <a:srgbClr val="000000"/>
                          </a:solidFill>
                          <a:latin typeface="Calibri"/>
                        </a:rPr>
                        <a:t>20.95</a:t>
                      </a:r>
                    </a:p>
                  </a:txBody>
                  <a:tcPr/>
                </a:tc>
                <a:tc>
                  <a:txBody>
                    <a:bodyPr lIns="54864" rIns="54864" tIns="18288" bIns="18288" wrap="square" anchor="ctr"/>
                    <a:lstStyle/>
                    <a:p>
                      <a:pPr algn="l"/>
                      <a:r>
                        <a:rPr sz="850" b="0">
                          <a:solidFill>
                            <a:srgbClr val="000000"/>
                          </a:solidFill>
                          <a:latin typeface="Calibri"/>
                        </a:rPr>
                        <a:t>1676 px of gauge over 80 mm, on S26</a:t>
                      </a:r>
                    </a:p>
                  </a:txBody>
                  <a:tcPr/>
                </a:tc>
              </a:tr>
              <a:tr h="249936">
                <a:tc>
                  <a:txBody>
                    <a:bodyPr lIns="54864" rIns="54864" tIns="18288" bIns="18288" wrap="square" anchor="ctr"/>
                    <a:lstStyle/>
                    <a:p>
                      <a:pPr algn="l"/>
                      <a:r>
                        <a:rPr sz="850" b="0">
                          <a:solidFill>
                            <a:srgbClr val="000000"/>
                          </a:solidFill>
                          <a:latin typeface="Calibri"/>
                        </a:rPr>
                        <a:t>so the magnification is</a:t>
                      </a:r>
                    </a:p>
                  </a:txBody>
                  <a:tcPr/>
                </a:tc>
                <a:tc>
                  <a:txBody>
                    <a:bodyPr lIns="54864" rIns="54864" tIns="18288" bIns="18288" wrap="square" anchor="ctr"/>
                    <a:lstStyle/>
                    <a:p>
                      <a:pPr algn="l"/>
                      <a:r>
                        <a:rPr sz="850" b="0">
                          <a:solidFill>
                            <a:srgbClr val="000000"/>
                          </a:solidFill>
                          <a:latin typeface="Calibri"/>
                        </a:rPr>
                        <a:t>0.0723×</a:t>
                      </a:r>
                    </a:p>
                  </a:txBody>
                  <a:tcPr/>
                </a:tc>
                <a:tc>
                  <a:txBody>
                    <a:bodyPr lIns="54864" rIns="54864" tIns="18288" bIns="18288" wrap="square" anchor="ctr"/>
                    <a:lstStyle/>
                    <a:p>
                      <a:pPr algn="l"/>
                      <a:r>
                        <a:rPr sz="850" b="0">
                          <a:solidFill>
                            <a:srgbClr val="000000"/>
                          </a:solidFill>
                          <a:latin typeface="Calibri"/>
                        </a:rPr>
                        <a:t>pitch × px/mm — one pixel covers 47.7 µm</a:t>
                      </a:r>
                    </a:p>
                  </a:txBody>
                  <a:tcPr/>
                </a:tc>
              </a:tr>
              <a:tr h="249936">
                <a:tc>
                  <a:txBody>
                    <a:bodyPr lIns="54864" rIns="54864" tIns="18288" bIns="18288" wrap="square" anchor="ctr"/>
                    <a:lstStyle/>
                    <a:p>
                      <a:pPr algn="l"/>
                      <a:r>
                        <a:rPr sz="850" b="0">
                          <a:solidFill>
                            <a:srgbClr val="000000"/>
                          </a:solidFill>
                          <a:latin typeface="Calibri"/>
                        </a:rPr>
                        <a:t>so the lens must stand</a:t>
                      </a:r>
                    </a:p>
                  </a:txBody>
                  <a:tcPr/>
                </a:tc>
                <a:tc>
                  <a:txBody>
                    <a:bodyPr lIns="54864" rIns="54864" tIns="18288" bIns="18288" wrap="square" anchor="ctr"/>
                    <a:lstStyle/>
                    <a:p>
                      <a:pPr algn="l"/>
                      <a:r>
                        <a:rPr sz="850" b="0">
                          <a:solidFill>
                            <a:srgbClr val="000000"/>
                          </a:solidFill>
                          <a:latin typeface="Calibri"/>
                        </a:rPr>
                        <a:t>371 mm away</a:t>
                      </a:r>
                    </a:p>
                  </a:txBody>
                  <a:tcPr/>
                </a:tc>
                <a:tc>
                  <a:txBody>
                    <a:bodyPr lIns="54864" rIns="54864" tIns="18288" bIns="18288" wrap="square" anchor="ctr"/>
                    <a:lstStyle/>
                    <a:p>
                      <a:pPr algn="l"/>
                      <a:r>
                        <a:rPr sz="850" b="0">
                          <a:solidFill>
                            <a:srgbClr val="000000"/>
                          </a:solidFill>
                          <a:latin typeface="Calibri"/>
                        </a:rPr>
                        <a:t>f(1 + 1/M) — a PREDICTION</a:t>
                      </a:r>
                    </a:p>
                  </a:txBody>
                  <a:tcPr/>
                </a:tc>
              </a:tr>
            </a:tbl>
          </a:graphicData>
        </a:graphic>
      </p:graphicFrame>
      <p:sp>
        <p:nvSpPr>
          <p:cNvPr id="9" name="TextBox 8"/>
          <p:cNvSpPr txBox="1"/>
          <p:nvPr/>
        </p:nvSpPr>
        <p:spPr>
          <a:xfrm>
            <a:off x="6355080" y="396849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buys us — and what changing it would cost</a:t>
            </a:r>
          </a:p>
        </p:txBody>
      </p:sp>
      <p:sp>
        <p:nvSpPr>
          <p:cNvPr id="10" name="TextBox 9"/>
          <p:cNvSpPr txBox="1"/>
          <p:nvPr/>
        </p:nvSpPr>
        <p:spPr>
          <a:xfrm>
            <a:off x="6355080" y="4315968"/>
            <a:ext cx="5486400" cy="1499616"/>
          </a:xfrm>
          <a:prstGeom prst="rect">
            <a:avLst/>
          </a:prstGeom>
          <a:noFill/>
        </p:spPr>
        <p:txBody>
          <a:bodyPr wrap="square" lIns="45720" rIns="45720" tIns="18288" bIns="18288" anchor="t">
            <a:spAutoFit/>
          </a:bodyPr>
          <a:lstStyle/>
          <a:p>
            <a:pPr algn="l"/>
            <a:r>
              <a:rPr sz="1000" b="0" i="0">
                <a:solidFill>
                  <a:srgbClr val="000000"/>
                </a:solidFill>
                <a:latin typeface="Calibri"/>
              </a:rPr>
              <a:t>Run a tape from the lens to the specimen. If it reads about 371 mm, the chain on the left is the entire explanation for 21.0 px/mm and nothing else is involved.  Move the camera 86 mm closer and the same camera and the same lens give the XT-205's 27.9 px/mm — no new hardware. It would also cut the field of view to 88 mm and take the frame limit from 31 % strain to nothing. Placement matters at this scale: 8 mm of error is worth 0.5 px/mm, which is why the scale is measured on the image and never assumed.</a:t>
            </a:r>
          </a:p>
        </p:txBody>
      </p:sp>
      <p:sp>
        <p:nvSpPr>
          <p:cNvPr id="11" name="Rectangle 10"/>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Two caveats. The pixel pitch is a datasheet figure rather than one measured here, and the thin-lens relation ignores the real lens's principal-plane separation — so treat the 371 mm as a prediction good to a few per cent, not a specification. Neither touches the measured 20.95 px/mm, which is read off the gauge in the image.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Sensitivity: near our operating point, one millimetre of camera movement is worth 0.06 px/mm.</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306</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FRACTURE PROTOCOLS, ONE STRENGTH — T7.2 AGAINST T8</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The rig can break a specimen two ways: a staircase that climbs to failure, and a progressive cyclic schedule that fatigues then breaks it. If the machine is measuring the MATERIAL, the route it took should not change the answer.</a:t>
            </a:r>
          </a:p>
        </p:txBody>
      </p:sp>
      <p:pic>
        <p:nvPicPr>
          <p:cNvPr id="6" name="Picture 5" descr="xprotocol.png"/>
          <p:cNvPicPr>
            <a:picLocks noChangeAspect="1"/>
          </p:cNvPicPr>
          <p:nvPr/>
        </p:nvPicPr>
        <p:blipFill>
          <a:blip r:embed="rId2"/>
          <a:stretch>
            <a:fillRect/>
          </a:stretch>
        </p:blipFill>
        <p:spPr>
          <a:xfrm>
            <a:off x="842072" y="1463040"/>
            <a:ext cx="10523095" cy="2468880"/>
          </a:xfrm>
          <a:prstGeom prst="rect">
            <a:avLst/>
          </a:prstGeom>
        </p:spPr>
      </p:pic>
      <p:sp>
        <p:nvSpPr>
          <p:cNvPr id="7" name="TextBox 6"/>
          <p:cNvSpPr txBox="1"/>
          <p:nvPr/>
        </p:nvSpPr>
        <p:spPr>
          <a:xfrm>
            <a:off x="411480" y="396849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runs, side by side</a:t>
            </a:r>
          </a:p>
        </p:txBody>
      </p:sp>
      <p:graphicFrame>
        <p:nvGraphicFramePr>
          <p:cNvPr id="8" name="Table 7"/>
          <p:cNvGraphicFramePr>
            <a:graphicFrameLocks noGrp="1"/>
          </p:cNvGraphicFramePr>
          <p:nvPr/>
        </p:nvGraphicFramePr>
        <p:xfrm>
          <a:off x="411480" y="4315968"/>
          <a:ext cx="5715000" cy="1499616"/>
        </p:xfrm>
        <a:graphic>
          <a:graphicData uri="http://schemas.openxmlformats.org/drawingml/2006/table">
            <a:tbl>
              <a:tblPr firstRow="1" bandRow="1">
                <a:tableStyleId>{5C22544A-7EE6-4342-B048-85BDC9FD1C3A}</a:tableStyleId>
              </a:tblPr>
              <a:tblGrid>
                <a:gridCol w="2148840"/>
                <a:gridCol w="1783080"/>
                <a:gridCol w="1783080"/>
              </a:tblGrid>
              <a:tr h="249936">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T7.2 staircase</a:t>
                      </a:r>
                    </a:p>
                  </a:txBody>
                  <a:tcPr>
                    <a:solidFill>
                      <a:srgbClr val="143D2F"/>
                    </a:solidFill>
                  </a:tcPr>
                </a:tc>
                <a:tc>
                  <a:txBody>
                    <a:bodyPr lIns="54864" rIns="54864" tIns="18288" bIns="18288" wrap="square" anchor="ctr"/>
                    <a:lstStyle/>
                    <a:p>
                      <a:pPr algn="l"/>
                      <a:r>
                        <a:rPr sz="950" b="1">
                          <a:solidFill>
                            <a:srgbClr val="FFFFFF"/>
                          </a:solidFill>
                          <a:latin typeface="Calibri"/>
                        </a:rPr>
                        <a:t>T8 prog. cyclic</a:t>
                      </a:r>
                    </a:p>
                  </a:txBody>
                  <a:tcPr>
                    <a:solidFill>
                      <a:srgbClr val="143D2F"/>
                    </a:solidFill>
                  </a:tcPr>
                </a:tc>
              </a:tr>
              <a:tr h="249936">
                <a:tc>
                  <a:txBody>
                    <a:bodyPr lIns="54864" rIns="54864" tIns="18288" bIns="18288" wrap="square" anchor="ctr"/>
                    <a:lstStyle/>
                    <a:p>
                      <a:pPr algn="l"/>
                      <a:r>
                        <a:rPr sz="850" b="0">
                          <a:solidFill>
                            <a:srgbClr val="000000"/>
                          </a:solidFill>
                          <a:latin typeface="Calibri"/>
                        </a:rPr>
                        <a:t>specimen</a:t>
                      </a:r>
                    </a:p>
                  </a:txBody>
                  <a:tcPr/>
                </a:tc>
                <a:tc>
                  <a:txBody>
                    <a:bodyPr lIns="54864" rIns="54864" tIns="18288" bIns="18288" wrap="square" anchor="ctr"/>
                    <a:lstStyle/>
                    <a:p>
                      <a:pPr algn="l"/>
                      <a:r>
                        <a:rPr sz="850" b="0">
                          <a:solidFill>
                            <a:srgbClr val="000000"/>
                          </a:solidFill>
                          <a:latin typeface="Calibri"/>
                        </a:rPr>
                        <a:t>S18</a:t>
                      </a:r>
                    </a:p>
                  </a:txBody>
                  <a:tcPr/>
                </a:tc>
                <a:tc>
                  <a:txBody>
                    <a:bodyPr lIns="54864" rIns="54864" tIns="18288" bIns="18288" wrap="square" anchor="ctr"/>
                    <a:lstStyle/>
                    <a:p>
                      <a:pPr algn="l"/>
                      <a:r>
                        <a:rPr sz="850" b="0">
                          <a:solidFill>
                            <a:srgbClr val="000000"/>
                          </a:solidFill>
                          <a:latin typeface="Calibri"/>
                        </a:rPr>
                        <a:t>S21</a:t>
                      </a:r>
                    </a:p>
                  </a:txBody>
                  <a:tcPr/>
                </a:tc>
              </a:tr>
              <a:tr h="249936">
                <a:tc>
                  <a:txBody>
                    <a:bodyPr lIns="54864" rIns="54864" tIns="18288" bIns="18288" wrap="square" anchor="ctr"/>
                    <a:lstStyle/>
                    <a:p>
                      <a:pPr algn="l"/>
                      <a:r>
                        <a:rPr sz="850" b="0">
                          <a:solidFill>
                            <a:srgbClr val="000000"/>
                          </a:solidFill>
                          <a:latin typeface="Calibri"/>
                        </a:rPr>
                        <a:t>UTS, as recorded</a:t>
                      </a:r>
                    </a:p>
                  </a:txBody>
                  <a:tcPr/>
                </a:tc>
                <a:tc>
                  <a:txBody>
                    <a:bodyPr lIns="54864" rIns="54864" tIns="18288" bIns="18288" wrap="square" anchor="ctr"/>
                    <a:lstStyle/>
                    <a:p>
                      <a:pPr algn="l"/>
                      <a:r>
                        <a:rPr sz="850" b="0">
                          <a:solidFill>
                            <a:srgbClr val="000000"/>
                          </a:solidFill>
                          <a:latin typeface="Calibri"/>
                        </a:rPr>
                        <a:t>17.35 MPa</a:t>
                      </a:r>
                    </a:p>
                  </a:txBody>
                  <a:tcPr/>
                </a:tc>
                <a:tc>
                  <a:txBody>
                    <a:bodyPr lIns="54864" rIns="54864" tIns="18288" bIns="18288" wrap="square" anchor="ctr"/>
                    <a:lstStyle/>
                    <a:p>
                      <a:pPr algn="l"/>
                      <a:r>
                        <a:rPr sz="850" b="0">
                          <a:solidFill>
                            <a:srgbClr val="000000"/>
                          </a:solidFill>
                          <a:latin typeface="Calibri"/>
                        </a:rPr>
                        <a:t>17.46 MPa</a:t>
                      </a:r>
                    </a:p>
                  </a:txBody>
                  <a:tcPr/>
                </a:tc>
              </a:tr>
              <a:tr h="249936">
                <a:tc>
                  <a:txBody>
                    <a:bodyPr lIns="54864" rIns="54864" tIns="18288" bIns="18288" wrap="square" anchor="ctr"/>
                    <a:lstStyle/>
                    <a:p>
                      <a:pPr algn="l"/>
                      <a:r>
                        <a:rPr sz="850" b="0">
                          <a:solidFill>
                            <a:srgbClr val="000000"/>
                          </a:solidFill>
                          <a:latin typeface="Calibri"/>
                        </a:rPr>
                        <a:t>preload anchor</a:t>
                      </a:r>
                    </a:p>
                  </a:txBody>
                  <a:tcPr/>
                </a:tc>
                <a:tc>
                  <a:txBody>
                    <a:bodyPr lIns="54864" rIns="54864" tIns="18288" bIns="18288" wrap="square" anchor="ctr"/>
                    <a:lstStyle/>
                    <a:p>
                      <a:pPr algn="l"/>
                      <a:r>
                        <a:rPr sz="850" b="0">
                          <a:solidFill>
                            <a:srgbClr val="000000"/>
                          </a:solidFill>
                          <a:latin typeface="Calibri"/>
                        </a:rPr>
                        <a:t>307 N (sd 0.21)</a:t>
                      </a:r>
                    </a:p>
                  </a:txBody>
                  <a:tcPr/>
                </a:tc>
                <a:tc>
                  <a:txBody>
                    <a:bodyPr lIns="54864" rIns="54864" tIns="18288" bIns="18288" wrap="square" anchor="ctr"/>
                    <a:lstStyle/>
                    <a:p>
                      <a:pPr algn="l"/>
                      <a:r>
                        <a:rPr sz="850" b="0">
                          <a:solidFill>
                            <a:srgbClr val="000000"/>
                          </a:solidFill>
                          <a:latin typeface="Calibri"/>
                        </a:rPr>
                        <a:t>313 N (sd 0.22)</a:t>
                      </a:r>
                    </a:p>
                  </a:txBody>
                  <a:tcPr/>
                </a:tc>
              </a:tr>
              <a:tr h="249936">
                <a:tc>
                  <a:txBody>
                    <a:bodyPr lIns="54864" rIns="54864" tIns="18288" bIns="18288" wrap="square" anchor="ctr"/>
                    <a:lstStyle/>
                    <a:p>
                      <a:pPr algn="l"/>
                      <a:r>
                        <a:rPr sz="850" b="0">
                          <a:solidFill>
                            <a:srgbClr val="000000"/>
                          </a:solidFill>
                          <a:latin typeface="Calibri"/>
                        </a:rPr>
                        <a:t>UTS, anchor-corrected</a:t>
                      </a:r>
                    </a:p>
                  </a:txBody>
                  <a:tcPr/>
                </a:tc>
                <a:tc>
                  <a:txBody>
                    <a:bodyPr lIns="54864" rIns="54864" tIns="18288" bIns="18288" wrap="square" anchor="ctr"/>
                    <a:lstStyle/>
                    <a:p>
                      <a:pPr algn="l"/>
                      <a:r>
                        <a:rPr sz="850" b="0">
                          <a:solidFill>
                            <a:srgbClr val="000000"/>
                          </a:solidFill>
                          <a:latin typeface="Calibri"/>
                        </a:rPr>
                        <a:t>21.19 MPa</a:t>
                      </a:r>
                    </a:p>
                  </a:txBody>
                  <a:tcPr/>
                </a:tc>
                <a:tc>
                  <a:txBody>
                    <a:bodyPr lIns="54864" rIns="54864" tIns="18288" bIns="18288" wrap="square" anchor="ctr"/>
                    <a:lstStyle/>
                    <a:p>
                      <a:pPr algn="l"/>
                      <a:r>
                        <a:rPr sz="850" b="0">
                          <a:solidFill>
                            <a:srgbClr val="000000"/>
                          </a:solidFill>
                          <a:latin typeface="Calibri"/>
                        </a:rPr>
                        <a:t>21.38 MPa</a:t>
                      </a:r>
                    </a:p>
                  </a:txBody>
                  <a:tcPr/>
                </a:tc>
              </a:tr>
              <a:tr h="249936">
                <a:tc>
                  <a:txBody>
                    <a:bodyPr lIns="54864" rIns="54864" tIns="18288" bIns="18288" wrap="square" anchor="ctr"/>
                    <a:lstStyle/>
                    <a:p>
                      <a:pPr algn="l"/>
                      <a:r>
                        <a:rPr sz="850" b="0">
                          <a:solidFill>
                            <a:srgbClr val="000000"/>
                          </a:solidFill>
                          <a:latin typeface="Calibri"/>
                        </a:rPr>
                        <a:t>halted within</a:t>
                      </a:r>
                    </a:p>
                  </a:txBody>
                  <a:tcPr/>
                </a:tc>
                <a:tc>
                  <a:txBody>
                    <a:bodyPr lIns="54864" rIns="54864" tIns="18288" bIns="18288" wrap="square" anchor="ctr"/>
                    <a:lstStyle/>
                    <a:p>
                      <a:pPr algn="l"/>
                      <a:r>
                        <a:rPr sz="850" b="0">
                          <a:solidFill>
                            <a:srgbClr val="000000"/>
                          </a:solidFill>
                          <a:latin typeface="Calibri"/>
                        </a:rPr>
                        <a:t>1.36 s</a:t>
                      </a:r>
                    </a:p>
                  </a:txBody>
                  <a:tcPr/>
                </a:tc>
                <a:tc>
                  <a:txBody>
                    <a:bodyPr lIns="54864" rIns="54864" tIns="18288" bIns="18288" wrap="square" anchor="ctr"/>
                    <a:lstStyle/>
                    <a:p>
                      <a:pPr algn="l"/>
                      <a:r>
                        <a:rPr sz="850" b="0">
                          <a:solidFill>
                            <a:srgbClr val="000000"/>
                          </a:solidFill>
                          <a:latin typeface="Calibri"/>
                        </a:rPr>
                        <a:t>1.33 s</a:t>
                      </a:r>
                    </a:p>
                  </a:txBody>
                  <a:tcPr/>
                </a:tc>
              </a:tr>
            </a:tbl>
          </a:graphicData>
        </a:graphic>
      </p:graphicFrame>
      <p:sp>
        <p:nvSpPr>
          <p:cNvPr id="9" name="TextBox 8"/>
          <p:cNvSpPr txBox="1"/>
          <p:nvPr/>
        </p:nvSpPr>
        <p:spPr>
          <a:xfrm>
            <a:off x="6355080" y="396849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worth a slide</a:t>
            </a:r>
          </a:p>
        </p:txBody>
      </p:sp>
      <p:sp>
        <p:nvSpPr>
          <p:cNvPr id="10" name="TextBox 9"/>
          <p:cNvSpPr txBox="1"/>
          <p:nvPr/>
        </p:nvSpPr>
        <p:spPr>
          <a:xfrm>
            <a:off x="6355080" y="4315968"/>
            <a:ext cx="5486400" cy="1499616"/>
          </a:xfrm>
          <a:prstGeom prst="rect">
            <a:avLst/>
          </a:prstGeom>
          <a:noFill/>
        </p:spPr>
        <p:txBody>
          <a:bodyPr wrap="square" lIns="45720" rIns="45720" tIns="18288" bIns="18288" anchor="t">
            <a:spAutoFit/>
          </a:bodyPr>
          <a:lstStyle/>
          <a:p>
            <a:pPr algn="l"/>
            <a:r>
              <a:rPr sz="1000" b="0" i="0">
                <a:solidFill>
                  <a:srgbClr val="000000"/>
                </a:solidFill>
                <a:latin typeface="Calibri"/>
              </a:rPr>
              <a:t>It is the only cross-check the rig can run on ITSELF. Every other agreement in this deck is the same protocol repeated, or our DIC against our own crosshead. Here two different control loops, two different load histories and two different specimens land 0.19 MPa apart — 0.9 % — and both auto-stopped on load collapse inside 1.36 s.  The anchor correction is worth 3.9 MPa, twenty times the difference being discussed, which is why the figure shows it: a 0.9 % agreement means nothing unless the correction behind it was applied the same way to both, and it was, to within 6 N.</a:t>
            </a:r>
          </a:p>
        </p:txBody>
      </p:sp>
      <p:sp>
        <p:nvSpPr>
          <p:cNvPr id="11" name="Rectangle 10"/>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CAVEAT, AND IT IS NOT A SMALL ONE: these are DIFFERENT SPECIMENS, n = 1 each. The 0.9 % contains specimen-to-specimen scatter as well as any protocol effect, and nothing here can separate the two. It bounds the protocol effect; it does not measure it.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values are anchor-corrected true UTS from sf9_data, computed from the CSVs rather than restated. Nominal (uncorrected) values are on the figure.</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307</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GUARDS BETWEEN THE OPERATOR AND A WASTED SPECIMEN</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Recipes are covered on p207. These are the other two workflow features, and both share a property that makes them easy to overlook: when they are working correctly, nothing happens.</a:t>
            </a:r>
          </a:p>
        </p:txBody>
      </p:sp>
      <p:sp>
        <p:nvSpPr>
          <p:cNvPr id="6" name="TextBox 5"/>
          <p:cNvSpPr txBox="1"/>
          <p:nvPr/>
        </p:nvSpPr>
        <p:spPr>
          <a:xfrm>
            <a:off x="411480" y="157276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destructive-test confirmation</a:t>
            </a:r>
          </a:p>
        </p:txBody>
      </p:sp>
      <p:sp>
        <p:nvSpPr>
          <p:cNvPr id="7" name="TextBox 6"/>
          <p:cNvSpPr txBox="1"/>
          <p:nvPr/>
        </p:nvSpPr>
        <p:spPr>
          <a:xfrm>
            <a:off x="411480" y="1920240"/>
            <a:ext cx="5715000" cy="1874519"/>
          </a:xfrm>
          <a:prstGeom prst="rect">
            <a:avLst/>
          </a:prstGeom>
          <a:noFill/>
        </p:spPr>
        <p:txBody>
          <a:bodyPr wrap="square" lIns="45720" rIns="45720" tIns="18288" bIns="18288" anchor="t">
            <a:spAutoFit/>
          </a:bodyPr>
          <a:lstStyle/>
          <a:p>
            <a:pPr algn="l"/>
            <a:r>
              <a:rPr sz="1000" b="0" i="0">
                <a:solidFill>
                  <a:srgbClr val="000000"/>
                </a:solidFill>
                <a:latin typeface="Calibri"/>
              </a:rPr>
              <a:t>A fracture test destroys the specimen and cannot be repeated, so it is the one place where a stale setting is unrecoverable. The dialog therefore does not just ask “are you sure” — it reads the specimen back:  area, gauge, material and INFILL, in the same order and wording the CSV header will carry, so what is confirmed and what is recorded cannot drift apart.
Underneath it lists the preparation steps, ordered by the CURRENT strain-zero convention — under the after-preload rule the preload comes first, so the checklist changes with the setting rather than describing the opposite procedure.
Cancel is the DEFAULT button. A returned keypress does not start a destructive test.</a:t>
            </a:r>
          </a:p>
        </p:txBody>
      </p:sp>
      <p:sp>
        <p:nvSpPr>
          <p:cNvPr id="8" name="TextBox 7"/>
          <p:cNvSpPr txBox="1"/>
          <p:nvPr/>
        </p:nvSpPr>
        <p:spPr>
          <a:xfrm>
            <a:off x="6355080" y="157276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exists — a real cost, already paid</a:t>
            </a:r>
          </a:p>
        </p:txBody>
      </p:sp>
      <p:sp>
        <p:nvSpPr>
          <p:cNvPr id="9" name="TextBox 8"/>
          <p:cNvSpPr txBox="1"/>
          <p:nvPr/>
        </p:nvSpPr>
        <p:spPr>
          <a:xfrm>
            <a:off x="6355080" y="1920240"/>
            <a:ext cx="5486400" cy="1874519"/>
          </a:xfrm>
          <a:prstGeom prst="rect">
            <a:avLst/>
          </a:prstGeom>
          <a:noFill/>
        </p:spPr>
        <p:txBody>
          <a:bodyPr wrap="square" lIns="45720" rIns="45720" tIns="18288" bIns="18288" anchor="t">
            <a:spAutoFit/>
          </a:bodyPr>
          <a:lstStyle/>
          <a:p>
            <a:pPr algn="l"/>
            <a:r>
              <a:rPr sz="1000" b="0" i="0">
                <a:solidFill>
                  <a:srgbClr val="000000"/>
                </a:solidFill>
                <a:latin typeface="Calibri"/>
              </a:rPr>
              <a:t>T6.4, T6.5 and both T9 runs recorded “Infill: 100 %” on 50 % specimens. T7.3 — the same mistake waiting to happen — came out right, and the reason is exactly this dialog: it was a fracture test, so the label was echoed back and caught.
The four that went wrong were NON-destructive and had no such gate. That asymmetry is what prompted the 2026-09-01 change putting the same read-back into Prepare test, which every test type performs.</a:t>
            </a:r>
          </a:p>
        </p:txBody>
      </p:sp>
      <p:sp>
        <p:nvSpPr>
          <p:cNvPr id="10" name="TextBox 9"/>
          <p:cNvSpPr txBox="1"/>
          <p:nvPr/>
        </p:nvSpPr>
        <p:spPr>
          <a:xfrm>
            <a:off x="411480" y="395020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stall guard, and why a flat threshold could not work</a:t>
            </a:r>
          </a:p>
        </p:txBody>
      </p:sp>
      <p:graphicFrame>
        <p:nvGraphicFramePr>
          <p:cNvPr id="11" name="Table 10"/>
          <p:cNvGraphicFramePr>
            <a:graphicFrameLocks noGrp="1"/>
          </p:cNvGraphicFramePr>
          <p:nvPr/>
        </p:nvGraphicFramePr>
        <p:xfrm>
          <a:off x="411480" y="4297680"/>
          <a:ext cx="11429999" cy="1463040"/>
        </p:xfrm>
        <a:graphic>
          <a:graphicData uri="http://schemas.openxmlformats.org/drawingml/2006/table">
            <a:tbl>
              <a:tblPr firstRow="1" bandRow="1">
                <a:tableStyleId>{5C22544A-7EE6-4342-B048-85BDC9FD1C3A}</a:tableStyleId>
              </a:tblPr>
              <a:tblGrid>
                <a:gridCol w="1874519"/>
                <a:gridCol w="2788920"/>
                <a:gridCol w="6766560"/>
              </a:tblGrid>
              <a:tr h="24384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Why this and not something simpler</a:t>
                      </a:r>
                    </a:p>
                  </a:txBody>
                  <a:tcPr>
                    <a:solidFill>
                      <a:srgbClr val="143D2F"/>
                    </a:solidFill>
                  </a:tcPr>
                </a:tc>
              </a:tr>
              <a:tr h="243840">
                <a:tc>
                  <a:txBody>
                    <a:bodyPr lIns="54864" rIns="54864" tIns="18288" bIns="18288" wrap="square" anchor="ctr"/>
                    <a:lstStyle/>
                    <a:p>
                      <a:pPr algn="l"/>
                      <a:r>
                        <a:rPr sz="850" b="0">
                          <a:solidFill>
                            <a:srgbClr val="000000"/>
                          </a:solidFill>
                          <a:latin typeface="Calibri"/>
                        </a:rPr>
                        <a:t>window</a:t>
                      </a:r>
                    </a:p>
                  </a:txBody>
                  <a:tcPr/>
                </a:tc>
                <a:tc>
                  <a:txBody>
                    <a:bodyPr lIns="54864" rIns="54864" tIns="18288" bIns="18288" wrap="square" anchor="ctr"/>
                    <a:lstStyle/>
                    <a:p>
                      <a:pPr algn="l"/>
                      <a:r>
                        <a:rPr sz="850" b="0">
                          <a:solidFill>
                            <a:srgbClr val="000000"/>
                          </a:solidFill>
                          <a:latin typeface="Calibri"/>
                        </a:rPr>
                        <a:t>6 s</a:t>
                      </a:r>
                    </a:p>
                  </a:txBody>
                  <a:tcPr/>
                </a:tc>
                <a:tc>
                  <a:txBody>
                    <a:bodyPr lIns="54864" rIns="54864" tIns="18288" bIns="18288" wrap="square" anchor="ctr"/>
                    <a:lstStyle/>
                    <a:p>
                      <a:pPr algn="l"/>
                      <a:r>
                        <a:rPr sz="850" b="0">
                          <a:solidFill>
                            <a:srgbClr val="000000"/>
                          </a:solidFill>
                          <a:latin typeface="Calibri"/>
                        </a:rPr>
                        <a:t>long enough that one slow load-cell sample cannot trip it</a:t>
                      </a:r>
                    </a:p>
                  </a:txBody>
                  <a:tcPr/>
                </a:tc>
              </a:tr>
              <a:tr h="243840">
                <a:tc>
                  <a:txBody>
                    <a:bodyPr lIns="54864" rIns="54864" tIns="18288" bIns="18288" wrap="square" anchor="ctr"/>
                    <a:lstStyle/>
                    <a:p>
                      <a:pPr algn="l"/>
                      <a:r>
                        <a:rPr sz="850" b="0">
                          <a:solidFill>
                            <a:srgbClr val="000000"/>
                          </a:solidFill>
                          <a:latin typeface="Calibri"/>
                        </a:rPr>
                        <a:t>must advance by</a:t>
                      </a:r>
                    </a:p>
                  </a:txBody>
                  <a:tcPr/>
                </a:tc>
                <a:tc>
                  <a:txBody>
                    <a:bodyPr lIns="54864" rIns="54864" tIns="18288" bIns="18288" wrap="square" anchor="ctr"/>
                    <a:lstStyle/>
                    <a:p>
                      <a:pPr algn="l"/>
                      <a:r>
                        <a:rPr sz="850" b="0">
                          <a:solidFill>
                            <a:srgbClr val="000000"/>
                          </a:solidFill>
                          <a:latin typeface="Calibri"/>
                        </a:rPr>
                        <a:t>min(0.05 mm, 35 % of commanded)</a:t>
                      </a:r>
                    </a:p>
                  </a:txBody>
                  <a:tcPr/>
                </a:tc>
                <a:tc>
                  <a:txBody>
                    <a:bodyPr lIns="54864" rIns="54864" tIns="18288" bIns="18288" wrap="square" anchor="ctr"/>
                    <a:lstStyle/>
                    <a:p>
                      <a:pPr algn="l"/>
                      <a:r>
                        <a:rPr sz="850" b="0">
                          <a:solidFill>
                            <a:srgbClr val="000000"/>
                          </a:solidFill>
                          <a:latin typeface="Calibri"/>
                        </a:rPr>
                        <a:t>a FLAT 0.05 mm assumed every mode runs near 0.1 mm/s, where 0.6 mm is expected and the bar is 8 %</a:t>
                      </a:r>
                    </a:p>
                  </a:txBody>
                  <a:tcPr/>
                </a:tc>
              </a:tr>
              <a:tr h="243840">
                <a:tc>
                  <a:txBody>
                    <a:bodyPr lIns="54864" rIns="54864" tIns="18288" bIns="18288" wrap="square" anchor="ctr"/>
                    <a:lstStyle/>
                    <a:p>
                      <a:pPr algn="l"/>
                      <a:r>
                        <a:rPr sz="850" b="0">
                          <a:solidFill>
                            <a:srgbClr val="000000"/>
                          </a:solidFill>
                          <a:latin typeface="Calibri"/>
                        </a:rPr>
                        <a:t>at a tapered crawl</a:t>
                      </a:r>
                    </a:p>
                  </a:txBody>
                  <a:tcPr/>
                </a:tc>
                <a:tc>
                  <a:txBody>
                    <a:bodyPr lIns="54864" rIns="54864" tIns="18288" bIns="18288" wrap="square" anchor="ctr"/>
                    <a:lstStyle/>
                    <a:p>
                      <a:pPr algn="l"/>
                      <a:r>
                        <a:rPr sz="850" b="0">
                          <a:solidFill>
                            <a:srgbClr val="000000"/>
                          </a:solidFill>
                          <a:latin typeface="Calibri"/>
                        </a:rPr>
                        <a:t>0.01–0.02 mm/s → 0.06–0.12 mm expected</a:t>
                      </a:r>
                    </a:p>
                  </a:txBody>
                  <a:tcPr/>
                </a:tc>
                <a:tc>
                  <a:txBody>
                    <a:bodyPr lIns="54864" rIns="54864" tIns="18288" bIns="18288" wrap="square" anchor="ctr"/>
                    <a:lstStyle/>
                    <a:p>
                      <a:pPr algn="l"/>
                      <a:r>
                        <a:rPr sz="850" b="0">
                          <a:solidFill>
                            <a:srgbClr val="000000"/>
                          </a:solidFill>
                          <a:latin typeface="Calibri"/>
                        </a:rPr>
                        <a:t>a flat 0.05 mm would demand 42–83 % of commanded travel, and a HEALTHY motor trips on rounding alone</a:t>
                      </a:r>
                    </a:p>
                  </a:txBody>
                  <a:tcPr/>
                </a:tc>
              </a:tr>
              <a:tr h="243840">
                <a:tc>
                  <a:txBody>
                    <a:bodyPr lIns="54864" rIns="54864" tIns="18288" bIns="18288" wrap="square" anchor="ctr"/>
                    <a:lstStyle/>
                    <a:p>
                      <a:pPr algn="l"/>
                      <a:r>
                        <a:rPr sz="850" b="0">
                          <a:solidFill>
                            <a:srgbClr val="000000"/>
                          </a:solidFill>
                          <a:latin typeface="Calibri"/>
                        </a:rPr>
                        <a:t>only guards above</a:t>
                      </a:r>
                    </a:p>
                  </a:txBody>
                  <a:tcPr/>
                </a:tc>
                <a:tc>
                  <a:txBody>
                    <a:bodyPr lIns="54864" rIns="54864" tIns="18288" bIns="18288" wrap="square" anchor="ctr"/>
                    <a:lstStyle/>
                    <a:p>
                      <a:pPr algn="l"/>
                      <a:r>
                        <a:rPr sz="850" b="0">
                          <a:solidFill>
                            <a:srgbClr val="000000"/>
                          </a:solidFill>
                          <a:latin typeface="Calibri"/>
                        </a:rPr>
                        <a:t>200 N</a:t>
                      </a:r>
                    </a:p>
                  </a:txBody>
                  <a:tcPr/>
                </a:tc>
                <a:tc>
                  <a:txBody>
                    <a:bodyPr lIns="54864" rIns="54864" tIns="18288" bIns="18288" wrap="square" anchor="ctr"/>
                    <a:lstStyle/>
                    <a:p>
                      <a:pPr algn="l"/>
                      <a:r>
                        <a:rPr sz="850" b="0">
                          <a:solidFill>
                            <a:srgbClr val="000000"/>
                          </a:solidFill>
                          <a:latin typeface="Calibri"/>
                        </a:rPr>
                        <a:t>below that the crosshead may legitimately be taking up slack, not pulling</a:t>
                      </a:r>
                    </a:p>
                  </a:txBody>
                  <a:tcPr/>
                </a:tc>
              </a:tr>
              <a:tr h="243840">
                <a:tc>
                  <a:txBody>
                    <a:bodyPr lIns="54864" rIns="54864" tIns="18288" bIns="18288" wrap="square" anchor="ctr"/>
                    <a:lstStyle/>
                    <a:p>
                      <a:pPr algn="l"/>
                      <a:r>
                        <a:rPr sz="850" b="0">
                          <a:solidFill>
                            <a:srgbClr val="000000"/>
                          </a:solidFill>
                          <a:latin typeface="Calibri"/>
                        </a:rPr>
                        <a:t>nothing commanded</a:t>
                      </a:r>
                    </a:p>
                  </a:txBody>
                  <a:tcPr/>
                </a:tc>
                <a:tc>
                  <a:txBody>
                    <a:bodyPr lIns="54864" rIns="54864" tIns="18288" bIns="18288" wrap="square" anchor="ctr"/>
                    <a:lstStyle/>
                    <a:p>
                      <a:pPr algn="l"/>
                      <a:r>
                        <a:rPr sz="850" b="0">
                          <a:solidFill>
                            <a:srgbClr val="000000"/>
                          </a:solidFill>
                          <a:latin typeface="Calibri"/>
                        </a:rPr>
                        <a:t>threshold 0 — cannot fire</a:t>
                      </a:r>
                    </a:p>
                  </a:txBody>
                  <a:tcPr/>
                </a:tc>
                <a:tc>
                  <a:txBody>
                    <a:bodyPr lIns="54864" rIns="54864" tIns="18288" bIns="18288" wrap="square" anchor="ctr"/>
                    <a:lstStyle/>
                    <a:p>
                      <a:pPr algn="l"/>
                      <a:r>
                        <a:rPr sz="850" b="0">
                          <a:solidFill>
                            <a:srgbClr val="000000"/>
                          </a:solidFill>
                          <a:latin typeface="Calibri"/>
                        </a:rPr>
                        <a:t>a hold is not a stall, and the guard must not invent one</a:t>
                      </a:r>
                    </a:p>
                  </a:txBody>
                  <a:tcPr/>
                </a:tc>
              </a:tr>
            </a:tbl>
          </a:graphicData>
        </a:graphic>
      </p:graphicFrame>
      <p:sp>
        <p:nvSpPr>
          <p:cNvPr id="12" name="Rectangle 11"/>
          <p:cNvSpPr/>
          <p:nvPr/>
        </p:nvSpPr>
        <p:spPr>
          <a:xfrm>
            <a:off x="365760" y="5888736"/>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BOTH ARE JUDGED BY WHAT THEY DID NOT DO. The stall guard stayed silent through every ductile 100 % draw — the case that looks most like a stall and is not — and fired on T7, which really had stopped advancing. A guard that cries wolf gets switched off.</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Constants read from main.py: STALL_WINDOW_S, STALL_MIN_ADVANCE_MM, STALL_SHORTFALL_FRAC, STALL_MIN_LOAD_N.</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308</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SF21 · NOISE CAPTURE — MEASURING THE INSTRUMENT ALONE</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Every number this rig reports is specimen plus instrument. This records the instrument ALONE — preloaded, mounted, and completely still — so the two can be told apart. The button sits beside Prepare test and Fracture test, and it is the only one there that does not move the motor.</a:t>
            </a:r>
          </a:p>
        </p:txBody>
      </p:sp>
      <p:sp>
        <p:nvSpPr>
          <p:cNvPr id="6" name="TextBox 5"/>
          <p:cNvSpPr txBox="1"/>
          <p:nvPr/>
        </p:nvSpPr>
        <p:spPr>
          <a:xfrm>
            <a:off x="411480" y="15727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numbers per channel — and only two of them are subtractable</a:t>
            </a:r>
          </a:p>
        </p:txBody>
      </p:sp>
      <p:graphicFrame>
        <p:nvGraphicFramePr>
          <p:cNvPr id="7" name="Table 6"/>
          <p:cNvGraphicFramePr>
            <a:graphicFrameLocks noGrp="1"/>
          </p:cNvGraphicFramePr>
          <p:nvPr/>
        </p:nvGraphicFramePr>
        <p:xfrm>
          <a:off x="411480" y="1920240"/>
          <a:ext cx="11430000" cy="1499616"/>
        </p:xfrm>
        <a:graphic>
          <a:graphicData uri="http://schemas.openxmlformats.org/drawingml/2006/table">
            <a:tbl>
              <a:tblPr firstRow="1" bandRow="1">
                <a:tableStyleId>{5C22544A-7EE6-4342-B048-85BDC9FD1C3A}</a:tableStyleId>
              </a:tblPr>
              <a:tblGrid>
                <a:gridCol w="1691640"/>
                <a:gridCol w="3931920"/>
                <a:gridCol w="5806440"/>
              </a:tblGrid>
              <a:tr h="37490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What it is</a:t>
                      </a:r>
                    </a:p>
                  </a:txBody>
                  <a:tcPr>
                    <a:solidFill>
                      <a:srgbClr val="143D2F"/>
                    </a:solidFill>
                  </a:tcPr>
                </a:tc>
                <a:tc>
                  <a:txBody>
                    <a:bodyPr lIns="54864" rIns="54864" tIns="18288" bIns="18288" wrap="square" anchor="ctr"/>
                    <a:lstStyle/>
                    <a:p>
                      <a:pPr algn="l"/>
                      <a:r>
                        <a:rPr sz="950" b="1">
                          <a:solidFill>
                            <a:srgbClr val="FFFFFF"/>
                          </a:solidFill>
                          <a:latin typeface="Calibri"/>
                        </a:rPr>
                        <a:t>Can it be removed from a later run?</a:t>
                      </a:r>
                    </a:p>
                  </a:txBody>
                  <a:tcPr>
                    <a:solidFill>
                      <a:srgbClr val="143D2F"/>
                    </a:solidFill>
                  </a:tcPr>
                </a:tc>
              </a:tr>
              <a:tr h="374904">
                <a:tc>
                  <a:txBody>
                    <a:bodyPr lIns="54864" rIns="54864" tIns="18288" bIns="18288" wrap="square" anchor="ctr"/>
                    <a:lstStyle/>
                    <a:p>
                      <a:pPr algn="l"/>
                      <a:r>
                        <a:rPr sz="900" b="0">
                          <a:solidFill>
                            <a:srgbClr val="000000"/>
                          </a:solidFill>
                          <a:latin typeface="Calibri"/>
                        </a:rPr>
                        <a:t>OFFSET</a:t>
                      </a:r>
                    </a:p>
                  </a:txBody>
                  <a:tcPr/>
                </a:tc>
                <a:tc>
                  <a:txBody>
                    <a:bodyPr lIns="54864" rIns="54864" tIns="18288" bIns="18288" wrap="square" anchor="ctr"/>
                    <a:lstStyle/>
                    <a:p>
                      <a:pPr algn="l"/>
                      <a:r>
                        <a:rPr sz="900" b="0">
                          <a:solidFill>
                            <a:srgbClr val="000000"/>
                          </a:solidFill>
                          <a:latin typeface="Calibri"/>
                        </a:rPr>
                        <a:t>the mean while at rest</a:t>
                      </a:r>
                    </a:p>
                  </a:txBody>
                  <a:tcPr/>
                </a:tc>
                <a:tc>
                  <a:txBody>
                    <a:bodyPr lIns="54864" rIns="54864" tIns="18288" bIns="18288" wrap="square" anchor="ctr"/>
                    <a:lstStyle/>
                    <a:p>
                      <a:pPr algn="l"/>
                      <a:r>
                        <a:rPr sz="900" b="0">
                          <a:solidFill>
                            <a:srgbClr val="000000"/>
                          </a:solidFill>
                          <a:latin typeface="Calibri"/>
                        </a:rPr>
                        <a:t>YES — it is a constant, so it subtracts exactly</a:t>
                      </a:r>
                    </a:p>
                  </a:txBody>
                  <a:tcPr/>
                </a:tc>
              </a:tr>
              <a:tr h="374904">
                <a:tc>
                  <a:txBody>
                    <a:bodyPr lIns="54864" rIns="54864" tIns="18288" bIns="18288" wrap="square" anchor="ctr"/>
                    <a:lstStyle/>
                    <a:p>
                      <a:pPr algn="l"/>
                      <a:r>
                        <a:rPr sz="900" b="0">
                          <a:solidFill>
                            <a:srgbClr val="000000"/>
                          </a:solidFill>
                          <a:latin typeface="Calibri"/>
                        </a:rPr>
                        <a:t>DRIFT</a:t>
                      </a:r>
                    </a:p>
                  </a:txBody>
                  <a:tcPr/>
                </a:tc>
                <a:tc>
                  <a:txBody>
                    <a:bodyPr lIns="54864" rIns="54864" tIns="18288" bIns="18288" wrap="square" anchor="ctr"/>
                    <a:lstStyle/>
                    <a:p>
                      <a:pPr algn="l"/>
                      <a:r>
                        <a:rPr sz="900" b="0">
                          <a:solidFill>
                            <a:srgbClr val="000000"/>
                          </a:solidFill>
                          <a:latin typeface="Calibri"/>
                        </a:rPr>
                        <a:t>the slope while at rest (N/s, µε/s)</a:t>
                      </a:r>
                    </a:p>
                  </a:txBody>
                  <a:tcPr/>
                </a:tc>
                <a:tc>
                  <a:txBody>
                    <a:bodyPr lIns="54864" rIns="54864" tIns="18288" bIns="18288" wrap="square" anchor="ctr"/>
                    <a:lstStyle/>
                    <a:p>
                      <a:pPr algn="l"/>
                      <a:r>
                        <a:rPr sz="900" b="0">
                          <a:solidFill>
                            <a:srgbClr val="000000"/>
                          </a:solidFill>
                          <a:latin typeface="Calibri"/>
                        </a:rPr>
                        <a:t>YES — it is systematic, so the fitted line subtracts</a:t>
                      </a:r>
                    </a:p>
                  </a:txBody>
                  <a:tcPr/>
                </a:tc>
              </a:tr>
              <a:tr h="374904">
                <a:tc>
                  <a:txBody>
                    <a:bodyPr lIns="54864" rIns="54864" tIns="18288" bIns="18288" wrap="square" anchor="ctr"/>
                    <a:lstStyle/>
                    <a:p>
                      <a:pPr algn="l"/>
                      <a:r>
                        <a:rPr sz="900" b="0">
                          <a:solidFill>
                            <a:srgbClr val="000000"/>
                          </a:solidFill>
                          <a:latin typeface="Calibri"/>
                        </a:rPr>
                        <a:t>RESIDUAL SD</a:t>
                      </a:r>
                    </a:p>
                  </a:txBody>
                  <a:tcPr/>
                </a:tc>
                <a:tc>
                  <a:txBody>
                    <a:bodyPr lIns="54864" rIns="54864" tIns="18288" bIns="18288" wrap="square" anchor="ctr"/>
                    <a:lstStyle/>
                    <a:p>
                      <a:pPr algn="l"/>
                      <a:r>
                        <a:rPr sz="900" b="0">
                          <a:solidFill>
                            <a:srgbClr val="000000"/>
                          </a:solidFill>
                          <a:latin typeface="Calibri"/>
                        </a:rPr>
                        <a:t>what is left once that line is removed</a:t>
                      </a:r>
                    </a:p>
                  </a:txBody>
                  <a:tcPr/>
                </a:tc>
                <a:tc>
                  <a:txBody>
                    <a:bodyPr lIns="54864" rIns="54864" tIns="18288" bIns="18288" wrap="square" anchor="ctr"/>
                    <a:lstStyle/>
                    <a:p>
                      <a:pPr algn="l"/>
                      <a:r>
                        <a:rPr sz="900" b="0">
                          <a:solidFill>
                            <a:srgbClr val="000000"/>
                          </a:solidFill>
                          <a:latin typeface="Calibri"/>
                        </a:rPr>
                        <a:t>NO. This is the measurement uncertainty — quote it, do not subtract it</a:t>
                      </a:r>
                    </a:p>
                  </a:txBody>
                  <a:tcPr/>
                </a:tc>
              </a:tr>
            </a:tbl>
          </a:graphicData>
        </a:graphic>
      </p:graphicFrame>
      <p:sp>
        <p:nvSpPr>
          <p:cNvPr id="8" name="TextBox 7"/>
          <p:cNvSpPr txBox="1"/>
          <p:nvPr/>
        </p:nvSpPr>
        <p:spPr>
          <a:xfrm>
            <a:off x="411480" y="360273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SD cannot be subtracted</a:t>
            </a:r>
          </a:p>
        </p:txBody>
      </p:sp>
      <p:sp>
        <p:nvSpPr>
          <p:cNvPr id="9" name="TextBox 8"/>
          <p:cNvSpPr txBox="1"/>
          <p:nvPr/>
        </p:nvSpPr>
        <p:spPr>
          <a:xfrm>
            <a:off x="411480" y="3950208"/>
            <a:ext cx="5715000" cy="1828800"/>
          </a:xfrm>
          <a:prstGeom prst="rect">
            <a:avLst/>
          </a:prstGeom>
          <a:noFill/>
        </p:spPr>
        <p:txBody>
          <a:bodyPr wrap="square" lIns="45720" rIns="45720" tIns="18288" bIns="18288" anchor="t">
            <a:spAutoFit/>
          </a:bodyPr>
          <a:lstStyle/>
          <a:p>
            <a:pPr algn="l"/>
            <a:r>
              <a:rPr sz="1000" b="0" i="0">
                <a:solidFill>
                  <a:srgbClr val="000000"/>
                </a:solidFill>
                <a:latin typeface="Calibri"/>
              </a:rPr>
              <a:t>Because it is RANDOM, and two random records do not cancel. Subtracting one independent recording from another gives √2 times the variance, not zero — so a “noise-corrected” curve built that way would be noisier than the raw one, while looking cleaner on the slide.
What the sd is FOR is the uncertainty band on a result, and the threshold below which a reported change is not a measurement. That is the honest use, and it is the one this feature supports.
The straight line is removed BEFORE the sd is computed. A raw sd over a drifting window folds the drift in and reports a removable trend as irreducible noise.</a:t>
            </a:r>
          </a:p>
        </p:txBody>
      </p:sp>
      <p:sp>
        <p:nvSpPr>
          <p:cNvPr id="10" name="TextBox 9"/>
          <p:cNvSpPr txBox="1"/>
          <p:nvPr/>
        </p:nvSpPr>
        <p:spPr>
          <a:xfrm>
            <a:off x="6355080" y="360273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it insists on</a:t>
            </a:r>
          </a:p>
        </p:txBody>
      </p:sp>
      <p:sp>
        <p:nvSpPr>
          <p:cNvPr id="11" name="TextBox 10"/>
          <p:cNvSpPr txBox="1"/>
          <p:nvPr/>
        </p:nvSpPr>
        <p:spPr>
          <a:xfrm>
            <a:off x="6355080" y="3950208"/>
            <a:ext cx="5486400" cy="1828800"/>
          </a:xfrm>
          <a:prstGeom prst="rect">
            <a:avLst/>
          </a:prstGeom>
          <a:noFill/>
        </p:spPr>
        <p:txBody>
          <a:bodyPr wrap="square" lIns="45720" rIns="45720" tIns="18288" bIns="18288" anchor="t">
            <a:spAutoFit/>
          </a:bodyPr>
          <a:lstStyle/>
          <a:p>
            <a:pPr algn="l"/>
            <a:r>
              <a:rPr sz="1000" b="0" i="0">
                <a:solidFill>
                  <a:srgbClr val="000000"/>
                </a:solidFill>
                <a:latin typeface="Calibri"/>
              </a:rPr>
              <a:t>PRELOAD FIRST, judged from the live load rather than from history — a preload that relaxed, or one applied to a different specimen, should not count. Without it the operator gets the warning and an explicit “Measure anyway”, because a bare-machine baseline is a legitimate thing to want; the override is written into the file. It matters because unseated grips settle, and that settling is recorded as a drift that will not be there during the run.
THE WINDOW TRAVELS WITH THE NUMBER. This rig's DIC noise floor GROWS with observation time — about 12 µε over 40 s against 26 µε over 900 s (p231). A 30 s figure applied to a 900 s creep test understates the noise by roughly half, so the duration is chosen per capture and written into the header.</a:t>
            </a:r>
          </a:p>
        </p:txBody>
      </p:sp>
      <p:sp>
        <p:nvSpPr>
          <p:cNvPr id="12" name="Rectangle 11"/>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STATUS: BUILT AND VERIFIED OFFLINE — NOT YET RUN ON THE RIG. The statistics are checked against a synthetic signal with a known 0.25 N/s drift and 2.0 N sd, and recover 0.249 and 2.015. What has not happened yet is a capture on the real machine, so no measured noise floor is claimed here.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Saves every sample and the summary where the operator chooses. No DIC gives a load-only capture with the strain columns EMPTY, never zero.</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