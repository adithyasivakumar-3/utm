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hyperlink" Target="https://ieeexplore.ieee.org/document/4310076"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12.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 Id="rId3" Type="http://schemas.openxmlformats.org/officeDocument/2006/relationships/image" Target="../media/image132.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7.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p259</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p260</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p303–p307</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p313</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p263 · p264</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OTSU'S METHOD — WHAT IT DOES, AND WHAT IT ASSUMES</a:t>
            </a:r>
          </a:p>
        </p:txBody>
      </p:sp>
      <p:pic>
        <p:nvPicPr>
          <p:cNvPr id="5" name="Picture 4" descr="otsu_hist.png"/>
          <p:cNvPicPr>
            <a:picLocks noChangeAspect="1"/>
          </p:cNvPicPr>
          <p:nvPr/>
        </p:nvPicPr>
        <p:blipFill>
          <a:blip r:embed="rId2"/>
          <a:stretch>
            <a:fillRect/>
          </a:stretch>
        </p:blipFill>
        <p:spPr>
          <a:xfrm>
            <a:off x="320040" y="1042415"/>
            <a:ext cx="5806440" cy="3123161"/>
          </a:xfrm>
          <a:prstGeom prst="rect">
            <a:avLst/>
          </a:prstGeom>
        </p:spPr>
      </p:pic>
      <p:sp>
        <p:nvSpPr>
          <p:cNvPr id="6" name="TextBox 5"/>
          <p:cNvSpPr txBox="1"/>
          <p:nvPr/>
        </p:nvSpPr>
        <p:spPr>
          <a:xfrm>
            <a:off x="365760" y="4443984"/>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on the histogram above</a:t>
            </a:r>
          </a:p>
        </p:txBody>
      </p:sp>
      <p:sp>
        <p:nvSpPr>
          <p:cNvPr id="7" name="TextBox 6"/>
          <p:cNvSpPr txBox="1"/>
          <p:nvPr/>
        </p:nvSpPr>
        <p:spPr>
          <a:xfrm>
            <a:off x="365760" y="4791456"/>
            <a:ext cx="5760720" cy="1417320"/>
          </a:xfrm>
          <a:prstGeom prst="rect">
            <a:avLst/>
          </a:prstGeom>
          <a:noFill/>
        </p:spPr>
        <p:txBody>
          <a:bodyPr wrap="square" lIns="45720" rIns="45720" tIns="18288" bIns="18288" anchor="t">
            <a:spAutoFit/>
          </a:bodyPr>
          <a:lstStyle/>
          <a:p>
            <a:pPr algn="l"/>
            <a:r>
              <a:rPr sz="960" b="0" i="0">
                <a:solidFill>
                  <a:srgbClr val="000000"/>
                </a:solidFill>
                <a:latin typeface="Calibri"/>
              </a:rPr>
              <a:t>•  The dark mass at 25–100 is the specimen body.
•  The bright mass above 170 is the spray dots AND the grips.
•  Between them sits a broad valley — that is where any threshold has to go.
•  Otsu puts it at 131; the rig's Black preset uses 149. 18 grey levels apart, both inside the valley.</a:t>
            </a:r>
          </a:p>
        </p:txBody>
      </p:sp>
      <p:sp>
        <p:nvSpPr>
          <p:cNvPr id="8" name="TextBox 7"/>
          <p:cNvSpPr txBox="1"/>
          <p:nvPr/>
        </p:nvSpPr>
        <p:spPr>
          <a:xfrm>
            <a:off x="6400800" y="10058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a:t>
            </a:r>
          </a:p>
        </p:txBody>
      </p:sp>
      <p:sp>
        <p:nvSpPr>
          <p:cNvPr id="9" name="TextBox 8"/>
          <p:cNvSpPr txBox="1"/>
          <p:nvPr/>
        </p:nvSpPr>
        <p:spPr>
          <a:xfrm>
            <a:off x="6400800" y="1353312"/>
            <a:ext cx="5440680" cy="1783080"/>
          </a:xfrm>
          <a:prstGeom prst="rect">
            <a:avLst/>
          </a:prstGeom>
          <a:noFill/>
        </p:spPr>
        <p:txBody>
          <a:bodyPr wrap="square" lIns="45720" rIns="45720" tIns="18288" bIns="18288" anchor="t">
            <a:spAutoFit/>
          </a:bodyPr>
          <a:lstStyle/>
          <a:p>
            <a:pPr algn="l"/>
            <a:r>
              <a:rPr sz="960" b="0" i="0">
                <a:solidFill>
                  <a:srgbClr val="000000"/>
                </a:solidFill>
                <a:latin typeface="Calibri"/>
              </a:rPr>
              <a:t>•  Picks ONE global grey level by looking only at the histogram — no user setting, no training, no assumption about the shape of either class.
•  It tries every level and keeps the one that splits the pixels into two classes that are internally as alike as possible.
•  Formally it MAXIMISES the between-class variance
        σ²b(t) = ω₀ω₁ (μ₀ − μ₁)²
   where ω are the two class shares and μ their means — which is exactly equivalent to MINIMISING the variance within them.</a:t>
            </a:r>
          </a:p>
        </p:txBody>
      </p:sp>
      <p:sp>
        <p:nvSpPr>
          <p:cNvPr id="10" name="TextBox 9"/>
          <p:cNvSpPr txBox="1"/>
          <p:nvPr/>
        </p:nvSpPr>
        <p:spPr>
          <a:xfrm>
            <a:off x="6400800" y="3218688"/>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that is a respectable choice</a:t>
            </a:r>
          </a:p>
        </p:txBody>
      </p:sp>
      <p:sp>
        <p:nvSpPr>
          <p:cNvPr id="11" name="TextBox 10"/>
          <p:cNvSpPr txBox="1"/>
          <p:nvPr/>
        </p:nvSpPr>
        <p:spPr>
          <a:xfrm>
            <a:off x="6400800" y="3566160"/>
            <a:ext cx="5440680" cy="1234440"/>
          </a:xfrm>
          <a:prstGeom prst="rect">
            <a:avLst/>
          </a:prstGeom>
          <a:noFill/>
        </p:spPr>
        <p:txBody>
          <a:bodyPr wrap="square" lIns="45720" rIns="45720" tIns="18288" bIns="18288" anchor="t">
            <a:spAutoFit/>
          </a:bodyPr>
          <a:lstStyle/>
          <a:p>
            <a:pPr algn="l"/>
            <a:r>
              <a:rPr sz="960" b="0" i="0">
                <a:solidFill>
                  <a:srgbClr val="000000"/>
                </a:solidFill>
                <a:latin typeface="Calibri"/>
              </a:rPr>
              <a:t>•  It is Fisher's linear discriminant applied to the intensity histogram — a real statistical criterion, not a heuristic.
•  Non-parametric: it assumes no distribution, only that there are two classes.
•  Cheap — one pass over 256 bins, O(L). It can run on every frame.</a:t>
            </a:r>
          </a:p>
        </p:txBody>
      </p:sp>
      <p:sp>
        <p:nvSpPr>
          <p:cNvPr id="12" name="TextBox 11"/>
          <p:cNvSpPr txBox="1"/>
          <p:nvPr/>
        </p:nvSpPr>
        <p:spPr>
          <a:xfrm>
            <a:off x="6400800" y="4882896"/>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quietly assumes</a:t>
            </a:r>
          </a:p>
        </p:txBody>
      </p:sp>
      <p:sp>
        <p:nvSpPr>
          <p:cNvPr id="13" name="TextBox 12"/>
          <p:cNvSpPr txBox="1"/>
          <p:nvPr/>
        </p:nvSpPr>
        <p:spPr>
          <a:xfrm>
            <a:off x="6400800" y="5230368"/>
            <a:ext cx="5440680" cy="1051560"/>
          </a:xfrm>
          <a:prstGeom prst="rect">
            <a:avLst/>
          </a:prstGeom>
          <a:noFill/>
        </p:spPr>
        <p:txBody>
          <a:bodyPr wrap="square" lIns="45720" rIns="45720" tIns="18288" bIns="18288" anchor="t">
            <a:spAutoFit/>
          </a:bodyPr>
          <a:lstStyle/>
          <a:p>
            <a:pPr algn="l"/>
            <a:r>
              <a:rPr sz="960" b="0" i="0">
                <a:solidFill>
                  <a:srgbClr val="000000"/>
                </a:solidFill>
                <a:latin typeface="Calibri"/>
              </a:rPr>
              <a:t>•  A BIMODAL histogram with a deep, sharp valley.
•  Two classes of comparable SIZE and comparable VARIANCE — the derivation models them as two equal normals.
•  Even illumination and low noise.</a:t>
            </a:r>
          </a:p>
        </p:txBody>
      </p:sp>
      <p:sp>
        <p:nvSpPr>
          <p:cNvPr id="14" name="TextBox 13"/>
          <p:cNvSpPr txBox="1"/>
          <p:nvPr/>
        </p:nvSpPr>
        <p:spPr>
          <a:xfrm>
            <a:off x="365760" y="6272784"/>
            <a:ext cx="11430000" cy="274320"/>
          </a:xfrm>
          <a:prstGeom prst="rect">
            <a:avLst/>
          </a:prstGeom>
          <a:noFill/>
        </p:spPr>
        <p:txBody>
          <a:bodyPr wrap="square">
            <a:spAutoFit/>
          </a:bodyPr>
          <a:lstStyle/>
          <a:p>
            <a:r>
              <a:rPr sz="1000" u="sng">
                <a:solidFill>
                  <a:srgbClr val="1A5FB4"/>
                </a:solidFill>
                <a:latin typeface="Calibri"/>
                <a:hlinkClick r:id="rId3"/>
              </a:rPr>
              <a:t>Otsu 1979 — “A Threshold Selection Method from Gray-Level Histograms”, IEEE Trans. SMC 9(1):62–66   ·   ieeexplore.ieee.org/document/4310076</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OTSU ON THIS RIG — EVALUATED EVERY TIME, DEFAULTED TO NEVER</a:t>
            </a:r>
          </a:p>
        </p:txBody>
      </p:sp>
      <p:pic>
        <p:nvPicPr>
          <p:cNvPr id="5" name="Picture 4" descr="otsu_frame.png"/>
          <p:cNvPicPr>
            <a:picLocks noChangeAspect="1"/>
          </p:cNvPicPr>
          <p:nvPr/>
        </p:nvPicPr>
        <p:blipFill>
          <a:blip r:embed="rId2"/>
          <a:stretch>
            <a:fillRect/>
          </a:stretch>
        </p:blipFill>
        <p:spPr>
          <a:xfrm>
            <a:off x="320329" y="1005840"/>
            <a:ext cx="5805861" cy="3474720"/>
          </a:xfrm>
          <a:prstGeom prst="rect">
            <a:avLst/>
          </a:prstGeom>
        </p:spPr>
      </p:pic>
      <p:sp>
        <p:nvSpPr>
          <p:cNvPr id="6" name="TextBox 5"/>
          <p:cNvSpPr txBox="1"/>
          <p:nvPr/>
        </p:nvSpPr>
        <p:spPr>
          <a:xfrm>
            <a:off x="365760" y="4553712"/>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three strips show</a:t>
            </a:r>
          </a:p>
        </p:txBody>
      </p:sp>
      <p:sp>
        <p:nvSpPr>
          <p:cNvPr id="7" name="TextBox 6"/>
          <p:cNvSpPr txBox="1"/>
          <p:nvPr/>
        </p:nvSpPr>
        <p:spPr>
          <a:xfrm>
            <a:off x="365760" y="4901184"/>
            <a:ext cx="5760720" cy="1115568"/>
          </a:xfrm>
          <a:prstGeom prst="rect">
            <a:avLst/>
          </a:prstGeom>
          <a:noFill/>
        </p:spPr>
        <p:txBody>
          <a:bodyPr wrap="square" lIns="45720" rIns="45720" tIns="18288" bIns="18288" anchor="t">
            <a:spAutoFit/>
          </a:bodyPr>
          <a:lstStyle/>
          <a:p>
            <a:pPr algn="l"/>
            <a:r>
              <a:rPr sz="960" b="0" i="0">
                <a:solidFill>
                  <a:srgbClr val="000000"/>
                </a:solidFill>
                <a:latin typeface="Calibri"/>
              </a:rPr>
              <a:t>•  Both cuts find both markers on THIS specimen — the replay record is 99.8 % either way.
•  The grips are as bright as the dots and pass the same gates, so the frame yields six qualifying blobs, not two.
•  Otsu's lower cut blooms them wider, which is why the detector has to choose the pair rather than trust the count.</a:t>
            </a:r>
          </a:p>
        </p:txBody>
      </p:sp>
      <p:sp>
        <p:nvSpPr>
          <p:cNvPr id="8" name="TextBox 7"/>
          <p:cNvSpPr txBox="1"/>
          <p:nvPr/>
        </p:nvSpPr>
        <p:spPr>
          <a:xfrm>
            <a:off x="6400800" y="96926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rig DOES use it</a:t>
            </a:r>
          </a:p>
        </p:txBody>
      </p:sp>
      <p:sp>
        <p:nvSpPr>
          <p:cNvPr id="9" name="TextBox 8"/>
          <p:cNvSpPr txBox="1"/>
          <p:nvPr/>
        </p:nvSpPr>
        <p:spPr>
          <a:xfrm>
            <a:off x="6400800" y="1316736"/>
            <a:ext cx="5440680" cy="1188720"/>
          </a:xfrm>
          <a:prstGeom prst="rect">
            <a:avLst/>
          </a:prstGeom>
          <a:noFill/>
        </p:spPr>
        <p:txBody>
          <a:bodyPr wrap="square" lIns="45720" rIns="45720" tIns="18288" bIns="18288" anchor="t">
            <a:spAutoFit/>
          </a:bodyPr>
          <a:lstStyle/>
          <a:p>
            <a:pPr algn="l"/>
            <a:r>
              <a:rPr sz="960" b="0" i="0">
                <a:solidFill>
                  <a:srgbClr val="000000"/>
                </a:solidFill>
                <a:latin typeface="Calibri"/>
              </a:rPr>
              <a:t>•  It is a per-frame option in DIC camera setup — “Threshold automatically (Otsu)”.
•  Auto-calibrate scores it as a NAMED candidate against every swept fixed value, so the operator is told when Otsu wins rather than it being assumed either way.</a:t>
            </a:r>
          </a:p>
        </p:txBody>
      </p:sp>
      <p:sp>
        <p:nvSpPr>
          <p:cNvPr id="10" name="TextBox 9"/>
          <p:cNvSpPr txBox="1"/>
          <p:nvPr/>
        </p:nvSpPr>
        <p:spPr>
          <a:xfrm>
            <a:off x="6400800" y="261518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is not the default for black specimens</a:t>
            </a:r>
          </a:p>
        </p:txBody>
      </p:sp>
      <p:graphicFrame>
        <p:nvGraphicFramePr>
          <p:cNvPr id="11" name="Table 10"/>
          <p:cNvGraphicFramePr>
            <a:graphicFrameLocks noGrp="1"/>
          </p:cNvGraphicFramePr>
          <p:nvPr/>
        </p:nvGraphicFramePr>
        <p:xfrm>
          <a:off x="6400800" y="2962656"/>
          <a:ext cx="5440680" cy="1033271"/>
        </p:xfrm>
        <a:graphic>
          <a:graphicData uri="http://schemas.openxmlformats.org/drawingml/2006/table">
            <a:tbl>
              <a:tblPr firstRow="1" bandRow="1">
                <a:tableStyleId>{5C22544A-7EE6-4342-B048-85BDC9FD1C3A}</a:tableStyleId>
              </a:tblPr>
              <a:tblGrid>
                <a:gridCol w="2926080"/>
                <a:gridCol w="1234440"/>
                <a:gridCol w="1280160"/>
              </a:tblGrid>
              <a:tr h="344423">
                <a:tc>
                  <a:txBody>
                    <a:bodyPr lIns="54864" rIns="54864" tIns="18288" bIns="18288" wrap="square" anchor="ctr"/>
                    <a:lstStyle/>
                    <a:p>
                      <a:pPr algn="l"/>
                      <a:r>
                        <a:rPr sz="900" b="1">
                          <a:solidFill>
                            <a:srgbClr val="FFFFFF"/>
                          </a:solidFill>
                          <a:latin typeface="Calibri"/>
                        </a:rPr>
                        <a:t>Frames holding 2/2 markers</a:t>
                      </a:r>
                    </a:p>
                  </a:txBody>
                  <a:tcPr>
                    <a:solidFill>
                      <a:srgbClr val="143D2F"/>
                    </a:solidFill>
                  </a:tcPr>
                </a:tc>
                <a:tc>
                  <a:txBody>
                    <a:bodyPr lIns="54864" rIns="54864" tIns="18288" bIns="18288" wrap="square" anchor="ctr"/>
                    <a:lstStyle/>
                    <a:p>
                      <a:pPr algn="l"/>
                      <a:r>
                        <a:rPr sz="900" b="1">
                          <a:solidFill>
                            <a:srgbClr val="FFFFFF"/>
                          </a:solidFill>
                          <a:latin typeface="Calibri"/>
                        </a:rPr>
                        <a:t>Otsu</a:t>
                      </a:r>
                    </a:p>
                  </a:txBody>
                  <a:tcPr>
                    <a:solidFill>
                      <a:srgbClr val="143D2F"/>
                    </a:solidFill>
                  </a:tcPr>
                </a:tc>
                <a:tc>
                  <a:txBody>
                    <a:bodyPr lIns="54864" rIns="54864" tIns="18288" bIns="18288" wrap="square" anchor="ctr"/>
                    <a:lstStyle/>
                    <a:p>
                      <a:pPr algn="l"/>
                      <a:r>
                        <a:rPr sz="900" b="1">
                          <a:solidFill>
                            <a:srgbClr val="FFFFFF"/>
                          </a:solidFill>
                          <a:latin typeface="Calibri"/>
                        </a:rPr>
                        <a:t>fixed 149</a:t>
                      </a:r>
                    </a:p>
                  </a:txBody>
                  <a:tcPr>
                    <a:solidFill>
                      <a:srgbClr val="143D2F"/>
                    </a:solidFill>
                  </a:tcPr>
                </a:tc>
              </a:tr>
              <a:tr h="344423">
                <a:tc>
                  <a:txBody>
                    <a:bodyPr lIns="54864" rIns="54864" tIns="18288" bIns="18288" wrap="square" anchor="ctr"/>
                    <a:lstStyle/>
                    <a:p>
                      <a:pPr algn="l"/>
                      <a:r>
                        <a:rPr sz="900" b="0">
                          <a:solidFill>
                            <a:srgbClr val="000000"/>
                          </a:solidFill>
                          <a:latin typeface="Calibri"/>
                        </a:rPr>
                        <a:t>S29 · PETG — run abandoned</a:t>
                      </a:r>
                    </a:p>
                  </a:txBody>
                  <a:tcPr/>
                </a:tc>
                <a:tc>
                  <a:txBody>
                    <a:bodyPr lIns="54864" rIns="54864" tIns="18288" bIns="18288" wrap="square" anchor="ctr"/>
                    <a:lstStyle/>
                    <a:p>
                      <a:pPr algn="l"/>
                      <a:r>
                        <a:rPr sz="900" b="1">
                          <a:solidFill>
                            <a:srgbClr val="000000"/>
                          </a:solidFill>
                          <a:latin typeface="Calibri"/>
                        </a:rPr>
                        <a:t>48.5 %</a:t>
                      </a:r>
                    </a:p>
                  </a:txBody>
                  <a:tcPr>
                    <a:solidFill>
                      <a:srgbClr val="FFCDD2"/>
                    </a:solidFill>
                  </a:tcPr>
                </a:tc>
                <a:tc>
                  <a:txBody>
                    <a:bodyPr lIns="54864" rIns="54864" tIns="18288" bIns="18288" wrap="square" anchor="ctr"/>
                    <a:lstStyle/>
                    <a:p>
                      <a:pPr algn="l"/>
                      <a:r>
                        <a:rPr sz="900" b="1">
                          <a:solidFill>
                            <a:srgbClr val="000000"/>
                          </a:solidFill>
                          <a:latin typeface="Calibri"/>
                        </a:rPr>
                        <a:t>99.5 %</a:t>
                      </a:r>
                    </a:p>
                  </a:txBody>
                  <a:tcPr>
                    <a:solidFill>
                      <a:srgbClr val="C8E6C9"/>
                    </a:solidFill>
                  </a:tcPr>
                </a:tc>
              </a:tr>
              <a:tr h="344425">
                <a:tc>
                  <a:txBody>
                    <a:bodyPr lIns="54864" rIns="54864" tIns="18288" bIns="18288" wrap="square" anchor="ctr"/>
                    <a:lstStyle/>
                    <a:p>
                      <a:pPr algn="l"/>
                      <a:r>
                        <a:rPr sz="900" b="0">
                          <a:solidFill>
                            <a:srgbClr val="000000"/>
                          </a:solidFill>
                          <a:latin typeface="Calibri"/>
                        </a:rPr>
                        <a:t>S13 · black PLA</a:t>
                      </a:r>
                    </a:p>
                  </a:txBody>
                  <a:tcPr/>
                </a:tc>
                <a:tc>
                  <a:txBody>
                    <a:bodyPr lIns="54864" rIns="54864" tIns="18288" bIns="18288" wrap="square" anchor="ctr"/>
                    <a:lstStyle/>
                    <a:p>
                      <a:pPr algn="l"/>
                      <a:r>
                        <a:rPr sz="900" b="0">
                          <a:solidFill>
                            <a:srgbClr val="000000"/>
                          </a:solidFill>
                          <a:latin typeface="Calibri"/>
                        </a:rPr>
                        <a:t>99.8 %</a:t>
                      </a:r>
                    </a:p>
                  </a:txBody>
                  <a:tcPr/>
                </a:tc>
                <a:tc>
                  <a:txBody>
                    <a:bodyPr lIns="54864" rIns="54864" tIns="18288" bIns="18288" wrap="square" anchor="ctr"/>
                    <a:lstStyle/>
                    <a:p>
                      <a:pPr algn="l"/>
                      <a:r>
                        <a:rPr sz="900" b="0">
                          <a:solidFill>
                            <a:srgbClr val="000000"/>
                          </a:solidFill>
                          <a:latin typeface="Calibri"/>
                        </a:rPr>
                        <a:t>99.8 %</a:t>
                      </a:r>
                    </a:p>
                  </a:txBody>
                  <a:tcPr/>
                </a:tc>
              </a:tr>
            </a:tbl>
          </a:graphicData>
        </a:graphic>
      </p:graphicFrame>
      <p:sp>
        <p:nvSpPr>
          <p:cNvPr id="12" name="TextBox 11"/>
          <p:cNvSpPr txBox="1"/>
          <p:nvPr/>
        </p:nvSpPr>
        <p:spPr>
          <a:xfrm>
            <a:off x="6400800" y="3913632"/>
            <a:ext cx="5440680" cy="2011680"/>
          </a:xfrm>
          <a:prstGeom prst="rect">
            <a:avLst/>
          </a:prstGeom>
          <a:noFill/>
        </p:spPr>
        <p:txBody>
          <a:bodyPr wrap="square" lIns="45720" rIns="45720" tIns="18288" bIns="18288" anchor="t">
            <a:spAutoFit/>
          </a:bodyPr>
          <a:lstStyle/>
          <a:p>
            <a:pPr algn="l"/>
            <a:r>
              <a:rPr sz="960" b="0" i="0">
                <a:solidFill>
                  <a:srgbClr val="000000"/>
                </a:solidFill>
                <a:latin typeface="Calibri"/>
              </a:rPr>
              <a:t>•  Otsu recomputes from the WHOLE picture, so it follows the SCENE, not the markers.
•  The markers are a fraction of a per cent of the pixels — the very case Otsu's own literature flags, where the within-class variance swamps the between-class variance.
•  On black PLA it lands at 131 and works. On PETG — glossier, more translucent, brighter body — the histogram shifts and it lands at 127, three grey levels BELOW that specimen's 130–160 working band. One marker fell under the cut on half the frames.
•  Nothing was wrong with the markers, the ROI or the lighting. The RULE chose a value just outside the band that works.</a:t>
            </a:r>
          </a:p>
        </p:txBody>
      </p:sp>
      <p:sp>
        <p:nvSpPr>
          <p:cNvPr id="13" name="Rectangle 12"/>
          <p:cNvSpPr/>
          <p:nvPr/>
        </p:nvSpPr>
        <p:spPr>
          <a:xfrm>
            <a:off x="365760" y="6035040"/>
            <a:ext cx="11475720" cy="32918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A fixed threshold is not better than Otsu — it is only STABLE. When the LEDs or the material change, re-run auto-calibrate: it sweeps both and applies the winner.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Otsu's threshold measured on 120 S13 frames (documentation/scripts/otsu_data.py); the 48.5 / 99.5 / 99.8 rates are quoted from the project's replay validation over two full runs. Limitations per Otsu 1979 and its review literature.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p272.</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(p280),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p292.</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p292 and p293.</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(p293).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p292.</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SAME 80 mm GAUGE, DIFFERENT PIXEL COUNTS</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p297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THE TWO CALCULATIONS AGREE</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(p300)</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(p300);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p294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WHY THE SLOPES DIFFER</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p301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p293.</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(p300).</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(p290).</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p300, p292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Confirm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Confirm the gauge</a:t>
                      </a:r>
                    </a:p>
                  </a:txBody>
                  <a:tcPr/>
                </a:tc>
                <a:tc>
                  <a:txBody>
                    <a:bodyPr lIns="54864" rIns="54864" tIns="18288" bIns="18288" wrap="square" anchor="ctr"/>
                    <a:lstStyle/>
                    <a:p>
                      <a:pPr algn="l"/>
                      <a:r>
                        <a:rPr sz="850" b="0">
                          <a:solidFill>
                            <a:srgbClr val="000000"/>
                          </a:solidFill>
                          <a:latin typeface="Calibri"/>
                        </a:rPr>
                        <a:t>Type the real distance between the two markers into Gauge (A→B) — or, if what you actually know is the calibrated scale, type that into …or px per mm and the gauge follows.</a:t>
                      </a:r>
                    </a:p>
                  </a:txBody>
                  <a:tcPr/>
                </a:tc>
                <a:tc>
                  <a:txBody>
                    <a:bodyPr lIns="54864" rIns="54864" tIns="18288" bIns="18288" wrap="square" anchor="ctr"/>
                    <a:lstStyle/>
                    <a:p>
                      <a:pPr algn="l"/>
                      <a:r>
                        <a:rPr sz="850" b="0">
                          <a:solidFill>
                            <a:srgbClr val="000000"/>
                          </a:solidFill>
                          <a:latin typeface="Calibri"/>
                        </a:rPr>
                        <a:t>The two are the SAME NUMBER once the boxes are placed: px/mm = Px₀ ÷ gauge. Enter whichever one you measured and let the dialog do the arithmetic.</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(p299)</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 MOT XT-205's own instrument, maths and machine — no part of the PPD-UTM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pulls a third as fast —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MOT pulled at 2 mm/min; the PPD-UTM pulls at 6.0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XT-205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MOT footage through the PPD-UTM pipeline, as in p297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vs PPD-UTM 45 mm RUNS — MAKING IT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MOT Test 1 could compare only strain RATE: that export carried no load and stopped at 0.40 % strain. MOT Test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 · MOT</a:t>
                      </a:r>
                    </a:p>
                  </a:txBody>
                  <a:tcPr>
                    <a:solidFill>
                      <a:srgbClr val="143D2F"/>
                    </a:solidFill>
                  </a:tcPr>
                </a:tc>
                <a:tc>
                  <a:txBody>
                    <a:bodyPr lIns="54864" rIns="54864" tIns="18288" bIns="18288" wrap="square" anchor="ctr"/>
                    <a:lstStyle/>
                    <a:p>
                      <a:pPr algn="l"/>
                      <a:r>
                        <a:rPr sz="900" b="1">
                          <a:solidFill>
                            <a:srgbClr val="FFFFFF"/>
                          </a:solidFill>
                          <a:latin typeface="Calibri"/>
                        </a:rPr>
                        <a:t>S34 · PPD-UTM</a:t>
                      </a:r>
                    </a:p>
                  </a:txBody>
                  <a:tcPr>
                    <a:solidFill>
                      <a:srgbClr val="143D2F"/>
                    </a:solidFill>
                  </a:tcPr>
                </a:tc>
                <a:tc>
                  <a:txBody>
                    <a:bodyPr lIns="54864" rIns="54864" tIns="18288" bIns="18288" wrap="square" anchor="ctr"/>
                    <a:lstStyle/>
                    <a:p>
                      <a:pPr algn="l"/>
                      <a:r>
                        <a:rPr sz="900" b="1">
                          <a:solidFill>
                            <a:srgbClr val="FFFFFF"/>
                          </a:solidFill>
                          <a:latin typeface="Calibri"/>
                        </a:rPr>
                        <a:t>S33 · PPD-UTM</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YIELD AND ε_f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But the DIRECTION is all the speed buys: the two gauges see only 1.19× of strain rate between them, not the 3× of crosshead, so rate is worth well under 1 % here (p321). Our own 2.7 % specimen-to-specimen scatter covers more of the 7.7 % than the speed does; the rest is a batch and machine difference that n = 1 a side cannot separate.</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(p315).</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XT205-S2 AGAINST S34, HEAD TO HEAD</a:t>
            </a:r>
          </a:p>
        </p:txBody>
      </p:sp>
      <p:pic>
        <p:nvPicPr>
          <p:cNvPr id="5" name="Picture 4" descr="mot2cmp_pair.png"/>
          <p:cNvPicPr>
            <a:picLocks noChangeAspect="1"/>
          </p:cNvPicPr>
          <p:nvPr/>
        </p:nvPicPr>
        <p:blipFill>
          <a:blip r:embed="rId2"/>
          <a:stretch>
            <a:fillRect/>
          </a:stretch>
        </p:blipFill>
        <p:spPr>
          <a:xfrm>
            <a:off x="274320" y="969264"/>
            <a:ext cx="6080760" cy="3716524"/>
          </a:xfrm>
          <a:prstGeom prst="rect">
            <a:avLst/>
          </a:prstGeom>
        </p:spPr>
      </p:pic>
      <p:sp>
        <p:nvSpPr>
          <p:cNvPr id="6" name="TextBox 5"/>
          <p:cNvSpPr txBox="1"/>
          <p:nvPr/>
        </p:nvSpPr>
        <p:spPr>
          <a:xfrm>
            <a:off x="274320" y="4773168"/>
            <a:ext cx="6080760" cy="1005840"/>
          </a:xfrm>
          <a:prstGeom prst="rect">
            <a:avLst/>
          </a:prstGeom>
          <a:noFill/>
        </p:spPr>
        <p:txBody>
          <a:bodyPr wrap="square" lIns="45720" rIns="45720" tIns="18288" bIns="18288" anchor="t">
            <a:spAutoFit/>
          </a:bodyPr>
          <a:lstStyle/>
          <a:p>
            <a:pPr algn="l"/>
            <a:r>
              <a:rPr sz="950" b="0" i="0">
                <a:solidFill>
                  <a:srgbClr val="000000"/>
                </a:solidFill>
                <a:latin typeface="Calibri"/>
              </a:rPr>
              <a:t>Two specimens, two machines, one material. UTS and fracture are called out on both curves because they are the two landmarks that behave differently: they sit 7.7 % apart on stress and 0.8 % apart on strain. The curves are indistinguishable up to about 1.5 % strain and separate only after yield.</a:t>
            </a:r>
          </a:p>
        </p:txBody>
      </p:sp>
      <p:sp>
        <p:nvSpPr>
          <p:cNvPr id="7" name="TextBox 6"/>
          <p:cNvSpPr txBox="1"/>
          <p:nvPr/>
        </p:nvSpPr>
        <p:spPr>
          <a:xfrm>
            <a:off x="6537960" y="932688"/>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with the offset graded by size</a:t>
            </a:r>
          </a:p>
        </p:txBody>
      </p:sp>
      <p:graphicFrame>
        <p:nvGraphicFramePr>
          <p:cNvPr id="8" name="Table 7"/>
          <p:cNvGraphicFramePr>
            <a:graphicFrameLocks noGrp="1"/>
          </p:cNvGraphicFramePr>
          <p:nvPr/>
        </p:nvGraphicFramePr>
        <p:xfrm>
          <a:off x="6537960" y="1280160"/>
          <a:ext cx="5303520" cy="1956816"/>
        </p:xfrm>
        <a:graphic>
          <a:graphicData uri="http://schemas.openxmlformats.org/drawingml/2006/table">
            <a:tbl>
              <a:tblPr firstRow="1" bandRow="1">
                <a:tableStyleId>{5C22544A-7EE6-4342-B048-85BDC9FD1C3A}</a:tableStyleId>
              </a:tblPr>
              <a:tblGrid>
                <a:gridCol w="1737360"/>
                <a:gridCol w="914400"/>
                <a:gridCol w="868680"/>
                <a:gridCol w="914400"/>
                <a:gridCol w="868680"/>
              </a:tblGrid>
              <a:tr h="24460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4602">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1">
                          <a:solidFill>
                            <a:srgbClr val="000000"/>
                          </a:solidFill>
                          <a:latin typeface="Calibri"/>
                        </a:rPr>
                        <a:t>+1.0 %</a:t>
                      </a:r>
                    </a:p>
                  </a:txBody>
                  <a:tcPr>
                    <a:solidFill>
                      <a:srgbClr val="C8E6C9"/>
                    </a:solidFill>
                  </a:tcPr>
                </a:tc>
                <a:tc>
                  <a:txBody>
                    <a:bodyPr lIns="54864" rIns="54864" tIns="18288" bIns="18288" wrap="square" anchor="ctr"/>
                    <a:lstStyle/>
                    <a:p>
                      <a:pPr algn="l"/>
                      <a:r>
                        <a:rPr sz="850" b="0">
                          <a:solidFill>
                            <a:srgbClr val="000000"/>
                          </a:solidFill>
                          <a:latin typeface="Calibri"/>
                        </a:rPr>
                        <a:t>39.36</a:t>
                      </a:r>
                    </a:p>
                  </a:txBody>
                  <a:tcPr/>
                </a:tc>
              </a:tr>
              <a:tr h="244602">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1">
                          <a:solidFill>
                            <a:srgbClr val="000000"/>
                          </a:solidFill>
                          <a:latin typeface="Calibri"/>
                        </a:rPr>
                        <a:t>+5.5 %</a:t>
                      </a:r>
                    </a:p>
                  </a:txBody>
                  <a:tcPr>
                    <a:solidFill>
                      <a:srgbClr val="FFF3CD"/>
                    </a:solidFill>
                  </a:tcPr>
                </a:tc>
                <a:tc>
                  <a:txBody>
                    <a:bodyPr lIns="54864" rIns="54864" tIns="18288" bIns="18288" wrap="square" anchor="ctr"/>
                    <a:lstStyle/>
                    <a:p>
                      <a:pPr algn="l"/>
                      <a:r>
                        <a:rPr sz="850" b="0">
                          <a:solidFill>
                            <a:srgbClr val="000000"/>
                          </a:solidFill>
                          <a:latin typeface="Calibri"/>
                        </a:rPr>
                        <a:t>1.36</a:t>
                      </a:r>
                    </a:p>
                  </a:txBody>
                  <a:tcPr/>
                </a:tc>
              </a:tr>
              <a:tr h="244602">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1">
                          <a:solidFill>
                            <a:srgbClr val="000000"/>
                          </a:solidFill>
                          <a:latin typeface="Calibri"/>
                        </a:rPr>
                        <a:t>-7.7 %</a:t>
                      </a:r>
                    </a:p>
                  </a:txBody>
                  <a:tcPr>
                    <a:solidFill>
                      <a:srgbClr val="FFF3CD"/>
                    </a:solidFill>
                  </a:tcPr>
                </a:tc>
                <a:tc>
                  <a:txBody>
                    <a:bodyPr lIns="54864" rIns="54864" tIns="18288" bIns="18288" wrap="square" anchor="ctr"/>
                    <a:lstStyle/>
                    <a:p>
                      <a:pPr algn="l"/>
                      <a:r>
                        <a:rPr sz="850" b="0">
                          <a:solidFill>
                            <a:srgbClr val="000000"/>
                          </a:solidFill>
                          <a:latin typeface="Calibri"/>
                        </a:rPr>
                        <a:t>47.09</a:t>
                      </a:r>
                    </a:p>
                  </a:txBody>
                  <a:tcPr/>
                </a:tc>
              </a:tr>
              <a:tr h="244602">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1">
                          <a:solidFill>
                            <a:srgbClr val="000000"/>
                          </a:solidFill>
                          <a:latin typeface="Calibri"/>
                        </a:rPr>
                        <a:t>-15.5 %</a:t>
                      </a:r>
                    </a:p>
                  </a:txBody>
                  <a:tcPr>
                    <a:solidFill>
                      <a:srgbClr val="FFCDD2"/>
                    </a:solidFill>
                  </a:tcPr>
                </a:tc>
                <a:tc>
                  <a:txBody>
                    <a:bodyPr lIns="54864" rIns="54864" tIns="18288" bIns="18288" wrap="square" anchor="ctr"/>
                    <a:lstStyle/>
                    <a:p>
                      <a:pPr algn="l"/>
                      <a:r>
                        <a:rPr sz="850" b="0">
                          <a:solidFill>
                            <a:srgbClr val="000000"/>
                          </a:solidFill>
                          <a:latin typeface="Calibri"/>
                        </a:rPr>
                        <a:t>2.23</a:t>
                      </a:r>
                    </a:p>
                  </a:txBody>
                  <a:tcPr/>
                </a:tc>
              </a:tr>
              <a:tr h="244602">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1">
                          <a:solidFill>
                            <a:srgbClr val="000000"/>
                          </a:solidFill>
                          <a:latin typeface="Calibri"/>
                        </a:rPr>
                        <a:t>-0.8 %</a:t>
                      </a:r>
                    </a:p>
                  </a:txBody>
                  <a:tcPr>
                    <a:solidFill>
                      <a:srgbClr val="C8E6C9"/>
                    </a:solidFill>
                  </a:tcPr>
                </a:tc>
                <a:tc>
                  <a:txBody>
                    <a:bodyPr lIns="54864" rIns="54864" tIns="18288" bIns="18288" wrap="square" anchor="ctr"/>
                    <a:lstStyle/>
                    <a:p>
                      <a:pPr algn="l"/>
                      <a:r>
                        <a:rPr sz="850" b="0">
                          <a:solidFill>
                            <a:srgbClr val="000000"/>
                          </a:solidFill>
                          <a:latin typeface="Calibri"/>
                        </a:rPr>
                        <a:t>2.96</a:t>
                      </a:r>
                    </a:p>
                  </a:txBody>
                  <a:tcPr/>
                </a:tc>
              </a:tr>
              <a:tr h="244602">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1">
                          <a:solidFill>
                            <a:srgbClr val="000000"/>
                          </a:solidFill>
                          <a:latin typeface="Calibri"/>
                        </a:rPr>
                        <a:t>-10.3 %</a:t>
                      </a:r>
                    </a:p>
                  </a:txBody>
                  <a:tcPr>
                    <a:solidFill>
                      <a:srgbClr val="FFCDD2"/>
                    </a:solidFill>
                  </a:tcPr>
                </a:tc>
                <a:tc>
                  <a:txBody>
                    <a:bodyPr lIns="54864" rIns="54864" tIns="18288" bIns="18288" wrap="square" anchor="ctr"/>
                    <a:lstStyle/>
                    <a:p>
                      <a:pPr algn="l"/>
                      <a:r>
                        <a:rPr sz="850" b="0">
                          <a:solidFill>
                            <a:srgbClr val="000000"/>
                          </a:solidFill>
                          <a:latin typeface="Calibri"/>
                        </a:rPr>
                        <a:t>44.47</a:t>
                      </a:r>
                    </a:p>
                  </a:txBody>
                  <a:tcPr/>
                </a:tc>
              </a:tr>
              <a:tr h="244602">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1">
                          <a:solidFill>
                            <a:srgbClr val="000000"/>
                          </a:solidFill>
                          <a:latin typeface="Calibri"/>
                        </a:rPr>
                        <a:t>-7.9 %</a:t>
                      </a:r>
                    </a:p>
                  </a:txBody>
                  <a:tcPr>
                    <a:solidFill>
                      <a:srgbClr val="FFF3CD"/>
                    </a:solidFill>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9" name="TextBox 8"/>
          <p:cNvSpPr txBox="1"/>
          <p:nvPr/>
        </p:nvSpPr>
        <p:spPr>
          <a:xfrm>
            <a:off x="6537960" y="3346704"/>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colour</a:t>
            </a:r>
          </a:p>
        </p:txBody>
      </p:sp>
      <p:graphicFrame>
        <p:nvGraphicFramePr>
          <p:cNvPr id="10" name="Table 9"/>
          <p:cNvGraphicFramePr>
            <a:graphicFrameLocks noGrp="1"/>
          </p:cNvGraphicFramePr>
          <p:nvPr/>
        </p:nvGraphicFramePr>
        <p:xfrm>
          <a:off x="6537960" y="3694176"/>
          <a:ext cx="5303518" cy="1271016"/>
        </p:xfrm>
        <a:graphic>
          <a:graphicData uri="http://schemas.openxmlformats.org/drawingml/2006/table">
            <a:tbl>
              <a:tblPr firstRow="1" bandRow="1">
                <a:tableStyleId>{5C22544A-7EE6-4342-B048-85BDC9FD1C3A}</a:tableStyleId>
              </a:tblPr>
              <a:tblGrid>
                <a:gridCol w="1051559"/>
                <a:gridCol w="4251959"/>
              </a:tblGrid>
              <a:tr h="254203">
                <a:tc>
                  <a:txBody>
                    <a:bodyPr lIns="54864" rIns="54864" tIns="18288" bIns="18288" wrap="square" anchor="ctr"/>
                    <a:lstStyle/>
                    <a:p>
                      <a:pPr algn="l"/>
                      <a:r>
                        <a:rPr sz="900" b="1">
                          <a:solidFill>
                            <a:srgbClr val="FFFFFF"/>
                          </a:solidFill>
                          <a:latin typeface="Calibri"/>
                        </a:rPr>
                        <a:t>Band</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254203">
                <a:tc>
                  <a:txBody>
                    <a:bodyPr lIns="54864" rIns="54864" tIns="18288" bIns="18288" wrap="square" anchor="ctr"/>
                    <a:lstStyle/>
                    <a:p>
                      <a:pPr algn="l"/>
                      <a:r>
                        <a:rPr sz="850" b="1">
                          <a:solidFill>
                            <a:srgbClr val="000000"/>
                          </a:solidFill>
                          <a:latin typeface="Calibri"/>
                        </a:rPr>
                        <a:t>≤ 1 %</a:t>
                      </a:r>
                    </a:p>
                  </a:txBody>
                  <a:tcPr>
                    <a:solidFill>
                      <a:srgbClr val="C8E6C9"/>
                    </a:solidFill>
                  </a:tcPr>
                </a:tc>
                <a:tc>
                  <a:txBody>
                    <a:bodyPr lIns="54864" rIns="54864" tIns="18288" bIns="18288" wrap="square" anchor="ctr"/>
                    <a:lstStyle/>
                    <a:p>
                      <a:pPr algn="l"/>
                      <a:r>
                        <a:rPr sz="850" b="0">
                          <a:solidFill>
                            <a:srgbClr val="000000"/>
                          </a:solidFill>
                          <a:latin typeface="Calibri"/>
                        </a:rPr>
                        <a:t>instrument-level agreement</a:t>
                      </a:r>
                    </a:p>
                  </a:txBody>
                  <a:tcPr/>
                </a:tc>
              </a:tr>
              <a:tr h="254203">
                <a:tc>
                  <a:txBody>
                    <a:bodyPr lIns="54864" rIns="54864" tIns="18288" bIns="18288" wrap="square" anchor="ctr"/>
                    <a:lstStyle/>
                    <a:p>
                      <a:pPr algn="l"/>
                      <a:r>
                        <a:rPr sz="850" b="1">
                          <a:solidFill>
                            <a:srgbClr val="000000"/>
                          </a:solidFill>
                          <a:latin typeface="Calibri"/>
                        </a:rPr>
                        <a:t>1 – 3 %</a:t>
                      </a:r>
                    </a:p>
                  </a:txBody>
                  <a:tcPr>
                    <a:solidFill>
                      <a:srgbClr val="E6EFC4"/>
                    </a:solidFill>
                  </a:tcPr>
                </a:tc>
                <a:tc>
                  <a:txBody>
                    <a:bodyPr lIns="54864" rIns="54864" tIns="18288" bIns="18288" wrap="square" anchor="ctr"/>
                    <a:lstStyle/>
                    <a:p>
                      <a:pPr algn="l"/>
                      <a:r>
                        <a:rPr sz="850" b="0">
                          <a:solidFill>
                            <a:srgbClr val="000000"/>
                          </a:solidFill>
                          <a:latin typeface="Calibri"/>
                        </a:rPr>
                        <a:t>inside our own S33/S34 specimen scatter</a:t>
                      </a:r>
                    </a:p>
                  </a:txBody>
                  <a:tcPr/>
                </a:tc>
              </a:tr>
              <a:tr h="254203">
                <a:tc>
                  <a:txBody>
                    <a:bodyPr lIns="54864" rIns="54864" tIns="18288" bIns="18288" wrap="square" anchor="ctr"/>
                    <a:lstStyle/>
                    <a:p>
                      <a:pPr algn="l"/>
                      <a:r>
                        <a:rPr sz="850" b="1">
                          <a:solidFill>
                            <a:srgbClr val="000000"/>
                          </a:solidFill>
                          <a:latin typeface="Calibri"/>
                        </a:rPr>
                        <a:t>3 – 8 %</a:t>
                      </a:r>
                    </a:p>
                  </a:txBody>
                  <a:tcPr>
                    <a:solidFill>
                      <a:srgbClr val="FFF3CD"/>
                    </a:solidFill>
                  </a:tcPr>
                </a:tc>
                <a:tc>
                  <a:txBody>
                    <a:bodyPr lIns="54864" rIns="54864" tIns="18288" bIns="18288" wrap="square" anchor="ctr"/>
                    <a:lstStyle/>
                    <a:p>
                      <a:pPr algn="l"/>
                      <a:r>
                        <a:rPr sz="850" b="0">
                          <a:solidFill>
                            <a:srgbClr val="000000"/>
                          </a:solidFill>
                          <a:latin typeface="Calibri"/>
                        </a:rPr>
                        <a:t>larger than that scatter — needs a reason</a:t>
                      </a:r>
                    </a:p>
                  </a:txBody>
                  <a:tcPr/>
                </a:tc>
              </a:tr>
              <a:tr h="254204">
                <a:tc>
                  <a:txBody>
                    <a:bodyPr lIns="54864" rIns="54864" tIns="18288" bIns="18288" wrap="square" anchor="ctr"/>
                    <a:lstStyle/>
                    <a:p>
                      <a:pPr algn="l"/>
                      <a:r>
                        <a:rPr sz="850" b="1">
                          <a:solidFill>
                            <a:srgbClr val="000000"/>
                          </a:solidFill>
                          <a:latin typeface="Calibri"/>
                        </a:rPr>
                        <a:t>&gt; 8 %</a:t>
                      </a:r>
                    </a:p>
                  </a:txBody>
                  <a:tcPr>
                    <a:solidFill>
                      <a:srgbClr val="FFCDD2"/>
                    </a:solidFill>
                  </a:tcPr>
                </a:tc>
                <a:tc>
                  <a:txBody>
                    <a:bodyPr lIns="54864" rIns="54864" tIns="18288" bIns="18288" wrap="square" anchor="ctr"/>
                    <a:lstStyle/>
                    <a:p>
                      <a:pPr algn="l"/>
                      <a:r>
                        <a:rPr sz="850" b="0">
                          <a:solidFill>
                            <a:srgbClr val="000000"/>
                          </a:solidFill>
                          <a:latin typeface="Calibri"/>
                        </a:rPr>
                        <a:t>the largest gaps in this comparison</a:t>
                      </a:r>
                    </a:p>
                  </a:txBody>
                  <a:tcPr/>
                </a:tc>
              </a:tr>
            </a:tbl>
          </a:graphicData>
        </a:graphic>
      </p:graphicFrame>
      <p:sp>
        <p:nvSpPr>
          <p:cNvPr id="11" name="TextBox 10"/>
          <p:cNvSpPr txBox="1"/>
          <p:nvPr/>
        </p:nvSpPr>
        <p:spPr>
          <a:xfrm>
            <a:off x="6537960" y="5047488"/>
            <a:ext cx="5303520" cy="731520"/>
          </a:xfrm>
          <a:prstGeom prst="rect">
            <a:avLst/>
          </a:prstGeom>
          <a:noFill/>
        </p:spPr>
        <p:txBody>
          <a:bodyPr wrap="square" lIns="45720" rIns="45720" tIns="18288" bIns="18288" anchor="t">
            <a:spAutoFit/>
          </a:bodyPr>
          <a:lstStyle/>
          <a:p>
            <a:pPr algn="l"/>
            <a:r>
              <a:rPr sz="950" b="0" i="0">
                <a:solidFill>
                  <a:srgbClr val="000000"/>
                </a:solidFill>
                <a:latin typeface="Calibri"/>
              </a:rPr>
              <a:t>Read down the offset column and the split is not random: the two GREEN rows are the ones the pull speed cannot touch, and every amber or red row is post-yield.</a:t>
            </a:r>
          </a:p>
        </p:txBody>
      </p:sp>
      <p:sp>
        <p:nvSpPr>
          <p:cNvPr id="12" name="Rectangle 11"/>
          <p:cNvSpPr/>
          <p:nvPr/>
        </p:nvSpPr>
        <p:spPr>
          <a:xfrm>
            <a:off x="365760" y="5870448"/>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and failure strain agree at instrument level; everything after yield does not. Which of those two groups a number falls into is the whole result.</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Offsets are XT205-S2 relative to S34. σ_y is on each record's own steepest-straight-run modulus, so the same construction is used on both. S33 is shown for scale and is not part of the offset.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MOT Test 1 found the XT-205 reading strain 2.21× faster than the PPD-UTM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XT205-S2 ·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XT-205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PPD-UTM curve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SPEED DIFFERENCE PREDICTS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S34 was pulled 3.0× faster than XT205-S2 at the crosshead. PLA is rate-sensitive, so that is the first thing to suspect for the slope gap on the previous slide. It is worth doing the arithmetic before believing it.</a:t>
            </a:r>
          </a:p>
        </p:txBody>
      </p:sp>
      <p:sp>
        <p:nvSpPr>
          <p:cNvPr id="6" name="TextBox 5"/>
          <p:cNvSpPr txBox="1"/>
          <p:nvPr/>
        </p:nvSpPr>
        <p:spPr>
          <a:xfrm>
            <a:off x="411480" y="138988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crosshead ratio is not the ratio that matters</a:t>
            </a:r>
          </a:p>
        </p:txBody>
      </p:sp>
      <p:graphicFrame>
        <p:nvGraphicFramePr>
          <p:cNvPr id="7" name="Table 6"/>
          <p:cNvGraphicFramePr>
            <a:graphicFrameLocks noGrp="1"/>
          </p:cNvGraphicFramePr>
          <p:nvPr/>
        </p:nvGraphicFramePr>
        <p:xfrm>
          <a:off x="411480" y="1737360"/>
          <a:ext cx="5623559" cy="1298448"/>
        </p:xfrm>
        <a:graphic>
          <a:graphicData uri="http://schemas.openxmlformats.org/drawingml/2006/table">
            <a:tbl>
              <a:tblPr firstRow="1" bandRow="1">
                <a:tableStyleId>{5C22544A-7EE6-4342-B048-85BDC9FD1C3A}</a:tableStyleId>
              </a:tblPr>
              <a:tblGrid>
                <a:gridCol w="2096920"/>
                <a:gridCol w="1334404"/>
                <a:gridCol w="1334404"/>
                <a:gridCol w="857831"/>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XT205-S2</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24612">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2.00 mm/min</a:t>
                      </a:r>
                    </a:p>
                  </a:txBody>
                  <a:tcPr/>
                </a:tc>
                <a:tc>
                  <a:txBody>
                    <a:bodyPr lIns="54864" rIns="54864" tIns="18288" bIns="18288" wrap="square" anchor="ctr"/>
                    <a:lstStyle/>
                    <a:p>
                      <a:pPr algn="l"/>
                      <a:r>
                        <a:rPr sz="900" b="0">
                          <a:solidFill>
                            <a:srgbClr val="000000"/>
                          </a:solidFill>
                          <a:latin typeface="Calibri"/>
                        </a:rPr>
                        <a:t>5.98 mm/min</a:t>
                      </a:r>
                    </a:p>
                  </a:txBody>
                  <a:tcPr/>
                </a:tc>
                <a:tc>
                  <a:txBody>
                    <a:bodyPr lIns="54864" rIns="54864" tIns="18288" bIns="18288" wrap="square" anchor="ctr"/>
                    <a:lstStyle/>
                    <a:p>
                      <a:pPr algn="l"/>
                      <a:r>
                        <a:rPr sz="900" b="0">
                          <a:solidFill>
                            <a:srgbClr val="000000"/>
                          </a:solidFill>
                          <a:latin typeface="Calibri"/>
                        </a:rPr>
                        <a:t>2.99×</a:t>
                      </a:r>
                    </a:p>
                  </a:txBody>
                  <a:tcPr/>
                </a:tc>
              </a:tr>
              <a:tr h="324612">
                <a:tc>
                  <a:txBody>
                    <a:bodyPr lIns="54864" rIns="54864" tIns="18288" bIns="18288" wrap="square" anchor="ctr"/>
                    <a:lstStyle/>
                    <a:p>
                      <a:pPr algn="l"/>
                      <a:r>
                        <a:rPr sz="900" b="0">
                          <a:solidFill>
                            <a:srgbClr val="000000"/>
                          </a:solidFill>
                          <a:latin typeface="Calibri"/>
                        </a:rPr>
                        <a:t>share reaching the gauge</a:t>
                      </a:r>
                    </a:p>
                  </a:txBody>
                  <a:tcPr/>
                </a:tc>
                <a:tc>
                  <a:txBody>
                    <a:bodyPr lIns="54864" rIns="54864" tIns="18288" bIns="18288" wrap="square" anchor="ctr"/>
                    <a:lstStyle/>
                    <a:p>
                      <a:pPr algn="l"/>
                      <a:r>
                        <a:rPr sz="900" b="0">
                          <a:solidFill>
                            <a:srgbClr val="000000"/>
                          </a:solidFill>
                          <a:latin typeface="Calibri"/>
                        </a:rPr>
                        <a:t>45 %</a:t>
                      </a:r>
                    </a:p>
                  </a:txBody>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1.38×</a:t>
                      </a:r>
                    </a:p>
                  </a:txBody>
                  <a:tcPr/>
                </a:tc>
              </a:tr>
              <a:tr h="324612">
                <a:tc>
                  <a:txBody>
                    <a:bodyPr lIns="54864" rIns="54864" tIns="18288" bIns="18288" wrap="square" anchor="ctr"/>
                    <a:lstStyle/>
                    <a:p>
                      <a:pPr algn="l"/>
                      <a:r>
                        <a:rPr sz="900" b="0">
                          <a:solidFill>
                            <a:srgbClr val="000000"/>
                          </a:solidFill>
                          <a:latin typeface="Calibri"/>
                        </a:rPr>
                        <a:t>GAUGE STRAIN RATE</a:t>
                      </a:r>
                    </a:p>
                  </a:txBody>
                  <a:tcPr/>
                </a:tc>
                <a:tc>
                  <a:txBody>
                    <a:bodyPr lIns="54864" rIns="54864" tIns="18288" bIns="18288" wrap="square" anchor="ctr"/>
                    <a:lstStyle/>
                    <a:p>
                      <a:pPr algn="l"/>
                      <a:r>
                        <a:rPr sz="900" b="0">
                          <a:solidFill>
                            <a:srgbClr val="000000"/>
                          </a:solidFill>
                          <a:latin typeface="Calibri"/>
                        </a:rPr>
                        <a:t>2.596e-04 /s</a:t>
                      </a:r>
                    </a:p>
                  </a:txBody>
                  <a:tcPr/>
                </a:tc>
                <a:tc>
                  <a:txBody>
                    <a:bodyPr lIns="54864" rIns="54864" tIns="18288" bIns="18288" wrap="square" anchor="ctr"/>
                    <a:lstStyle/>
                    <a:p>
                      <a:pPr algn="l"/>
                      <a:r>
                        <a:rPr sz="900" b="0">
                          <a:solidFill>
                            <a:srgbClr val="000000"/>
                          </a:solidFill>
                          <a:latin typeface="Calibri"/>
                        </a:rPr>
                        <a:t>3.095e-04 /s</a:t>
                      </a:r>
                    </a:p>
                  </a:txBody>
                  <a:tcPr/>
                </a:tc>
                <a:tc>
                  <a:txBody>
                    <a:bodyPr lIns="54864" rIns="54864" tIns="18288" bIns="18288" wrap="square" anchor="ctr"/>
                    <a:lstStyle/>
                    <a:p>
                      <a:pPr algn="l"/>
                      <a:r>
                        <a:rPr sz="900" b="0">
                          <a:solidFill>
                            <a:srgbClr val="000000"/>
                          </a:solidFill>
                          <a:latin typeface="Calibri"/>
                        </a:rPr>
                        <a:t>1.193×</a:t>
                      </a:r>
                    </a:p>
                  </a:txBody>
                  <a:tcPr/>
                </a:tc>
              </a:tr>
            </a:tbl>
          </a:graphicData>
        </a:graphic>
      </p:graphicFrame>
      <p:sp>
        <p:nvSpPr>
          <p:cNvPr id="8" name="TextBox 7"/>
          <p:cNvSpPr txBox="1"/>
          <p:nvPr/>
        </p:nvSpPr>
        <p:spPr>
          <a:xfrm>
            <a:off x="411480" y="32004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two ratios are so different</a:t>
            </a:r>
          </a:p>
        </p:txBody>
      </p:sp>
      <p:sp>
        <p:nvSpPr>
          <p:cNvPr id="9" name="TextBox 8"/>
          <p:cNvSpPr txBox="1"/>
          <p:nvPr/>
        </p:nvSpPr>
        <p:spPr>
          <a:xfrm>
            <a:off x="411480" y="3547872"/>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A specimen does not feel the crosshead; it feels the strain rate in its own gauge. The XT-205 delivers 45 % of its travel there and the PPD-UTM 33 %, so the stiffer frame hands over a larger share and claws back most of the 3.0× speed handicap. What is left is 1.193× — a factor of 2.5 smaller than the speeds suggest, and only 0.076 of a DECADE.</a:t>
            </a:r>
          </a:p>
        </p:txBody>
      </p:sp>
      <p:sp>
        <p:nvSpPr>
          <p:cNvPr id="10" name="TextBox 9"/>
          <p:cNvSpPr txBox="1"/>
          <p:nvPr/>
        </p:nvSpPr>
        <p:spPr>
          <a:xfrm>
            <a:off x="6263640" y="138988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how much modulus should that buy?</a:t>
            </a:r>
          </a:p>
        </p:txBody>
      </p:sp>
      <p:graphicFrame>
        <p:nvGraphicFramePr>
          <p:cNvPr id="11" name="Table 10"/>
          <p:cNvGraphicFramePr>
            <a:graphicFrameLocks noGrp="1"/>
          </p:cNvGraphicFramePr>
          <p:nvPr/>
        </p:nvGraphicFramePr>
        <p:xfrm>
          <a:off x="6263640" y="1737360"/>
          <a:ext cx="5577840" cy="1298448"/>
        </p:xfrm>
        <a:graphic>
          <a:graphicData uri="http://schemas.openxmlformats.org/drawingml/2006/table">
            <a:tbl>
              <a:tblPr firstRow="1" bandRow="1">
                <a:tableStyleId>{5C22544A-7EE6-4342-B048-85BDC9FD1C3A}</a:tableStyleId>
              </a:tblPr>
              <a:tblGrid>
                <a:gridCol w="3200400"/>
                <a:gridCol w="2377440"/>
              </a:tblGrid>
              <a:tr h="259689">
                <a:tc>
                  <a:txBody>
                    <a:bodyPr lIns="54864" rIns="54864" tIns="18288" bIns="18288" wrap="square" anchor="ctr"/>
                    <a:lstStyle/>
                    <a:p>
                      <a:pPr algn="l"/>
                      <a:r>
                        <a:rPr sz="950" b="1">
                          <a:solidFill>
                            <a:srgbClr val="FFFFFF"/>
                          </a:solidFill>
                          <a:latin typeface="Calibri"/>
                        </a:rPr>
                        <a:t>If PLA's E rises…</a:t>
                      </a:r>
                    </a:p>
                  </a:txBody>
                  <a:tcPr>
                    <a:solidFill>
                      <a:srgbClr val="143D2F"/>
                    </a:solidFill>
                  </a:tcPr>
                </a:tc>
                <a:tc>
                  <a:txBody>
                    <a:bodyPr lIns="54864" rIns="54864" tIns="18288" bIns="18288" wrap="square" anchor="ctr"/>
                    <a:lstStyle/>
                    <a:p>
                      <a:pPr algn="l"/>
                      <a:r>
                        <a:rPr sz="950" b="1">
                          <a:solidFill>
                            <a:srgbClr val="FFFFFF"/>
                          </a:solidFill>
                          <a:latin typeface="Calibri"/>
                        </a:rPr>
                        <a:t>…then S34 − XT205-S2 should be</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3 % per decade of strain rate</a:t>
                      </a:r>
                    </a:p>
                  </a:txBody>
                  <a:tcPr/>
                </a:tc>
                <a:tc>
                  <a:txBody>
                    <a:bodyPr lIns="54864" rIns="54864" tIns="18288" bIns="18288" wrap="square" anchor="ctr"/>
                    <a:lstStyle/>
                    <a:p>
                      <a:pPr algn="l"/>
                      <a:r>
                        <a:rPr sz="900" b="0">
                          <a:solidFill>
                            <a:srgbClr val="000000"/>
                          </a:solidFill>
                          <a:latin typeface="Calibri"/>
                        </a:rPr>
                        <a:t>+0.23 %</a:t>
                      </a:r>
                    </a:p>
                  </a:txBody>
                  <a:tcPr/>
                </a:tc>
              </a:tr>
              <a:tr h="259689">
                <a:tc>
                  <a:txBody>
                    <a:bodyPr lIns="54864" rIns="54864" tIns="18288" bIns="18288" wrap="square" anchor="ctr"/>
                    <a:lstStyle/>
                    <a:p>
                      <a:pPr algn="l"/>
                      <a:r>
                        <a:rPr sz="900" b="0">
                          <a:solidFill>
                            <a:srgbClr val="000000"/>
                          </a:solidFill>
                          <a:latin typeface="Calibri"/>
                        </a:rPr>
                        <a:t>5 % per decade</a:t>
                      </a:r>
                    </a:p>
                  </a:txBody>
                  <a:tcPr/>
                </a:tc>
                <a:tc>
                  <a:txBody>
                    <a:bodyPr lIns="54864" rIns="54864" tIns="18288" bIns="18288" wrap="square" anchor="ctr"/>
                    <a:lstStyle/>
                    <a:p>
                      <a:pPr algn="l"/>
                      <a:r>
                        <a:rPr sz="900" b="0">
                          <a:solidFill>
                            <a:srgbClr val="000000"/>
                          </a:solidFill>
                          <a:latin typeface="Calibri"/>
                        </a:rPr>
                        <a:t>+0.38 %</a:t>
                      </a:r>
                    </a:p>
                  </a:txBody>
                  <a:tcPr/>
                </a:tc>
              </a:tr>
              <a:tr h="259689">
                <a:tc>
                  <a:txBody>
                    <a:bodyPr lIns="54864" rIns="54864" tIns="18288" bIns="18288" wrap="square" anchor="ctr"/>
                    <a:lstStyle/>
                    <a:p>
                      <a:pPr algn="l"/>
                      <a:r>
                        <a:rPr sz="900" b="0">
                          <a:solidFill>
                            <a:srgbClr val="000000"/>
                          </a:solidFill>
                          <a:latin typeface="Calibri"/>
                        </a:rPr>
                        <a:t>8 % per decade</a:t>
                      </a:r>
                    </a:p>
                  </a:txBody>
                  <a:tcPr/>
                </a:tc>
                <a:tc>
                  <a:txBody>
                    <a:bodyPr lIns="54864" rIns="54864" tIns="18288" bIns="18288" wrap="square" anchor="ctr"/>
                    <a:lstStyle/>
                    <a:p>
                      <a:pPr algn="l"/>
                      <a:r>
                        <a:rPr sz="900" b="0">
                          <a:solidFill>
                            <a:srgbClr val="000000"/>
                          </a:solidFill>
                          <a:latin typeface="Calibri"/>
                        </a:rPr>
                        <a:t>+0.61 %</a:t>
                      </a:r>
                    </a:p>
                  </a:txBody>
                  <a:tcPr/>
                </a:tc>
              </a:tr>
              <a:tr h="259692">
                <a:tc>
                  <a:txBody>
                    <a:bodyPr lIns="54864" rIns="54864" tIns="18288" bIns="18288" wrap="square" anchor="ctr"/>
                    <a:lstStyle/>
                    <a:p>
                      <a:pPr algn="l"/>
                      <a:r>
                        <a:rPr sz="900" b="0">
                          <a:solidFill>
                            <a:srgbClr val="000000"/>
                          </a:solidFill>
                          <a:latin typeface="Calibri"/>
                        </a:rPr>
                        <a:t>10 % per decade (a generous ceiling)</a:t>
                      </a:r>
                    </a:p>
                  </a:txBody>
                  <a:tcPr/>
                </a:tc>
                <a:tc>
                  <a:txBody>
                    <a:bodyPr lIns="54864" rIns="54864" tIns="18288" bIns="18288" wrap="square" anchor="ctr"/>
                    <a:lstStyle/>
                    <a:p>
                      <a:pPr algn="l"/>
                      <a:r>
                        <a:rPr sz="900" b="0">
                          <a:solidFill>
                            <a:srgbClr val="000000"/>
                          </a:solidFill>
                          <a:latin typeface="Calibri"/>
                        </a:rPr>
                        <a:t>+0.76 %</a:t>
                      </a:r>
                    </a:p>
                  </a:txBody>
                  <a:tcPr/>
                </a:tc>
              </a:tr>
            </a:tbl>
          </a:graphicData>
        </a:graphic>
      </p:graphicFrame>
      <p:sp>
        <p:nvSpPr>
          <p:cNvPr id="12" name="TextBox 11"/>
          <p:cNvSpPr txBox="1"/>
          <p:nvPr/>
        </p:nvSpPr>
        <p:spPr>
          <a:xfrm>
            <a:off x="6263640" y="32004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prediction, stated before looking</a:t>
            </a:r>
          </a:p>
        </p:txBody>
      </p:sp>
      <p:sp>
        <p:nvSpPr>
          <p:cNvPr id="13" name="TextBox 12"/>
          <p:cNvSpPr txBox="1"/>
          <p:nvPr/>
        </p:nvSpPr>
        <p:spPr>
          <a:xfrm>
            <a:off x="6263640" y="3547872"/>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DIRECTION: XT205-S2 is the slower specimen, so it should have the LOWER slope. A polymer pulled slowly gives its chains more time to rearrange, and reads softer.
MAGNITUDE: under 1 % on E, whichever rate-sensitivity is assumed. That is the useful part — anything much larger than 1 % is NOT the speed, whatever direction it points in.</a:t>
            </a:r>
          </a:p>
        </p:txBody>
      </p:sp>
      <p:sp>
        <p:nvSpPr>
          <p:cNvPr id="14" name="Rectangle 13"/>
          <p:cNvSpPr/>
          <p:nvPr/>
        </p:nvSpPr>
        <p:spPr>
          <a:xfrm>
            <a:off x="365760" y="4443984"/>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per-decade figures are literature-typical for PLA, not measured on this rig — which is why the DIRECTION test below carries the argument and the magnitude only bounds it.</a:t>
            </a:r>
          </a:p>
        </p:txBody>
      </p:sp>
      <p:sp>
        <p:nvSpPr>
          <p:cNvPr id="15" name="TextBox 14"/>
          <p:cNvSpPr txBox="1"/>
          <p:nvPr/>
        </p:nvSpPr>
        <p:spPr>
          <a:xfrm>
            <a:off x="411480" y="5047488"/>
            <a:ext cx="11430000" cy="658368"/>
          </a:xfrm>
          <a:prstGeom prst="rect">
            <a:avLst/>
          </a:prstGeom>
          <a:noFill/>
        </p:spPr>
        <p:txBody>
          <a:bodyPr wrap="square" lIns="45720" rIns="45720" tIns="18288" bIns="18288" anchor="t">
            <a:spAutoFit/>
          </a:bodyPr>
          <a:lstStyle/>
          <a:p>
            <a:pPr algn="l"/>
            <a:r>
              <a:rPr sz="1000" b="0" i="0">
                <a:solidFill>
                  <a:srgbClr val="000000"/>
                </a:solidFill>
                <a:latin typeface="Calibri"/>
              </a:rPr>
              <a:t>Note what this already says about the planned experiment. Running the PPD-UTM at 2 mm/min matches XT205-S2's COMMANDED speed but not its strain rate: our gauge would see 1.035e-04 /s, which is 0.40× theirs — an overshoot in the other direction. To match the RATE the PPD-UTM would run 5.02 mm/min.</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rate is fitted over the same 0.05–0.35 % window used everywhere in this block, on the preload-zeroed axis. Share of travel reaching the gauge is from p319.</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DID THE SLOPES DIFFER AS PREDICTED?</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Prediction: S34 stiffer than XT205-S2, by under 1 %. Two fitting methods, two answers — and they do not even agree on the SIGN.</a:t>
            </a:r>
          </a:p>
        </p:txBody>
      </p:sp>
      <p:sp>
        <p:nvSpPr>
          <p:cNvPr id="6" name="TextBox 5"/>
          <p:cNvSpPr txBox="1"/>
          <p:nvPr/>
        </p:nvSpPr>
        <p:spPr>
          <a:xfrm>
            <a:off x="411480" y="1389888"/>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Predicted against measured</a:t>
            </a:r>
          </a:p>
        </p:txBody>
      </p:sp>
      <p:graphicFrame>
        <p:nvGraphicFramePr>
          <p:cNvPr id="7" name="Table 6"/>
          <p:cNvGraphicFramePr>
            <a:graphicFrameLocks noGrp="1"/>
          </p:cNvGraphicFramePr>
          <p:nvPr/>
        </p:nvGraphicFramePr>
        <p:xfrm>
          <a:off x="411480" y="1737360"/>
          <a:ext cx="6766558" cy="1298448"/>
        </p:xfrm>
        <a:graphic>
          <a:graphicData uri="http://schemas.openxmlformats.org/drawingml/2006/table">
            <a:tbl>
              <a:tblPr firstRow="1" bandRow="1">
                <a:tableStyleId>{5C22544A-7EE6-4342-B048-85BDC9FD1C3A}</a:tableStyleId>
              </a:tblPr>
              <a:tblGrid>
                <a:gridCol w="2101416"/>
                <a:gridCol w="1092736"/>
                <a:gridCol w="1092736"/>
                <a:gridCol w="1134764"/>
                <a:gridCol w="1344906"/>
              </a:tblGrid>
              <a:tr h="32461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S34 − XT205-S2</a:t>
                      </a:r>
                    </a:p>
                  </a:txBody>
                  <a:tcPr>
                    <a:solidFill>
                      <a:srgbClr val="143D2F"/>
                    </a:solidFill>
                  </a:tcPr>
                </a:tc>
                <a:tc>
                  <a:txBody>
                    <a:bodyPr lIns="54864" rIns="54864" tIns="18288" bIns="18288" wrap="square" anchor="ctr"/>
                    <a:lstStyle/>
                    <a:p>
                      <a:pPr algn="l"/>
                      <a:r>
                        <a:rPr sz="900" b="1">
                          <a:solidFill>
                            <a:srgbClr val="FFFFFF"/>
                          </a:solidFill>
                          <a:latin typeface="Calibri"/>
                        </a:rPr>
                        <a:t>as predicted?</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predicted from the strain rate</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+0.38 %  (±)</a:t>
                      </a:r>
                    </a:p>
                  </a:txBody>
                  <a:tcPr/>
                </a:tc>
                <a:tc>
                  <a:txBody>
                    <a:bodyPr lIns="54864" rIns="54864" tIns="18288" bIns="18288" wrap="square" anchor="ctr"/>
                    <a:lstStyle/>
                    <a:p>
                      <a:pPr algn="l"/>
                      <a:r>
                        <a:rPr sz="850" b="0">
                          <a:solidFill>
                            <a:srgbClr val="000000"/>
                          </a:solidFill>
                          <a:latin typeface="Calibri"/>
                        </a:rPr>
                        <a:t>—</a:t>
                      </a:r>
                    </a:p>
                  </a:txBody>
                  <a:tcPr/>
                </a:tc>
              </a:tr>
              <a:tr h="324612">
                <a:tc>
                  <a:txBody>
                    <a:bodyPr lIns="54864" rIns="54864" tIns="18288" bIns="18288" wrap="square" anchor="ctr"/>
                    <a:lstStyle/>
                    <a:p>
                      <a:pPr algn="l"/>
                      <a:r>
                        <a:rPr sz="850" b="0">
                          <a:solidFill>
                            <a:srgbClr val="000000"/>
                          </a:solidFill>
                          <a:latin typeface="Calibri"/>
                        </a:rPr>
                        <a:t>MEASURED, fixed 0.05–0.40 %</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-4.2 %</a:t>
                      </a:r>
                    </a:p>
                  </a:txBody>
                  <a:tcPr/>
                </a:tc>
                <a:tc>
                  <a:txBody>
                    <a:bodyPr lIns="54864" rIns="54864" tIns="18288" bIns="18288" wrap="square" anchor="ctr"/>
                    <a:lstStyle/>
                    <a:p>
                      <a:pPr algn="l"/>
                      <a:r>
                        <a:rPr sz="850" b="0">
                          <a:solidFill>
                            <a:srgbClr val="000000"/>
                          </a:solidFill>
                          <a:latin typeface="Calibri"/>
                        </a:rPr>
                        <a:t>NO — wrong sign</a:t>
                      </a:r>
                    </a:p>
                  </a:txBody>
                  <a:tcPr/>
                </a:tc>
              </a:tr>
              <a:tr h="324612">
                <a:tc>
                  <a:txBody>
                    <a:bodyPr lIns="54864" rIns="54864" tIns="18288" bIns="18288" wrap="square" anchor="ctr"/>
                    <a:lstStyle/>
                    <a:p>
                      <a:pPr algn="l"/>
                      <a:r>
                        <a:rPr sz="850" b="0">
                          <a:solidFill>
                            <a:srgbClr val="000000"/>
                          </a:solidFill>
                          <a:latin typeface="Calibri"/>
                        </a:rPr>
                        <a:t>MEASURED, steepest straight run</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+6.9 %</a:t>
                      </a:r>
                    </a:p>
                  </a:txBody>
                  <a:tcPr/>
                </a:tc>
                <a:tc>
                  <a:txBody>
                    <a:bodyPr lIns="54864" rIns="54864" tIns="18288" bIns="18288" wrap="square" anchor="ctr"/>
                    <a:lstStyle/>
                    <a:p>
                      <a:pPr algn="l"/>
                      <a:r>
                        <a:rPr sz="850" b="0">
                          <a:solidFill>
                            <a:srgbClr val="000000"/>
                          </a:solidFill>
                          <a:latin typeface="Calibri"/>
                        </a:rPr>
                        <a:t>right sign, 9× too big</a:t>
                      </a:r>
                    </a:p>
                  </a:txBody>
                  <a:tcPr/>
                </a:tc>
              </a:tr>
            </a:tbl>
          </a:graphicData>
        </a:graphic>
      </p:graphicFrame>
      <p:sp>
        <p:nvSpPr>
          <p:cNvPr id="8" name="TextBox 7"/>
          <p:cNvSpPr txBox="1"/>
          <p:nvPr/>
        </p:nvSpPr>
        <p:spPr>
          <a:xfrm>
            <a:off x="411480" y="3200400"/>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sign test, and why it is the one that decides</a:t>
            </a:r>
          </a:p>
        </p:txBody>
      </p:sp>
      <p:sp>
        <p:nvSpPr>
          <p:cNvPr id="9" name="TextBox 8"/>
          <p:cNvSpPr txBox="1"/>
          <p:nvPr/>
        </p:nvSpPr>
        <p:spPr>
          <a:xfrm>
            <a:off x="411480" y="3547872"/>
            <a:ext cx="6766560" cy="1783080"/>
          </a:xfrm>
          <a:prstGeom prst="rect">
            <a:avLst/>
          </a:prstGeom>
          <a:noFill/>
        </p:spPr>
        <p:txBody>
          <a:bodyPr wrap="square" lIns="45720" rIns="45720" tIns="18288" bIns="18288" anchor="t">
            <a:spAutoFit/>
          </a:bodyPr>
          <a:lstStyle/>
          <a:p>
            <a:pPr algn="l"/>
            <a:r>
              <a:rPr sz="950" b="0" i="0">
                <a:solidFill>
                  <a:srgbClr val="000000"/>
                </a:solidFill>
                <a:latin typeface="Calibri"/>
              </a:rPr>
              <a:t>A rate effect has a direction that does not depend on how the line is fitted: the slower specimen reads softer, always. Here the slower specimen reads SOFTER on the steepest-run fit and STIFFER on the fixed window. One of those contradicts rate outright, so rate is not what is driving either.
The magnitude says the same thing from the other side. Rate can buy under 1 %; the two measurements are 4.2 % and 6.9 % apart. And S34's OWN two methods differ by 12.2 % on one specimen with no speed difference at all — the method spread is larger than the machine gap it is being used to explain.</a:t>
            </a:r>
          </a:p>
        </p:txBody>
      </p:sp>
      <p:sp>
        <p:nvSpPr>
          <p:cNvPr id="10" name="TextBox 9"/>
          <p:cNvSpPr txBox="1"/>
          <p:nvPr/>
        </p:nvSpPr>
        <p:spPr>
          <a:xfrm>
            <a:off x="7360920" y="1389888"/>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what IS driving it</a:t>
            </a:r>
          </a:p>
        </p:txBody>
      </p:sp>
      <p:sp>
        <p:nvSpPr>
          <p:cNvPr id="11" name="TextBox 10"/>
          <p:cNvSpPr txBox="1"/>
          <p:nvPr/>
        </p:nvSpPr>
        <p:spPr>
          <a:xfrm>
            <a:off x="7360920" y="1737360"/>
            <a:ext cx="4480560" cy="2103120"/>
          </a:xfrm>
          <a:prstGeom prst="rect">
            <a:avLst/>
          </a:prstGeom>
          <a:noFill/>
        </p:spPr>
        <p:txBody>
          <a:bodyPr wrap="square" lIns="45720" rIns="45720" tIns="18288" bIns="18288" anchor="t">
            <a:spAutoFit/>
          </a:bodyPr>
          <a:lstStyle/>
          <a:p>
            <a:pPr algn="l"/>
            <a:r>
              <a:rPr sz="950" b="0" i="0">
                <a:solidFill>
                  <a:srgbClr val="000000"/>
                </a:solidFill>
                <a:latin typeface="Calibri"/>
              </a:rPr>
              <a:t>The toe in the PPD-UTM load train, which p320 shows directly: XT205-S2's slope is flat from the origin, while S34's dips to 2.7 GPa near 0.15 % and only reaches its steepest at 0.26–0.58 %.
A fixed window that straddles that dip reads S34 LOW; a steepest-run search that skips past it reads S34 HIGH. Same specimen, same pull — the sign of the gap is set by which part of our own seating curve the fit lands on.</a:t>
            </a:r>
          </a:p>
        </p:txBody>
      </p:sp>
      <p:sp>
        <p:nvSpPr>
          <p:cNvPr id="12" name="TextBox 11"/>
          <p:cNvSpPr txBox="1"/>
          <p:nvPr/>
        </p:nvSpPr>
        <p:spPr>
          <a:xfrm>
            <a:off x="7360920" y="3931920"/>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would test rate properly</a:t>
            </a:r>
          </a:p>
        </p:txBody>
      </p:sp>
      <p:sp>
        <p:nvSpPr>
          <p:cNvPr id="13" name="TextBox 12"/>
          <p:cNvSpPr txBox="1"/>
          <p:nvPr/>
        </p:nvSpPr>
        <p:spPr>
          <a:xfrm>
            <a:off x="7360920" y="4279392"/>
            <a:ext cx="4480560" cy="1051560"/>
          </a:xfrm>
          <a:prstGeom prst="rect">
            <a:avLst/>
          </a:prstGeom>
          <a:noFill/>
        </p:spPr>
        <p:txBody>
          <a:bodyPr wrap="square" lIns="45720" rIns="45720" tIns="18288" bIns="18288" anchor="t">
            <a:spAutoFit/>
          </a:bodyPr>
          <a:lstStyle/>
          <a:p>
            <a:pPr algn="l"/>
            <a:r>
              <a:rPr sz="950" b="0" i="0">
                <a:solidFill>
                  <a:srgbClr val="000000"/>
                </a:solidFill>
                <a:latin typeface="Calibri"/>
              </a:rPr>
              <a:t>Match the GAUGE STRAIN RATE, not the crosshead: 5.02 mm/min on the PPD-UTM. Pair it with a 2 mm/min run and the two bracket XT205-S2 from both sides.</a:t>
            </a:r>
          </a:p>
        </p:txBody>
      </p:sp>
      <p:sp>
        <p:nvSpPr>
          <p:cNvPr id="14" name="Rectangle 13"/>
          <p:cNvSpPr/>
          <p:nvPr/>
        </p:nvSpPr>
        <p:spPr>
          <a:xfrm>
            <a:off x="365760" y="4791456"/>
            <a:ext cx="1147572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ANSWERED: XT205-S2 was predicted to have the lower slope, and it does on one fitting method and not the other. Because the sign is not stable, the 6.9 % gap cannot be credited to the speed — the speed is worth under 1 %, and where the line is fitted is worth 12.2 %.</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moduli are computed by the same two methods on both records, so nothing here is a method difference dressed as a machine difference. Percentages are relative to XT205-S2.</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NOISE, AND WHY THE LEAD CHANGED HANDS</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MOT Test 1 reported the PPD-UTM floor as the quieter, at 45 µε for the XT-205 against ~24 µε for us. MOT Test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MOT Test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COMPARISON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and NOT a magnitude — the correction on p321 is that the two gauges differ by 1.19× of strain rate rather than the 3× of crosshead, so the speed is worth under 1 %. Our own 2.7 % specimen scatter carries more of it, and the remainder belongs to a different machine and a different batch, which n = 1 a side cannot split.
Also explained: the 1.78× rise in our noise floor, which is 1/Px₀ and nothing else, and the strain-rate gap MOT Test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 XT-205'S NOISE IMPROVE between the two tests? Its Test 2 optics are unknown, so its pixel span cannot be computed. Running MOT footage through the PPD-UTM pipeline gives that px/mm directly (p297 did it for MOT Test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MOT FOOTAGE THROUGH THE PPD-UTM PIPELINE</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MOT Test 2 has now been measured three ways, and each pair differs in exactly ONE thing. The XT-205's extensometer and the PPD-UTM pipeline read the SAME footage, so the only difference between them is the CALCULATION. The PPD-UTM pipeline on MOT footage and on S34 differs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(p310):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 XT-205's Test 2 optics were unknown, so its pixel span could not be computed and its noise could not be explained. It can now: Px₀ = 1254.9 px over 45.0034 mm is 27.885 px/mm — the SAME 27.9 px/mm they used in MOT Test 1. The XT-205's optics did not change between the two tests;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TWO STRAIN RECORDS FROM ONE VIDEO</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SAME PIXELS, TWO CALCULATIONS, ONE ANSWER</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(p297).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ONE LOAD CHANNEL, THREE STRAIN READINGS</a:t>
            </a:r>
          </a:p>
        </p:txBody>
      </p:sp>
      <p:pic>
        <p:nvPicPr>
          <p:cNvPr id="5" name="Picture 4" descr="mot2pp_stress.png"/>
          <p:cNvPicPr>
            <a:picLocks noChangeAspect="1"/>
          </p:cNvPicPr>
          <p:nvPr/>
        </p:nvPicPr>
        <p:blipFill>
          <a:blip r:embed="rId2"/>
          <a:stretch>
            <a:fillRect/>
          </a:stretch>
        </p:blipFill>
        <p:spPr>
          <a:xfrm>
            <a:off x="276229" y="969264"/>
            <a:ext cx="6140948" cy="3593592"/>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 XT-205</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XT205-S2 ·
PPD-UTM DIC</a:t>
                      </a:r>
                    </a:p>
                  </a:txBody>
                  <a:tcPr>
                    <a:solidFill>
                      <a:srgbClr val="143D2F"/>
                    </a:solidFill>
                  </a:tcPr>
                </a:tc>
                <a:tc>
                  <a:txBody>
                    <a:bodyPr lIns="54864" rIns="54864" tIns="18288" bIns="18288" wrap="square" anchor="ctr"/>
                    <a:lstStyle/>
                    <a:p>
                      <a:pPr algn="l"/>
                      <a:r>
                        <a:rPr sz="850" b="1">
                          <a:solidFill>
                            <a:srgbClr val="FFFFFF"/>
                          </a:solidFill>
                          <a:latin typeface="Calibri"/>
                        </a:rPr>
                        <a:t>XT205-S2 ·
XT-205</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PPD-UTM</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274320" y="4626864"/>
            <a:ext cx="6144768" cy="1060704"/>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the PPD-UTM DIC and the red is the XT-205,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THE ELASTIC SLOPE, MEASURED TWICE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XT205-S2 · PPD-UTM DIC</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XT205-S2 · XT-205</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PPD-UTM vs XT-205, same footage</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the PPD-UTM LOAD TRAIN, not in its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THIRD LEG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XT205-S2, PPD-UTM vs XT-205</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MOT Test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MOT Test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MOT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PPD-UTM maths on MOT footage reproduces the XT-205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330</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STRAIN RATE ON ONE SHARED WINDOW</a:t>
            </a:r>
          </a:p>
        </p:txBody>
      </p:sp>
      <p:pic>
        <p:nvPicPr>
          <p:cNvPr id="5" name="Picture 4" descr="mot_postproc_compar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two panels do</a:t>
            </a:r>
          </a:p>
        </p:txBody>
      </p:sp>
      <p:sp>
        <p:nvSpPr>
          <p:cNvPr id="7" name="TextBox 6"/>
          <p:cNvSpPr txBox="1"/>
          <p:nvPr/>
        </p:nvSpPr>
        <p:spPr>
          <a:xfrm>
            <a:off x="411480" y="4572000"/>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LEFT — one video, two calculations. The XT-205's own extensometer and the PPD-UTM DIC pipeline read the SAME 80 mm footage, so anything between them is arithmetic and nothing else. They lie on each other.
RIGHT — the same fitted window applied to four records, so the rates are commensurable. The top two are that one video; the bottom two are PPD-UTM pulls of our own specimens.</a:t>
            </a:r>
          </a:p>
        </p:txBody>
      </p:sp>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could NOT settle</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XT-205 reads strain about 2.2× faster than PPD-UTM at the same commanded speed. That is not a calibration error and Test 1 said so: only 19–29 % of our crosshead motion reaches the gauge, the rest going into frame flex, grips and shoulders, and a stiffer frame delivers a larger share. MOT reading faster is what a stiffer frame LOOKS like — but with no load or crosshead channel from them, Test 1 could not prove it. p319 closes it.</a:t>
            </a:r>
          </a:p>
        </p:txBody>
      </p:sp>
      <p:sp>
        <p:nvSpPr>
          <p:cNvPr id="10" name="Rectangle 9"/>
          <p:cNvSpPr/>
          <p:nvPr/>
        </p:nvSpPr>
        <p:spPr>
          <a:xfrm>
            <a:off x="365760" y="603504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 calculations on one video agree; two MACHINES on the same commanded speed do not — and only the second of those is a question about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80 mm marker spacing, 0.05–0.35 % strain window on each record's own axis. Built by documentation/scripts/mot_postproc_compare.py.</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331</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STRAIN RATE ON ONE SHARED WINDOW</a:t>
            </a:r>
          </a:p>
        </p:txBody>
      </p:sp>
      <p:pic>
        <p:nvPicPr>
          <p:cNvPr id="5" name="Picture 4" descr="mot2pp_rate.png"/>
          <p:cNvPicPr>
            <a:picLocks noChangeAspect="1"/>
          </p:cNvPicPr>
          <p:nvPr/>
        </p:nvPicPr>
        <p:blipFill>
          <a:blip r:embed="rId2"/>
          <a:stretch>
            <a:fillRect/>
          </a:stretch>
        </p:blipFill>
        <p:spPr>
          <a:xfrm>
            <a:off x="1457178" y="932688"/>
            <a:ext cx="9247163" cy="2651760"/>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layout, the 45 mm test</a:t>
            </a:r>
          </a:p>
        </p:txBody>
      </p:sp>
      <p:graphicFrame>
        <p:nvGraphicFramePr>
          <p:cNvPr id="7" name="Table 6"/>
          <p:cNvGraphicFramePr>
            <a:graphicFrameLocks noGrp="1"/>
          </p:cNvGraphicFramePr>
          <p:nvPr/>
        </p:nvGraphicFramePr>
        <p:xfrm>
          <a:off x="411480" y="4023360"/>
          <a:ext cx="5623560" cy="1271016"/>
        </p:xfrm>
        <a:graphic>
          <a:graphicData uri="http://schemas.openxmlformats.org/drawingml/2006/table">
            <a:tbl>
              <a:tblPr firstRow="1" bandRow="1">
                <a:tableStyleId>{5C22544A-7EE6-4342-B048-85BDC9FD1C3A}</a:tableStyleId>
              </a:tblPr>
              <a:tblGrid>
                <a:gridCol w="2377440"/>
                <a:gridCol w="1600200"/>
                <a:gridCol w="1645920"/>
              </a:tblGrid>
              <a:tr h="254203">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XT205-S1 · 80 mm</a:t>
                      </a:r>
                    </a:p>
                  </a:txBody>
                  <a:tcPr>
                    <a:solidFill>
                      <a:srgbClr val="143D2F"/>
                    </a:solidFill>
                  </a:tcPr>
                </a:tc>
                <a:tc>
                  <a:txBody>
                    <a:bodyPr lIns="54864" rIns="54864" tIns="18288" bIns="18288" wrap="square" anchor="ctr"/>
                    <a:lstStyle/>
                    <a:p>
                      <a:pPr algn="l"/>
                      <a:r>
                        <a:rPr sz="900" b="1">
                          <a:solidFill>
                            <a:srgbClr val="FFFFFF"/>
                          </a:solidFill>
                          <a:latin typeface="Calibri"/>
                        </a:rPr>
                        <a:t>XT205-S2 · 45 mm</a:t>
                      </a:r>
                    </a:p>
                  </a:txBody>
                  <a:tcPr>
                    <a:solidFill>
                      <a:srgbClr val="143D2F"/>
                    </a:solidFill>
                  </a:tcPr>
                </a:tc>
              </a:tr>
              <a:tr h="254203">
                <a:tc>
                  <a:txBody>
                    <a:bodyPr lIns="54864" rIns="54864" tIns="18288" bIns="18288" wrap="square" anchor="ctr"/>
                    <a:lstStyle/>
                    <a:p>
                      <a:pPr algn="l"/>
                      <a:r>
                        <a:rPr sz="850" b="0">
                          <a:solidFill>
                            <a:srgbClr val="000000"/>
                          </a:solidFill>
                          <a:latin typeface="Calibri"/>
                        </a:rPr>
                        <a:t>the MOT bar · PPD-UTM DIC</a:t>
                      </a:r>
                    </a:p>
                  </a:txBody>
                  <a:tcPr/>
                </a:tc>
                <a:tc>
                  <a:txBody>
                    <a:bodyPr lIns="54864" rIns="54864" tIns="18288" bIns="18288" wrap="square" anchor="ctr"/>
                    <a:lstStyle/>
                    <a:p>
                      <a:pPr algn="l"/>
                      <a:r>
                        <a:rPr sz="850" b="0">
                          <a:solidFill>
                            <a:srgbClr val="000000"/>
                          </a:solidFill>
                          <a:latin typeface="Calibri"/>
                        </a:rPr>
                        <a:t>7.60e-04 /s</a:t>
                      </a:r>
                    </a:p>
                  </a:txBody>
                  <a:tcPr/>
                </a:tc>
                <a:tc>
                  <a:txBody>
                    <a:bodyPr lIns="54864" rIns="54864" tIns="18288" bIns="18288" wrap="square" anchor="ctr"/>
                    <a:lstStyle/>
                    <a:p>
                      <a:pPr algn="l"/>
                      <a:r>
                        <a:rPr sz="850" b="0">
                          <a:solidFill>
                            <a:srgbClr val="000000"/>
                          </a:solidFill>
                          <a:latin typeface="Calibri"/>
                        </a:rPr>
                        <a:t>2.59e-04 /s</a:t>
                      </a:r>
                    </a:p>
                  </a:txBody>
                  <a:tcPr/>
                </a:tc>
              </a:tr>
              <a:tr h="254203">
                <a:tc>
                  <a:txBody>
                    <a:bodyPr lIns="54864" rIns="54864" tIns="18288" bIns="18288" wrap="square" anchor="ctr"/>
                    <a:lstStyle/>
                    <a:p>
                      <a:pPr algn="l"/>
                      <a:r>
                        <a:rPr sz="850" b="0">
                          <a:solidFill>
                            <a:srgbClr val="000000"/>
                          </a:solidFill>
                          <a:latin typeface="Calibri"/>
                        </a:rPr>
                        <a:t>the MOT bar · XT-205</a:t>
                      </a:r>
                    </a:p>
                  </a:txBody>
                  <a:tcPr/>
                </a:tc>
                <a:tc>
                  <a:txBody>
                    <a:bodyPr lIns="54864" rIns="54864" tIns="18288" bIns="18288" wrap="square" anchor="ctr"/>
                    <a:lstStyle/>
                    <a:p>
                      <a:pPr algn="l"/>
                      <a:r>
                        <a:rPr sz="850" b="0">
                          <a:solidFill>
                            <a:srgbClr val="000000"/>
                          </a:solidFill>
                          <a:latin typeface="Calibri"/>
                        </a:rPr>
                        <a:t>7.42e-04 /s</a:t>
                      </a:r>
                    </a:p>
                  </a:txBody>
                  <a:tcPr/>
                </a:tc>
                <a:tc>
                  <a:txBody>
                    <a:bodyPr lIns="54864" rIns="54864" tIns="18288" bIns="18288" wrap="square" anchor="ctr"/>
                    <a:lstStyle/>
                    <a:p>
                      <a:pPr algn="l"/>
                      <a:r>
                        <a:rPr sz="850" b="0">
                          <a:solidFill>
                            <a:srgbClr val="000000"/>
                          </a:solidFill>
                          <a:latin typeface="Calibri"/>
                        </a:rPr>
                        <a:t>2.60e-04 /s</a:t>
                      </a:r>
                    </a:p>
                  </a:txBody>
                  <a:tcPr/>
                </a:tc>
              </a:tr>
              <a:tr h="254203">
                <a:tc>
                  <a:txBody>
                    <a:bodyPr lIns="54864" rIns="54864" tIns="18288" bIns="18288" wrap="square" anchor="ctr"/>
                    <a:lstStyle/>
                    <a:p>
                      <a:pPr algn="l"/>
                      <a:r>
                        <a:rPr sz="850" b="0">
                          <a:solidFill>
                            <a:srgbClr val="000000"/>
                          </a:solidFill>
                          <a:latin typeface="Calibri"/>
                        </a:rPr>
                        <a:t>the two calculations, apart</a:t>
                      </a:r>
                    </a:p>
                  </a:txBody>
                  <a:tcPr/>
                </a:tc>
                <a:tc>
                  <a:txBody>
                    <a:bodyPr lIns="54864" rIns="54864" tIns="18288" bIns="18288" wrap="square" anchor="ctr"/>
                    <a:lstStyle/>
                    <a:p>
                      <a:pPr algn="l"/>
                      <a:r>
                        <a:rPr sz="850" b="0">
                          <a:solidFill>
                            <a:srgbClr val="000000"/>
                          </a:solidFill>
                          <a:latin typeface="Calibri"/>
                        </a:rPr>
                        <a:t>2.4 %</a:t>
                      </a:r>
                    </a:p>
                  </a:txBody>
                  <a:tcPr/>
                </a:tc>
                <a:tc>
                  <a:txBody>
                    <a:bodyPr lIns="54864" rIns="54864" tIns="18288" bIns="18288" wrap="square" anchor="ctr"/>
                    <a:lstStyle/>
                    <a:p>
                      <a:pPr algn="l"/>
                      <a:r>
                        <a:rPr sz="850" b="0">
                          <a:solidFill>
                            <a:srgbClr val="000000"/>
                          </a:solidFill>
                          <a:latin typeface="Calibri"/>
                        </a:rPr>
                        <a:t>0.4 %</a:t>
                      </a:r>
                    </a:p>
                  </a:txBody>
                  <a:tcPr/>
                </a:tc>
              </a:tr>
              <a:tr h="254204">
                <a:tc>
                  <a:txBody>
                    <a:bodyPr lIns="54864" rIns="54864" tIns="18288" bIns="18288" wrap="square" anchor="ctr"/>
                    <a:lstStyle/>
                    <a:p>
                      <a:pPr algn="l"/>
                      <a:r>
                        <a:rPr sz="850" b="0">
                          <a:solidFill>
                            <a:srgbClr val="000000"/>
                          </a:solidFill>
                          <a:latin typeface="Calibri"/>
                        </a:rPr>
                        <a:t>XT-205 ÷ PPD-UTM specimens</a:t>
                      </a:r>
                    </a:p>
                  </a:txBody>
                  <a:tcPr/>
                </a:tc>
                <a:tc>
                  <a:txBody>
                    <a:bodyPr lIns="54864" rIns="54864" tIns="18288" bIns="18288" wrap="square" anchor="ctr"/>
                    <a:lstStyle/>
                    <a:p>
                      <a:pPr algn="l"/>
                      <a:r>
                        <a:rPr sz="850" b="0">
                          <a:solidFill>
                            <a:srgbClr val="000000"/>
                          </a:solidFill>
                          <a:latin typeface="Calibri"/>
                        </a:rPr>
                        <a:t>2.21x</a:t>
                      </a:r>
                    </a:p>
                  </a:txBody>
                  <a:tcPr/>
                </a:tc>
                <a:tc>
                  <a:txBody>
                    <a:bodyPr lIns="54864" rIns="54864" tIns="18288" bIns="18288" wrap="square" anchor="ctr"/>
                    <a:lstStyle/>
                    <a:p>
                      <a:pPr algn="l"/>
                      <a:r>
                        <a:rPr sz="850" b="0">
                          <a:solidFill>
                            <a:srgbClr val="000000"/>
                          </a:solidFill>
                          <a:latin typeface="Calibri"/>
                        </a:rPr>
                        <a:t>0.85x</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row that changed, and why</a:t>
            </a:r>
          </a:p>
        </p:txBody>
      </p:sp>
      <p:sp>
        <p:nvSpPr>
          <p:cNvPr id="9" name="TextBox 8"/>
          <p:cNvSpPr txBox="1"/>
          <p:nvPr/>
        </p:nvSpPr>
        <p:spPr>
          <a:xfrm>
            <a:off x="6263640" y="4023360"/>
            <a:ext cx="5577840" cy="1325880"/>
          </a:xfrm>
          <a:prstGeom prst="rect">
            <a:avLst/>
          </a:prstGeom>
          <a:noFill/>
        </p:spPr>
        <p:txBody>
          <a:bodyPr wrap="square" lIns="45720" rIns="45720" tIns="18288" bIns="18288" anchor="t">
            <a:spAutoFit/>
          </a:bodyPr>
          <a:lstStyle/>
          <a:p>
            <a:pPr algn="l"/>
            <a:r>
              <a:rPr sz="950" b="0" i="0">
                <a:solidFill>
                  <a:srgbClr val="000000"/>
                </a:solidFill>
                <a:latin typeface="Calibri"/>
              </a:rPr>
              <a:t>The two CALCULATIONS agree in both tests, and more tightly here: 0.4 % against Test 1's 2.4 %.
The two MACHINES have swapped places. In Test 1 the XT-205 read 2.2× faster than our specimens; here it reads 0.85× — slightly SLOWER. Nothing about either instrument changed. The XT-205 pulled at 2 mm/min against our 6.0, a 3× handicap, and it delivers 45 % of that travel to the gauge against our 33 %. The two effects very nearly cancel, which is exactly what a compliance explanation predicts and a calibration error could not.</a:t>
            </a:r>
          </a:p>
        </p:txBody>
      </p:sp>
      <p:sp>
        <p:nvSpPr>
          <p:cNvPr id="10" name="Rectangle 9"/>
          <p:cNvSpPr/>
          <p:nvPr/>
        </p:nvSpPr>
        <p:spPr>
          <a:xfrm>
            <a:off x="365760" y="5504688"/>
            <a:ext cx="11475720" cy="34747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figure, same window, one test apart: the CALCULATION agreement holds and the MACHINE gap moves with the pull speed — which is the difference between a method and a machine.</a:t>
            </a:r>
          </a:p>
        </p:txBody>
      </p:sp>
      <p:sp>
        <p:nvSpPr>
          <p:cNvPr id="11" name="TextBox 10"/>
          <p:cNvSpPr txBox="1"/>
          <p:nvPr/>
        </p:nvSpPr>
        <p:spPr>
          <a:xfrm>
            <a:off x="411480" y="5907024"/>
            <a:ext cx="11475720" cy="384048"/>
          </a:xfrm>
          <a:prstGeom prst="rect">
            <a:avLst/>
          </a:prstGeom>
          <a:noFill/>
        </p:spPr>
        <p:txBody>
          <a:bodyPr wrap="square" lIns="45720" rIns="45720" tIns="18288" bIns="18288" anchor="t">
            <a:spAutoFit/>
          </a:bodyPr>
          <a:lstStyle/>
          <a:p>
            <a:pPr algn="l"/>
            <a:r>
              <a:rPr sz="1000" b="0" i="0">
                <a:solidFill>
                  <a:srgbClr val="000000"/>
                </a:solidFill>
                <a:latin typeface="Calibri"/>
              </a:rPr>
              <a:t>WHAT "FITTED WINDOW" MEANS: the shaded band is a slice of RAW samples — nothing is smoothed, filtered or resampled. The only fitting is one least-squares straight line through the strain-against-time points inside that band, and its SLOPE is the rate reported in the bars. The band is narrow and nearly straight on purpose, so what the fit leaves behind is instrument noise rather than the curvature of the pull (p333).</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45 mm marker spacing. The window is 0.05–0.35 % of the PRELOAD-ZEROED strain: Test 2's preload lands inside the recording, so a raw window would sit on the seating ramp.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WHOLE PULL, BOTH CALCULATIONS — XT205-S2 TO FRACTURE</a:t>
            </a:r>
          </a:p>
        </p:txBody>
      </p:sp>
      <p:pic>
        <p:nvPicPr>
          <p:cNvPr id="5" name="Picture 4" descr="mot2pp_full.png"/>
          <p:cNvPicPr>
            <a:picLocks noChangeAspect="1"/>
          </p:cNvPicPr>
          <p:nvPr/>
        </p:nvPicPr>
        <p:blipFill>
          <a:blip r:embed="rId2"/>
          <a:stretch>
            <a:fillRect/>
          </a:stretch>
        </p:blipFill>
        <p:spPr>
          <a:xfrm>
            <a:off x="680024" y="932688"/>
            <a:ext cx="10801470" cy="3310128"/>
          </a:xfrm>
          <a:prstGeom prst="rect">
            <a:avLst/>
          </a:prstGeom>
        </p:spPr>
      </p:pic>
      <p:sp>
        <p:nvSpPr>
          <p:cNvPr id="6" name="TextBox 5"/>
          <p:cNvSpPr txBox="1"/>
          <p:nvPr/>
        </p:nvSpPr>
        <p:spPr>
          <a:xfrm>
            <a:off x="411480" y="435254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had to be shown at full scale</a:t>
            </a:r>
          </a:p>
        </p:txBody>
      </p:sp>
      <p:sp>
        <p:nvSpPr>
          <p:cNvPr id="7" name="TextBox 6"/>
          <p:cNvSpPr txBox="1"/>
          <p:nvPr/>
        </p:nvSpPr>
        <p:spPr>
          <a:xfrm>
            <a:off x="411480" y="470001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other view of these two records either stops at 0.9 % strain — the fitted window and a little either side — or puts them on separate axes. Neither answers the question a reader should be asking: does the agreement SURVIVE past the elastic ramp, out to 5.21 % where the specimen is drawing and then tearing? The window is 6 % of the record. This is the other 94 %.</a:t>
            </a:r>
          </a:p>
        </p:txBody>
      </p:sp>
      <p:sp>
        <p:nvSpPr>
          <p:cNvPr id="8" name="TextBox 7"/>
          <p:cNvSpPr txBox="1"/>
          <p:nvPr/>
        </p:nvSpPr>
        <p:spPr>
          <a:xfrm>
            <a:off x="4343400" y="435254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does</a:t>
            </a:r>
          </a:p>
        </p:txBody>
      </p:sp>
      <p:sp>
        <p:nvSpPr>
          <p:cNvPr id="9" name="TextBox 8"/>
          <p:cNvSpPr txBox="1"/>
          <p:nvPr/>
        </p:nvSpPr>
        <p:spPr>
          <a:xfrm>
            <a:off x="4343400" y="470001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The two traces are indistinguishable at this scale for the whole 156 s. The lower panel is the difference on the same time axis: it sits on a constant −55 µε — which is 0.069 px on a 1255 px marker span, a reference-frame difference and not a calibration one — with no drift, no divergence at large strain, and no step at yield. Fracture strain lands 0.08 % apart.</a:t>
            </a:r>
          </a:p>
        </p:txBody>
      </p:sp>
      <p:sp>
        <p:nvSpPr>
          <p:cNvPr id="10" name="TextBox 9"/>
          <p:cNvSpPr txBox="1"/>
          <p:nvPr/>
        </p:nvSpPr>
        <p:spPr>
          <a:xfrm>
            <a:off x="8275320" y="435254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lower panel is NOT</a:t>
            </a:r>
          </a:p>
        </p:txBody>
      </p:sp>
      <p:sp>
        <p:nvSpPr>
          <p:cNvPr id="11" name="TextBox 10"/>
          <p:cNvSpPr txBox="1"/>
          <p:nvPr/>
        </p:nvSpPr>
        <p:spPr>
          <a:xfrm>
            <a:off x="8275320" y="4700016"/>
            <a:ext cx="3566160" cy="1188720"/>
          </a:xfrm>
          <a:prstGeom prst="rect">
            <a:avLst/>
          </a:prstGeom>
          <a:noFill/>
        </p:spPr>
        <p:txBody>
          <a:bodyPr wrap="square" lIns="45720" rIns="45720" tIns="18288" bIns="18288" anchor="t">
            <a:spAutoFit/>
          </a:bodyPr>
          <a:lstStyle/>
          <a:p>
            <a:pPr algn="l"/>
            <a:r>
              <a:rPr sz="950" b="0" i="0">
                <a:solidFill>
                  <a:srgbClr val="000000"/>
                </a:solidFill>
                <a:latin typeface="Calibri"/>
              </a:rPr>
              <a:t>It is a DIFFERENCE, and a difference cannot say whose noise is larger — subtracting two records ADDS their scatter. That answer comes from fitting each record separately over one window: PPD-UTM 24.1 µε against the XT-205's 28.6 µε, so ours is the quieter by 1.19×.</a:t>
            </a:r>
          </a:p>
        </p:txBody>
      </p:sp>
      <p:sp>
        <p:nvSpPr>
          <p:cNvPr id="12" name="Rectangle 11"/>
          <p:cNvSpPr/>
          <p:nvPr/>
        </p:nvSpPr>
        <p:spPr>
          <a:xfrm>
            <a:off x="365760" y="5961888"/>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difference scatters by 36.7 µε, within 2 % of the 37.3 µε those two noises give added in quadrature — so they are INDEPENDENT. Neither instrument is picking up a common flicker from the footage they share; each is limited by its own marker-locating.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samples throughout; the lower panel is a plain difference, not a fit. Both records are re-zeroed at the 300 N preload so they share one convention.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SIX RECORDS, NAMED — AND THE SPEED EACH WAS PULLED AT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Two tests on the MOT XT-205 and four pulls on the PPD-UTM. The MOT specimens had no names of their own, which made "the XT-205" mean the instrument and the bar it was holding at the same time. They have names now.</a:t>
            </a:r>
          </a:p>
        </p:txBody>
      </p:sp>
      <p:sp>
        <p:nvSpPr>
          <p:cNvPr id="6" name="TextBox 5"/>
          <p:cNvSpPr txBox="1"/>
          <p:nvPr/>
        </p:nvSpPr>
        <p:spPr>
          <a:xfrm>
            <a:off x="411480" y="138988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naming</a:t>
            </a:r>
          </a:p>
        </p:txBody>
      </p:sp>
      <p:graphicFrame>
        <p:nvGraphicFramePr>
          <p:cNvPr id="7" name="Table 6"/>
          <p:cNvGraphicFramePr>
            <a:graphicFrameLocks noGrp="1"/>
          </p:cNvGraphicFramePr>
          <p:nvPr/>
        </p:nvGraphicFramePr>
        <p:xfrm>
          <a:off x="411480" y="1737360"/>
          <a:ext cx="11429998" cy="1033271"/>
        </p:xfrm>
        <a:graphic>
          <a:graphicData uri="http://schemas.openxmlformats.org/drawingml/2006/table">
            <a:tbl>
              <a:tblPr firstRow="1" bandRow="1">
                <a:tableStyleId>{5C22544A-7EE6-4342-B048-85BDC9FD1C3A}</a:tableStyleId>
              </a:tblPr>
              <a:tblGrid>
                <a:gridCol w="1868365"/>
                <a:gridCol w="8022980"/>
                <a:gridCol w="1538653"/>
              </a:tblGrid>
              <a:tr h="172211">
                <a:tc>
                  <a:txBody>
                    <a:bodyPr lIns="54864" rIns="54864" tIns="18288" bIns="18288" wrap="square" anchor="ctr"/>
                    <a:lstStyle/>
                    <a:p>
                      <a:pPr algn="l"/>
                      <a:r>
                        <a:rPr sz="950" b="1">
                          <a:solidFill>
                            <a:srgbClr val="FFFFFF"/>
                          </a:solidFill>
                          <a:latin typeface="Calibri"/>
                        </a:rPr>
                        <a:t>Name</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Which test</a:t>
                      </a:r>
                    </a:p>
                  </a:txBody>
                  <a:tcPr>
                    <a:solidFill>
                      <a:srgbClr val="143D2F"/>
                    </a:solidFill>
                  </a:tcPr>
                </a:tc>
              </a:tr>
              <a:tr h="172211">
                <a:tc>
                  <a:txBody>
                    <a:bodyPr lIns="54864" rIns="54864" tIns="18288" bIns="18288" wrap="square" anchor="ctr"/>
                    <a:lstStyle/>
                    <a:p>
                      <a:pPr algn="l"/>
                      <a:r>
                        <a:rPr sz="900" b="0">
                          <a:solidFill>
                            <a:srgbClr val="000000"/>
                          </a:solidFill>
                          <a:latin typeface="Calibri"/>
                        </a:rPr>
                        <a:t>XT205-S1</a:t>
                      </a:r>
                    </a:p>
                  </a:txBody>
                  <a:tcPr/>
                </a:tc>
                <a:tc>
                  <a:txBody>
                    <a:bodyPr lIns="54864" rIns="54864" tIns="18288" bIns="18288" wrap="square" anchor="ctr"/>
                    <a:lstStyle/>
                    <a:p>
                      <a:pPr algn="l"/>
                      <a:r>
                        <a:rPr sz="900" b="0">
                          <a:solidFill>
                            <a:srgbClr val="000000"/>
                          </a:solidFill>
                          <a:latin typeface="Calibri"/>
                        </a:rPr>
                        <a:t>the specimen the MOT XT-205 pulled in its first session, 80 mm marker spacing</a:t>
                      </a:r>
                    </a:p>
                  </a:txBody>
                  <a:tcPr/>
                </a:tc>
                <a:tc>
                  <a:txBody>
                    <a:bodyPr lIns="54864" rIns="54864" tIns="18288" bIns="18288" wrap="square" anchor="ctr"/>
                    <a:lstStyle/>
                    <a:p>
                      <a:pPr algn="l"/>
                      <a:r>
                        <a:rPr sz="900" b="0">
                          <a:solidFill>
                            <a:srgbClr val="000000"/>
                          </a:solidFill>
                          <a:latin typeface="Calibri"/>
                        </a:rPr>
                        <a:t>MOT Test 1</a:t>
                      </a:r>
                    </a:p>
                  </a:txBody>
                  <a:tcPr/>
                </a:tc>
              </a:tr>
              <a:tr h="172211">
                <a:tc>
                  <a:txBody>
                    <a:bodyPr lIns="54864" rIns="54864" tIns="18288" bIns="18288" wrap="square" anchor="ctr"/>
                    <a:lstStyle/>
                    <a:p>
                      <a:pPr algn="l"/>
                      <a:r>
                        <a:rPr sz="900" b="0">
                          <a:solidFill>
                            <a:srgbClr val="000000"/>
                          </a:solidFill>
                          <a:latin typeface="Calibri"/>
                        </a:rPr>
                        <a:t>XT205-S2</a:t>
                      </a:r>
                    </a:p>
                  </a:txBody>
                  <a:tcPr/>
                </a:tc>
                <a:tc>
                  <a:txBody>
                    <a:bodyPr lIns="54864" rIns="54864" tIns="18288" bIns="18288" wrap="square" anchor="ctr"/>
                    <a:lstStyle/>
                    <a:p>
                      <a:pPr algn="l"/>
                      <a:r>
                        <a:rPr sz="900" b="0">
                          <a:solidFill>
                            <a:srgbClr val="000000"/>
                          </a:solidFill>
                          <a:latin typeface="Calibri"/>
                        </a:rPr>
                        <a:t>the specimen it pulled in its second, 45 mm marker spacing</a:t>
                      </a:r>
                    </a:p>
                  </a:txBody>
                  <a:tcPr/>
                </a:tc>
                <a:tc>
                  <a:txBody>
                    <a:bodyPr lIns="54864" rIns="54864" tIns="18288" bIns="18288" wrap="square" anchor="ctr"/>
                    <a:lstStyle/>
                    <a:p>
                      <a:pPr algn="l"/>
                      <a:r>
                        <a:rPr sz="900" b="0">
                          <a:solidFill>
                            <a:srgbClr val="000000"/>
                          </a:solidFill>
                          <a:latin typeface="Calibri"/>
                        </a:rPr>
                        <a:t>MOT Test 2</a:t>
                      </a:r>
                    </a:p>
                  </a:txBody>
                  <a:tcPr/>
                </a:tc>
              </a:tr>
              <a:tr h="172211">
                <a:tc>
                  <a:txBody>
                    <a:bodyPr lIns="54864" rIns="54864" tIns="18288" bIns="18288" wrap="square" anchor="ctr"/>
                    <a:lstStyle/>
                    <a:p>
                      <a:pPr algn="l"/>
                      <a:r>
                        <a:rPr sz="900" b="0">
                          <a:solidFill>
                            <a:srgbClr val="000000"/>
                          </a:solidFill>
                          <a:latin typeface="Calibri"/>
                        </a:rPr>
                        <a:t>XT-205</a:t>
                      </a:r>
                    </a:p>
                  </a:txBody>
                  <a:tcPr/>
                </a:tc>
                <a:tc>
                  <a:txBody>
                    <a:bodyPr lIns="54864" rIns="54864" tIns="18288" bIns="18288" wrap="square" anchor="ctr"/>
                    <a:lstStyle/>
                    <a:p>
                      <a:pPr algn="l"/>
                      <a:r>
                        <a:rPr sz="900" b="0">
                          <a:solidFill>
                            <a:srgbClr val="000000"/>
                          </a:solidFill>
                          <a:latin typeface="Calibri"/>
                        </a:rPr>
                        <a:t>the INSTRUMENT — the video extensometer and its software, not a specimen</a:t>
                      </a:r>
                    </a:p>
                  </a:txBody>
                  <a:tcPr/>
                </a:tc>
                <a:tc>
                  <a:txBody>
                    <a:bodyPr lIns="54864" rIns="54864" tIns="18288" bIns="18288" wrap="square" anchor="ctr"/>
                    <a:lstStyle/>
                    <a:p>
                      <a:pPr algn="l"/>
                      <a:r>
                        <a:rPr sz="900" b="0">
                          <a:solidFill>
                            <a:srgbClr val="000000"/>
                          </a:solidFill>
                          <a:latin typeface="Calibri"/>
                        </a:rPr>
                        <a:t>both</a:t>
                      </a:r>
                    </a:p>
                  </a:txBody>
                  <a:tcPr/>
                </a:tc>
              </a:tr>
              <a:tr h="172211">
                <a:tc>
                  <a:txBody>
                    <a:bodyPr lIns="54864" rIns="54864" tIns="18288" bIns="18288" wrap="square" anchor="ctr"/>
                    <a:lstStyle/>
                    <a:p>
                      <a:pPr algn="l"/>
                      <a:r>
                        <a:rPr sz="900" b="0">
                          <a:solidFill>
                            <a:srgbClr val="000000"/>
                          </a:solidFill>
                          <a:latin typeface="Calibri"/>
                        </a:rPr>
                        <a:t>PPD-UTM</a:t>
                      </a:r>
                    </a:p>
                  </a:txBody>
                  <a:tcPr/>
                </a:tc>
                <a:tc>
                  <a:txBody>
                    <a:bodyPr lIns="54864" rIns="54864" tIns="18288" bIns="18288" wrap="square" anchor="ctr"/>
                    <a:lstStyle/>
                    <a:p>
                      <a:pPr algn="l"/>
                      <a:r>
                        <a:rPr sz="900" b="0">
                          <a:solidFill>
                            <a:srgbClr val="000000"/>
                          </a:solidFill>
                          <a:latin typeface="Calibri"/>
                        </a:rPr>
                        <a:t>our rig, and the DIC pipeline that runs on it</a:t>
                      </a:r>
                    </a:p>
                  </a:txBody>
                  <a:tcPr/>
                </a:tc>
                <a:tc>
                  <a:txBody>
                    <a:bodyPr lIns="54864" rIns="54864" tIns="18288" bIns="18288" wrap="square" anchor="ctr"/>
                    <a:lstStyle/>
                    <a:p>
                      <a:pPr algn="l"/>
                      <a:r>
                        <a:rPr sz="900" b="0">
                          <a:solidFill>
                            <a:srgbClr val="000000"/>
                          </a:solidFill>
                          <a:latin typeface="Calibri"/>
                        </a:rPr>
                        <a:t>both</a:t>
                      </a:r>
                    </a:p>
                  </a:txBody>
                  <a:tcPr/>
                </a:tc>
              </a:tr>
              <a:tr h="172216">
                <a:tc>
                  <a:txBody>
                    <a:bodyPr lIns="54864" rIns="54864" tIns="18288" bIns="18288" wrap="square" anchor="ctr"/>
                    <a:lstStyle/>
                    <a:p>
                      <a:pPr algn="l"/>
                      <a:r>
                        <a:rPr sz="900" b="0">
                          <a:solidFill>
                            <a:srgbClr val="000000"/>
                          </a:solidFill>
                          <a:latin typeface="Calibri"/>
                        </a:rPr>
                        <a:t>S25 · S26 · S33 · S34</a:t>
                      </a:r>
                    </a:p>
                  </a:txBody>
                  <a:tcPr/>
                </a:tc>
                <a:tc>
                  <a:txBody>
                    <a:bodyPr lIns="54864" rIns="54864" tIns="18288" bIns="18288" wrap="square" anchor="ctr"/>
                    <a:lstStyle/>
                    <a:p>
                      <a:pPr algn="l"/>
                      <a:r>
                        <a:rPr sz="900" b="0">
                          <a:solidFill>
                            <a:srgbClr val="000000"/>
                          </a:solidFill>
                          <a:latin typeface="Calibri"/>
                        </a:rPr>
                        <a:t>our own printed bars, named as they are in the specimen registry</a:t>
                      </a:r>
                    </a:p>
                  </a:txBody>
                  <a:tcPr/>
                </a:tc>
                <a:tc>
                  <a:txBody>
                    <a:bodyPr lIns="54864" rIns="54864" tIns="18288" bIns="18288" wrap="square" anchor="ctr"/>
                    <a:lstStyle/>
                    <a:p>
                      <a:pPr algn="l"/>
                      <a:r>
                        <a:rPr sz="900" b="0">
                          <a:solidFill>
                            <a:srgbClr val="000000"/>
                          </a:solidFill>
                          <a:latin typeface="Calibri"/>
                        </a:rPr>
                        <a:t>—</a:t>
                      </a:r>
                    </a:p>
                  </a:txBody>
                  <a:tcPr/>
                </a:tc>
              </a:tr>
            </a:tbl>
          </a:graphicData>
        </a:graphic>
      </p:graphicFrame>
      <p:sp>
        <p:nvSpPr>
          <p:cNvPr id="8" name="TextBox 7"/>
          <p:cNvSpPr txBox="1"/>
          <p:nvPr/>
        </p:nvSpPr>
        <p:spPr>
          <a:xfrm>
            <a:off x="411480" y="32918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speed each one was pulled at — the two MOT tests do NOT match</a:t>
            </a:r>
          </a:p>
        </p:txBody>
      </p:sp>
      <p:graphicFrame>
        <p:nvGraphicFramePr>
          <p:cNvPr id="9" name="Table 8"/>
          <p:cNvGraphicFramePr>
            <a:graphicFrameLocks noGrp="1"/>
          </p:cNvGraphicFramePr>
          <p:nvPr/>
        </p:nvGraphicFramePr>
        <p:xfrm>
          <a:off x="411480" y="3639312"/>
          <a:ext cx="11429997" cy="1499616"/>
        </p:xfrm>
        <a:graphic>
          <a:graphicData uri="http://schemas.openxmlformats.org/drawingml/2006/table">
            <a:tbl>
              <a:tblPr firstRow="1" bandRow="1">
                <a:tableStyleId>{5C22544A-7EE6-4342-B048-85BDC9FD1C3A}</a:tableStyleId>
              </a:tblPr>
              <a:tblGrid>
                <a:gridCol w="1725283"/>
                <a:gridCol w="1347877"/>
                <a:gridCol w="916556"/>
                <a:gridCol w="2534009"/>
                <a:gridCol w="3342735"/>
                <a:gridCol w="1563537"/>
              </a:tblGrid>
              <a:tr h="214230">
                <a:tc>
                  <a:txBody>
                    <a:bodyPr lIns="54864" rIns="54864" tIns="18288" bIns="18288" wrap="square" anchor="ctr"/>
                    <a:lstStyle/>
                    <a:p>
                      <a:pPr algn="l"/>
                      <a:r>
                        <a:rPr sz="900" b="1">
                          <a:solidFill>
                            <a:srgbClr val="FFFFFF"/>
                          </a:solidFill>
                          <a:latin typeface="Calibri"/>
                        </a:rPr>
                        <a:t>Record</a:t>
                      </a:r>
                    </a:p>
                  </a:txBody>
                  <a:tcPr>
                    <a:solidFill>
                      <a:srgbClr val="143D2F"/>
                    </a:solidFill>
                  </a:tcPr>
                </a:tc>
                <a:tc>
                  <a:txBody>
                    <a:bodyPr lIns="54864" rIns="54864" tIns="18288" bIns="18288" wrap="square" anchor="ctr"/>
                    <a:lstStyle/>
                    <a:p>
                      <a:pPr algn="l"/>
                      <a:r>
                        <a:rPr sz="900" b="1">
                          <a:solidFill>
                            <a:srgbClr val="FFFFFF"/>
                          </a:solidFill>
                          <a:latin typeface="Calibri"/>
                        </a:rPr>
                        <a:t>Test</a:t>
                      </a:r>
                    </a:p>
                  </a:txBody>
                  <a:tcPr>
                    <a:solidFill>
                      <a:srgbClr val="143D2F"/>
                    </a:solidFill>
                  </a:tcPr>
                </a:tc>
                <a:tc>
                  <a:txBody>
                    <a:bodyPr lIns="54864" rIns="54864" tIns="18288" bIns="18288" wrap="square" anchor="ctr"/>
                    <a:lstStyle/>
                    <a:p>
                      <a:pPr algn="l"/>
                      <a:r>
                        <a:rPr sz="900" b="1">
                          <a:solidFill>
                            <a:srgbClr val="FFFFFF"/>
                          </a:solidFill>
                          <a:latin typeface="Calibri"/>
                        </a:rPr>
                        <a:t>Gauge</a:t>
                      </a:r>
                    </a:p>
                  </a:txBody>
                  <a:tcPr>
                    <a:solidFill>
                      <a:srgbClr val="143D2F"/>
                    </a:solidFill>
                  </a:tcPr>
                </a:tc>
                <a:tc>
                  <a:txBody>
                    <a:bodyPr lIns="54864" rIns="54864" tIns="18288" bIns="18288" wrap="square" anchor="ctr"/>
                    <a:lstStyle/>
                    <a:p>
                      <a:pPr algn="l"/>
                      <a:r>
                        <a:rPr sz="900" b="1">
                          <a:solidFill>
                            <a:srgbClr val="FFFFFF"/>
                          </a:solidFill>
                          <a:latin typeface="Calibri"/>
                        </a:rPr>
                        <a:t>Crosshead speed</a:t>
                      </a:r>
                    </a:p>
                  </a:txBody>
                  <a:tcPr>
                    <a:solidFill>
                      <a:srgbClr val="143D2F"/>
                    </a:solidFill>
                  </a:tcPr>
                </a:tc>
                <a:tc>
                  <a:txBody>
                    <a:bodyPr lIns="54864" rIns="54864" tIns="18288" bIns="18288" wrap="square" anchor="ctr"/>
                    <a:lstStyle/>
                    <a:p>
                      <a:pPr algn="l"/>
                      <a:r>
                        <a:rPr sz="900" b="1">
                          <a:solidFill>
                            <a:srgbClr val="FFFFFF"/>
                          </a:solidFill>
                          <a:latin typeface="Calibri"/>
                        </a:rPr>
                        <a:t>Source of that speed</a:t>
                      </a:r>
                    </a:p>
                  </a:txBody>
                  <a:tcPr>
                    <a:solidFill>
                      <a:srgbClr val="143D2F"/>
                    </a:solidFill>
                  </a:tcPr>
                </a:tc>
                <a:tc>
                  <a:txBody>
                    <a:bodyPr lIns="54864" rIns="54864" tIns="18288" bIns="18288" wrap="square" anchor="ctr"/>
                    <a:lstStyle/>
                    <a:p>
                      <a:pPr algn="l"/>
                      <a:r>
                        <a:rPr sz="900" b="1">
                          <a:solidFill>
                            <a:srgbClr val="FFFFFF"/>
                          </a:solidFill>
                          <a:latin typeface="Calibri"/>
                        </a:rPr>
                        <a:t>Gauge strain rate</a:t>
                      </a:r>
                    </a:p>
                  </a:txBody>
                  <a:tcPr>
                    <a:solidFill>
                      <a:srgbClr val="143D2F"/>
                    </a:solidFill>
                  </a:tcPr>
                </a:tc>
              </a:tr>
              <a:tr h="214230">
                <a:tc>
                  <a:txBody>
                    <a:bodyPr lIns="54864" rIns="54864" tIns="18288" bIns="18288" wrap="square" anchor="ctr"/>
                    <a:lstStyle/>
                    <a:p>
                      <a:pPr algn="l"/>
                      <a:r>
                        <a:rPr sz="850" b="0">
                          <a:solidFill>
                            <a:srgbClr val="000000"/>
                          </a:solidFill>
                          <a:latin typeface="Calibri"/>
                        </a:rPr>
                        <a:t>XT205-S1</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6.00 mm/min  (0.100 mm/s)</a:t>
                      </a:r>
                    </a:p>
                  </a:txBody>
                  <a:tcPr/>
                </a:tc>
                <a:tc>
                  <a:txBody>
                    <a:bodyPr lIns="54864" rIns="54864" tIns="18288" bIns="18288" wrap="square" anchor="ctr"/>
                    <a:lstStyle/>
                    <a:p>
                      <a:pPr algn="l"/>
                      <a:r>
                        <a:rPr sz="850" b="0">
                          <a:solidFill>
                            <a:srgbClr val="000000"/>
                          </a:solidFill>
                          <a:latin typeface="Calibri"/>
                        </a:rPr>
                        <a:t>commanded — no position channel</a:t>
                      </a:r>
                    </a:p>
                  </a:txBody>
                  <a:tcPr/>
                </a:tc>
                <a:tc>
                  <a:txBody>
                    <a:bodyPr lIns="54864" rIns="54864" tIns="18288" bIns="18288" wrap="square" anchor="ctr"/>
                    <a:lstStyle/>
                    <a:p>
                      <a:pPr algn="l"/>
                      <a:r>
                        <a:rPr sz="850" b="0">
                          <a:solidFill>
                            <a:srgbClr val="000000"/>
                          </a:solidFill>
                          <a:latin typeface="Calibri"/>
                        </a:rPr>
                        <a:t>7.42e-04 /s</a:t>
                      </a:r>
                    </a:p>
                  </a:txBody>
                  <a:tcPr/>
                </a:tc>
              </a:tr>
              <a:tr h="214230">
                <a:tc>
                  <a:txBody>
                    <a:bodyPr lIns="54864" rIns="54864" tIns="18288" bIns="18288" wrap="square" anchor="ctr"/>
                    <a:lstStyle/>
                    <a:p>
                      <a:pPr algn="l"/>
                      <a:r>
                        <a:rPr sz="850" b="0">
                          <a:solidFill>
                            <a:srgbClr val="000000"/>
                          </a:solidFill>
                          <a:latin typeface="Calibri"/>
                        </a:rPr>
                        <a:t>S25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2.67e-04 /s</a:t>
                      </a:r>
                    </a:p>
                  </a:txBody>
                  <a:tcPr/>
                </a:tc>
              </a:tr>
              <a:tr h="214230">
                <a:tc>
                  <a:txBody>
                    <a:bodyPr lIns="54864" rIns="54864" tIns="18288" bIns="18288" wrap="square" anchor="ctr"/>
                    <a:lstStyle/>
                    <a:p>
                      <a:pPr algn="l"/>
                      <a:r>
                        <a:rPr sz="850" b="0">
                          <a:solidFill>
                            <a:srgbClr val="000000"/>
                          </a:solidFill>
                          <a:latin typeface="Calibri"/>
                        </a:rPr>
                        <a:t>S26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4.06e-04 /s</a:t>
                      </a:r>
                    </a:p>
                  </a:txBody>
                  <a:tcPr/>
                </a:tc>
              </a:tr>
              <a:tr h="214230">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2.00 mm/min  (0.0333 mm/s)</a:t>
                      </a:r>
                    </a:p>
                  </a:txBody>
                  <a:tcPr/>
                </a:tc>
                <a:tc>
                  <a:txBody>
                    <a:bodyPr lIns="54864" rIns="54864" tIns="18288" bIns="18288" wrap="square" anchor="ctr"/>
                    <a:lstStyle/>
                    <a:p>
                      <a:pPr algn="l"/>
                      <a:r>
                        <a:rPr sz="850" b="0">
                          <a:solidFill>
                            <a:srgbClr val="000000"/>
                          </a:solidFill>
                          <a:latin typeface="Calibri"/>
                        </a:rPr>
                        <a:t>operator-reported — no position channel</a:t>
                      </a:r>
                    </a:p>
                  </a:txBody>
                  <a:tcPr/>
                </a:tc>
                <a:tc>
                  <a:txBody>
                    <a:bodyPr lIns="54864" rIns="54864" tIns="18288" bIns="18288" wrap="square" anchor="ctr"/>
                    <a:lstStyle/>
                    <a:p>
                      <a:pPr algn="l"/>
                      <a:r>
                        <a:rPr sz="850" b="0">
                          <a:solidFill>
                            <a:srgbClr val="000000"/>
                          </a:solidFill>
                          <a:latin typeface="Calibri"/>
                        </a:rPr>
                        <a:t>2.60e-04 /s</a:t>
                      </a:r>
                    </a:p>
                  </a:txBody>
                  <a:tcPr/>
                </a:tc>
              </a:tr>
              <a:tr h="214230">
                <a:tc>
                  <a:txBody>
                    <a:bodyPr lIns="54864" rIns="54864" tIns="18288" bIns="18288" wrap="square" anchor="ctr"/>
                    <a:lstStyle/>
                    <a:p>
                      <a:pPr algn="l"/>
                      <a:r>
                        <a:rPr sz="850" b="0">
                          <a:solidFill>
                            <a:srgbClr val="000000"/>
                          </a:solidFill>
                          <a:latin typeface="Calibri"/>
                        </a:rPr>
                        <a:t>S33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3.00e-04 /s</a:t>
                      </a:r>
                    </a:p>
                  </a:txBody>
                  <a:tcPr/>
                </a:tc>
              </a:tr>
              <a:tr h="214236">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3.10e-04 /s</a:t>
                      </a:r>
                    </a:p>
                  </a:txBody>
                  <a:tcPr/>
                </a:tc>
              </a:tr>
            </a:tbl>
          </a:graphicData>
        </a:graphic>
      </p:graphicFrame>
      <p:sp>
        <p:nvSpPr>
          <p:cNvPr id="10" name="TextBox 9"/>
          <p:cNvSpPr txBox="1"/>
          <p:nvPr/>
        </p:nvSpPr>
        <p:spPr>
          <a:xfrm>
            <a:off x="411480" y="524865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1 was speed-matched. Test 2 was not.</a:t>
            </a:r>
          </a:p>
        </p:txBody>
      </p:sp>
      <p:sp>
        <p:nvSpPr>
          <p:cNvPr id="11" name="TextBox 10"/>
          <p:cNvSpPr txBox="1"/>
          <p:nvPr/>
        </p:nvSpPr>
        <p:spPr>
          <a:xfrm>
            <a:off x="411480" y="5596128"/>
            <a:ext cx="5623560" cy="960120"/>
          </a:xfrm>
          <a:prstGeom prst="rect">
            <a:avLst/>
          </a:prstGeom>
          <a:noFill/>
        </p:spPr>
        <p:txBody>
          <a:bodyPr wrap="square" lIns="45720" rIns="45720" tIns="18288" bIns="18288" anchor="t">
            <a:spAutoFit/>
          </a:bodyPr>
          <a:lstStyle/>
          <a:p>
            <a:pPr algn="l"/>
            <a:r>
              <a:rPr sz="950" b="0" i="0">
                <a:solidFill>
                  <a:srgbClr val="000000"/>
                </a:solidFill>
                <a:latin typeface="Calibri"/>
              </a:rPr>
              <a:t>Both machines ran 6 mm/min in Test 1, so a difference between them could not be the speed. In Test 2 the XT-205 ran 2 mm/min against the PPD-UTM's 5.98 — a 3× mismatch that was introduced between the two MOT sessions and not by us.</a:t>
            </a:r>
          </a:p>
        </p:txBody>
      </p:sp>
      <p:sp>
        <p:nvSpPr>
          <p:cNvPr id="12" name="TextBox 11"/>
          <p:cNvSpPr txBox="1"/>
          <p:nvPr/>
        </p:nvSpPr>
        <p:spPr>
          <a:xfrm>
            <a:off x="6263640" y="524865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is where a slope difference comes from</a:t>
            </a:r>
          </a:p>
        </p:txBody>
      </p:sp>
      <p:sp>
        <p:nvSpPr>
          <p:cNvPr id="13" name="TextBox 12"/>
          <p:cNvSpPr txBox="1"/>
          <p:nvPr/>
        </p:nvSpPr>
        <p:spPr>
          <a:xfrm>
            <a:off x="6263640" y="5596128"/>
            <a:ext cx="5577840" cy="960120"/>
          </a:xfrm>
          <a:prstGeom prst="rect">
            <a:avLst/>
          </a:prstGeom>
          <a:noFill/>
        </p:spPr>
        <p:txBody>
          <a:bodyPr wrap="square" lIns="45720" rIns="45720" tIns="18288" bIns="18288" anchor="t">
            <a:spAutoFit/>
          </a:bodyPr>
          <a:lstStyle/>
          <a:p>
            <a:pPr algn="l"/>
            <a:r>
              <a:rPr sz="950" b="0" i="0">
                <a:solidFill>
                  <a:srgbClr val="000000"/>
                </a:solidFill>
                <a:latin typeface="Calibri"/>
              </a:rPr>
              <a:t>PLA is rate-sensitive: pull it faster and it reads stiffer and stronger. On the like-for-like steepest-run modulus S34 reads 3.451 GPa against XT205-S2's 3.229 — the FASTER specimen is the stiffer one, by 6.4 %, which is the direction rate predicts. It is a candidate, not a proof: one PPD-UTM pull at 2 mm/min would separate it from specimen scatter.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Our speeds are read back from each run's own position channel by utm_analysis, not restated from the recipe. The MOT tests log no position, so theirs are the commanded values and are marked as such.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