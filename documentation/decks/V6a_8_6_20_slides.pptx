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04216">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04216">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RIG</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post-realignment rig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OUR RIG — WHAT WAS TESTED, AND HOW</a:t>
            </a:r>
          </a:p>
        </p:txBody>
      </p:sp>
      <p:pic>
        <p:nvPicPr>
          <p:cNvPr id="5" name="Picture 4" descr="motpp_setup.png"/>
          <p:cNvPicPr>
            <a:picLocks noChangeAspect="1"/>
          </p:cNvPicPr>
          <p:nvPr/>
        </p:nvPicPr>
        <p:blipFill>
          <a:blip r:embed="rId2"/>
          <a:stretch>
            <a:fillRect/>
          </a:stretch>
        </p:blipFill>
        <p:spPr>
          <a:xfrm>
            <a:off x="3329975" y="1060704"/>
            <a:ext cx="5501569"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XT-205's own answer  vs
OUR maths on ITS video</a:t>
                      </a:r>
                    </a:p>
                  </a:txBody>
                  <a:tcPr/>
                </a:tc>
                <a:tc>
                  <a:txBody>
                    <a:bodyPr lIns="54864" rIns="54864" tIns="18288" bIns="18288" wrap="square" anchor="ctr"/>
                    <a:lstStyle/>
                    <a:p>
                      <a:pPr algn="l"/>
                      <a:r>
                        <a:rPr sz="800" b="0">
                          <a:solidFill>
                            <a:srgbClr val="000000"/>
                          </a:solidFill>
                          <a:latin typeface="Calibri"/>
                        </a:rPr>
                        <a:t>only the arithmetic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our maths on THEIR video  vs
our maths on S25 / S26</a:t>
                      </a:r>
                    </a:p>
                  </a:txBody>
                  <a:tcPr/>
                </a:tc>
                <a:tc>
                  <a:txBody>
                    <a:bodyPr lIns="54864" rIns="54864" tIns="18288" bIns="18288" wrap="square" anchor="ctr"/>
                    <a:lstStyle/>
                    <a:p>
                      <a:pPr algn="l"/>
                      <a:r>
                        <a:rPr sz="800" b="0">
                          <a:solidFill>
                            <a:srgbClr val="000000"/>
                          </a:solidFill>
                          <a:latin typeface="Calibri"/>
                        </a:rPr>
                        <a:t>the machine and the mounting,
not the maths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our rig</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468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 rig (S25/S26)</a:t>
                      </a:r>
                    </a:p>
                  </a:txBody>
                  <a:tcPr>
                    <a:solidFill>
                      <a:srgbClr val="143D2F"/>
                    </a:solidFill>
                  </a:tcPr>
                </a:tc>
              </a:tr>
              <a:tr h="24688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4688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4688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4688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DAQ)</a:t>
                      </a:r>
                    </a:p>
                  </a:txBody>
                  <a:tcPr/>
                </a:tc>
                <a:tc>
                  <a:txBody>
                    <a:bodyPr lIns="54864" rIns="54864" tIns="18288" bIns="18288" wrap="square" anchor="ctr"/>
                    <a:lstStyle/>
                    <a:p>
                      <a:pPr algn="l"/>
                      <a:r>
                        <a:rPr sz="800" b="0">
                          <a:solidFill>
                            <a:srgbClr val="000000"/>
                          </a:solidFill>
                          <a:latin typeface="Calibri"/>
                        </a:rPr>
                        <a:t>19.93 fps (from index.csv)</a:t>
                      </a:r>
                    </a:p>
                  </a:txBody>
                  <a:tcPr/>
                </a:tc>
              </a:tr>
              <a:tr h="246888">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238554" y="1042415"/>
            <a:ext cx="768441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ours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straight fit of ours against theirs</a:t>
                      </a:r>
                    </a:p>
                  </a:txBody>
                  <a:tcPr/>
                </a:tc>
                <a:tc>
                  <a:txBody>
                    <a:bodyPr lIns="54864" rIns="54864" tIns="18288" bIns="18288" wrap="square" anchor="ctr"/>
                    <a:lstStyle/>
                    <a:p>
                      <a:pPr algn="l"/>
                      <a:r>
                        <a:rPr sz="850" b="0">
                          <a:solidFill>
                            <a:srgbClr val="000000"/>
                          </a:solidFill>
                          <a:latin typeface="Calibri"/>
                        </a:rPr>
                        <a:t>1.0256 × theirs -32 µε</a:t>
                      </a:r>
                    </a:p>
                  </a:txBody>
                  <a:tcPr/>
                </a:tc>
              </a:tr>
              <a:tr h="283464">
                <a:tc>
                  <a:txBody>
                    <a:bodyPr lIns="54864" rIns="54864" tIns="18288" bIns="18288" wrap="square" anchor="ctr"/>
                    <a:lstStyle/>
                    <a:p>
                      <a:pPr algn="l"/>
                      <a:r>
                        <a:rPr sz="850" b="0">
                          <a:solidFill>
                            <a:srgbClr val="000000"/>
                          </a:solidFill>
                          <a:latin typeface="Calibri"/>
                        </a:rPr>
                        <a:t>independent scale check (see below)</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 rate, ours ÷ theirs</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ours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video, OUR maths</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video, ITS OWN answer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our rig</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our rig</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scale check is the load-bearing one. Recovering the frame rate by matching strain levels returns fps ÷ k for any scale error k — so comparing it against the rate the DAQ actually recorded measures k directly. k = 0.99991, so the two pipelines put the same number on the same pixels.</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their own footage our measurement is 7.9× quieter than theirs (5.7 vs 44.9 µε) — a larger pixel baseline and a sub-pixel centroid against their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Our Position_mm is a MOTOR-shaft encoder read through 20:1 gearing
and a 5 mm screw. It proves the motor turned; it proves nothing about
the grips, and no sensor on the rig measures them.</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Our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our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our gauge is strained at a third of theirs,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our strain were k× theirs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DAQ's own timestamps; the honest
figure is 2.4 %. The matching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