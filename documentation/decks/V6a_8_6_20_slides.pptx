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108.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5.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PPD-UTM Mk I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PPD-UTM — the Department of Product Development, Production and Design's universal testing machine; Mk I and Mk II are defined on p184.  ·  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16 built and RIG-VALIDATED (green) · 2 built, offline-verified only (teal) · 1 hardware-blocked (amber).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000000"/>
                </a:solidFill>
                <a:latin typeface="Calibri"/>
              </a:rPr>
              <a:t>SF14  Poisson / true Cauchy
optics-blocked, not code</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Test registry
every run + force anchor</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Dead-DIC guard + backstops
0.2 s freeze / 1.0 s halt</a:t>
            </a:r>
          </a:p>
        </p:txBody>
      </p:sp>
      <p:sp>
        <p:nvSpPr>
          <p:cNvPr id="22" name="Rounded Rectangle 21"/>
          <p:cNvSpPr/>
          <p:nvPr/>
        </p:nvSpPr>
        <p:spPr>
          <a:xfrm>
            <a:off x="365760"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Live Px₀ overlay
frozen vs live pair, on the feed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Video + image capture
PNG + 3 AVI styles, 0 dropped</a:t>
            </a:r>
          </a:p>
        </p:txBody>
      </p:sp>
      <p:sp>
        <p:nvSpPr>
          <p:cNvPr id="24" name="TextBox 2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retired the day it was carded — a developer-only sim harness is not operator-facing. Four safety layers on every driven test: load-collapse · stall guard · 10 kN / 30 mm · dead-DIC freeze.</a:t>
            </a:r>
          </a:p>
        </p:txBody>
      </p:sp>
      <p:sp>
        <p:nvSpPr>
          <p:cNvPr id="25" name="TextBox 2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10 kN / 30 mm backstops stay exactly as they are; they were never the problem.</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PPD-UTM Mk II, THE RELIABLE SET</a:t>
            </a:r>
          </a:p>
        </p:txBody>
      </p:sp>
      <p:sp>
        <p:nvSpPr>
          <p:cNvPr id="5" name="TextBox 4"/>
          <p:cNvSpPr txBox="1"/>
          <p:nvPr/>
        </p:nvSpPr>
        <p:spPr>
          <a:xfrm>
            <a:off x="457200" y="1042415"/>
            <a:ext cx="11338560" cy="603504"/>
          </a:xfrm>
          <a:prstGeom prst="rect">
            <a:avLst/>
          </a:prstGeom>
          <a:noFill/>
        </p:spPr>
        <p:txBody>
          <a:bodyPr wrap="square" lIns="45720" rIns="45720" tIns="18288" bIns="18288" anchor="t">
            <a:spAutoFit/>
          </a:bodyPr>
          <a:lstStyle/>
          <a:p>
            <a:pPr algn="l"/>
            <a:r>
              <a:rPr sz="1150" b="0" i="1">
                <a:solidFill>
                  <a:srgbClr val="707070"/>
                </a:solidFill>
                <a:latin typeface="Calibri"/>
              </a:rPr>
              <a:t>“Mk” is MARK — the engineering convention for successive configurations of ONE machine, not for two different machines. PPD-UTM Mk I is this rig up to 2026-08-12; PPD-UTM Mk II is the SAME rig after its crossheads were realigned and its load holders re-tightened. No other part of it changed, and no recalibration of the load cell or the optics was involved.
Every run below is Mk II. Both stalls on record fall BEFORE that line; none after.</a:t>
            </a:r>
          </a:p>
        </p:txBody>
      </p:sp>
      <p:graphicFrame>
        <p:nvGraphicFramePr>
          <p:cNvPr id="6" name="Table 5"/>
          <p:cNvGraphicFramePr>
            <a:graphicFrameLocks noGrp="1"/>
          </p:cNvGraphicFramePr>
          <p:nvPr/>
        </p:nvGraphicFramePr>
        <p:xfrm>
          <a:off x="365760" y="1719072"/>
          <a:ext cx="11475720" cy="2880360"/>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192024">
                <a:tc>
                  <a:txBody>
                    <a:bodyPr lIns="54864" rIns="54864" tIns="18288" bIns="18288" wrap="square" anchor="ctr"/>
                    <a:lstStyle/>
                    <a:p>
                      <a:pPr algn="l"/>
                      <a:r>
                        <a:rPr sz="1000" b="1">
                          <a:solidFill>
                            <a:srgbClr val="FFFFFF"/>
                          </a:solidFill>
                          <a:latin typeface="Calibri"/>
                        </a:rPr>
                        <a:t>Specimen</a:t>
                      </a:r>
                    </a:p>
                  </a:txBody>
                  <a:tcPr>
                    <a:solidFill>
                      <a:srgbClr val="143D2F"/>
                    </a:solidFill>
                  </a:tcPr>
                </a:tc>
                <a:tc>
                  <a:txBody>
                    <a:bodyPr lIns="54864" rIns="54864" tIns="18288" bIns="18288" wrap="square" anchor="ctr"/>
                    <a:lstStyle/>
                    <a:p>
                      <a:pPr algn="l"/>
                      <a:r>
                        <a:rPr sz="1000" b="1">
                          <a:solidFill>
                            <a:srgbClr val="FFFFFF"/>
                          </a:solidFill>
                          <a:latin typeface="Calibri"/>
                        </a:rPr>
                        <a:t>Date</a:t>
                      </a:r>
                    </a:p>
                  </a:txBody>
                  <a:tcPr>
                    <a:solidFill>
                      <a:srgbClr val="143D2F"/>
                    </a:solidFill>
                  </a:tcPr>
                </a:tc>
                <a:tc>
                  <a:txBody>
                    <a:bodyPr lIns="54864" rIns="54864" tIns="18288" bIns="18288" wrap="square" anchor="ctr"/>
                    <a:lstStyle/>
                    <a:p>
                      <a:pPr algn="l"/>
                      <a:r>
                        <a:rPr sz="1000" b="1">
                          <a:solidFill>
                            <a:srgbClr val="FFFFFF"/>
                          </a:solidFill>
                          <a:latin typeface="Calibri"/>
                        </a:rPr>
                        <a:t>Material</a:t>
                      </a:r>
                    </a:p>
                  </a:txBody>
                  <a:tcPr>
                    <a:solidFill>
                      <a:srgbClr val="143D2F"/>
                    </a:solidFill>
                  </a:tcPr>
                </a:tc>
                <a:tc>
                  <a:txBody>
                    <a:bodyPr lIns="54864" rIns="54864" tIns="18288" bIns="18288" wrap="square" anchor="ctr"/>
                    <a:lstStyle/>
                    <a:p>
                      <a:pPr algn="l"/>
                      <a:r>
                        <a:rPr sz="10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1000" b="1">
                          <a:solidFill>
                            <a:srgbClr val="FFFFFF"/>
                          </a:solidFill>
                          <a:latin typeface="Calibri"/>
                        </a:rPr>
                        <a:t>Peak</a:t>
                      </a:r>
                    </a:p>
                  </a:txBody>
                  <a:tcPr>
                    <a:solidFill>
                      <a:srgbClr val="143D2F"/>
                    </a:solidFill>
                  </a:tcPr>
                </a:tc>
                <a:tc>
                  <a:txBody>
                    <a:bodyPr lIns="54864" rIns="54864" tIns="18288" bIns="18288" wrap="square" anchor="ctr"/>
                    <a:lstStyle/>
                    <a:p>
                      <a:pPr algn="l"/>
                      <a:r>
                        <a:rPr sz="1000" b="1">
                          <a:solidFill>
                            <a:srgbClr val="FFFFFF"/>
                          </a:solidFill>
                          <a:latin typeface="Calibri"/>
                        </a:rPr>
                        <a:t>UTS</a:t>
                      </a:r>
                    </a:p>
                  </a:txBody>
                  <a:tcPr>
                    <a:solidFill>
                      <a:srgbClr val="143D2F"/>
                    </a:solidFill>
                  </a:tcPr>
                </a:tc>
                <a:tc>
                  <a:txBody>
                    <a:bodyPr lIns="54864" rIns="54864" tIns="18288" bIns="18288" wrap="square" anchor="ctr"/>
                    <a:lstStyle/>
                    <a:p>
                      <a:pPr algn="l"/>
                      <a:r>
                        <a:rPr sz="1000" b="1">
                          <a:solidFill>
                            <a:srgbClr val="FFFFFF"/>
                          </a:solidFill>
                          <a:latin typeface="Calibri"/>
                        </a:rPr>
                        <a:t>E</a:t>
                      </a:r>
                    </a:p>
                  </a:txBody>
                  <a:tcPr>
                    <a:solidFill>
                      <a:srgbClr val="143D2F"/>
                    </a:solidFill>
                  </a:tcPr>
                </a:tc>
                <a:tc>
                  <a:txBody>
                    <a:bodyPr lIns="54864" rIns="54864" tIns="18288" bIns="18288" wrap="square" anchor="ctr"/>
                    <a:lstStyle/>
                    <a:p>
                      <a:pPr algn="l"/>
                      <a:r>
                        <a:rPr sz="1000" b="1">
                          <a:solidFill>
                            <a:srgbClr val="FFFFFF"/>
                          </a:solidFill>
                          <a:latin typeface="Calibri"/>
                        </a:rPr>
                        <a:t>Outcome</a:t>
                      </a:r>
                    </a:p>
                  </a:txBody>
                  <a:tcPr>
                    <a:solidFill>
                      <a:srgbClr val="143D2F"/>
                    </a:solidFill>
                  </a:tcPr>
                </a:tc>
              </a:tr>
              <a:tr h="192024">
                <a:tc>
                  <a:txBody>
                    <a:bodyPr lIns="54864" rIns="54864" tIns="18288" bIns="18288" wrap="square" anchor="ctr"/>
                    <a:lstStyle/>
                    <a:p>
                      <a:pPr algn="l"/>
                      <a:r>
                        <a:rPr sz="950" b="0">
                          <a:solidFill>
                            <a:srgbClr val="000000"/>
                          </a:solidFill>
                          <a:latin typeface="Calibri"/>
                        </a:rPr>
                        <a:t>S24</a:t>
                      </a:r>
                    </a:p>
                  </a:txBody>
                  <a:tcPr/>
                </a:tc>
                <a:tc>
                  <a:txBody>
                    <a:bodyPr lIns="54864" rIns="54864" tIns="18288" bIns="18288" wrap="square" anchor="ctr"/>
                    <a:lstStyle/>
                    <a:p>
                      <a:pPr algn="l"/>
                      <a:r>
                        <a:rPr sz="950" b="0">
                          <a:solidFill>
                            <a:srgbClr val="000000"/>
                          </a:solidFill>
                          <a:latin typeface="Calibri"/>
                        </a:rPr>
                        <a:t>2026-08-14</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VC1</a:t>
                      </a:r>
                    </a:p>
                  </a:txBody>
                  <a:tcPr/>
                </a:tc>
                <a:tc>
                  <a:txBody>
                    <a:bodyPr lIns="54864" rIns="54864" tIns="18288" bIns="18288" wrap="square" anchor="ctr"/>
                    <a:lstStyle/>
                    <a:p>
                      <a:pPr algn="l"/>
                      <a:r>
                        <a:rPr sz="950" b="0">
                          <a:solidFill>
                            <a:srgbClr val="000000"/>
                          </a:solidFill>
                          <a:latin typeface="Calibri"/>
                        </a:rPr>
                        <a:t>3718 N</a:t>
                      </a:r>
                    </a:p>
                  </a:txBody>
                  <a:tcPr/>
                </a:tc>
                <a:tc>
                  <a:txBody>
                    <a:bodyPr lIns="54864" rIns="54864" tIns="18288" bIns="18288" wrap="square" anchor="ctr"/>
                    <a:lstStyle/>
                    <a:p>
                      <a:pPr algn="l"/>
                      <a:r>
                        <a:rPr sz="950" b="0">
                          <a:solidFill>
                            <a:srgbClr val="000000"/>
                          </a:solidFill>
                          <a:latin typeface="Calibri"/>
                        </a:rPr>
                        <a:t>46.5 MPa</a:t>
                      </a:r>
                    </a:p>
                  </a:txBody>
                  <a:tcPr/>
                </a:tc>
                <a:tc>
                  <a:txBody>
                    <a:bodyPr lIns="54864" rIns="54864" tIns="18288" bIns="18288" wrap="square" anchor="ctr"/>
                    <a:lstStyle/>
                    <a:p>
                      <a:pPr algn="l"/>
                      <a:r>
                        <a:rPr sz="950" b="0">
                          <a:solidFill>
                            <a:srgbClr val="000000"/>
                          </a:solidFill>
                          <a:latin typeface="Calibri"/>
                        </a:rPr>
                        <a:t>3.00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S12</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attempt VC6 — capture not filed</a:t>
                      </a:r>
                    </a:p>
                  </a:txBody>
                  <a:tcPr/>
                </a:tc>
                <a:tc>
                  <a:txBody>
                    <a:bodyPr lIns="54864" rIns="54864" tIns="18288" bIns="18288" wrap="square" anchor="ctr"/>
                    <a:lstStyle/>
                    <a:p>
                      <a:pPr algn="l"/>
                      <a:r>
                        <a:rPr sz="950" b="0">
                          <a:solidFill>
                            <a:srgbClr val="000000"/>
                          </a:solidFill>
                          <a:latin typeface="Calibri"/>
                        </a:rPr>
                        <a:t>3822 N</a:t>
                      </a:r>
                    </a:p>
                  </a:txBody>
                  <a:tcPr/>
                </a:tc>
                <a:tc>
                  <a:txBody>
                    <a:bodyPr lIns="54864" rIns="54864" tIns="18288" bIns="18288" wrap="square" anchor="ctr"/>
                    <a:lstStyle/>
                    <a:p>
                      <a:pPr algn="l"/>
                      <a:r>
                        <a:rPr sz="950" b="0">
                          <a:solidFill>
                            <a:srgbClr val="000000"/>
                          </a:solidFill>
                          <a:latin typeface="Calibri"/>
                        </a:rPr>
                        <a:t>47.8 MPa</a:t>
                      </a:r>
                    </a:p>
                  </a:txBody>
                  <a:tcPr/>
                </a:tc>
                <a:tc>
                  <a:txBody>
                    <a:bodyPr lIns="54864" rIns="54864" tIns="18288" bIns="18288" wrap="square" anchor="ctr"/>
                    <a:lstStyle/>
                    <a:p>
                      <a:pPr algn="l"/>
                      <a:r>
                        <a:rPr sz="950" b="0">
                          <a:solidFill>
                            <a:srgbClr val="000000"/>
                          </a:solidFill>
                          <a:latin typeface="Calibri"/>
                        </a:rPr>
                        <a:t>3.29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VC2 — extensometer basis</a:t>
                      </a:r>
                    </a:p>
                  </a:txBody>
                  <a:tcPr/>
                </a:tc>
                <a:tc>
                  <a:txBody>
                    <a:bodyPr lIns="54864" rIns="54864" tIns="18288" bIns="18288" wrap="square" anchor="ctr"/>
                    <a:lstStyle/>
                    <a:p>
                      <a:pPr algn="l"/>
                      <a:r>
                        <a:rPr sz="950" b="0">
                          <a:solidFill>
                            <a:srgbClr val="000000"/>
                          </a:solidFill>
                          <a:latin typeface="Calibri"/>
                        </a:rPr>
                        <a:t>3693 N</a:t>
                      </a:r>
                    </a:p>
                  </a:txBody>
                  <a:tcPr/>
                </a:tc>
                <a:tc>
                  <a:txBody>
                    <a:bodyPr lIns="54864" rIns="54864" tIns="18288" bIns="18288" wrap="square" anchor="ctr"/>
                    <a:lstStyle/>
                    <a:p>
                      <a:pPr algn="l"/>
                      <a:r>
                        <a:rPr sz="950" b="0">
                          <a:solidFill>
                            <a:srgbClr val="000000"/>
                          </a:solidFill>
                          <a:latin typeface="Calibri"/>
                        </a:rPr>
                        <a:t>46.2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VC3 — extensometer basis</a:t>
                      </a:r>
                    </a:p>
                  </a:txBody>
                  <a:tcPr/>
                </a:tc>
                <a:tc>
                  <a:txBody>
                    <a:bodyPr lIns="54864" rIns="54864" tIns="18288" bIns="18288" wrap="square" anchor="ctr"/>
                    <a:lstStyle/>
                    <a:p>
                      <a:pPr algn="l"/>
                      <a:r>
                        <a:rPr sz="950" b="0">
                          <a:solidFill>
                            <a:srgbClr val="000000"/>
                          </a:solidFill>
                          <a:latin typeface="Calibri"/>
                        </a:rPr>
                        <a:t>3774 N</a:t>
                      </a:r>
                    </a:p>
                  </a:txBody>
                  <a:tcPr/>
                </a:tc>
                <a:tc>
                  <a:txBody>
                    <a:bodyPr lIns="54864" rIns="54864" tIns="18288" bIns="18288" wrap="square" anchor="ctr"/>
                    <a:lstStyle/>
                    <a:p>
                      <a:pPr algn="l"/>
                      <a:r>
                        <a:rPr sz="950" b="0">
                          <a:solidFill>
                            <a:srgbClr val="000000"/>
                          </a:solidFill>
                          <a:latin typeface="Calibri"/>
                        </a:rPr>
                        <a:t>47.2 MPa</a:t>
                      </a:r>
                    </a:p>
                  </a:txBody>
                  <a:tcPr/>
                </a:tc>
                <a:tc>
                  <a:txBody>
                    <a:bodyPr lIns="54864" rIns="54864" tIns="18288" bIns="18288" wrap="square" anchor="ctr"/>
                    <a:lstStyle/>
                    <a:p>
                      <a:pPr algn="l"/>
                      <a:r>
                        <a:rPr sz="950" b="0">
                          <a:solidFill>
                            <a:srgbClr val="000000"/>
                          </a:solidFill>
                          <a:latin typeface="Calibri"/>
                        </a:rPr>
                        <a:t>3.55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S27</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VC4</a:t>
                      </a:r>
                    </a:p>
                  </a:txBody>
                  <a:tcPr/>
                </a:tc>
                <a:tc>
                  <a:txBody>
                    <a:bodyPr lIns="54864" rIns="54864" tIns="18288" bIns="18288" wrap="square" anchor="ctr"/>
                    <a:lstStyle/>
                    <a:p>
                      <a:pPr algn="l"/>
                      <a:r>
                        <a:rPr sz="950" b="0">
                          <a:solidFill>
                            <a:srgbClr val="000000"/>
                          </a:solidFill>
                          <a:latin typeface="Calibri"/>
                        </a:rPr>
                        <a:t>1588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1.40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S28</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VC5</a:t>
                      </a:r>
                    </a:p>
                  </a:txBody>
                  <a:tcPr/>
                </a:tc>
                <a:tc>
                  <a:txBody>
                    <a:bodyPr lIns="54864" rIns="54864" tIns="18288" bIns="18288" wrap="square" anchor="ctr"/>
                    <a:lstStyle/>
                    <a:p>
                      <a:pPr algn="l"/>
                      <a:r>
                        <a:rPr sz="950" b="0">
                          <a:solidFill>
                            <a:srgbClr val="000000"/>
                          </a:solidFill>
                          <a:latin typeface="Calibri"/>
                        </a:rPr>
                        <a:t>1594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1.28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2026-08-18</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preset VALIDATED VC7</a:t>
                      </a:r>
                    </a:p>
                  </a:txBody>
                  <a:tcPr/>
                </a:tc>
                <a:tc>
                  <a:txBody>
                    <a:bodyPr lIns="54864" rIns="54864" tIns="18288" bIns="18288" wrap="square" anchor="ctr"/>
                    <a:lstStyle/>
                    <a:p>
                      <a:pPr algn="l"/>
                      <a:r>
                        <a:rPr sz="950" b="0">
                          <a:solidFill>
                            <a:srgbClr val="000000"/>
                          </a:solidFill>
                          <a:latin typeface="Calibri"/>
                        </a:rPr>
                        <a:t>3706 N</a:t>
                      </a:r>
                    </a:p>
                  </a:txBody>
                  <a:tcPr/>
                </a:tc>
                <a:tc>
                  <a:txBody>
                    <a:bodyPr lIns="54864" rIns="54864" tIns="18288" bIns="18288" wrap="square" anchor="ctr"/>
                    <a:lstStyle/>
                    <a:p>
                      <a:pPr algn="l"/>
                      <a:r>
                        <a:rPr sz="950" b="0">
                          <a:solidFill>
                            <a:srgbClr val="000000"/>
                          </a:solidFill>
                          <a:latin typeface="Calibri"/>
                        </a:rPr>
                        <a:t>46.3 MPa</a:t>
                      </a:r>
                    </a:p>
                  </a:txBody>
                  <a:tcPr/>
                </a:tc>
                <a:tc>
                  <a:txBody>
                    <a:bodyPr lIns="54864" rIns="54864" tIns="18288" bIns="18288" wrap="square" anchor="ctr"/>
                    <a:lstStyle/>
                    <a:p>
                      <a:pPr algn="l"/>
                      <a:r>
                        <a:rPr sz="950" b="0">
                          <a:solidFill>
                            <a:srgbClr val="000000"/>
                          </a:solidFill>
                          <a:latin typeface="Calibri"/>
                        </a:rPr>
                        <a:t>3.03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3340 N</a:t>
                      </a:r>
                    </a:p>
                  </a:txBody>
                  <a:tcPr/>
                </a:tc>
                <a:tc>
                  <a:txBody>
                    <a:bodyPr lIns="54864" rIns="54864" tIns="18288" bIns="18288" wrap="square" anchor="ctr"/>
                    <a:lstStyle/>
                    <a:p>
                      <a:pPr algn="l"/>
                      <a:r>
                        <a:rPr sz="950" b="0">
                          <a:solidFill>
                            <a:srgbClr val="000000"/>
                          </a:solidFill>
                          <a:latin typeface="Calibri"/>
                        </a:rPr>
                        <a:t>41.8 MPa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3244 N</a:t>
                      </a:r>
                    </a:p>
                  </a:txBody>
                  <a:tcPr/>
                </a:tc>
                <a:tc>
                  <a:txBody>
                    <a:bodyPr lIns="54864" rIns="54864" tIns="18288" bIns="18288" wrap="square" anchor="ctr"/>
                    <a:lstStyle/>
                    <a:p>
                      <a:pPr algn="l"/>
                      <a:r>
                        <a:rPr sz="950" b="0">
                          <a:solidFill>
                            <a:srgbClr val="000000"/>
                          </a:solidFill>
                          <a:latin typeface="Calibri"/>
                        </a:rPr>
                        <a:t>40.5 MPa</a:t>
                      </a:r>
                    </a:p>
                  </a:txBody>
                  <a:tcPr/>
                </a:tc>
                <a:tc>
                  <a:txBody>
                    <a:bodyPr lIns="54864" rIns="54864" tIns="18288" bIns="18288" wrap="square" anchor="ctr"/>
                    <a:lstStyle/>
                    <a:p>
                      <a:pPr algn="l"/>
                      <a:r>
                        <a:rPr sz="950" b="0">
                          <a:solidFill>
                            <a:srgbClr val="000000"/>
                          </a:solidFill>
                          <a:latin typeface="Calibri"/>
                        </a:rPr>
                        <a:t>2.12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S33</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3767 N</a:t>
                      </a:r>
                    </a:p>
                  </a:txBody>
                  <a:tcPr/>
                </a:tc>
                <a:tc>
                  <a:txBody>
                    <a:bodyPr lIns="54864" rIns="54864" tIns="18288" bIns="18288" wrap="square" anchor="ctr"/>
                    <a:lstStyle/>
                    <a:p>
                      <a:pPr algn="l"/>
                      <a:r>
                        <a:rPr sz="950" b="0">
                          <a:solidFill>
                            <a:srgbClr val="000000"/>
                          </a:solidFill>
                          <a:latin typeface="Calibri"/>
                        </a:rPr>
                        <a:t>47.1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S34</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3867 N</a:t>
                      </a:r>
                    </a:p>
                  </a:txBody>
                  <a:tcPr/>
                </a:tc>
                <a:tc>
                  <a:txBody>
                    <a:bodyPr lIns="54864" rIns="54864" tIns="18288" bIns="18288" wrap="square" anchor="ctr"/>
                    <a:lstStyle/>
                    <a:p>
                      <a:pPr algn="l"/>
                      <a:r>
                        <a:rPr sz="950" b="0">
                          <a:solidFill>
                            <a:srgbClr val="000000"/>
                          </a:solidFill>
                          <a:latin typeface="Calibri"/>
                        </a:rPr>
                        <a:t>48.3 MPa</a:t>
                      </a:r>
                    </a:p>
                  </a:txBody>
                  <a:tcPr/>
                </a:tc>
                <a:tc>
                  <a:txBody>
                    <a:bodyPr lIns="54864" rIns="54864" tIns="18288" bIns="18288" wrap="square" anchor="ctr"/>
                    <a:lstStyle/>
                    <a:p>
                      <a:pPr algn="l"/>
                      <a:r>
                        <a:rPr sz="950" b="0">
                          <a:solidFill>
                            <a:srgbClr val="000000"/>
                          </a:solidFill>
                          <a:latin typeface="Calibri"/>
                        </a:rPr>
                        <a:t>3.45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S35</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180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S36</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177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S37</a:t>
                      </a:r>
                    </a:p>
                  </a:txBody>
                  <a:tcPr/>
                </a:tc>
                <a:tc>
                  <a:txBody>
                    <a:bodyPr lIns="54864" rIns="54864" tIns="18288" bIns="18288" wrap="square" anchor="ctr"/>
                    <a:lstStyle/>
                    <a:p>
                      <a:pPr algn="l"/>
                      <a:r>
                        <a:rPr sz="950" b="0">
                          <a:solidFill>
                            <a:srgbClr val="000000"/>
                          </a:solidFill>
                          <a:latin typeface="Calibri"/>
                        </a:rPr>
                        <a:t>2026-08-26</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208 N</a:t>
                      </a:r>
                    </a:p>
                  </a:txBody>
                  <a:tcPr/>
                </a:tc>
                <a:tc>
                  <a:txBody>
                    <a:bodyPr lIns="54864" rIns="54864" tIns="18288" bIns="18288" wrap="square" anchor="ctr"/>
                    <a:lstStyle/>
                    <a:p>
                      <a:pPr algn="l"/>
                      <a:r>
                        <a:rPr sz="950" b="0">
                          <a:solidFill>
                            <a:srgbClr val="000000"/>
                          </a:solidFill>
                          <a:latin typeface="Calibri"/>
                        </a:rPr>
                        <a:t>2.6 MPa</a:t>
                      </a:r>
                    </a:p>
                  </a:txBody>
                  <a:tcPr/>
                </a:tc>
                <a:tc>
                  <a:txBody>
                    <a:bodyPr lIns="54864" rIns="54864" tIns="18288" bIns="18288" wrap="square" anchor="ctr"/>
                    <a:lstStyle/>
                    <a:p>
                      <a:pPr algn="l"/>
                      <a:r>
                        <a:rPr sz="950" b="0">
                          <a:solidFill>
                            <a:srgbClr val="000000"/>
                          </a:solidFill>
                          <a:latin typeface="Calibri"/>
                        </a:rPr>
                        <a:t>0.02 GPa</a:t>
                      </a:r>
                    </a:p>
                  </a:txBody>
                  <a:tcPr/>
                </a:tc>
                <a:tc>
                  <a:txBody>
                    <a:bodyPr lIns="54864" rIns="54864" tIns="18288" bIns="18288" wrap="square" anchor="ctr"/>
                    <a:lstStyle/>
                    <a:p>
                      <a:pPr algn="l"/>
                      <a:r>
                        <a:rPr sz="950" b="0">
                          <a:solidFill>
                            <a:srgbClr val="000000"/>
                          </a:solidFill>
                          <a:latin typeface="Calibri"/>
                        </a:rPr>
                        <a:t>fractured</a:t>
                      </a:r>
                    </a:p>
                  </a:txBody>
                  <a:tcPr/>
                </a:tc>
              </a:tr>
            </a:tbl>
          </a:graphicData>
        </a:graphic>
      </p:graphicFrame>
      <p:sp>
        <p:nvSpPr>
          <p:cNvPr id="7" name="Rounded Rectangle 6"/>
          <p:cNvSpPr/>
          <p:nvPr/>
        </p:nvSpPr>
        <p:spPr>
          <a:xfrm>
            <a:off x="365760"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4736592"/>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3693–3822 N</a:t>
            </a:r>
          </a:p>
          <a:p>
            <a:pPr algn="ctr"/>
            <a:r>
              <a:rPr sz="950">
                <a:solidFill>
                  <a:srgbClr val="000000"/>
                </a:solidFill>
                <a:latin typeface="Calibri"/>
              </a:rPr>
              <a:t>100 % RUNS, PEAK RANGE</a:t>
            </a:r>
          </a:p>
        </p:txBody>
      </p:sp>
      <p:sp>
        <p:nvSpPr>
          <p:cNvPr id="10" name="Rounded Rectangle 9"/>
          <p:cNvSpPr/>
          <p:nvPr/>
        </p:nvSpPr>
        <p:spPr>
          <a:xfrm>
            <a:off x="9198864" y="4736592"/>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24144"/>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set is the one to quote</a:t>
            </a:r>
          </a:p>
        </p:txBody>
      </p:sp>
      <p:sp>
        <p:nvSpPr>
          <p:cNvPr id="12" name="TextBox 11"/>
          <p:cNvSpPr txBox="1"/>
          <p:nvPr/>
        </p:nvSpPr>
        <p:spPr>
          <a:xfrm>
            <a:off x="365760" y="6035040"/>
            <a:ext cx="11475720" cy="438912"/>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average width over 100s of rows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114800"/>
            <a:ext cx="5852160" cy="914400"/>
          </a:xfrm>
          <a:prstGeom prst="rect">
            <a:avLst/>
          </a:prstGeom>
          <a:noFill/>
        </p:spPr>
        <p:txBody>
          <a:bodyPr wrap="square" lIns="45720" rIns="45720" tIns="18288" bIns="18288" anchor="t">
            <a:spAutoFit/>
          </a:bodyPr>
          <a:lstStyle/>
          <a:p>
            <a:pPr algn="l"/>
            <a:r>
              <a:rPr sz="105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for p190: it says “average width over 100s of rows”. Necking is LOCAL — averaging under-corrects exactly where it matters. Track the MINIMUM width along the gauge, not the mean.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The PPD-UTM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19 is on p167; SF11–SF19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11–19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Green = built AND rig-validated; amber = blocked by optics, not by code.</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000000"/>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000000"/>
                </a:solidFill>
                <a:latin typeface="Calibri"/>
              </a:rPr>
              <a:t>Poisson / true Cauchy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Blocked by OPTICS, not code: the gauge is too narrow for a transverse pair, and the elastic width change is sub-pixel at ~20 px/mm.</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10 kN / 30 mm / 900 s backstop.</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SF18</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Live Px₀ overlay</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 Screenshot on the rig: 1745 px frozen, 1745 px live, Δ 0 — overlay and caption agree.</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SF19</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8" name="Rounded Rectangle 37"/>
          <p:cNvSpPr/>
          <p:nvPr/>
        </p:nvSpPr>
        <p:spPr>
          <a:xfrm>
            <a:off x="365760" y="5486400"/>
            <a:ext cx="438912" cy="31089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3F2F"/>
                </a:solidFill>
                <a:latin typeface="Calibri"/>
              </a:rPr>
              <a:t>18</a:t>
            </a:r>
          </a:p>
        </p:txBody>
      </p:sp>
      <p:sp>
        <p:nvSpPr>
          <p:cNvPr id="39" name="TextBox 38"/>
          <p:cNvSpPr txBox="1"/>
          <p:nvPr/>
        </p:nvSpPr>
        <p:spPr>
          <a:xfrm>
            <a:off x="87782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AND rig-validated</a:t>
            </a:r>
          </a:p>
        </p:txBody>
      </p:sp>
      <p:sp>
        <p:nvSpPr>
          <p:cNvPr id="40" name="Rounded Rectangle 39"/>
          <p:cNvSpPr/>
          <p:nvPr/>
        </p:nvSpPr>
        <p:spPr>
          <a:xfrm>
            <a:off x="2514600" y="5486400"/>
            <a:ext cx="438912" cy="31089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00000"/>
                </a:solidFill>
                <a:latin typeface="Calibri"/>
              </a:rPr>
              <a:t>1</a:t>
            </a:r>
          </a:p>
        </p:txBody>
      </p:sp>
      <p:sp>
        <p:nvSpPr>
          <p:cNvPr id="41" name="TextBox 40"/>
          <p:cNvSpPr txBox="1"/>
          <p:nvPr/>
        </p:nvSpPr>
        <p:spPr>
          <a:xfrm>
            <a:off x="302666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blocked by hardware</a:t>
            </a:r>
          </a:p>
        </p:txBody>
      </p:sp>
      <p:sp>
        <p:nvSpPr>
          <p:cNvPr id="42" name="Rectangle 41"/>
          <p:cNvSpPr/>
          <p:nvPr/>
        </p:nvSpPr>
        <p:spPr>
          <a:xfrm>
            <a:off x="365760" y="5907024"/>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EVERY BUILT FEATURE IS NOW RIG-VALIDATED. SF12 turned green on 2026-08-22 and SF18 on 2026-08-26, the last card that was waiting on a screenshot. SF14 is the only one left, and hardware blocks it — not code.</a:t>
            </a:r>
          </a:p>
        </p:txBody>
      </p:sp>
      <p:sp>
        <p:nvSpPr>
          <p:cNvPr id="43" name="TextBox 4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it was carded and retired the same day, because a card has to be something the OPERATOR invokes or that acts on the machine during a run.</a:t>
            </a:r>
          </a:p>
        </p:txBody>
      </p:sp>
      <p:sp>
        <p:nvSpPr>
          <p:cNvPr id="44" name="TextBox 4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5661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56616">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p257</a:t>
                      </a:r>
                    </a:p>
                  </a:txBody>
                  <a:tcPr/>
                </a:tc>
                <a:tc>
                  <a:txBody>
                    <a:bodyPr lIns="54864" rIns="54864" tIns="18288" bIns="18288" wrap="square" anchor="ctr"/>
                    <a:lstStyle/>
                    <a:p>
                      <a:pPr algn="l"/>
                      <a:r>
                        <a:rPr sz="869" b="0">
                          <a:solidFill>
                            <a:srgbClr val="000000"/>
                          </a:solidFill>
                          <a:latin typeface="Calibri"/>
                        </a:rPr>
                        <a:t>both halves round-trip, 14/14</a:t>
                      </a:r>
                    </a:p>
                  </a:txBody>
                  <a:tcPr/>
                </a:tc>
              </a:tr>
              <a:tr h="356616">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356616">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356616">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Poisson / true Cauchy</a:t>
                      </a:r>
                    </a:p>
                  </a:txBody>
                  <a:tcPr/>
                </a:tc>
                <a:tc>
                  <a:txBody>
                    <a:bodyPr lIns="54864" rIns="54864" tIns="18288" bIns="18288" wrap="square" anchor="ctr"/>
                    <a:lstStyle/>
                    <a:p>
                      <a:pPr algn="l"/>
                      <a:r>
                        <a:rPr sz="869" b="0">
                          <a:solidFill>
                            <a:srgbClr val="000000"/>
                          </a:solidFill>
                          <a:latin typeface="Calibri"/>
                        </a:rPr>
                        <a:t>p166 · p187</a:t>
                      </a:r>
                    </a:p>
                  </a:txBody>
                  <a:tcPr/>
                </a:tc>
                <a:tc>
                  <a:txBody>
                    <a:bodyPr lIns="54864" rIns="54864" tIns="18288" bIns="18288" wrap="square" anchor="ctr"/>
                    <a:lstStyle/>
                    <a:p>
                      <a:pPr algn="l"/>
                      <a:r>
                        <a:rPr sz="869" b="0">
                          <a:solidFill>
                            <a:srgbClr val="000000"/>
                          </a:solidFill>
                          <a:latin typeface="Calibri"/>
                        </a:rPr>
                        <a:t>why the optics block it</a:t>
                      </a:r>
                    </a:p>
                  </a:txBody>
                  <a:tcPr/>
                </a:tc>
              </a:tr>
              <a:tr h="356616">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p258</a:t>
                      </a:r>
                    </a:p>
                  </a:txBody>
                  <a:tcPr/>
                </a:tc>
                <a:tc>
                  <a:txBody>
                    <a:bodyPr lIns="54864" rIns="54864" tIns="18288" bIns="18288" wrap="square" anchor="ctr"/>
                    <a:lstStyle/>
                    <a:p>
                      <a:pPr algn="l"/>
                      <a:r>
                        <a:rPr sz="869" b="0">
                          <a:solidFill>
                            <a:srgbClr val="000000"/>
                          </a:solidFill>
                          <a:latin typeface="Calibri"/>
                        </a:rPr>
                        <a:t>the CLI listing, 34 runs</a:t>
                      </a:r>
                    </a:p>
                  </a:txBody>
                  <a:tcPr/>
                </a:tc>
              </a:tr>
              <a:tr h="356616">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356616">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LAST OF THIS BLOCK</a:t>
                      </a:r>
                    </a:p>
                  </a:txBody>
                  <a:tcPr/>
                </a:tc>
                <a:tc>
                  <a:txBody>
                    <a:bodyPr lIns="54864" rIns="54864" tIns="18288" bIns="18288" wrap="square" anchor="ctr"/>
                    <a:lstStyle/>
                    <a:p>
                      <a:pPr algn="l"/>
                      <a:r>
                        <a:rPr sz="869" b="0">
                          <a:solidFill>
                            <a:srgbClr val="000000"/>
                          </a:solidFill>
                          <a:latin typeface="Calibri"/>
                        </a:rPr>
                        <a:t>overlay 1745 px = caption 1745 px</a:t>
                      </a:r>
                    </a:p>
                  </a:txBody>
                  <a:tcPr/>
                </a:tc>
              </a:tr>
              <a:tr h="356616">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356616">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p259 · p260</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FOUR FEATURES WITH NO SCREENSHOT UNTIL NOW — AUTO-CALIBRATION, THE WIZARD, CAPTURE AND THE Px₀ OVERLAY — ARE PROVEN ON THE NEXT FIVE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(see the previous slide).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PPD-UTM</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LIVE Px₀ OVERLAY — FROZEN PAIR vs LIVE PAIR</a:t>
            </a:r>
          </a:p>
        </p:txBody>
      </p:sp>
      <p:pic>
        <p:nvPicPr>
          <p:cNvPr id="5" name="Picture 4" descr="CalibratePxo_live marker.png"/>
          <p:cNvPicPr>
            <a:picLocks noChangeAspect="1"/>
          </p:cNvPicPr>
          <p:nvPr/>
        </p:nvPicPr>
        <p:blipFill>
          <a:blip r:embed="rId2"/>
          <a:stretch>
            <a:fillRect/>
          </a:stretch>
        </p:blipFill>
        <p:spPr>
          <a:xfrm>
            <a:off x="1226585" y="1188720"/>
            <a:ext cx="9754068" cy="2788920"/>
          </a:xfrm>
          <a:prstGeom prst="rect">
            <a:avLst/>
          </a:prstGeom>
        </p:spPr>
      </p:pic>
      <p:sp>
        <p:nvSpPr>
          <p:cNvPr id="6" name="TextBox 5"/>
          <p:cNvSpPr txBox="1"/>
          <p:nvPr/>
        </p:nvSpPr>
        <p:spPr>
          <a:xfrm>
            <a:off x="411480" y="420624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drawn, and what it is for</a:t>
            </a:r>
          </a:p>
        </p:txBody>
      </p:sp>
      <p:sp>
        <p:nvSpPr>
          <p:cNvPr id="7" name="TextBox 6"/>
          <p:cNvSpPr txBox="1"/>
          <p:nvPr/>
        </p:nvSpPr>
        <p:spPr>
          <a:xfrm>
            <a:off x="411480" y="4553712"/>
            <a:ext cx="5623560" cy="1691640"/>
          </a:xfrm>
          <a:prstGeom prst="rect">
            <a:avLst/>
          </a:prstGeom>
          <a:noFill/>
        </p:spPr>
        <p:txBody>
          <a:bodyPr wrap="square" lIns="45720" rIns="45720" tIns="18288" bIns="18288" anchor="t">
            <a:spAutoFit/>
          </a:bodyPr>
          <a:lstStyle/>
          <a:p>
            <a:pPr algn="l"/>
            <a:r>
              <a:rPr sz="960" b="0" i="0">
                <a:solidFill>
                  <a:srgbClr val="000000"/>
                </a:solidFill>
                <a:latin typeface="Calibri"/>
              </a:rPr>
              <a:t>Two rings and a dashed line: the marker pair as it is RIGHT NOW, over the separation frozen at Calibrate Px₀. The caption carries both numbers and their difference.
It answers the question an operator actually has before starting a pull — “is the strain reference the one I think it is?” Before this, Px₀ was a number in a status bar with nothing tying it to what the camera could see.</a:t>
            </a:r>
          </a:p>
        </p:txBody>
      </p:sp>
      <p:sp>
        <p:nvSpPr>
          <p:cNvPr id="8" name="TextBox 7"/>
          <p:cNvSpPr txBox="1"/>
          <p:nvPr/>
        </p:nvSpPr>
        <p:spPr>
          <a:xfrm>
            <a:off x="6263640" y="42062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agreement is the evidence</a:t>
            </a:r>
          </a:p>
        </p:txBody>
      </p:sp>
      <p:sp>
        <p:nvSpPr>
          <p:cNvPr id="9" name="TextBox 8"/>
          <p:cNvSpPr txBox="1"/>
          <p:nvPr/>
        </p:nvSpPr>
        <p:spPr>
          <a:xfrm>
            <a:off x="6263640" y="4553712"/>
            <a:ext cx="5577840" cy="1691640"/>
          </a:xfrm>
          <a:prstGeom prst="rect">
            <a:avLst/>
          </a:prstGeom>
          <a:noFill/>
        </p:spPr>
        <p:txBody>
          <a:bodyPr wrap="square" lIns="45720" rIns="45720" tIns="18288" bIns="18288" anchor="t">
            <a:spAutoFit/>
          </a:bodyPr>
          <a:lstStyle/>
          <a:p>
            <a:pPr algn="l"/>
            <a:r>
              <a:rPr sz="960" b="0" i="0">
                <a:solidFill>
                  <a:srgbClr val="000000"/>
                </a:solidFill>
                <a:latin typeface="Calibri"/>
              </a:rPr>
              <a:t>The overlay reads Px₀ 1745 px → now 1745 px (−0). The status bar, computed separately, reads Px₀ 1745.3 px @ 0 N with Eng ε −0.000029.
Those come from DIFFERENT code paths — one draws the blob centroids, the other divides the live separation by the frozen one. Agreement to a fraction of a pixel is what says the strain readout is measuring the pair the overlay is drawing, and not some other pair.
Badge alongside: DIC OK, 2/2 markers, track 100 %, jitter 0.0 px, margin 82.</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SF18 WAS THE LAST CARD WAITING ON A SCREENSHOT. WITH THIS, EVERY BUILT SMART FEATURE IS RIG-VALIDATED — ONLY SF14 REMAINS, AND HARDWARE BLOCKS IT.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on the rig, unloaded at 0 N (ε −2.9×10⁻⁵ — the noise floor). White specimen mode, exposure 50 ms, threshold 150, 20 fps.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SF11 · AUTO-METADATA LINK — AND THAT BOTH HALVES STILL AGREE</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Saving writes each half of the link into the other's folder, so a capture and its load file can always find each other. The test is whether they still round-trip.</a:t>
            </a:r>
          </a:p>
        </p:txBody>
      </p:sp>
      <p:sp>
        <p:nvSpPr>
          <p:cNvPr id="6" name="TextBox 5"/>
          <p:cNvSpPr txBox="1"/>
          <p:nvPr/>
        </p:nvSpPr>
        <p:spPr>
          <a:xfrm>
            <a:off x="411480" y="151790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halves, on one run (S37)</a:t>
            </a:r>
          </a:p>
        </p:txBody>
      </p:sp>
      <p:graphicFrame>
        <p:nvGraphicFramePr>
          <p:cNvPr id="7" name="Table 6"/>
          <p:cNvGraphicFramePr>
            <a:graphicFrameLocks noGrp="1"/>
          </p:cNvGraphicFramePr>
          <p:nvPr/>
        </p:nvGraphicFramePr>
        <p:xfrm>
          <a:off x="411480" y="1865376"/>
          <a:ext cx="5623559" cy="2011680"/>
        </p:xfrm>
        <a:graphic>
          <a:graphicData uri="http://schemas.openxmlformats.org/drawingml/2006/table">
            <a:tbl>
              <a:tblPr firstRow="1" bandRow="1">
                <a:tableStyleId>{5C22544A-7EE6-4342-B048-85BDC9FD1C3A}</a:tableStyleId>
              </a:tblPr>
              <a:tblGrid>
                <a:gridCol w="1143000"/>
                <a:gridCol w="1234439"/>
                <a:gridCol w="3246120"/>
              </a:tblGrid>
              <a:tr h="402336">
                <a:tc>
                  <a:txBody>
                    <a:bodyPr lIns="54864" rIns="54864" tIns="18288" bIns="18288" wrap="square" anchor="ctr"/>
                    <a:lstStyle/>
                    <a:p>
                      <a:pPr algn="l"/>
                      <a:r>
                        <a:rPr sz="900" b="1">
                          <a:solidFill>
                            <a:srgbClr val="FFFFFF"/>
                          </a:solidFill>
                          <a:latin typeface="Calibri"/>
                        </a:rPr>
                        <a:t>Written into</a:t>
                      </a:r>
                    </a:p>
                  </a:txBody>
                  <a:tcPr>
                    <a:solidFill>
                      <a:srgbClr val="143D2F"/>
                    </a:solidFill>
                  </a:tcPr>
                </a:tc>
                <a:tc>
                  <a:txBody>
                    <a:bodyPr lIns="54864" rIns="54864" tIns="18288" bIns="18288" wrap="square" anchor="ctr"/>
                    <a:lstStyle/>
                    <a:p>
                      <a:pPr algn="l"/>
                      <a:r>
                        <a:rPr sz="900" b="1">
                          <a:solidFill>
                            <a:srgbClr val="FFFFFF"/>
                          </a:solidFill>
                          <a:latin typeface="Calibri"/>
                        </a:rPr>
                        <a:t>Field</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r>
              <a:tr h="402336">
                <a:tc>
                  <a:txBody>
                    <a:bodyPr lIns="54864" rIns="54864" tIns="18288" bIns="18288" wrap="square" anchor="ctr"/>
                    <a:lstStyle/>
                    <a:p>
                      <a:pPr algn="l"/>
                      <a:r>
                        <a:rPr sz="740" b="0">
                          <a:solidFill>
                            <a:srgbClr val="000000"/>
                          </a:solidFill>
                          <a:latin typeface="Calibri"/>
                        </a:rPr>
                        <a:t>the CSV header</a:t>
                      </a:r>
                    </a:p>
                  </a:txBody>
                  <a:tcPr/>
                </a:tc>
                <a:tc>
                  <a:txBody>
                    <a:bodyPr lIns="54864" rIns="54864" tIns="18288" bIns="18288" wrap="square" anchor="ctr"/>
                    <a:lstStyle/>
                    <a:p>
                      <a:pPr algn="l"/>
                      <a:r>
                        <a:rPr sz="740" b="0">
                          <a:solidFill>
                            <a:srgbClr val="000000"/>
                          </a:solidFill>
                          <a:latin typeface="Calibri"/>
                        </a:rPr>
                        <a:t># Capture:</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Failure/Specimen_S37_V5_TPU_Spray_Video15/20260826_123049</a:t>
                      </a:r>
                    </a:p>
                  </a:txBody>
                  <a:tcPr/>
                </a:tc>
              </a:tr>
              <a:tr h="402336">
                <a:tc>
                  <a:txBody>
                    <a:bodyPr lIns="54864" rIns="54864" tIns="18288" bIns="18288" wrap="square" anchor="ctr"/>
                    <a:lstStyle/>
                    <a:p>
                      <a:pPr algn="l"/>
                      <a:r>
                        <a:rPr sz="740" b="0">
                          <a:solidFill>
                            <a:srgbClr val="000000"/>
                          </a:solidFill>
                          <a:latin typeface="Calibri"/>
                        </a:rPr>
                        <a:t>the capture folder</a:t>
                      </a:r>
                    </a:p>
                  </a:txBody>
                  <a:tcPr/>
                </a:tc>
                <a:tc>
                  <a:txBody>
                    <a:bodyPr lIns="54864" rIns="54864" tIns="18288" bIns="18288" wrap="square" anchor="ctr"/>
                    <a:lstStyle/>
                    <a:p>
                      <a:pPr algn="l"/>
                      <a:r>
                        <a:rPr sz="740" b="0">
                          <a:solidFill>
                            <a:srgbClr val="000000"/>
                          </a:solidFill>
                          <a:latin typeface="Calibri"/>
                        </a:rPr>
                        <a:t>csv</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Failure/Specimen_S37_V5_TPU_Spray_Video15/UTM_Test_20260826_123524.csv</a:t>
                      </a:r>
                    </a:p>
                  </a:txBody>
                  <a:tcPr/>
                </a:tc>
              </a:tr>
              <a:tr h="402336">
                <a:tc>
                  <a:txBody>
                    <a:bodyPr lIns="54864" rIns="54864" tIns="18288" bIns="18288" wrap="square" anchor="ctr"/>
                    <a:lstStyle/>
                    <a:p>
                      <a:pPr algn="l"/>
                      <a:r>
                        <a:rPr sz="740" b="0">
                          <a:solidFill>
                            <a:srgbClr val="000000"/>
                          </a:solidFill>
                          <a:latin typeface="Calibri"/>
                        </a:rPr>
                        <a:t>  (run.json)</a:t>
                      </a:r>
                    </a:p>
                  </a:txBody>
                  <a:tcPr/>
                </a:tc>
                <a:tc>
                  <a:txBody>
                    <a:bodyPr lIns="54864" rIns="54864" tIns="18288" bIns="18288" wrap="square" anchor="ctr"/>
                    <a:lstStyle/>
                    <a:p>
                      <a:pPr algn="l"/>
                      <a:r>
                        <a:rPr sz="740" b="0">
                          <a:solidFill>
                            <a:srgbClr val="000000"/>
                          </a:solidFill>
                          <a:latin typeface="Calibri"/>
                        </a:rPr>
                        <a:t>csv_name</a:t>
                      </a:r>
                    </a:p>
                  </a:txBody>
                  <a:tcPr/>
                </a:tc>
                <a:tc>
                  <a:txBody>
                    <a:bodyPr lIns="54864" rIns="54864" tIns="18288" bIns="18288" wrap="square" anchor="ctr"/>
                    <a:lstStyle/>
                    <a:p>
                      <a:pPr algn="l"/>
                      <a:r>
                        <a:rPr sz="740" b="0">
                          <a:solidFill>
                            <a:srgbClr val="000000"/>
                          </a:solidFill>
                          <a:latin typeface="Calibri"/>
                        </a:rPr>
                        <a:t>UTM_Test_20260826_123524.csv</a:t>
                      </a:r>
                    </a:p>
                  </a:txBody>
                  <a:tcPr/>
                </a:tc>
              </a:tr>
              <a:tr h="402336">
                <a:tc>
                  <a:txBody>
                    <a:bodyPr lIns="54864" rIns="54864" tIns="18288" bIns="18288" wrap="square" anchor="ctr"/>
                    <a:lstStyle/>
                    <a:p>
                      <a:pPr algn="l"/>
                      <a:r>
                        <a:rPr sz="740" b="0">
                          <a:solidFill>
                            <a:srgbClr val="000000"/>
                          </a:solidFill>
                          <a:latin typeface="Calibri"/>
                        </a:rPr>
                        <a:t/>
                      </a:r>
                    </a:p>
                  </a:txBody>
                  <a:tcPr/>
                </a:tc>
                <a:tc>
                  <a:txBody>
                    <a:bodyPr lIns="54864" rIns="54864" tIns="18288" bIns="18288" wrap="square" anchor="ctr"/>
                    <a:lstStyle/>
                    <a:p>
                      <a:pPr algn="l"/>
                      <a:r>
                        <a:rPr sz="740" b="0">
                          <a:solidFill>
                            <a:srgbClr val="000000"/>
                          </a:solidFill>
                          <a:latin typeface="Calibri"/>
                        </a:rPr>
                        <a:t>captured_from / to</a:t>
                      </a:r>
                    </a:p>
                  </a:txBody>
                  <a:tcPr/>
                </a:tc>
                <a:tc>
                  <a:txBody>
                    <a:bodyPr lIns="54864" rIns="54864" tIns="18288" bIns="18288" wrap="square" anchor="ctr"/>
                    <a:lstStyle/>
                    <a:p>
                      <a:pPr algn="l"/>
                      <a:r>
                        <a:rPr sz="740" b="0">
                          <a:solidFill>
                            <a:srgbClr val="000000"/>
                          </a:solidFill>
                          <a:latin typeface="Calibri"/>
                        </a:rPr>
                        <a:t>12:30:49 → 12:35:16</a:t>
                      </a:r>
                    </a:p>
                  </a:txBody>
                  <a:tcPr/>
                </a:tc>
              </a:tr>
            </a:tbl>
          </a:graphicData>
        </a:graphic>
      </p:graphicFrame>
      <p:sp>
        <p:nvSpPr>
          <p:cNvPr id="8" name="TextBox 7"/>
          <p:cNvSpPr txBox="1"/>
          <p:nvPr/>
        </p:nvSpPr>
        <p:spPr>
          <a:xfrm>
            <a:off x="411480" y="40416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Do they still point at each other?</a:t>
            </a:r>
          </a:p>
        </p:txBody>
      </p:sp>
      <p:graphicFrame>
        <p:nvGraphicFramePr>
          <p:cNvPr id="9" name="Table 8"/>
          <p:cNvGraphicFramePr>
            <a:graphicFrameLocks noGrp="1"/>
          </p:cNvGraphicFramePr>
          <p:nvPr/>
        </p:nvGraphicFramePr>
        <p:xfrm>
          <a:off x="411480" y="4389120"/>
          <a:ext cx="5623559" cy="1005840"/>
        </p:xfrm>
        <a:graphic>
          <a:graphicData uri="http://schemas.openxmlformats.org/drawingml/2006/table">
            <a:tbl>
              <a:tblPr firstRow="1" bandRow="1">
                <a:tableStyleId>{5C22544A-7EE6-4342-B048-85BDC9FD1C3A}</a:tableStyleId>
              </a:tblPr>
              <a:tblGrid>
                <a:gridCol w="3566159"/>
                <a:gridCol w="2057400"/>
              </a:tblGrid>
              <a:tr h="251460">
                <a:tc>
                  <a:txBody>
                    <a:bodyPr lIns="54864" rIns="54864" tIns="18288" bIns="18288" wrap="square" anchor="ctr"/>
                    <a:lstStyle/>
                    <a:p>
                      <a:pPr algn="l"/>
                      <a:r>
                        <a:rPr sz="900" b="1">
                          <a:solidFill>
                            <a:srgbClr val="FFFFFF"/>
                          </a:solidFill>
                          <a:latin typeface="Calibri"/>
                        </a:rPr>
                        <a:t>Check</a:t>
                      </a:r>
                    </a:p>
                  </a:txBody>
                  <a:tcPr>
                    <a:solidFill>
                      <a:srgbClr val="143D2F"/>
                    </a:solidFill>
                  </a:tcPr>
                </a:tc>
                <a:tc>
                  <a:txBody>
                    <a:bodyPr lIns="54864" rIns="54864" tIns="18288" bIns="18288" wrap="square" anchor="ctr"/>
                    <a:lstStyle/>
                    <a:p>
                      <a:pPr algn="l"/>
                      <a:r>
                        <a:rPr sz="900" b="1">
                          <a:solidFill>
                            <a:srgbClr val="FFFFFF"/>
                          </a:solidFill>
                          <a:latin typeface="Calibri"/>
                        </a:rPr>
                        <a:t>Result</a:t>
                      </a:r>
                    </a:p>
                  </a:txBody>
                  <a:tcPr>
                    <a:solidFill>
                      <a:srgbClr val="143D2F"/>
                    </a:solidFill>
                  </a:tcPr>
                </a:tc>
              </a:tr>
              <a:tr h="251460">
                <a:tc>
                  <a:txBody>
                    <a:bodyPr lIns="54864" rIns="54864" tIns="18288" bIns="18288" wrap="square" anchor="ctr"/>
                    <a:lstStyle/>
                    <a:p>
                      <a:pPr algn="l"/>
                      <a:r>
                        <a:rPr sz="840" b="0">
                          <a:solidFill>
                            <a:srgbClr val="000000"/>
                          </a:solidFill>
                          <a:latin typeface="Calibri"/>
                        </a:rPr>
                        <a:t>run.json → its CSV</a:t>
                      </a:r>
                    </a:p>
                  </a:txBody>
                  <a:tcPr/>
                </a:tc>
                <a:tc>
                  <a:txBody>
                    <a:bodyPr lIns="54864" rIns="54864" tIns="18288" bIns="18288" wrap="square" anchor="ctr"/>
                    <a:lstStyle/>
                    <a:p>
                      <a:pPr algn="l"/>
                      <a:r>
                        <a:rPr sz="840" b="0">
                          <a:solidFill>
                            <a:srgbClr val="000000"/>
                          </a:solidFill>
                          <a:latin typeface="Calibri"/>
                        </a:rPr>
                        <a:t>14 / 14 resolve</a:t>
                      </a:r>
                    </a:p>
                  </a:txBody>
                  <a:tcPr/>
                </a:tc>
              </a:tr>
              <a:tr h="251460">
                <a:tc>
                  <a:txBody>
                    <a:bodyPr lIns="54864" rIns="54864" tIns="18288" bIns="18288" wrap="square" anchor="ctr"/>
                    <a:lstStyle/>
                    <a:p>
                      <a:pPr algn="l"/>
                      <a:r>
                        <a:rPr sz="840" b="0">
                          <a:solidFill>
                            <a:srgbClr val="000000"/>
                          </a:solidFill>
                          <a:latin typeface="Calibri"/>
                        </a:rPr>
                        <a:t>CSV header → its capture folder</a:t>
                      </a:r>
                    </a:p>
                  </a:txBody>
                  <a:tcPr/>
                </a:tc>
                <a:tc>
                  <a:txBody>
                    <a:bodyPr lIns="54864" rIns="54864" tIns="18288" bIns="18288" wrap="square" anchor="ctr"/>
                    <a:lstStyle/>
                    <a:p>
                      <a:pPr algn="l"/>
                      <a:r>
                        <a:rPr sz="840" b="0">
                          <a:solidFill>
                            <a:srgbClr val="000000"/>
                          </a:solidFill>
                          <a:latin typeface="Calibri"/>
                        </a:rPr>
                        <a:t>19 / 20 resolve</a:t>
                      </a:r>
                    </a:p>
                  </a:txBody>
                  <a:tcPr/>
                </a:tc>
              </a:tr>
              <a:tr h="251460">
                <a:tc>
                  <a:txBody>
                    <a:bodyPr lIns="54864" rIns="54864" tIns="18288" bIns="18288" wrap="square" anchor="ctr"/>
                    <a:lstStyle/>
                    <a:p>
                      <a:pPr algn="l"/>
                      <a:r>
                        <a:rPr sz="840" b="0">
                          <a:solidFill>
                            <a:srgbClr val="000000"/>
                          </a:solidFill>
                          <a:latin typeface="Calibri"/>
                        </a:rPr>
                        <a:t>full round-trip, CSV → folder → back to the SAME CSV</a:t>
                      </a:r>
                    </a:p>
                  </a:txBody>
                  <a:tcPr/>
                </a:tc>
                <a:tc>
                  <a:txBody>
                    <a:bodyPr lIns="54864" rIns="54864" tIns="18288" bIns="18288" wrap="square" anchor="ctr"/>
                    <a:lstStyle/>
                    <a:p>
                      <a:pPr algn="l"/>
                      <a:r>
                        <a:rPr sz="840" b="0">
                          <a:solidFill>
                            <a:srgbClr val="000000"/>
                          </a:solidFill>
                          <a:latin typeface="Calibri"/>
                        </a:rPr>
                        <a:t>14 / 14</a:t>
                      </a:r>
                    </a:p>
                  </a:txBody>
                  <a:tcPr/>
                </a:tc>
              </a:tr>
            </a:tbl>
          </a:graphicData>
        </a:graphic>
      </p:graphicFrame>
      <p:sp>
        <p:nvSpPr>
          <p:cNvPr id="10" name="TextBox 9"/>
          <p:cNvSpPr txBox="1"/>
          <p:nvPr/>
        </p:nvSpPr>
        <p:spPr>
          <a:xfrm>
            <a:off x="6263640" y="151790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Matched by OVERLAP, never by recency</a:t>
            </a:r>
          </a:p>
        </p:txBody>
      </p:sp>
      <p:graphicFrame>
        <p:nvGraphicFramePr>
          <p:cNvPr id="11" name="Table 10"/>
          <p:cNvGraphicFramePr>
            <a:graphicFrameLocks noGrp="1"/>
          </p:cNvGraphicFramePr>
          <p:nvPr/>
        </p:nvGraphicFramePr>
        <p:xfrm>
          <a:off x="6263640" y="1865376"/>
          <a:ext cx="5577840" cy="1554480"/>
        </p:xfrm>
        <a:graphic>
          <a:graphicData uri="http://schemas.openxmlformats.org/drawingml/2006/table">
            <a:tbl>
              <a:tblPr firstRow="1" bandRow="1">
                <a:tableStyleId>{5C22544A-7EE6-4342-B048-85BDC9FD1C3A}</a:tableStyleId>
              </a:tblPr>
              <a:tblGrid>
                <a:gridCol w="502920"/>
                <a:gridCol w="1554480"/>
                <a:gridCol w="1554480"/>
                <a:gridCol w="1051560"/>
                <a:gridCol w="914400"/>
              </a:tblGrid>
              <a:tr h="310896">
                <a:tc>
                  <a:txBody>
                    <a:bodyPr lIns="54864" rIns="54864" tIns="18288" bIns="18288" wrap="square" anchor="ctr"/>
                    <a:lstStyle/>
                    <a:p>
                      <a:pPr algn="l"/>
                      <a:r>
                        <a:rPr sz="900" b="1">
                          <a:solidFill>
                            <a:srgbClr val="FFFFFF"/>
                          </a:solidFill>
                          <a:latin typeface="Calibri"/>
                        </a:rPr>
                        <a:t>Run</a:t>
                      </a:r>
                    </a:p>
                  </a:txBody>
                  <a:tcPr>
                    <a:solidFill>
                      <a:srgbClr val="143D2F"/>
                    </a:solidFill>
                  </a:tcPr>
                </a:tc>
                <a:tc>
                  <a:txBody>
                    <a:bodyPr lIns="54864" rIns="54864" tIns="18288" bIns="18288" wrap="square" anchor="ctr"/>
                    <a:lstStyle/>
                    <a:p>
                      <a:pPr algn="l"/>
                      <a:r>
                        <a:rPr sz="900" b="1">
                          <a:solidFill>
                            <a:srgbClr val="FFFFFF"/>
                          </a:solidFill>
                          <a:latin typeface="Calibri"/>
                        </a:rPr>
                        <a:t>Test window</a:t>
                      </a:r>
                    </a:p>
                  </a:txBody>
                  <a:tcPr>
                    <a:solidFill>
                      <a:srgbClr val="143D2F"/>
                    </a:solidFill>
                  </a:tcPr>
                </a:tc>
                <a:tc>
                  <a:txBody>
                    <a:bodyPr lIns="54864" rIns="54864" tIns="18288" bIns="18288" wrap="square" anchor="ctr"/>
                    <a:lstStyle/>
                    <a:p>
                      <a:pPr algn="l"/>
                      <a:r>
                        <a:rPr sz="900" b="1">
                          <a:solidFill>
                            <a:srgbClr val="FFFFFF"/>
                          </a:solidFill>
                          <a:latin typeface="Calibri"/>
                        </a:rPr>
                        <a:t>Capture window</a:t>
                      </a:r>
                    </a:p>
                  </a:txBody>
                  <a:tcPr>
                    <a:solidFill>
                      <a:srgbClr val="143D2F"/>
                    </a:solidFill>
                  </a:tcPr>
                </a:tc>
                <a:tc>
                  <a:txBody>
                    <a:bodyPr lIns="54864" rIns="54864" tIns="18288" bIns="18288" wrap="square" anchor="ctr"/>
                    <a:lstStyle/>
                    <a:p>
                      <a:pPr algn="l"/>
                      <a:r>
                        <a:rPr sz="900" b="1">
                          <a:solidFill>
                            <a:srgbClr val="FFFFFF"/>
                          </a:solidFill>
                          <a:latin typeface="Calibri"/>
                        </a:rPr>
                        <a:t>Folder</a:t>
                      </a:r>
                    </a:p>
                  </a:txBody>
                  <a:tcPr>
                    <a:solidFill>
                      <a:srgbClr val="143D2F"/>
                    </a:solidFill>
                  </a:tcPr>
                </a:tc>
                <a:tc>
                  <a:txBody>
                    <a:bodyPr lIns="54864" rIns="54864" tIns="18288" bIns="18288" wrap="square" anchor="ctr"/>
                    <a:lstStyle/>
                    <a:p>
                      <a:pPr algn="l"/>
                      <a:r>
                        <a:rPr sz="900" b="1">
                          <a:solidFill>
                            <a:srgbClr val="FFFFFF"/>
                          </a:solidFill>
                          <a:latin typeface="Calibri"/>
                        </a:rPr>
                        <a:t/>
                      </a:r>
                    </a:p>
                  </a:txBody>
                  <a:tcPr>
                    <a:solidFill>
                      <a:srgbClr val="143D2F"/>
                    </a:solidFill>
                  </a:tcPr>
                </a:tc>
              </a:tr>
              <a:tr h="310896">
                <a:tc>
                  <a:txBody>
                    <a:bodyPr lIns="54864" rIns="54864" tIns="18288" bIns="18288" wrap="square" anchor="ctr"/>
                    <a:lstStyle/>
                    <a:p>
                      <a:pPr algn="l"/>
                      <a:r>
                        <a:rPr sz="800" b="0">
                          <a:solidFill>
                            <a:srgbClr val="000000"/>
                          </a:solidFill>
                          <a:latin typeface="Calibri"/>
                        </a:rPr>
                        <a:t>S30</a:t>
                      </a:r>
                    </a:p>
                  </a:txBody>
                  <a:tcPr/>
                </a:tc>
                <a:tc>
                  <a:txBody>
                    <a:bodyPr lIns="54864" rIns="54864" tIns="18288" bIns="18288" wrap="square" anchor="ctr"/>
                    <a:lstStyle/>
                    <a:p>
                      <a:pPr algn="l"/>
                      <a:r>
                        <a:rPr sz="800" b="0">
                          <a:solidFill>
                            <a:srgbClr val="000000"/>
                          </a:solidFill>
                          <a:latin typeface="Calibri"/>
                        </a:rPr>
                        <a:t>18:02:30 – 18:05:51</a:t>
                      </a:r>
                    </a:p>
                  </a:txBody>
                  <a:tcPr/>
                </a:tc>
                <a:tc>
                  <a:txBody>
                    <a:bodyPr lIns="54864" rIns="54864" tIns="18288" bIns="18288" wrap="square" anchor="ctr"/>
                    <a:lstStyle/>
                    <a:p>
                      <a:pPr algn="l"/>
                      <a:r>
                        <a:rPr sz="800" b="0">
                          <a:solidFill>
                            <a:srgbClr val="000000"/>
                          </a:solidFill>
                          <a:latin typeface="Calibri"/>
                        </a:rPr>
                        <a:t>18:02:52 – 18:04:48</a:t>
                      </a:r>
                    </a:p>
                  </a:txBody>
                  <a:tcPr/>
                </a:tc>
                <a:tc>
                  <a:txBody>
                    <a:bodyPr lIns="54864" rIns="54864" tIns="18288" bIns="18288" wrap="square" anchor="ctr"/>
                    <a:lstStyle/>
                    <a:p>
                      <a:pPr algn="l"/>
                      <a:r>
                        <a:rPr sz="800" b="0">
                          <a:solidFill>
                            <a:srgbClr val="000000"/>
                          </a:solidFill>
                          <a:latin typeface="Calibri"/>
                        </a:rPr>
                        <a:t>180252</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S31</a:t>
                      </a:r>
                    </a:p>
                  </a:txBody>
                  <a:tcPr/>
                </a:tc>
                <a:tc>
                  <a:txBody>
                    <a:bodyPr lIns="54864" rIns="54864" tIns="18288" bIns="18288" wrap="square" anchor="ctr"/>
                    <a:lstStyle/>
                    <a:p>
                      <a:pPr algn="l"/>
                      <a:r>
                        <a:rPr sz="800" b="0">
                          <a:solidFill>
                            <a:srgbClr val="000000"/>
                          </a:solidFill>
                          <a:latin typeface="Calibri"/>
                        </a:rPr>
                        <a:t>18:18:04 – 18:20:05</a:t>
                      </a:r>
                    </a:p>
                  </a:txBody>
                  <a:tcPr/>
                </a:tc>
                <a:tc>
                  <a:txBody>
                    <a:bodyPr lIns="54864" rIns="54864" tIns="18288" bIns="18288" wrap="square" anchor="ctr"/>
                    <a:lstStyle/>
                    <a:p>
                      <a:pPr algn="l"/>
                      <a:r>
                        <a:rPr sz="800" b="0">
                          <a:solidFill>
                            <a:srgbClr val="000000"/>
                          </a:solidFill>
                          <a:latin typeface="Calibri"/>
                        </a:rPr>
                        <a:t>18:18:08 – 18:19:56</a:t>
                      </a:r>
                    </a:p>
                  </a:txBody>
                  <a:tcPr/>
                </a:tc>
                <a:tc>
                  <a:txBody>
                    <a:bodyPr lIns="54864" rIns="54864" tIns="18288" bIns="18288" wrap="square" anchor="ctr"/>
                    <a:lstStyle/>
                    <a:p>
                      <a:pPr algn="l"/>
                      <a:r>
                        <a:rPr sz="800" b="0">
                          <a:solidFill>
                            <a:srgbClr val="000000"/>
                          </a:solidFill>
                          <a:latin typeface="Calibri"/>
                        </a:rPr>
                        <a:t>181808</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S33</a:t>
                      </a:r>
                    </a:p>
                  </a:txBody>
                  <a:tcPr/>
                </a:tc>
                <a:tc>
                  <a:txBody>
                    <a:bodyPr lIns="54864" rIns="54864" tIns="18288" bIns="18288" wrap="square" anchor="ctr"/>
                    <a:lstStyle/>
                    <a:p>
                      <a:pPr algn="l"/>
                      <a:r>
                        <a:rPr sz="800" b="0">
                          <a:solidFill>
                            <a:srgbClr val="000000"/>
                          </a:solidFill>
                          <a:latin typeface="Calibri"/>
                        </a:rPr>
                        <a:t>11:17:56 – 11:19:35</a:t>
                      </a:r>
                    </a:p>
                  </a:txBody>
                  <a:tcPr/>
                </a:tc>
                <a:tc>
                  <a:txBody>
                    <a:bodyPr lIns="54864" rIns="54864" tIns="18288" bIns="18288" wrap="square" anchor="ctr"/>
                    <a:lstStyle/>
                    <a:p>
                      <a:pPr algn="l"/>
                      <a:r>
                        <a:rPr sz="800" b="0">
                          <a:solidFill>
                            <a:srgbClr val="000000"/>
                          </a:solidFill>
                          <a:latin typeface="Calibri"/>
                        </a:rPr>
                        <a:t>11:18:20 – 11:19:28</a:t>
                      </a:r>
                    </a:p>
                  </a:txBody>
                  <a:tcPr/>
                </a:tc>
                <a:tc>
                  <a:txBody>
                    <a:bodyPr lIns="54864" rIns="54864" tIns="18288" bIns="18288" wrap="square" anchor="ctr"/>
                    <a:lstStyle/>
                    <a:p>
                      <a:pPr algn="l"/>
                      <a:r>
                        <a:rPr sz="800" b="0">
                          <a:solidFill>
                            <a:srgbClr val="000000"/>
                          </a:solidFill>
                          <a:latin typeface="Calibri"/>
                        </a:rPr>
                        <a:t>111820</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S34</a:t>
                      </a:r>
                    </a:p>
                  </a:txBody>
                  <a:tcPr/>
                </a:tc>
                <a:tc>
                  <a:txBody>
                    <a:bodyPr lIns="54864" rIns="54864" tIns="18288" bIns="18288" wrap="square" anchor="ctr"/>
                    <a:lstStyle/>
                    <a:p>
                      <a:pPr algn="l"/>
                      <a:r>
                        <a:rPr sz="800" b="0">
                          <a:solidFill>
                            <a:srgbClr val="000000"/>
                          </a:solidFill>
                          <a:latin typeface="Calibri"/>
                        </a:rPr>
                        <a:t>11:32:07 – 11:33:51</a:t>
                      </a:r>
                    </a:p>
                  </a:txBody>
                  <a:tcPr/>
                </a:tc>
                <a:tc>
                  <a:txBody>
                    <a:bodyPr lIns="54864" rIns="54864" tIns="18288" bIns="18288" wrap="square" anchor="ctr"/>
                    <a:lstStyle/>
                    <a:p>
                      <a:pPr algn="l"/>
                      <a:r>
                        <a:rPr sz="800" b="0">
                          <a:solidFill>
                            <a:srgbClr val="000000"/>
                          </a:solidFill>
                          <a:latin typeface="Calibri"/>
                        </a:rPr>
                        <a:t>11:32:21 – 11:33:38</a:t>
                      </a:r>
                    </a:p>
                  </a:txBody>
                  <a:tcPr/>
                </a:tc>
                <a:tc>
                  <a:txBody>
                    <a:bodyPr lIns="54864" rIns="54864" tIns="18288" bIns="18288" wrap="square" anchor="ctr"/>
                    <a:lstStyle/>
                    <a:p>
                      <a:pPr algn="l"/>
                      <a:r>
                        <a:rPr sz="800" b="0">
                          <a:solidFill>
                            <a:srgbClr val="000000"/>
                          </a:solidFill>
                          <a:latin typeface="Calibri"/>
                        </a:rPr>
                        <a:t>113221</a:t>
                      </a:r>
                    </a:p>
                  </a:txBody>
                  <a:tcPr/>
                </a:tc>
                <a:tc>
                  <a:txBody>
                    <a:bodyPr lIns="54864" rIns="54864" tIns="18288" bIns="18288" wrap="square" anchor="ctr"/>
                    <a:lstStyle/>
                    <a:p>
                      <a:pPr algn="l"/>
                      <a:r>
                        <a:rPr sz="800" b="0">
                          <a:solidFill>
                            <a:srgbClr val="000000"/>
                          </a:solidFill>
                          <a:latin typeface="Calibri"/>
                        </a:rPr>
                        <a:t>inside</a:t>
                      </a:r>
                    </a:p>
                  </a:txBody>
                  <a:tcPr/>
                </a:tc>
              </a:tr>
            </a:tbl>
          </a:graphicData>
        </a:graphic>
      </p:graphicFrame>
      <p:sp>
        <p:nvSpPr>
          <p:cNvPr id="12" name="TextBox 11"/>
          <p:cNvSpPr txBox="1"/>
          <p:nvPr/>
        </p:nvSpPr>
        <p:spPr>
          <a:xfrm>
            <a:off x="6263640" y="4041648"/>
            <a:ext cx="5577840" cy="1371600"/>
          </a:xfrm>
          <a:prstGeom prst="rect">
            <a:avLst/>
          </a:prstGeom>
          <a:noFill/>
        </p:spPr>
        <p:txBody>
          <a:bodyPr wrap="square" lIns="45720" rIns="45720" tIns="18288" bIns="18288" anchor="t">
            <a:spAutoFit/>
          </a:bodyPr>
          <a:lstStyle/>
          <a:p>
            <a:pPr algn="l"/>
            <a:r>
              <a:rPr sz="930" b="0" i="0">
                <a:solidFill>
                  <a:srgbClr val="000000"/>
                </a:solidFill>
                <a:latin typeface="Calibri"/>
              </a:rPr>
              <a:t>Two same-session pairs. Each capture window sits INSIDE its own test window — the link is made from the largest overlap between the two intervals, not from whichever capture happened last.
These four were saved promptly, so recency would have agreed. It stops agreeing the moment two runs are saved after the fact, or a specimen folder holds more than one capture — S12's holds two. A mislabelled link is worse than none, because it looks authoritative.</a:t>
            </a:r>
          </a:p>
        </p:txBody>
      </p:sp>
      <p:sp>
        <p:nvSpPr>
          <p:cNvPr id="13" name="Rectangle 12"/>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LINK WAS ALWAYS CORRECT; THE STORED POINTER WAS NOT. BOTH HALVES RECORDED ABSOLUTE PATHS, WHICH DIED WHEN A CAPTURE FOLDER WAS FILED INTO ITS SPECIMEN FOLDER — 0/14 AND 1/20 RESOLVED. NOW STORED REPO-RELATIVE, AND EVERY EXISTING FILE REPAIRED FROM THE csv_name THAT DID SURVIVE.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capture is honestly unrecoverable: S29's folder was not kept, so its header is left pointing where it pointed rather than at an invented path.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SF15 · TEST REGISTRY — ONE QUERYABLE INDEX OF EVERY RUN</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34 runs, each with its computed properties and its force anchor, addressable by specimen, material or test label instead of by a path typed into a script.</a:t>
            </a:r>
          </a:p>
        </p:txBody>
      </p:sp>
      <p:sp>
        <p:nvSpPr>
          <p:cNvPr id="6" name="TextBox 5"/>
          <p:cNvSpPr txBox="1"/>
          <p:nvPr/>
        </p:nvSpPr>
        <p:spPr>
          <a:xfrm>
            <a:off x="411480" y="1517904"/>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CLI, run for this slide</a:t>
            </a:r>
          </a:p>
        </p:txBody>
      </p:sp>
      <p:sp>
        <p:nvSpPr>
          <p:cNvPr id="7" name="TextBox 6"/>
          <p:cNvSpPr txBox="1"/>
          <p:nvPr/>
        </p:nvSpPr>
        <p:spPr>
          <a:xfrm>
            <a:off x="411480" y="1865376"/>
            <a:ext cx="6675120" cy="292608"/>
          </a:xfrm>
          <a:prstGeom prst="rect">
            <a:avLst/>
          </a:prstGeom>
          <a:noFill/>
        </p:spPr>
        <p:txBody>
          <a:bodyPr wrap="square" lIns="45720" rIns="45720" tIns="18288" bIns="18288" anchor="t">
            <a:spAutoFit/>
          </a:bodyPr>
          <a:lstStyle/>
          <a:p>
            <a:pPr algn="l"/>
            <a:r>
              <a:rPr sz="950" b="0" i="0">
                <a:solidFill>
                  <a:srgbClr val="000000"/>
                </a:solidFill>
                <a:latin typeface="Consolas"/>
              </a:rPr>
              <a:t>python Software/UTM_PyQt6/utm_registry.py list --contains TPU</a:t>
            </a:r>
          </a:p>
        </p:txBody>
      </p:sp>
      <p:sp>
        <p:nvSpPr>
          <p:cNvPr id="8" name="TextBox 7"/>
          <p:cNvSpPr txBox="1"/>
          <p:nvPr/>
        </p:nvSpPr>
        <p:spPr>
          <a:xfrm>
            <a:off x="411480" y="2231136"/>
            <a:ext cx="6675120" cy="1417320"/>
          </a:xfrm>
          <a:prstGeom prst="rect">
            <a:avLst/>
          </a:prstGeom>
          <a:noFill/>
        </p:spPr>
        <p:txBody>
          <a:bodyPr wrap="square" lIns="45720" rIns="45720" tIns="18288" bIns="18288" anchor="t">
            <a:spAutoFit/>
          </a:bodyPr>
          <a:lstStyle/>
          <a:p>
            <a:pPr algn="l"/>
            <a:r>
              <a:rPr sz="800" b="0" i="0">
                <a:solidFill>
                  <a:srgbClr val="000000"/>
                </a:solidFill>
                <a:latin typeface="Consolas"/>
              </a:rPr>
              <a:t>  test   spec  infill      UTS       sy       E       ef   tough  anchor                 date
---------------------------------------------------------------------------------------------
          S35   100.0     2.25     0.98   0.025   0.1262     178      20  2026-08-24 15:15:56
          S36   100.0     2.21     1.12   0.025   0.1168     165      20  2026-08-24 18:42:25
          S37   100.0      2.6     0.96   0.024   0.1849     601      19  2026-08-26 12:30:26
3 test(s).</a:t>
            </a:r>
          </a:p>
        </p:txBody>
      </p:sp>
      <p:sp>
        <p:nvSpPr>
          <p:cNvPr id="9" name="TextBox 8"/>
          <p:cNvSpPr txBox="1"/>
          <p:nvPr/>
        </p:nvSpPr>
        <p:spPr>
          <a:xfrm>
            <a:off x="411480" y="3703320"/>
            <a:ext cx="6675120" cy="731520"/>
          </a:xfrm>
          <a:prstGeom prst="rect">
            <a:avLst/>
          </a:prstGeom>
          <a:noFill/>
        </p:spPr>
        <p:txBody>
          <a:bodyPr wrap="square" lIns="45720" rIns="45720" tIns="18288" bIns="18288" anchor="t">
            <a:spAutoFit/>
          </a:bodyPr>
          <a:lstStyle/>
          <a:p>
            <a:pPr algn="l"/>
            <a:r>
              <a:rPr sz="900" b="0" i="1">
                <a:solidFill>
                  <a:srgbClr val="707070"/>
                </a:solidFill>
                <a:latin typeface="Calibri"/>
              </a:rPr>
              <a:t>Captured by RUNNING the command at build time, not re-rendered from the JSON — so this slide cannot show a table the tool would not.</a:t>
            </a:r>
          </a:p>
        </p:txBody>
      </p:sp>
      <p:sp>
        <p:nvSpPr>
          <p:cNvPr id="10" name="TextBox 9"/>
          <p:cNvSpPr txBox="1"/>
          <p:nvPr/>
        </p:nvSpPr>
        <p:spPr>
          <a:xfrm>
            <a:off x="7315200" y="15179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holds</a:t>
            </a:r>
          </a:p>
        </p:txBody>
      </p:sp>
      <p:graphicFrame>
        <p:nvGraphicFramePr>
          <p:cNvPr id="11" name="Table 10"/>
          <p:cNvGraphicFramePr>
            <a:graphicFrameLocks noGrp="1"/>
          </p:cNvGraphicFramePr>
          <p:nvPr/>
        </p:nvGraphicFramePr>
        <p:xfrm>
          <a:off x="7315200" y="1865376"/>
          <a:ext cx="4526280" cy="1188720"/>
        </p:xfrm>
        <a:graphic>
          <a:graphicData uri="http://schemas.openxmlformats.org/drawingml/2006/table">
            <a:tbl>
              <a:tblPr firstRow="1" bandRow="1">
                <a:tableStyleId>{5C22544A-7EE6-4342-B048-85BDC9FD1C3A}</a:tableStyleId>
              </a:tblPr>
              <a:tblGrid>
                <a:gridCol w="2743200"/>
                <a:gridCol w="1783080"/>
              </a:tblGrid>
              <a:tr h="23774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r>
              <a:tr h="237744">
                <a:tc>
                  <a:txBody>
                    <a:bodyPr lIns="54864" rIns="54864" tIns="18288" bIns="18288" wrap="square" anchor="ctr"/>
                    <a:lstStyle/>
                    <a:p>
                      <a:pPr algn="l"/>
                      <a:r>
                        <a:rPr sz="880" b="0">
                          <a:solidFill>
                            <a:srgbClr val="000000"/>
                          </a:solidFill>
                          <a:latin typeface="Calibri"/>
                        </a:rPr>
                        <a:t>PLA</a:t>
                      </a:r>
                    </a:p>
                  </a:txBody>
                  <a:tcPr/>
                </a:tc>
                <a:tc>
                  <a:txBody>
                    <a:bodyPr lIns="54864" rIns="54864" tIns="18288" bIns="18288" wrap="square" anchor="ctr"/>
                    <a:lstStyle/>
                    <a:p>
                      <a:pPr algn="l"/>
                      <a:r>
                        <a:rPr sz="880" b="0">
                          <a:solidFill>
                            <a:srgbClr val="000000"/>
                          </a:solidFill>
                          <a:latin typeface="Calibri"/>
                        </a:rPr>
                        <a:t>26</a:t>
                      </a:r>
                    </a:p>
                  </a:txBody>
                  <a:tcPr/>
                </a:tc>
              </a:tr>
              <a:tr h="237744">
                <a:tc>
                  <a:txBody>
                    <a:bodyPr lIns="54864" rIns="54864" tIns="18288" bIns="18288" wrap="square" anchor="ctr"/>
                    <a:lstStyle/>
                    <a:p>
                      <a:pPr algn="l"/>
                      <a:r>
                        <a:rPr sz="880" b="0">
                          <a:solidFill>
                            <a:srgbClr val="000000"/>
                          </a:solidFill>
                          <a:latin typeface="Calibri"/>
                        </a:rPr>
                        <a:t>PETG</a:t>
                      </a:r>
                    </a:p>
                  </a:txBody>
                  <a:tcPr/>
                </a:tc>
                <a:tc>
                  <a:txBody>
                    <a:bodyPr lIns="54864" rIns="54864" tIns="18288" bIns="18288" wrap="square" anchor="ctr"/>
                    <a:lstStyle/>
                    <a:p>
                      <a:pPr algn="l"/>
                      <a:r>
                        <a:rPr sz="880" b="0">
                          <a:solidFill>
                            <a:srgbClr val="000000"/>
                          </a:solidFill>
                          <a:latin typeface="Calibri"/>
                        </a:rPr>
                        <a:t>5</a:t>
                      </a:r>
                    </a:p>
                  </a:txBody>
                  <a:tcPr/>
                </a:tc>
              </a:tr>
              <a:tr h="237744">
                <a:tc>
                  <a:txBody>
                    <a:bodyPr lIns="54864" rIns="54864" tIns="18288" bIns="18288" wrap="square" anchor="ctr"/>
                    <a:lstStyle/>
                    <a:p>
                      <a:pPr algn="l"/>
                      <a:r>
                        <a:rPr sz="880" b="0">
                          <a:solidFill>
                            <a:srgbClr val="000000"/>
                          </a:solidFill>
                          <a:latin typeface="Calibri"/>
                        </a:rPr>
                        <a:t>TPU</a:t>
                      </a:r>
                    </a:p>
                  </a:txBody>
                  <a:tcPr/>
                </a:tc>
                <a:tc>
                  <a:txBody>
                    <a:bodyPr lIns="54864" rIns="54864" tIns="18288" bIns="18288" wrap="square" anchor="ctr"/>
                    <a:lstStyle/>
                    <a:p>
                      <a:pPr algn="l"/>
                      <a:r>
                        <a:rPr sz="880" b="0">
                          <a:solidFill>
                            <a:srgbClr val="000000"/>
                          </a:solidFill>
                          <a:latin typeface="Calibri"/>
                        </a:rPr>
                        <a:t>3</a:t>
                      </a:r>
                    </a:p>
                  </a:txBody>
                  <a:tcPr/>
                </a:tc>
              </a:tr>
              <a:tr h="237744">
                <a:tc>
                  <a:txBody>
                    <a:bodyPr lIns="54864" rIns="54864" tIns="18288" bIns="18288" wrap="square" anchor="ctr"/>
                    <a:lstStyle/>
                    <a:p>
                      <a:pPr algn="l"/>
                      <a:r>
                        <a:rPr sz="880" b="0">
                          <a:solidFill>
                            <a:srgbClr val="000000"/>
                          </a:solidFill>
                          <a:latin typeface="Calibri"/>
                        </a:rPr>
                        <a:t>with a full property set</a:t>
                      </a:r>
                    </a:p>
                  </a:txBody>
                  <a:tcPr/>
                </a:tc>
                <a:tc>
                  <a:txBody>
                    <a:bodyPr lIns="54864" rIns="54864" tIns="18288" bIns="18288" wrap="square" anchor="ctr"/>
                    <a:lstStyle/>
                    <a:p>
                      <a:pPr algn="l"/>
                      <a:r>
                        <a:rPr sz="880" b="0">
                          <a:solidFill>
                            <a:srgbClr val="000000"/>
                          </a:solidFill>
                          <a:latin typeface="Calibri"/>
                        </a:rPr>
                        <a:t>27 of 34</a:t>
                      </a:r>
                    </a:p>
                  </a:txBody>
                  <a:tcPr/>
                </a:tc>
              </a:tr>
            </a:tbl>
          </a:graphicData>
        </a:graphic>
      </p:graphicFrame>
      <p:sp>
        <p:nvSpPr>
          <p:cNvPr id="12" name="TextBox 11"/>
          <p:cNvSpPr txBox="1"/>
          <p:nvPr/>
        </p:nvSpPr>
        <p:spPr>
          <a:xfrm>
            <a:off x="7315200" y="3310128"/>
            <a:ext cx="4526280" cy="1188720"/>
          </a:xfrm>
          <a:prstGeom prst="rect">
            <a:avLst/>
          </a:prstGeom>
          <a:noFill/>
        </p:spPr>
        <p:txBody>
          <a:bodyPr wrap="square" lIns="45720" rIns="45720" tIns="18288" bIns="18288" anchor="t">
            <a:spAutoFit/>
          </a:bodyPr>
          <a:lstStyle/>
          <a:p>
            <a:pPr algn="l"/>
            <a:r>
              <a:rPr sz="919" b="0" i="0">
                <a:solidFill>
                  <a:srgbClr val="000000"/>
                </a:solidFill>
                <a:latin typeface="Calibri"/>
              </a:rPr>
              <a:t>The rest are runs analyze() cannot complete — an abandoned pull, or one that never fractured. The row is KEPT rather than dropped: a blank property is a fact about the run, and deleting it would quietly shrink the denominator.</a:t>
            </a:r>
          </a:p>
        </p:txBody>
      </p:sp>
      <p:sp>
        <p:nvSpPr>
          <p:cNvPr id="13" name="TextBox 12"/>
          <p:cNvSpPr txBox="1"/>
          <p:nvPr/>
        </p:nvSpPr>
        <p:spPr>
          <a:xfrm>
            <a:off x="411480" y="448056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actually worth — two bugs it caught</a:t>
            </a:r>
          </a:p>
        </p:txBody>
      </p:sp>
      <p:sp>
        <p:nvSpPr>
          <p:cNvPr id="14" name="TextBox 13"/>
          <p:cNvSpPr txBox="1"/>
          <p:nvPr/>
        </p:nvSpPr>
        <p:spPr>
          <a:xfrm>
            <a:off x="411480" y="4828032"/>
            <a:ext cx="11430000" cy="1051560"/>
          </a:xfrm>
          <a:prstGeom prst="rect">
            <a:avLst/>
          </a:prstGeom>
          <a:noFill/>
        </p:spPr>
        <p:txBody>
          <a:bodyPr wrap="square" lIns="45720" rIns="45720" tIns="18288" bIns="18288" anchor="t">
            <a:spAutoFit/>
          </a:bodyPr>
          <a:lstStyle/>
          <a:p>
            <a:pPr algn="l"/>
            <a:r>
              <a:rPr sz="940" b="0" i="0">
                <a:solidFill>
                  <a:srgbClr val="000000"/>
                </a:solidFill>
                <a:latin typeface="Calibri"/>
              </a:rPr>
              <a:t>•  THE FRACTURE CUT THAT NEVER RAN. Two deck scripts asked analyze() for "fracture_i"; the key is "fr_i", so .get() returned None every time and the PLA and PETG curves carried post-fracture data. Found by enumerating every run through the registry and re-analysing — with paths hard-coded into each script, there was nothing to enumerate.
•  A RENAME, CAUGHT IN ONE LINE. S37's folder gained a “_Video15” suffix after its run. The registry reported one unresolved row immediately; the alternative was a deck build failing later with no clue why.</a:t>
            </a:r>
          </a:p>
        </p:txBody>
      </p:sp>
      <p:sp>
        <p:nvSpPr>
          <p:cNvPr id="15" name="Rectangle 14"/>
          <p:cNvSpPr/>
          <p:nvPr/>
        </p:nvSpPr>
        <p:spPr>
          <a:xfrm>
            <a:off x="365760" y="5925312"/>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34 ROWS, 0 UNRESOLVED PATHS. THE REGISTRY IS WHAT MAKES “EVERY RUN ON RECORD” A QUERY RATHER THAN A CLAIM.</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Auto-populated on save (SF11) and by utm_registry.py scan. Properties are re-analysed from the CSVs, never copied from a previous result.</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 S37</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24.6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2.4 % spread</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2.35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14.3 %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 RESOLVED LATER BY S37 — not by moving the camera, which this rig cannot do, but by shortening the marker pair to 45 mm so it travels fewer pixels per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(n=3)</a:t>
                      </a:r>
                    </a:p>
                  </a:txBody>
                  <a:tcPr/>
                </a:tc>
                <a:tc>
                  <a:txBody>
                    <a:bodyPr lIns="54864" rIns="54864" tIns="18288" bIns="18288" wrap="square" anchor="ctr"/>
                    <a:lstStyle/>
                    <a:p>
                      <a:pPr algn="l"/>
                      <a:r>
                        <a:rPr sz="900" b="0">
                          <a:solidFill>
                            <a:srgbClr val="000000"/>
                          </a:solidFill>
                          <a:latin typeface="Calibri"/>
                        </a:rPr>
                        <a:t>24.6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3, with run-to-run spread well inside the band width
•  E is a SLOPE, so the force anchor cancels out of it entirely — the 20 N that was missing from TPU's stress never touched its modulus
Stiffness ratio PLA : PETG : TPU = 126 : 80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5.3→1.2 %.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(n=3)</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24.6 ± 0.2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2.35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14.3 %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14.3 %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126× below PLA. Still rising at 14.3 %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126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126 : 80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PPD-UTM Mk II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20 %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−30 %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p268.</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THIS RUN'S HEADER SAYS “Max Strain: 0.5788”, AND THAT IS NOT DIC STRAIN. It was motor strain — travel over gauge, 26.0 mm / 45 mm = 57.9 % — while the DIC strain maxes at 18.94 %. On the 80 mm specimens the two sat close enough that it never stood out; at 45 mm the header read three times the real strain.
FIXED SINCE: the app now writes “Max DIC Strain” and “Max Motor Strain” as two labelled lines. S37 is the last run recorded under the old single label.</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A DIC POSITION ESTIMATOR DOES, AND WHY IT IS NEEDED</a:t>
            </a:r>
          </a:p>
        </p:txBody>
      </p:sp>
      <p:pic>
        <p:nvPicPr>
          <p:cNvPr id="5" name="Picture 4" descr="est_whatfor.png"/>
          <p:cNvPicPr>
            <a:picLocks noChangeAspect="1"/>
          </p:cNvPicPr>
          <p:nvPr/>
        </p:nvPicPr>
        <p:blipFill>
          <a:blip r:embed="rId2"/>
          <a:stretch>
            <a:fillRect/>
          </a:stretch>
        </p:blipFill>
        <p:spPr>
          <a:xfrm>
            <a:off x="2006228" y="1097280"/>
            <a:ext cx="8149062" cy="2761488"/>
          </a:xfrm>
          <a:prstGeom prst="rect">
            <a:avLst/>
          </a:prstGeom>
        </p:spPr>
      </p:pic>
      <p:sp>
        <p:nvSpPr>
          <p:cNvPr id="6" name="TextBox 5"/>
          <p:cNvSpPr txBox="1"/>
          <p:nvPr/>
        </p:nvSpPr>
        <p:spPr>
          <a:xfrm>
            <a:off x="411480" y="40050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sits in the chain</a:t>
            </a:r>
          </a:p>
        </p:txBody>
      </p:sp>
      <p:sp>
        <p:nvSpPr>
          <p:cNvPr id="7" name="TextBox 6"/>
          <p:cNvSpPr txBox="1"/>
          <p:nvPr/>
        </p:nvSpPr>
        <p:spPr>
          <a:xfrm>
            <a:off x="411480" y="4352544"/>
            <a:ext cx="5623560" cy="1325880"/>
          </a:xfrm>
          <a:prstGeom prst="rect">
            <a:avLst/>
          </a:prstGeom>
          <a:noFill/>
        </p:spPr>
        <p:txBody>
          <a:bodyPr wrap="square" lIns="45720" rIns="45720" tIns="18288" bIns="18288" anchor="t">
            <a:spAutoFit/>
          </a:bodyPr>
          <a:lstStyle/>
          <a:p>
            <a:pPr algn="l"/>
            <a:r>
              <a:rPr sz="1000" b="0" i="0">
                <a:solidFill>
                  <a:srgbClr val="000000"/>
                </a:solidFill>
                <a:latin typeface="Calibri"/>
              </a:rPr>
              <a:t>frame  →  find the two markers  →  ESTIMATE EACH CENTRE  →  L_px  →  ε = (L_px − Px₀) / Px₀
Everything else in that chain is bookkeeping. The estimator is the only step that decides a NUMBER, and it decides it for both markers on every frame. DIC strain is a ratio of PIXELS (p276), so its precision is set entirely by how well those two centres are known.</a:t>
            </a:r>
          </a:p>
        </p:txBody>
      </p:sp>
      <p:sp>
        <p:nvSpPr>
          <p:cNvPr id="8" name="TextBox 7"/>
          <p:cNvSpPr txBox="1"/>
          <p:nvPr/>
        </p:nvSpPr>
        <p:spPr>
          <a:xfrm>
            <a:off x="6263640" y="400507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whole pixel is nowhere near good enough</a:t>
            </a:r>
          </a:p>
        </p:txBody>
      </p:sp>
      <p:graphicFrame>
        <p:nvGraphicFramePr>
          <p:cNvPr id="9" name="Table 8"/>
          <p:cNvGraphicFramePr>
            <a:graphicFrameLocks noGrp="1"/>
          </p:cNvGraphicFramePr>
          <p:nvPr/>
        </p:nvGraphicFramePr>
        <p:xfrm>
          <a:off x="6263640" y="4352544"/>
          <a:ext cx="5577839" cy="1325880"/>
        </p:xfrm>
        <a:graphic>
          <a:graphicData uri="http://schemas.openxmlformats.org/drawingml/2006/table">
            <a:tbl>
              <a:tblPr firstRow="1" bandRow="1">
                <a:tableStyleId>{5C22544A-7EE6-4342-B048-85BDC9FD1C3A}</a:tableStyleId>
              </a:tblPr>
              <a:tblGrid>
                <a:gridCol w="2743199"/>
                <a:gridCol w="2834640"/>
              </a:tblGrid>
              <a:tr h="265176">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Marker separation Px₀</a:t>
                      </a:r>
                    </a:p>
                  </a:txBody>
                  <a:tcPr/>
                </a:tc>
                <a:tc>
                  <a:txBody>
                    <a:bodyPr lIns="54864" rIns="54864" tIns="18288" bIns="18288" wrap="square" anchor="ctr"/>
                    <a:lstStyle/>
                    <a:p>
                      <a:pPr algn="l"/>
                      <a:r>
                        <a:rPr sz="900" b="0">
                          <a:solidFill>
                            <a:srgbClr val="000000"/>
                          </a:solidFill>
                          <a:latin typeface="Calibri"/>
                        </a:rPr>
                        <a:t>1676 px</a:t>
                      </a:r>
                    </a:p>
                  </a:txBody>
                  <a:tcPr/>
                </a:tc>
              </a:tr>
              <a:tr h="265176">
                <a:tc>
                  <a:txBody>
                    <a:bodyPr lIns="54864" rIns="54864" tIns="18288" bIns="18288" wrap="square" anchor="ctr"/>
                    <a:lstStyle/>
                    <a:p>
                      <a:pPr algn="l"/>
                      <a:r>
                        <a:rPr sz="900" b="0">
                          <a:solidFill>
                            <a:srgbClr val="000000"/>
                          </a:solidFill>
                          <a:latin typeface="Calibri"/>
                        </a:rPr>
                        <a:t>Strain per WHOLE pixel</a:t>
                      </a:r>
                    </a:p>
                  </a:txBody>
                  <a:tcPr/>
                </a:tc>
                <a:tc>
                  <a:txBody>
                    <a:bodyPr lIns="54864" rIns="54864" tIns="18288" bIns="18288" wrap="square" anchor="ctr"/>
                    <a:lstStyle/>
                    <a:p>
                      <a:pPr algn="l"/>
                      <a:r>
                        <a:rPr sz="900" b="0">
                          <a:solidFill>
                            <a:srgbClr val="000000"/>
                          </a:solidFill>
                          <a:latin typeface="Calibri"/>
                        </a:rPr>
                        <a:t>597 µε — the red staircase</a:t>
                      </a:r>
                    </a:p>
                  </a:txBody>
                  <a:tcPr/>
                </a:tc>
              </a:tr>
              <a:tr h="265176">
                <a:tc>
                  <a:txBody>
                    <a:bodyPr lIns="54864" rIns="54864" tIns="18288" bIns="18288" wrap="square" anchor="ctr"/>
                    <a:lstStyle/>
                    <a:p>
                      <a:pPr algn="l"/>
                      <a:r>
                        <a:rPr sz="900" b="0">
                          <a:solidFill>
                            <a:srgbClr val="000000"/>
                          </a:solidFill>
                          <a:latin typeface="Calibri"/>
                        </a:rPr>
                        <a:t>Rig's measured noise floor</a:t>
                      </a:r>
                    </a:p>
                  </a:txBody>
                  <a:tcPr/>
                </a:tc>
                <a:tc>
                  <a:txBody>
                    <a:bodyPr lIns="54864" rIns="54864" tIns="18288" bIns="18288" wrap="square" anchor="ctr"/>
                    <a:lstStyle/>
                    <a:p>
                      <a:pPr algn="l"/>
                      <a:r>
                        <a:rPr sz="900" b="0">
                          <a:solidFill>
                            <a:srgbClr val="000000"/>
                          </a:solidFill>
                          <a:latin typeface="Calibri"/>
                        </a:rPr>
                        <a:t>29 µε</a:t>
                      </a:r>
                    </a:p>
                  </a:txBody>
                  <a:tcPr/>
                </a:tc>
              </a:tr>
              <a:tr h="265176">
                <a:tc>
                  <a:txBody>
                    <a:bodyPr lIns="54864" rIns="54864" tIns="18288" bIns="18288" wrap="square" anchor="ctr"/>
                    <a:lstStyle/>
                    <a:p>
                      <a:pPr algn="l"/>
                      <a:r>
                        <a:rPr sz="900" b="0">
                          <a:solidFill>
                            <a:srgbClr val="000000"/>
                          </a:solidFill>
                          <a:latin typeface="Calibri"/>
                        </a:rPr>
                        <a:t>…so a centre must be known to</a:t>
                      </a:r>
                    </a:p>
                  </a:txBody>
                  <a:tcPr/>
                </a:tc>
                <a:tc>
                  <a:txBody>
                    <a:bodyPr lIns="54864" rIns="54864" tIns="18288" bIns="18288" wrap="square" anchor="ctr"/>
                    <a:lstStyle/>
                    <a:p>
                      <a:pPr algn="l"/>
                      <a:r>
                        <a:rPr sz="900" b="0">
                          <a:solidFill>
                            <a:srgbClr val="000000"/>
                          </a:solidFill>
                          <a:latin typeface="Calibri"/>
                        </a:rPr>
                        <a:t>0.048 px</a:t>
                      </a:r>
                    </a:p>
                  </a:txBody>
                  <a:tcPr/>
                </a:tc>
              </a:tr>
            </a:tbl>
          </a:graphicData>
        </a:graphic>
      </p:graphicFrame>
      <p:sp>
        <p:nvSpPr>
          <p:cNvPr id="10" name="Rectangle 9"/>
          <p:cNvSpPr/>
          <p:nvPr/>
        </p:nvSpPr>
        <p:spPr>
          <a:xfrm>
            <a:off x="365760" y="5797296"/>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Without sub-pixel estimation the elastic region — the part that gives E — would be a 597 µε staircase, about 21× coarser than the noise floor the rig actually achieves.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S26's own elastic region, the same marker pair read with and without sub-pixel estimation. Measurements cached 2026-08-27 14:55.</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FOUR WAYS TO FIND A MARKER CENTRE — AND WHAT EACH COSTS</a:t>
            </a:r>
          </a:p>
        </p:txBody>
      </p:sp>
      <p:pic>
        <p:nvPicPr>
          <p:cNvPr id="5" name="Picture 4" descr="est_methods.png"/>
          <p:cNvPicPr>
            <a:picLocks noChangeAspect="1"/>
          </p:cNvPicPr>
          <p:nvPr/>
        </p:nvPicPr>
        <p:blipFill>
          <a:blip r:embed="rId2"/>
          <a:stretch>
            <a:fillRect/>
          </a:stretch>
        </p:blipFill>
        <p:spPr>
          <a:xfrm>
            <a:off x="2086640" y="1078992"/>
            <a:ext cx="7988239" cy="2267712"/>
          </a:xfrm>
          <a:prstGeom prst="rect">
            <a:avLst/>
          </a:prstGeom>
        </p:spPr>
      </p:pic>
      <p:graphicFrame>
        <p:nvGraphicFramePr>
          <p:cNvPr id="6" name="Table 5"/>
          <p:cNvGraphicFramePr>
            <a:graphicFrameLocks noGrp="1"/>
          </p:cNvGraphicFramePr>
          <p:nvPr/>
        </p:nvGraphicFramePr>
        <p:xfrm>
          <a:off x="365760" y="3529584"/>
          <a:ext cx="11475720" cy="2743200"/>
        </p:xfrm>
        <a:graphic>
          <a:graphicData uri="http://schemas.openxmlformats.org/drawingml/2006/table">
            <a:tbl>
              <a:tblPr firstRow="1" bandRow="1">
                <a:tableStyleId>{5C22544A-7EE6-4342-B048-85BDC9FD1C3A}</a:tableStyleId>
              </a:tblPr>
              <a:tblGrid>
                <a:gridCol w="1874520"/>
                <a:gridCol w="3977640"/>
                <a:gridCol w="2788920"/>
                <a:gridCol w="2834640"/>
              </a:tblGrid>
              <a:tr h="548640">
                <a:tc>
                  <a:txBody>
                    <a:bodyPr lIns="54864" rIns="54864" tIns="18288" bIns="18288" wrap="square" anchor="ctr"/>
                    <a:lstStyle/>
                    <a:p>
                      <a:pPr algn="l"/>
                      <a:r>
                        <a:rPr sz="950" b="1">
                          <a:solidFill>
                            <a:srgbClr val="FFFFFF"/>
                          </a:solidFill>
                          <a:latin typeface="Calibri"/>
                        </a:rPr>
                        <a:t>Method</a:t>
                      </a:r>
                    </a:p>
                  </a:txBody>
                  <a:tcPr>
                    <a:solidFill>
                      <a:srgbClr val="143D2F"/>
                    </a:solidFill>
                  </a:tcPr>
                </a:tc>
                <a:tc>
                  <a:txBody>
                    <a:bodyPr lIns="54864" rIns="54864" tIns="18288" bIns="18288" wrap="square" anchor="ctr"/>
                    <a:lstStyle/>
                    <a:p>
                      <a:pPr algn="l"/>
                      <a:r>
                        <a:rPr sz="950" b="1">
                          <a:solidFill>
                            <a:srgbClr val="FFFFFF"/>
                          </a:solidFill>
                          <a:latin typeface="Calibri"/>
                        </a:rPr>
                        <a:t>How it decides where the centre is</a:t>
                      </a:r>
                    </a:p>
                  </a:txBody>
                  <a:tcPr>
                    <a:solidFill>
                      <a:srgbClr val="143D2F"/>
                    </a:solidFill>
                  </a:tcPr>
                </a:tc>
                <a:tc>
                  <a:txBody>
                    <a:bodyPr lIns="54864" rIns="54864" tIns="18288" bIns="18288" wrap="square" anchor="ctr"/>
                    <a:lstStyle/>
                    <a:p>
                      <a:pPr algn="l"/>
                      <a:r>
                        <a:rPr sz="950" b="1">
                          <a:solidFill>
                            <a:srgbClr val="FFFFFF"/>
                          </a:solidFill>
                          <a:latin typeface="Calibri"/>
                        </a:rPr>
                        <a:t>Advantage</a:t>
                      </a:r>
                    </a:p>
                  </a:txBody>
                  <a:tcPr>
                    <a:solidFill>
                      <a:srgbClr val="143D2F"/>
                    </a:solidFill>
                  </a:tcPr>
                </a:tc>
                <a:tc>
                  <a:txBody>
                    <a:bodyPr lIns="54864" rIns="54864" tIns="18288" bIns="18288" wrap="square" anchor="ctr"/>
                    <a:lstStyle/>
                    <a:p>
                      <a:pPr algn="l"/>
                      <a:r>
                        <a:rPr sz="950" b="1">
                          <a:solidFill>
                            <a:srgbClr val="FFFFFF"/>
                          </a:solidFill>
                          <a:latin typeface="Calibri"/>
                        </a:rPr>
                        <a:t>Disadvantage</a:t>
                      </a:r>
                    </a:p>
                  </a:txBody>
                  <a:tcPr>
                    <a:solidFill>
                      <a:srgbClr val="143D2F"/>
                    </a:solidFill>
                  </a:tcPr>
                </a:tc>
              </a:tr>
              <a:tr h="548640">
                <a:tc>
                  <a:txBody>
                    <a:bodyPr lIns="54864" rIns="54864" tIns="18288" bIns="18288" wrap="square" anchor="ctr"/>
                    <a:lstStyle/>
                    <a:p>
                      <a:pPr algn="l"/>
                      <a:r>
                        <a:rPr sz="800" b="0">
                          <a:solidFill>
                            <a:srgbClr val="000000"/>
                          </a:solidFill>
                          <a:latin typeface="Calibri"/>
                        </a:rPr>
                        <a:t>(a) Correlation +
parabola peak-fit</a:t>
                      </a:r>
                    </a:p>
                  </a:txBody>
                  <a:tcPr/>
                </a:tc>
                <a:tc>
                  <a:txBody>
                    <a:bodyPr lIns="54864" rIns="54864" tIns="18288" bIns="18288" wrap="square" anchor="ctr"/>
                    <a:lstStyle/>
                    <a:p>
                      <a:pPr algn="l"/>
                      <a:r>
                        <a:rPr sz="800" b="0">
                          <a:solidFill>
                            <a:srgbClr val="000000"/>
                          </a:solidFill>
                          <a:latin typeface="Calibri"/>
                        </a:rPr>
                        <a:t>Slides the reference patch over the search area; the best-matching
offset, refined by a parabola through the peak and its neighbours.</a:t>
                      </a:r>
                    </a:p>
                  </a:txBody>
                  <a:tcPr/>
                </a:tc>
                <a:tc>
                  <a:txBody>
                    <a:bodyPr lIns="54864" rIns="54864" tIns="18288" bIns="18288" wrap="square" anchor="ctr"/>
                    <a:lstStyle/>
                    <a:p>
                      <a:pPr algn="l"/>
                      <a:r>
                        <a:rPr sz="800" b="0">
                          <a:solidFill>
                            <a:srgbClr val="000000"/>
                          </a:solidFill>
                          <a:latin typeface="Calibri"/>
                        </a:rPr>
                        <a:t>Needs no threshold at all, and works on any
texture — so it is what FINDS a moved patch.</a:t>
                      </a:r>
                    </a:p>
                  </a:txBody>
                  <a:tcPr/>
                </a:tc>
                <a:tc>
                  <a:txBody>
                    <a:bodyPr lIns="54864" rIns="54864" tIns="18288" bIns="18288" wrap="square" anchor="ctr"/>
                    <a:lstStyle/>
                    <a:p>
                      <a:pPr algn="l"/>
                      <a:r>
                        <a:rPr sz="800" b="0">
                          <a:solidFill>
                            <a:srgbClr val="000000"/>
                          </a:solidFill>
                          <a:latin typeface="Calibri"/>
                        </a:rPr>
                        <a:t>On a large flat disc the correlation peak is broad, so the
parabola is ill-conditioned. Erratic: 25.8 µε on S25, 11.0 on S26.</a:t>
                      </a:r>
                    </a:p>
                  </a:txBody>
                  <a:tcPr/>
                </a:tc>
              </a:tr>
              <a:tr h="548640">
                <a:tc>
                  <a:txBody>
                    <a:bodyPr lIns="54864" rIns="54864" tIns="18288" bIns="18288" wrap="square" anchor="ctr"/>
                    <a:lstStyle/>
                    <a:p>
                      <a:pPr algn="l"/>
                      <a:r>
                        <a:rPr sz="800" b="0">
                          <a:solidFill>
                            <a:srgbClr val="000000"/>
                          </a:solidFill>
                          <a:latin typeface="Calibri"/>
                        </a:rPr>
                        <a:t>(b) Binary contour
centroid  (the live rig)</a:t>
                      </a:r>
                    </a:p>
                  </a:txBody>
                  <a:tcPr/>
                </a:tc>
                <a:tc>
                  <a:txBody>
                    <a:bodyPr lIns="54864" rIns="54864" tIns="18288" bIns="18288" wrap="square" anchor="ctr"/>
                    <a:lstStyle/>
                    <a:p>
                      <a:pPr algn="l"/>
                      <a:r>
                        <a:rPr sz="800" b="0">
                          <a:solidFill>
                            <a:srgbClr val="000000"/>
                          </a:solidFill>
                          <a:latin typeface="Calibri"/>
                        </a:rPr>
                        <a:t>Thresholds the patch, takes the blob nearest the centre, and averages
the coordinates of every pixel inside it — each pixel counting once.</a:t>
                      </a:r>
                    </a:p>
                  </a:txBody>
                  <a:tcPr/>
                </a:tc>
                <a:tc>
                  <a:txBody>
                    <a:bodyPr lIns="54864" rIns="54864" tIns="18288" bIns="18288" wrap="square" anchor="ctr"/>
                    <a:lstStyle/>
                    <a:p>
                      <a:pPr algn="l"/>
                      <a:r>
                        <a:rPr sz="800" b="0">
                          <a:solidFill>
                            <a:srgbClr val="000000"/>
                          </a:solidFill>
                          <a:latin typeface="Calibri"/>
                        </a:rPr>
                        <a:t>Simple, fast and robust. Runs at frame rate
on the rig today.</a:t>
                      </a:r>
                    </a:p>
                  </a:txBody>
                  <a:tcPr/>
                </a:tc>
                <a:tc>
                  <a:txBody>
                    <a:bodyPr lIns="54864" rIns="54864" tIns="18288" bIns="18288" wrap="square" anchor="ctr"/>
                    <a:lstStyle/>
                    <a:p>
                      <a:pPr algn="l"/>
                      <a:r>
                        <a:rPr sz="800" b="0">
                          <a:solidFill>
                            <a:srgbClr val="000000"/>
                          </a:solidFill>
                          <a:latin typeface="Calibri"/>
                        </a:rPr>
                        <a:t>Where the threshold cuts the soft edge DECIDES the answer.
Worst of the three on the harder specimen (20.5 µε, S26).</a:t>
                      </a:r>
                    </a:p>
                  </a:txBody>
                  <a:tcPr/>
                </a:tc>
              </a:tr>
              <a:tr h="548640">
                <a:tc>
                  <a:txBody>
                    <a:bodyPr lIns="54864" rIns="54864" tIns="18288" bIns="18288" wrap="square" anchor="ctr"/>
                    <a:lstStyle/>
                    <a:p>
                      <a:pPr algn="l"/>
                      <a:r>
                        <a:rPr sz="800" b="0">
                          <a:solidFill>
                            <a:srgbClr val="000000"/>
                          </a:solidFill>
                          <a:latin typeface="Calibri"/>
                        </a:rPr>
                        <a:t>(c) Contour + intensity
weighting   ← CHOSEN</a:t>
                      </a:r>
                    </a:p>
                  </a:txBody>
                  <a:tcPr/>
                </a:tc>
                <a:tc>
                  <a:txBody>
                    <a:bodyPr lIns="54864" rIns="54864" tIns="18288" bIns="18288" wrap="square" anchor="ctr"/>
                    <a:lstStyle/>
                    <a:p>
                      <a:pPr algn="l"/>
                      <a:r>
                        <a:rPr sz="800" b="0">
                          <a:solidFill>
                            <a:srgbClr val="000000"/>
                          </a:solidFill>
                          <a:latin typeface="Calibri"/>
                        </a:rPr>
                        <a:t>The same contour still selects the blob, but each pixel then votes in
proportion to how dark it is, using the graded edge instead of cutting it.</a:t>
                      </a:r>
                    </a:p>
                  </a:txBody>
                  <a:tcPr/>
                </a:tc>
                <a:tc>
                  <a:txBody>
                    <a:bodyPr lIns="54864" rIns="54864" tIns="18288" bIns="18288" wrap="square" anchor="ctr"/>
                    <a:lstStyle/>
                    <a:p>
                      <a:pPr algn="l"/>
                      <a:r>
                        <a:rPr sz="800" b="0">
                          <a:solidFill>
                            <a:srgbClr val="000000"/>
                          </a:solidFill>
                          <a:latin typeface="Calibri"/>
                        </a:rPr>
                        <a:t>Best or tied-best on BOTH specimens (18.4 / 11.3 µε)
and ~2.5× less sensitive to the threshold.</a:t>
                      </a:r>
                    </a:p>
                  </a:txBody>
                  <a:tcPr/>
                </a:tc>
                <a:tc>
                  <a:txBody>
                    <a:bodyPr lIns="54864" rIns="54864" tIns="18288" bIns="18288" wrap="square" anchor="ctr"/>
                    <a:lstStyle/>
                    <a:p>
                      <a:pPr algn="l"/>
                      <a:r>
                        <a:rPr sz="800" b="0">
                          <a:solidFill>
                            <a:srgbClr val="000000"/>
                          </a:solidFill>
                          <a:latin typeface="Calibri"/>
                        </a:rPr>
                        <a:t>Assumes a symmetric marker — which is why the detector
requires circularity ≥ 0.40 before it accepts a blob.</a:t>
                      </a:r>
                    </a:p>
                  </a:txBody>
                  <a:tcPr/>
                </a:tc>
              </a:tr>
              <a:tr h="548640">
                <a:tc>
                  <a:txBody>
                    <a:bodyPr lIns="54864" rIns="54864" tIns="18288" bIns="18288" wrap="square" anchor="ctr"/>
                    <a:lstStyle/>
                    <a:p>
                      <a:pPr algn="l"/>
                      <a:r>
                        <a:rPr sz="800" b="0">
                          <a:solidFill>
                            <a:srgbClr val="000000"/>
                          </a:solidFill>
                          <a:latin typeface="Calibri"/>
                        </a:rPr>
                        <a:t>(d) Full-field subset DIC
(Ncorr / DICe style)</a:t>
                      </a:r>
                    </a:p>
                  </a:txBody>
                  <a:tcPr/>
                </a:tc>
                <a:tc>
                  <a:txBody>
                    <a:bodyPr lIns="54864" rIns="54864" tIns="18288" bIns="18288" wrap="square" anchor="ctr"/>
                    <a:lstStyle/>
                    <a:p>
                      <a:pPr algn="l"/>
                      <a:r>
                        <a:rPr sz="800" b="0">
                          <a:solidFill>
                            <a:srgbClr val="000000"/>
                          </a:solidFill>
                          <a:latin typeface="Calibri"/>
                        </a:rPr>
                        <a:t>Correlates thousands of small subsets across a sprayed speckle pattern
and solves for a whole displacement field, not two points.</a:t>
                      </a:r>
                    </a:p>
                  </a:txBody>
                  <a:tcPr/>
                </a:tc>
                <a:tc>
                  <a:txBody>
                    <a:bodyPr lIns="54864" rIns="54864" tIns="18288" bIns="18288" wrap="square" anchor="ctr"/>
                    <a:lstStyle/>
                    <a:p>
                      <a:pPr algn="l"/>
                      <a:r>
                        <a:rPr sz="800" b="0">
                          <a:solidFill>
                            <a:srgbClr val="000000"/>
                          </a:solidFill>
                          <a:latin typeface="Calibri"/>
                        </a:rPr>
                        <a:t>Gives strain FIELDS, Poisson's ratio and
localisation. The research standard.</a:t>
                      </a:r>
                    </a:p>
                  </a:txBody>
                  <a:tcPr/>
                </a:tc>
                <a:tc>
                  <a:txBody>
                    <a:bodyPr lIns="54864" rIns="54864" tIns="18288" bIns="18288" wrap="square" anchor="ctr"/>
                    <a:lstStyle/>
                    <a:p>
                      <a:pPr algn="l"/>
                      <a:r>
                        <a:rPr sz="800" b="0">
                          <a:solidFill>
                            <a:srgbClr val="000000"/>
                          </a:solidFill>
                          <a:latin typeface="Calibri"/>
                        </a:rPr>
                        <a:t>Needs a speckle pattern rather than two dots, and is minutes
of offline compute — so it cannot drive a live control loop.</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Panels drawn from a real S26 marker at the reference frame. All four answer the SAME question and differ only in which pixels vote, and how loudly — except (d), which is a different instrument. Noise over the fixed window; see p288.</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INTENSITY-WEIGHTED CENTROID — THE REASONING</a:t>
            </a:r>
          </a:p>
        </p:txBody>
      </p:sp>
      <p:sp>
        <p:nvSpPr>
          <p:cNvPr id="5" name="TextBox 4"/>
          <p:cNvSpPr txBox="1"/>
          <p:nvPr/>
        </p:nvSpPr>
        <p:spPr>
          <a:xfrm>
            <a:off x="411480" y="111556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Position information lives in the GRADIENT, nowhere else</a:t>
            </a:r>
          </a:p>
        </p:txBody>
      </p:sp>
      <p:sp>
        <p:nvSpPr>
          <p:cNvPr id="6" name="TextBox 5"/>
          <p:cNvSpPr txBox="1"/>
          <p:nvPr/>
        </p:nvSpPr>
        <p:spPr>
          <a:xfrm>
            <a:off x="411480" y="1463040"/>
            <a:ext cx="5623560" cy="1389888"/>
          </a:xfrm>
          <a:prstGeom prst="rect">
            <a:avLst/>
          </a:prstGeom>
          <a:noFill/>
        </p:spPr>
        <p:txBody>
          <a:bodyPr wrap="square" lIns="45720" rIns="45720" tIns="18288" bIns="18288" anchor="t">
            <a:spAutoFit/>
          </a:bodyPr>
          <a:lstStyle/>
          <a:p>
            <a:pPr algn="l"/>
            <a:r>
              <a:rPr sz="1000" b="0" i="0">
                <a:solidFill>
                  <a:srgbClr val="000000"/>
                </a:solidFill>
                <a:latin typeface="Calibri"/>
              </a:rPr>
              <a:t>For a feature in an image carrying noise σ_n, the best achievable position variance is bounded
        var(x̂)  ≥  σ_n²  ⁄  Σ (∂I/∂x)²
summed over pixels. A flat region contributes EXACTLY ZERO: the interior of the dot and the background say nothing about where the dot is. All of it sits in the brightness ramp at the rim — measured on our markers at 12 px wide.</a:t>
            </a:r>
          </a:p>
        </p:txBody>
      </p:sp>
      <p:sp>
        <p:nvSpPr>
          <p:cNvPr id="7" name="TextBox 6"/>
          <p:cNvSpPr txBox="1"/>
          <p:nvPr/>
        </p:nvSpPr>
        <p:spPr>
          <a:xfrm>
            <a:off x="6263640" y="111556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 binary threshold throws that gradient away</a:t>
            </a:r>
          </a:p>
        </p:txBody>
      </p:sp>
      <p:sp>
        <p:nvSpPr>
          <p:cNvPr id="8" name="TextBox 7"/>
          <p:cNvSpPr txBox="1"/>
          <p:nvPr/>
        </p:nvSpPr>
        <p:spPr>
          <a:xfrm>
            <a:off x="6263640" y="1463040"/>
            <a:ext cx="5577840" cy="1389888"/>
          </a:xfrm>
          <a:prstGeom prst="rect">
            <a:avLst/>
          </a:prstGeom>
          <a:noFill/>
        </p:spPr>
        <p:txBody>
          <a:bodyPr wrap="square" lIns="45720" rIns="45720" tIns="18288" bIns="18288" anchor="t">
            <a:spAutoFit/>
          </a:bodyPr>
          <a:lstStyle/>
          <a:p>
            <a:pPr algn="l"/>
            <a:r>
              <a:rPr sz="1000" b="0" i="0">
                <a:solidFill>
                  <a:srgbClr val="000000"/>
                </a:solidFill>
                <a:latin typeface="Calibri"/>
              </a:rPr>
              <a:t>Thresholding replaces the 12 px ramp with a step, and the centroid then depends on WHERE the step landed. Move the level — or the illumination, or the exposure — and the boundary slides along the ramp, taking the centre with it.
Weighting by darkness uses the ramp's shape instead, averaging over the whole transition rather than over one arbitrary contour of it.</a:t>
            </a:r>
          </a:p>
        </p:txBody>
      </p:sp>
      <p:sp>
        <p:nvSpPr>
          <p:cNvPr id="9" name="TextBox 8"/>
          <p:cNvSpPr txBox="1"/>
          <p:nvPr/>
        </p:nvSpPr>
        <p:spPr>
          <a:xfrm>
            <a:off x="411480" y="29809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Two jobs, deliberately kept separate</a:t>
            </a:r>
          </a:p>
        </p:txBody>
      </p:sp>
      <p:graphicFrame>
        <p:nvGraphicFramePr>
          <p:cNvPr id="10" name="Table 9"/>
          <p:cNvGraphicFramePr>
            <a:graphicFrameLocks noGrp="1"/>
          </p:cNvGraphicFramePr>
          <p:nvPr/>
        </p:nvGraphicFramePr>
        <p:xfrm>
          <a:off x="411480" y="3328416"/>
          <a:ext cx="5623559" cy="1371600"/>
        </p:xfrm>
        <a:graphic>
          <a:graphicData uri="http://schemas.openxmlformats.org/drawingml/2006/table">
            <a:tbl>
              <a:tblPr firstRow="1" bandRow="1">
                <a:tableStyleId>{5C22544A-7EE6-4342-B048-85BDC9FD1C3A}</a:tableStyleId>
              </a:tblPr>
              <a:tblGrid>
                <a:gridCol w="1417320"/>
                <a:gridCol w="1234439"/>
                <a:gridCol w="2971800"/>
              </a:tblGrid>
              <a:tr h="457200">
                <a:tc>
                  <a:txBody>
                    <a:bodyPr lIns="54864" rIns="54864" tIns="18288" bIns="18288" wrap="square" anchor="ctr"/>
                    <a:lstStyle/>
                    <a:p>
                      <a:pPr algn="l"/>
                      <a:r>
                        <a:rPr sz="950" b="1">
                          <a:solidFill>
                            <a:srgbClr val="FFFFFF"/>
                          </a:solidFill>
                          <a:latin typeface="Calibri"/>
                        </a:rPr>
                        <a:t>Job</a:t>
                      </a:r>
                    </a:p>
                  </a:txBody>
                  <a:tcPr>
                    <a:solidFill>
                      <a:srgbClr val="143D2F"/>
                    </a:solidFill>
                  </a:tcPr>
                </a:tc>
                <a:tc>
                  <a:txBody>
                    <a:bodyPr lIns="54864" rIns="54864" tIns="18288" bIns="18288" wrap="square" anchor="ctr"/>
                    <a:lstStyle/>
                    <a:p>
                      <a:pPr algn="l"/>
                      <a:r>
                        <a:rPr sz="950" b="1">
                          <a:solidFill>
                            <a:srgbClr val="FFFFFF"/>
                          </a:solidFill>
                          <a:latin typeface="Calibri"/>
                        </a:rPr>
                        <a:t>Done by</a:t>
                      </a:r>
                    </a:p>
                  </a:txBody>
                  <a:tcPr>
                    <a:solidFill>
                      <a:srgbClr val="143D2F"/>
                    </a:solidFill>
                  </a:tcPr>
                </a:tc>
                <a:tc>
                  <a:txBody>
                    <a:bodyPr lIns="54864" rIns="54864" tIns="18288" bIns="18288" wrap="square" anchor="ctr"/>
                    <a:lstStyle/>
                    <a:p>
                      <a:pPr algn="l"/>
                      <a:r>
                        <a:rPr sz="950" b="1">
                          <a:solidFill>
                            <a:srgbClr val="FFFFFF"/>
                          </a:solidFill>
                          <a:latin typeface="Calibri"/>
                        </a:rPr>
                        <a:t>Why that one</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Which blob is
the marker?</a:t>
                      </a:r>
                    </a:p>
                  </a:txBody>
                  <a:tcPr/>
                </a:tc>
                <a:tc>
                  <a:txBody>
                    <a:bodyPr lIns="54864" rIns="54864" tIns="18288" bIns="18288" wrap="square" anchor="ctr"/>
                    <a:lstStyle/>
                    <a:p>
                      <a:pPr algn="l"/>
                      <a:r>
                        <a:rPr sz="850" b="0">
                          <a:solidFill>
                            <a:srgbClr val="000000"/>
                          </a:solidFill>
                          <a:latin typeface="Calibri"/>
                        </a:rPr>
                        <a:t>the contour
(binary)</a:t>
                      </a:r>
                    </a:p>
                  </a:txBody>
                  <a:tcPr/>
                </a:tc>
                <a:tc>
                  <a:txBody>
                    <a:bodyPr lIns="54864" rIns="54864" tIns="18288" bIns="18288" wrap="square" anchor="ctr"/>
                    <a:lstStyle/>
                    <a:p>
                      <a:pPr algn="l"/>
                      <a:r>
                        <a:rPr sz="850" b="0">
                          <a:solidFill>
                            <a:srgbClr val="000000"/>
                          </a:solidFill>
                          <a:latin typeface="Calibri"/>
                        </a:rPr>
                        <a:t>A yes/no question — robustness
matters, precision does not.</a:t>
                      </a:r>
                    </a:p>
                  </a:txBody>
                  <a:tcPr/>
                </a:tc>
              </a:tr>
              <a:tr h="457200">
                <a:tc>
                  <a:txBody>
                    <a:bodyPr lIns="54864" rIns="54864" tIns="18288" bIns="18288" wrap="square" anchor="ctr"/>
                    <a:lstStyle/>
                    <a:p>
                      <a:pPr algn="l"/>
                      <a:r>
                        <a:rPr sz="850" b="0">
                          <a:solidFill>
                            <a:srgbClr val="000000"/>
                          </a:solidFill>
                          <a:latin typeface="Calibri"/>
                        </a:rPr>
                        <a:t>Where exactly is
its centre?</a:t>
                      </a:r>
                    </a:p>
                  </a:txBody>
                  <a:tcPr/>
                </a:tc>
                <a:tc>
                  <a:txBody>
                    <a:bodyPr lIns="54864" rIns="54864" tIns="18288" bIns="18288" wrap="square" anchor="ctr"/>
                    <a:lstStyle/>
                    <a:p>
                      <a:pPr algn="l"/>
                      <a:r>
                        <a:rPr sz="850" b="0">
                          <a:solidFill>
                            <a:srgbClr val="000000"/>
                          </a:solidFill>
                          <a:latin typeface="Calibri"/>
                        </a:rPr>
                        <a:t>intensity
weighting</a:t>
                      </a:r>
                    </a:p>
                  </a:txBody>
                  <a:tcPr/>
                </a:tc>
                <a:tc>
                  <a:txBody>
                    <a:bodyPr lIns="54864" rIns="54864" tIns="18288" bIns="18288" wrap="square" anchor="ctr"/>
                    <a:lstStyle/>
                    <a:p>
                      <a:pPr algn="l"/>
                      <a:r>
                        <a:rPr sz="850" b="0">
                          <a:solidFill>
                            <a:srgbClr val="000000"/>
                          </a:solidFill>
                          <a:latin typeface="Calibri"/>
                        </a:rPr>
                        <a:t>A continuous question — needs the
gradient, so no hard cut is used.</a:t>
                      </a:r>
                    </a:p>
                  </a:txBody>
                  <a:tcPr/>
                </a:tc>
              </a:tr>
            </a:tbl>
          </a:graphicData>
        </a:graphic>
      </p:graphicFrame>
      <p:sp>
        <p:nvSpPr>
          <p:cNvPr id="11" name="TextBox 10"/>
          <p:cNvSpPr txBox="1"/>
          <p:nvPr/>
        </p:nvSpPr>
        <p:spPr>
          <a:xfrm>
            <a:off x="6263640" y="29809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Why not simply correlate, as the tracker already does</a:t>
            </a:r>
          </a:p>
        </p:txBody>
      </p:sp>
      <p:sp>
        <p:nvSpPr>
          <p:cNvPr id="12" name="TextBox 11"/>
          <p:cNvSpPr txBox="1"/>
          <p:nvPr/>
        </p:nvSpPr>
        <p:spPr>
          <a:xfrm>
            <a:off x="6263640" y="3328416"/>
            <a:ext cx="5577840" cy="1371600"/>
          </a:xfrm>
          <a:prstGeom prst="rect">
            <a:avLst/>
          </a:prstGeom>
          <a:noFill/>
        </p:spPr>
        <p:txBody>
          <a:bodyPr wrap="square" lIns="45720" rIns="45720" tIns="18288" bIns="18288" anchor="t">
            <a:spAutoFit/>
          </a:bodyPr>
          <a:lstStyle/>
          <a:p>
            <a:pPr algn="l"/>
            <a:r>
              <a:rPr sz="1000" b="0" i="0">
                <a:solidFill>
                  <a:srgbClr val="000000"/>
                </a:solidFill>
                <a:latin typeface="Calibri"/>
              </a:rPr>
              <a:t>Correlation is the right tool for FINDING a patch that has moved, and it is still what the post-processor uses for that. But its peak on a near-uniform disc is broad — low curvature — so the sub-pixel parabola through it is poorly conditioned and prone to peak-locking toward whole pixels. Correlation locates the marker; the centroid then measures it.</a:t>
            </a:r>
          </a:p>
        </p:txBody>
      </p:sp>
      <p:sp>
        <p:nvSpPr>
          <p:cNvPr id="13" name="TextBox 12"/>
          <p:cNvSpPr txBox="1"/>
          <p:nvPr/>
        </p:nvSpPr>
        <p:spPr>
          <a:xfrm>
            <a:off x="411480" y="480974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5 · What that reasoning PREDICTS — which is what the next two slides test</a:t>
            </a:r>
          </a:p>
        </p:txBody>
      </p:sp>
      <p:graphicFrame>
        <p:nvGraphicFramePr>
          <p:cNvPr id="14" name="Table 13"/>
          <p:cNvGraphicFramePr>
            <a:graphicFrameLocks noGrp="1"/>
          </p:cNvGraphicFramePr>
          <p:nvPr/>
        </p:nvGraphicFramePr>
        <p:xfrm>
          <a:off x="411480" y="5157216"/>
          <a:ext cx="11430000" cy="1097280"/>
        </p:xfrm>
        <a:graphic>
          <a:graphicData uri="http://schemas.openxmlformats.org/drawingml/2006/table">
            <a:tbl>
              <a:tblPr firstRow="1" bandRow="1">
                <a:tableStyleId>{5C22544A-7EE6-4342-B048-85BDC9FD1C3A}</a:tableStyleId>
              </a:tblPr>
              <a:tblGrid>
                <a:gridCol w="3657600"/>
                <a:gridCol w="5120640"/>
                <a:gridCol w="2651760"/>
              </a:tblGrid>
              <a:tr h="274320">
                <a:tc>
                  <a:txBody>
                    <a:bodyPr lIns="54864" rIns="54864" tIns="18288" bIns="18288" wrap="square" anchor="ctr"/>
                    <a:lstStyle/>
                    <a:p>
                      <a:pPr algn="l"/>
                      <a:r>
                        <a:rPr sz="950" b="1">
                          <a:solidFill>
                            <a:srgbClr val="FFFFFF"/>
                          </a:solidFill>
                          <a:latin typeface="Calibri"/>
                        </a:rPr>
                        <a:t>If the reasoning is right, then…</a:t>
                      </a:r>
                    </a:p>
                  </a:txBody>
                  <a:tcPr>
                    <a:solidFill>
                      <a:srgbClr val="143D2F"/>
                    </a:solidFill>
                  </a:tcPr>
                </a:tc>
                <a:tc>
                  <a:txBody>
                    <a:bodyPr lIns="54864" rIns="54864" tIns="18288" bIns="18288" wrap="square" anchor="ctr"/>
                    <a:lstStyle/>
                    <a:p>
                      <a:pPr algn="l"/>
                      <a:r>
                        <a:rPr sz="950" b="1">
                          <a:solidFill>
                            <a:srgbClr val="FFFFFF"/>
                          </a:solidFill>
                          <a:latin typeface="Calibri"/>
                        </a:rPr>
                        <a:t>Testable consequence</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850" b="0">
                          <a:solidFill>
                            <a:srgbClr val="000000"/>
                          </a:solidFill>
                          <a:latin typeface="Calibri"/>
                        </a:rPr>
                        <a:t>information is in the edge, not the interior</a:t>
                      </a:r>
                    </a:p>
                  </a:txBody>
                  <a:tcPr/>
                </a:tc>
                <a:tc>
                  <a:txBody>
                    <a:bodyPr lIns="54864" rIns="54864" tIns="18288" bIns="18288" wrap="square" anchor="ctr"/>
                    <a:lstStyle/>
                    <a:p>
                      <a:pPr algn="l"/>
                      <a:r>
                        <a:rPr sz="850" b="0">
                          <a:solidFill>
                            <a:srgbClr val="000000"/>
                          </a:solidFill>
                          <a:latin typeface="Calibri"/>
                        </a:rPr>
                        <a:t>a patch too small to reach the rim tracks badly however good the estimator</a:t>
                      </a:r>
                    </a:p>
                  </a:txBody>
                  <a:tcPr/>
                </a:tc>
                <a:tc>
                  <a:txBody>
                    <a:bodyPr lIns="54864" rIns="54864" tIns="18288" bIns="18288" wrap="square" anchor="ctr"/>
                    <a:lstStyle/>
                    <a:p>
                      <a:pPr algn="l"/>
                      <a:r>
                        <a:rPr sz="850" b="0">
                          <a:solidFill>
                            <a:srgbClr val="000000"/>
                          </a:solidFill>
                          <a:latin typeface="Calibri"/>
                        </a:rPr>
                        <a:t>confirmed — 13× worse</a:t>
                      </a:r>
                    </a:p>
                  </a:txBody>
                  <a:tcPr/>
                </a:tc>
              </a:tr>
              <a:tr h="274320">
                <a:tc>
                  <a:txBody>
                    <a:bodyPr lIns="54864" rIns="54864" tIns="18288" bIns="18288" wrap="square" anchor="ctr"/>
                    <a:lstStyle/>
                    <a:p>
                      <a:pPr algn="l"/>
                      <a:r>
                        <a:rPr sz="850" b="0">
                          <a:solidFill>
                            <a:srgbClr val="000000"/>
                          </a:solidFill>
                          <a:latin typeface="Calibri"/>
                        </a:rPr>
                        <a:t>weighting uses the ramp; thresholding cuts it</a:t>
                      </a:r>
                    </a:p>
                  </a:txBody>
                  <a:tcPr/>
                </a:tc>
                <a:tc>
                  <a:txBody>
                    <a:bodyPr lIns="54864" rIns="54864" tIns="18288" bIns="18288" wrap="square" anchor="ctr"/>
                    <a:lstStyle/>
                    <a:p>
                      <a:pPr algn="l"/>
                      <a:r>
                        <a:rPr sz="850" b="0">
                          <a:solidFill>
                            <a:srgbClr val="000000"/>
                          </a:solidFill>
                          <a:latin typeface="Calibri"/>
                        </a:rPr>
                        <a:t>sweeping the threshold moves a binary centre much further than a weighted one</a:t>
                      </a:r>
                    </a:p>
                  </a:txBody>
                  <a:tcPr/>
                </a:tc>
                <a:tc>
                  <a:txBody>
                    <a:bodyPr lIns="54864" rIns="54864" tIns="18288" bIns="18288" wrap="square" anchor="ctr"/>
                    <a:lstStyle/>
                    <a:p>
                      <a:pPr algn="l"/>
                      <a:r>
                        <a:rPr sz="850" b="0">
                          <a:solidFill>
                            <a:srgbClr val="000000"/>
                          </a:solidFill>
                          <a:latin typeface="Calibri"/>
                        </a:rPr>
                        <a:t>confirmed — 2.4× and 2.5× further</a:t>
                      </a:r>
                    </a:p>
                  </a:txBody>
                  <a:tcPr/>
                </a:tc>
              </a:tr>
              <a:tr h="274320">
                <a:tc>
                  <a:txBody>
                    <a:bodyPr lIns="54864" rIns="54864" tIns="18288" bIns="18288" wrap="square" anchor="ctr"/>
                    <a:lstStyle/>
                    <a:p>
                      <a:pPr algn="l"/>
                      <a:r>
                        <a:rPr sz="850" b="0">
                          <a:solidFill>
                            <a:srgbClr val="000000"/>
                          </a:solidFill>
                          <a:latin typeface="Calibri"/>
                        </a:rPr>
                        <a:t>the estimator sets precision, not the value</a:t>
                      </a:r>
                    </a:p>
                  </a:txBody>
                  <a:tcPr/>
                </a:tc>
                <a:tc>
                  <a:txBody>
                    <a:bodyPr lIns="54864" rIns="54864" tIns="18288" bIns="18288" wrap="square" anchor="ctr"/>
                    <a:lstStyle/>
                    <a:p>
                      <a:pPr algn="l"/>
                      <a:r>
                        <a:rPr sz="850" b="0">
                          <a:solidFill>
                            <a:srgbClr val="000000"/>
                          </a:solidFill>
                          <a:latin typeface="Calibri"/>
                        </a:rPr>
                        <a:t>all three agree on Px₀ and on peak strain, and differ only in scatter</a:t>
                      </a:r>
                    </a:p>
                  </a:txBody>
                  <a:tcPr/>
                </a:tc>
                <a:tc>
                  <a:txBody>
                    <a:bodyPr lIns="54864" rIns="54864" tIns="18288" bIns="18288" wrap="square" anchor="ctr"/>
                    <a:lstStyle/>
                    <a:p>
                      <a:pPr algn="l"/>
                      <a:r>
                        <a:rPr sz="850" b="0">
                          <a:solidFill>
                            <a:srgbClr val="000000"/>
                          </a:solidFill>
                          <a:latin typeface="Calibri"/>
                        </a:rPr>
                        <a:t>confirmed — Px₀ within 0.05 %</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bound in (1) is the Cramér–Rao limit for feature localisation; it is quoted to say WHERE the information is, not to claim the estimator attains it. Proof on p288 and p289.</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(1 OF 2) — PATCH SIZE FIRST, THEN THE ESTIMATOR</a:t>
            </a:r>
          </a:p>
        </p:txBody>
      </p:sp>
      <p:pic>
        <p:nvPicPr>
          <p:cNvPr id="5" name="Picture 4" descr="est_box.png"/>
          <p:cNvPicPr>
            <a:picLocks noChangeAspect="1"/>
          </p:cNvPicPr>
          <p:nvPr/>
        </p:nvPicPr>
        <p:blipFill>
          <a:blip r:embed="rId2"/>
          <a:stretch>
            <a:fillRect/>
          </a:stretch>
        </p:blipFill>
        <p:spPr>
          <a:xfrm>
            <a:off x="3043758" y="1060704"/>
            <a:ext cx="6074002" cy="2084832"/>
          </a:xfrm>
          <a:prstGeom prst="rect">
            <a:avLst/>
          </a:prstGeom>
        </p:spPr>
      </p:pic>
      <p:pic>
        <p:nvPicPr>
          <p:cNvPr id="6" name="Picture 5" descr="est_compare.png"/>
          <p:cNvPicPr>
            <a:picLocks noChangeAspect="1"/>
          </p:cNvPicPr>
          <p:nvPr/>
        </p:nvPicPr>
        <p:blipFill>
          <a:blip r:embed="rId3"/>
          <a:stretch>
            <a:fillRect/>
          </a:stretch>
        </p:blipFill>
        <p:spPr>
          <a:xfrm>
            <a:off x="2997000" y="3218688"/>
            <a:ext cx="6167518" cy="2084832"/>
          </a:xfrm>
          <a:prstGeom prst="rect">
            <a:avLst/>
          </a:prstGeom>
        </p:spPr>
      </p:pic>
      <p:sp>
        <p:nvSpPr>
          <p:cNvPr id="7" name="Rounded Rectangle 6"/>
          <p:cNvSpPr/>
          <p:nvPr/>
        </p:nvSpPr>
        <p:spPr>
          <a:xfrm>
            <a:off x="411480" y="5413248"/>
            <a:ext cx="2697480" cy="80467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PATCH TOO SMALL (&lt; 1× r)</a:t>
            </a:r>
          </a:p>
        </p:txBody>
      </p:sp>
      <p:sp>
        <p:nvSpPr>
          <p:cNvPr id="8" name="Rounded Rectangle 7"/>
          <p:cNvSpPr/>
          <p:nvPr/>
        </p:nvSpPr>
        <p:spPr>
          <a:xfrm>
            <a:off x="329184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 µε</a:t>
            </a:r>
          </a:p>
          <a:p>
            <a:pPr algn="ctr"/>
            <a:r>
              <a:rPr sz="950">
                <a:solidFill>
                  <a:srgbClr val="000000"/>
                </a:solidFill>
                <a:latin typeface="Calibri"/>
              </a:rPr>
              <a:t>PATCH CLEAR OF THE EDGE</a:t>
            </a:r>
          </a:p>
        </p:txBody>
      </p:sp>
      <p:sp>
        <p:nvSpPr>
          <p:cNvPr id="9" name="Rounded Rectangle 8"/>
          <p:cNvSpPr/>
          <p:nvPr/>
        </p:nvSpPr>
        <p:spPr>
          <a:xfrm>
            <a:off x="6172200" y="5413248"/>
            <a:ext cx="2697480" cy="80467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25.2 µε</a:t>
            </a:r>
          </a:p>
          <a:p>
            <a:pPr algn="ctr"/>
            <a:r>
              <a:rPr sz="950">
                <a:solidFill>
                  <a:srgbClr val="000000"/>
                </a:solidFill>
                <a:latin typeface="Calibri"/>
              </a:rPr>
              <a:t>BINARY CENTROID, WORST CASE</a:t>
            </a:r>
          </a:p>
        </p:txBody>
      </p:sp>
      <p:sp>
        <p:nvSpPr>
          <p:cNvPr id="10" name="Rounded Rectangle 9"/>
          <p:cNvSpPr/>
          <p:nvPr/>
        </p:nvSpPr>
        <p:spPr>
          <a:xfrm>
            <a:off x="905256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WEIGHTED, WORST CASE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Order of operations matters: patch size buys 13×, the estimator a further 1.4× — so a wrong patch cannot be repaired by a better estimator. Every configuration is scored over the same fixed FRAME window taken from the rig's own strain.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(2 OF 2) — ROBUSTNESS AND ACCURACY</a:t>
            </a:r>
          </a:p>
        </p:txBody>
      </p:sp>
      <p:pic>
        <p:nvPicPr>
          <p:cNvPr id="5" name="Picture 4" descr="est_threshold.png"/>
          <p:cNvPicPr>
            <a:picLocks noChangeAspect="1"/>
          </p:cNvPicPr>
          <p:nvPr/>
        </p:nvPicPr>
        <p:blipFill>
          <a:blip r:embed="rId2"/>
          <a:stretch>
            <a:fillRect/>
          </a:stretch>
        </p:blipFill>
        <p:spPr>
          <a:xfrm>
            <a:off x="3161741" y="1042415"/>
            <a:ext cx="5838037" cy="1938528"/>
          </a:xfrm>
          <a:prstGeom prst="rect">
            <a:avLst/>
          </a:prstGeom>
        </p:spPr>
      </p:pic>
      <p:pic>
        <p:nvPicPr>
          <p:cNvPr id="6" name="Picture 5" descr="est_accuracy.png"/>
          <p:cNvPicPr>
            <a:picLocks noChangeAspect="1"/>
          </p:cNvPicPr>
          <p:nvPr/>
        </p:nvPicPr>
        <p:blipFill>
          <a:blip r:embed="rId3"/>
          <a:stretch>
            <a:fillRect/>
          </a:stretch>
        </p:blipFill>
        <p:spPr>
          <a:xfrm>
            <a:off x="3229051" y="3054096"/>
            <a:ext cx="5703417" cy="1938528"/>
          </a:xfrm>
          <a:prstGeom prst="rect">
            <a:avLst/>
          </a:prstGeom>
        </p:spPr>
      </p:pic>
      <p:sp>
        <p:nvSpPr>
          <p:cNvPr id="7" name="TextBox 6"/>
          <p:cNvSpPr txBox="1"/>
          <p:nvPr/>
        </p:nvSpPr>
        <p:spPr>
          <a:xfrm>
            <a:off x="411480" y="50292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Precision bought without buying error</a:t>
            </a:r>
          </a:p>
        </p:txBody>
      </p:sp>
      <p:graphicFrame>
        <p:nvGraphicFramePr>
          <p:cNvPr id="8" name="Table 7"/>
          <p:cNvGraphicFramePr>
            <a:graphicFrameLocks noGrp="1"/>
          </p:cNvGraphicFramePr>
          <p:nvPr/>
        </p:nvGraphicFramePr>
        <p:xfrm>
          <a:off x="411480" y="5376672"/>
          <a:ext cx="5623560" cy="914400"/>
        </p:xfrm>
        <a:graphic>
          <a:graphicData uri="http://schemas.openxmlformats.org/drawingml/2006/table">
            <a:tbl>
              <a:tblPr firstRow="1" bandRow="1">
                <a:tableStyleId>{5C22544A-7EE6-4342-B048-85BDC9FD1C3A}</a:tableStyleId>
              </a:tblPr>
              <a:tblGrid>
                <a:gridCol w="3063240"/>
                <a:gridCol w="1280160"/>
                <a:gridCol w="1280160"/>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S25</a:t>
                      </a:r>
                    </a:p>
                  </a:txBody>
                  <a:tcPr>
                    <a:solidFill>
                      <a:srgbClr val="143D2F"/>
                    </a:solidFill>
                  </a:tcPr>
                </a:tc>
                <a:tc>
                  <a:txBody>
                    <a:bodyPr lIns="54864" rIns="54864" tIns="18288" bIns="18288" wrap="square" anchor="ctr"/>
                    <a:lstStyle/>
                    <a:p>
                      <a:pPr algn="l"/>
                      <a:r>
                        <a:rPr sz="950" b="1">
                          <a:solidFill>
                            <a:srgbClr val="FFFFFF"/>
                          </a:solidFill>
                          <a:latin typeface="Calibri"/>
                        </a:rPr>
                        <a:t>S26</a:t>
                      </a:r>
                    </a:p>
                  </a:txBody>
                  <a:tcPr>
                    <a:solidFill>
                      <a:srgbClr val="143D2F"/>
                    </a:solidFill>
                  </a:tcPr>
                </a:tc>
              </a:tr>
              <a:tr h="228600">
                <a:tc>
                  <a:txBody>
                    <a:bodyPr lIns="54864" rIns="54864" tIns="18288" bIns="18288" wrap="square" anchor="ctr"/>
                    <a:lstStyle/>
                    <a:p>
                      <a:pPr algn="l"/>
                      <a:r>
                        <a:rPr sz="850" b="0">
                          <a:solidFill>
                            <a:srgbClr val="000000"/>
                          </a:solidFill>
                          <a:latin typeface="Calibri"/>
                        </a:rPr>
                        <a:t>ε_f measured by the rig (%)</a:t>
                      </a:r>
                    </a:p>
                  </a:txBody>
                  <a:tcPr/>
                </a:tc>
                <a:tc>
                  <a:txBody>
                    <a:bodyPr lIns="54864" rIns="54864" tIns="18288" bIns="18288" wrap="square" anchor="ctr"/>
                    <a:lstStyle/>
                    <a:p>
                      <a:pPr algn="l"/>
                      <a:r>
                        <a:rPr sz="850" b="0">
                          <a:solidFill>
                            <a:srgbClr val="000000"/>
                          </a:solidFill>
                          <a:latin typeface="Calibri"/>
                        </a:rPr>
                        <a:t>4.18</a:t>
                      </a:r>
                    </a:p>
                  </a:txBody>
                  <a:tcPr/>
                </a:tc>
                <a:tc>
                  <a:txBody>
                    <a:bodyPr lIns="54864" rIns="54864" tIns="18288" bIns="18288" wrap="square" anchor="ctr"/>
                    <a:lstStyle/>
                    <a:p>
                      <a:pPr algn="l"/>
                      <a:r>
                        <a:rPr sz="850" b="0">
                          <a:solidFill>
                            <a:srgbClr val="000000"/>
                          </a:solidFill>
                          <a:latin typeface="Calibri"/>
                        </a:rPr>
                        <a:t>5.74</a:t>
                      </a:r>
                    </a:p>
                  </a:txBody>
                  <a:tcPr/>
                </a:tc>
              </a:tr>
              <a:tr h="228600">
                <a:tc>
                  <a:txBody>
                    <a:bodyPr lIns="54864" rIns="54864" tIns="18288" bIns="18288" wrap="square" anchor="ctr"/>
                    <a:lstStyle/>
                    <a:p>
                      <a:pPr algn="l"/>
                      <a:r>
                        <a:rPr sz="850" b="0">
                          <a:solidFill>
                            <a:srgbClr val="000000"/>
                          </a:solidFill>
                          <a:latin typeface="Calibri"/>
                        </a:rPr>
                        <a:t>peak ε re-measured here (%)</a:t>
                      </a:r>
                    </a:p>
                  </a:txBody>
                  <a:tcPr/>
                </a:tc>
                <a:tc>
                  <a:txBody>
                    <a:bodyPr lIns="54864" rIns="54864" tIns="18288" bIns="18288" wrap="square" anchor="ctr"/>
                    <a:lstStyle/>
                    <a:p>
                      <a:pPr algn="l"/>
                      <a:r>
                        <a:rPr sz="850" b="0">
                          <a:solidFill>
                            <a:srgbClr val="000000"/>
                          </a:solidFill>
                          <a:latin typeface="Calibri"/>
                        </a:rPr>
                        <a:t>4.17</a:t>
                      </a:r>
                    </a:p>
                  </a:txBody>
                  <a:tcPr/>
                </a:tc>
                <a:tc>
                  <a:txBody>
                    <a:bodyPr lIns="54864" rIns="54864" tIns="18288" bIns="18288" wrap="square" anchor="ctr"/>
                    <a:lstStyle/>
                    <a:p>
                      <a:pPr algn="l"/>
                      <a:r>
                        <a:rPr sz="850" b="0">
                          <a:solidFill>
                            <a:srgbClr val="000000"/>
                          </a:solidFill>
                          <a:latin typeface="Calibri"/>
                        </a:rPr>
                        <a:t>5.72</a:t>
                      </a:r>
                    </a:p>
                  </a:txBody>
                  <a:tcPr/>
                </a:tc>
              </a:tr>
              <a:tr h="228600">
                <a:tc>
                  <a:txBody>
                    <a:bodyPr lIns="54864" rIns="54864" tIns="18288" bIns="18288" wrap="square" anchor="ctr"/>
                    <a:lstStyle/>
                    <a:p>
                      <a:pPr algn="l"/>
                      <a:r>
                        <a:rPr sz="850" b="0">
                          <a:solidFill>
                            <a:srgbClr val="000000"/>
                          </a:solidFill>
                          <a:latin typeface="Calibri"/>
                        </a:rPr>
                        <a:t>scatter against the live rig (µε)</a:t>
                      </a:r>
                    </a:p>
                  </a:txBody>
                  <a:tcPr/>
                </a:tc>
                <a:tc>
                  <a:txBody>
                    <a:bodyPr lIns="54864" rIns="54864" tIns="18288" bIns="18288" wrap="square" anchor="ctr"/>
                    <a:lstStyle/>
                    <a:p>
                      <a:pPr algn="l"/>
                      <a:r>
                        <a:rPr sz="850" b="0">
                          <a:solidFill>
                            <a:srgbClr val="000000"/>
                          </a:solidFill>
                          <a:latin typeface="Calibri"/>
                        </a:rPr>
                        <a:t>330</a:t>
                      </a:r>
                    </a:p>
                  </a:txBody>
                  <a:tcPr/>
                </a:tc>
                <a:tc>
                  <a:txBody>
                    <a:bodyPr lIns="54864" rIns="54864" tIns="18288" bIns="18288" wrap="square" anchor="ctr"/>
                    <a:lstStyle/>
                    <a:p>
                      <a:pPr algn="l"/>
                      <a:r>
                        <a:rPr sz="850" b="0">
                          <a:solidFill>
                            <a:srgbClr val="000000"/>
                          </a:solidFill>
                          <a:latin typeface="Calibri"/>
                        </a:rPr>
                        <a:t>363</a:t>
                      </a:r>
                    </a:p>
                  </a:txBody>
                  <a:tcPr/>
                </a:tc>
              </a:tr>
            </a:tbl>
          </a:graphicData>
        </a:graphic>
      </p:graphicFrame>
      <p:sp>
        <p:nvSpPr>
          <p:cNvPr id="9" name="TextBox 8"/>
          <p:cNvSpPr txBox="1"/>
          <p:nvPr/>
        </p:nvSpPr>
        <p:spPr>
          <a:xfrm>
            <a:off x="6263640" y="50292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Tested, and WITHDRAWN — artefacts of a moving window</a:t>
            </a:r>
          </a:p>
        </p:txBody>
      </p:sp>
      <p:graphicFrame>
        <p:nvGraphicFramePr>
          <p:cNvPr id="10" name="Table 9"/>
          <p:cNvGraphicFramePr>
            <a:graphicFrameLocks noGrp="1"/>
          </p:cNvGraphicFramePr>
          <p:nvPr/>
        </p:nvGraphicFramePr>
        <p:xfrm>
          <a:off x="6263640" y="5376672"/>
          <a:ext cx="5577839" cy="914400"/>
        </p:xfrm>
        <a:graphic>
          <a:graphicData uri="http://schemas.openxmlformats.org/drawingml/2006/table">
            <a:tbl>
              <a:tblPr firstRow="1" bandRow="1">
                <a:tableStyleId>{5C22544A-7EE6-4342-B048-85BDC9FD1C3A}</a:tableStyleId>
              </a:tblPr>
              <a:tblGrid>
                <a:gridCol w="2606039"/>
                <a:gridCol w="1783080"/>
                <a:gridCol w="1188720"/>
              </a:tblGrid>
              <a:tr h="304800">
                <a:tc>
                  <a:txBody>
                    <a:bodyPr lIns="54864" rIns="54864" tIns="18288" bIns="18288" wrap="square" anchor="ctr"/>
                    <a:lstStyle/>
                    <a:p>
                      <a:pPr algn="l"/>
                      <a:r>
                        <a:rPr sz="950" b="1">
                          <a:solidFill>
                            <a:srgbClr val="FFFFFF"/>
                          </a:solidFill>
                          <a:latin typeface="Calibri"/>
                        </a:rPr>
                        <a:t>Claim previously made here</a:t>
                      </a:r>
                    </a:p>
                  </a:txBody>
                  <a:tcPr>
                    <a:solidFill>
                      <a:srgbClr val="143D2F"/>
                    </a:solidFill>
                  </a:tcPr>
                </a:tc>
                <a:tc>
                  <a:txBody>
                    <a:bodyPr lIns="54864" rIns="54864" tIns="18288" bIns="18288" wrap="square" anchor="ctr"/>
                    <a:lstStyle/>
                    <a:p>
                      <a:pPr algn="l"/>
                      <a:r>
                        <a:rPr sz="950" b="1">
                          <a:solidFill>
                            <a:srgbClr val="FFFFFF"/>
                          </a:solidFill>
                          <a:latin typeface="Calibri"/>
                        </a:rPr>
                        <a:t>Re-measured</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750" b="0">
                          <a:solidFill>
                            <a:srgbClr val="000000"/>
                          </a:solidFill>
                          <a:latin typeface="Calibri"/>
                        </a:rPr>
                        <a:t>a centroid anchored to its own last position
beats one re-centred on correlation</a:t>
                      </a:r>
                    </a:p>
                  </a:txBody>
                  <a:tcPr/>
                </a:tc>
                <a:tc>
                  <a:txBody>
                    <a:bodyPr lIns="54864" rIns="54864" tIns="18288" bIns="18288" wrap="square" anchor="ctr"/>
                    <a:lstStyle/>
                    <a:p>
                      <a:pPr algn="l"/>
                      <a:r>
                        <a:rPr sz="750" b="0">
                          <a:solidFill>
                            <a:srgbClr val="000000"/>
                          </a:solidFill>
                          <a:latin typeface="Calibri"/>
                        </a:rPr>
                        <a:t>18.51 vs 18.52 µε (S25)
11.52 vs 11.49 µε (S26)</a:t>
                      </a:r>
                    </a:p>
                  </a:txBody>
                  <a:tcPr/>
                </a:tc>
                <a:tc>
                  <a:txBody>
                    <a:bodyPr lIns="54864" rIns="54864" tIns="18288" bIns="18288" wrap="square" anchor="ctr"/>
                    <a:lstStyle/>
                    <a:p>
                      <a:pPr algn="l"/>
                      <a:r>
                        <a:rPr sz="750" b="0">
                          <a:solidFill>
                            <a:srgbClr val="000000"/>
                          </a:solidFill>
                          <a:latin typeface="Calibri"/>
                        </a:rPr>
                        <a:t>no effect —
withdrawn</a:t>
                      </a:r>
                    </a:p>
                  </a:txBody>
                  <a:tcPr/>
                </a:tc>
              </a:tr>
              <a:tr h="304800">
                <a:tc>
                  <a:txBody>
                    <a:bodyPr lIns="54864" rIns="54864" tIns="18288" bIns="18288" wrap="square" anchor="ctr"/>
                    <a:lstStyle/>
                    <a:p>
                      <a:pPr algn="l"/>
                      <a:r>
                        <a:rPr sz="750" b="0">
                          <a:solidFill>
                            <a:srgbClr val="000000"/>
                          </a:solidFill>
                          <a:latin typeface="Calibri"/>
                        </a:rPr>
                        <a:t>a fixed grey level beats per-frame Otsu,
by about six times</a:t>
                      </a:r>
                    </a:p>
                  </a:txBody>
                  <a:tcPr/>
                </a:tc>
                <a:tc>
                  <a:txBody>
                    <a:bodyPr lIns="54864" rIns="54864" tIns="18288" bIns="18288" wrap="square" anchor="ctr"/>
                    <a:lstStyle/>
                    <a:p>
                      <a:pPr algn="l"/>
                      <a:r>
                        <a:rPr sz="750" b="0">
                          <a:solidFill>
                            <a:srgbClr val="000000"/>
                          </a:solidFill>
                          <a:latin typeface="Calibri"/>
                        </a:rPr>
                        <a:t>18.5 vs 18.2 µε (S25)
11.5 vs 11.2 µε (S26)</a:t>
                      </a:r>
                    </a:p>
                  </a:txBody>
                  <a:tcPr/>
                </a:tc>
                <a:tc>
                  <a:txBody>
                    <a:bodyPr lIns="54864" rIns="54864" tIns="18288" bIns="18288" wrap="square" anchor="ctr"/>
                    <a:lstStyle/>
                    <a:p>
                      <a:pPr algn="l"/>
                      <a:r>
                        <a:rPr sz="750" b="0">
                          <a:solidFill>
                            <a:srgbClr val="000000"/>
                          </a:solidFill>
                          <a:latin typeface="Calibri"/>
                        </a:rPr>
                        <a:t>equal within 2 %
— withdrawn</a:t>
                      </a:r>
                    </a:p>
                  </a:txBody>
                  <a:tcPr/>
                </a:tc>
              </a:tr>
            </a:tbl>
          </a:graphicData>
        </a:graphic>
      </p:graphicFrame>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fixed level is KEPT — for reproducibility, since it depends only on the reference frame — but it is not what makes the centroid quiet; the weighting is, which is why the level stopped mattering. The −473 / −526 µε offset against the live rig is the same in every mode, so it is not the estimator.</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HOW THE NOISE IS MEASURED — AND WHAT A MICROSTRAIN IS</a:t>
            </a:r>
          </a:p>
        </p:txBody>
      </p:sp>
      <p:pic>
        <p:nvPicPr>
          <p:cNvPr id="5" name="Picture 4" descr="est_noise_method.png"/>
          <p:cNvPicPr>
            <a:picLocks noChangeAspect="1"/>
          </p:cNvPicPr>
          <p:nvPr/>
        </p:nvPicPr>
        <p:blipFill>
          <a:blip r:embed="rId2"/>
          <a:stretch>
            <a:fillRect/>
          </a:stretch>
        </p:blipFill>
        <p:spPr>
          <a:xfrm>
            <a:off x="2145146" y="1060704"/>
            <a:ext cx="7871227" cy="2395728"/>
          </a:xfrm>
          <a:prstGeom prst="rect">
            <a:avLst/>
          </a:prstGeom>
        </p:spPr>
      </p:pic>
      <p:sp>
        <p:nvSpPr>
          <p:cNvPr id="6" name="TextBox 5"/>
          <p:cNvSpPr txBox="1"/>
          <p:nvPr/>
        </p:nvSpPr>
        <p:spPr>
          <a:xfrm>
            <a:off x="41148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unit: microstrain (µε)</a:t>
            </a:r>
          </a:p>
        </p:txBody>
      </p:sp>
      <p:sp>
        <p:nvSpPr>
          <p:cNvPr id="7" name="TextBox 6"/>
          <p:cNvSpPr txBox="1"/>
          <p:nvPr/>
        </p:nvSpPr>
        <p:spPr>
          <a:xfrm>
            <a:off x="411480" y="4005072"/>
            <a:ext cx="3703320" cy="1874519"/>
          </a:xfrm>
          <a:prstGeom prst="rect">
            <a:avLst/>
          </a:prstGeom>
          <a:noFill/>
        </p:spPr>
        <p:txBody>
          <a:bodyPr wrap="square" lIns="45720" rIns="45720" tIns="18288" bIns="18288" anchor="t">
            <a:spAutoFit/>
          </a:bodyPr>
          <a:lstStyle/>
          <a:p>
            <a:pPr algn="l"/>
            <a:r>
              <a:rPr sz="1000" b="0" i="0">
                <a:solidFill>
                  <a:srgbClr val="000000"/>
                </a:solidFill>
                <a:latin typeface="Calibri"/>
              </a:rPr>
              <a:t>Strain is a length divided by a length, so it carries NO unit. That makes the raw numbers inconveniently small — a good measurement here is 0.000011 — so they are quoted in millionths.
        1 µε  =  10⁻⁶ strain  =  0.0001 %
On this rig's 80 mm gauge, 1 µε is 0.08 µm of extension. Across the 1676 px pixel baseline it is 0.0017 px of marker movement — which is why sub-pixel estimation is not optional.</a:t>
            </a:r>
          </a:p>
        </p:txBody>
      </p:sp>
      <p:sp>
        <p:nvSpPr>
          <p:cNvPr id="8" name="TextBox 7"/>
          <p:cNvSpPr txBox="1"/>
          <p:nvPr/>
        </p:nvSpPr>
        <p:spPr>
          <a:xfrm>
            <a:off x="434340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measurement, in three steps</a:t>
            </a:r>
          </a:p>
        </p:txBody>
      </p:sp>
      <p:graphicFrame>
        <p:nvGraphicFramePr>
          <p:cNvPr id="9" name="Table 8"/>
          <p:cNvGraphicFramePr>
            <a:graphicFrameLocks noGrp="1"/>
          </p:cNvGraphicFramePr>
          <p:nvPr/>
        </p:nvGraphicFramePr>
        <p:xfrm>
          <a:off x="4343400" y="4005072"/>
          <a:ext cx="3703320" cy="1874519"/>
        </p:xfrm>
        <a:graphic>
          <a:graphicData uri="http://schemas.openxmlformats.org/drawingml/2006/table">
            <a:tbl>
              <a:tblPr firstRow="1" bandRow="1">
                <a:tableStyleId>{5C22544A-7EE6-4342-B048-85BDC9FD1C3A}</a:tableStyleId>
              </a:tblPr>
              <a:tblGrid>
                <a:gridCol w="320040"/>
                <a:gridCol w="1828800"/>
                <a:gridCol w="1554480"/>
              </a:tblGrid>
              <a:tr h="468629">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468629">
                <a:tc>
                  <a:txBody>
                    <a:bodyPr lIns="54864" rIns="54864" tIns="18288" bIns="18288" wrap="square" anchor="ctr"/>
                    <a:lstStyle/>
                    <a:p>
                      <a:pPr algn="l"/>
                      <a:r>
                        <a:rPr sz="800" b="0">
                          <a:solidFill>
                            <a:srgbClr val="000000"/>
                          </a:solidFill>
                          <a:latin typeface="Calibri"/>
                        </a:rPr>
                        <a:t>1</a:t>
                      </a:r>
                    </a:p>
                  </a:txBody>
                  <a:tcPr/>
                </a:tc>
                <a:tc>
                  <a:txBody>
                    <a:bodyPr lIns="54864" rIns="54864" tIns="18288" bIns="18288" wrap="square" anchor="ctr"/>
                    <a:lstStyle/>
                    <a:p>
                      <a:pPr algn="l"/>
                      <a:r>
                        <a:rPr sz="800" b="0">
                          <a:solidFill>
                            <a:srgbClr val="000000"/>
                          </a:solidFill>
                          <a:latin typeface="Calibri"/>
                        </a:rPr>
                        <a:t>Take a SHORT window where the
true response is nearly straight</a:t>
                      </a:r>
                    </a:p>
                  </a:txBody>
                  <a:tcPr/>
                </a:tc>
                <a:tc>
                  <a:txBody>
                    <a:bodyPr lIns="54864" rIns="54864" tIns="18288" bIns="18288" wrap="square" anchor="ctr"/>
                    <a:lstStyle/>
                    <a:p>
                      <a:pPr algn="l"/>
                      <a:r>
                        <a:rPr sz="800" b="0">
                          <a:solidFill>
                            <a:srgbClr val="000000"/>
                          </a:solidFill>
                          <a:latin typeface="Calibri"/>
                        </a:rPr>
                        <a:t>0.02 – 0.32 % strain, 50 points</a:t>
                      </a:r>
                    </a:p>
                  </a:txBody>
                  <a:tcPr/>
                </a:tc>
              </a:tr>
              <a:tr h="468629">
                <a:tc>
                  <a:txBody>
                    <a:bodyPr lIns="54864" rIns="54864" tIns="18288" bIns="18288" wrap="square" anchor="ctr"/>
                    <a:lstStyle/>
                    <a:p>
                      <a:pPr algn="l"/>
                      <a:r>
                        <a:rPr sz="800" b="0">
                          <a:solidFill>
                            <a:srgbClr val="000000"/>
                          </a:solidFill>
                          <a:latin typeface="Calibri"/>
                        </a:rPr>
                        <a:t>2</a:t>
                      </a:r>
                    </a:p>
                  </a:txBody>
                  <a:tcPr/>
                </a:tc>
                <a:tc>
                  <a:txBody>
                    <a:bodyPr lIns="54864" rIns="54864" tIns="18288" bIns="18288" wrap="square" anchor="ctr"/>
                    <a:lstStyle/>
                    <a:p>
                      <a:pPr algn="l"/>
                      <a:r>
                        <a:rPr sz="800" b="0">
                          <a:solidFill>
                            <a:srgbClr val="000000"/>
                          </a:solidFill>
                          <a:latin typeface="Calibri"/>
                        </a:rPr>
                        <a:t>Fit a straight line to the marker
separation L over that window</a:t>
                      </a:r>
                    </a:p>
                  </a:txBody>
                  <a:tcPr/>
                </a:tc>
                <a:tc>
                  <a:txBody>
                    <a:bodyPr lIns="54864" rIns="54864" tIns="18288" bIns="18288" wrap="square" anchor="ctr"/>
                    <a:lstStyle/>
                    <a:p>
                      <a:pPr algn="l"/>
                      <a:r>
                        <a:rPr sz="800" b="0">
                          <a:solidFill>
                            <a:srgbClr val="000000"/>
                          </a:solidFill>
                          <a:latin typeface="Calibri"/>
                        </a:rPr>
                        <a:t>the material is still elastic
there, so a line IS the model</a:t>
                      </a:r>
                    </a:p>
                  </a:txBody>
                  <a:tcPr/>
                </a:tc>
              </a:tr>
              <a:tr h="468632">
                <a:tc>
                  <a:txBody>
                    <a:bodyPr lIns="54864" rIns="54864" tIns="18288" bIns="18288" wrap="square" anchor="ctr"/>
                    <a:lstStyle/>
                    <a:p>
                      <a:pPr algn="l"/>
                      <a:r>
                        <a:rPr sz="800" b="0">
                          <a:solidFill>
                            <a:srgbClr val="000000"/>
                          </a:solidFill>
                          <a:latin typeface="Calibri"/>
                        </a:rPr>
                        <a:t>3</a:t>
                      </a:r>
                    </a:p>
                  </a:txBody>
                  <a:tcPr/>
                </a:tc>
                <a:tc>
                  <a:txBody>
                    <a:bodyPr lIns="54864" rIns="54864" tIns="18288" bIns="18288" wrap="square" anchor="ctr"/>
                    <a:lstStyle/>
                    <a:p>
                      <a:pPr algn="l"/>
                      <a:r>
                        <a:rPr sz="800" b="0">
                          <a:solidFill>
                            <a:srgbClr val="000000"/>
                          </a:solidFill>
                          <a:latin typeface="Calibri"/>
                        </a:rPr>
                        <a:t>Take the standard deviation of
what is left, ÷ Px₀, × 10⁶</a:t>
                      </a:r>
                    </a:p>
                  </a:txBody>
                  <a:tcPr/>
                </a:tc>
                <a:tc>
                  <a:txBody>
                    <a:bodyPr lIns="54864" rIns="54864" tIns="18288" bIns="18288" wrap="square" anchor="ctr"/>
                    <a:lstStyle/>
                    <a:p>
                      <a:pPr algn="l"/>
                      <a:r>
                        <a:rPr sz="800" b="0">
                          <a:solidFill>
                            <a:srgbClr val="000000"/>
                          </a:solidFill>
                          <a:latin typeface="Calibri"/>
                        </a:rPr>
                        <a:t>0.019 px  →  11.3 µε</a:t>
                      </a:r>
                    </a:p>
                  </a:txBody>
                  <a:tcPr/>
                </a:tc>
              </a:tr>
            </a:tbl>
          </a:graphicData>
        </a:graphic>
      </p:graphicFrame>
      <p:sp>
        <p:nvSpPr>
          <p:cNvPr id="10" name="TextBox 9"/>
          <p:cNvSpPr txBox="1"/>
          <p:nvPr/>
        </p:nvSpPr>
        <p:spPr>
          <a:xfrm>
            <a:off x="8275320" y="3657600"/>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NOT</a:t>
            </a:r>
          </a:p>
        </p:txBody>
      </p:sp>
      <p:sp>
        <p:nvSpPr>
          <p:cNvPr id="11" name="TextBox 10"/>
          <p:cNvSpPr txBox="1"/>
          <p:nvPr/>
        </p:nvSpPr>
        <p:spPr>
          <a:xfrm>
            <a:off x="8275320" y="4005072"/>
            <a:ext cx="3566160" cy="1874519"/>
          </a:xfrm>
          <a:prstGeom prst="rect">
            <a:avLst/>
          </a:prstGeom>
          <a:noFill/>
        </p:spPr>
        <p:txBody>
          <a:bodyPr wrap="square" lIns="45720" rIns="45720" tIns="18288" bIns="18288" anchor="t">
            <a:spAutoFit/>
          </a:bodyPr>
          <a:lstStyle/>
          <a:p>
            <a:pPr algn="l"/>
            <a:r>
              <a:rPr sz="1000" b="0" i="0">
                <a:solidFill>
                  <a:srgbClr val="000000"/>
                </a:solidFill>
                <a:latin typeface="Calibri"/>
              </a:rPr>
              <a:t>Noise is the SCATTER, not the error in the answer. A measurement can be quiet and still be offset — which is why accuracy is checked separately, against the live rig (p289).
It is not a fixed property of the rig either. It depends on the estimator, the patch size and the marker, so a microstrain figure only means something alongside the settings that produced it.</a:t>
            </a:r>
          </a:p>
        </p:txBody>
      </p:sp>
      <p:sp>
        <p:nvSpPr>
          <p:cNvPr id="12" name="Rectangle 11"/>
          <p:cNvSpPr/>
          <p:nvPr/>
        </p:nvSpPr>
        <p:spPr>
          <a:xfrm>
            <a:off x="365760" y="5989320"/>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window must be SHORT and nearly straight, and fixed the same way for anything being compared. Detrending a whole fracture curve with a polynomial measures how badly the polynomial fits — a mistake already made once in this project, and the reason every figure here is scored over one window pinned in frame numbers.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Worked on S26 with the chosen estimator, over the same window every other estimator figure uses — so this walkthrough lands on 11.3 µε, the same number quoted on p288.</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XT-205 vs PPD-UTM — WHAT WAS TESTED, AND HOW</a:t>
            </a:r>
          </a:p>
        </p:txBody>
      </p:sp>
      <p:pic>
        <p:nvPicPr>
          <p:cNvPr id="5" name="Picture 4" descr="motpp_setup.png"/>
          <p:cNvPicPr>
            <a:picLocks noChangeAspect="1"/>
          </p:cNvPicPr>
          <p:nvPr/>
        </p:nvPicPr>
        <p:blipFill>
          <a:blip r:embed="rId2"/>
          <a:stretch>
            <a:fillRect/>
          </a:stretch>
        </p:blipFill>
        <p:spPr>
          <a:xfrm>
            <a:off x="3883147" y="1060704"/>
            <a:ext cx="4395224" cy="2487167"/>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design: three legs, so a disagreement can be attributed</a:t>
            </a:r>
          </a:p>
        </p:txBody>
      </p:sp>
      <p:graphicFrame>
        <p:nvGraphicFramePr>
          <p:cNvPr id="7" name="Table 6"/>
          <p:cNvGraphicFramePr>
            <a:graphicFrameLocks noGrp="1"/>
          </p:cNvGraphicFramePr>
          <p:nvPr/>
        </p:nvGraphicFramePr>
        <p:xfrm>
          <a:off x="411480" y="4023360"/>
          <a:ext cx="5623560" cy="1481328"/>
        </p:xfrm>
        <a:graphic>
          <a:graphicData uri="http://schemas.openxmlformats.org/drawingml/2006/table">
            <a:tbl>
              <a:tblPr firstRow="1" bandRow="1">
                <a:tableStyleId>{5C22544A-7EE6-4342-B048-85BDC9FD1C3A}</a:tableStyleId>
              </a:tblPr>
              <a:tblGrid>
                <a:gridCol w="2194560"/>
                <a:gridCol w="2148840"/>
                <a:gridCol w="1280160"/>
              </a:tblGrid>
              <a:tr h="370332">
                <a:tc>
                  <a:txBody>
                    <a:bodyPr lIns="54864" rIns="54864" tIns="18288" bIns="18288" wrap="square" anchor="ctr"/>
                    <a:lstStyle/>
                    <a:p>
                      <a:pPr algn="l"/>
                      <a:r>
                        <a:rPr sz="950" b="1">
                          <a:solidFill>
                            <a:srgbClr val="FFFFFF"/>
                          </a:solidFill>
                          <a:latin typeface="Calibri"/>
                        </a:rPr>
                        <a:t>Comparison</a:t>
                      </a:r>
                    </a:p>
                  </a:txBody>
                  <a:tcPr>
                    <a:solidFill>
                      <a:srgbClr val="143D2F"/>
                    </a:solidFill>
                  </a:tcPr>
                </a:tc>
                <a:tc>
                  <a:txBody>
                    <a:bodyPr lIns="54864" rIns="54864" tIns="18288" bIns="18288" wrap="square" anchor="ctr"/>
                    <a:lstStyle/>
                    <a:p>
                      <a:pPr algn="l"/>
                      <a:r>
                        <a:rPr sz="950" b="1">
                          <a:solidFill>
                            <a:srgbClr val="FFFFFF"/>
                          </a:solidFill>
                          <a:latin typeface="Calibri"/>
                        </a:rPr>
                        <a:t>What differs</a:t>
                      </a:r>
                    </a:p>
                  </a:txBody>
                  <a:tcPr>
                    <a:solidFill>
                      <a:srgbClr val="143D2F"/>
                    </a:solidFill>
                  </a:tcPr>
                </a:tc>
                <a:tc>
                  <a:txBody>
                    <a:bodyPr lIns="54864" rIns="54864" tIns="18288" bIns="18288" wrap="square" anchor="ctr"/>
                    <a:lstStyle/>
                    <a:p>
                      <a:pPr algn="l"/>
                      <a:r>
                        <a:rPr sz="950" b="1">
                          <a:solidFill>
                            <a:srgbClr val="FFFFFF"/>
                          </a:solidFill>
                          <a:latin typeface="Calibri"/>
                        </a:rPr>
                        <a:t>What it isolates</a:t>
                      </a:r>
                    </a:p>
                  </a:txBody>
                  <a:tcPr>
                    <a:solidFill>
                      <a:srgbClr val="143D2F"/>
                    </a:solidFill>
                  </a:tcPr>
                </a:tc>
              </a:tr>
              <a:tr h="370332">
                <a:tc>
                  <a:txBody>
                    <a:bodyPr lIns="54864" rIns="54864" tIns="18288" bIns="18288" wrap="square" anchor="ctr"/>
                    <a:lstStyle/>
                    <a:p>
                      <a:pPr algn="l"/>
                      <a:r>
                        <a:rPr sz="800" b="0">
                          <a:solidFill>
                            <a:srgbClr val="000000"/>
                          </a:solidFill>
                          <a:latin typeface="Calibri"/>
                        </a:rPr>
                        <a:t>XT-205 extensometer  vs
PPD-UTM DIC on the same footage</a:t>
                      </a:r>
                    </a:p>
                  </a:txBody>
                  <a:tcPr/>
                </a:tc>
                <a:tc>
                  <a:txBody>
                    <a:bodyPr lIns="54864" rIns="54864" tIns="18288" bIns="18288" wrap="square" anchor="ctr"/>
                    <a:lstStyle/>
                    <a:p>
                      <a:pPr algn="l"/>
                      <a:r>
                        <a:rPr sz="800" b="0">
                          <a:solidFill>
                            <a:srgbClr val="000000"/>
                          </a:solidFill>
                          <a:latin typeface="Calibri"/>
                        </a:rPr>
                        <a:t>only the analysis — same footage,
specimen and instant</a:t>
                      </a:r>
                    </a:p>
                  </a:txBody>
                  <a:tcPr/>
                </a:tc>
                <a:tc>
                  <a:txBody>
                    <a:bodyPr lIns="54864" rIns="54864" tIns="18288" bIns="18288" wrap="square" anchor="ctr"/>
                    <a:lstStyle/>
                    <a:p>
                      <a:pPr algn="l"/>
                      <a:r>
                        <a:rPr sz="800" b="0">
                          <a:solidFill>
                            <a:srgbClr val="000000"/>
                          </a:solidFill>
                          <a:latin typeface="Calibri"/>
                        </a:rPr>
                        <a:t>the CALCULATION</a:t>
                      </a:r>
                    </a:p>
                  </a:txBody>
                  <a:tcPr/>
                </a:tc>
              </a:tr>
              <a:tr h="370332">
                <a:tc>
                  <a:txBody>
                    <a:bodyPr lIns="54864" rIns="54864" tIns="18288" bIns="18288" wrap="square" anchor="ctr"/>
                    <a:lstStyle/>
                    <a:p>
                      <a:pPr algn="l"/>
                      <a:r>
                        <a:rPr sz="800" b="0">
                          <a:solidFill>
                            <a:srgbClr val="000000"/>
                          </a:solidFill>
                          <a:latin typeface="Calibri"/>
                        </a:rPr>
                        <a:t>PPD-UTM DIC on XT-205 footage  vs
PPD-UTM DIC on S25 / S26</a:t>
                      </a:r>
                    </a:p>
                  </a:txBody>
                  <a:tcPr/>
                </a:tc>
                <a:tc>
                  <a:txBody>
                    <a:bodyPr lIns="54864" rIns="54864" tIns="18288" bIns="18288" wrap="square" anchor="ctr"/>
                    <a:lstStyle/>
                    <a:p>
                      <a:pPr algn="l"/>
                      <a:r>
                        <a:rPr sz="800" b="0">
                          <a:solidFill>
                            <a:srgbClr val="000000"/>
                          </a:solidFill>
                          <a:latin typeface="Calibri"/>
                        </a:rPr>
                        <a:t>the machine and the mounting,
not the analysis</a:t>
                      </a:r>
                    </a:p>
                  </a:txBody>
                  <a:tcPr/>
                </a:tc>
                <a:tc>
                  <a:txBody>
                    <a:bodyPr lIns="54864" rIns="54864" tIns="18288" bIns="18288" wrap="square" anchor="ctr"/>
                    <a:lstStyle/>
                    <a:p>
                      <a:pPr algn="l"/>
                      <a:r>
                        <a:rPr sz="800" b="0">
                          <a:solidFill>
                            <a:srgbClr val="000000"/>
                          </a:solidFill>
                          <a:latin typeface="Calibri"/>
                        </a:rPr>
                        <a:t>the RIG</a:t>
                      </a:r>
                    </a:p>
                  </a:txBody>
                  <a:tcPr/>
                </a:tc>
              </a:tr>
              <a:tr h="370332">
                <a:tc>
                  <a:txBody>
                    <a:bodyPr lIns="54864" rIns="54864" tIns="18288" bIns="18288" wrap="square" anchor="ctr"/>
                    <a:lstStyle/>
                    <a:p>
                      <a:pPr algn="l"/>
                      <a:r>
                        <a:rPr sz="800" b="0">
                          <a:solidFill>
                            <a:srgbClr val="000000"/>
                          </a:solidFill>
                          <a:latin typeface="Calibri"/>
                        </a:rPr>
                        <a:t>(previously) XT-205  vs  PPD-UTM</a:t>
                      </a:r>
                    </a:p>
                  </a:txBody>
                  <a:tcPr/>
                </a:tc>
                <a:tc>
                  <a:txBody>
                    <a:bodyPr lIns="54864" rIns="54864" tIns="18288" bIns="18288" wrap="square" anchor="ctr"/>
                    <a:lstStyle/>
                    <a:p>
                      <a:pPr algn="l"/>
                      <a:r>
                        <a:rPr sz="800" b="0">
                          <a:solidFill>
                            <a:srgbClr val="000000"/>
                          </a:solidFill>
                          <a:latin typeface="Calibri"/>
                        </a:rPr>
                        <a:t>instrument AND specimen at once</a:t>
                      </a:r>
                    </a:p>
                  </a:txBody>
                  <a:tcPr/>
                </a:tc>
                <a:tc>
                  <a:txBody>
                    <a:bodyPr lIns="54864" rIns="54864" tIns="18288" bIns="18288" wrap="square" anchor="ctr"/>
                    <a:lstStyle/>
                    <a:p>
                      <a:pPr algn="l"/>
                      <a:r>
                        <a:rPr sz="800" b="0">
                          <a:solidFill>
                            <a:srgbClr val="000000"/>
                          </a:solidFill>
                          <a:latin typeface="Calibri"/>
                        </a:rPr>
                        <a:t>nothing, on its own</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records</a:t>
            </a:r>
          </a:p>
        </p:txBody>
      </p:sp>
      <p:graphicFrame>
        <p:nvGraphicFramePr>
          <p:cNvPr id="9" name="Table 8"/>
          <p:cNvGraphicFramePr>
            <a:graphicFrameLocks noGrp="1"/>
          </p:cNvGraphicFramePr>
          <p:nvPr/>
        </p:nvGraphicFramePr>
        <p:xfrm>
          <a:off x="6263640" y="4023360"/>
          <a:ext cx="5577840" cy="1481328"/>
        </p:xfrm>
        <a:graphic>
          <a:graphicData uri="http://schemas.openxmlformats.org/drawingml/2006/table">
            <a:tbl>
              <a:tblPr firstRow="1" bandRow="1">
                <a:tableStyleId>{5C22544A-7EE6-4342-B048-85BDC9FD1C3A}</a:tableStyleId>
              </a:tblPr>
              <a:tblGrid>
                <a:gridCol w="1691640"/>
                <a:gridCol w="1965960"/>
                <a:gridCol w="1920240"/>
              </a:tblGrid>
              <a:tr h="21161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  (S25/S26)</a:t>
                      </a:r>
                    </a:p>
                  </a:txBody>
                  <a:tcPr>
                    <a:solidFill>
                      <a:srgbClr val="143D2F"/>
                    </a:solidFill>
                  </a:tcPr>
                </a:tc>
              </a:tr>
              <a:tr h="211618">
                <a:tc>
                  <a:txBody>
                    <a:bodyPr lIns="54864" rIns="54864" tIns="18288" bIns="18288" wrap="square" anchor="ctr"/>
                    <a:lstStyle/>
                    <a:p>
                      <a:pPr algn="l"/>
                      <a:r>
                        <a:rPr sz="800" b="0">
                          <a:solidFill>
                            <a:srgbClr val="000000"/>
                          </a:solidFill>
                          <a:latin typeface="Calibri"/>
                        </a:rPr>
                        <a:t>configuration</a:t>
                      </a:r>
                    </a:p>
                  </a:txBody>
                  <a:tcPr/>
                </a:tc>
                <a:tc>
                  <a:txBody>
                    <a:bodyPr lIns="54864" rIns="54864" tIns="18288" bIns="18288" wrap="square" anchor="ctr"/>
                    <a:lstStyle/>
                    <a:p>
                      <a:pPr algn="l"/>
                      <a:r>
                        <a:rPr sz="800" b="0">
                          <a:solidFill>
                            <a:srgbClr val="000000"/>
                          </a:solidFill>
                          <a:latin typeface="Calibri"/>
                        </a:rPr>
                        <a:t>—</a:t>
                      </a:r>
                    </a:p>
                  </a:txBody>
                  <a:tcPr/>
                </a:tc>
                <a:tc>
                  <a:txBody>
                    <a:bodyPr lIns="54864" rIns="54864" tIns="18288" bIns="18288" wrap="square" anchor="ctr"/>
                    <a:lstStyle/>
                    <a:p>
                      <a:pPr algn="l"/>
                      <a:r>
                        <a:rPr sz="800" b="0">
                          <a:solidFill>
                            <a:srgbClr val="000000"/>
                          </a:solidFill>
                          <a:latin typeface="Calibri"/>
                        </a:rPr>
                        <a:t>Mk II, after the
2026-08-12 realignment</a:t>
                      </a:r>
                    </a:p>
                  </a:txBody>
                  <a:tcPr/>
                </a:tc>
              </a:tr>
              <a:tr h="211618">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2234 px</a:t>
                      </a:r>
                    </a:p>
                  </a:txBody>
                  <a:tcPr/>
                </a:tc>
                <a:tc>
                  <a:txBody>
                    <a:bodyPr lIns="54864" rIns="54864" tIns="18288" bIns="18288" wrap="square" anchor="ctr"/>
                    <a:lstStyle/>
                    <a:p>
                      <a:pPr algn="l"/>
                      <a:r>
                        <a:rPr sz="800" b="0">
                          <a:solidFill>
                            <a:srgbClr val="000000"/>
                          </a:solidFill>
                          <a:latin typeface="Calibri"/>
                        </a:rPr>
                        <a:t>1676 px</a:t>
                      </a:r>
                    </a:p>
                  </a:txBody>
                  <a:tcPr/>
                </a:tc>
              </a:tr>
              <a:tr h="211618">
                <a:tc>
                  <a:txBody>
                    <a:bodyPr lIns="54864" rIns="54864" tIns="18288" bIns="18288" wrap="square" anchor="ctr"/>
                    <a:lstStyle/>
                    <a:p>
                      <a:pPr algn="l"/>
                      <a:r>
                        <a:rPr sz="800" b="0">
                          <a:solidFill>
                            <a:srgbClr val="000000"/>
                          </a:solidFill>
                          <a:latin typeface="Calibri"/>
                        </a:rPr>
                        <a:t>scale</a:t>
                      </a:r>
                    </a:p>
                  </a:txBody>
                  <a:tcPr/>
                </a:tc>
                <a:tc>
                  <a:txBody>
                    <a:bodyPr lIns="54864" rIns="54864" tIns="18288" bIns="18288" wrap="square" anchor="ctr"/>
                    <a:lstStyle/>
                    <a:p>
                      <a:pPr algn="l"/>
                      <a:r>
                        <a:rPr sz="800" b="0">
                          <a:solidFill>
                            <a:srgbClr val="000000"/>
                          </a:solidFill>
                          <a:latin typeface="Calibri"/>
                        </a:rPr>
                        <a:t>27.9 px/mm</a:t>
                      </a:r>
                    </a:p>
                  </a:txBody>
                  <a:tcPr/>
                </a:tc>
                <a:tc>
                  <a:txBody>
                    <a:bodyPr lIns="54864" rIns="54864" tIns="18288" bIns="18288" wrap="square" anchor="ctr"/>
                    <a:lstStyle/>
                    <a:p>
                      <a:pPr algn="l"/>
                      <a:r>
                        <a:rPr sz="800" b="0">
                          <a:solidFill>
                            <a:srgbClr val="000000"/>
                          </a:solidFill>
                          <a:latin typeface="Calibri"/>
                        </a:rPr>
                        <a:t>21.0 px/mm</a:t>
                      </a:r>
                    </a:p>
                  </a:txBody>
                  <a:tcPr/>
                </a:tc>
              </a:tr>
              <a:tr h="211618">
                <a:tc>
                  <a:txBody>
                    <a:bodyPr lIns="54864" rIns="54864" tIns="18288" bIns="18288" wrap="square" anchor="ctr"/>
                    <a:lstStyle/>
                    <a:p>
                      <a:pPr algn="l"/>
                      <a:r>
                        <a:rPr sz="800" b="0">
                          <a:solidFill>
                            <a:srgbClr val="000000"/>
                          </a:solidFill>
                          <a:latin typeface="Calibri"/>
                        </a:rPr>
                        <a:t>specimen width</a:t>
                      </a:r>
                    </a:p>
                  </a:txBody>
                  <a:tcPr/>
                </a:tc>
                <a:tc>
                  <a:txBody>
                    <a:bodyPr lIns="54864" rIns="54864" tIns="18288" bIns="18288" wrap="square" anchor="ctr"/>
                    <a:lstStyle/>
                    <a:p>
                      <a:pPr algn="l"/>
                      <a:r>
                        <a:rPr sz="800" b="0">
                          <a:solidFill>
                            <a:srgbClr val="000000"/>
                          </a:solidFill>
                          <a:latin typeface="Calibri"/>
                        </a:rPr>
                        <a:t>9.60 mm</a:t>
                      </a:r>
                    </a:p>
                  </a:txBody>
                  <a:tcPr/>
                </a:tc>
                <a:tc>
                  <a:txBody>
                    <a:bodyPr lIns="54864" rIns="54864" tIns="18288" bIns="18288" wrap="square" anchor="ctr"/>
                    <a:lstStyle/>
                    <a:p>
                      <a:pPr algn="l"/>
                      <a:r>
                        <a:rPr sz="800" b="0">
                          <a:solidFill>
                            <a:srgbClr val="000000"/>
                          </a:solidFill>
                          <a:latin typeface="Calibri"/>
                        </a:rPr>
                        <a:t>10.12 mm</a:t>
                      </a:r>
                    </a:p>
                  </a:txBody>
                  <a:tcPr/>
                </a:tc>
              </a:tr>
              <a:tr h="211618">
                <a:tc>
                  <a:txBody>
                    <a:bodyPr lIns="54864" rIns="54864" tIns="18288" bIns="18288" wrap="square" anchor="ctr"/>
                    <a:lstStyle/>
                    <a:p>
                      <a:pPr algn="l"/>
                      <a:r>
                        <a:rPr sz="800" b="0">
                          <a:solidFill>
                            <a:srgbClr val="000000"/>
                          </a:solidFill>
                          <a:latin typeface="Calibri"/>
                        </a:rPr>
                        <a:t>frame rate</a:t>
                      </a:r>
                    </a:p>
                  </a:txBody>
                  <a:tcPr/>
                </a:tc>
                <a:tc>
                  <a:txBody>
                    <a:bodyPr lIns="54864" rIns="54864" tIns="18288" bIns="18288" wrap="square" anchor="ctr"/>
                    <a:lstStyle/>
                    <a:p>
                      <a:pPr algn="l"/>
                      <a:r>
                        <a:rPr sz="800" b="0">
                          <a:solidFill>
                            <a:srgbClr val="000000"/>
                          </a:solidFill>
                          <a:latin typeface="Calibri"/>
                        </a:rPr>
                        <a:t>19.405 fps, from its own
per-frame acquisition log</a:t>
                      </a:r>
                    </a:p>
                  </a:txBody>
                  <a:tcPr/>
                </a:tc>
                <a:tc>
                  <a:txBody>
                    <a:bodyPr lIns="54864" rIns="54864" tIns="18288" bIns="18288" wrap="square" anchor="ctr"/>
                    <a:lstStyle/>
                    <a:p>
                      <a:pPr algn="l"/>
                      <a:r>
                        <a:rPr sz="800" b="0">
                          <a:solidFill>
                            <a:srgbClr val="000000"/>
                          </a:solidFill>
                          <a:latin typeface="Calibri"/>
                        </a:rPr>
                        <a:t>19.93 fps, from the
capture's index.csv</a:t>
                      </a:r>
                    </a:p>
                  </a:txBody>
                  <a:tcPr/>
                </a:tc>
              </a:tr>
              <a:tr h="211620">
                <a:tc>
                  <a:txBody>
                    <a:bodyPr lIns="54864" rIns="54864" tIns="18288" bIns="18288" wrap="square" anchor="ctr"/>
                    <a:lstStyle/>
                    <a:p>
                      <a:pPr algn="l"/>
                      <a:r>
                        <a:rPr sz="800" b="0">
                          <a:solidFill>
                            <a:srgbClr val="000000"/>
                          </a:solidFill>
                          <a:latin typeface="Calibri"/>
                        </a:rPr>
                        <a:t>strain range usable</a:t>
                      </a:r>
                    </a:p>
                  </a:txBody>
                  <a:tcPr/>
                </a:tc>
                <a:tc>
                  <a:txBody>
                    <a:bodyPr lIns="54864" rIns="54864" tIns="18288" bIns="18288" wrap="square" anchor="ctr"/>
                    <a:lstStyle/>
                    <a:p>
                      <a:pPr algn="l"/>
                      <a:r>
                        <a:rPr sz="800" b="0">
                          <a:solidFill>
                            <a:srgbClr val="000000"/>
                          </a:solidFill>
                          <a:latin typeface="Calibri"/>
                        </a:rPr>
                        <a:t>to 0.40 %, then its
marks are lost</a:t>
                      </a:r>
                    </a:p>
                  </a:txBody>
                  <a:tcPr/>
                </a:tc>
                <a:tc>
                  <a:txBody>
                    <a:bodyPr lIns="54864" rIns="54864" tIns="18288" bIns="18288" wrap="square" anchor="ctr"/>
                    <a:lstStyle/>
                    <a:p>
                      <a:pPr algn="l"/>
                      <a:r>
                        <a:rPr sz="800" b="0">
                          <a:solidFill>
                            <a:srgbClr val="000000"/>
                          </a:solidFill>
                          <a:latin typeface="Calibri"/>
                        </a:rPr>
                        <a:t>to fracture</a:t>
                      </a:r>
                    </a:p>
                  </a:txBody>
                  <a:tcPr/>
                </a:tc>
              </a:tr>
            </a:tbl>
          </a:graphicData>
        </a:graphic>
      </p:graphicFrame>
      <p:sp>
        <p:nvSpPr>
          <p:cNvPr id="10" name="Rectangle 9"/>
          <p:cNvSpPr/>
          <p:nvPr/>
        </p:nvSpPr>
        <p:spPr>
          <a:xfrm>
            <a:off x="365760" y="5705856"/>
            <a:ext cx="11475720" cy="51206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machines were set to the SAME 0.1 mm/s crosshead speed, and both measure an 80 mm marker span — so anything left over after the calculation is checked belongs to the machine, the grips or the specimen.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 record: test2.chan 0.avi + strain.csv + test2.daq, XT-205, gauge 80.0033 mm. Ours: S25 and S26, PLA 100 % infill, the same pair used throughout this deck.</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TWO CALCULATIONS AGREE — SAME VIDEO, SAME ANSWER</a:t>
            </a:r>
          </a:p>
        </p:txBody>
      </p:sp>
      <p:pic>
        <p:nvPicPr>
          <p:cNvPr id="5" name="Picture 4" descr="mot_postproc_compare.png"/>
          <p:cNvPicPr>
            <a:picLocks noChangeAspect="1"/>
          </p:cNvPicPr>
          <p:nvPr/>
        </p:nvPicPr>
        <p:blipFill>
          <a:blip r:embed="rId2"/>
          <a:stretch>
            <a:fillRect/>
          </a:stretch>
        </p:blipFill>
        <p:spPr>
          <a:xfrm>
            <a:off x="2971800" y="1042415"/>
            <a:ext cx="6217920" cy="2331720"/>
          </a:xfrm>
          <a:prstGeom prst="rect">
            <a:avLst/>
          </a:prstGeom>
        </p:spPr>
      </p:pic>
      <p:sp>
        <p:nvSpPr>
          <p:cNvPr id="6" name="TextBox 5"/>
          <p:cNvSpPr txBox="1"/>
          <p:nvPr/>
        </p:nvSpPr>
        <p:spPr>
          <a:xfrm>
            <a:off x="411480" y="35112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at matched instants — no fitting at all</a:t>
            </a:r>
          </a:p>
        </p:txBody>
      </p:sp>
      <p:graphicFrame>
        <p:nvGraphicFramePr>
          <p:cNvPr id="7" name="Table 6"/>
          <p:cNvGraphicFramePr>
            <a:graphicFrameLocks noGrp="1"/>
          </p:cNvGraphicFramePr>
          <p:nvPr/>
        </p:nvGraphicFramePr>
        <p:xfrm>
          <a:off x="411480" y="3858768"/>
          <a:ext cx="5623559" cy="1417320"/>
        </p:xfrm>
        <a:graphic>
          <a:graphicData uri="http://schemas.openxmlformats.org/drawingml/2006/table">
            <a:tbl>
              <a:tblPr firstRow="1" bandRow="1">
                <a:tableStyleId>{5C22544A-7EE6-4342-B048-85BDC9FD1C3A}</a:tableStyleId>
              </a:tblPr>
              <a:tblGrid>
                <a:gridCol w="3566159"/>
                <a:gridCol w="2057400"/>
              </a:tblGrid>
              <a:tr h="283464">
                <a:tc>
                  <a:txBody>
                    <a:bodyPr lIns="54864" rIns="54864" tIns="18288" bIns="18288" wrap="square" anchor="ctr"/>
                    <a:lstStyle/>
                    <a:p>
                      <a:pPr algn="l"/>
                      <a:r>
                        <a:rPr sz="950" b="1">
                          <a:solidFill>
                            <a:srgbClr val="FFFFFF"/>
                          </a:solidFill>
                          <a:latin typeface="Calibri"/>
                        </a:rPr>
                        <a:t>Test</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strain ratio, PPD-UTM DIC ÷ XT-205 (83 points)</a:t>
                      </a:r>
                    </a:p>
                  </a:txBody>
                  <a:tcPr/>
                </a:tc>
                <a:tc>
                  <a:txBody>
                    <a:bodyPr lIns="54864" rIns="54864" tIns="18288" bIns="18288" wrap="square" anchor="ctr"/>
                    <a:lstStyle/>
                    <a:p>
                      <a:pPr algn="l"/>
                      <a:r>
                        <a:rPr sz="850" b="0">
                          <a:solidFill>
                            <a:srgbClr val="000000"/>
                          </a:solidFill>
                          <a:latin typeface="Calibri"/>
                        </a:rPr>
                        <a:t>median 1.0017</a:t>
                      </a:r>
                    </a:p>
                  </a:txBody>
                  <a:tcPr/>
                </a:tc>
              </a:tr>
              <a:tr h="283464">
                <a:tc>
                  <a:txBody>
                    <a:bodyPr lIns="54864" rIns="54864" tIns="18288" bIns="18288" wrap="square" anchor="ctr"/>
                    <a:lstStyle/>
                    <a:p>
                      <a:pPr algn="l"/>
                      <a:r>
                        <a:rPr sz="850" b="0">
                          <a:solidFill>
                            <a:srgbClr val="000000"/>
                          </a:solidFill>
                          <a:latin typeface="Calibri"/>
                        </a:rPr>
                        <a:t>PPD-UTM DIC as a straight fit of the XT-205</a:t>
                      </a:r>
                    </a:p>
                  </a:txBody>
                  <a:tcPr/>
                </a:tc>
                <a:tc>
                  <a:txBody>
                    <a:bodyPr lIns="54864" rIns="54864" tIns="18288" bIns="18288" wrap="square" anchor="ctr"/>
                    <a:lstStyle/>
                    <a:p>
                      <a:pPr algn="l"/>
                      <a:r>
                        <a:rPr sz="850" b="0">
                          <a:solidFill>
                            <a:srgbClr val="000000"/>
                          </a:solidFill>
                          <a:latin typeface="Calibri"/>
                        </a:rPr>
                        <a:t>1.0256 × XT-205 -32 µε</a:t>
                      </a:r>
                    </a:p>
                  </a:txBody>
                  <a:tcPr/>
                </a:tc>
              </a:tr>
              <a:tr h="283464">
                <a:tc>
                  <a:txBody>
                    <a:bodyPr lIns="54864" rIns="54864" tIns="18288" bIns="18288" wrap="square" anchor="ctr"/>
                    <a:lstStyle/>
                    <a:p>
                      <a:pPr algn="l"/>
                      <a:r>
                        <a:rPr sz="850" b="0">
                          <a:solidFill>
                            <a:srgbClr val="000000"/>
                          </a:solidFill>
                          <a:latin typeface="Calibri"/>
                        </a:rPr>
                        <a:t>independent scale check (p295)</a:t>
                      </a:r>
                    </a:p>
                  </a:txBody>
                  <a:tcPr/>
                </a:tc>
                <a:tc>
                  <a:txBody>
                    <a:bodyPr lIns="54864" rIns="54864" tIns="18288" bIns="18288" wrap="square" anchor="ctr"/>
                    <a:lstStyle/>
                    <a:p>
                      <a:pPr algn="l"/>
                      <a:r>
                        <a:rPr sz="850" b="0">
                          <a:solidFill>
                            <a:srgbClr val="000000"/>
                          </a:solidFill>
                          <a:latin typeface="Calibri"/>
                        </a:rPr>
                        <a:t>k = 0.99991</a:t>
                      </a:r>
                    </a:p>
                  </a:txBody>
                  <a:tcPr/>
                </a:tc>
              </a:tr>
              <a:tr h="283464">
                <a:tc>
                  <a:txBody>
                    <a:bodyPr lIns="54864" rIns="54864" tIns="18288" bIns="18288" wrap="square" anchor="ctr"/>
                    <a:lstStyle/>
                    <a:p>
                      <a:pPr algn="l"/>
                      <a:r>
                        <a:rPr sz="850" b="0">
                          <a:solidFill>
                            <a:srgbClr val="000000"/>
                          </a:solidFill>
                          <a:latin typeface="Calibri"/>
                        </a:rPr>
                        <a:t>fitted strain-rate ratio</a:t>
                      </a:r>
                    </a:p>
                  </a:txBody>
                  <a:tcPr/>
                </a:tc>
                <a:tc>
                  <a:txBody>
                    <a:bodyPr lIns="54864" rIns="54864" tIns="18288" bIns="18288" wrap="square" anchor="ctr"/>
                    <a:lstStyle/>
                    <a:p>
                      <a:pPr algn="l"/>
                      <a:r>
                        <a:rPr sz="850" b="0">
                          <a:solidFill>
                            <a:srgbClr val="000000"/>
                          </a:solidFill>
                          <a:latin typeface="Calibri"/>
                        </a:rPr>
                        <a:t>1.0235</a:t>
                      </a:r>
                    </a:p>
                  </a:txBody>
                  <a:tcPr/>
                </a:tc>
              </a:tr>
            </a:tbl>
          </a:graphicData>
        </a:graphic>
      </p:graphicFrame>
      <p:sp>
        <p:nvSpPr>
          <p:cNvPr id="8" name="TextBox 7"/>
          <p:cNvSpPr txBox="1"/>
          <p:nvPr/>
        </p:nvSpPr>
        <p:spPr>
          <a:xfrm>
            <a:off x="6263640" y="35112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PPD-UTM is the quieter of the two</a:t>
            </a:r>
          </a:p>
        </p:txBody>
      </p:sp>
      <p:graphicFrame>
        <p:nvGraphicFramePr>
          <p:cNvPr id="9" name="Table 8"/>
          <p:cNvGraphicFramePr>
            <a:graphicFrameLocks noGrp="1"/>
          </p:cNvGraphicFramePr>
          <p:nvPr/>
        </p:nvGraphicFramePr>
        <p:xfrm>
          <a:off x="6263640" y="3858768"/>
          <a:ext cx="5577838" cy="1417320"/>
        </p:xfrm>
        <a:graphic>
          <a:graphicData uri="http://schemas.openxmlformats.org/drawingml/2006/table">
            <a:tbl>
              <a:tblPr firstRow="1" bandRow="1">
                <a:tableStyleId>{5C22544A-7EE6-4342-B048-85BDC9FD1C3A}</a:tableStyleId>
              </a:tblPr>
              <a:tblGrid>
                <a:gridCol w="2606039"/>
                <a:gridCol w="1600200"/>
                <a:gridCol w="1371599"/>
              </a:tblGrid>
              <a:tr h="283464">
                <a:tc>
                  <a:txBody>
                    <a:bodyPr lIns="54864" rIns="54864" tIns="18288" bIns="18288" wrap="square" anchor="ctr"/>
                    <a:lstStyle/>
                    <a:p>
                      <a:pPr algn="l"/>
                      <a:r>
                        <a:rPr sz="950" b="1">
                          <a:solidFill>
                            <a:srgbClr val="FFFFFF"/>
                          </a:solidFill>
                          <a:latin typeface="Calibri"/>
                        </a:rPr>
                        <a:t>Record</a:t>
                      </a:r>
                    </a:p>
                  </a:txBody>
                  <a:tcPr>
                    <a:solidFill>
                      <a:srgbClr val="143D2F"/>
                    </a:solidFill>
                  </a:tcPr>
                </a:tc>
                <a:tc>
                  <a:txBody>
                    <a:bodyPr lIns="54864" rIns="54864" tIns="18288" bIns="18288" wrap="square" anchor="ctr"/>
                    <a:lstStyle/>
                    <a:p>
                      <a:pPr algn="l"/>
                      <a:r>
                        <a:rPr sz="950" b="1">
                          <a:solidFill>
                            <a:srgbClr val="FFFFFF"/>
                          </a:solidFill>
                          <a:latin typeface="Calibri"/>
                        </a:rPr>
                        <a:t>d(ε)/dt</a:t>
                      </a:r>
                    </a:p>
                  </a:txBody>
                  <a:tcPr>
                    <a:solidFill>
                      <a:srgbClr val="143D2F"/>
                    </a:solidFill>
                  </a:tcPr>
                </a:tc>
                <a:tc>
                  <a:txBody>
                    <a:bodyPr lIns="54864" rIns="54864" tIns="18288" bIns="18288" wrap="square" anchor="ctr"/>
                    <a:lstStyle/>
                    <a:p>
                      <a:pPr algn="l"/>
                      <a:r>
                        <a:rPr sz="950" b="1">
                          <a:solidFill>
                            <a:srgbClr val="FFFFFF"/>
                          </a:solidFill>
                          <a:latin typeface="Calibri"/>
                        </a:rPr>
                        <a:t>noise</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 footage, PPD-UTM DIC</a:t>
                      </a:r>
                    </a:p>
                  </a:txBody>
                  <a:tcPr/>
                </a:tc>
                <a:tc>
                  <a:txBody>
                    <a:bodyPr lIns="54864" rIns="54864" tIns="18288" bIns="18288" wrap="square" anchor="ctr"/>
                    <a:lstStyle/>
                    <a:p>
                      <a:pPr algn="l"/>
                      <a:r>
                        <a:rPr sz="850" b="0">
                          <a:solidFill>
                            <a:srgbClr val="000000"/>
                          </a:solidFill>
                          <a:latin typeface="Calibri"/>
                        </a:rPr>
                        <a:t>7.598e-04 /s</a:t>
                      </a:r>
                    </a:p>
                  </a:txBody>
                  <a:tcPr/>
                </a:tc>
                <a:tc>
                  <a:txBody>
                    <a:bodyPr lIns="54864" rIns="54864" tIns="18288" bIns="18288" wrap="square" anchor="ctr"/>
                    <a:lstStyle/>
                    <a:p>
                      <a:pPr algn="l"/>
                      <a:r>
                        <a:rPr sz="850" b="0">
                          <a:solidFill>
                            <a:srgbClr val="000000"/>
                          </a:solidFill>
                          <a:latin typeface="Calibri"/>
                        </a:rPr>
                        <a:t>5.7 µε</a:t>
                      </a:r>
                    </a:p>
                  </a:txBody>
                  <a:tcPr/>
                </a:tc>
              </a:tr>
              <a:tr h="283464">
                <a:tc>
                  <a:txBody>
                    <a:bodyPr lIns="54864" rIns="54864" tIns="18288" bIns="18288" wrap="square" anchor="ctr"/>
                    <a:lstStyle/>
                    <a:p>
                      <a:pPr algn="l"/>
                      <a:r>
                        <a:rPr sz="850" b="0">
                          <a:solidFill>
                            <a:srgbClr val="000000"/>
                          </a:solidFill>
                          <a:latin typeface="Calibri"/>
                        </a:rPr>
                        <a:t>XT-205 footage, XT-205 extensometer</a:t>
                      </a:r>
                    </a:p>
                  </a:txBody>
                  <a:tcPr/>
                </a:tc>
                <a:tc>
                  <a:txBody>
                    <a:bodyPr lIns="54864" rIns="54864" tIns="18288" bIns="18288" wrap="square" anchor="ctr"/>
                    <a:lstStyle/>
                    <a:p>
                      <a:pPr algn="l"/>
                      <a:r>
                        <a:rPr sz="850" b="0">
                          <a:solidFill>
                            <a:srgbClr val="000000"/>
                          </a:solidFill>
                          <a:latin typeface="Calibri"/>
                        </a:rPr>
                        <a:t>7.424e-04 /s</a:t>
                      </a:r>
                    </a:p>
                  </a:txBody>
                  <a:tcPr/>
                </a:tc>
                <a:tc>
                  <a:txBody>
                    <a:bodyPr lIns="54864" rIns="54864" tIns="18288" bIns="18288" wrap="square" anchor="ctr"/>
                    <a:lstStyle/>
                    <a:p>
                      <a:pPr algn="l"/>
                      <a:r>
                        <a:rPr sz="850" b="0">
                          <a:solidFill>
                            <a:srgbClr val="000000"/>
                          </a:solidFill>
                          <a:latin typeface="Calibri"/>
                        </a:rPr>
                        <a:t>44.9 µε</a:t>
                      </a:r>
                    </a:p>
                  </a:txBody>
                  <a:tcPr/>
                </a:tc>
              </a:tr>
              <a:tr h="283464">
                <a:tc>
                  <a:txBody>
                    <a:bodyPr lIns="54864" rIns="54864" tIns="18288" bIns="18288" wrap="square" anchor="ctr"/>
                    <a:lstStyle/>
                    <a:p>
                      <a:pPr algn="l"/>
                      <a:r>
                        <a:rPr sz="850" b="0">
                          <a:solidFill>
                            <a:srgbClr val="000000"/>
                          </a:solidFill>
                          <a:latin typeface="Calibri"/>
                        </a:rPr>
                        <a:t>S25, PPD-UTM</a:t>
                      </a:r>
                    </a:p>
                  </a:txBody>
                  <a:tcPr/>
                </a:tc>
                <a:tc>
                  <a:txBody>
                    <a:bodyPr lIns="54864" rIns="54864" tIns="18288" bIns="18288" wrap="square" anchor="ctr"/>
                    <a:lstStyle/>
                    <a:p>
                      <a:pPr algn="l"/>
                      <a:r>
                        <a:rPr sz="850" b="0">
                          <a:solidFill>
                            <a:srgbClr val="000000"/>
                          </a:solidFill>
                          <a:latin typeface="Calibri"/>
                        </a:rPr>
                        <a:t>2.666e-04 /s</a:t>
                      </a:r>
                    </a:p>
                  </a:txBody>
                  <a:tcPr/>
                </a:tc>
                <a:tc>
                  <a:txBody>
                    <a:bodyPr lIns="54864" rIns="54864" tIns="18288" bIns="18288" wrap="square" anchor="ctr"/>
                    <a:lstStyle/>
                    <a:p>
                      <a:pPr algn="l"/>
                      <a:r>
                        <a:rPr sz="850" b="0">
                          <a:solidFill>
                            <a:srgbClr val="000000"/>
                          </a:solidFill>
                          <a:latin typeface="Calibri"/>
                        </a:rPr>
                        <a:t>23.5 µε</a:t>
                      </a:r>
                    </a:p>
                  </a:txBody>
                  <a:tcPr/>
                </a:tc>
              </a:tr>
              <a:tr h="283464">
                <a:tc>
                  <a:txBody>
                    <a:bodyPr lIns="54864" rIns="54864" tIns="18288" bIns="18288" wrap="square" anchor="ctr"/>
                    <a:lstStyle/>
                    <a:p>
                      <a:pPr algn="l"/>
                      <a:r>
                        <a:rPr sz="850" b="0">
                          <a:solidFill>
                            <a:srgbClr val="000000"/>
                          </a:solidFill>
                          <a:latin typeface="Calibri"/>
                        </a:rPr>
                        <a:t>S26, PPD-UTM</a:t>
                      </a:r>
                    </a:p>
                  </a:txBody>
                  <a:tcPr/>
                </a:tc>
                <a:tc>
                  <a:txBody>
                    <a:bodyPr lIns="54864" rIns="54864" tIns="18288" bIns="18288" wrap="square" anchor="ctr"/>
                    <a:lstStyle/>
                    <a:p>
                      <a:pPr algn="l"/>
                      <a:r>
                        <a:rPr sz="850" b="0">
                          <a:solidFill>
                            <a:srgbClr val="000000"/>
                          </a:solidFill>
                          <a:latin typeface="Calibri"/>
                        </a:rPr>
                        <a:t>4.063e-04 /s</a:t>
                      </a:r>
                    </a:p>
                  </a:txBody>
                  <a:tcPr/>
                </a:tc>
                <a:tc>
                  <a:txBody>
                    <a:bodyPr lIns="54864" rIns="54864" tIns="18288" bIns="18288" wrap="square" anchor="ctr"/>
                    <a:lstStyle/>
                    <a:p>
                      <a:pPr algn="l"/>
                      <a:r>
                        <a:rPr sz="850" b="0">
                          <a:solidFill>
                            <a:srgbClr val="000000"/>
                          </a:solidFill>
                          <a:latin typeface="Calibri"/>
                        </a:rPr>
                        <a:t>23.6 µε</a:t>
                      </a:r>
                    </a:p>
                  </a:txBody>
                  <a:tcPr/>
                </a:tc>
              </a:tr>
            </a:tbl>
          </a:graphicData>
        </a:graphic>
      </p:graphicFrame>
      <p:sp>
        <p:nvSpPr>
          <p:cNvPr id="10" name="Rectangle 9"/>
          <p:cNvSpPr/>
          <p:nvPr/>
        </p:nvSpPr>
        <p:spPr>
          <a:xfrm>
            <a:off x="365760" y="5394960"/>
            <a:ext cx="1147572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Same footage, same specimen, same instant — so the only thing that differs is the arithmetic, and it agrees. That the two strains are also the same SIZE, and not merely the same shape, is established separately and to 0.01 % (p295); what is left over here is each instrument's own noise.</a:t>
            </a:r>
          </a:p>
        </p:txBody>
      </p:sp>
      <p:sp>
        <p:nvSpPr>
          <p:cNvPr id="11" name="TextBox 10"/>
          <p:cNvSpPr txBox="1"/>
          <p:nvPr/>
        </p:nvSpPr>
        <p:spPr>
          <a:xfrm>
            <a:off x="365760" y="5980176"/>
            <a:ext cx="11475720" cy="310896"/>
          </a:xfrm>
          <a:prstGeom prst="rect">
            <a:avLst/>
          </a:prstGeom>
          <a:noFill/>
        </p:spPr>
        <p:txBody>
          <a:bodyPr wrap="square" lIns="45720" rIns="45720" tIns="18288" bIns="18288" anchor="t">
            <a:spAutoFit/>
          </a:bodyPr>
          <a:lstStyle/>
          <a:p>
            <a:pPr algn="ctr"/>
            <a:r>
              <a:rPr sz="1000" b="0" i="0">
                <a:solidFill>
                  <a:srgbClr val="000000"/>
                </a:solidFill>
                <a:latin typeface="Calibri"/>
              </a:rPr>
              <a:t>On the XT-205's own footage the PPD-UTM reads 7.9× quieter (5.7 vs 44.9 µε) — a larger pixel baseline and a sub-pixel centroid against the extensometer's 20 Hz output.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0.05–0.35 % strain, inside the XT-205's valid range — it loses its marks at 0.4015 %. See p290 for what a microstrain is.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SLOPES DIFFER — WHERE THE COMMANDED MOTION GOES</a:t>
            </a:r>
          </a:p>
        </p:txBody>
      </p:sp>
      <p:pic>
        <p:nvPicPr>
          <p:cNvPr id="5" name="Picture 4" descr="motpp_share.png"/>
          <p:cNvPicPr>
            <a:picLocks noChangeAspect="1"/>
          </p:cNvPicPr>
          <p:nvPr/>
        </p:nvPicPr>
        <p:blipFill>
          <a:blip r:embed="rId2"/>
          <a:stretch>
            <a:fillRect/>
          </a:stretch>
        </p:blipFill>
        <p:spPr>
          <a:xfrm>
            <a:off x="1930534" y="1024128"/>
            <a:ext cx="8300450" cy="2231136"/>
          </a:xfrm>
          <a:prstGeom prst="rect">
            <a:avLst/>
          </a:prstGeom>
        </p:spPr>
      </p:pic>
      <p:sp>
        <p:nvSpPr>
          <p:cNvPr id="6" name="TextBox 5"/>
          <p:cNvSpPr txBox="1"/>
          <p:nvPr/>
        </p:nvSpPr>
        <p:spPr>
          <a:xfrm>
            <a:off x="411480" y="33467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Ranked by how much of the gap each accounts for — the MOT's crosshead is commanded, not measured</a:t>
            </a:r>
          </a:p>
        </p:txBody>
      </p:sp>
      <p:graphicFrame>
        <p:nvGraphicFramePr>
          <p:cNvPr id="7" name="Table 6"/>
          <p:cNvGraphicFramePr>
            <a:graphicFrameLocks noGrp="1"/>
          </p:cNvGraphicFramePr>
          <p:nvPr/>
        </p:nvGraphicFramePr>
        <p:xfrm>
          <a:off x="411480" y="3694176"/>
          <a:ext cx="11430000" cy="2340864"/>
        </p:xfrm>
        <a:graphic>
          <a:graphicData uri="http://schemas.openxmlformats.org/drawingml/2006/table">
            <a:tbl>
              <a:tblPr firstRow="1" bandRow="1">
                <a:tableStyleId>{5C22544A-7EE6-4342-B048-85BDC9FD1C3A}</a:tableStyleId>
              </a:tblPr>
              <a:tblGrid>
                <a:gridCol w="292608"/>
                <a:gridCol w="4114800"/>
                <a:gridCol w="5074920"/>
                <a:gridCol w="1947672"/>
              </a:tblGrid>
              <a:tr h="468172">
                <a:tc>
                  <a:txBody>
                    <a:bodyPr lIns="54864" rIns="54864" tIns="18288" bIns="18288" wrap="square" anchor="ctr"/>
                    <a:lstStyle/>
                    <a:p>
                      <a:pPr algn="l"/>
                      <a:r>
                        <a:rPr sz="950" b="1">
                          <a:solidFill>
                            <a:srgbClr val="FFFFFF"/>
                          </a:solidFill>
                          <a:latin typeface="Calibri"/>
                        </a:rPr>
                        <a:t>#</a:t>
                      </a:r>
                    </a:p>
                  </a:txBody>
                  <a:tcPr>
                    <a:solidFill>
                      <a:srgbClr val="143D2F"/>
                    </a:solidFill>
                  </a:tcPr>
                </a:tc>
                <a:tc>
                  <a:txBody>
                    <a:bodyPr lIns="54864" rIns="54864" tIns="18288" bIns="18288" wrap="square" anchor="ctr"/>
                    <a:lstStyle/>
                    <a:p>
                      <a:pPr algn="l"/>
                      <a:r>
                        <a:rPr sz="950" b="1">
                          <a:solidFill>
                            <a:srgbClr val="FFFFFF"/>
                          </a:solidFill>
                          <a:latin typeface="Calibri"/>
                        </a:rPr>
                        <a:t>Cause</a:t>
                      </a:r>
                    </a:p>
                  </a:txBody>
                  <a:tcPr>
                    <a:solidFill>
                      <a:srgbClr val="143D2F"/>
                    </a:solidFill>
                  </a:tcPr>
                </a:tc>
                <a:tc>
                  <a:txBody>
                    <a:bodyPr lIns="54864" rIns="54864" tIns="18288" bIns="18288" wrap="square" anchor="ctr"/>
                    <a:lstStyle/>
                    <a:p>
                      <a:pPr algn="l"/>
                      <a:r>
                        <a:rPr sz="950" b="1">
                          <a:solidFill>
                            <a:srgbClr val="FFFFFF"/>
                          </a:solidFill>
                          <a:latin typeface="Calibri"/>
                        </a:rPr>
                        <a:t>The evidence</a:t>
                      </a:r>
                    </a:p>
                  </a:txBody>
                  <a:tcPr>
                    <a:solidFill>
                      <a:srgbClr val="143D2F"/>
                    </a:solidFill>
                  </a:tcPr>
                </a:tc>
                <a:tc>
                  <a:txBody>
                    <a:bodyPr lIns="54864" rIns="54864" tIns="18288" bIns="18288" wrap="square" anchor="ctr"/>
                    <a:lstStyle/>
                    <a:p>
                      <a:pPr algn="l"/>
                      <a:r>
                        <a:rPr sz="950" b="1">
                          <a:solidFill>
                            <a:srgbClr val="FFFFFF"/>
                          </a:solidFill>
                          <a:latin typeface="Calibri"/>
                        </a:rPr>
                        <a:t>Size</a:t>
                      </a:r>
                    </a:p>
                  </a:txBody>
                  <a:tcPr>
                    <a:solidFill>
                      <a:srgbClr val="143D2F"/>
                    </a:solidFill>
                  </a:tcPr>
                </a:tc>
              </a:tr>
              <a:tr h="468172">
                <a:tc>
                  <a:txBody>
                    <a:bodyPr lIns="54864" rIns="54864" tIns="18288" bIns="18288" wrap="square" anchor="ctr"/>
                    <a:lstStyle/>
                    <a:p>
                      <a:pPr algn="l"/>
                      <a:r>
                        <a:rPr sz="750" b="0">
                          <a:solidFill>
                            <a:srgbClr val="000000"/>
                          </a:solidFill>
                          <a:latin typeface="Calibri"/>
                        </a:rPr>
                        <a:t>1</a:t>
                      </a:r>
                    </a:p>
                  </a:txBody>
                  <a:tcPr/>
                </a:tc>
                <a:tc>
                  <a:txBody>
                    <a:bodyPr lIns="54864" rIns="54864" tIns="18288" bIns="18288" wrap="square" anchor="ctr"/>
                    <a:lstStyle/>
                    <a:p>
                      <a:pPr algn="l"/>
                      <a:r>
                        <a:rPr sz="750" b="0">
                          <a:solidFill>
                            <a:srgbClr val="000000"/>
                          </a:solidFill>
                          <a:latin typeface="Calibri"/>
                        </a:rPr>
                        <a:t>Motor speed is not specimen speed.
The rig's Position_mm is a MOTOR-shaft encoder read through 20:1 gearing
and a 5 mm screw. It proves the motor turned; it proves nothing about
the grips, and no sensor measures them directly.</a:t>
                      </a:r>
                    </a:p>
                  </a:txBody>
                  <a:tcPr/>
                </a:tc>
                <a:tc>
                  <a:txBody>
                    <a:bodyPr lIns="54864" rIns="54864" tIns="18288" bIns="18288" wrap="square" anchor="ctr"/>
                    <a:lstStyle/>
                    <a:p>
                      <a:pPr algn="l"/>
                      <a:r>
                        <a:rPr sz="750" b="0">
                          <a:solidFill>
                            <a:srgbClr val="000000"/>
                          </a:solidFill>
                          <a:latin typeface="Calibri"/>
                        </a:rPr>
                        <a:t>motor 0.1001 mm/s — exactly commanded — while the gauge
sees 0.0213 mm/s (S25) and 0.0325 mm/s (S26). Everything between
the motor and the specimen is assumed rigid, and is not.</a:t>
                      </a:r>
                    </a:p>
                  </a:txBody>
                  <a:tcPr/>
                </a:tc>
                <a:tc>
                  <a:txBody>
                    <a:bodyPr lIns="54864" rIns="54864" tIns="18288" bIns="18288" wrap="square" anchor="ctr"/>
                    <a:lstStyle/>
                    <a:p>
                      <a:pPr algn="l"/>
                      <a:r>
                        <a:rPr sz="750" b="0">
                          <a:solidFill>
                            <a:srgbClr val="000000"/>
                          </a:solidFill>
                          <a:latin typeface="Calibri"/>
                        </a:rPr>
                        <a:t>the bulk of it</a:t>
                      </a:r>
                    </a:p>
                  </a:txBody>
                  <a:tcPr/>
                </a:tc>
              </a:tr>
              <a:tr h="468172">
                <a:tc>
                  <a:txBody>
                    <a:bodyPr lIns="54864" rIns="54864" tIns="18288" bIns="18288" wrap="square" anchor="ctr"/>
                    <a:lstStyle/>
                    <a:p>
                      <a:pPr algn="l"/>
                      <a:r>
                        <a:rPr sz="750" b="0">
                          <a:solidFill>
                            <a:srgbClr val="000000"/>
                          </a:solidFill>
                          <a:latin typeface="Calibri"/>
                        </a:rPr>
                        <a:t>2</a:t>
                      </a:r>
                    </a:p>
                  </a:txBody>
                  <a:tcPr/>
                </a:tc>
                <a:tc>
                  <a:txBody>
                    <a:bodyPr lIns="54864" rIns="54864" tIns="18288" bIns="18288" wrap="square" anchor="ctr"/>
                    <a:lstStyle/>
                    <a:p>
                      <a:pPr algn="l"/>
                      <a:r>
                        <a:rPr sz="750" b="0">
                          <a:solidFill>
                            <a:srgbClr val="000000"/>
                          </a:solidFill>
                          <a:latin typeface="Calibri"/>
                        </a:rPr>
                        <a:t>Grip seating varies from mounting to mounting.
The XT-205 clamps with jaws; matching PRELOAD in newtons does not
match how the specimen is seated.</a:t>
                      </a:r>
                    </a:p>
                  </a:txBody>
                  <a:tcPr/>
                </a:tc>
                <a:tc>
                  <a:txBody>
                    <a:bodyPr lIns="54864" rIns="54864" tIns="18288" bIns="18288" wrap="square" anchor="ctr"/>
                    <a:lstStyle/>
                    <a:p>
                      <a:pPr algn="l"/>
                      <a:r>
                        <a:rPr sz="750" b="0">
                          <a:solidFill>
                            <a:srgbClr val="000000"/>
                          </a:solidFill>
                          <a:latin typeface="Calibri"/>
                        </a:rPr>
                        <a:t>S25 21 % against S26 33 % — 11 points apart on two runs of
the same protocol. A fixed frame compliance would repeat.
Something that varies per mounting does not.</a:t>
                      </a:r>
                    </a:p>
                  </a:txBody>
                  <a:tcPr/>
                </a:tc>
                <a:tc>
                  <a:txBody>
                    <a:bodyPr lIns="54864" rIns="54864" tIns="18288" bIns="18288" wrap="square" anchor="ctr"/>
                    <a:lstStyle/>
                    <a:p>
                      <a:pPr algn="l"/>
                      <a:r>
                        <a:rPr sz="750" b="0">
                          <a:solidFill>
                            <a:srgbClr val="000000"/>
                          </a:solidFill>
                          <a:latin typeface="Calibri"/>
                        </a:rPr>
                        <a:t>explains the
SPREAD</a:t>
                      </a:r>
                    </a:p>
                  </a:txBody>
                  <a:tcPr/>
                </a:tc>
              </a:tr>
              <a:tr h="468172">
                <a:tc>
                  <a:txBody>
                    <a:bodyPr lIns="54864" rIns="54864" tIns="18288" bIns="18288" wrap="square" anchor="ctr"/>
                    <a:lstStyle/>
                    <a:p>
                      <a:pPr algn="l"/>
                      <a:r>
                        <a:rPr sz="750" b="0">
                          <a:solidFill>
                            <a:srgbClr val="000000"/>
                          </a:solidFill>
                          <a:latin typeface="Calibri"/>
                        </a:rPr>
                        <a:t>3</a:t>
                      </a:r>
                    </a:p>
                  </a:txBody>
                  <a:tcPr/>
                </a:tc>
                <a:tc>
                  <a:txBody>
                    <a:bodyPr lIns="54864" rIns="54864" tIns="18288" bIns="18288" wrap="square" anchor="ctr"/>
                    <a:lstStyle/>
                    <a:p>
                      <a:pPr algn="l"/>
                      <a:r>
                        <a:rPr sz="750" b="0">
                          <a:solidFill>
                            <a:srgbClr val="000000"/>
                          </a:solidFill>
                          <a:latin typeface="Calibri"/>
                        </a:rPr>
                        <a:t>The PPD-UTM markers sit on the fillet shoulders.
Wider material carries the same load at lower stress, so it strains less
and dilutes the average over the span.</a:t>
                      </a:r>
                    </a:p>
                  </a:txBody>
                  <a:tcPr/>
                </a:tc>
                <a:tc>
                  <a:txBody>
                    <a:bodyPr lIns="54864" rIns="54864" tIns="18288" bIns="18288" wrap="square" anchor="ctr"/>
                    <a:lstStyle/>
                    <a:p>
                      <a:pPr algn="l"/>
                      <a:r>
                        <a:rPr sz="750" b="0">
                          <a:solidFill>
                            <a:srgbClr val="000000"/>
                          </a:solidFill>
                          <a:latin typeface="Calibri"/>
                        </a:rPr>
                        <a:t>only 85 % of the PPD-UTM marker span is parallel; at its two ends the
specimen is 64 % and 69 % wider. The XT-205's span is parallel
across 100 %.</a:t>
                      </a:r>
                    </a:p>
                  </a:txBody>
                  <a:tcPr/>
                </a:tc>
                <a:tc>
                  <a:txBody>
                    <a:bodyPr lIns="54864" rIns="54864" tIns="18288" bIns="18288" wrap="square" anchor="ctr"/>
                    <a:lstStyle/>
                    <a:p>
                      <a:pPr algn="l"/>
                      <a:r>
                        <a:rPr sz="750" b="0">
                          <a:solidFill>
                            <a:srgbClr val="000000"/>
                          </a:solidFill>
                          <a:latin typeface="Calibri"/>
                        </a:rPr>
                        <a:t>6.5 % — real
but minor</a:t>
                      </a:r>
                    </a:p>
                  </a:txBody>
                  <a:tcPr/>
                </a:tc>
              </a:tr>
              <a:tr h="468176">
                <a:tc>
                  <a:txBody>
                    <a:bodyPr lIns="54864" rIns="54864" tIns="18288" bIns="18288" wrap="square" anchor="ctr"/>
                    <a:lstStyle/>
                    <a:p>
                      <a:pPr algn="l"/>
                      <a:r>
                        <a:rPr sz="750" b="0">
                          <a:solidFill>
                            <a:srgbClr val="000000"/>
                          </a:solidFill>
                          <a:latin typeface="Calibri"/>
                        </a:rPr>
                        <a:t>4</a:t>
                      </a:r>
                    </a:p>
                  </a:txBody>
                  <a:tcPr/>
                </a:tc>
                <a:tc>
                  <a:txBody>
                    <a:bodyPr lIns="54864" rIns="54864" tIns="18288" bIns="18288" wrap="square" anchor="ctr"/>
                    <a:lstStyle/>
                    <a:p>
                      <a:pPr algn="l"/>
                      <a:r>
                        <a:rPr sz="750" b="0">
                          <a:solidFill>
                            <a:srgbClr val="000000"/>
                          </a:solidFill>
                          <a:latin typeface="Calibri"/>
                        </a:rPr>
                        <a:t>Strain-rate dependence then compounds it.
PLA is viscoelastic, so its elastic slope rises with strain rate.</a:t>
                      </a:r>
                    </a:p>
                  </a:txBody>
                  <a:tcPr/>
                </a:tc>
                <a:tc>
                  <a:txBody>
                    <a:bodyPr lIns="54864" rIns="54864" tIns="18288" bIns="18288" wrap="square" anchor="ctr"/>
                    <a:lstStyle/>
                    <a:p>
                      <a:pPr algn="l"/>
                      <a:r>
                        <a:rPr sz="750" b="0">
                          <a:solidFill>
                            <a:srgbClr val="000000"/>
                          </a:solidFill>
                          <a:latin typeface="Calibri"/>
                        </a:rPr>
                        <a:t>the PPD-UTM gauge is strained at a third of the XT-205's, so a lower
modulus follows even from a perfect instrument. A CONSEQUENCE of 1–2,
not an independent cause.</a:t>
                      </a:r>
                    </a:p>
                  </a:txBody>
                  <a:tcPr/>
                </a:tc>
                <a:tc>
                  <a:txBody>
                    <a:bodyPr lIns="54864" rIns="54864" tIns="18288" bIns="18288" wrap="square" anchor="ctr"/>
                    <a:lstStyle/>
                    <a:p>
                      <a:pPr algn="l"/>
                      <a:r>
                        <a:rPr sz="750" b="0">
                          <a:solidFill>
                            <a:srgbClr val="000000"/>
                          </a:solidFill>
                          <a:latin typeface="Calibri"/>
                        </a:rPr>
                        <a:t>multiplies
1 and 2</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every loss is a fault — the shoulders and grip sections strain too, so 100 % is not the target on any machine; the XT-205 loses 41 % itself. Shares are d(ε)/dt × 80 mm ÷ crosshead speed over one window.</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HAD TO BE FIXED BEFORE THESE NUMBERS MEANT ANYTHING</a:t>
            </a:r>
          </a:p>
        </p:txBody>
      </p:sp>
      <p:sp>
        <p:nvSpPr>
          <p:cNvPr id="5" name="TextBox 4"/>
          <p:cNvSpPr txBox="1"/>
          <p:nvPr/>
        </p:nvSpPr>
        <p:spPr>
          <a:xfrm>
            <a:off x="411480" y="11155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Four traps, every one of which produced a confident wrong answer first</a:t>
            </a:r>
          </a:p>
        </p:txBody>
      </p:sp>
      <p:graphicFrame>
        <p:nvGraphicFramePr>
          <p:cNvPr id="6" name="Table 5"/>
          <p:cNvGraphicFramePr>
            <a:graphicFrameLocks noGrp="1"/>
          </p:cNvGraphicFramePr>
          <p:nvPr/>
        </p:nvGraphicFramePr>
        <p:xfrm>
          <a:off x="411480" y="1463040"/>
          <a:ext cx="11430000" cy="3017520"/>
        </p:xfrm>
        <a:graphic>
          <a:graphicData uri="http://schemas.openxmlformats.org/drawingml/2006/table">
            <a:tbl>
              <a:tblPr firstRow="1" bandRow="1">
                <a:tableStyleId>{5C22544A-7EE6-4342-B048-85BDC9FD1C3A}</a:tableStyleId>
              </a:tblPr>
              <a:tblGrid>
                <a:gridCol w="2286000"/>
                <a:gridCol w="4572000"/>
                <a:gridCol w="4572000"/>
              </a:tblGrid>
              <a:tr h="603504">
                <a:tc>
                  <a:txBody>
                    <a:bodyPr lIns="54864" rIns="54864" tIns="18288" bIns="18288" wrap="square" anchor="ctr"/>
                    <a:lstStyle/>
                    <a:p>
                      <a:pPr algn="l"/>
                      <a:r>
                        <a:rPr sz="950" b="1">
                          <a:solidFill>
                            <a:srgbClr val="FFFFFF"/>
                          </a:solidFill>
                          <a:latin typeface="Calibri"/>
                        </a:rPr>
                        <a:t>Trap</a:t>
                      </a:r>
                    </a:p>
                  </a:txBody>
                  <a:tcPr>
                    <a:solidFill>
                      <a:srgbClr val="143D2F"/>
                    </a:solidFill>
                  </a:tcPr>
                </a:tc>
                <a:tc>
                  <a:txBody>
                    <a:bodyPr lIns="54864" rIns="54864" tIns="18288" bIns="18288" wrap="square" anchor="ctr"/>
                    <a:lstStyle/>
                    <a:p>
                      <a:pPr algn="l"/>
                      <a:r>
                        <a:rPr sz="950" b="1">
                          <a:solidFill>
                            <a:srgbClr val="FFFFFF"/>
                          </a:solidFill>
                          <a:latin typeface="Calibri"/>
                        </a:rPr>
                        <a:t>What it did</a:t>
                      </a:r>
                    </a:p>
                  </a:txBody>
                  <a:tcPr>
                    <a:solidFill>
                      <a:srgbClr val="143D2F"/>
                    </a:solidFill>
                  </a:tcPr>
                </a:tc>
                <a:tc>
                  <a:txBody>
                    <a:bodyPr lIns="54864" rIns="54864" tIns="18288" bIns="18288" wrap="square" anchor="ctr"/>
                    <a:lstStyle/>
                    <a:p>
                      <a:pPr algn="l"/>
                      <a:r>
                        <a:rPr sz="950" b="1">
                          <a:solidFill>
                            <a:srgbClr val="FFFFFF"/>
                          </a:solidFill>
                          <a:latin typeface="Calibri"/>
                        </a:rPr>
                        <a:t>How it was caught, and fixed</a:t>
                      </a:r>
                    </a:p>
                  </a:txBody>
                  <a:tcPr>
                    <a:solidFill>
                      <a:srgbClr val="143D2F"/>
                    </a:solidFill>
                  </a:tcPr>
                </a:tc>
              </a:tr>
              <a:tr h="603504">
                <a:tc>
                  <a:txBody>
                    <a:bodyPr lIns="54864" rIns="54864" tIns="18288" bIns="18288" wrap="square" anchor="ctr"/>
                    <a:lstStyle/>
                    <a:p>
                      <a:pPr algn="l"/>
                      <a:r>
                        <a:rPr sz="750" b="0">
                          <a:solidFill>
                            <a:srgbClr val="000000"/>
                          </a:solidFill>
                          <a:latin typeface="Calibri"/>
                        </a:rPr>
                        <a:t>The video declares 1000 fps
and 117 497 frames</a:t>
                      </a:r>
                    </a:p>
                  </a:txBody>
                  <a:tcPr/>
                </a:tc>
                <a:tc>
                  <a:txBody>
                    <a:bodyPr lIns="54864" rIns="54864" tIns="18288" bIns="18288" wrap="square" anchor="ctr"/>
                    <a:lstStyle/>
                    <a:p>
                      <a:pPr algn="l"/>
                      <a:r>
                        <a:rPr sz="750" b="0">
                          <a:solidFill>
                            <a:srgbClr val="000000"/>
                          </a:solidFill>
                          <a:latin typeface="Calibri"/>
                        </a:rPr>
                        <a:t>It holds 2281 frames at 19.4 fps. Every time-based
figure in the first run was out by 52× — 'duration
0.77 s', 'mean rate 2.5e-02 /s'.</a:t>
                      </a:r>
                    </a:p>
                  </a:txBody>
                  <a:tcPr/>
                </a:tc>
                <a:tc>
                  <a:txBody>
                    <a:bodyPr lIns="54864" rIns="54864" tIns="18288" bIns="18288" wrap="square" anchor="ctr"/>
                    <a:lstStyle/>
                    <a:p>
                      <a:pPr algn="l"/>
                      <a:r>
                        <a:rPr sz="750" b="0">
                          <a:solidFill>
                            <a:srgbClr val="000000"/>
                          </a:solidFill>
                          <a:latin typeface="Calibri"/>
                        </a:rPr>
                        <a:t>test2.daq carries EXACTLY 2281 rows for those 2281
frames, each timestamped. The time base is now read
from it rather than from the container.</a:t>
                      </a:r>
                    </a:p>
                  </a:txBody>
                  <a:tcPr/>
                </a:tc>
              </a:tr>
              <a:tr h="603504">
                <a:tc>
                  <a:txBody>
                    <a:bodyPr lIns="54864" rIns="54864" tIns="18288" bIns="18288" wrap="square" anchor="ctr"/>
                    <a:lstStyle/>
                    <a:p>
                      <a:pPr algn="l"/>
                      <a:r>
                        <a:rPr sz="750" b="0">
                          <a:solidFill>
                            <a:srgbClr val="000000"/>
                          </a:solidFill>
                          <a:latin typeface="Calibri"/>
                        </a:rPr>
                        <a:t>Recovering the frame rate by
matching strain curves</a:t>
                      </a:r>
                    </a:p>
                  </a:txBody>
                  <a:tcPr/>
                </a:tc>
                <a:tc>
                  <a:txBody>
                    <a:bodyPr lIns="54864" rIns="54864" tIns="18288" bIns="18288" wrap="square" anchor="ctr"/>
                    <a:lstStyle/>
                    <a:p>
                      <a:pPr algn="l"/>
                      <a:r>
                        <a:rPr sz="750" b="0">
                          <a:solidFill>
                            <a:srgbClr val="000000"/>
                          </a:solidFill>
                          <a:latin typeface="Calibri"/>
                        </a:rPr>
                        <a:t>Circular. If the PPD-UTM strain were k× the XT-205's the fit
returns fps ÷ k, and the two rates then agree BY CONSTRUCTION.
That version reported 0.6 % agreement.</a:t>
                      </a:r>
                    </a:p>
                  </a:txBody>
                  <a:tcPr/>
                </a:tc>
                <a:tc>
                  <a:txBody>
                    <a:bodyPr lIns="54864" rIns="54864" tIns="18288" bIns="18288" wrap="square" anchor="ctr"/>
                    <a:lstStyle/>
                    <a:p>
                      <a:pPr algn="l"/>
                      <a:r>
                        <a:rPr sz="750" b="0">
                          <a:solidFill>
                            <a:srgbClr val="000000"/>
                          </a:solidFill>
                          <a:latin typeface="Calibri"/>
                        </a:rPr>
                        <a:t>Replaced by the acquisition log's per-frame
timestamps; the honest figure is 2.4 %. The fit is kept, demoted to
the scale check it is genuinely good for.</a:t>
                      </a:r>
                    </a:p>
                  </a:txBody>
                  <a:tcPr/>
                </a:tc>
              </a:tr>
              <a:tr h="603504">
                <a:tc>
                  <a:txBody>
                    <a:bodyPr lIns="54864" rIns="54864" tIns="18288" bIns="18288" wrap="square" anchor="ctr"/>
                    <a:lstStyle/>
                    <a:p>
                      <a:pPr algn="l"/>
                      <a:r>
                        <a:rPr sz="750" b="0">
                          <a:solidFill>
                            <a:srgbClr val="000000"/>
                          </a:solidFill>
                          <a:latin typeface="Calibri"/>
                        </a:rPr>
                        <a:t>cv2 seeking returns a STALE
frame on this file</a:t>
                      </a:r>
                    </a:p>
                  </a:txBody>
                  <a:tcPr/>
                </a:tc>
                <a:tc>
                  <a:txBody>
                    <a:bodyPr lIns="54864" rIns="54864" tIns="18288" bIns="18288" wrap="square" anchor="ctr"/>
                    <a:lstStyle/>
                    <a:p>
                      <a:pPr algn="l"/>
                      <a:r>
                        <a:rPr sz="750" b="0">
                          <a:solidFill>
                            <a:srgbClr val="000000"/>
                          </a:solidFill>
                          <a:latin typeface="Calibri"/>
                        </a:rPr>
                        <a:t>Correct for the first ~40 frames, wrong past ~80,
while reporting its position honestly. Sampling by
seek showed markers that never moved — and I
reported the video held no deformation. It holds a
pull to 4 % and a fracture.</a:t>
                      </a:r>
                    </a:p>
                  </a:txBody>
                  <a:tcPr/>
                </a:tc>
                <a:tc>
                  <a:txBody>
                    <a:bodyPr lIns="54864" rIns="54864" tIns="18288" bIns="18288" wrap="square" anchor="ctr"/>
                    <a:lstStyle/>
                    <a:p>
                      <a:pPr algn="l"/>
                      <a:r>
                        <a:rPr sz="750" b="0">
                          <a:solidFill>
                            <a:srgbClr val="000000"/>
                          </a:solidFill>
                          <a:latin typeface="Calibri"/>
                        </a:rPr>
                        <a:t>read_frame now probes each file and decodes in order
when the seek cannot be trusted. Two cheaper probes
were tried and rejected: the position property is
honest here, and the stale seeks are not identical.</a:t>
                      </a:r>
                    </a:p>
                  </a:txBody>
                  <a:tcPr/>
                </a:tc>
              </a:tr>
              <a:tr h="603504">
                <a:tc>
                  <a:txBody>
                    <a:bodyPr lIns="54864" rIns="54864" tIns="18288" bIns="18288" wrap="square" anchor="ctr"/>
                    <a:lstStyle/>
                    <a:p>
                      <a:pPr algn="l"/>
                      <a:r>
                        <a:rPr sz="750" b="0">
                          <a:solidFill>
                            <a:srgbClr val="000000"/>
                          </a:solidFill>
                          <a:latin typeface="Calibri"/>
                        </a:rPr>
                        <a:t>Box half-size 105 px, marker
121 px from the frame edge</a:t>
                      </a:r>
                    </a:p>
                  </a:txBody>
                  <a:tcPr/>
                </a:tc>
                <a:tc>
                  <a:txBody>
                    <a:bodyPr lIns="54864" rIns="54864" tIns="18288" bIns="18288" wrap="square" anchor="ctr"/>
                    <a:lstStyle/>
                    <a:p>
                      <a:pPr algn="l"/>
                      <a:r>
                        <a:rPr sz="750" b="0">
                          <a:solidFill>
                            <a:srgbClr val="000000"/>
                          </a:solidFill>
                          <a:latin typeface="Calibri"/>
                        </a:rPr>
                        <a:t>Box.clamp() pinned the box at 2357 px once the marker
travelled far enough; 184 rows sit at exactly that value,
after which the centroid flip-flops several px a frame.</a:t>
                      </a:r>
                    </a:p>
                  </a:txBody>
                  <a:tcPr/>
                </a:tc>
                <a:tc>
                  <a:txBody>
                    <a:bodyPr lIns="54864" rIns="54864" tIns="18288" bIns="18288" wrap="square" anchor="ctr"/>
                    <a:lstStyle/>
                    <a:p>
                      <a:pPr algn="l"/>
                      <a:r>
                        <a:rPr sz="750" b="0">
                          <a:solidFill>
                            <a:srgbClr val="000000"/>
                          </a:solidFill>
                          <a:latin typeface="Calibri"/>
                        </a:rPr>
                        <a:t>The run is trimmed at the first jump the specimen
could not physically make (0.085 px/frame is real,
the cut fires at 0.52). It lands at 0.52 % strain —
above the fitted window, so nothing fitted is lost.</a:t>
                      </a:r>
                    </a:p>
                  </a:txBody>
                  <a:tcPr/>
                </a:tc>
              </a:tr>
            </a:tbl>
          </a:graphicData>
        </a:graphic>
      </p:graphicFrame>
      <p:sp>
        <p:nvSpPr>
          <p:cNvPr id="7" name="TextBox 6"/>
          <p:cNvSpPr txBox="1"/>
          <p:nvPr/>
        </p:nvSpPr>
        <p:spPr>
          <a:xfrm>
            <a:off x="41148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to do differently next time</a:t>
            </a:r>
          </a:p>
        </p:txBody>
      </p:sp>
      <p:sp>
        <p:nvSpPr>
          <p:cNvPr id="8" name="TextBox 7"/>
          <p:cNvSpPr txBox="1"/>
          <p:nvPr/>
        </p:nvSpPr>
        <p:spPr>
          <a:xfrm>
            <a:off x="411480" y="4974336"/>
            <a:ext cx="5623560" cy="1298448"/>
          </a:xfrm>
          <a:prstGeom prst="rect">
            <a:avLst/>
          </a:prstGeom>
          <a:noFill/>
        </p:spPr>
        <p:txBody>
          <a:bodyPr wrap="square" lIns="45720" rIns="45720" tIns="18288" bIns="18288" anchor="t">
            <a:spAutoFit/>
          </a:bodyPr>
          <a:lstStyle/>
          <a:p>
            <a:pPr algn="l"/>
            <a:r>
              <a:rPr sz="1000" b="0" i="0">
                <a:solidFill>
                  <a:srgbClr val="000000"/>
                </a:solidFill>
                <a:latin typeface="Calibri"/>
              </a:rPr>
              <a:t>• Keep both markers well clear of the frame edge — at least the box half-size plus the travel expected, or the box runs out of room before the specimen does.
• Set the frame rate from the acquisition log, never from the container.
• Place the markers inside the PARALLEL section, not on the fillets.</a:t>
            </a:r>
          </a:p>
        </p:txBody>
      </p:sp>
      <p:sp>
        <p:nvSpPr>
          <p:cNvPr id="9" name="TextBox 8"/>
          <p:cNvSpPr txBox="1"/>
          <p:nvPr/>
        </p:nvSpPr>
        <p:spPr>
          <a:xfrm>
            <a:off x="6263640" y="46268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run can and cannot settle</a:t>
            </a:r>
          </a:p>
        </p:txBody>
      </p:sp>
      <p:sp>
        <p:nvSpPr>
          <p:cNvPr id="10" name="TextBox 9"/>
          <p:cNvSpPr txBox="1"/>
          <p:nvPr/>
        </p:nvSpPr>
        <p:spPr>
          <a:xfrm>
            <a:off x="6263640" y="4974336"/>
            <a:ext cx="5577840" cy="1298448"/>
          </a:xfrm>
          <a:prstGeom prst="rect">
            <a:avLst/>
          </a:prstGeom>
          <a:noFill/>
        </p:spPr>
        <p:txBody>
          <a:bodyPr wrap="square" lIns="45720" rIns="45720" tIns="18288" bIns="18288" anchor="t">
            <a:spAutoFit/>
          </a:bodyPr>
          <a:lstStyle/>
          <a:p>
            <a:pPr algn="l"/>
            <a:r>
              <a:rPr sz="1000" b="0" i="0">
                <a:solidFill>
                  <a:srgbClr val="000000"/>
                </a:solidFill>
                <a:latin typeface="Calibri"/>
              </a:rPr>
              <a:t>It settles the CALCULATION: same pixels in, same strain out, to 0.17 %.
It does not settle the modulus. The XT-205 record carries no force, so E, σ_y, UTS and ε_f cannot be compared at all — only d(ε)/dt and noise. One specimen on each machine is also not a repeatability claim.</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Sources: mot_postproc_compare.py and motpp_plots.py, both reading the raw records at build time. Measured 2026-08-27.</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SCALE CHECK — WHY IT IS NEEDED, AND WHAT IT RULES OUT</a:t>
            </a:r>
          </a:p>
        </p:txBody>
      </p:sp>
      <p:sp>
        <p:nvSpPr>
          <p:cNvPr id="5" name="TextBox 4"/>
          <p:cNvSpPr txBox="1"/>
          <p:nvPr/>
        </p:nvSpPr>
        <p:spPr>
          <a:xfrm>
            <a:off x="411480" y="1042415"/>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The problem: a strain RATE needs a clock</a:t>
            </a:r>
          </a:p>
        </p:txBody>
      </p:sp>
      <p:sp>
        <p:nvSpPr>
          <p:cNvPr id="6" name="TextBox 5"/>
          <p:cNvSpPr txBox="1"/>
          <p:nvPr/>
        </p:nvSpPr>
        <p:spPr>
          <a:xfrm>
            <a:off x="411480" y="1389888"/>
            <a:ext cx="5623560" cy="1078992"/>
          </a:xfrm>
          <a:prstGeom prst="rect">
            <a:avLst/>
          </a:prstGeom>
          <a:noFill/>
        </p:spPr>
        <p:txBody>
          <a:bodyPr wrap="square" lIns="45720" rIns="45720" tIns="18288" bIns="18288" anchor="t">
            <a:spAutoFit/>
          </a:bodyPr>
          <a:lstStyle/>
          <a:p>
            <a:pPr algn="l"/>
            <a:r>
              <a:rPr sz="1000" b="0" i="0">
                <a:solidFill>
                  <a:srgbClr val="000000"/>
                </a:solidFill>
                <a:latin typeface="Calibri"/>
              </a:rPr>
              <a:t>Comparing d(ε)/dt between two machines means knowing when each video frame happened. test2.chan 0.avi declares 1000 fps and 117 497 frames; it holds 2281 frames at about 19.4 fps. Believe the file and every rate on these slides is out by a factor of 52.</a:t>
            </a:r>
          </a:p>
        </p:txBody>
      </p:sp>
      <p:sp>
        <p:nvSpPr>
          <p:cNvPr id="7" name="TextBox 6"/>
          <p:cNvSpPr txBox="1"/>
          <p:nvPr/>
        </p:nvSpPr>
        <p:spPr>
          <a:xfrm>
            <a:off x="6263640" y="1042415"/>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Two ways to get the real one</a:t>
            </a:r>
          </a:p>
        </p:txBody>
      </p:sp>
      <p:graphicFrame>
        <p:nvGraphicFramePr>
          <p:cNvPr id="8" name="Table 7"/>
          <p:cNvGraphicFramePr>
            <a:graphicFrameLocks noGrp="1"/>
          </p:cNvGraphicFramePr>
          <p:nvPr/>
        </p:nvGraphicFramePr>
        <p:xfrm>
          <a:off x="6263640" y="1389888"/>
          <a:ext cx="5577839" cy="1078992"/>
        </p:xfrm>
        <a:graphic>
          <a:graphicData uri="http://schemas.openxmlformats.org/drawingml/2006/table">
            <a:tbl>
              <a:tblPr firstRow="1" bandRow="1">
                <a:tableStyleId>{5C22544A-7EE6-4342-B048-85BDC9FD1C3A}</a:tableStyleId>
              </a:tblPr>
              <a:tblGrid>
                <a:gridCol w="1051560"/>
                <a:gridCol w="2788920"/>
                <a:gridCol w="1737359"/>
              </a:tblGrid>
              <a:tr h="359664">
                <a:tc>
                  <a:txBody>
                    <a:bodyPr lIns="54864" rIns="54864" tIns="18288" bIns="18288" wrap="square" anchor="ctr"/>
                    <a:lstStyle/>
                    <a:p>
                      <a:pPr algn="l"/>
                      <a:r>
                        <a:rPr sz="950" b="1">
                          <a:solidFill>
                            <a:srgbClr val="FFFFFF"/>
                          </a:solidFill>
                          <a:latin typeface="Calibri"/>
                        </a:rPr>
                        <a:t>Route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359664">
                <a:tc>
                  <a:txBody>
                    <a:bodyPr lIns="54864" rIns="54864" tIns="18288" bIns="18288" wrap="square" anchor="ctr"/>
                    <a:lstStyle/>
                    <a:p>
                      <a:pPr algn="l"/>
                      <a:r>
                        <a:rPr sz="850" b="0">
                          <a:solidFill>
                            <a:srgbClr val="000000"/>
                          </a:solidFill>
                          <a:latin typeface="Calibri"/>
                        </a:rPr>
                        <a:t>INFERRED</a:t>
                      </a:r>
                    </a:p>
                  </a:txBody>
                  <a:tcPr/>
                </a:tc>
                <a:tc>
                  <a:txBody>
                    <a:bodyPr lIns="54864" rIns="54864" tIns="18288" bIns="18288" wrap="square" anchor="ctr"/>
                    <a:lstStyle/>
                    <a:p>
                      <a:pPr algn="l"/>
                      <a:r>
                        <a:rPr sz="850" b="0">
                          <a:solidFill>
                            <a:srgbClr val="000000"/>
                          </a:solidFill>
                          <a:latin typeface="Calibri"/>
                        </a:rPr>
                        <a:t>when each record reaches the
same strain levels</a:t>
                      </a:r>
                    </a:p>
                  </a:txBody>
                  <a:tcPr/>
                </a:tc>
                <a:tc>
                  <a:txBody>
                    <a:bodyPr lIns="54864" rIns="54864" tIns="18288" bIns="18288" wrap="square" anchor="ctr"/>
                    <a:lstStyle/>
                    <a:p>
                      <a:pPr algn="l"/>
                      <a:r>
                        <a:rPr sz="850" b="0">
                          <a:solidFill>
                            <a:srgbClr val="000000"/>
                          </a:solidFill>
                          <a:latin typeface="Calibri"/>
                        </a:rPr>
                        <a:t>19.407 fps</a:t>
                      </a:r>
                    </a:p>
                  </a:txBody>
                  <a:tcPr/>
                </a:tc>
              </a:tr>
              <a:tr h="359664">
                <a:tc>
                  <a:txBody>
                    <a:bodyPr lIns="54864" rIns="54864" tIns="18288" bIns="18288" wrap="square" anchor="ctr"/>
                    <a:lstStyle/>
                    <a:p>
                      <a:pPr algn="l"/>
                      <a:r>
                        <a:rPr sz="850" b="0">
                          <a:solidFill>
                            <a:srgbClr val="000000"/>
                          </a:solidFill>
                          <a:latin typeface="Calibri"/>
                        </a:rPr>
                        <a:t>RECORDED</a:t>
                      </a:r>
                    </a:p>
                  </a:txBody>
                  <a:tcPr/>
                </a:tc>
                <a:tc>
                  <a:txBody>
                    <a:bodyPr lIns="54864" rIns="54864" tIns="18288" bIns="18288" wrap="square" anchor="ctr"/>
                    <a:lstStyle/>
                    <a:p>
                      <a:pPr algn="l"/>
                      <a:r>
                        <a:rPr sz="850" b="0">
                          <a:solidFill>
                            <a:srgbClr val="000000"/>
                          </a:solidFill>
                          <a:latin typeface="Calibri"/>
                        </a:rPr>
                        <a:t>the XT-205's own log, one
timestamped row per frame</a:t>
                      </a:r>
                    </a:p>
                  </a:txBody>
                  <a:tcPr/>
                </a:tc>
                <a:tc>
                  <a:txBody>
                    <a:bodyPr lIns="54864" rIns="54864" tIns="18288" bIns="18288" wrap="square" anchor="ctr"/>
                    <a:lstStyle/>
                    <a:p>
                      <a:pPr algn="l"/>
                      <a:r>
                        <a:rPr sz="850" b="0">
                          <a:solidFill>
                            <a:srgbClr val="000000"/>
                          </a:solidFill>
                          <a:latin typeface="Calibri"/>
                        </a:rPr>
                        <a:t>19.405 fps</a:t>
                      </a:r>
                    </a:p>
                  </a:txBody>
                  <a:tcPr/>
                </a:tc>
              </a:tr>
            </a:tbl>
          </a:graphicData>
        </a:graphic>
      </p:graphicFrame>
      <p:pic>
        <p:nvPicPr>
          <p:cNvPr id="9" name="Picture 8" descr="mot_scalecheck.png"/>
          <p:cNvPicPr>
            <a:picLocks noChangeAspect="1"/>
          </p:cNvPicPr>
          <p:nvPr/>
        </p:nvPicPr>
        <p:blipFill>
          <a:blip r:embed="rId2"/>
          <a:stretch>
            <a:fillRect/>
          </a:stretch>
        </p:blipFill>
        <p:spPr>
          <a:xfrm>
            <a:off x="3041656" y="2615184"/>
            <a:ext cx="6169646" cy="2615184"/>
          </a:xfrm>
          <a:prstGeom prst="rect">
            <a:avLst/>
          </a:prstGeom>
        </p:spPr>
      </p:pic>
      <p:sp>
        <p:nvSpPr>
          <p:cNvPr id="10" name="TextBox 9"/>
          <p:cNvSpPr txBox="1"/>
          <p:nvPr/>
        </p:nvSpPr>
        <p:spPr>
          <a:xfrm>
            <a:off x="411480" y="53400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Why not just use the recorded one and move on?</a:t>
            </a:r>
          </a:p>
        </p:txBody>
      </p:sp>
      <p:sp>
        <p:nvSpPr>
          <p:cNvPr id="11" name="TextBox 10"/>
          <p:cNvSpPr txBox="1"/>
          <p:nvPr/>
        </p:nvSpPr>
        <p:spPr>
          <a:xfrm>
            <a:off x="411480" y="5687568"/>
            <a:ext cx="5623560" cy="658368"/>
          </a:xfrm>
          <a:prstGeom prst="rect">
            <a:avLst/>
          </a:prstGeom>
          <a:noFill/>
        </p:spPr>
        <p:txBody>
          <a:bodyPr wrap="square" lIns="45720" rIns="45720" tIns="18288" bIns="18288" anchor="t">
            <a:spAutoFit/>
          </a:bodyPr>
          <a:lstStyle/>
          <a:p>
            <a:pPr algn="l"/>
            <a:r>
              <a:rPr sz="1000" b="0" i="0">
                <a:solidFill>
                  <a:srgbClr val="000000"/>
                </a:solidFill>
                <a:latin typeface="Calibri"/>
              </a:rPr>
              <a:t>Because then nothing would test whether the two strains agree in SIZE. The INFERRED route depends on size — stretch our strain by k and it returns fps ÷ k. The RECORDED route cannot move, because it never looks at strain. So the gap between them IS the size error.</a:t>
            </a:r>
          </a:p>
        </p:txBody>
      </p:sp>
      <p:sp>
        <p:nvSpPr>
          <p:cNvPr id="12" name="TextBox 11"/>
          <p:cNvSpPr txBox="1"/>
          <p:nvPr/>
        </p:nvSpPr>
        <p:spPr>
          <a:xfrm>
            <a:off x="6263640" y="53400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And the check is calibrated, not asserted</a:t>
            </a:r>
          </a:p>
        </p:txBody>
      </p:sp>
      <p:sp>
        <p:nvSpPr>
          <p:cNvPr id="13" name="TextBox 12"/>
          <p:cNvSpPr txBox="1"/>
          <p:nvPr/>
        </p:nvSpPr>
        <p:spPr>
          <a:xfrm>
            <a:off x="6263640" y="5687568"/>
            <a:ext cx="5577840" cy="658368"/>
          </a:xfrm>
          <a:prstGeom prst="rect">
            <a:avLst/>
          </a:prstGeom>
          <a:noFill/>
        </p:spPr>
        <p:txBody>
          <a:bodyPr wrap="square" lIns="45720" rIns="45720" tIns="18288" bIns="18288" anchor="t">
            <a:spAutoFit/>
          </a:bodyPr>
          <a:lstStyle/>
          <a:p>
            <a:pPr algn="l"/>
            <a:r>
              <a:rPr sz="1000" b="0" i="0">
                <a:solidFill>
                  <a:srgbClr val="000000"/>
                </a:solidFill>
                <a:latin typeface="Calibri"/>
              </a:rPr>
              <a:t>Feeding it a deliberate 10 % error makes it report 10 % (right-hand plot), so agreement is informative rather than inevitable. On the real data it reports k = 0.9999: the two strain scales match to 0.01 %.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What it does NOT rule out: if the recorded frame rate were wrong by a factor m AND our strain were stretched by the same m, the test would still pass. That needs two independent errors to coincide exactly — the log comes from the other instrument — but it is not logically excluded.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(1 OF 2) — 0.050 TO 0.205 % STRAIN</a:t>
            </a:r>
          </a:p>
        </p:txBody>
      </p:sp>
      <p:sp>
        <p:nvSpPr>
          <p:cNvPr id="5" name="TextBox 4"/>
          <p:cNvSpPr txBox="1"/>
          <p:nvPr/>
        </p:nvSpPr>
        <p:spPr>
          <a:xfrm>
            <a:off x="502920" y="1024128"/>
            <a:ext cx="11338560" cy="512064"/>
          </a:xfrm>
          <a:prstGeom prst="rect">
            <a:avLst/>
          </a:prstGeom>
          <a:noFill/>
        </p:spPr>
        <p:txBody>
          <a:bodyPr wrap="square" lIns="45720" rIns="45720" tIns="18288" bIns="18288" anchor="t">
            <a:spAutoFit/>
          </a:bodyPr>
          <a:lstStyle/>
          <a:p>
            <a:pPr algn="l"/>
            <a:r>
              <a:rPr sz="1000" b="0" i="0">
                <a:solidFill>
                  <a:srgbClr val="000000"/>
                </a:solidFill>
                <a:latin typeface="Calibri"/>
              </a:rPr>
              <a:t>All 83 matched samples across both slides, 15.80–19.90 s, unaveraged and unsmoothed. The PPD-UTM column is RAW: the post-processor applies no filtering of any kind, and its source value is exactly (L_px − Px₀) / Px₀. The XT-205 column is that instrument's own output interpolated onto our sample times — what it does internally cannot be seen from the file, so the two columns are NOT equally traceable and are not presented as if they were.</a:t>
            </a:r>
          </a:p>
        </p:txBody>
      </p:sp>
      <p:graphicFrame>
        <p:nvGraphicFramePr>
          <p:cNvPr id="6" name="Table 5"/>
          <p:cNvGraphicFramePr>
            <a:graphicFrameLocks noGrp="1"/>
          </p:cNvGraphicFramePr>
          <p:nvPr/>
        </p:nvGraphicFramePr>
        <p:xfrm>
          <a:off x="502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15.80</a:t>
                      </a:r>
                    </a:p>
                  </a:txBody>
                  <a:tcPr/>
                </a:tc>
                <a:tc>
                  <a:txBody>
                    <a:bodyPr lIns="54864" rIns="54864" tIns="18288" bIns="18288" wrap="square" anchor="ctr"/>
                    <a:lstStyle/>
                    <a:p>
                      <a:pPr algn="l"/>
                      <a:r>
                        <a:rPr sz="900" b="0">
                          <a:solidFill>
                            <a:srgbClr val="000000"/>
                          </a:solidFill>
                          <a:latin typeface="Calibri"/>
                        </a:rPr>
                        <a:t>0.0505</a:t>
                      </a:r>
                    </a:p>
                  </a:txBody>
                  <a:tcPr/>
                </a:tc>
                <a:tc>
                  <a:txBody>
                    <a:bodyPr lIns="54864" rIns="54864" tIns="18288" bIns="18288" wrap="square" anchor="ctr"/>
                    <a:lstStyle/>
                    <a:p>
                      <a:pPr algn="l"/>
                      <a:r>
                        <a:rPr sz="900" b="0">
                          <a:solidFill>
                            <a:srgbClr val="000000"/>
                          </a:solidFill>
                          <a:latin typeface="Calibri"/>
                        </a:rPr>
                        <a:t>0.0502</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+0.61</a:t>
                      </a:r>
                    </a:p>
                  </a:txBody>
                  <a:tcPr/>
                </a:tc>
              </a:tr>
              <a:tr h="182880">
                <a:tc>
                  <a:txBody>
                    <a:bodyPr lIns="54864" rIns="54864" tIns="18288" bIns="18288" wrap="square" anchor="ctr"/>
                    <a:lstStyle/>
                    <a:p>
                      <a:pPr algn="l"/>
                      <a:r>
                        <a:rPr sz="900" b="0">
                          <a:solidFill>
                            <a:srgbClr val="000000"/>
                          </a:solidFill>
                          <a:latin typeface="Calibri"/>
                        </a:rPr>
                        <a:t>15.85</a:t>
                      </a:r>
                    </a:p>
                  </a:txBody>
                  <a:tcPr/>
                </a:tc>
                <a:tc>
                  <a:txBody>
                    <a:bodyPr lIns="54864" rIns="54864" tIns="18288" bIns="18288" wrap="square" anchor="ctr"/>
                    <a:lstStyle/>
                    <a:p>
                      <a:pPr algn="l"/>
                      <a:r>
                        <a:rPr sz="900" b="0">
                          <a:solidFill>
                            <a:srgbClr val="000000"/>
                          </a:solidFill>
                          <a:latin typeface="Calibri"/>
                        </a:rPr>
                        <a:t>0.0534</a:t>
                      </a:r>
                    </a:p>
                  </a:txBody>
                  <a:tcPr/>
                </a:tc>
                <a:tc>
                  <a:txBody>
                    <a:bodyPr lIns="54864" rIns="54864" tIns="18288" bIns="18288" wrap="square" anchor="ctr"/>
                    <a:lstStyle/>
                    <a:p>
                      <a:pPr algn="l"/>
                      <a:r>
                        <a:rPr sz="900" b="0">
                          <a:solidFill>
                            <a:srgbClr val="000000"/>
                          </a:solidFill>
                          <a:latin typeface="Calibri"/>
                        </a:rPr>
                        <a:t>0.0541</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-1.43</a:t>
                      </a:r>
                    </a:p>
                  </a:txBody>
                  <a:tcPr/>
                </a:tc>
              </a:tr>
              <a:tr h="182880">
                <a:tc>
                  <a:txBody>
                    <a:bodyPr lIns="54864" rIns="54864" tIns="18288" bIns="18288" wrap="square" anchor="ctr"/>
                    <a:lstStyle/>
                    <a:p>
                      <a:pPr algn="l"/>
                      <a:r>
                        <a:rPr sz="900" b="0">
                          <a:solidFill>
                            <a:srgbClr val="000000"/>
                          </a:solidFill>
                          <a:latin typeface="Calibri"/>
                        </a:rPr>
                        <a:t>15.90</a:t>
                      </a:r>
                    </a:p>
                  </a:txBody>
                  <a:tcPr/>
                </a:tc>
                <a:tc>
                  <a:txBody>
                    <a:bodyPr lIns="54864" rIns="54864" tIns="18288" bIns="18288" wrap="square" anchor="ctr"/>
                    <a:lstStyle/>
                    <a:p>
                      <a:pPr algn="l"/>
                      <a:r>
                        <a:rPr sz="900" b="0">
                          <a:solidFill>
                            <a:srgbClr val="000000"/>
                          </a:solidFill>
                          <a:latin typeface="Calibri"/>
                        </a:rPr>
                        <a:t>0.0571</a:t>
                      </a:r>
                    </a:p>
                  </a:txBody>
                  <a:tcPr/>
                </a:tc>
                <a:tc>
                  <a:txBody>
                    <a:bodyPr lIns="54864" rIns="54864" tIns="18288" bIns="18288" wrap="square" anchor="ctr"/>
                    <a:lstStyle/>
                    <a:p>
                      <a:pPr algn="l"/>
                      <a:r>
                        <a:rPr sz="900" b="0">
                          <a:solidFill>
                            <a:srgbClr val="000000"/>
                          </a:solidFill>
                          <a:latin typeface="Calibri"/>
                        </a:rPr>
                        <a:t>0.0580</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-1.50</a:t>
                      </a:r>
                    </a:p>
                  </a:txBody>
                  <a:tcPr/>
                </a:tc>
              </a:tr>
              <a:tr h="182880">
                <a:tc>
                  <a:txBody>
                    <a:bodyPr lIns="54864" rIns="54864" tIns="18288" bIns="18288" wrap="square" anchor="ctr"/>
                    <a:lstStyle/>
                    <a:p>
                      <a:pPr algn="l"/>
                      <a:r>
                        <a:rPr sz="900" b="0">
                          <a:solidFill>
                            <a:srgbClr val="000000"/>
                          </a:solidFill>
                          <a:latin typeface="Calibri"/>
                        </a:rPr>
                        <a:t>15.95</a:t>
                      </a:r>
                    </a:p>
                  </a:txBody>
                  <a:tcPr/>
                </a:tc>
                <a:tc>
                  <a:txBody>
                    <a:bodyPr lIns="54864" rIns="54864" tIns="18288" bIns="18288" wrap="square" anchor="ctr"/>
                    <a:lstStyle/>
                    <a:p>
                      <a:pPr algn="l"/>
                      <a:r>
                        <a:rPr sz="900" b="0">
                          <a:solidFill>
                            <a:srgbClr val="000000"/>
                          </a:solidFill>
                          <a:latin typeface="Calibri"/>
                        </a:rPr>
                        <a:t>0.0620</a:t>
                      </a:r>
                    </a:p>
                  </a:txBody>
                  <a:tcPr/>
                </a:tc>
                <a:tc>
                  <a:txBody>
                    <a:bodyPr lIns="54864" rIns="54864" tIns="18288" bIns="18288" wrap="square" anchor="ctr"/>
                    <a:lstStyle/>
                    <a:p>
                      <a:pPr algn="l"/>
                      <a:r>
                        <a:rPr sz="900" b="0">
                          <a:solidFill>
                            <a:srgbClr val="000000"/>
                          </a:solidFill>
                          <a:latin typeface="Calibri"/>
                        </a:rPr>
                        <a:t>0.0614</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16.00</a:t>
                      </a:r>
                    </a:p>
                  </a:txBody>
                  <a:tcPr/>
                </a:tc>
                <a:tc>
                  <a:txBody>
                    <a:bodyPr lIns="54864" rIns="54864" tIns="18288" bIns="18288" wrap="square" anchor="ctr"/>
                    <a:lstStyle/>
                    <a:p>
                      <a:pPr algn="l"/>
                      <a:r>
                        <a:rPr sz="900" b="0">
                          <a:solidFill>
                            <a:srgbClr val="000000"/>
                          </a:solidFill>
                          <a:latin typeface="Calibri"/>
                        </a:rPr>
                        <a:t>0.0644</a:t>
                      </a:r>
                    </a:p>
                  </a:txBody>
                  <a:tcPr/>
                </a:tc>
                <a:tc>
                  <a:txBody>
                    <a:bodyPr lIns="54864" rIns="54864" tIns="18288" bIns="18288" wrap="square" anchor="ctr"/>
                    <a:lstStyle/>
                    <a:p>
                      <a:pPr algn="l"/>
                      <a:r>
                        <a:rPr sz="900" b="0">
                          <a:solidFill>
                            <a:srgbClr val="000000"/>
                          </a:solidFill>
                          <a:latin typeface="Calibri"/>
                        </a:rPr>
                        <a:t>0.0655</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16.05</a:t>
                      </a:r>
                    </a:p>
                  </a:txBody>
                  <a:tcPr/>
                </a:tc>
                <a:tc>
                  <a:txBody>
                    <a:bodyPr lIns="54864" rIns="54864" tIns="18288" bIns="18288" wrap="square" anchor="ctr"/>
                    <a:lstStyle/>
                    <a:p>
                      <a:pPr algn="l"/>
                      <a:r>
                        <a:rPr sz="900" b="0">
                          <a:solidFill>
                            <a:srgbClr val="000000"/>
                          </a:solidFill>
                          <a:latin typeface="Calibri"/>
                        </a:rPr>
                        <a:t>0.0684</a:t>
                      </a:r>
                    </a:p>
                  </a:txBody>
                  <a:tcPr/>
                </a:tc>
                <a:tc>
                  <a:txBody>
                    <a:bodyPr lIns="54864" rIns="54864" tIns="18288" bIns="18288" wrap="square" anchor="ctr"/>
                    <a:lstStyle/>
                    <a:p>
                      <a:pPr algn="l"/>
                      <a:r>
                        <a:rPr sz="900" b="0">
                          <a:solidFill>
                            <a:srgbClr val="000000"/>
                          </a:solidFill>
                          <a:latin typeface="Calibri"/>
                        </a:rPr>
                        <a:t>0.0690</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16.10</a:t>
                      </a:r>
                    </a:p>
                  </a:txBody>
                  <a:tcPr/>
                </a:tc>
                <a:tc>
                  <a:txBody>
                    <a:bodyPr lIns="54864" rIns="54864" tIns="18288" bIns="18288" wrap="square" anchor="ctr"/>
                    <a:lstStyle/>
                    <a:p>
                      <a:pPr algn="l"/>
                      <a:r>
                        <a:rPr sz="900" b="0">
                          <a:solidFill>
                            <a:srgbClr val="000000"/>
                          </a:solidFill>
                          <a:latin typeface="Calibri"/>
                        </a:rPr>
                        <a:t>0.0730</a:t>
                      </a:r>
                    </a:p>
                  </a:txBody>
                  <a:tcPr/>
                </a:tc>
                <a:tc>
                  <a:txBody>
                    <a:bodyPr lIns="54864" rIns="54864" tIns="18288" bIns="18288" wrap="square" anchor="ctr"/>
                    <a:lstStyle/>
                    <a:p>
                      <a:pPr algn="l"/>
                      <a:r>
                        <a:rPr sz="900" b="0">
                          <a:solidFill>
                            <a:srgbClr val="000000"/>
                          </a:solidFill>
                          <a:latin typeface="Calibri"/>
                        </a:rPr>
                        <a:t>0.0731</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-0.10</a:t>
                      </a:r>
                    </a:p>
                  </a:txBody>
                  <a:tcPr/>
                </a:tc>
              </a:tr>
              <a:tr h="182880">
                <a:tc>
                  <a:txBody>
                    <a:bodyPr lIns="54864" rIns="54864" tIns="18288" bIns="18288" wrap="square" anchor="ctr"/>
                    <a:lstStyle/>
                    <a:p>
                      <a:pPr algn="l"/>
                      <a:r>
                        <a:rPr sz="900" b="0">
                          <a:solidFill>
                            <a:srgbClr val="000000"/>
                          </a:solidFill>
                          <a:latin typeface="Calibri"/>
                        </a:rPr>
                        <a:t>16.15</a:t>
                      </a:r>
                    </a:p>
                  </a:txBody>
                  <a:tcPr/>
                </a:tc>
                <a:tc>
                  <a:txBody>
                    <a:bodyPr lIns="54864" rIns="54864" tIns="18288" bIns="18288" wrap="square" anchor="ctr"/>
                    <a:lstStyle/>
                    <a:p>
                      <a:pPr algn="l"/>
                      <a:r>
                        <a:rPr sz="900" b="0">
                          <a:solidFill>
                            <a:srgbClr val="000000"/>
                          </a:solidFill>
                          <a:latin typeface="Calibri"/>
                        </a:rPr>
                        <a:t>0.0766</a:t>
                      </a:r>
                    </a:p>
                  </a:txBody>
                  <a:tcPr/>
                </a:tc>
                <a:tc>
                  <a:txBody>
                    <a:bodyPr lIns="54864" rIns="54864" tIns="18288" bIns="18288" wrap="square" anchor="ctr"/>
                    <a:lstStyle/>
                    <a:p>
                      <a:pPr algn="l"/>
                      <a:r>
                        <a:rPr sz="900" b="0">
                          <a:solidFill>
                            <a:srgbClr val="000000"/>
                          </a:solidFill>
                          <a:latin typeface="Calibri"/>
                        </a:rPr>
                        <a:t>0.0767</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-0.16</a:t>
                      </a:r>
                    </a:p>
                  </a:txBody>
                  <a:tcPr/>
                </a:tc>
              </a:tr>
              <a:tr h="182880">
                <a:tc>
                  <a:txBody>
                    <a:bodyPr lIns="54864" rIns="54864" tIns="18288" bIns="18288" wrap="square" anchor="ctr"/>
                    <a:lstStyle/>
                    <a:p>
                      <a:pPr algn="l"/>
                      <a:r>
                        <a:rPr sz="900" b="0">
                          <a:solidFill>
                            <a:srgbClr val="000000"/>
                          </a:solidFill>
                          <a:latin typeface="Calibri"/>
                        </a:rPr>
                        <a:t>16.20</a:t>
                      </a:r>
                    </a:p>
                  </a:txBody>
                  <a:tcPr/>
                </a:tc>
                <a:tc>
                  <a:txBody>
                    <a:bodyPr lIns="54864" rIns="54864" tIns="18288" bIns="18288" wrap="square" anchor="ctr"/>
                    <a:lstStyle/>
                    <a:p>
                      <a:pPr algn="l"/>
                      <a:r>
                        <a:rPr sz="900" b="0">
                          <a:solidFill>
                            <a:srgbClr val="000000"/>
                          </a:solidFill>
                          <a:latin typeface="Calibri"/>
                        </a:rPr>
                        <a:t>0.0807</a:t>
                      </a:r>
                    </a:p>
                  </a:txBody>
                  <a:tcPr/>
                </a:tc>
                <a:tc>
                  <a:txBody>
                    <a:bodyPr lIns="54864" rIns="54864" tIns="18288" bIns="18288" wrap="square" anchor="ctr"/>
                    <a:lstStyle/>
                    <a:p>
                      <a:pPr algn="l"/>
                      <a:r>
                        <a:rPr sz="900" b="0">
                          <a:solidFill>
                            <a:srgbClr val="000000"/>
                          </a:solidFill>
                          <a:latin typeface="Calibri"/>
                        </a:rPr>
                        <a:t>0.0811</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-0.51</a:t>
                      </a:r>
                    </a:p>
                  </a:txBody>
                  <a:tcPr/>
                </a:tc>
              </a:tr>
              <a:tr h="182880">
                <a:tc>
                  <a:txBody>
                    <a:bodyPr lIns="54864" rIns="54864" tIns="18288" bIns="18288" wrap="square" anchor="ctr"/>
                    <a:lstStyle/>
                    <a:p>
                      <a:pPr algn="l"/>
                      <a:r>
                        <a:rPr sz="900" b="0">
                          <a:solidFill>
                            <a:srgbClr val="000000"/>
                          </a:solidFill>
                          <a:latin typeface="Calibri"/>
                        </a:rPr>
                        <a:t>16.25</a:t>
                      </a:r>
                    </a:p>
                  </a:txBody>
                  <a:tcPr/>
                </a:tc>
                <a:tc>
                  <a:txBody>
                    <a:bodyPr lIns="54864" rIns="54864" tIns="18288" bIns="18288" wrap="square" anchor="ctr"/>
                    <a:lstStyle/>
                    <a:p>
                      <a:pPr algn="l"/>
                      <a:r>
                        <a:rPr sz="900" b="0">
                          <a:solidFill>
                            <a:srgbClr val="000000"/>
                          </a:solidFill>
                          <a:latin typeface="Calibri"/>
                        </a:rPr>
                        <a:t>0.0846</a:t>
                      </a:r>
                    </a:p>
                  </a:txBody>
                  <a:tcPr/>
                </a:tc>
                <a:tc>
                  <a:txBody>
                    <a:bodyPr lIns="54864" rIns="54864" tIns="18288" bIns="18288" wrap="square" anchor="ctr"/>
                    <a:lstStyle/>
                    <a:p>
                      <a:pPr algn="l"/>
                      <a:r>
                        <a:rPr sz="900" b="0">
                          <a:solidFill>
                            <a:srgbClr val="000000"/>
                          </a:solidFill>
                          <a:latin typeface="Calibri"/>
                        </a:rPr>
                        <a:t>0.0848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-0.24</a:t>
                      </a:r>
                    </a:p>
                  </a:txBody>
                  <a:tcPr/>
                </a:tc>
              </a:tr>
              <a:tr h="182880">
                <a:tc>
                  <a:txBody>
                    <a:bodyPr lIns="54864" rIns="54864" tIns="18288" bIns="18288" wrap="square" anchor="ctr"/>
                    <a:lstStyle/>
                    <a:p>
                      <a:pPr algn="l"/>
                      <a:r>
                        <a:rPr sz="900" b="0">
                          <a:solidFill>
                            <a:srgbClr val="000000"/>
                          </a:solidFill>
                          <a:latin typeface="Calibri"/>
                        </a:rPr>
                        <a:t>16.30</a:t>
                      </a:r>
                    </a:p>
                  </a:txBody>
                  <a:tcPr/>
                </a:tc>
                <a:tc>
                  <a:txBody>
                    <a:bodyPr lIns="54864" rIns="54864" tIns="18288" bIns="18288" wrap="square" anchor="ctr"/>
                    <a:lstStyle/>
                    <a:p>
                      <a:pPr algn="l"/>
                      <a:r>
                        <a:rPr sz="900" b="0">
                          <a:solidFill>
                            <a:srgbClr val="000000"/>
                          </a:solidFill>
                          <a:latin typeface="Calibri"/>
                        </a:rPr>
                        <a:t>0.0876</a:t>
                      </a:r>
                    </a:p>
                  </a:txBody>
                  <a:tcPr/>
                </a:tc>
                <a:tc>
                  <a:txBody>
                    <a:bodyPr lIns="54864" rIns="54864" tIns="18288" bIns="18288" wrap="square" anchor="ctr"/>
                    <a:lstStyle/>
                    <a:p>
                      <a:pPr algn="l"/>
                      <a:r>
                        <a:rPr sz="900" b="0">
                          <a:solidFill>
                            <a:srgbClr val="000000"/>
                          </a:solidFill>
                          <a:latin typeface="Calibri"/>
                        </a:rPr>
                        <a:t>0.0883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16.35</a:t>
                      </a:r>
                    </a:p>
                  </a:txBody>
                  <a:tcPr/>
                </a:tc>
                <a:tc>
                  <a:txBody>
                    <a:bodyPr lIns="54864" rIns="54864" tIns="18288" bIns="18288" wrap="square" anchor="ctr"/>
                    <a:lstStyle/>
                    <a:p>
                      <a:pPr algn="l"/>
                      <a:r>
                        <a:rPr sz="900" b="0">
                          <a:solidFill>
                            <a:srgbClr val="000000"/>
                          </a:solidFill>
                          <a:latin typeface="Calibri"/>
                        </a:rPr>
                        <a:t>0.0905</a:t>
                      </a:r>
                    </a:p>
                  </a:txBody>
                  <a:tcPr/>
                </a:tc>
                <a:tc>
                  <a:txBody>
                    <a:bodyPr lIns="54864" rIns="54864" tIns="18288" bIns="18288" wrap="square" anchor="ctr"/>
                    <a:lstStyle/>
                    <a:p>
                      <a:pPr algn="l"/>
                      <a:r>
                        <a:rPr sz="900" b="0">
                          <a:solidFill>
                            <a:srgbClr val="000000"/>
                          </a:solidFill>
                          <a:latin typeface="Calibri"/>
                        </a:rPr>
                        <a:t>0.0921</a:t>
                      </a:r>
                    </a:p>
                  </a:txBody>
                  <a:tcPr/>
                </a:tc>
                <a:tc>
                  <a:txBody>
                    <a:bodyPr lIns="54864" rIns="54864" tIns="18288" bIns="18288" wrap="square" anchor="ctr"/>
                    <a:lstStyle/>
                    <a:p>
                      <a:pPr algn="l"/>
                      <a:r>
                        <a:rPr sz="900" b="0">
                          <a:solidFill>
                            <a:srgbClr val="000000"/>
                          </a:solidFill>
                          <a:latin typeface="Calibri"/>
                        </a:rPr>
                        <a:t>-16</a:t>
                      </a:r>
                    </a:p>
                  </a:txBody>
                  <a:tcPr/>
                </a:tc>
                <a:tc>
                  <a:txBody>
                    <a:bodyPr lIns="54864" rIns="54864" tIns="18288" bIns="18288" wrap="square" anchor="ctr"/>
                    <a:lstStyle/>
                    <a:p>
                      <a:pPr algn="l"/>
                      <a:r>
                        <a:rPr sz="900" b="0">
                          <a:solidFill>
                            <a:srgbClr val="000000"/>
                          </a:solidFill>
                          <a:latin typeface="Calibri"/>
                        </a:rPr>
                        <a:t>-1.69</a:t>
                      </a:r>
                    </a:p>
                  </a:txBody>
                  <a:tcPr/>
                </a:tc>
              </a:tr>
              <a:tr h="182880">
                <a:tc>
                  <a:txBody>
                    <a:bodyPr lIns="54864" rIns="54864" tIns="18288" bIns="18288" wrap="square" anchor="ctr"/>
                    <a:lstStyle/>
                    <a:p>
                      <a:pPr algn="l"/>
                      <a:r>
                        <a:rPr sz="900" b="0">
                          <a:solidFill>
                            <a:srgbClr val="000000"/>
                          </a:solidFill>
                          <a:latin typeface="Calibri"/>
                        </a:rPr>
                        <a:t>16.40</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-0.08</a:t>
                      </a:r>
                    </a:p>
                  </a:txBody>
                  <a:tcPr/>
                </a:tc>
              </a:tr>
              <a:tr h="182880">
                <a:tc>
                  <a:txBody>
                    <a:bodyPr lIns="54864" rIns="54864" tIns="18288" bIns="18288" wrap="square" anchor="ctr"/>
                    <a:lstStyle/>
                    <a:p>
                      <a:pPr algn="l"/>
                      <a:r>
                        <a:rPr sz="900" b="0">
                          <a:solidFill>
                            <a:srgbClr val="000000"/>
                          </a:solidFill>
                          <a:latin typeface="Calibri"/>
                        </a:rPr>
                        <a:t>16.45</a:t>
                      </a:r>
                    </a:p>
                  </a:txBody>
                  <a:tcPr/>
                </a:tc>
                <a:tc>
                  <a:txBody>
                    <a:bodyPr lIns="54864" rIns="54864" tIns="18288" bIns="18288" wrap="square" anchor="ctr"/>
                    <a:lstStyle/>
                    <a:p>
                      <a:pPr algn="l"/>
                      <a:r>
                        <a:rPr sz="900" b="0">
                          <a:solidFill>
                            <a:srgbClr val="000000"/>
                          </a:solidFill>
                          <a:latin typeface="Calibri"/>
                        </a:rPr>
                        <a:t>0.0994</a:t>
                      </a:r>
                    </a:p>
                  </a:txBody>
                  <a:tcPr/>
                </a:tc>
                <a:tc>
                  <a:txBody>
                    <a:bodyPr lIns="54864" rIns="54864" tIns="18288" bIns="18288" wrap="square" anchor="ctr"/>
                    <a:lstStyle/>
                    <a:p>
                      <a:pPr algn="l"/>
                      <a:r>
                        <a:rPr sz="900" b="0">
                          <a:solidFill>
                            <a:srgbClr val="000000"/>
                          </a:solidFill>
                          <a:latin typeface="Calibri"/>
                        </a:rPr>
                        <a:t>0.0999</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-0.59</a:t>
                      </a:r>
                    </a:p>
                  </a:txBody>
                  <a:tcPr/>
                </a:tc>
              </a:tr>
              <a:tr h="182880">
                <a:tc>
                  <a:txBody>
                    <a:bodyPr lIns="54864" rIns="54864" tIns="18288" bIns="18288" wrap="square" anchor="ctr"/>
                    <a:lstStyle/>
                    <a:p>
                      <a:pPr algn="l"/>
                      <a:r>
                        <a:rPr sz="900" b="0">
                          <a:solidFill>
                            <a:srgbClr val="000000"/>
                          </a:solidFill>
                          <a:latin typeface="Calibri"/>
                        </a:rPr>
                        <a:t>16.50</a:t>
                      </a:r>
                    </a:p>
                  </a:txBody>
                  <a:tcPr/>
                </a:tc>
                <a:tc>
                  <a:txBody>
                    <a:bodyPr lIns="54864" rIns="54864" tIns="18288" bIns="18288" wrap="square" anchor="ctr"/>
                    <a:lstStyle/>
                    <a:p>
                      <a:pPr algn="l"/>
                      <a:r>
                        <a:rPr sz="900" b="0">
                          <a:solidFill>
                            <a:srgbClr val="000000"/>
                          </a:solidFill>
                          <a:latin typeface="Calibri"/>
                        </a:rPr>
                        <a:t>0.1037</a:t>
                      </a:r>
                    </a:p>
                  </a:txBody>
                  <a:tcPr/>
                </a:tc>
                <a:tc>
                  <a:txBody>
                    <a:bodyPr lIns="54864" rIns="54864" tIns="18288" bIns="18288" wrap="square" anchor="ctr"/>
                    <a:lstStyle/>
                    <a:p>
                      <a:pPr algn="l"/>
                      <a:r>
                        <a:rPr sz="900" b="0">
                          <a:solidFill>
                            <a:srgbClr val="000000"/>
                          </a:solidFill>
                          <a:latin typeface="Calibri"/>
                        </a:rPr>
                        <a:t>0.1035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+0.21</a:t>
                      </a:r>
                    </a:p>
                  </a:txBody>
                  <a:tcPr/>
                </a:tc>
              </a:tr>
              <a:tr h="182880">
                <a:tc>
                  <a:txBody>
                    <a:bodyPr lIns="54864" rIns="54864" tIns="18288" bIns="18288" wrap="square" anchor="ctr"/>
                    <a:lstStyle/>
                    <a:p>
                      <a:pPr algn="l"/>
                      <a:r>
                        <a:rPr sz="900" b="0">
                          <a:solidFill>
                            <a:srgbClr val="000000"/>
                          </a:solidFill>
                          <a:latin typeface="Calibri"/>
                        </a:rPr>
                        <a:t>16.55</a:t>
                      </a:r>
                    </a:p>
                  </a:txBody>
                  <a:tcPr/>
                </a:tc>
                <a:tc>
                  <a:txBody>
                    <a:bodyPr lIns="54864" rIns="54864" tIns="18288" bIns="18288" wrap="square" anchor="ctr"/>
                    <a:lstStyle/>
                    <a:p>
                      <a:pPr algn="l"/>
                      <a:r>
                        <a:rPr sz="900" b="0">
                          <a:solidFill>
                            <a:srgbClr val="000000"/>
                          </a:solidFill>
                          <a:latin typeface="Calibri"/>
                        </a:rPr>
                        <a:t>0.1068</a:t>
                      </a:r>
                    </a:p>
                  </a:txBody>
                  <a:tcPr/>
                </a:tc>
                <a:tc>
                  <a:txBody>
                    <a:bodyPr lIns="54864" rIns="54864" tIns="18288" bIns="18288" wrap="square" anchor="ctr"/>
                    <a:lstStyle/>
                    <a:p>
                      <a:pPr algn="l"/>
                      <a:r>
                        <a:rPr sz="900" b="0">
                          <a:solidFill>
                            <a:srgbClr val="000000"/>
                          </a:solidFill>
                          <a:latin typeface="Calibri"/>
                        </a:rPr>
                        <a:t>0.1074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-0.57</a:t>
                      </a:r>
                    </a:p>
                  </a:txBody>
                  <a:tcPr/>
                </a:tc>
              </a:tr>
              <a:tr h="182880">
                <a:tc>
                  <a:txBody>
                    <a:bodyPr lIns="54864" rIns="54864" tIns="18288" bIns="18288" wrap="square" anchor="ctr"/>
                    <a:lstStyle/>
                    <a:p>
                      <a:pPr algn="l"/>
                      <a:r>
                        <a:rPr sz="900" b="0">
                          <a:solidFill>
                            <a:srgbClr val="000000"/>
                          </a:solidFill>
                          <a:latin typeface="Calibri"/>
                        </a:rPr>
                        <a:t>16.60</a:t>
                      </a:r>
                    </a:p>
                  </a:txBody>
                  <a:tcPr/>
                </a:tc>
                <a:tc>
                  <a:txBody>
                    <a:bodyPr lIns="54864" rIns="54864" tIns="18288" bIns="18288" wrap="square" anchor="ctr"/>
                    <a:lstStyle/>
                    <a:p>
                      <a:pPr algn="l"/>
                      <a:r>
                        <a:rPr sz="900" b="0">
                          <a:solidFill>
                            <a:srgbClr val="000000"/>
                          </a:solidFill>
                          <a:latin typeface="Calibri"/>
                        </a:rPr>
                        <a:t>0.1099</a:t>
                      </a:r>
                    </a:p>
                  </a:txBody>
                  <a:tcPr/>
                </a:tc>
                <a:tc>
                  <a:txBody>
                    <a:bodyPr lIns="54864" rIns="54864" tIns="18288" bIns="18288" wrap="square" anchor="ctr"/>
                    <a:lstStyle/>
                    <a:p>
                      <a:pPr algn="l"/>
                      <a:r>
                        <a:rPr sz="900" b="0">
                          <a:solidFill>
                            <a:srgbClr val="000000"/>
                          </a:solidFill>
                          <a:latin typeface="Calibri"/>
                        </a:rPr>
                        <a:t>0.1109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16.65</a:t>
                      </a:r>
                    </a:p>
                  </a:txBody>
                  <a:tcPr/>
                </a:tc>
                <a:tc>
                  <a:txBody>
                    <a:bodyPr lIns="54864" rIns="54864" tIns="18288" bIns="18288" wrap="square" anchor="ctr"/>
                    <a:lstStyle/>
                    <a:p>
                      <a:pPr algn="l"/>
                      <a:r>
                        <a:rPr sz="900" b="0">
                          <a:solidFill>
                            <a:srgbClr val="000000"/>
                          </a:solidFill>
                          <a:latin typeface="Calibri"/>
                        </a:rPr>
                        <a:t>0.1140</a:t>
                      </a:r>
                    </a:p>
                  </a:txBody>
                  <a:tcPr/>
                </a:tc>
                <a:tc>
                  <a:txBody>
                    <a:bodyPr lIns="54864" rIns="54864" tIns="18288" bIns="18288" wrap="square" anchor="ctr"/>
                    <a:lstStyle/>
                    <a:p>
                      <a:pPr algn="l"/>
                      <a:r>
                        <a:rPr sz="900" b="0">
                          <a:solidFill>
                            <a:srgbClr val="000000"/>
                          </a:solidFill>
                          <a:latin typeface="Calibri"/>
                        </a:rPr>
                        <a:t>0.1150</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16.70</a:t>
                      </a:r>
                    </a:p>
                  </a:txBody>
                  <a:tcPr/>
                </a:tc>
                <a:tc>
                  <a:txBody>
                    <a:bodyPr lIns="54864" rIns="54864" tIns="18288" bIns="18288" wrap="square" anchor="ctr"/>
                    <a:lstStyle/>
                    <a:p>
                      <a:pPr algn="l"/>
                      <a:r>
                        <a:rPr sz="900" b="0">
                          <a:solidFill>
                            <a:srgbClr val="000000"/>
                          </a:solidFill>
                          <a:latin typeface="Calibri"/>
                        </a:rPr>
                        <a:t>0.1186</a:t>
                      </a:r>
                    </a:p>
                  </a:txBody>
                  <a:tcPr/>
                </a:tc>
                <a:tc>
                  <a:txBody>
                    <a:bodyPr lIns="54864" rIns="54864" tIns="18288" bIns="18288" wrap="square" anchor="ctr"/>
                    <a:lstStyle/>
                    <a:p>
                      <a:pPr algn="l"/>
                      <a:r>
                        <a:rPr sz="900" b="0">
                          <a:solidFill>
                            <a:srgbClr val="000000"/>
                          </a:solidFill>
                          <a:latin typeface="Calibri"/>
                        </a:rPr>
                        <a:t>0.1189</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-0.23</a:t>
                      </a:r>
                    </a:p>
                  </a:txBody>
                  <a:tcPr/>
                </a:tc>
              </a:tr>
              <a:tr h="182880">
                <a:tc>
                  <a:txBody>
                    <a:bodyPr lIns="54864" rIns="54864" tIns="18288" bIns="18288" wrap="square" anchor="ctr"/>
                    <a:lstStyle/>
                    <a:p>
                      <a:pPr algn="l"/>
                      <a:r>
                        <a:rPr sz="900" b="0">
                          <a:solidFill>
                            <a:srgbClr val="000000"/>
                          </a:solidFill>
                          <a:latin typeface="Calibri"/>
                        </a:rPr>
                        <a:t>16.75</a:t>
                      </a:r>
                    </a:p>
                  </a:txBody>
                  <a:tcPr/>
                </a:tc>
                <a:tc>
                  <a:txBody>
                    <a:bodyPr lIns="54864" rIns="54864" tIns="18288" bIns="18288" wrap="square" anchor="ctr"/>
                    <a:lstStyle/>
                    <a:p>
                      <a:pPr algn="l"/>
                      <a:r>
                        <a:rPr sz="900" b="0">
                          <a:solidFill>
                            <a:srgbClr val="000000"/>
                          </a:solidFill>
                          <a:latin typeface="Calibri"/>
                        </a:rPr>
                        <a:t>0.1216</a:t>
                      </a:r>
                    </a:p>
                  </a:txBody>
                  <a:tcPr/>
                </a:tc>
                <a:tc>
                  <a:txBody>
                    <a:bodyPr lIns="54864" rIns="54864" tIns="18288" bIns="18288" wrap="square" anchor="ctr"/>
                    <a:lstStyle/>
                    <a:p>
                      <a:pPr algn="l"/>
                      <a:r>
                        <a:rPr sz="900" b="0">
                          <a:solidFill>
                            <a:srgbClr val="000000"/>
                          </a:solidFill>
                          <a:latin typeface="Calibri"/>
                        </a:rPr>
                        <a:t>0.1226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16.80</a:t>
                      </a:r>
                    </a:p>
                  </a:txBody>
                  <a:tcPr/>
                </a:tc>
                <a:tc>
                  <a:txBody>
                    <a:bodyPr lIns="54864" rIns="54864" tIns="18288" bIns="18288" wrap="square" anchor="ctr"/>
                    <a:lstStyle/>
                    <a:p>
                      <a:pPr algn="l"/>
                      <a:r>
                        <a:rPr sz="900" b="0">
                          <a:solidFill>
                            <a:srgbClr val="000000"/>
                          </a:solidFill>
                          <a:latin typeface="Calibri"/>
                        </a:rPr>
                        <a:t>0.1253</a:t>
                      </a:r>
                    </a:p>
                  </a:txBody>
                  <a:tcPr/>
                </a:tc>
                <a:tc>
                  <a:txBody>
                    <a:bodyPr lIns="54864" rIns="54864" tIns="18288" bIns="18288" wrap="square" anchor="ctr"/>
                    <a:lstStyle/>
                    <a:p>
                      <a:pPr algn="l"/>
                      <a:r>
                        <a:rPr sz="900" b="0">
                          <a:solidFill>
                            <a:srgbClr val="000000"/>
                          </a:solidFill>
                          <a:latin typeface="Calibri"/>
                        </a:rPr>
                        <a:t>0.1265</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-1.00</a:t>
                      </a:r>
                    </a:p>
                  </a:txBody>
                  <a:tcPr/>
                </a:tc>
              </a:tr>
            </a:tbl>
          </a:graphicData>
        </a:graphic>
      </p:graphicFrame>
      <p:graphicFrame>
        <p:nvGraphicFramePr>
          <p:cNvPr id="7" name="Table 6"/>
          <p:cNvGraphicFramePr>
            <a:graphicFrameLocks noGrp="1"/>
          </p:cNvGraphicFramePr>
          <p:nvPr/>
        </p:nvGraphicFramePr>
        <p:xfrm>
          <a:off x="6217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16.85</a:t>
                      </a:r>
                    </a:p>
                  </a:txBody>
                  <a:tcPr/>
                </a:tc>
                <a:tc>
                  <a:txBody>
                    <a:bodyPr lIns="54864" rIns="54864" tIns="18288" bIns="18288" wrap="square" anchor="ctr"/>
                    <a:lstStyle/>
                    <a:p>
                      <a:pPr algn="l"/>
                      <a:r>
                        <a:rPr sz="900" b="0">
                          <a:solidFill>
                            <a:srgbClr val="000000"/>
                          </a:solidFill>
                          <a:latin typeface="Calibri"/>
                        </a:rPr>
                        <a:t>0.1294</a:t>
                      </a:r>
                    </a:p>
                  </a:txBody>
                  <a:tcPr/>
                </a:tc>
                <a:tc>
                  <a:txBody>
                    <a:bodyPr lIns="54864" rIns="54864" tIns="18288" bIns="18288" wrap="square" anchor="ctr"/>
                    <a:lstStyle/>
                    <a:p>
                      <a:pPr algn="l"/>
                      <a:r>
                        <a:rPr sz="900" b="0">
                          <a:solidFill>
                            <a:srgbClr val="000000"/>
                          </a:solidFill>
                          <a:latin typeface="Calibri"/>
                        </a:rPr>
                        <a:t>0.1303</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-0.65</a:t>
                      </a:r>
                    </a:p>
                  </a:txBody>
                  <a:tcPr/>
                </a:tc>
              </a:tr>
              <a:tr h="182880">
                <a:tc>
                  <a:txBody>
                    <a:bodyPr lIns="54864" rIns="54864" tIns="18288" bIns="18288" wrap="square" anchor="ctr"/>
                    <a:lstStyle/>
                    <a:p>
                      <a:pPr algn="l"/>
                      <a:r>
                        <a:rPr sz="900" b="0">
                          <a:solidFill>
                            <a:srgbClr val="000000"/>
                          </a:solidFill>
                          <a:latin typeface="Calibri"/>
                        </a:rPr>
                        <a:t>16.90</a:t>
                      </a:r>
                    </a:p>
                  </a:txBody>
                  <a:tcPr/>
                </a:tc>
                <a:tc>
                  <a:txBody>
                    <a:bodyPr lIns="54864" rIns="54864" tIns="18288" bIns="18288" wrap="square" anchor="ctr"/>
                    <a:lstStyle/>
                    <a:p>
                      <a:pPr algn="l"/>
                      <a:r>
                        <a:rPr sz="900" b="0">
                          <a:solidFill>
                            <a:srgbClr val="000000"/>
                          </a:solidFill>
                          <a:latin typeface="Calibri"/>
                        </a:rPr>
                        <a:t>0.1334</a:t>
                      </a:r>
                    </a:p>
                  </a:txBody>
                  <a:tcPr/>
                </a:tc>
                <a:tc>
                  <a:txBody>
                    <a:bodyPr lIns="54864" rIns="54864" tIns="18288" bIns="18288" wrap="square" anchor="ctr"/>
                    <a:lstStyle/>
                    <a:p>
                      <a:pPr algn="l"/>
                      <a:r>
                        <a:rPr sz="900" b="0">
                          <a:solidFill>
                            <a:srgbClr val="000000"/>
                          </a:solidFill>
                          <a:latin typeface="Calibri"/>
                        </a:rPr>
                        <a:t>0.1338</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16.95</a:t>
                      </a:r>
                    </a:p>
                  </a:txBody>
                  <a:tcPr/>
                </a:tc>
                <a:tc>
                  <a:txBody>
                    <a:bodyPr lIns="54864" rIns="54864" tIns="18288" bIns="18288" wrap="square" anchor="ctr"/>
                    <a:lstStyle/>
                    <a:p>
                      <a:pPr algn="l"/>
                      <a:r>
                        <a:rPr sz="900" b="0">
                          <a:solidFill>
                            <a:srgbClr val="000000"/>
                          </a:solidFill>
                          <a:latin typeface="Calibri"/>
                        </a:rPr>
                        <a:t>0.1380</a:t>
                      </a:r>
                    </a:p>
                  </a:txBody>
                  <a:tcPr/>
                </a:tc>
                <a:tc>
                  <a:txBody>
                    <a:bodyPr lIns="54864" rIns="54864" tIns="18288" bIns="18288" wrap="square" anchor="ctr"/>
                    <a:lstStyle/>
                    <a:p>
                      <a:pPr algn="l"/>
                      <a:r>
                        <a:rPr sz="900" b="0">
                          <a:solidFill>
                            <a:srgbClr val="000000"/>
                          </a:solidFill>
                          <a:latin typeface="Calibri"/>
                        </a:rPr>
                        <a:t>0.1393</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-0.92</a:t>
                      </a:r>
                    </a:p>
                  </a:txBody>
                  <a:tcPr/>
                </a:tc>
              </a:tr>
              <a:tr h="182880">
                <a:tc>
                  <a:txBody>
                    <a:bodyPr lIns="54864" rIns="54864" tIns="18288" bIns="18288" wrap="square" anchor="ctr"/>
                    <a:lstStyle/>
                    <a:p>
                      <a:pPr algn="l"/>
                      <a:r>
                        <a:rPr sz="900" b="0">
                          <a:solidFill>
                            <a:srgbClr val="000000"/>
                          </a:solidFill>
                          <a:latin typeface="Calibri"/>
                        </a:rPr>
                        <a:t>17.00</a:t>
                      </a:r>
                    </a:p>
                  </a:txBody>
                  <a:tcPr/>
                </a:tc>
                <a:tc>
                  <a:txBody>
                    <a:bodyPr lIns="54864" rIns="54864" tIns="18288" bIns="18288" wrap="square" anchor="ctr"/>
                    <a:lstStyle/>
                    <a:p>
                      <a:pPr algn="l"/>
                      <a:r>
                        <a:rPr sz="900" b="0">
                          <a:solidFill>
                            <a:srgbClr val="000000"/>
                          </a:solidFill>
                          <a:latin typeface="Calibri"/>
                        </a:rPr>
                        <a:t>0.1414</a:t>
                      </a:r>
                    </a:p>
                  </a:txBody>
                  <a:tcPr/>
                </a:tc>
                <a:tc>
                  <a:txBody>
                    <a:bodyPr lIns="54864" rIns="54864" tIns="18288" bIns="18288" wrap="square" anchor="ctr"/>
                    <a:lstStyle/>
                    <a:p>
                      <a:pPr algn="l"/>
                      <a:r>
                        <a:rPr sz="900" b="0">
                          <a:solidFill>
                            <a:srgbClr val="000000"/>
                          </a:solidFill>
                          <a:latin typeface="Calibri"/>
                        </a:rPr>
                        <a:t>0.1417</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-0.28</a:t>
                      </a:r>
                    </a:p>
                  </a:txBody>
                  <a:tcPr/>
                </a:tc>
              </a:tr>
              <a:tr h="182880">
                <a:tc>
                  <a:txBody>
                    <a:bodyPr lIns="54864" rIns="54864" tIns="18288" bIns="18288" wrap="square" anchor="ctr"/>
                    <a:lstStyle/>
                    <a:p>
                      <a:pPr algn="l"/>
                      <a:r>
                        <a:rPr sz="900" b="0">
                          <a:solidFill>
                            <a:srgbClr val="000000"/>
                          </a:solidFill>
                          <a:latin typeface="Calibri"/>
                        </a:rPr>
                        <a:t>17.05</a:t>
                      </a:r>
                    </a:p>
                  </a:txBody>
                  <a:tcPr/>
                </a:tc>
                <a:tc>
                  <a:txBody>
                    <a:bodyPr lIns="54864" rIns="54864" tIns="18288" bIns="18288" wrap="square" anchor="ctr"/>
                    <a:lstStyle/>
                    <a:p>
                      <a:pPr algn="l"/>
                      <a:r>
                        <a:rPr sz="900" b="0">
                          <a:solidFill>
                            <a:srgbClr val="000000"/>
                          </a:solidFill>
                          <a:latin typeface="Calibri"/>
                        </a:rPr>
                        <a:t>0.1444</a:t>
                      </a:r>
                    </a:p>
                  </a:txBody>
                  <a:tcPr/>
                </a:tc>
                <a:tc>
                  <a:txBody>
                    <a:bodyPr lIns="54864" rIns="54864" tIns="18288" bIns="18288" wrap="square" anchor="ctr"/>
                    <a:lstStyle/>
                    <a:p>
                      <a:pPr algn="l"/>
                      <a:r>
                        <a:rPr sz="900" b="0">
                          <a:solidFill>
                            <a:srgbClr val="000000"/>
                          </a:solidFill>
                          <a:latin typeface="Calibri"/>
                        </a:rPr>
                        <a:t>0.1451</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-0.49</a:t>
                      </a:r>
                    </a:p>
                  </a:txBody>
                  <a:tcPr/>
                </a:tc>
              </a:tr>
              <a:tr h="182880">
                <a:tc>
                  <a:txBody>
                    <a:bodyPr lIns="54864" rIns="54864" tIns="18288" bIns="18288" wrap="square" anchor="ctr"/>
                    <a:lstStyle/>
                    <a:p>
                      <a:pPr algn="l"/>
                      <a:r>
                        <a:rPr sz="900" b="0">
                          <a:solidFill>
                            <a:srgbClr val="000000"/>
                          </a:solidFill>
                          <a:latin typeface="Calibri"/>
                        </a:rPr>
                        <a:t>17.10</a:t>
                      </a:r>
                    </a:p>
                  </a:txBody>
                  <a:tcPr/>
                </a:tc>
                <a:tc>
                  <a:txBody>
                    <a:bodyPr lIns="54864" rIns="54864" tIns="18288" bIns="18288" wrap="square" anchor="ctr"/>
                    <a:lstStyle/>
                    <a:p>
                      <a:pPr algn="l"/>
                      <a:r>
                        <a:rPr sz="900" b="0">
                          <a:solidFill>
                            <a:srgbClr val="000000"/>
                          </a:solidFill>
                          <a:latin typeface="Calibri"/>
                        </a:rPr>
                        <a:t>0.1487</a:t>
                      </a:r>
                    </a:p>
                  </a:txBody>
                  <a:tcPr/>
                </a:tc>
                <a:tc>
                  <a:txBody>
                    <a:bodyPr lIns="54864" rIns="54864" tIns="18288" bIns="18288" wrap="square" anchor="ctr"/>
                    <a:lstStyle/>
                    <a:p>
                      <a:pPr algn="l"/>
                      <a:r>
                        <a:rPr sz="900" b="0">
                          <a:solidFill>
                            <a:srgbClr val="000000"/>
                          </a:solidFill>
                          <a:latin typeface="Calibri"/>
                        </a:rPr>
                        <a:t>0.1481</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+0.40</a:t>
                      </a:r>
                    </a:p>
                  </a:txBody>
                  <a:tcPr/>
                </a:tc>
              </a:tr>
              <a:tr h="182880">
                <a:tc>
                  <a:txBody>
                    <a:bodyPr lIns="54864" rIns="54864" tIns="18288" bIns="18288" wrap="square" anchor="ctr"/>
                    <a:lstStyle/>
                    <a:p>
                      <a:pPr algn="l"/>
                      <a:r>
                        <a:rPr sz="900" b="0">
                          <a:solidFill>
                            <a:srgbClr val="000000"/>
                          </a:solidFill>
                          <a:latin typeface="Calibri"/>
                        </a:rPr>
                        <a:t>17.15</a:t>
                      </a:r>
                    </a:p>
                  </a:txBody>
                  <a:tcPr/>
                </a:tc>
                <a:tc>
                  <a:txBody>
                    <a:bodyPr lIns="54864" rIns="54864" tIns="18288" bIns="18288" wrap="square" anchor="ctr"/>
                    <a:lstStyle/>
                    <a:p>
                      <a:pPr algn="l"/>
                      <a:r>
                        <a:rPr sz="900" b="0">
                          <a:solidFill>
                            <a:srgbClr val="000000"/>
                          </a:solidFill>
                          <a:latin typeface="Calibri"/>
                        </a:rPr>
                        <a:t>0.1523</a:t>
                      </a:r>
                    </a:p>
                  </a:txBody>
                  <a:tcPr/>
                </a:tc>
                <a:tc>
                  <a:txBody>
                    <a:bodyPr lIns="54864" rIns="54864" tIns="18288" bIns="18288" wrap="square" anchor="ctr"/>
                    <a:lstStyle/>
                    <a:p>
                      <a:pPr algn="l"/>
                      <a:r>
                        <a:rPr sz="900" b="0">
                          <a:solidFill>
                            <a:srgbClr val="000000"/>
                          </a:solidFill>
                          <a:latin typeface="Calibri"/>
                        </a:rPr>
                        <a:t>0.1530</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-0.43</a:t>
                      </a:r>
                    </a:p>
                  </a:txBody>
                  <a:tcPr/>
                </a:tc>
              </a:tr>
              <a:tr h="182880">
                <a:tc>
                  <a:txBody>
                    <a:bodyPr lIns="54864" rIns="54864" tIns="18288" bIns="18288" wrap="square" anchor="ctr"/>
                    <a:lstStyle/>
                    <a:p>
                      <a:pPr algn="l"/>
                      <a:r>
                        <a:rPr sz="900" b="0">
                          <a:solidFill>
                            <a:srgbClr val="000000"/>
                          </a:solidFill>
                          <a:latin typeface="Calibri"/>
                        </a:rPr>
                        <a:t>17.20</a:t>
                      </a:r>
                    </a:p>
                  </a:txBody>
                  <a:tcPr/>
                </a:tc>
                <a:tc>
                  <a:txBody>
                    <a:bodyPr lIns="54864" rIns="54864" tIns="18288" bIns="18288" wrap="square" anchor="ctr"/>
                    <a:lstStyle/>
                    <a:p>
                      <a:pPr algn="l"/>
                      <a:r>
                        <a:rPr sz="900" b="0">
                          <a:solidFill>
                            <a:srgbClr val="000000"/>
                          </a:solidFill>
                          <a:latin typeface="Calibri"/>
                        </a:rPr>
                        <a:t>0.1564</a:t>
                      </a:r>
                    </a:p>
                  </a:txBody>
                  <a:tcPr/>
                </a:tc>
                <a:tc>
                  <a:txBody>
                    <a:bodyPr lIns="54864" rIns="54864" tIns="18288" bIns="18288" wrap="square" anchor="ctr"/>
                    <a:lstStyle/>
                    <a:p>
                      <a:pPr algn="l"/>
                      <a:r>
                        <a:rPr sz="900" b="0">
                          <a:solidFill>
                            <a:srgbClr val="000000"/>
                          </a:solidFill>
                          <a:latin typeface="Calibri"/>
                        </a:rPr>
                        <a:t>0.1557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+0.45</a:t>
                      </a:r>
                    </a:p>
                  </a:txBody>
                  <a:tcPr/>
                </a:tc>
              </a:tr>
              <a:tr h="182880">
                <a:tc>
                  <a:txBody>
                    <a:bodyPr lIns="54864" rIns="54864" tIns="18288" bIns="18288" wrap="square" anchor="ctr"/>
                    <a:lstStyle/>
                    <a:p>
                      <a:pPr algn="l"/>
                      <a:r>
                        <a:rPr sz="900" b="0">
                          <a:solidFill>
                            <a:srgbClr val="000000"/>
                          </a:solidFill>
                          <a:latin typeface="Calibri"/>
                        </a:rPr>
                        <a:t>17.25</a:t>
                      </a:r>
                    </a:p>
                  </a:txBody>
                  <a:tcPr/>
                </a:tc>
                <a:tc>
                  <a:txBody>
                    <a:bodyPr lIns="54864" rIns="54864" tIns="18288" bIns="18288" wrap="square" anchor="ctr"/>
                    <a:lstStyle/>
                    <a:p>
                      <a:pPr algn="l"/>
                      <a:r>
                        <a:rPr sz="900" b="0">
                          <a:solidFill>
                            <a:srgbClr val="000000"/>
                          </a:solidFill>
                          <a:latin typeface="Calibri"/>
                        </a:rPr>
                        <a:t>0.1599</a:t>
                      </a:r>
                    </a:p>
                  </a:txBody>
                  <a:tcPr/>
                </a:tc>
                <a:tc>
                  <a:txBody>
                    <a:bodyPr lIns="54864" rIns="54864" tIns="18288" bIns="18288" wrap="square" anchor="ctr"/>
                    <a:lstStyle/>
                    <a:p>
                      <a:pPr algn="l"/>
                      <a:r>
                        <a:rPr sz="900" b="0">
                          <a:solidFill>
                            <a:srgbClr val="000000"/>
                          </a:solidFill>
                          <a:latin typeface="Calibri"/>
                        </a:rPr>
                        <a:t>0.1469</a:t>
                      </a:r>
                    </a:p>
                  </a:txBody>
                  <a:tcPr/>
                </a:tc>
                <a:tc>
                  <a:txBody>
                    <a:bodyPr lIns="54864" rIns="54864" tIns="18288" bIns="18288" wrap="square" anchor="ctr"/>
                    <a:lstStyle/>
                    <a:p>
                      <a:pPr algn="l"/>
                      <a:r>
                        <a:rPr sz="900" b="0">
                          <a:solidFill>
                            <a:srgbClr val="000000"/>
                          </a:solidFill>
                          <a:latin typeface="Calibri"/>
                        </a:rPr>
                        <a:t>+131</a:t>
                      </a:r>
                    </a:p>
                  </a:txBody>
                  <a:tcPr/>
                </a:tc>
                <a:tc>
                  <a:txBody>
                    <a:bodyPr lIns="54864" rIns="54864" tIns="18288" bIns="18288" wrap="square" anchor="ctr"/>
                    <a:lstStyle/>
                    <a:p>
                      <a:pPr algn="l"/>
                      <a:r>
                        <a:rPr sz="900" b="0">
                          <a:solidFill>
                            <a:srgbClr val="000000"/>
                          </a:solidFill>
                          <a:latin typeface="Calibri"/>
                        </a:rPr>
                        <a:t>+8.90</a:t>
                      </a:r>
                    </a:p>
                  </a:txBody>
                  <a:tcPr/>
                </a:tc>
              </a:tr>
              <a:tr h="182880">
                <a:tc>
                  <a:txBody>
                    <a:bodyPr lIns="54864" rIns="54864" tIns="18288" bIns="18288" wrap="square" anchor="ctr"/>
                    <a:lstStyle/>
                    <a:p>
                      <a:pPr algn="l"/>
                      <a:r>
                        <a:rPr sz="900" b="0">
                          <a:solidFill>
                            <a:srgbClr val="000000"/>
                          </a:solidFill>
                          <a:latin typeface="Calibri"/>
                        </a:rPr>
                        <a:t>17.30</a:t>
                      </a:r>
                    </a:p>
                  </a:txBody>
                  <a:tcPr/>
                </a:tc>
                <a:tc>
                  <a:txBody>
                    <a:bodyPr lIns="54864" rIns="54864" tIns="18288" bIns="18288" wrap="square" anchor="ctr"/>
                    <a:lstStyle/>
                    <a:p>
                      <a:pPr algn="l"/>
                      <a:r>
                        <a:rPr sz="900" b="0">
                          <a:solidFill>
                            <a:srgbClr val="000000"/>
                          </a:solidFill>
                          <a:latin typeface="Calibri"/>
                        </a:rPr>
                        <a:t>0.1635</a:t>
                      </a:r>
                    </a:p>
                  </a:txBody>
                  <a:tcPr/>
                </a:tc>
                <a:tc>
                  <a:txBody>
                    <a:bodyPr lIns="54864" rIns="54864" tIns="18288" bIns="18288" wrap="square" anchor="ctr"/>
                    <a:lstStyle/>
                    <a:p>
                      <a:pPr algn="l"/>
                      <a:r>
                        <a:rPr sz="900" b="0">
                          <a:solidFill>
                            <a:srgbClr val="000000"/>
                          </a:solidFill>
                          <a:latin typeface="Calibri"/>
                        </a:rPr>
                        <a:t>0.1634</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17.35</a:t>
                      </a:r>
                    </a:p>
                  </a:txBody>
                  <a:tcPr/>
                </a:tc>
                <a:tc>
                  <a:txBody>
                    <a:bodyPr lIns="54864" rIns="54864" tIns="18288" bIns="18288" wrap="square" anchor="ctr"/>
                    <a:lstStyle/>
                    <a:p>
                      <a:pPr algn="l"/>
                      <a:r>
                        <a:rPr sz="900" b="0">
                          <a:solidFill>
                            <a:srgbClr val="000000"/>
                          </a:solidFill>
                          <a:latin typeface="Calibri"/>
                        </a:rPr>
                        <a:t>0.1691</a:t>
                      </a:r>
                    </a:p>
                  </a:txBody>
                  <a:tcPr/>
                </a:tc>
                <a:tc>
                  <a:txBody>
                    <a:bodyPr lIns="54864" rIns="54864" tIns="18288" bIns="18288" wrap="square" anchor="ctr"/>
                    <a:lstStyle/>
                    <a:p>
                      <a:pPr algn="l"/>
                      <a:r>
                        <a:rPr sz="900" b="0">
                          <a:solidFill>
                            <a:srgbClr val="000000"/>
                          </a:solidFill>
                          <a:latin typeface="Calibri"/>
                        </a:rPr>
                        <a:t>0.1670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+1.27</a:t>
                      </a:r>
                    </a:p>
                  </a:txBody>
                  <a:tcPr/>
                </a:tc>
              </a:tr>
              <a:tr h="182880">
                <a:tc>
                  <a:txBody>
                    <a:bodyPr lIns="54864" rIns="54864" tIns="18288" bIns="18288" wrap="square" anchor="ctr"/>
                    <a:lstStyle/>
                    <a:p>
                      <a:pPr algn="l"/>
                      <a:r>
                        <a:rPr sz="900" b="0">
                          <a:solidFill>
                            <a:srgbClr val="000000"/>
                          </a:solidFill>
                          <a:latin typeface="Calibri"/>
                        </a:rPr>
                        <a:t>17.40</a:t>
                      </a:r>
                    </a:p>
                  </a:txBody>
                  <a:tcPr/>
                </a:tc>
                <a:tc>
                  <a:txBody>
                    <a:bodyPr lIns="54864" rIns="54864" tIns="18288" bIns="18288" wrap="square" anchor="ctr"/>
                    <a:lstStyle/>
                    <a:p>
                      <a:pPr algn="l"/>
                      <a:r>
                        <a:rPr sz="900" b="0">
                          <a:solidFill>
                            <a:srgbClr val="000000"/>
                          </a:solidFill>
                          <a:latin typeface="Calibri"/>
                        </a:rPr>
                        <a:t>0.1721</a:t>
                      </a:r>
                    </a:p>
                  </a:txBody>
                  <a:tcPr/>
                </a:tc>
                <a:tc>
                  <a:txBody>
                    <a:bodyPr lIns="54864" rIns="54864" tIns="18288" bIns="18288" wrap="square" anchor="ctr"/>
                    <a:lstStyle/>
                    <a:p>
                      <a:pPr algn="l"/>
                      <a:r>
                        <a:rPr sz="900" b="0">
                          <a:solidFill>
                            <a:srgbClr val="000000"/>
                          </a:solidFill>
                          <a:latin typeface="Calibri"/>
                        </a:rPr>
                        <a:t>0.1581</a:t>
                      </a:r>
                    </a:p>
                  </a:txBody>
                  <a:tcPr/>
                </a:tc>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+8.88</a:t>
                      </a:r>
                    </a:p>
                  </a:txBody>
                  <a:tcPr/>
                </a:tc>
              </a:tr>
              <a:tr h="182880">
                <a:tc>
                  <a:txBody>
                    <a:bodyPr lIns="54864" rIns="54864" tIns="18288" bIns="18288" wrap="square" anchor="ctr"/>
                    <a:lstStyle/>
                    <a:p>
                      <a:pPr algn="l"/>
                      <a:r>
                        <a:rPr sz="900" b="0">
                          <a:solidFill>
                            <a:srgbClr val="000000"/>
                          </a:solidFill>
                          <a:latin typeface="Calibri"/>
                        </a:rPr>
                        <a:t>17.45</a:t>
                      </a:r>
                    </a:p>
                  </a:txBody>
                  <a:tcPr/>
                </a:tc>
                <a:tc>
                  <a:txBody>
                    <a:bodyPr lIns="54864" rIns="54864" tIns="18288" bIns="18288" wrap="square" anchor="ctr"/>
                    <a:lstStyle/>
                    <a:p>
                      <a:pPr algn="l"/>
                      <a:r>
                        <a:rPr sz="900" b="0">
                          <a:solidFill>
                            <a:srgbClr val="000000"/>
                          </a:solidFill>
                          <a:latin typeface="Calibri"/>
                        </a:rPr>
                        <a:t>0.1762</a:t>
                      </a:r>
                    </a:p>
                  </a:txBody>
                  <a:tcPr/>
                </a:tc>
                <a:tc>
                  <a:txBody>
                    <a:bodyPr lIns="54864" rIns="54864" tIns="18288" bIns="18288" wrap="square" anchor="ctr"/>
                    <a:lstStyle/>
                    <a:p>
                      <a:pPr algn="l"/>
                      <a:r>
                        <a:rPr sz="900" b="0">
                          <a:solidFill>
                            <a:srgbClr val="000000"/>
                          </a:solidFill>
                          <a:latin typeface="Calibri"/>
                        </a:rPr>
                        <a:t>0.1751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+0.63</a:t>
                      </a:r>
                    </a:p>
                  </a:txBody>
                  <a:tcPr/>
                </a:tc>
              </a:tr>
              <a:tr h="182880">
                <a:tc>
                  <a:txBody>
                    <a:bodyPr lIns="54864" rIns="54864" tIns="18288" bIns="18288" wrap="square" anchor="ctr"/>
                    <a:lstStyle/>
                    <a:p>
                      <a:pPr algn="l"/>
                      <a:r>
                        <a:rPr sz="900" b="0">
                          <a:solidFill>
                            <a:srgbClr val="000000"/>
                          </a:solidFill>
                          <a:latin typeface="Calibri"/>
                        </a:rPr>
                        <a:t>17.50</a:t>
                      </a:r>
                    </a:p>
                  </a:txBody>
                  <a:tcPr/>
                </a:tc>
                <a:tc>
                  <a:txBody>
                    <a:bodyPr lIns="54864" rIns="54864" tIns="18288" bIns="18288" wrap="square" anchor="ctr"/>
                    <a:lstStyle/>
                    <a:p>
                      <a:pPr algn="l"/>
                      <a:r>
                        <a:rPr sz="900" b="0">
                          <a:solidFill>
                            <a:srgbClr val="000000"/>
                          </a:solidFill>
                          <a:latin typeface="Calibri"/>
                        </a:rPr>
                        <a:t>0.1778</a:t>
                      </a:r>
                    </a:p>
                  </a:txBody>
                  <a:tcPr/>
                </a:tc>
                <a:tc>
                  <a:txBody>
                    <a:bodyPr lIns="54864" rIns="54864" tIns="18288" bIns="18288" wrap="square" anchor="ctr"/>
                    <a:lstStyle/>
                    <a:p>
                      <a:pPr algn="l"/>
                      <a:r>
                        <a:rPr sz="900" b="0">
                          <a:solidFill>
                            <a:srgbClr val="000000"/>
                          </a:solidFill>
                          <a:latin typeface="Calibri"/>
                        </a:rPr>
                        <a:t>0.1784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-0.31</a:t>
                      </a:r>
                    </a:p>
                  </a:txBody>
                  <a:tcPr/>
                </a:tc>
              </a:tr>
              <a:tr h="182880">
                <a:tc>
                  <a:txBody>
                    <a:bodyPr lIns="54864" rIns="54864" tIns="18288" bIns="18288" wrap="square" anchor="ctr"/>
                    <a:lstStyle/>
                    <a:p>
                      <a:pPr algn="l"/>
                      <a:r>
                        <a:rPr sz="900" b="0">
                          <a:solidFill>
                            <a:srgbClr val="000000"/>
                          </a:solidFill>
                          <a:latin typeface="Calibri"/>
                        </a:rPr>
                        <a:t>17.55</a:t>
                      </a:r>
                    </a:p>
                  </a:txBody>
                  <a:tcPr/>
                </a:tc>
                <a:tc>
                  <a:txBody>
                    <a:bodyPr lIns="54864" rIns="54864" tIns="18288" bIns="18288" wrap="square" anchor="ctr"/>
                    <a:lstStyle/>
                    <a:p>
                      <a:pPr algn="l"/>
                      <a:r>
                        <a:rPr sz="900" b="0">
                          <a:solidFill>
                            <a:srgbClr val="000000"/>
                          </a:solidFill>
                          <a:latin typeface="Calibri"/>
                        </a:rPr>
                        <a:t>0.1824</a:t>
                      </a:r>
                    </a:p>
                  </a:txBody>
                  <a:tcPr/>
                </a:tc>
                <a:tc>
                  <a:txBody>
                    <a:bodyPr lIns="54864" rIns="54864" tIns="18288" bIns="18288" wrap="square" anchor="ctr"/>
                    <a:lstStyle/>
                    <a:p>
                      <a:pPr algn="l"/>
                      <a:r>
                        <a:rPr sz="900" b="0">
                          <a:solidFill>
                            <a:srgbClr val="000000"/>
                          </a:solidFill>
                          <a:latin typeface="Calibri"/>
                        </a:rPr>
                        <a:t>0.1820</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17.60</a:t>
                      </a:r>
                    </a:p>
                  </a:txBody>
                  <a:tcPr/>
                </a:tc>
                <a:tc>
                  <a:txBody>
                    <a:bodyPr lIns="54864" rIns="54864" tIns="18288" bIns="18288" wrap="square" anchor="ctr"/>
                    <a:lstStyle/>
                    <a:p>
                      <a:pPr algn="l"/>
                      <a:r>
                        <a:rPr sz="900" b="0">
                          <a:solidFill>
                            <a:srgbClr val="000000"/>
                          </a:solidFill>
                          <a:latin typeface="Calibri"/>
                        </a:rPr>
                        <a:t>0.1864</a:t>
                      </a:r>
                    </a:p>
                  </a:txBody>
                  <a:tcPr/>
                </a:tc>
                <a:tc>
                  <a:txBody>
                    <a:bodyPr lIns="54864" rIns="54864" tIns="18288" bIns="18288" wrap="square" anchor="ctr"/>
                    <a:lstStyle/>
                    <a:p>
                      <a:pPr algn="l"/>
                      <a:r>
                        <a:rPr sz="900" b="0">
                          <a:solidFill>
                            <a:srgbClr val="000000"/>
                          </a:solidFill>
                          <a:latin typeface="Calibri"/>
                        </a:rPr>
                        <a:t>0.1859</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17.65</a:t>
                      </a:r>
                    </a:p>
                  </a:txBody>
                  <a:tcPr/>
                </a:tc>
                <a:tc>
                  <a:txBody>
                    <a:bodyPr lIns="54864" rIns="54864" tIns="18288" bIns="18288" wrap="square" anchor="ctr"/>
                    <a:lstStyle/>
                    <a:p>
                      <a:pPr algn="l"/>
                      <a:r>
                        <a:rPr sz="900" b="0">
                          <a:solidFill>
                            <a:srgbClr val="000000"/>
                          </a:solidFill>
                          <a:latin typeface="Calibri"/>
                        </a:rPr>
                        <a:t>0.1906</a:t>
                      </a:r>
                    </a:p>
                  </a:txBody>
                  <a:tcPr/>
                </a:tc>
                <a:tc>
                  <a:txBody>
                    <a:bodyPr lIns="54864" rIns="54864" tIns="18288" bIns="18288" wrap="square" anchor="ctr"/>
                    <a:lstStyle/>
                    <a:p>
                      <a:pPr algn="l"/>
                      <a:r>
                        <a:rPr sz="900" b="0">
                          <a:solidFill>
                            <a:srgbClr val="000000"/>
                          </a:solidFill>
                          <a:latin typeface="Calibri"/>
                        </a:rPr>
                        <a:t>0.1896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+0.55</a:t>
                      </a:r>
                    </a:p>
                  </a:txBody>
                  <a:tcPr/>
                </a:tc>
              </a:tr>
              <a:tr h="182880">
                <a:tc>
                  <a:txBody>
                    <a:bodyPr lIns="54864" rIns="54864" tIns="18288" bIns="18288" wrap="square" anchor="ctr"/>
                    <a:lstStyle/>
                    <a:p>
                      <a:pPr algn="l"/>
                      <a:r>
                        <a:rPr sz="900" b="0">
                          <a:solidFill>
                            <a:srgbClr val="000000"/>
                          </a:solidFill>
                          <a:latin typeface="Calibri"/>
                        </a:rPr>
                        <a:t>17.70</a:t>
                      </a:r>
                    </a:p>
                  </a:txBody>
                  <a:tcPr/>
                </a:tc>
                <a:tc>
                  <a:txBody>
                    <a:bodyPr lIns="54864" rIns="54864" tIns="18288" bIns="18288" wrap="square" anchor="ctr"/>
                    <a:lstStyle/>
                    <a:p>
                      <a:pPr algn="l"/>
                      <a:r>
                        <a:rPr sz="900" b="0">
                          <a:solidFill>
                            <a:srgbClr val="000000"/>
                          </a:solidFill>
                          <a:latin typeface="Calibri"/>
                        </a:rPr>
                        <a:t>0.1939</a:t>
                      </a:r>
                    </a:p>
                  </a:txBody>
                  <a:tcPr/>
                </a:tc>
                <a:tc>
                  <a:txBody>
                    <a:bodyPr lIns="54864" rIns="54864" tIns="18288" bIns="18288" wrap="square" anchor="ctr"/>
                    <a:lstStyle/>
                    <a:p>
                      <a:pPr algn="l"/>
                      <a:r>
                        <a:rPr sz="900" b="0">
                          <a:solidFill>
                            <a:srgbClr val="000000"/>
                          </a:solidFill>
                          <a:latin typeface="Calibri"/>
                        </a:rPr>
                        <a:t>0.1936</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17.75</a:t>
                      </a:r>
                    </a:p>
                  </a:txBody>
                  <a:tcPr/>
                </a:tc>
                <a:tc>
                  <a:txBody>
                    <a:bodyPr lIns="54864" rIns="54864" tIns="18288" bIns="18288" wrap="square" anchor="ctr"/>
                    <a:lstStyle/>
                    <a:p>
                      <a:pPr algn="l"/>
                      <a:r>
                        <a:rPr sz="900" b="0">
                          <a:solidFill>
                            <a:srgbClr val="000000"/>
                          </a:solidFill>
                          <a:latin typeface="Calibri"/>
                        </a:rPr>
                        <a:t>0.1984</a:t>
                      </a:r>
                    </a:p>
                  </a:txBody>
                  <a:tcPr/>
                </a:tc>
                <a:tc>
                  <a:txBody>
                    <a:bodyPr lIns="54864" rIns="54864" tIns="18288" bIns="18288" wrap="square" anchor="ctr"/>
                    <a:lstStyle/>
                    <a:p>
                      <a:pPr algn="l"/>
                      <a:r>
                        <a:rPr sz="900" b="0">
                          <a:solidFill>
                            <a:srgbClr val="000000"/>
                          </a:solidFill>
                          <a:latin typeface="Calibri"/>
                        </a:rPr>
                        <a:t>0.1971</a:t>
                      </a:r>
                    </a:p>
                  </a:txBody>
                  <a:tcPr/>
                </a:tc>
                <a:tc>
                  <a:txBody>
                    <a:bodyPr lIns="54864" rIns="54864" tIns="18288" bIns="18288" wrap="square" anchor="ctr"/>
                    <a:lstStyle/>
                    <a:p>
                      <a:pPr algn="l"/>
                      <a:r>
                        <a:rPr sz="900" b="0">
                          <a:solidFill>
                            <a:srgbClr val="000000"/>
                          </a:solidFill>
                          <a:latin typeface="Calibri"/>
                        </a:rPr>
                        <a:t>+14</a:t>
                      </a:r>
                    </a:p>
                  </a:txBody>
                  <a:tcPr/>
                </a:tc>
                <a:tc>
                  <a:txBody>
                    <a:bodyPr lIns="54864" rIns="54864" tIns="18288" bIns="18288" wrap="square" anchor="ctr"/>
                    <a:lstStyle/>
                    <a:p>
                      <a:pPr algn="l"/>
                      <a:r>
                        <a:rPr sz="900" b="0">
                          <a:solidFill>
                            <a:srgbClr val="000000"/>
                          </a:solidFill>
                          <a:latin typeface="Calibri"/>
                        </a:rPr>
                        <a:t>+0.69</a:t>
                      </a:r>
                    </a:p>
                  </a:txBody>
                  <a:tcPr/>
                </a:tc>
              </a:tr>
              <a:tr h="182880">
                <a:tc>
                  <a:txBody>
                    <a:bodyPr lIns="54864" rIns="54864" tIns="18288" bIns="18288" wrap="square" anchor="ctr"/>
                    <a:lstStyle/>
                    <a:p>
                      <a:pPr algn="l"/>
                      <a:r>
                        <a:rPr sz="900" b="0">
                          <a:solidFill>
                            <a:srgbClr val="000000"/>
                          </a:solidFill>
                          <a:latin typeface="Calibri"/>
                        </a:rPr>
                        <a:t>17.80</a:t>
                      </a:r>
                    </a:p>
                  </a:txBody>
                  <a:tcPr/>
                </a:tc>
                <a:tc>
                  <a:txBody>
                    <a:bodyPr lIns="54864" rIns="54864" tIns="18288" bIns="18288" wrap="square" anchor="ctr"/>
                    <a:lstStyle/>
                    <a:p>
                      <a:pPr algn="l"/>
                      <a:r>
                        <a:rPr sz="900" b="0">
                          <a:solidFill>
                            <a:srgbClr val="000000"/>
                          </a:solidFill>
                          <a:latin typeface="Calibri"/>
                        </a:rPr>
                        <a:t>0.2012</a:t>
                      </a:r>
                    </a:p>
                  </a:txBody>
                  <a:tcPr/>
                </a:tc>
                <a:tc>
                  <a:txBody>
                    <a:bodyPr lIns="54864" rIns="54864" tIns="18288" bIns="18288" wrap="square" anchor="ctr"/>
                    <a:lstStyle/>
                    <a:p>
                      <a:pPr algn="l"/>
                      <a:r>
                        <a:rPr sz="900" b="0">
                          <a:solidFill>
                            <a:srgbClr val="000000"/>
                          </a:solidFill>
                          <a:latin typeface="Calibri"/>
                        </a:rPr>
                        <a:t>0.2008</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17.85</a:t>
                      </a:r>
                    </a:p>
                  </a:txBody>
                  <a:tcPr/>
                </a:tc>
                <a:tc>
                  <a:txBody>
                    <a:bodyPr lIns="54864" rIns="54864" tIns="18288" bIns="18288" wrap="square" anchor="ctr"/>
                    <a:lstStyle/>
                    <a:p>
                      <a:pPr algn="l"/>
                      <a:r>
                        <a:rPr sz="900" b="0">
                          <a:solidFill>
                            <a:srgbClr val="000000"/>
                          </a:solidFill>
                          <a:latin typeface="Calibri"/>
                        </a:rPr>
                        <a:t>0.2054</a:t>
                      </a:r>
                    </a:p>
                  </a:txBody>
                  <a:tcPr/>
                </a:tc>
                <a:tc>
                  <a:txBody>
                    <a:bodyPr lIns="54864" rIns="54864" tIns="18288" bIns="18288" wrap="square" anchor="ctr"/>
                    <a:lstStyle/>
                    <a:p>
                      <a:pPr algn="l"/>
                      <a:r>
                        <a:rPr sz="900" b="0">
                          <a:solidFill>
                            <a:srgbClr val="000000"/>
                          </a:solidFill>
                          <a:latin typeface="Calibri"/>
                        </a:rPr>
                        <a:t>0.2048</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+0.27</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(2 OF 2) — 0.209 TO 0.362 % STRAIN</a:t>
            </a:r>
          </a:p>
        </p:txBody>
      </p:sp>
      <p:sp>
        <p:nvSpPr>
          <p:cNvPr id="5" name="TextBox 4"/>
          <p:cNvSpPr txBox="1"/>
          <p:nvPr/>
        </p:nvSpPr>
        <p:spPr>
          <a:xfrm>
            <a:off x="502920" y="1024128"/>
            <a:ext cx="11338560" cy="274320"/>
          </a:xfrm>
          <a:prstGeom prst="rect">
            <a:avLst/>
          </a:prstGeom>
          <a:noFill/>
        </p:spPr>
        <p:txBody>
          <a:bodyPr wrap="square" lIns="45720" rIns="45720" tIns="18288" bIns="18288" anchor="t">
            <a:spAutoFit/>
          </a:bodyPr>
          <a:lstStyle/>
          <a:p>
            <a:pPr algn="l"/>
            <a:r>
              <a:rPr sz="1000" b="0" i="0">
                <a:solidFill>
                  <a:srgbClr val="000000"/>
                </a:solidFill>
                <a:latin typeface="Calibri"/>
              </a:rPr>
              <a:t>Continued — points 43 to 83 of 83. Same two columns, same raw values; see p296 for what each one is.</a:t>
            </a:r>
          </a:p>
        </p:txBody>
      </p:sp>
      <p:graphicFrame>
        <p:nvGraphicFramePr>
          <p:cNvPr id="6" name="Table 5"/>
          <p:cNvGraphicFramePr>
            <a:graphicFrameLocks noGrp="1"/>
          </p:cNvGraphicFramePr>
          <p:nvPr/>
        </p:nvGraphicFramePr>
        <p:xfrm>
          <a:off x="502920" y="1408176"/>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17.90</a:t>
                      </a:r>
                    </a:p>
                  </a:txBody>
                  <a:tcPr/>
                </a:tc>
                <a:tc>
                  <a:txBody>
                    <a:bodyPr lIns="54864" rIns="54864" tIns="18288" bIns="18288" wrap="square" anchor="ctr"/>
                    <a:lstStyle/>
                    <a:p>
                      <a:pPr algn="l"/>
                      <a:r>
                        <a:rPr sz="900" b="0">
                          <a:solidFill>
                            <a:srgbClr val="000000"/>
                          </a:solidFill>
                          <a:latin typeface="Calibri"/>
                        </a:rPr>
                        <a:t>0.2089</a:t>
                      </a:r>
                    </a:p>
                  </a:txBody>
                  <a:tcPr/>
                </a:tc>
                <a:tc>
                  <a:txBody>
                    <a:bodyPr lIns="54864" rIns="54864" tIns="18288" bIns="18288" wrap="square" anchor="ctr"/>
                    <a:lstStyle/>
                    <a:p>
                      <a:pPr algn="l"/>
                      <a:r>
                        <a:rPr sz="900" b="0">
                          <a:solidFill>
                            <a:srgbClr val="000000"/>
                          </a:solidFill>
                          <a:latin typeface="Calibri"/>
                        </a:rPr>
                        <a:t>0.2088</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17.95</a:t>
                      </a:r>
                    </a:p>
                  </a:txBody>
                  <a:tcPr/>
                </a:tc>
                <a:tc>
                  <a:txBody>
                    <a:bodyPr lIns="54864" rIns="54864" tIns="18288" bIns="18288" wrap="square" anchor="ctr"/>
                    <a:lstStyle/>
                    <a:p>
                      <a:pPr algn="l"/>
                      <a:r>
                        <a:rPr sz="900" b="0">
                          <a:solidFill>
                            <a:srgbClr val="000000"/>
                          </a:solidFill>
                          <a:latin typeface="Calibri"/>
                        </a:rPr>
                        <a:t>0.2124</a:t>
                      </a:r>
                    </a:p>
                  </a:txBody>
                  <a:tcPr/>
                </a:tc>
                <a:tc>
                  <a:txBody>
                    <a:bodyPr lIns="54864" rIns="54864" tIns="18288" bIns="18288" wrap="square" anchor="ctr"/>
                    <a:lstStyle/>
                    <a:p>
                      <a:pPr algn="l"/>
                      <a:r>
                        <a:rPr sz="900" b="0">
                          <a:solidFill>
                            <a:srgbClr val="000000"/>
                          </a:solidFill>
                          <a:latin typeface="Calibri"/>
                        </a:rPr>
                        <a:t>0.2123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+0.04</a:t>
                      </a:r>
                    </a:p>
                  </a:txBody>
                  <a:tcPr/>
                </a:tc>
              </a:tr>
              <a:tr h="182880">
                <a:tc>
                  <a:txBody>
                    <a:bodyPr lIns="54864" rIns="54864" tIns="18288" bIns="18288" wrap="square" anchor="ctr"/>
                    <a:lstStyle/>
                    <a:p>
                      <a:pPr algn="l"/>
                      <a:r>
                        <a:rPr sz="900" b="0">
                          <a:solidFill>
                            <a:srgbClr val="000000"/>
                          </a:solidFill>
                          <a:latin typeface="Calibri"/>
                        </a:rPr>
                        <a:t>18.00</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-0.02</a:t>
                      </a:r>
                    </a:p>
                  </a:txBody>
                  <a:tcPr/>
                </a:tc>
              </a:tr>
              <a:tr h="182880">
                <a:tc>
                  <a:txBody>
                    <a:bodyPr lIns="54864" rIns="54864" tIns="18288" bIns="18288" wrap="square" anchor="ctr"/>
                    <a:lstStyle/>
                    <a:p>
                      <a:pPr algn="l"/>
                      <a:r>
                        <a:rPr sz="900" b="0">
                          <a:solidFill>
                            <a:srgbClr val="000000"/>
                          </a:solidFill>
                          <a:latin typeface="Calibri"/>
                        </a:rPr>
                        <a:t>18.05</a:t>
                      </a:r>
                    </a:p>
                  </a:txBody>
                  <a:tcPr/>
                </a:tc>
                <a:tc>
                  <a:txBody>
                    <a:bodyPr lIns="54864" rIns="54864" tIns="18288" bIns="18288" wrap="square" anchor="ctr"/>
                    <a:lstStyle/>
                    <a:p>
                      <a:pPr algn="l"/>
                      <a:r>
                        <a:rPr sz="900" b="0">
                          <a:solidFill>
                            <a:srgbClr val="000000"/>
                          </a:solidFill>
                          <a:latin typeface="Calibri"/>
                        </a:rPr>
                        <a:t>0.2201</a:t>
                      </a:r>
                    </a:p>
                  </a:txBody>
                  <a:tcPr/>
                </a:tc>
                <a:tc>
                  <a:txBody>
                    <a:bodyPr lIns="54864" rIns="54864" tIns="18288" bIns="18288" wrap="square" anchor="ctr"/>
                    <a:lstStyle/>
                    <a:p>
                      <a:pPr algn="l"/>
                      <a:r>
                        <a:rPr sz="900" b="0">
                          <a:solidFill>
                            <a:srgbClr val="000000"/>
                          </a:solidFill>
                          <a:latin typeface="Calibri"/>
                        </a:rPr>
                        <a:t>0.2198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18.10</a:t>
                      </a:r>
                    </a:p>
                  </a:txBody>
                  <a:tcPr/>
                </a:tc>
                <a:tc>
                  <a:txBody>
                    <a:bodyPr lIns="54864" rIns="54864" tIns="18288" bIns="18288" wrap="square" anchor="ctr"/>
                    <a:lstStyle/>
                    <a:p>
                      <a:pPr algn="l"/>
                      <a:r>
                        <a:rPr sz="900" b="0">
                          <a:solidFill>
                            <a:srgbClr val="000000"/>
                          </a:solidFill>
                          <a:latin typeface="Calibri"/>
                        </a:rPr>
                        <a:t>0.2236</a:t>
                      </a:r>
                    </a:p>
                  </a:txBody>
                  <a:tcPr/>
                </a:tc>
                <a:tc>
                  <a:txBody>
                    <a:bodyPr lIns="54864" rIns="54864" tIns="18288" bIns="18288" wrap="square" anchor="ctr"/>
                    <a:lstStyle/>
                    <a:p>
                      <a:pPr algn="l"/>
                      <a:r>
                        <a:rPr sz="900" b="0">
                          <a:solidFill>
                            <a:srgbClr val="000000"/>
                          </a:solidFill>
                          <a:latin typeface="Calibri"/>
                        </a:rPr>
                        <a:t>0.2238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18.15</a:t>
                      </a:r>
                    </a:p>
                  </a:txBody>
                  <a:tcPr/>
                </a:tc>
                <a:tc>
                  <a:txBody>
                    <a:bodyPr lIns="54864" rIns="54864" tIns="18288" bIns="18288" wrap="square" anchor="ctr"/>
                    <a:lstStyle/>
                    <a:p>
                      <a:pPr algn="l"/>
                      <a:r>
                        <a:rPr sz="900" b="0">
                          <a:solidFill>
                            <a:srgbClr val="000000"/>
                          </a:solidFill>
                          <a:latin typeface="Calibri"/>
                        </a:rPr>
                        <a:t>0.2277</a:t>
                      </a:r>
                    </a:p>
                  </a:txBody>
                  <a:tcPr/>
                </a:tc>
                <a:tc>
                  <a:txBody>
                    <a:bodyPr lIns="54864" rIns="54864" tIns="18288" bIns="18288" wrap="square" anchor="ctr"/>
                    <a:lstStyle/>
                    <a:p>
                      <a:pPr algn="l"/>
                      <a:r>
                        <a:rPr sz="900" b="0">
                          <a:solidFill>
                            <a:srgbClr val="000000"/>
                          </a:solidFill>
                          <a:latin typeface="Calibri"/>
                        </a:rPr>
                        <a:t>0.2274</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18.20</a:t>
                      </a:r>
                    </a:p>
                  </a:txBody>
                  <a:tcPr/>
                </a:tc>
                <a:tc>
                  <a:txBody>
                    <a:bodyPr lIns="54864" rIns="54864" tIns="18288" bIns="18288" wrap="square" anchor="ctr"/>
                    <a:lstStyle/>
                    <a:p>
                      <a:pPr algn="l"/>
                      <a:r>
                        <a:rPr sz="900" b="0">
                          <a:solidFill>
                            <a:srgbClr val="000000"/>
                          </a:solidFill>
                          <a:latin typeface="Calibri"/>
                        </a:rPr>
                        <a:t>0.2320</a:t>
                      </a:r>
                    </a:p>
                  </a:txBody>
                  <a:tcPr/>
                </a:tc>
                <a:tc>
                  <a:txBody>
                    <a:bodyPr lIns="54864" rIns="54864" tIns="18288" bIns="18288" wrap="square" anchor="ctr"/>
                    <a:lstStyle/>
                    <a:p>
                      <a:pPr algn="l"/>
                      <a:r>
                        <a:rPr sz="900" b="0">
                          <a:solidFill>
                            <a:srgbClr val="000000"/>
                          </a:solidFill>
                          <a:latin typeface="Calibri"/>
                        </a:rPr>
                        <a:t>0.2318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18.25</a:t>
                      </a:r>
                    </a:p>
                  </a:txBody>
                  <a:tcPr/>
                </a:tc>
                <a:tc>
                  <a:txBody>
                    <a:bodyPr lIns="54864" rIns="54864" tIns="18288" bIns="18288" wrap="square" anchor="ctr"/>
                    <a:lstStyle/>
                    <a:p>
                      <a:pPr algn="l"/>
                      <a:r>
                        <a:rPr sz="900" b="0">
                          <a:solidFill>
                            <a:srgbClr val="000000"/>
                          </a:solidFill>
                          <a:latin typeface="Calibri"/>
                        </a:rPr>
                        <a:t>0.2362</a:t>
                      </a:r>
                    </a:p>
                  </a:txBody>
                  <a:tcPr/>
                </a:tc>
                <a:tc>
                  <a:txBody>
                    <a:bodyPr lIns="54864" rIns="54864" tIns="18288" bIns="18288" wrap="square" anchor="ctr"/>
                    <a:lstStyle/>
                    <a:p>
                      <a:pPr algn="l"/>
                      <a:r>
                        <a:rPr sz="900" b="0">
                          <a:solidFill>
                            <a:srgbClr val="000000"/>
                          </a:solidFill>
                          <a:latin typeface="Calibri"/>
                        </a:rPr>
                        <a:t>0.2351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+0.46</a:t>
                      </a:r>
                    </a:p>
                  </a:txBody>
                  <a:tcPr/>
                </a:tc>
              </a:tr>
              <a:tr h="182880">
                <a:tc>
                  <a:txBody>
                    <a:bodyPr lIns="54864" rIns="54864" tIns="18288" bIns="18288" wrap="square" anchor="ctr"/>
                    <a:lstStyle/>
                    <a:p>
                      <a:pPr algn="l"/>
                      <a:r>
                        <a:rPr sz="900" b="0">
                          <a:solidFill>
                            <a:srgbClr val="000000"/>
                          </a:solidFill>
                          <a:latin typeface="Calibri"/>
                        </a:rPr>
                        <a:t>18.30</a:t>
                      </a:r>
                    </a:p>
                  </a:txBody>
                  <a:tcPr/>
                </a:tc>
                <a:tc>
                  <a:txBody>
                    <a:bodyPr lIns="54864" rIns="54864" tIns="18288" bIns="18288" wrap="square" anchor="ctr"/>
                    <a:lstStyle/>
                    <a:p>
                      <a:pPr algn="l"/>
                      <a:r>
                        <a:rPr sz="900" b="0">
                          <a:solidFill>
                            <a:srgbClr val="000000"/>
                          </a:solidFill>
                          <a:latin typeface="Calibri"/>
                        </a:rPr>
                        <a:t>0.2400</a:t>
                      </a:r>
                    </a:p>
                  </a:txBody>
                  <a:tcPr/>
                </a:tc>
                <a:tc>
                  <a:txBody>
                    <a:bodyPr lIns="54864" rIns="54864" tIns="18288" bIns="18288" wrap="square" anchor="ctr"/>
                    <a:lstStyle/>
                    <a:p>
                      <a:pPr algn="l"/>
                      <a:r>
                        <a:rPr sz="900" b="0">
                          <a:solidFill>
                            <a:srgbClr val="000000"/>
                          </a:solidFill>
                          <a:latin typeface="Calibri"/>
                        </a:rPr>
                        <a:t>0.2391</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18.35</a:t>
                      </a:r>
                    </a:p>
                  </a:txBody>
                  <a:tcPr/>
                </a:tc>
                <a:tc>
                  <a:txBody>
                    <a:bodyPr lIns="54864" rIns="54864" tIns="18288" bIns="18288" wrap="square" anchor="ctr"/>
                    <a:lstStyle/>
                    <a:p>
                      <a:pPr algn="l"/>
                      <a:r>
                        <a:rPr sz="900" b="0">
                          <a:solidFill>
                            <a:srgbClr val="000000"/>
                          </a:solidFill>
                          <a:latin typeface="Calibri"/>
                        </a:rPr>
                        <a:t>0.2439</a:t>
                      </a:r>
                    </a:p>
                  </a:txBody>
                  <a:tcPr/>
                </a:tc>
                <a:tc>
                  <a:txBody>
                    <a:bodyPr lIns="54864" rIns="54864" tIns="18288" bIns="18288" wrap="square" anchor="ctr"/>
                    <a:lstStyle/>
                    <a:p>
                      <a:pPr algn="l"/>
                      <a:r>
                        <a:rPr sz="900" b="0">
                          <a:solidFill>
                            <a:srgbClr val="000000"/>
                          </a:solidFill>
                          <a:latin typeface="Calibri"/>
                        </a:rPr>
                        <a:t>0.2429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18.40</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-0.03</a:t>
                      </a:r>
                    </a:p>
                  </a:txBody>
                  <a:tcPr/>
                </a:tc>
              </a:tr>
              <a:tr h="182880">
                <a:tc>
                  <a:txBody>
                    <a:bodyPr lIns="54864" rIns="54864" tIns="18288" bIns="18288" wrap="square" anchor="ctr"/>
                    <a:lstStyle/>
                    <a:p>
                      <a:pPr algn="l"/>
                      <a:r>
                        <a:rPr sz="900" b="0">
                          <a:solidFill>
                            <a:srgbClr val="000000"/>
                          </a:solidFill>
                          <a:latin typeface="Calibri"/>
                        </a:rPr>
                        <a:t>18.45</a:t>
                      </a:r>
                    </a:p>
                  </a:txBody>
                  <a:tcPr/>
                </a:tc>
                <a:tc>
                  <a:txBody>
                    <a:bodyPr lIns="54864" rIns="54864" tIns="18288" bIns="18288" wrap="square" anchor="ctr"/>
                    <a:lstStyle/>
                    <a:p>
                      <a:pPr algn="l"/>
                      <a:r>
                        <a:rPr sz="900" b="0">
                          <a:solidFill>
                            <a:srgbClr val="000000"/>
                          </a:solidFill>
                          <a:latin typeface="Calibri"/>
                        </a:rPr>
                        <a:t>0.2506</a:t>
                      </a:r>
                    </a:p>
                  </a:txBody>
                  <a:tcPr/>
                </a:tc>
                <a:tc>
                  <a:txBody>
                    <a:bodyPr lIns="54864" rIns="54864" tIns="18288" bIns="18288" wrap="square" anchor="ctr"/>
                    <a:lstStyle/>
                    <a:p>
                      <a:pPr algn="l"/>
                      <a:r>
                        <a:rPr sz="900" b="0">
                          <a:solidFill>
                            <a:srgbClr val="000000"/>
                          </a:solidFill>
                          <a:latin typeface="Calibri"/>
                        </a:rPr>
                        <a:t>0.2503</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+0.12</a:t>
                      </a:r>
                    </a:p>
                  </a:txBody>
                  <a:tcPr/>
                </a:tc>
              </a:tr>
              <a:tr h="182880">
                <a:tc>
                  <a:txBody>
                    <a:bodyPr lIns="54864" rIns="54864" tIns="18288" bIns="18288" wrap="square" anchor="ctr"/>
                    <a:lstStyle/>
                    <a:p>
                      <a:pPr algn="l"/>
                      <a:r>
                        <a:rPr sz="900" b="0">
                          <a:solidFill>
                            <a:srgbClr val="000000"/>
                          </a:solidFill>
                          <a:latin typeface="Calibri"/>
                        </a:rPr>
                        <a:t>18.50</a:t>
                      </a:r>
                    </a:p>
                  </a:txBody>
                  <a:tcPr/>
                </a:tc>
                <a:tc>
                  <a:txBody>
                    <a:bodyPr lIns="54864" rIns="54864" tIns="18288" bIns="18288" wrap="square" anchor="ctr"/>
                    <a:lstStyle/>
                    <a:p>
                      <a:pPr algn="l"/>
                      <a:r>
                        <a:rPr sz="900" b="0">
                          <a:solidFill>
                            <a:srgbClr val="000000"/>
                          </a:solidFill>
                          <a:latin typeface="Calibri"/>
                        </a:rPr>
                        <a:t>0.2546</a:t>
                      </a:r>
                    </a:p>
                  </a:txBody>
                  <a:tcPr/>
                </a:tc>
                <a:tc>
                  <a:txBody>
                    <a:bodyPr lIns="54864" rIns="54864" tIns="18288" bIns="18288" wrap="square" anchor="ctr"/>
                    <a:lstStyle/>
                    <a:p>
                      <a:pPr algn="l"/>
                      <a:r>
                        <a:rPr sz="900" b="0">
                          <a:solidFill>
                            <a:srgbClr val="000000"/>
                          </a:solidFill>
                          <a:latin typeface="Calibri"/>
                        </a:rPr>
                        <a:t>0.2541</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18.55</a:t>
                      </a:r>
                    </a:p>
                  </a:txBody>
                  <a:tcPr/>
                </a:tc>
                <a:tc>
                  <a:txBody>
                    <a:bodyPr lIns="54864" rIns="54864" tIns="18288" bIns="18288" wrap="square" anchor="ctr"/>
                    <a:lstStyle/>
                    <a:p>
                      <a:pPr algn="l"/>
                      <a:r>
                        <a:rPr sz="900" b="0">
                          <a:solidFill>
                            <a:srgbClr val="000000"/>
                          </a:solidFill>
                          <a:latin typeface="Calibri"/>
                        </a:rPr>
                        <a:t>0.2591</a:t>
                      </a:r>
                    </a:p>
                  </a:txBody>
                  <a:tcPr/>
                </a:tc>
                <a:tc>
                  <a:txBody>
                    <a:bodyPr lIns="54864" rIns="54864" tIns="18288" bIns="18288" wrap="square" anchor="ctr"/>
                    <a:lstStyle/>
                    <a:p>
                      <a:pPr algn="l"/>
                      <a:r>
                        <a:rPr sz="900" b="0">
                          <a:solidFill>
                            <a:srgbClr val="000000"/>
                          </a:solidFill>
                          <a:latin typeface="Calibri"/>
                        </a:rPr>
                        <a:t>0.2581</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18.60</a:t>
                      </a:r>
                    </a:p>
                  </a:txBody>
                  <a:tcPr/>
                </a:tc>
                <a:tc>
                  <a:txBody>
                    <a:bodyPr lIns="54864" rIns="54864" tIns="18288" bIns="18288" wrap="square" anchor="ctr"/>
                    <a:lstStyle/>
                    <a:p>
                      <a:pPr algn="l"/>
                      <a:r>
                        <a:rPr sz="900" b="0">
                          <a:solidFill>
                            <a:srgbClr val="000000"/>
                          </a:solidFill>
                          <a:latin typeface="Calibri"/>
                        </a:rPr>
                        <a:t>0.2631</a:t>
                      </a:r>
                    </a:p>
                  </a:txBody>
                  <a:tcPr/>
                </a:tc>
                <a:tc>
                  <a:txBody>
                    <a:bodyPr lIns="54864" rIns="54864" tIns="18288" bIns="18288" wrap="square" anchor="ctr"/>
                    <a:lstStyle/>
                    <a:p>
                      <a:pPr algn="l"/>
                      <a:r>
                        <a:rPr sz="900" b="0">
                          <a:solidFill>
                            <a:srgbClr val="000000"/>
                          </a:solidFill>
                          <a:latin typeface="Calibri"/>
                        </a:rPr>
                        <a:t>0.2624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0.2669</a:t>
                      </a:r>
                    </a:p>
                  </a:txBody>
                  <a:tcPr/>
                </a:tc>
                <a:tc>
                  <a:txBody>
                    <a:bodyPr lIns="54864" rIns="54864" tIns="18288" bIns="18288" wrap="square" anchor="ctr"/>
                    <a:lstStyle/>
                    <a:p>
                      <a:pPr algn="l"/>
                      <a:r>
                        <a:rPr sz="900" b="0">
                          <a:solidFill>
                            <a:srgbClr val="000000"/>
                          </a:solidFill>
                          <a:latin typeface="Calibri"/>
                        </a:rPr>
                        <a:t>0.2659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+0.36</a:t>
                      </a:r>
                    </a:p>
                  </a:txBody>
                  <a:tcPr/>
                </a:tc>
              </a:tr>
              <a:tr h="182880">
                <a:tc>
                  <a:txBody>
                    <a:bodyPr lIns="54864" rIns="54864" tIns="18288" bIns="18288" wrap="square" anchor="ctr"/>
                    <a:lstStyle/>
                    <a:p>
                      <a:pPr algn="l"/>
                      <a:r>
                        <a:rPr sz="900" b="0">
                          <a:solidFill>
                            <a:srgbClr val="000000"/>
                          </a:solidFill>
                          <a:latin typeface="Calibri"/>
                        </a:rPr>
                        <a:t>18.70</a:t>
                      </a:r>
                    </a:p>
                  </a:txBody>
                  <a:tcPr/>
                </a:tc>
                <a:tc>
                  <a:txBody>
                    <a:bodyPr lIns="54864" rIns="54864" tIns="18288" bIns="18288" wrap="square" anchor="ctr"/>
                    <a:lstStyle/>
                    <a:p>
                      <a:pPr algn="l"/>
                      <a:r>
                        <a:rPr sz="900" b="0">
                          <a:solidFill>
                            <a:srgbClr val="000000"/>
                          </a:solidFill>
                          <a:latin typeface="Calibri"/>
                        </a:rPr>
                        <a:t>0.2701</a:t>
                      </a:r>
                    </a:p>
                  </a:txBody>
                  <a:tcPr/>
                </a:tc>
                <a:tc>
                  <a:txBody>
                    <a:bodyPr lIns="54864" rIns="54864" tIns="18288" bIns="18288" wrap="square" anchor="ctr"/>
                    <a:lstStyle/>
                    <a:p>
                      <a:pPr algn="l"/>
                      <a:r>
                        <a:rPr sz="900" b="0">
                          <a:solidFill>
                            <a:srgbClr val="000000"/>
                          </a:solidFill>
                          <a:latin typeface="Calibri"/>
                        </a:rPr>
                        <a:t>0.2694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18.75</a:t>
                      </a:r>
                    </a:p>
                  </a:txBody>
                  <a:tcPr/>
                </a:tc>
                <a:tc>
                  <a:txBody>
                    <a:bodyPr lIns="54864" rIns="54864" tIns="18288" bIns="18288" wrap="square" anchor="ctr"/>
                    <a:lstStyle/>
                    <a:p>
                      <a:pPr algn="l"/>
                      <a:r>
                        <a:rPr sz="900" b="0">
                          <a:solidFill>
                            <a:srgbClr val="000000"/>
                          </a:solidFill>
                          <a:latin typeface="Calibri"/>
                        </a:rPr>
                        <a:t>0.2737</a:t>
                      </a:r>
                    </a:p>
                  </a:txBody>
                  <a:tcPr/>
                </a:tc>
                <a:tc>
                  <a:txBody>
                    <a:bodyPr lIns="54864" rIns="54864" tIns="18288" bIns="18288" wrap="square" anchor="ctr"/>
                    <a:lstStyle/>
                    <a:p>
                      <a:pPr algn="l"/>
                      <a:r>
                        <a:rPr sz="900" b="0">
                          <a:solidFill>
                            <a:srgbClr val="000000"/>
                          </a:solidFill>
                          <a:latin typeface="Calibri"/>
                        </a:rPr>
                        <a:t>0.2735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18.80</a:t>
                      </a:r>
                    </a:p>
                  </a:txBody>
                  <a:tcPr/>
                </a:tc>
                <a:tc>
                  <a:txBody>
                    <a:bodyPr lIns="54864" rIns="54864" tIns="18288" bIns="18288" wrap="square" anchor="ctr"/>
                    <a:lstStyle/>
                    <a:p>
                      <a:pPr algn="l"/>
                      <a:r>
                        <a:rPr sz="900" b="0">
                          <a:solidFill>
                            <a:srgbClr val="000000"/>
                          </a:solidFill>
                          <a:latin typeface="Calibri"/>
                        </a:rPr>
                        <a:t>0.2780</a:t>
                      </a:r>
                    </a:p>
                  </a:txBody>
                  <a:tcPr/>
                </a:tc>
                <a:tc>
                  <a:txBody>
                    <a:bodyPr lIns="54864" rIns="54864" tIns="18288" bIns="18288" wrap="square" anchor="ctr"/>
                    <a:lstStyle/>
                    <a:p>
                      <a:pPr algn="l"/>
                      <a:r>
                        <a:rPr sz="900" b="0">
                          <a:solidFill>
                            <a:srgbClr val="000000"/>
                          </a:solidFill>
                          <a:latin typeface="Calibri"/>
                        </a:rPr>
                        <a:t>0.2773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+0.25</a:t>
                      </a:r>
                    </a:p>
                  </a:txBody>
                  <a:tcPr/>
                </a:tc>
              </a:tr>
              <a:tr h="182880">
                <a:tc>
                  <a:txBody>
                    <a:bodyPr lIns="54864" rIns="54864" tIns="18288" bIns="18288" wrap="square" anchor="ctr"/>
                    <a:lstStyle/>
                    <a:p>
                      <a:pPr algn="l"/>
                      <a:r>
                        <a:rPr sz="900" b="0">
                          <a:solidFill>
                            <a:srgbClr val="000000"/>
                          </a:solidFill>
                          <a:latin typeface="Calibri"/>
                        </a:rPr>
                        <a:t>18.85</a:t>
                      </a:r>
                    </a:p>
                  </a:txBody>
                  <a:tcPr/>
                </a:tc>
                <a:tc>
                  <a:txBody>
                    <a:bodyPr lIns="54864" rIns="54864" tIns="18288" bIns="18288" wrap="square" anchor="ctr"/>
                    <a:lstStyle/>
                    <a:p>
                      <a:pPr algn="l"/>
                      <a:r>
                        <a:rPr sz="900" b="0">
                          <a:solidFill>
                            <a:srgbClr val="000000"/>
                          </a:solidFill>
                          <a:latin typeface="Calibri"/>
                        </a:rPr>
                        <a:t>0.2814</a:t>
                      </a:r>
                    </a:p>
                  </a:txBody>
                  <a:tcPr/>
                </a:tc>
                <a:tc>
                  <a:txBody>
                    <a:bodyPr lIns="54864" rIns="54864" tIns="18288" bIns="18288" wrap="square" anchor="ctr"/>
                    <a:lstStyle/>
                    <a:p>
                      <a:pPr algn="l"/>
                      <a:r>
                        <a:rPr sz="900" b="0">
                          <a:solidFill>
                            <a:srgbClr val="000000"/>
                          </a:solidFill>
                          <a:latin typeface="Calibri"/>
                        </a:rPr>
                        <a:t>0.2806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18.90</a:t>
                      </a:r>
                    </a:p>
                  </a:txBody>
                  <a:tcPr/>
                </a:tc>
                <a:tc>
                  <a:txBody>
                    <a:bodyPr lIns="54864" rIns="54864" tIns="18288" bIns="18288" wrap="square" anchor="ctr"/>
                    <a:lstStyle/>
                    <a:p>
                      <a:pPr algn="l"/>
                      <a:r>
                        <a:rPr sz="900" b="0">
                          <a:solidFill>
                            <a:srgbClr val="000000"/>
                          </a:solidFill>
                          <a:latin typeface="Calibri"/>
                        </a:rPr>
                        <a:t>0.2857</a:t>
                      </a:r>
                    </a:p>
                  </a:txBody>
                  <a:tcPr/>
                </a:tc>
                <a:tc>
                  <a:txBody>
                    <a:bodyPr lIns="54864" rIns="54864" tIns="18288" bIns="18288" wrap="square" anchor="ctr"/>
                    <a:lstStyle/>
                    <a:p>
                      <a:pPr algn="l"/>
                      <a:r>
                        <a:rPr sz="900" b="0">
                          <a:solidFill>
                            <a:srgbClr val="000000"/>
                          </a:solidFill>
                          <a:latin typeface="Calibri"/>
                        </a:rPr>
                        <a:t>0.2846</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+0.39</a:t>
                      </a:r>
                    </a:p>
                  </a:txBody>
                  <a:tcPr/>
                </a:tc>
              </a:tr>
            </a:tbl>
          </a:graphicData>
        </a:graphic>
      </p:graphicFrame>
      <p:graphicFrame>
        <p:nvGraphicFramePr>
          <p:cNvPr id="7" name="Table 6"/>
          <p:cNvGraphicFramePr>
            <a:graphicFrameLocks noGrp="1"/>
          </p:cNvGraphicFramePr>
          <p:nvPr/>
        </p:nvGraphicFramePr>
        <p:xfrm>
          <a:off x="6217920" y="1408176"/>
          <a:ext cx="5394960" cy="384048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18.95</a:t>
                      </a:r>
                    </a:p>
                  </a:txBody>
                  <a:tcPr/>
                </a:tc>
                <a:tc>
                  <a:txBody>
                    <a:bodyPr lIns="54864" rIns="54864" tIns="18288" bIns="18288" wrap="square" anchor="ctr"/>
                    <a:lstStyle/>
                    <a:p>
                      <a:pPr algn="l"/>
                      <a:r>
                        <a:rPr sz="900" b="0">
                          <a:solidFill>
                            <a:srgbClr val="000000"/>
                          </a:solidFill>
                          <a:latin typeface="Calibri"/>
                        </a:rPr>
                        <a:t>0.2898</a:t>
                      </a:r>
                    </a:p>
                  </a:txBody>
                  <a:tcPr/>
                </a:tc>
                <a:tc>
                  <a:txBody>
                    <a:bodyPr lIns="54864" rIns="54864" tIns="18288" bIns="18288" wrap="square" anchor="ctr"/>
                    <a:lstStyle/>
                    <a:p>
                      <a:pPr algn="l"/>
                      <a:r>
                        <a:rPr sz="900" b="0">
                          <a:solidFill>
                            <a:srgbClr val="000000"/>
                          </a:solidFill>
                          <a:latin typeface="Calibri"/>
                        </a:rPr>
                        <a:t>0.2888</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19.00</a:t>
                      </a:r>
                    </a:p>
                  </a:txBody>
                  <a:tcPr/>
                </a:tc>
                <a:tc>
                  <a:txBody>
                    <a:bodyPr lIns="54864" rIns="54864" tIns="18288" bIns="18288" wrap="square" anchor="ctr"/>
                    <a:lstStyle/>
                    <a:p>
                      <a:pPr algn="l"/>
                      <a:r>
                        <a:rPr sz="900" b="0">
                          <a:solidFill>
                            <a:srgbClr val="000000"/>
                          </a:solidFill>
                          <a:latin typeface="Calibri"/>
                        </a:rPr>
                        <a:t>0.2929</a:t>
                      </a:r>
                    </a:p>
                  </a:txBody>
                  <a:tcPr/>
                </a:tc>
                <a:tc>
                  <a:txBody>
                    <a:bodyPr lIns="54864" rIns="54864" tIns="18288" bIns="18288" wrap="square" anchor="ctr"/>
                    <a:lstStyle/>
                    <a:p>
                      <a:pPr algn="l"/>
                      <a:r>
                        <a:rPr sz="900" b="0">
                          <a:solidFill>
                            <a:srgbClr val="000000"/>
                          </a:solidFill>
                          <a:latin typeface="Calibri"/>
                        </a:rPr>
                        <a:t>0.2927</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19.05</a:t>
                      </a:r>
                    </a:p>
                  </a:txBody>
                  <a:tcPr/>
                </a:tc>
                <a:tc>
                  <a:txBody>
                    <a:bodyPr lIns="54864" rIns="54864" tIns="18288" bIns="18288" wrap="square" anchor="ctr"/>
                    <a:lstStyle/>
                    <a:p>
                      <a:pPr algn="l"/>
                      <a:r>
                        <a:rPr sz="900" b="0">
                          <a:solidFill>
                            <a:srgbClr val="000000"/>
                          </a:solidFill>
                          <a:latin typeface="Calibri"/>
                        </a:rPr>
                        <a:t>0.2967</a:t>
                      </a:r>
                    </a:p>
                  </a:txBody>
                  <a:tcPr/>
                </a:tc>
                <a:tc>
                  <a:txBody>
                    <a:bodyPr lIns="54864" rIns="54864" tIns="18288" bIns="18288" wrap="square" anchor="ctr"/>
                    <a:lstStyle/>
                    <a:p>
                      <a:pPr algn="l"/>
                      <a:r>
                        <a:rPr sz="900" b="0">
                          <a:solidFill>
                            <a:srgbClr val="000000"/>
                          </a:solidFill>
                          <a:latin typeface="Calibri"/>
                        </a:rPr>
                        <a:t>0.2962</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19.10</a:t>
                      </a:r>
                    </a:p>
                  </a:txBody>
                  <a:tcPr/>
                </a:tc>
                <a:tc>
                  <a:txBody>
                    <a:bodyPr lIns="54864" rIns="54864" tIns="18288" bIns="18288" wrap="square" anchor="ctr"/>
                    <a:lstStyle/>
                    <a:p>
                      <a:pPr algn="l"/>
                      <a:r>
                        <a:rPr sz="900" b="0">
                          <a:solidFill>
                            <a:srgbClr val="000000"/>
                          </a:solidFill>
                          <a:latin typeface="Calibri"/>
                        </a:rPr>
                        <a:t>0.3009</a:t>
                      </a:r>
                    </a:p>
                  </a:txBody>
                  <a:tcPr/>
                </a:tc>
                <a:tc>
                  <a:txBody>
                    <a:bodyPr lIns="54864" rIns="54864" tIns="18288" bIns="18288" wrap="square" anchor="ctr"/>
                    <a:lstStyle/>
                    <a:p>
                      <a:pPr algn="l"/>
                      <a:r>
                        <a:rPr sz="900" b="0">
                          <a:solidFill>
                            <a:srgbClr val="000000"/>
                          </a:solidFill>
                          <a:latin typeface="Calibri"/>
                        </a:rPr>
                        <a:t>0.2999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+0.34</a:t>
                      </a:r>
                    </a:p>
                  </a:txBody>
                  <a:tcPr/>
                </a:tc>
              </a:tr>
              <a:tr h="182880">
                <a:tc>
                  <a:txBody>
                    <a:bodyPr lIns="54864" rIns="54864" tIns="18288" bIns="18288" wrap="square" anchor="ctr"/>
                    <a:lstStyle/>
                    <a:p>
                      <a:pPr algn="l"/>
                      <a:r>
                        <a:rPr sz="900" b="0">
                          <a:solidFill>
                            <a:srgbClr val="000000"/>
                          </a:solidFill>
                          <a:latin typeface="Calibri"/>
                        </a:rPr>
                        <a:t>19.15</a:t>
                      </a:r>
                    </a:p>
                  </a:txBody>
                  <a:tcPr/>
                </a:tc>
                <a:tc>
                  <a:txBody>
                    <a:bodyPr lIns="54864" rIns="54864" tIns="18288" bIns="18288" wrap="square" anchor="ctr"/>
                    <a:lstStyle/>
                    <a:p>
                      <a:pPr algn="l"/>
                      <a:r>
                        <a:rPr sz="900" b="0">
                          <a:solidFill>
                            <a:srgbClr val="000000"/>
                          </a:solidFill>
                          <a:latin typeface="Calibri"/>
                        </a:rPr>
                        <a:t>0.3051</a:t>
                      </a:r>
                    </a:p>
                  </a:txBody>
                  <a:tcPr/>
                </a:tc>
                <a:tc>
                  <a:txBody>
                    <a:bodyPr lIns="54864" rIns="54864" tIns="18288" bIns="18288" wrap="square" anchor="ctr"/>
                    <a:lstStyle/>
                    <a:p>
                      <a:pPr algn="l"/>
                      <a:r>
                        <a:rPr sz="900" b="0">
                          <a:solidFill>
                            <a:srgbClr val="000000"/>
                          </a:solidFill>
                          <a:latin typeface="Calibri"/>
                        </a:rPr>
                        <a:t>0.3039</a:t>
                      </a:r>
                    </a:p>
                  </a:txBody>
                  <a:tcPr/>
                </a:tc>
                <a:tc>
                  <a:txBody>
                    <a:bodyPr lIns="54864" rIns="54864" tIns="18288" bIns="18288" wrap="square" anchor="ctr"/>
                    <a:lstStyle/>
                    <a:p>
                      <a:pPr algn="l"/>
                      <a:r>
                        <a:rPr sz="900" b="0">
                          <a:solidFill>
                            <a:srgbClr val="000000"/>
                          </a:solidFill>
                          <a:latin typeface="Calibri"/>
                        </a:rPr>
                        <a:t>+12</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19.20</a:t>
                      </a:r>
                    </a:p>
                  </a:txBody>
                  <a:tcPr/>
                </a:tc>
                <a:tc>
                  <a:txBody>
                    <a:bodyPr lIns="54864" rIns="54864" tIns="18288" bIns="18288" wrap="square" anchor="ctr"/>
                    <a:lstStyle/>
                    <a:p>
                      <a:pPr algn="l"/>
                      <a:r>
                        <a:rPr sz="900" b="0">
                          <a:solidFill>
                            <a:srgbClr val="000000"/>
                          </a:solidFill>
                          <a:latin typeface="Calibri"/>
                        </a:rPr>
                        <a:t>0.3084</a:t>
                      </a:r>
                    </a:p>
                  </a:txBody>
                  <a:tcPr/>
                </a:tc>
                <a:tc>
                  <a:txBody>
                    <a:bodyPr lIns="54864" rIns="54864" tIns="18288" bIns="18288" wrap="square" anchor="ctr"/>
                    <a:lstStyle/>
                    <a:p>
                      <a:pPr algn="l"/>
                      <a:r>
                        <a:rPr sz="900" b="0">
                          <a:solidFill>
                            <a:srgbClr val="000000"/>
                          </a:solidFill>
                          <a:latin typeface="Calibri"/>
                        </a:rPr>
                        <a:t>0.3076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19.25</a:t>
                      </a:r>
                    </a:p>
                  </a:txBody>
                  <a:tcPr/>
                </a:tc>
                <a:tc>
                  <a:txBody>
                    <a:bodyPr lIns="54864" rIns="54864" tIns="18288" bIns="18288" wrap="square" anchor="ctr"/>
                    <a:lstStyle/>
                    <a:p>
                      <a:pPr algn="l"/>
                      <a:r>
                        <a:rPr sz="900" b="0">
                          <a:solidFill>
                            <a:srgbClr val="000000"/>
                          </a:solidFill>
                          <a:latin typeface="Calibri"/>
                        </a:rPr>
                        <a:t>0.3117</a:t>
                      </a:r>
                    </a:p>
                  </a:txBody>
                  <a:tcPr/>
                </a:tc>
                <a:tc>
                  <a:txBody>
                    <a:bodyPr lIns="54864" rIns="54864" tIns="18288" bIns="18288" wrap="square" anchor="ctr"/>
                    <a:lstStyle/>
                    <a:p>
                      <a:pPr algn="l"/>
                      <a:r>
                        <a:rPr sz="900" b="0">
                          <a:solidFill>
                            <a:srgbClr val="000000"/>
                          </a:solidFill>
                          <a:latin typeface="Calibri"/>
                        </a:rPr>
                        <a:t>0.3113</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19.30</a:t>
                      </a:r>
                    </a:p>
                  </a:txBody>
                  <a:tcPr/>
                </a:tc>
                <a:tc>
                  <a:txBody>
                    <a:bodyPr lIns="54864" rIns="54864" tIns="18288" bIns="18288" wrap="square" anchor="ctr"/>
                    <a:lstStyle/>
                    <a:p>
                      <a:pPr algn="l"/>
                      <a:r>
                        <a:rPr sz="900" b="0">
                          <a:solidFill>
                            <a:srgbClr val="000000"/>
                          </a:solidFill>
                          <a:latin typeface="Calibri"/>
                        </a:rPr>
                        <a:t>0.3160</a:t>
                      </a:r>
                    </a:p>
                  </a:txBody>
                  <a:tcPr/>
                </a:tc>
                <a:tc>
                  <a:txBody>
                    <a:bodyPr lIns="54864" rIns="54864" tIns="18288" bIns="18288" wrap="square" anchor="ctr"/>
                    <a:lstStyle/>
                    <a:p>
                      <a:pPr algn="l"/>
                      <a:r>
                        <a:rPr sz="900" b="0">
                          <a:solidFill>
                            <a:srgbClr val="000000"/>
                          </a:solidFill>
                          <a:latin typeface="Calibri"/>
                        </a:rPr>
                        <a:t>0.3155</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19.35</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-0.01</a:t>
                      </a:r>
                    </a:p>
                  </a:txBody>
                  <a:tcPr/>
                </a:tc>
              </a:tr>
              <a:tr h="182880">
                <a:tc>
                  <a:txBody>
                    <a:bodyPr lIns="54864" rIns="54864" tIns="18288" bIns="18288" wrap="square" anchor="ctr"/>
                    <a:lstStyle/>
                    <a:p>
                      <a:pPr algn="l"/>
                      <a:r>
                        <a:rPr sz="900" b="0">
                          <a:solidFill>
                            <a:srgbClr val="000000"/>
                          </a:solidFill>
                          <a:latin typeface="Calibri"/>
                        </a:rPr>
                        <a:t>19.40</a:t>
                      </a:r>
                    </a:p>
                  </a:txBody>
                  <a:tcPr/>
                </a:tc>
                <a:tc>
                  <a:txBody>
                    <a:bodyPr lIns="54864" rIns="54864" tIns="18288" bIns="18288" wrap="square" anchor="ctr"/>
                    <a:lstStyle/>
                    <a:p>
                      <a:pPr algn="l"/>
                      <a:r>
                        <a:rPr sz="900" b="0">
                          <a:solidFill>
                            <a:srgbClr val="000000"/>
                          </a:solidFill>
                          <a:latin typeface="Calibri"/>
                        </a:rPr>
                        <a:t>0.3234</a:t>
                      </a:r>
                    </a:p>
                  </a:txBody>
                  <a:tcPr/>
                </a:tc>
                <a:tc>
                  <a:txBody>
                    <a:bodyPr lIns="54864" rIns="54864" tIns="18288" bIns="18288" wrap="square" anchor="ctr"/>
                    <a:lstStyle/>
                    <a:p>
                      <a:pPr algn="l"/>
                      <a:r>
                        <a:rPr sz="900" b="0">
                          <a:solidFill>
                            <a:srgbClr val="000000"/>
                          </a:solidFill>
                          <a:latin typeface="Calibri"/>
                        </a:rPr>
                        <a:t>0.3227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+0.22</a:t>
                      </a:r>
                    </a:p>
                  </a:txBody>
                  <a:tcPr/>
                </a:tc>
              </a:tr>
              <a:tr h="182880">
                <a:tc>
                  <a:txBody>
                    <a:bodyPr lIns="54864" rIns="54864" tIns="18288" bIns="18288" wrap="square" anchor="ctr"/>
                    <a:lstStyle/>
                    <a:p>
                      <a:pPr algn="l"/>
                      <a:r>
                        <a:rPr sz="900" b="0">
                          <a:solidFill>
                            <a:srgbClr val="000000"/>
                          </a:solidFill>
                          <a:latin typeface="Calibri"/>
                        </a:rPr>
                        <a:t>19.45</a:t>
                      </a:r>
                    </a:p>
                  </a:txBody>
                  <a:tcPr/>
                </a:tc>
                <a:tc>
                  <a:txBody>
                    <a:bodyPr lIns="54864" rIns="54864" tIns="18288" bIns="18288" wrap="square" anchor="ctr"/>
                    <a:lstStyle/>
                    <a:p>
                      <a:pPr algn="l"/>
                      <a:r>
                        <a:rPr sz="900" b="0">
                          <a:solidFill>
                            <a:srgbClr val="000000"/>
                          </a:solidFill>
                          <a:latin typeface="Calibri"/>
                        </a:rPr>
                        <a:t>0.3283</a:t>
                      </a:r>
                    </a:p>
                  </a:txBody>
                  <a:tcPr/>
                </a:tc>
                <a:tc>
                  <a:txBody>
                    <a:bodyPr lIns="54864" rIns="54864" tIns="18288" bIns="18288" wrap="square" anchor="ctr"/>
                    <a:lstStyle/>
                    <a:p>
                      <a:pPr algn="l"/>
                      <a:r>
                        <a:rPr sz="900" b="0">
                          <a:solidFill>
                            <a:srgbClr val="000000"/>
                          </a:solidFill>
                          <a:latin typeface="Calibri"/>
                        </a:rPr>
                        <a:t>0.3020</a:t>
                      </a:r>
                    </a:p>
                  </a:txBody>
                  <a:tcPr/>
                </a:tc>
                <a:tc>
                  <a:txBody>
                    <a:bodyPr lIns="54864" rIns="54864" tIns="18288" bIns="18288" wrap="square" anchor="ctr"/>
                    <a:lstStyle/>
                    <a:p>
                      <a:pPr algn="l"/>
                      <a:r>
                        <a:rPr sz="900" b="0">
                          <a:solidFill>
                            <a:srgbClr val="000000"/>
                          </a:solidFill>
                          <a:latin typeface="Calibri"/>
                        </a:rPr>
                        <a:t>+263</a:t>
                      </a:r>
                    </a:p>
                  </a:txBody>
                  <a:tcPr/>
                </a:tc>
                <a:tc>
                  <a:txBody>
                    <a:bodyPr lIns="54864" rIns="54864" tIns="18288" bIns="18288" wrap="square" anchor="ctr"/>
                    <a:lstStyle/>
                    <a:p>
                      <a:pPr algn="l"/>
                      <a:r>
                        <a:rPr sz="900" b="0">
                          <a:solidFill>
                            <a:srgbClr val="000000"/>
                          </a:solidFill>
                          <a:latin typeface="Calibri"/>
                        </a:rPr>
                        <a:t>+8.70</a:t>
                      </a:r>
                    </a:p>
                  </a:txBody>
                  <a:tcPr/>
                </a:tc>
              </a:tr>
              <a:tr h="182880">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0.3311</a:t>
                      </a:r>
                    </a:p>
                  </a:txBody>
                  <a:tcPr/>
                </a:tc>
                <a:tc>
                  <a:txBody>
                    <a:bodyPr lIns="54864" rIns="54864" tIns="18288" bIns="18288" wrap="square" anchor="ctr"/>
                    <a:lstStyle/>
                    <a:p>
                      <a:pPr algn="l"/>
                      <a:r>
                        <a:rPr sz="900" b="0">
                          <a:solidFill>
                            <a:srgbClr val="000000"/>
                          </a:solidFill>
                          <a:latin typeface="Calibri"/>
                        </a:rPr>
                        <a:t>0.3210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+3.12</a:t>
                      </a:r>
                    </a:p>
                  </a:txBody>
                  <a:tcPr/>
                </a:tc>
              </a:tr>
              <a:tr h="182880">
                <a:tc>
                  <a:txBody>
                    <a:bodyPr lIns="54864" rIns="54864" tIns="18288" bIns="18288" wrap="square" anchor="ctr"/>
                    <a:lstStyle/>
                    <a:p>
                      <a:pPr algn="l"/>
                      <a:r>
                        <a:rPr sz="900" b="0">
                          <a:solidFill>
                            <a:srgbClr val="000000"/>
                          </a:solidFill>
                          <a:latin typeface="Calibri"/>
                        </a:rPr>
                        <a:t>19.55</a:t>
                      </a:r>
                    </a:p>
                  </a:txBody>
                  <a:tcPr/>
                </a:tc>
                <a:tc>
                  <a:txBody>
                    <a:bodyPr lIns="54864" rIns="54864" tIns="18288" bIns="18288" wrap="square" anchor="ctr"/>
                    <a:lstStyle/>
                    <a:p>
                      <a:pPr algn="l"/>
                      <a:r>
                        <a:rPr sz="900" b="0">
                          <a:solidFill>
                            <a:srgbClr val="000000"/>
                          </a:solidFill>
                          <a:latin typeface="Calibri"/>
                        </a:rPr>
                        <a:t>0.3354</a:t>
                      </a:r>
                    </a:p>
                  </a:txBody>
                  <a:tcPr/>
                </a:tc>
                <a:tc>
                  <a:txBody>
                    <a:bodyPr lIns="54864" rIns="54864" tIns="18288" bIns="18288" wrap="square" anchor="ctr"/>
                    <a:lstStyle/>
                    <a:p>
                      <a:pPr algn="l"/>
                      <a:r>
                        <a:rPr sz="900" b="0">
                          <a:solidFill>
                            <a:srgbClr val="000000"/>
                          </a:solidFill>
                          <a:latin typeface="Calibri"/>
                        </a:rPr>
                        <a:t>0.3408</a:t>
                      </a:r>
                    </a:p>
                  </a:txBody>
                  <a:tcPr/>
                </a:tc>
                <a:tc>
                  <a:txBody>
                    <a:bodyPr lIns="54864" rIns="54864" tIns="18288" bIns="18288" wrap="square" anchor="ctr"/>
                    <a:lstStyle/>
                    <a:p>
                      <a:pPr algn="l"/>
                      <a:r>
                        <a:rPr sz="900" b="0">
                          <a:solidFill>
                            <a:srgbClr val="000000"/>
                          </a:solidFill>
                          <a:latin typeface="Calibri"/>
                        </a:rPr>
                        <a:t>-54</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19.60</a:t>
                      </a:r>
                    </a:p>
                  </a:txBody>
                  <a:tcPr/>
                </a:tc>
                <a:tc>
                  <a:txBody>
                    <a:bodyPr lIns="54864" rIns="54864" tIns="18288" bIns="18288" wrap="square" anchor="ctr"/>
                    <a:lstStyle/>
                    <a:p>
                      <a:pPr algn="l"/>
                      <a:r>
                        <a:rPr sz="900" b="0">
                          <a:solidFill>
                            <a:srgbClr val="000000"/>
                          </a:solidFill>
                          <a:latin typeface="Calibri"/>
                        </a:rPr>
                        <a:t>0.3390</a:t>
                      </a:r>
                    </a:p>
                  </a:txBody>
                  <a:tcPr/>
                </a:tc>
                <a:tc>
                  <a:txBody>
                    <a:bodyPr lIns="54864" rIns="54864" tIns="18288" bIns="18288" wrap="square" anchor="ctr"/>
                    <a:lstStyle/>
                    <a:p>
                      <a:pPr algn="l"/>
                      <a:r>
                        <a:rPr sz="900" b="0">
                          <a:solidFill>
                            <a:srgbClr val="000000"/>
                          </a:solidFill>
                          <a:latin typeface="Calibri"/>
                        </a:rPr>
                        <a:t>0.3186</a:t>
                      </a:r>
                    </a:p>
                  </a:txBody>
                  <a:tcPr/>
                </a:tc>
                <a:tc>
                  <a:txBody>
                    <a:bodyPr lIns="54864" rIns="54864" tIns="18288" bIns="18288" wrap="square" anchor="ctr"/>
                    <a:lstStyle/>
                    <a:p>
                      <a:pPr algn="l"/>
                      <a:r>
                        <a:rPr sz="900" b="0">
                          <a:solidFill>
                            <a:srgbClr val="000000"/>
                          </a:solidFill>
                          <a:latin typeface="Calibri"/>
                        </a:rPr>
                        <a:t>+204</a:t>
                      </a:r>
                    </a:p>
                  </a:txBody>
                  <a:tcPr/>
                </a:tc>
                <a:tc>
                  <a:txBody>
                    <a:bodyPr lIns="54864" rIns="54864" tIns="18288" bIns="18288" wrap="square" anchor="ctr"/>
                    <a:lstStyle/>
                    <a:p>
                      <a:pPr algn="l"/>
                      <a:r>
                        <a:rPr sz="900" b="0">
                          <a:solidFill>
                            <a:srgbClr val="000000"/>
                          </a:solidFill>
                          <a:latin typeface="Calibri"/>
                        </a:rPr>
                        <a:t>+6.40</a:t>
                      </a:r>
                    </a:p>
                  </a:txBody>
                  <a:tcPr/>
                </a:tc>
              </a:tr>
              <a:tr h="182880">
                <a:tc>
                  <a:txBody>
                    <a:bodyPr lIns="54864" rIns="54864" tIns="18288" bIns="18288" wrap="square" anchor="ctr"/>
                    <a:lstStyle/>
                    <a:p>
                      <a:pPr algn="l"/>
                      <a:r>
                        <a:rPr sz="900" b="0">
                          <a:solidFill>
                            <a:srgbClr val="000000"/>
                          </a:solidFill>
                          <a:latin typeface="Calibri"/>
                        </a:rPr>
                        <a:t>19.65</a:t>
                      </a:r>
                    </a:p>
                  </a:txBody>
                  <a:tcPr/>
                </a:tc>
                <a:tc>
                  <a:txBody>
                    <a:bodyPr lIns="54864" rIns="54864" tIns="18288" bIns="18288" wrap="square" anchor="ctr"/>
                    <a:lstStyle/>
                    <a:p>
                      <a:pPr algn="l"/>
                      <a:r>
                        <a:rPr sz="900" b="0">
                          <a:solidFill>
                            <a:srgbClr val="000000"/>
                          </a:solidFill>
                          <a:latin typeface="Calibri"/>
                        </a:rPr>
                        <a:t>0.3429</a:t>
                      </a:r>
                    </a:p>
                  </a:txBody>
                  <a:tcPr/>
                </a:tc>
                <a:tc>
                  <a:txBody>
                    <a:bodyPr lIns="54864" rIns="54864" tIns="18288" bIns="18288" wrap="square" anchor="ctr"/>
                    <a:lstStyle/>
                    <a:p>
                      <a:pPr algn="l"/>
                      <a:r>
                        <a:rPr sz="900" b="0">
                          <a:solidFill>
                            <a:srgbClr val="000000"/>
                          </a:solidFill>
                          <a:latin typeface="Calibri"/>
                        </a:rPr>
                        <a:t>0.3371</a:t>
                      </a:r>
                    </a:p>
                  </a:txBody>
                  <a:tcPr/>
                </a:tc>
                <a:tc>
                  <a:txBody>
                    <a:bodyPr lIns="54864" rIns="54864" tIns="18288" bIns="18288" wrap="square" anchor="ctr"/>
                    <a:lstStyle/>
                    <a:p>
                      <a:pPr algn="l"/>
                      <a:r>
                        <a:rPr sz="900" b="0">
                          <a:solidFill>
                            <a:srgbClr val="000000"/>
                          </a:solidFill>
                          <a:latin typeface="Calibri"/>
                        </a:rPr>
                        <a:t>+58</a:t>
                      </a:r>
                    </a:p>
                  </a:txBody>
                  <a:tcPr/>
                </a:tc>
                <a:tc>
                  <a:txBody>
                    <a:bodyPr lIns="54864" rIns="54864" tIns="18288" bIns="18288" wrap="square" anchor="ctr"/>
                    <a:lstStyle/>
                    <a:p>
                      <a:pPr algn="l"/>
                      <a:r>
                        <a:rPr sz="900" b="0">
                          <a:solidFill>
                            <a:srgbClr val="000000"/>
                          </a:solidFill>
                          <a:latin typeface="Calibri"/>
                        </a:rPr>
                        <a:t>+1.72</a:t>
                      </a:r>
                    </a:p>
                  </a:txBody>
                  <a:tcPr/>
                </a:tc>
              </a:tr>
              <a:tr h="182880">
                <a:tc>
                  <a:txBody>
                    <a:bodyPr lIns="54864" rIns="54864" tIns="18288" bIns="18288" wrap="square" anchor="ctr"/>
                    <a:lstStyle/>
                    <a:p>
                      <a:pPr algn="l"/>
                      <a:r>
                        <a:rPr sz="900" b="0">
                          <a:solidFill>
                            <a:srgbClr val="000000"/>
                          </a:solidFill>
                          <a:latin typeface="Calibri"/>
                        </a:rPr>
                        <a:t>19.70</a:t>
                      </a:r>
                    </a:p>
                  </a:txBody>
                  <a:tcPr/>
                </a:tc>
                <a:tc>
                  <a:txBody>
                    <a:bodyPr lIns="54864" rIns="54864" tIns="18288" bIns="18288" wrap="square" anchor="ctr"/>
                    <a:lstStyle/>
                    <a:p>
                      <a:pPr algn="l"/>
                      <a:r>
                        <a:rPr sz="900" b="0">
                          <a:solidFill>
                            <a:srgbClr val="000000"/>
                          </a:solidFill>
                          <a:latin typeface="Calibri"/>
                        </a:rPr>
                        <a:t>0.3473</a:t>
                      </a:r>
                    </a:p>
                  </a:txBody>
                  <a:tcPr/>
                </a:tc>
                <a:tc>
                  <a:txBody>
                    <a:bodyPr lIns="54864" rIns="54864" tIns="18288" bIns="18288" wrap="square" anchor="ctr"/>
                    <a:lstStyle/>
                    <a:p>
                      <a:pPr algn="l"/>
                      <a:r>
                        <a:rPr sz="900" b="0">
                          <a:solidFill>
                            <a:srgbClr val="000000"/>
                          </a:solidFill>
                          <a:latin typeface="Calibri"/>
                        </a:rPr>
                        <a:t>0.3355</a:t>
                      </a:r>
                    </a:p>
                  </a:txBody>
                  <a:tcPr/>
                </a:tc>
                <a:tc>
                  <a:txBody>
                    <a:bodyPr lIns="54864" rIns="54864" tIns="18288" bIns="18288" wrap="square" anchor="ctr"/>
                    <a:lstStyle/>
                    <a:p>
                      <a:pPr algn="l"/>
                      <a:r>
                        <a:rPr sz="900" b="0">
                          <a:solidFill>
                            <a:srgbClr val="000000"/>
                          </a:solidFill>
                          <a:latin typeface="Calibri"/>
                        </a:rPr>
                        <a:t>+119</a:t>
                      </a:r>
                    </a:p>
                  </a:txBody>
                  <a:tcPr/>
                </a:tc>
                <a:tc>
                  <a:txBody>
                    <a:bodyPr lIns="54864" rIns="54864" tIns="18288" bIns="18288" wrap="square" anchor="ctr"/>
                    <a:lstStyle/>
                    <a:p>
                      <a:pPr algn="l"/>
                      <a:r>
                        <a:rPr sz="900" b="0">
                          <a:solidFill>
                            <a:srgbClr val="000000"/>
                          </a:solidFill>
                          <a:latin typeface="Calibri"/>
                        </a:rPr>
                        <a:t>+3.53</a:t>
                      </a:r>
                    </a:p>
                  </a:txBody>
                  <a:tcPr/>
                </a:tc>
              </a:tr>
              <a:tr h="182880">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0.3502</a:t>
                      </a:r>
                    </a:p>
                  </a:txBody>
                  <a:tcPr/>
                </a:tc>
                <a:tc>
                  <a:txBody>
                    <a:bodyPr lIns="54864" rIns="54864" tIns="18288" bIns="18288" wrap="square" anchor="ctr"/>
                    <a:lstStyle/>
                    <a:p>
                      <a:pPr algn="l"/>
                      <a:r>
                        <a:rPr sz="900" b="0">
                          <a:solidFill>
                            <a:srgbClr val="000000"/>
                          </a:solidFill>
                          <a:latin typeface="Calibri"/>
                        </a:rPr>
                        <a:t>0.3335</a:t>
                      </a:r>
                    </a:p>
                  </a:txBody>
                  <a:tcPr/>
                </a:tc>
                <a:tc>
                  <a:txBody>
                    <a:bodyPr lIns="54864" rIns="54864" tIns="18288" bIns="18288" wrap="square" anchor="ctr"/>
                    <a:lstStyle/>
                    <a:p>
                      <a:pPr algn="l"/>
                      <a:r>
                        <a:rPr sz="900" b="0">
                          <a:solidFill>
                            <a:srgbClr val="000000"/>
                          </a:solidFill>
                          <a:latin typeface="Calibri"/>
                        </a:rPr>
                        <a:t>+167</a:t>
                      </a:r>
                    </a:p>
                  </a:txBody>
                  <a:tcPr/>
                </a:tc>
                <a:tc>
                  <a:txBody>
                    <a:bodyPr lIns="54864" rIns="54864" tIns="18288" bIns="18288" wrap="square" anchor="ctr"/>
                    <a:lstStyle/>
                    <a:p>
                      <a:pPr algn="l"/>
                      <a:r>
                        <a:rPr sz="900" b="0">
                          <a:solidFill>
                            <a:srgbClr val="000000"/>
                          </a:solidFill>
                          <a:latin typeface="Calibri"/>
                        </a:rPr>
                        <a:t>+5.02</a:t>
                      </a:r>
                    </a:p>
                  </a:txBody>
                  <a:tcPr/>
                </a:tc>
              </a:tr>
              <a:tr h="182880">
                <a:tc>
                  <a:txBody>
                    <a:bodyPr lIns="54864" rIns="54864" tIns="18288" bIns="18288" wrap="square" anchor="ctr"/>
                    <a:lstStyle/>
                    <a:p>
                      <a:pPr algn="l"/>
                      <a:r>
                        <a:rPr sz="900" b="0">
                          <a:solidFill>
                            <a:srgbClr val="000000"/>
                          </a:solidFill>
                          <a:latin typeface="Calibri"/>
                        </a:rPr>
                        <a:t>19.80</a:t>
                      </a:r>
                    </a:p>
                  </a:txBody>
                  <a:tcPr/>
                </a:tc>
                <a:tc>
                  <a:txBody>
                    <a:bodyPr lIns="54864" rIns="54864" tIns="18288" bIns="18288" wrap="square" anchor="ctr"/>
                    <a:lstStyle/>
                    <a:p>
                      <a:pPr algn="l"/>
                      <a:r>
                        <a:rPr sz="900" b="0">
                          <a:solidFill>
                            <a:srgbClr val="000000"/>
                          </a:solidFill>
                          <a:latin typeface="Calibri"/>
                        </a:rPr>
                        <a:t>0.3542</a:t>
                      </a:r>
                    </a:p>
                  </a:txBody>
                  <a:tcPr/>
                </a:tc>
                <a:tc>
                  <a:txBody>
                    <a:bodyPr lIns="54864" rIns="54864" tIns="18288" bIns="18288" wrap="square" anchor="ctr"/>
                    <a:lstStyle/>
                    <a:p>
                      <a:pPr algn="l"/>
                      <a:r>
                        <a:rPr sz="900" b="0">
                          <a:solidFill>
                            <a:srgbClr val="000000"/>
                          </a:solidFill>
                          <a:latin typeface="Calibri"/>
                        </a:rPr>
                        <a:t>0.3383</a:t>
                      </a:r>
                    </a:p>
                  </a:txBody>
                  <a:tcPr/>
                </a:tc>
                <a:tc>
                  <a:txBody>
                    <a:bodyPr lIns="54864" rIns="54864" tIns="18288" bIns="18288" wrap="square" anchor="ctr"/>
                    <a:lstStyle/>
                    <a:p>
                      <a:pPr algn="l"/>
                      <a:r>
                        <a:rPr sz="900" b="0">
                          <a:solidFill>
                            <a:srgbClr val="000000"/>
                          </a:solidFill>
                          <a:latin typeface="Calibri"/>
                        </a:rPr>
                        <a:t>+159</a:t>
                      </a:r>
                    </a:p>
                  </a:txBody>
                  <a:tcPr/>
                </a:tc>
                <a:tc>
                  <a:txBody>
                    <a:bodyPr lIns="54864" rIns="54864" tIns="18288" bIns="18288" wrap="square" anchor="ctr"/>
                    <a:lstStyle/>
                    <a:p>
                      <a:pPr algn="l"/>
                      <a:r>
                        <a:rPr sz="900" b="0">
                          <a:solidFill>
                            <a:srgbClr val="000000"/>
                          </a:solidFill>
                          <a:latin typeface="Calibri"/>
                        </a:rPr>
                        <a:t>+4.69</a:t>
                      </a:r>
                    </a:p>
                  </a:txBody>
                  <a:tcPr/>
                </a:tc>
              </a:tr>
              <a:tr h="182880">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0.3570</a:t>
                      </a:r>
                    </a:p>
                  </a:txBody>
                  <a:tcPr/>
                </a:tc>
                <a:tc>
                  <a:txBody>
                    <a:bodyPr lIns="54864" rIns="54864" tIns="18288" bIns="18288" wrap="square" anchor="ctr"/>
                    <a:lstStyle/>
                    <a:p>
                      <a:pPr algn="l"/>
                      <a:r>
                        <a:rPr sz="900" b="0">
                          <a:solidFill>
                            <a:srgbClr val="000000"/>
                          </a:solidFill>
                          <a:latin typeface="Calibri"/>
                        </a:rPr>
                        <a:t>0.3441</a:t>
                      </a:r>
                    </a:p>
                  </a:txBody>
                  <a:tcPr/>
                </a:tc>
                <a:tc>
                  <a:txBody>
                    <a:bodyPr lIns="54864" rIns="54864" tIns="18288" bIns="18288" wrap="square" anchor="ctr"/>
                    <a:lstStyle/>
                    <a:p>
                      <a:pPr algn="l"/>
                      <a:r>
                        <a:rPr sz="900" b="0">
                          <a:solidFill>
                            <a:srgbClr val="000000"/>
                          </a:solidFill>
                          <a:latin typeface="Calibri"/>
                        </a:rPr>
                        <a:t>+129</a:t>
                      </a:r>
                    </a:p>
                  </a:txBody>
                  <a:tcPr/>
                </a:tc>
                <a:tc>
                  <a:txBody>
                    <a:bodyPr lIns="54864" rIns="54864" tIns="18288" bIns="18288" wrap="square" anchor="ctr"/>
                    <a:lstStyle/>
                    <a:p>
                      <a:pPr algn="l"/>
                      <a:r>
                        <a:rPr sz="900" b="0">
                          <a:solidFill>
                            <a:srgbClr val="000000"/>
                          </a:solidFill>
                          <a:latin typeface="Calibri"/>
                        </a:rPr>
                        <a:t>+3.74</a:t>
                      </a:r>
                    </a:p>
                  </a:txBody>
                  <a:tcPr/>
                </a:tc>
              </a:tr>
              <a:tr h="182880">
                <a:tc>
                  <a:txBody>
                    <a:bodyPr lIns="54864" rIns="54864" tIns="18288" bIns="18288" wrap="square" anchor="ctr"/>
                    <a:lstStyle/>
                    <a:p>
                      <a:pPr algn="l"/>
                      <a:r>
                        <a:rPr sz="900" b="0">
                          <a:solidFill>
                            <a:srgbClr val="000000"/>
                          </a:solidFill>
                          <a:latin typeface="Calibri"/>
                        </a:rPr>
                        <a:t>19.90</a:t>
                      </a:r>
                    </a:p>
                  </a:txBody>
                  <a:tcPr/>
                </a:tc>
                <a:tc>
                  <a:txBody>
                    <a:bodyPr lIns="54864" rIns="54864" tIns="18288" bIns="18288" wrap="square" anchor="ctr"/>
                    <a:lstStyle/>
                    <a:p>
                      <a:pPr algn="l"/>
                      <a:r>
                        <a:rPr sz="900" b="0">
                          <a:solidFill>
                            <a:srgbClr val="000000"/>
                          </a:solidFill>
                          <a:latin typeface="Calibri"/>
                        </a:rPr>
                        <a:t>0.3621</a:t>
                      </a:r>
                    </a:p>
                  </a:txBody>
                  <a:tcPr/>
                </a:tc>
                <a:tc>
                  <a:txBody>
                    <a:bodyPr lIns="54864" rIns="54864" tIns="18288" bIns="18288" wrap="square" anchor="ctr"/>
                    <a:lstStyle/>
                    <a:p>
                      <a:pPr algn="l"/>
                      <a:r>
                        <a:rPr sz="900" b="0">
                          <a:solidFill>
                            <a:srgbClr val="000000"/>
                          </a:solidFill>
                          <a:latin typeface="Calibri"/>
                        </a:rPr>
                        <a:t>0.3499</a:t>
                      </a:r>
                    </a:p>
                  </a:txBody>
                  <a:tcPr/>
                </a:tc>
                <a:tc>
                  <a:txBody>
                    <a:bodyPr lIns="54864" rIns="54864" tIns="18288" bIns="18288" wrap="square" anchor="ctr"/>
                    <a:lstStyle/>
                    <a:p>
                      <a:pPr algn="l"/>
                      <a:r>
                        <a:rPr sz="900" b="0">
                          <a:solidFill>
                            <a:srgbClr val="000000"/>
                          </a:solidFill>
                          <a:latin typeface="Calibri"/>
                        </a:rPr>
                        <a:t>+122</a:t>
                      </a:r>
                    </a:p>
                  </a:txBody>
                  <a:tcPr/>
                </a:tc>
                <a:tc>
                  <a:txBody>
                    <a:bodyPr lIns="54864" rIns="54864" tIns="18288" bIns="18288" wrap="square" anchor="ctr"/>
                    <a:lstStyle/>
                    <a:p>
                      <a:pPr algn="l"/>
                      <a:r>
                        <a:rPr sz="900" b="0">
                          <a:solidFill>
                            <a:srgbClr val="000000"/>
                          </a:solidFill>
                          <a:latin typeface="Calibri"/>
                        </a:rPr>
                        <a:t>+3.48</a:t>
                      </a:r>
                    </a:p>
                  </a:txBody>
                  <a:tcPr/>
                </a:tc>
              </a:tr>
            </a:tbl>
          </a:graphicData>
        </a:graphic>
      </p:graphicFrame>
      <p:sp>
        <p:nvSpPr>
          <p:cNvPr id="8" name="Rounded Rectangle 7"/>
          <p:cNvSpPr/>
          <p:nvPr/>
        </p:nvSpPr>
        <p:spPr>
          <a:xfrm>
            <a:off x="502920"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 µε</a:t>
            </a:r>
          </a:p>
          <a:p>
            <a:pPr algn="ctr"/>
            <a:r>
              <a:rPr sz="950">
                <a:solidFill>
                  <a:srgbClr val="000000"/>
                </a:solidFill>
                <a:latin typeface="Calibri"/>
              </a:rPr>
              <a:t>MEDIAN OFFSET</a:t>
            </a:r>
          </a:p>
        </p:txBody>
      </p:sp>
      <p:sp>
        <p:nvSpPr>
          <p:cNvPr id="9" name="Rounded Rectangle 8"/>
          <p:cNvSpPr/>
          <p:nvPr/>
        </p:nvSpPr>
        <p:spPr>
          <a:xfrm>
            <a:off x="3364992"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of 83</a:t>
            </a:r>
          </a:p>
          <a:p>
            <a:pPr algn="ctr"/>
            <a:r>
              <a:rPr sz="950">
                <a:solidFill>
                  <a:srgbClr val="000000"/>
                </a:solidFill>
                <a:latin typeface="Calibri"/>
              </a:rPr>
              <a:t>WITHIN ± 50 µε</a:t>
            </a:r>
          </a:p>
        </p:txBody>
      </p:sp>
      <p:sp>
        <p:nvSpPr>
          <p:cNvPr id="10" name="Rounded Rectangle 9"/>
          <p:cNvSpPr/>
          <p:nvPr/>
        </p:nvSpPr>
        <p:spPr>
          <a:xfrm>
            <a:off x="6227064" y="5614416"/>
            <a:ext cx="270662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-54 to +263 µε</a:t>
            </a:r>
          </a:p>
          <a:p>
            <a:pPr algn="ctr"/>
            <a:r>
              <a:rPr sz="950">
                <a:solidFill>
                  <a:srgbClr val="000000"/>
                </a:solidFill>
                <a:latin typeface="Calibri"/>
              </a:rPr>
              <a:t>RANGE</a:t>
            </a:r>
          </a:p>
        </p:txBody>
      </p:sp>
      <p:sp>
        <p:nvSpPr>
          <p:cNvPr id="11" name="Rounded Rectangle 10"/>
          <p:cNvSpPr/>
          <p:nvPr/>
        </p:nvSpPr>
        <p:spPr>
          <a:xfrm>
            <a:off x="9089136" y="5614416"/>
            <a:ext cx="275234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+0.17 %</a:t>
            </a:r>
          </a:p>
          <a:p>
            <a:pPr algn="ctr"/>
            <a:r>
              <a:rPr sz="950">
                <a:solidFill>
                  <a:srgbClr val="000000"/>
                </a:solidFill>
                <a:latin typeface="Calibri"/>
              </a:rPr>
              <a:t>MEDIAN, AS A %</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