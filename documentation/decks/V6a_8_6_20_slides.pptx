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4.5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(blue).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SF14  Test registry
every run + force anchor</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Dead-DIC guard + backstops
0.2 s freeze / 1.0 s halt</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Live Px₀ overlay
frozen vs live pair, on the feed</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SF17  Video + image capture
PNG + 3 AVI styles, 0 dropped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DIC post-processing
measure any recorded video</a:t>
            </a:r>
          </a:p>
        </p:txBody>
      </p:sp>
      <p:sp>
        <p:nvSpPr>
          <p:cNvPr id="24" name="Rounded Rectangle 23"/>
          <p:cNvSpPr/>
          <p:nvPr/>
        </p:nvSpPr>
        <p:spPr>
          <a:xfrm>
            <a:off x="6254496"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Noise capture
the instrument at rest</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 two entries were dropped, a developer-only sim harness and optics-blocked Poisson (now FW1). Four safety layers on every driven test: load-collapse · stall guard · 4.5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4.5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4.5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force and travel backstops were never the problem, and were not touched to fix it.</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682496"/>
          <a:ext cx="11475720" cy="3346704"/>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23113">
                <a:tc>
                  <a:txBody>
                    <a:bodyPr lIns="54864" rIns="54864" tIns="18288" bIns="18288" wrap="square" anchor="ctr"/>
                    <a:lstStyle/>
                    <a:p>
                      <a:pPr algn="l"/>
                      <a:r>
                        <a:rPr sz="900" b="1">
                          <a:solidFill>
                            <a:srgbClr val="FFFFFF"/>
                          </a:solidFill>
                          <a:latin typeface="Calibri"/>
                        </a:rPr>
                        <a:t>Specimen</a:t>
                      </a:r>
                    </a:p>
                  </a:txBody>
                  <a:tcPr>
                    <a:solidFill>
                      <a:srgbClr val="143D2F"/>
                    </a:solidFill>
                  </a:tcPr>
                </a:tc>
                <a:tc>
                  <a:txBody>
                    <a:bodyPr lIns="54864" rIns="54864" tIns="18288" bIns="18288" wrap="square" anchor="ctr"/>
                    <a:lstStyle/>
                    <a:p>
                      <a:pPr algn="l"/>
                      <a:r>
                        <a:rPr sz="900" b="1">
                          <a:solidFill>
                            <a:srgbClr val="FFFFFF"/>
                          </a:solidFill>
                          <a:latin typeface="Calibri"/>
                        </a:rPr>
                        <a:t>Date</a:t>
                      </a:r>
                    </a:p>
                  </a:txBody>
                  <a:tcPr>
                    <a:solidFill>
                      <a:srgbClr val="143D2F"/>
                    </a:solidFill>
                  </a:tcPr>
                </a:tc>
                <a:tc>
                  <a:txBody>
                    <a:bodyPr lIns="54864" rIns="54864" tIns="18288" bIns="18288" wrap="square" anchor="ctr"/>
                    <a:lstStyle/>
                    <a:p>
                      <a:pPr algn="l"/>
                      <a:r>
                        <a:rPr sz="900" b="1">
                          <a:solidFill>
                            <a:srgbClr val="FFFFFF"/>
                          </a:solidFill>
                          <a:latin typeface="Calibri"/>
                        </a:rPr>
                        <a:t>Material</a:t>
                      </a:r>
                    </a:p>
                  </a:txBody>
                  <a:tcPr>
                    <a:solidFill>
                      <a:srgbClr val="143D2F"/>
                    </a:solidFill>
                  </a:tcPr>
                </a:tc>
                <a:tc>
                  <a:txBody>
                    <a:bodyPr lIns="54864" rIns="54864" tIns="18288" bIns="18288" wrap="square" anchor="ctr"/>
                    <a:lstStyle/>
                    <a:p>
                      <a:pPr algn="l"/>
                      <a:r>
                        <a:rPr sz="9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900" b="1">
                          <a:solidFill>
                            <a:srgbClr val="FFFFFF"/>
                          </a:solidFill>
                          <a:latin typeface="Calibri"/>
                        </a:rPr>
                        <a:t>Peak</a:t>
                      </a:r>
                    </a:p>
                  </a:txBody>
                  <a:tcPr>
                    <a:solidFill>
                      <a:srgbClr val="143D2F"/>
                    </a:solidFill>
                  </a:tcPr>
                </a:tc>
                <a:tc>
                  <a:txBody>
                    <a:bodyPr lIns="54864" rIns="54864" tIns="18288" bIns="18288" wrap="square" anchor="ctr"/>
                    <a:lstStyle/>
                    <a:p>
                      <a:pPr algn="l"/>
                      <a:r>
                        <a:rPr sz="900" b="1">
                          <a:solidFill>
                            <a:srgbClr val="FFFFFF"/>
                          </a:solidFill>
                          <a:latin typeface="Calibri"/>
                        </a:rPr>
                        <a:t>UTS</a:t>
                      </a:r>
                    </a:p>
                  </a:txBody>
                  <a:tcPr>
                    <a:solidFill>
                      <a:srgbClr val="143D2F"/>
                    </a:solidFill>
                  </a:tcPr>
                </a:tc>
                <a:tc>
                  <a:txBody>
                    <a:bodyPr lIns="54864" rIns="54864" tIns="18288" bIns="18288" wrap="square" anchor="ctr"/>
                    <a:lstStyle/>
                    <a:p>
                      <a:pPr algn="l"/>
                      <a:r>
                        <a:rPr sz="900" b="1">
                          <a:solidFill>
                            <a:srgbClr val="FFFFFF"/>
                          </a:solidFill>
                          <a:latin typeface="Calibri"/>
                        </a:rPr>
                        <a:t>E</a:t>
                      </a:r>
                    </a:p>
                  </a:txBody>
                  <a:tcPr>
                    <a:solidFill>
                      <a:srgbClr val="143D2F"/>
                    </a:solidFill>
                  </a:tcPr>
                </a:tc>
                <a:tc>
                  <a:txBody>
                    <a:bodyPr lIns="54864" rIns="54864" tIns="18288" bIns="18288" wrap="square" anchor="ctr"/>
                    <a:lstStyle/>
                    <a:p>
                      <a:pPr algn="l"/>
                      <a:r>
                        <a:rPr sz="900" b="1">
                          <a:solidFill>
                            <a:srgbClr val="FFFFFF"/>
                          </a:solidFill>
                          <a:latin typeface="Calibri"/>
                        </a:rPr>
                        <a:t>Outcome</a:t>
                      </a:r>
                    </a:p>
                  </a:txBody>
                  <a:tcPr>
                    <a:solidFill>
                      <a:srgbClr val="143D2F"/>
                    </a:solidFill>
                  </a:tcPr>
                </a:tc>
              </a:tr>
              <a:tr h="223113">
                <a:tc>
                  <a:txBody>
                    <a:bodyPr lIns="54864" rIns="54864" tIns="18288" bIns="18288" wrap="square" anchor="ctr"/>
                    <a:lstStyle/>
                    <a:p>
                      <a:pPr algn="l"/>
                      <a:r>
                        <a:rPr sz="850" b="0">
                          <a:solidFill>
                            <a:srgbClr val="000000"/>
                          </a:solidFill>
                          <a:latin typeface="Calibri"/>
                        </a:rPr>
                        <a:t>S24</a:t>
                      </a:r>
                    </a:p>
                  </a:txBody>
                  <a:tcPr/>
                </a:tc>
                <a:tc>
                  <a:txBody>
                    <a:bodyPr lIns="54864" rIns="54864" tIns="18288" bIns="18288" wrap="square" anchor="ctr"/>
                    <a:lstStyle/>
                    <a:p>
                      <a:pPr algn="l"/>
                      <a:r>
                        <a:rPr sz="850" b="0">
                          <a:solidFill>
                            <a:srgbClr val="000000"/>
                          </a:solidFill>
                          <a:latin typeface="Calibri"/>
                        </a:rPr>
                        <a:t>2026-08-14</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VC1</a:t>
                      </a:r>
                    </a:p>
                  </a:txBody>
                  <a:tcPr/>
                </a:tc>
                <a:tc>
                  <a:txBody>
                    <a:bodyPr lIns="54864" rIns="54864" tIns="18288" bIns="18288" wrap="square" anchor="ctr"/>
                    <a:lstStyle/>
                    <a:p>
                      <a:pPr algn="l"/>
                      <a:r>
                        <a:rPr sz="850" b="0">
                          <a:solidFill>
                            <a:srgbClr val="000000"/>
                          </a:solidFill>
                          <a:latin typeface="Calibri"/>
                        </a:rPr>
                        <a:t>3718 N</a:t>
                      </a:r>
                    </a:p>
                  </a:txBody>
                  <a:tcPr/>
                </a:tc>
                <a:tc>
                  <a:txBody>
                    <a:bodyPr lIns="54864" rIns="54864" tIns="18288" bIns="18288" wrap="square" anchor="ctr"/>
                    <a:lstStyle/>
                    <a:p>
                      <a:pPr algn="l"/>
                      <a:r>
                        <a:rPr sz="850" b="0">
                          <a:solidFill>
                            <a:srgbClr val="000000"/>
                          </a:solidFill>
                          <a:latin typeface="Calibri"/>
                        </a:rPr>
                        <a:t>46.5 MPa</a:t>
                      </a:r>
                    </a:p>
                  </a:txBody>
                  <a:tcPr/>
                </a:tc>
                <a:tc>
                  <a:txBody>
                    <a:bodyPr lIns="54864" rIns="54864" tIns="18288" bIns="18288" wrap="square" anchor="ctr"/>
                    <a:lstStyle/>
                    <a:p>
                      <a:pPr algn="l"/>
                      <a:r>
                        <a:rPr sz="850" b="0">
                          <a:solidFill>
                            <a:srgbClr val="000000"/>
                          </a:solidFill>
                          <a:latin typeface="Calibri"/>
                        </a:rPr>
                        <a:t>3.00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S12</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attempt VC6 — capture not filed</a:t>
                      </a:r>
                    </a:p>
                  </a:txBody>
                  <a:tcPr/>
                </a:tc>
                <a:tc>
                  <a:txBody>
                    <a:bodyPr lIns="54864" rIns="54864" tIns="18288" bIns="18288" wrap="square" anchor="ctr"/>
                    <a:lstStyle/>
                    <a:p>
                      <a:pPr algn="l"/>
                      <a:r>
                        <a:rPr sz="850" b="0">
                          <a:solidFill>
                            <a:srgbClr val="000000"/>
                          </a:solidFill>
                          <a:latin typeface="Calibri"/>
                        </a:rPr>
                        <a:t>3822 N</a:t>
                      </a:r>
                    </a:p>
                  </a:txBody>
                  <a:tcPr/>
                </a:tc>
                <a:tc>
                  <a:txBody>
                    <a:bodyPr lIns="54864" rIns="54864" tIns="18288" bIns="18288" wrap="square" anchor="ctr"/>
                    <a:lstStyle/>
                    <a:p>
                      <a:pPr algn="l"/>
                      <a:r>
                        <a:rPr sz="850" b="0">
                          <a:solidFill>
                            <a:srgbClr val="000000"/>
                          </a:solidFill>
                          <a:latin typeface="Calibri"/>
                        </a:rPr>
                        <a:t>47.8 MPa</a:t>
                      </a:r>
                    </a:p>
                  </a:txBody>
                  <a:tcPr/>
                </a:tc>
                <a:tc>
                  <a:txBody>
                    <a:bodyPr lIns="54864" rIns="54864" tIns="18288" bIns="18288" wrap="square" anchor="ctr"/>
                    <a:lstStyle/>
                    <a:p>
                      <a:pPr algn="l"/>
                      <a:r>
                        <a:rPr sz="850" b="0">
                          <a:solidFill>
                            <a:srgbClr val="000000"/>
                          </a:solidFill>
                          <a:latin typeface="Calibri"/>
                        </a:rPr>
                        <a:t>3.29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S25</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VC2 — extensometer basis</a:t>
                      </a:r>
                    </a:p>
                  </a:txBody>
                  <a:tcPr/>
                </a:tc>
                <a:tc>
                  <a:txBody>
                    <a:bodyPr lIns="54864" rIns="54864" tIns="18288" bIns="18288" wrap="square" anchor="ctr"/>
                    <a:lstStyle/>
                    <a:p>
                      <a:pPr algn="l"/>
                      <a:r>
                        <a:rPr sz="850" b="0">
                          <a:solidFill>
                            <a:srgbClr val="000000"/>
                          </a:solidFill>
                          <a:latin typeface="Calibri"/>
                        </a:rPr>
                        <a:t>3693 N</a:t>
                      </a:r>
                    </a:p>
                  </a:txBody>
                  <a:tcPr/>
                </a:tc>
                <a:tc>
                  <a:txBody>
                    <a:bodyPr lIns="54864" rIns="54864" tIns="18288" bIns="18288" wrap="square" anchor="ctr"/>
                    <a:lstStyle/>
                    <a:p>
                      <a:pPr algn="l"/>
                      <a:r>
                        <a:rPr sz="850" b="0">
                          <a:solidFill>
                            <a:srgbClr val="000000"/>
                          </a:solidFill>
                          <a:latin typeface="Calibri"/>
                        </a:rPr>
                        <a:t>46.2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S26</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VC3 — extensometer basis</a:t>
                      </a:r>
                    </a:p>
                  </a:txBody>
                  <a:tcPr/>
                </a:tc>
                <a:tc>
                  <a:txBody>
                    <a:bodyPr lIns="54864" rIns="54864" tIns="18288" bIns="18288" wrap="square" anchor="ctr"/>
                    <a:lstStyle/>
                    <a:p>
                      <a:pPr algn="l"/>
                      <a:r>
                        <a:rPr sz="850" b="0">
                          <a:solidFill>
                            <a:srgbClr val="000000"/>
                          </a:solidFill>
                          <a:latin typeface="Calibri"/>
                        </a:rPr>
                        <a:t>3774 N</a:t>
                      </a:r>
                    </a:p>
                  </a:txBody>
                  <a:tcPr/>
                </a:tc>
                <a:tc>
                  <a:txBody>
                    <a:bodyPr lIns="54864" rIns="54864" tIns="18288" bIns="18288" wrap="square" anchor="ctr"/>
                    <a:lstStyle/>
                    <a:p>
                      <a:pPr algn="l"/>
                      <a:r>
                        <a:rPr sz="850" b="0">
                          <a:solidFill>
                            <a:srgbClr val="000000"/>
                          </a:solidFill>
                          <a:latin typeface="Calibri"/>
                        </a:rPr>
                        <a:t>47.2 MPa</a:t>
                      </a:r>
                    </a:p>
                  </a:txBody>
                  <a:tcPr/>
                </a:tc>
                <a:tc>
                  <a:txBody>
                    <a:bodyPr lIns="54864" rIns="54864" tIns="18288" bIns="18288" wrap="square" anchor="ctr"/>
                    <a:lstStyle/>
                    <a:p>
                      <a:pPr algn="l"/>
                      <a:r>
                        <a:rPr sz="850" b="0">
                          <a:solidFill>
                            <a:srgbClr val="000000"/>
                          </a:solidFill>
                          <a:latin typeface="Calibri"/>
                        </a:rPr>
                        <a:t>3.55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S27</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VC4</a:t>
                      </a:r>
                    </a:p>
                  </a:txBody>
                  <a:tcPr/>
                </a:tc>
                <a:tc>
                  <a:txBody>
                    <a:bodyPr lIns="54864" rIns="54864" tIns="18288" bIns="18288" wrap="square" anchor="ctr"/>
                    <a:lstStyle/>
                    <a:p>
                      <a:pPr algn="l"/>
                      <a:r>
                        <a:rPr sz="850" b="0">
                          <a:solidFill>
                            <a:srgbClr val="000000"/>
                          </a:solidFill>
                          <a:latin typeface="Calibri"/>
                        </a:rPr>
                        <a:t>1588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1.40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S28</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VC5</a:t>
                      </a:r>
                    </a:p>
                  </a:txBody>
                  <a:tcPr/>
                </a:tc>
                <a:tc>
                  <a:txBody>
                    <a:bodyPr lIns="54864" rIns="54864" tIns="18288" bIns="18288" wrap="square" anchor="ctr"/>
                    <a:lstStyle/>
                    <a:p>
                      <a:pPr algn="l"/>
                      <a:r>
                        <a:rPr sz="850" b="0">
                          <a:solidFill>
                            <a:srgbClr val="000000"/>
                          </a:solidFill>
                          <a:latin typeface="Calibri"/>
                        </a:rPr>
                        <a:t>1594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1.28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S13</a:t>
                      </a:r>
                    </a:p>
                  </a:txBody>
                  <a:tcPr/>
                </a:tc>
                <a:tc>
                  <a:txBody>
                    <a:bodyPr lIns="54864" rIns="54864" tIns="18288" bIns="18288" wrap="square" anchor="ctr"/>
                    <a:lstStyle/>
                    <a:p>
                      <a:pPr algn="l"/>
                      <a:r>
                        <a:rPr sz="850" b="0">
                          <a:solidFill>
                            <a:srgbClr val="000000"/>
                          </a:solidFill>
                          <a:latin typeface="Calibri"/>
                        </a:rPr>
                        <a:t>2026-08-18</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preset VALIDATED VC7</a:t>
                      </a:r>
                    </a:p>
                  </a:txBody>
                  <a:tcPr/>
                </a:tc>
                <a:tc>
                  <a:txBody>
                    <a:bodyPr lIns="54864" rIns="54864" tIns="18288" bIns="18288" wrap="square" anchor="ctr"/>
                    <a:lstStyle/>
                    <a:p>
                      <a:pPr algn="l"/>
                      <a:r>
                        <a:rPr sz="850" b="0">
                          <a:solidFill>
                            <a:srgbClr val="000000"/>
                          </a:solidFill>
                          <a:latin typeface="Calibri"/>
                        </a:rPr>
                        <a:t>3706 N</a:t>
                      </a:r>
                    </a:p>
                  </a:txBody>
                  <a:tcPr/>
                </a:tc>
                <a:tc>
                  <a:txBody>
                    <a:bodyPr lIns="54864" rIns="54864" tIns="18288" bIns="18288" wrap="square" anchor="ctr"/>
                    <a:lstStyle/>
                    <a:p>
                      <a:pPr algn="l"/>
                      <a:r>
                        <a:rPr sz="850" b="0">
                          <a:solidFill>
                            <a:srgbClr val="000000"/>
                          </a:solidFill>
                          <a:latin typeface="Calibri"/>
                        </a:rPr>
                        <a:t>46.3 MPa</a:t>
                      </a:r>
                    </a:p>
                  </a:txBody>
                  <a:tcPr/>
                </a:tc>
                <a:tc>
                  <a:txBody>
                    <a:bodyPr lIns="54864" rIns="54864" tIns="18288" bIns="18288" wrap="square" anchor="ctr"/>
                    <a:lstStyle/>
                    <a:p>
                      <a:pPr algn="l"/>
                      <a:r>
                        <a:rPr sz="850" b="0">
                          <a:solidFill>
                            <a:srgbClr val="000000"/>
                          </a:solidFill>
                          <a:latin typeface="Calibri"/>
                        </a:rPr>
                        <a:t>3.03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S30</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1 of 3 VC9 — the representative run</a:t>
                      </a:r>
                    </a:p>
                  </a:txBody>
                  <a:tcPr/>
                </a:tc>
                <a:tc>
                  <a:txBody>
                    <a:bodyPr lIns="54864" rIns="54864" tIns="18288" bIns="18288" wrap="square" anchor="ctr"/>
                    <a:lstStyle/>
                    <a:p>
                      <a:pPr algn="l"/>
                      <a:r>
                        <a:rPr sz="850" b="0">
                          <a:solidFill>
                            <a:srgbClr val="000000"/>
                          </a:solidFill>
                          <a:latin typeface="Calibri"/>
                        </a:rPr>
                        <a:t>3340 N</a:t>
                      </a:r>
                    </a:p>
                  </a:txBody>
                  <a:tcPr/>
                </a:tc>
                <a:tc>
                  <a:txBody>
                    <a:bodyPr lIns="54864" rIns="54864" tIns="18288" bIns="18288" wrap="square" anchor="ctr"/>
                    <a:lstStyle/>
                    <a:p>
                      <a:pPr algn="l"/>
                      <a:r>
                        <a:rPr sz="850" b="0">
                          <a:solidFill>
                            <a:srgbClr val="000000"/>
                          </a:solidFill>
                          <a:latin typeface="Calibri"/>
                        </a:rPr>
                        <a:t>41.8 MPa</a:t>
                      </a:r>
                    </a:p>
                  </a:txBody>
                  <a:tcPr/>
                </a:tc>
                <a:tc>
                  <a:txBody>
                    <a:bodyPr lIns="54864" rIns="54864" tIns="18288" bIns="18288" wrap="square" anchor="ctr"/>
                    <a:lstStyle/>
                    <a:p>
                      <a:pPr algn="l"/>
                      <a:r>
                        <a:rPr sz="850" b="0">
                          <a:solidFill>
                            <a:srgbClr val="000000"/>
                          </a:solidFill>
                          <a:latin typeface="Calibri"/>
                        </a:rPr>
                        <a:t>1.81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S31</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2 of 3 VC10 — strength only, 57 % tracked</a:t>
                      </a:r>
                    </a:p>
                  </a:txBody>
                  <a:tcPr/>
                </a:tc>
                <a:tc>
                  <a:txBody>
                    <a:bodyPr lIns="54864" rIns="54864" tIns="18288" bIns="18288" wrap="square" anchor="ctr"/>
                    <a:lstStyle/>
                    <a:p>
                      <a:pPr algn="l"/>
                      <a:r>
                        <a:rPr sz="850" b="0">
                          <a:solidFill>
                            <a:srgbClr val="000000"/>
                          </a:solidFill>
                          <a:latin typeface="Calibri"/>
                        </a:rPr>
                        <a:t>3244 N</a:t>
                      </a:r>
                    </a:p>
                  </a:txBody>
                  <a:tcPr/>
                </a:tc>
                <a:tc>
                  <a:txBody>
                    <a:bodyPr lIns="54864" rIns="54864" tIns="18288" bIns="18288" wrap="square" anchor="ctr"/>
                    <a:lstStyle/>
                    <a:p>
                      <a:pPr algn="l"/>
                      <a:r>
                        <a:rPr sz="850" b="0">
                          <a:solidFill>
                            <a:srgbClr val="000000"/>
                          </a:solidFill>
                          <a:latin typeface="Calibri"/>
                        </a:rPr>
                        <a:t>40.5 MPa</a:t>
                      </a:r>
                    </a:p>
                  </a:txBody>
                  <a:tcPr/>
                </a:tc>
                <a:tc>
                  <a:txBody>
                    <a:bodyPr lIns="54864" rIns="54864" tIns="18288" bIns="18288" wrap="square" anchor="ctr"/>
                    <a:lstStyle/>
                    <a:p>
                      <a:pPr algn="l"/>
                      <a:r>
                        <a:rPr sz="850" b="0">
                          <a:solidFill>
                            <a:srgbClr val="000000"/>
                          </a:solidFill>
                          <a:latin typeface="Calibri"/>
                        </a:rPr>
                        <a:t>2.12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S33</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VC12 — against S25</a:t>
                      </a:r>
                    </a:p>
                  </a:txBody>
                  <a:tcPr/>
                </a:tc>
                <a:tc>
                  <a:txBody>
                    <a:bodyPr lIns="54864" rIns="54864" tIns="18288" bIns="18288" wrap="square" anchor="ctr"/>
                    <a:lstStyle/>
                    <a:p>
                      <a:pPr algn="l"/>
                      <a:r>
                        <a:rPr sz="850" b="0">
                          <a:solidFill>
                            <a:srgbClr val="000000"/>
                          </a:solidFill>
                          <a:latin typeface="Calibri"/>
                        </a:rPr>
                        <a:t>3767 N</a:t>
                      </a:r>
                    </a:p>
                  </a:txBody>
                  <a:tcPr/>
                </a:tc>
                <a:tc>
                  <a:txBody>
                    <a:bodyPr lIns="54864" rIns="54864" tIns="18288" bIns="18288" wrap="square" anchor="ctr"/>
                    <a:lstStyle/>
                    <a:p>
                      <a:pPr algn="l"/>
                      <a:r>
                        <a:rPr sz="850" b="0">
                          <a:solidFill>
                            <a:srgbClr val="000000"/>
                          </a:solidFill>
                          <a:latin typeface="Calibri"/>
                        </a:rPr>
                        <a:t>47.1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S34</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VC13 — against S26</a:t>
                      </a:r>
                    </a:p>
                  </a:txBody>
                  <a:tcPr/>
                </a:tc>
                <a:tc>
                  <a:txBody>
                    <a:bodyPr lIns="54864" rIns="54864" tIns="18288" bIns="18288" wrap="square" anchor="ctr"/>
                    <a:lstStyle/>
                    <a:p>
                      <a:pPr algn="l"/>
                      <a:r>
                        <a:rPr sz="850" b="0">
                          <a:solidFill>
                            <a:srgbClr val="000000"/>
                          </a:solidFill>
                          <a:latin typeface="Calibri"/>
                        </a:rPr>
                        <a:t>3867 N</a:t>
                      </a:r>
                    </a:p>
                  </a:txBody>
                  <a:tcPr/>
                </a:tc>
                <a:tc>
                  <a:txBody>
                    <a:bodyPr lIns="54864" rIns="54864" tIns="18288" bIns="18288" wrap="square" anchor="ctr"/>
                    <a:lstStyle/>
                    <a:p>
                      <a:pPr algn="l"/>
                      <a:r>
                        <a:rPr sz="850" b="0">
                          <a:solidFill>
                            <a:srgbClr val="000000"/>
                          </a:solidFill>
                          <a:latin typeface="Calibri"/>
                        </a:rPr>
                        <a:t>48.3 MPa</a:t>
                      </a:r>
                    </a:p>
                  </a:txBody>
                  <a:tcPr/>
                </a:tc>
                <a:tc>
                  <a:txBody>
                    <a:bodyPr lIns="54864" rIns="54864" tIns="18288" bIns="18288" wrap="square" anchor="ctr"/>
                    <a:lstStyle/>
                    <a:p>
                      <a:pPr algn="l"/>
                      <a:r>
                        <a:rPr sz="850" b="0">
                          <a:solidFill>
                            <a:srgbClr val="000000"/>
                          </a:solidFill>
                          <a:latin typeface="Calibri"/>
                        </a:rPr>
                        <a:t>3.45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S35</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VC14 — marker lost at ~15 mm travel</a:t>
                      </a:r>
                    </a:p>
                  </a:txBody>
                  <a:tcPr/>
                </a:tc>
                <a:tc>
                  <a:txBody>
                    <a:bodyPr lIns="54864" rIns="54864" tIns="18288" bIns="18288" wrap="square" anchor="ctr"/>
                    <a:lstStyle/>
                    <a:p>
                      <a:pPr algn="l"/>
                      <a:r>
                        <a:rPr sz="850" b="0">
                          <a:solidFill>
                            <a:srgbClr val="000000"/>
                          </a:solidFill>
                          <a:latin typeface="Calibri"/>
                        </a:rPr>
                        <a:t>180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S36</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 marker lost at ~15 mm travel</a:t>
                      </a:r>
                    </a:p>
                  </a:txBody>
                  <a:tcPr/>
                </a:tc>
                <a:tc>
                  <a:txBody>
                    <a:bodyPr lIns="54864" rIns="54864" tIns="18288" bIns="18288" wrap="square" anchor="ctr"/>
                    <a:lstStyle/>
                    <a:p>
                      <a:pPr algn="l"/>
                      <a:r>
                        <a:rPr sz="850" b="0">
                          <a:solidFill>
                            <a:srgbClr val="000000"/>
                          </a:solidFill>
                          <a:latin typeface="Calibri"/>
                        </a:rPr>
                        <a:t>177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22">
                <a:tc>
                  <a:txBody>
                    <a:bodyPr lIns="54864" rIns="54864" tIns="18288" bIns="18288" wrap="square" anchor="ctr"/>
                    <a:lstStyle/>
                    <a:p>
                      <a:pPr algn="l"/>
                      <a:r>
                        <a:rPr sz="850" b="0">
                          <a:solidFill>
                            <a:srgbClr val="000000"/>
                          </a:solidFill>
                          <a:latin typeface="Calibri"/>
                        </a:rPr>
                        <a:t>S37</a:t>
                      </a:r>
                    </a:p>
                  </a:txBody>
                  <a:tcPr/>
                </a:tc>
                <a:tc>
                  <a:txBody>
                    <a:bodyPr lIns="54864" rIns="54864" tIns="18288" bIns="18288" wrap="square" anchor="ctr"/>
                    <a:lstStyle/>
                    <a:p>
                      <a:pPr algn="l"/>
                      <a:r>
                        <a:rPr sz="850" b="0">
                          <a:solidFill>
                            <a:srgbClr val="000000"/>
                          </a:solidFill>
                          <a:latin typeface="Calibri"/>
                        </a:rPr>
                        <a:t>2026-08-26</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at 45 mm markers VC15 — the fix</a:t>
                      </a:r>
                    </a:p>
                  </a:txBody>
                  <a:tcPr/>
                </a:tc>
                <a:tc>
                  <a:txBody>
                    <a:bodyPr lIns="54864" rIns="54864" tIns="18288" bIns="18288" wrap="square" anchor="ctr"/>
                    <a:lstStyle/>
                    <a:p>
                      <a:pPr algn="l"/>
                      <a:r>
                        <a:rPr sz="850" b="0">
                          <a:solidFill>
                            <a:srgbClr val="000000"/>
                          </a:solidFill>
                          <a:latin typeface="Calibri"/>
                        </a:rPr>
                        <a:t>208 N</a:t>
                      </a:r>
                    </a:p>
                  </a:txBody>
                  <a:tcPr/>
                </a:tc>
                <a:tc>
                  <a:txBody>
                    <a:bodyPr lIns="54864" rIns="54864" tIns="18288" bIns="18288" wrap="square" anchor="ctr"/>
                    <a:lstStyle/>
                    <a:p>
                      <a:pPr algn="l"/>
                      <a:r>
                        <a:rPr sz="850" b="0">
                          <a:solidFill>
                            <a:srgbClr val="000000"/>
                          </a:solidFill>
                          <a:latin typeface="Calibri"/>
                        </a:rPr>
                        <a:t>2.6 MPa</a:t>
                      </a:r>
                    </a:p>
                  </a:txBody>
                  <a:tcPr/>
                </a:tc>
                <a:tc>
                  <a:txBody>
                    <a:bodyPr lIns="54864" rIns="54864" tIns="18288" bIns="18288" wrap="square" anchor="ctr"/>
                    <a:lstStyle/>
                    <a:p>
                      <a:pPr algn="l"/>
                      <a:r>
                        <a:rPr sz="850" b="0">
                          <a:solidFill>
                            <a:srgbClr val="000000"/>
                          </a:solidFill>
                          <a:latin typeface="Calibri"/>
                        </a:rPr>
                        <a:t>0.02 GPa</a:t>
                      </a:r>
                    </a:p>
                  </a:txBody>
                  <a:tcPr/>
                </a:tc>
                <a:tc>
                  <a:txBody>
                    <a:bodyPr lIns="54864" rIns="54864" tIns="18288" bIns="18288" wrap="square" anchor="ctr"/>
                    <a:lstStyle/>
                    <a:p>
                      <a:pPr algn="l"/>
                      <a:r>
                        <a:rPr sz="850" b="0">
                          <a:solidFill>
                            <a:srgbClr val="000000"/>
                          </a:solidFill>
                          <a:latin typeface="Calibri"/>
                        </a:rPr>
                        <a:t>fractured</a:t>
                      </a:r>
                    </a:p>
                  </a:txBody>
                  <a:tcPr/>
                </a:tc>
              </a:tr>
            </a:tbl>
          </a:graphicData>
        </a:graphic>
      </p:graphicFrame>
      <p:sp>
        <p:nvSpPr>
          <p:cNvPr id="7" name="Rounded Rectangle 6"/>
          <p:cNvSpPr/>
          <p:nvPr/>
        </p:nvSpPr>
        <p:spPr>
          <a:xfrm>
            <a:off x="365760"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5084064"/>
            <a:ext cx="2788920" cy="56692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3693–3822 N</a:t>
            </a:r>
          </a:p>
          <a:p>
            <a:pPr algn="ctr"/>
            <a:r>
              <a:rPr sz="950">
                <a:solidFill>
                  <a:srgbClr val="000000"/>
                </a:solidFill>
                <a:latin typeface="Calibri"/>
              </a:rPr>
              <a:t>100 % PLA RUNS, PEAK RANGE</a:t>
            </a:r>
          </a:p>
        </p:txBody>
      </p:sp>
      <p:sp>
        <p:nvSpPr>
          <p:cNvPr id="10" name="Rounded Rectangle 9"/>
          <p:cNvSpPr/>
          <p:nvPr/>
        </p:nvSpPr>
        <p:spPr>
          <a:xfrm>
            <a:off x="9198864" y="5084064"/>
            <a:ext cx="2642616" cy="56692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60720"/>
            <a:ext cx="11475720" cy="566928"/>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PLA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MEAN width while it is uniform (for ν), MINIMUM band once necking starts (for area)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041648"/>
            <a:ext cx="5852160" cy="1097280"/>
          </a:xfrm>
          <a:prstGeom prst="rect">
            <a:avLst/>
          </a:prstGeom>
          <a:noFill/>
        </p:spPr>
        <p:txBody>
          <a:bodyPr wrap="square" lIns="45720" rIns="45720" tIns="18288" bIns="18288" anchor="t">
            <a:spAutoFit/>
          </a:bodyPr>
          <a:lstStyle/>
          <a:p>
            <a:pPr algn="l"/>
            <a:r>
              <a:rPr sz="100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
WHICH statistic depends on the regime, and this is not interchangeable. Before necking the width is uniform, so the MEAN over the whole gauge is right and buys that noise reduction — that is the ν measurement. Once a neck forms the deformation is LOCAL and the load is carried by the smallest section, so the area must come from the MINIMUM, averaged over a short band at the neck. A mean over the whole gauge would under-correct exactly where the correction matters most.</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APPLIED on p187 (2026-09-01): the spec said “average width over 100s of rows”. Necking is LOCAL, so the mean under-corrects exactly where it matters. It now reads MEAN while the width is uniform (ν), MINIMUM band once necking starts (area). Fixed before building, which is the cheap end.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SF11–SF17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 blue = built and verified offline, not yet used on a real pull.</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4.5 kN / 30 mm / 900 s backstop.</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Noise capture</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Records the instrument AT REST for a chosen window and separates what a later run can be corrected for — offset and drift — from what it cannot: the residual sd, which is the measurement uncertainty.</a:t>
            </a:r>
          </a:p>
        </p:txBody>
      </p:sp>
      <p:sp>
        <p:nvSpPr>
          <p:cNvPr id="42" name="TextBox 4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two entries were dropped because a card has to be something the OPERATOR invokes — measured Poisson (optics-blocked, now future work FW1) and a developer-only simulation harness. SF19 is built and verified offline but has not yet recorded a real pull.</a:t>
            </a:r>
          </a:p>
        </p:txBody>
      </p:sp>
      <p:sp>
        <p:nvSpPr>
          <p:cNvPr id="43" name="TextBox 4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2419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2419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2419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2419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2419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24196">
                <a:tc>
                  <a:txBody>
                    <a:bodyPr lIns="54864" rIns="54864" tIns="18288" bIns="18288" wrap="square" anchor="ctr"/>
                    <a:lstStyle/>
                    <a:p>
                      <a:pPr algn="l"/>
                      <a:r>
                        <a:rPr sz="869" b="0">
                          <a:solidFill>
                            <a:srgbClr val="000000"/>
                          </a:solidFill>
                          <a:latin typeface="Calibri"/>
                        </a:rPr>
                        <a:t>17</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2419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DIC post-processing</a:t>
                      </a:r>
                    </a:p>
                  </a:txBody>
                  <a:tcPr/>
                </a:tc>
                <a:tc>
                  <a:txBody>
                    <a:bodyPr lIns="54864" rIns="54864" tIns="18288" bIns="18288" wrap="square" anchor="ctr"/>
                    <a:lstStyle/>
                    <a:p>
                      <a:pPr algn="l"/>
                      <a:r>
                        <a:rPr sz="869" b="0">
                          <a:solidFill>
                            <a:srgbClr val="000000"/>
                          </a:solidFill>
                          <a:latin typeface="Calibri"/>
                        </a:rPr>
                        <a:t>p300–p304</a:t>
                      </a:r>
                    </a:p>
                  </a:txBody>
                  <a:tcPr/>
                </a:tc>
                <a:tc>
                  <a:txBody>
                    <a:bodyPr lIns="54864" rIns="54864" tIns="18288" bIns="18288" wrap="square" anchor="ctr"/>
                    <a:lstStyle/>
                    <a:p>
                      <a:pPr algn="l"/>
                      <a:r>
                        <a:rPr sz="869" b="0">
                          <a:solidFill>
                            <a:srgbClr val="000000"/>
                          </a:solidFill>
                          <a:latin typeface="Calibri"/>
                        </a:rPr>
                        <a:t>three independent checks + the guide</a:t>
                      </a:r>
                    </a:p>
                  </a:txBody>
                  <a:tcPr/>
                </a:tc>
              </a:tr>
              <a:tr h="32419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Noise capture</a:t>
                      </a:r>
                    </a:p>
                  </a:txBody>
                  <a:tcPr/>
                </a:tc>
                <a:tc>
                  <a:txBody>
                    <a:bodyPr lIns="54864" rIns="54864" tIns="18288" bIns="18288" wrap="square" anchor="ctr"/>
                    <a:lstStyle/>
                    <a:p>
                      <a:pPr algn="l"/>
                      <a:r>
                        <a:rPr sz="869" b="0">
                          <a:solidFill>
                            <a:srgbClr val="000000"/>
                          </a:solidFill>
                          <a:latin typeface="Calibri"/>
                        </a:rPr>
                        <a:t>p310</a:t>
                      </a:r>
                    </a:p>
                  </a:txBody>
                  <a:tcPr/>
                </a:tc>
                <a:tc>
                  <a:txBody>
                    <a:bodyPr lIns="54864" rIns="54864" tIns="18288" bIns="18288" wrap="square" anchor="ctr"/>
                    <a:lstStyle/>
                    <a:p>
                      <a:pPr algn="l"/>
                      <a:r>
                        <a:rPr sz="869" b="0">
                          <a:solidFill>
                            <a:srgbClr val="000000"/>
                          </a:solidFill>
                          <a:latin typeface="Calibri"/>
                        </a:rPr>
                        <a:t>offset / drift / sd, separated</a:t>
                      </a:r>
                    </a:p>
                  </a:txBody>
                  <a:tcPr/>
                </a:tc>
              </a:tr>
              <a:tr h="324200">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p260 · p261</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list runs SF1–SF19 with no gaps (renumbered 2026-09-02).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SF16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SF16 WAS THE LAST CARD WAITING ON A SCREENSHOT. WITH THIS, EVERY CARDED SMART FEATURE HAS BEEN SHOWN WORKING — SF19 OFFLINE, THE REST ON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SF14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DEAD-DIC GUARD — WHEN THE CAMERA STOPS, NOT THE RIG</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stall guard watches the MOTOR and the backstops watch force, travel and time. None of them can see a dead camera: the crosshead is advancing, the load is rising, and every mechanical signal looks healthy. Only the strain has stopped changing — and in a strain-steered test, that is the signal doing the steering.</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fires in TWO stages, not one</a:t>
            </a:r>
          </a:p>
        </p:txBody>
      </p:sp>
      <p:sp>
        <p:nvSpPr>
          <p:cNvPr id="7" name="TextBox 6"/>
          <p:cNvSpPr txBox="1"/>
          <p:nvPr/>
        </p:nvSpPr>
        <p:spPr>
          <a:xfrm>
            <a:off x="411480" y="1920240"/>
            <a:ext cx="5715000" cy="1965960"/>
          </a:xfrm>
          <a:prstGeom prst="rect">
            <a:avLst/>
          </a:prstGeom>
          <a:noFill/>
        </p:spPr>
        <p:txBody>
          <a:bodyPr wrap="square" lIns="45720" rIns="45720" tIns="18288" bIns="18288" anchor="t">
            <a:spAutoFit/>
          </a:bodyPr>
          <a:lstStyle/>
          <a:p>
            <a:pPr algn="l"/>
            <a:r>
              <a:rPr sz="1000" b="0" i="0">
                <a:solidFill>
                  <a:srgbClr val="000000"/>
                </a:solidFill>
                <a:latin typeface="Calibri"/>
              </a:rPr>
              <a:t>A strain-rate loop holds dε/dt by comparing measured strain against the target. If strain stops updating, the loop reads it as “not deforming fast enough” and ramps the speed UP — blind, and at exactly the moment it has no idea what the specimen is doing.
So the first stage does not halt; it FREEZES the commanded speed at the last good value after 0.2 s, about two DIC frames. The run continues at a speed that was correct when strain was last real, and it cannot accelerate into the dark.
Only if strain is still frozen at 1.0 s does it hard-halt: by then the camera is gone, not merely late.</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do</a:t>
            </a:r>
          </a:p>
        </p:txBody>
      </p:sp>
      <p:sp>
        <p:nvSpPr>
          <p:cNvPr id="9" name="TextBox 8"/>
          <p:cNvSpPr txBox="1"/>
          <p:nvPr/>
        </p:nvSpPr>
        <p:spPr>
          <a:xfrm>
            <a:off x="6355080" y="1920240"/>
            <a:ext cx="5486400" cy="1965960"/>
          </a:xfrm>
          <a:prstGeom prst="rect">
            <a:avLst/>
          </a:prstGeom>
          <a:noFill/>
        </p:spPr>
        <p:txBody>
          <a:bodyPr wrap="square" lIns="45720" rIns="45720" tIns="18288" bIns="18288" anchor="t">
            <a:spAutoFit/>
          </a:bodyPr>
          <a:lstStyle/>
          <a:p>
            <a:pPr algn="l"/>
            <a:r>
              <a:rPr sz="1000" b="0" i="0">
                <a:solidFill>
                  <a:srgbClr val="000000"/>
                </a:solidFill>
                <a:latin typeface="Calibri"/>
              </a:rPr>
              <a:t>It does not run on force-steered modes. Cyclic, staircase, creep and relaxation steer on the LOAD CELL, which never goes stale — a frozen camera there costs the DIC column in the CSV and nothing else, so halting the test would be an over-reaction.
It does not fire on a dropped frame either. A single miss is normal; 0.2 s is two frames, and the freeze is harmless if strain resumes.
And it is not the same guard as the DIC↔load matching window (100 ms), which decides whether a strain reading is fresh enough to PAIR with a load sample. That one drops a row; this one stops the machine.</a:t>
            </a:r>
          </a:p>
        </p:txBody>
      </p:sp>
      <p:sp>
        <p:nvSpPr>
          <p:cNvPr id="10" name="TextBox 9"/>
          <p:cNvSpPr txBox="1"/>
          <p:nvPr/>
        </p:nvSpPr>
        <p:spPr>
          <a:xfrm>
            <a:off x="411480" y="404164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layers, and which failure each one catches</a:t>
            </a:r>
          </a:p>
        </p:txBody>
      </p:sp>
      <p:graphicFrame>
        <p:nvGraphicFramePr>
          <p:cNvPr id="11" name="Table 10"/>
          <p:cNvGraphicFramePr>
            <a:graphicFrameLocks noGrp="1"/>
          </p:cNvGraphicFramePr>
          <p:nvPr/>
        </p:nvGraphicFramePr>
        <p:xfrm>
          <a:off x="411480" y="4389120"/>
          <a:ext cx="11430000" cy="1325880"/>
        </p:xfrm>
        <a:graphic>
          <a:graphicData uri="http://schemas.openxmlformats.org/drawingml/2006/table">
            <a:tbl>
              <a:tblPr firstRow="1" bandRow="1">
                <a:tableStyleId>{5C22544A-7EE6-4342-B048-85BDC9FD1C3A}</a:tableStyleId>
              </a:tblPr>
              <a:tblGrid>
                <a:gridCol w="2103120"/>
                <a:gridCol w="2103120"/>
                <a:gridCol w="7223760"/>
              </a:tblGrid>
              <a:tr h="220980">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Threshold</a:t>
                      </a:r>
                    </a:p>
                  </a:txBody>
                  <a:tcPr>
                    <a:solidFill>
                      <a:srgbClr val="143D2F"/>
                    </a:solidFill>
                  </a:tcPr>
                </a:tc>
                <a:tc>
                  <a:txBody>
                    <a:bodyPr lIns="54864" rIns="54864" tIns="18288" bIns="18288" wrap="square" anchor="ctr"/>
                    <a:lstStyle/>
                    <a:p>
                      <a:pPr algn="l"/>
                      <a:r>
                        <a:rPr sz="950" b="1">
                          <a:solidFill>
                            <a:srgbClr val="FFFFFF"/>
                          </a:solidFill>
                          <a:latin typeface="Calibri"/>
                        </a:rPr>
                        <a:t>The failure it is the only one to catch</a:t>
                      </a:r>
                    </a:p>
                  </a:txBody>
                  <a:tcPr>
                    <a:solidFill>
                      <a:srgbClr val="143D2F"/>
                    </a:solidFill>
                  </a:tcPr>
                </a:tc>
              </a:tr>
              <a:tr h="220980">
                <a:tc>
                  <a:txBody>
                    <a:bodyPr lIns="54864" rIns="54864" tIns="18288" bIns="18288" wrap="square" anchor="ctr"/>
                    <a:lstStyle/>
                    <a:p>
                      <a:pPr algn="l"/>
                      <a:r>
                        <a:rPr sz="900" b="0">
                          <a:solidFill>
                            <a:srgbClr val="000000"/>
                          </a:solidFill>
                          <a:latin typeface="Calibri"/>
                        </a:rPr>
                        <a:t>Dead-DIC freeze</a:t>
                      </a:r>
                    </a:p>
                  </a:txBody>
                  <a:tcPr/>
                </a:tc>
                <a:tc>
                  <a:txBody>
                    <a:bodyPr lIns="54864" rIns="54864" tIns="18288" bIns="18288" wrap="square" anchor="ctr"/>
                    <a:lstStyle/>
                    <a:p>
                      <a:pPr algn="l"/>
                      <a:r>
                        <a:rPr sz="900" b="0">
                          <a:solidFill>
                            <a:srgbClr val="000000"/>
                          </a:solidFill>
                          <a:latin typeface="Calibri"/>
                        </a:rPr>
                        <a:t>0.2 s of frozen strain</a:t>
                      </a:r>
                    </a:p>
                  </a:txBody>
                  <a:tcPr/>
                </a:tc>
                <a:tc>
                  <a:txBody>
                    <a:bodyPr lIns="54864" rIns="54864" tIns="18288" bIns="18288" wrap="square" anchor="ctr"/>
                    <a:lstStyle/>
                    <a:p>
                      <a:pPr algn="l"/>
                      <a:r>
                        <a:rPr sz="900" b="0">
                          <a:solidFill>
                            <a:srgbClr val="000000"/>
                          </a:solidFill>
                          <a:latin typeface="Calibri"/>
                        </a:rPr>
                        <a:t>the controller ramping up blind because its feedback stopped</a:t>
                      </a:r>
                    </a:p>
                  </a:txBody>
                  <a:tcPr/>
                </a:tc>
              </a:tr>
              <a:tr h="220980">
                <a:tc>
                  <a:txBody>
                    <a:bodyPr lIns="54864" rIns="54864" tIns="18288" bIns="18288" wrap="square" anchor="ctr"/>
                    <a:lstStyle/>
                    <a:p>
                      <a:pPr algn="l"/>
                      <a:r>
                        <a:rPr sz="900" b="0">
                          <a:solidFill>
                            <a:srgbClr val="000000"/>
                          </a:solidFill>
                          <a:latin typeface="Calibri"/>
                        </a:rPr>
                        <a:t>Dead-DIC halt</a:t>
                      </a:r>
                    </a:p>
                  </a:txBody>
                  <a:tcPr/>
                </a:tc>
                <a:tc>
                  <a:txBody>
                    <a:bodyPr lIns="54864" rIns="54864" tIns="18288" bIns="18288" wrap="square" anchor="ctr"/>
                    <a:lstStyle/>
                    <a:p>
                      <a:pPr algn="l"/>
                      <a:r>
                        <a:rPr sz="900" b="0">
                          <a:solidFill>
                            <a:srgbClr val="000000"/>
                          </a:solidFill>
                          <a:latin typeface="Calibri"/>
                        </a:rPr>
                        <a:t>1.0 s of frozen strain</a:t>
                      </a:r>
                    </a:p>
                  </a:txBody>
                  <a:tcPr/>
                </a:tc>
                <a:tc>
                  <a:txBody>
                    <a:bodyPr lIns="54864" rIns="54864" tIns="18288" bIns="18288" wrap="square" anchor="ctr"/>
                    <a:lstStyle/>
                    <a:p>
                      <a:pPr algn="l"/>
                      <a:r>
                        <a:rPr sz="900" b="0">
                          <a:solidFill>
                            <a:srgbClr val="000000"/>
                          </a:solidFill>
                          <a:latin typeface="Calibri"/>
                        </a:rPr>
                        <a:t>a camera that has stopped while the motor keeps pulling normally</a:t>
                      </a:r>
                    </a:p>
                  </a:txBody>
                  <a:tcPr/>
                </a:tc>
              </a:tr>
              <a:tr h="220980">
                <a:tc>
                  <a:txBody>
                    <a:bodyPr lIns="54864" rIns="54864" tIns="18288" bIns="18288" wrap="square" anchor="ctr"/>
                    <a:lstStyle/>
                    <a:p>
                      <a:pPr algn="l"/>
                      <a:r>
                        <a:rPr sz="900" b="0">
                          <a:solidFill>
                            <a:srgbClr val="000000"/>
                          </a:solidFill>
                          <a:latin typeface="Calibri"/>
                        </a:rPr>
                        <a:t>Force backstop</a:t>
                      </a:r>
                    </a:p>
                  </a:txBody>
                  <a:tcPr/>
                </a:tc>
                <a:tc>
                  <a:txBody>
                    <a:bodyPr lIns="54864" rIns="54864" tIns="18288" bIns="18288" wrap="square" anchor="ctr"/>
                    <a:lstStyle/>
                    <a:p>
                      <a:pPr algn="l"/>
                      <a:r>
                        <a:rPr sz="900" b="0">
                          <a:solidFill>
                            <a:srgbClr val="000000"/>
                          </a:solidFill>
                          <a:latin typeface="Calibri"/>
                        </a:rPr>
                        <a:t>4.5 kN</a:t>
                      </a:r>
                    </a:p>
                  </a:txBody>
                  <a:tcPr/>
                </a:tc>
                <a:tc>
                  <a:txBody>
                    <a:bodyPr lIns="54864" rIns="54864" tIns="18288" bIns="18288" wrap="square" anchor="ctr"/>
                    <a:lstStyle/>
                    <a:p>
                      <a:pPr algn="l"/>
                      <a:r>
                        <a:rPr sz="900" b="0">
                          <a:solidFill>
                            <a:srgbClr val="000000"/>
                          </a:solidFill>
                          <a:latin typeface="Calibri"/>
                        </a:rPr>
                        <a:t>a runaway that the specimen cannot stop</a:t>
                      </a:r>
                    </a:p>
                  </a:txBody>
                  <a:tcPr/>
                </a:tc>
              </a:tr>
              <a:tr h="220980">
                <a:tc>
                  <a:txBody>
                    <a:bodyPr lIns="54864" rIns="54864" tIns="18288" bIns="18288" wrap="square" anchor="ctr"/>
                    <a:lstStyle/>
                    <a:p>
                      <a:pPr algn="l"/>
                      <a:r>
                        <a:rPr sz="900" b="0">
                          <a:solidFill>
                            <a:srgbClr val="000000"/>
                          </a:solidFill>
                          <a:latin typeface="Calibri"/>
                        </a:rPr>
                        <a:t>Travel backstop</a:t>
                      </a:r>
                    </a:p>
                  </a:txBody>
                  <a:tcPr/>
                </a:tc>
                <a:tc>
                  <a:txBody>
                    <a:bodyPr lIns="54864" rIns="54864" tIns="18288" bIns="18288" wrap="square" anchor="ctr"/>
                    <a:lstStyle/>
                    <a:p>
                      <a:pPr algn="l"/>
                      <a:r>
                        <a:rPr sz="900" b="0">
                          <a:solidFill>
                            <a:srgbClr val="000000"/>
                          </a:solidFill>
                          <a:latin typeface="Calibri"/>
                        </a:rPr>
                        <a:t>30 mm</a:t>
                      </a:r>
                    </a:p>
                  </a:txBody>
                  <a:tcPr/>
                </a:tc>
                <a:tc>
                  <a:txBody>
                    <a:bodyPr lIns="54864" rIns="54864" tIns="18288" bIns="18288" wrap="square" anchor="ctr"/>
                    <a:lstStyle/>
                    <a:p>
                      <a:pPr algn="l"/>
                      <a:r>
                        <a:rPr sz="900" b="0">
                          <a:solidFill>
                            <a:srgbClr val="000000"/>
                          </a:solidFill>
                          <a:latin typeface="Calibri"/>
                        </a:rPr>
                        <a:t>a post-fracture runaway driving into the end-stop</a:t>
                      </a:r>
                    </a:p>
                  </a:txBody>
                  <a:tcPr/>
                </a:tc>
              </a:tr>
              <a:tr h="220980">
                <a:tc>
                  <a:txBody>
                    <a:bodyPr lIns="54864" rIns="54864" tIns="18288" bIns="18288" wrap="square" anchor="ctr"/>
                    <a:lstStyle/>
                    <a:p>
                      <a:pPr algn="l"/>
                      <a:r>
                        <a:rPr sz="900" b="0">
                          <a:solidFill>
                            <a:srgbClr val="000000"/>
                          </a:solidFill>
                          <a:latin typeface="Calibri"/>
                        </a:rPr>
                        <a:t>Timeout backstop</a:t>
                      </a:r>
                    </a:p>
                  </a:txBody>
                  <a:tcPr/>
                </a:tc>
                <a:tc>
                  <a:txBody>
                    <a:bodyPr lIns="54864" rIns="54864" tIns="18288" bIns="18288" wrap="square" anchor="ctr"/>
                    <a:lstStyle/>
                    <a:p>
                      <a:pPr algn="l"/>
                      <a:r>
                        <a:rPr sz="900" b="0">
                          <a:solidFill>
                            <a:srgbClr val="000000"/>
                          </a:solidFill>
                          <a:latin typeface="Calibri"/>
                        </a:rPr>
                        <a:t>900 s</a:t>
                      </a:r>
                    </a:p>
                  </a:txBody>
                  <a:tcPr/>
                </a:tc>
                <a:tc>
                  <a:txBody>
                    <a:bodyPr lIns="54864" rIns="54864" tIns="18288" bIns="18288" wrap="square" anchor="ctr"/>
                    <a:lstStyle/>
                    <a:p>
                      <a:pPr algn="l"/>
                      <a:r>
                        <a:rPr sz="900" b="0">
                          <a:solidFill>
                            <a:srgbClr val="000000"/>
                          </a:solidFill>
                          <a:latin typeface="Calibri"/>
                        </a:rPr>
                        <a:t>a long hold that never reaches its exit condition</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POINT IN ONE LINE: every other guard watches the machine, and the machine is fine. This is the only one watching the MEASUREMENT — which in a strain-steered test is the one thing that must not be trusted blindly.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Thresholds read from main.py: POLICY_STALE_FREEZE_S 0.2 s, POLICY_DEAD_DIC_S 1.0 s, POLICY_MAX_FORCE_N 4.5 kN, POLICY_MAX_TRAVEL_MM 30 mm, POLICY_TIMEOUT_S 900 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p269.</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(p277),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p289.</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p289 and p290.</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(p290).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p289.</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SAME 80 mm GAUGE, DIFFERENT PIXEL COUNTS — WHY THAT IS FINE</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p294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(p297)</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(p297);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p291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p298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p290.</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(p297).</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(p287).</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p297, p289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Set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Set the gauge</a:t>
                      </a:r>
                    </a:p>
                  </a:txBody>
                  <a:tcPr/>
                </a:tc>
                <a:tc>
                  <a:txBody>
                    <a:bodyPr lIns="54864" rIns="54864" tIns="18288" bIns="18288" wrap="square" anchor="ctr"/>
                    <a:lstStyle/>
                    <a:p>
                      <a:pPr algn="l"/>
                      <a:r>
                        <a:rPr sz="850" b="0">
                          <a:solidFill>
                            <a:srgbClr val="000000"/>
                          </a:solidFill>
                          <a:latin typeface="Calibri"/>
                        </a:rPr>
                        <a:t>Type the real distance between the two markers, in mm, into Gauge (A→B).</a:t>
                      </a:r>
                    </a:p>
                  </a:txBody>
                  <a:tcPr/>
                </a:tc>
                <a:tc>
                  <a:txBody>
                    <a:bodyPr lIns="54864" rIns="54864" tIns="18288" bIns="18288" wrap="square" anchor="ctr"/>
                    <a:lstStyle/>
                    <a:p>
                      <a:pPr algn="l"/>
                      <a:r>
                        <a:rPr sz="850" b="0">
                          <a:solidFill>
                            <a:srgbClr val="000000"/>
                          </a:solidFill>
                          <a:latin typeface="Calibri"/>
                        </a:rPr>
                        <a:t>This only sets px per mm. Strain itself is a ratio of PIXELS, so getting the gauge wrong changes no strain — it changes only the reported scale.</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(p296)</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FRACTURE PROTOCOLS, ONE STRENGTH — T7.2 AGAINST T8</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rig can break a specimen two ways: a staircase that climbs to failure, and a progressive cyclic schedule that fatigues then breaks it. If the machine is measuring the MATERIAL, the route it took should not change the answer.</a:t>
            </a:r>
          </a:p>
        </p:txBody>
      </p:sp>
      <p:pic>
        <p:nvPicPr>
          <p:cNvPr id="6" name="Picture 5" descr="xprotocol.png"/>
          <p:cNvPicPr>
            <a:picLocks noChangeAspect="1"/>
          </p:cNvPicPr>
          <p:nvPr/>
        </p:nvPicPr>
        <p:blipFill>
          <a:blip r:embed="rId2"/>
          <a:stretch>
            <a:fillRect/>
          </a:stretch>
        </p:blipFill>
        <p:spPr>
          <a:xfrm>
            <a:off x="842072" y="1463040"/>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runs, side by side</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2148840"/>
                <a:gridCol w="1783080"/>
                <a:gridCol w="178308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T7.2 staircase</a:t>
                      </a:r>
                    </a:p>
                  </a:txBody>
                  <a:tcPr>
                    <a:solidFill>
                      <a:srgbClr val="143D2F"/>
                    </a:solidFill>
                  </a:tcPr>
                </a:tc>
                <a:tc>
                  <a:txBody>
                    <a:bodyPr lIns="54864" rIns="54864" tIns="18288" bIns="18288" wrap="square" anchor="ctr"/>
                    <a:lstStyle/>
                    <a:p>
                      <a:pPr algn="l"/>
                      <a:r>
                        <a:rPr sz="950" b="1">
                          <a:solidFill>
                            <a:srgbClr val="FFFFFF"/>
                          </a:solidFill>
                          <a:latin typeface="Calibri"/>
                        </a:rPr>
                        <a:t>T8 prog. cyclic</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specimen</a:t>
                      </a:r>
                    </a:p>
                  </a:txBody>
                  <a:tcPr/>
                </a:tc>
                <a:tc>
                  <a:txBody>
                    <a:bodyPr lIns="54864" rIns="54864" tIns="18288" bIns="18288" wrap="square" anchor="ctr"/>
                    <a:lstStyle/>
                    <a:p>
                      <a:pPr algn="l"/>
                      <a:r>
                        <a:rPr sz="850" b="0">
                          <a:solidFill>
                            <a:srgbClr val="000000"/>
                          </a:solidFill>
                          <a:latin typeface="Calibri"/>
                        </a:rPr>
                        <a:t>S18</a:t>
                      </a:r>
                    </a:p>
                  </a:txBody>
                  <a:tcPr/>
                </a:tc>
                <a:tc>
                  <a:txBody>
                    <a:bodyPr lIns="54864" rIns="54864" tIns="18288" bIns="18288" wrap="square" anchor="ctr"/>
                    <a:lstStyle/>
                    <a:p>
                      <a:pPr algn="l"/>
                      <a:r>
                        <a:rPr sz="850" b="0">
                          <a:solidFill>
                            <a:srgbClr val="000000"/>
                          </a:solidFill>
                          <a:latin typeface="Calibri"/>
                        </a:rPr>
                        <a:t>S21</a:t>
                      </a:r>
                    </a:p>
                  </a:txBody>
                  <a:tcPr/>
                </a:tc>
              </a:tr>
              <a:tr h="249936">
                <a:tc>
                  <a:txBody>
                    <a:bodyPr lIns="54864" rIns="54864" tIns="18288" bIns="18288" wrap="square" anchor="ctr"/>
                    <a:lstStyle/>
                    <a:p>
                      <a:pPr algn="l"/>
                      <a:r>
                        <a:rPr sz="850" b="0">
                          <a:solidFill>
                            <a:srgbClr val="000000"/>
                          </a:solidFill>
                          <a:latin typeface="Calibri"/>
                        </a:rPr>
                        <a:t>UTS, as recorded</a:t>
                      </a:r>
                    </a:p>
                  </a:txBody>
                  <a:tcPr/>
                </a:tc>
                <a:tc>
                  <a:txBody>
                    <a:bodyPr lIns="54864" rIns="54864" tIns="18288" bIns="18288" wrap="square" anchor="ctr"/>
                    <a:lstStyle/>
                    <a:p>
                      <a:pPr algn="l"/>
                      <a:r>
                        <a:rPr sz="850" b="0">
                          <a:solidFill>
                            <a:srgbClr val="000000"/>
                          </a:solidFill>
                          <a:latin typeface="Calibri"/>
                        </a:rPr>
                        <a:t>17.35 MPa</a:t>
                      </a:r>
                    </a:p>
                  </a:txBody>
                  <a:tcPr/>
                </a:tc>
                <a:tc>
                  <a:txBody>
                    <a:bodyPr lIns="54864" rIns="54864" tIns="18288" bIns="18288" wrap="square" anchor="ctr"/>
                    <a:lstStyle/>
                    <a:p>
                      <a:pPr algn="l"/>
                      <a:r>
                        <a:rPr sz="850" b="0">
                          <a:solidFill>
                            <a:srgbClr val="000000"/>
                          </a:solidFill>
                          <a:latin typeface="Calibri"/>
                        </a:rPr>
                        <a:t>17.46 MPa</a:t>
                      </a:r>
                    </a:p>
                  </a:txBody>
                  <a:tcPr/>
                </a:tc>
              </a:tr>
              <a:tr h="249936">
                <a:tc>
                  <a:txBody>
                    <a:bodyPr lIns="54864" rIns="54864" tIns="18288" bIns="18288" wrap="square" anchor="ctr"/>
                    <a:lstStyle/>
                    <a:p>
                      <a:pPr algn="l"/>
                      <a:r>
                        <a:rPr sz="850" b="0">
                          <a:solidFill>
                            <a:srgbClr val="000000"/>
                          </a:solidFill>
                          <a:latin typeface="Calibri"/>
                        </a:rPr>
                        <a:t>preload anchor</a:t>
                      </a:r>
                    </a:p>
                  </a:txBody>
                  <a:tcPr/>
                </a:tc>
                <a:tc>
                  <a:txBody>
                    <a:bodyPr lIns="54864" rIns="54864" tIns="18288" bIns="18288" wrap="square" anchor="ctr"/>
                    <a:lstStyle/>
                    <a:p>
                      <a:pPr algn="l"/>
                      <a:r>
                        <a:rPr sz="850" b="0">
                          <a:solidFill>
                            <a:srgbClr val="000000"/>
                          </a:solidFill>
                          <a:latin typeface="Calibri"/>
                        </a:rPr>
                        <a:t>307 N (sd 0.21)</a:t>
                      </a:r>
                    </a:p>
                  </a:txBody>
                  <a:tcPr/>
                </a:tc>
                <a:tc>
                  <a:txBody>
                    <a:bodyPr lIns="54864" rIns="54864" tIns="18288" bIns="18288" wrap="square" anchor="ctr"/>
                    <a:lstStyle/>
                    <a:p>
                      <a:pPr algn="l"/>
                      <a:r>
                        <a:rPr sz="850" b="0">
                          <a:solidFill>
                            <a:srgbClr val="000000"/>
                          </a:solidFill>
                          <a:latin typeface="Calibri"/>
                        </a:rPr>
                        <a:t>313 N (sd 0.22)</a:t>
                      </a:r>
                    </a:p>
                  </a:txBody>
                  <a:tcPr/>
                </a:tc>
              </a:tr>
              <a:tr h="249936">
                <a:tc>
                  <a:txBody>
                    <a:bodyPr lIns="54864" rIns="54864" tIns="18288" bIns="18288" wrap="square" anchor="ctr"/>
                    <a:lstStyle/>
                    <a:p>
                      <a:pPr algn="l"/>
                      <a:r>
                        <a:rPr sz="850" b="0">
                          <a:solidFill>
                            <a:srgbClr val="000000"/>
                          </a:solidFill>
                          <a:latin typeface="Calibri"/>
                        </a:rPr>
                        <a:t>UTS, anchor-corrected</a:t>
                      </a:r>
                    </a:p>
                  </a:txBody>
                  <a:tcPr/>
                </a:tc>
                <a:tc>
                  <a:txBody>
                    <a:bodyPr lIns="54864" rIns="54864" tIns="18288" bIns="18288" wrap="square" anchor="ctr"/>
                    <a:lstStyle/>
                    <a:p>
                      <a:pPr algn="l"/>
                      <a:r>
                        <a:rPr sz="850" b="0">
                          <a:solidFill>
                            <a:srgbClr val="000000"/>
                          </a:solidFill>
                          <a:latin typeface="Calibri"/>
                        </a:rPr>
                        <a:t>21.19 MPa</a:t>
                      </a:r>
                    </a:p>
                  </a:txBody>
                  <a:tcPr/>
                </a:tc>
                <a:tc>
                  <a:txBody>
                    <a:bodyPr lIns="54864" rIns="54864" tIns="18288" bIns="18288" wrap="square" anchor="ctr"/>
                    <a:lstStyle/>
                    <a:p>
                      <a:pPr algn="l"/>
                      <a:r>
                        <a:rPr sz="850" b="0">
                          <a:solidFill>
                            <a:srgbClr val="000000"/>
                          </a:solidFill>
                          <a:latin typeface="Calibri"/>
                        </a:rPr>
                        <a:t>21.38 MPa</a:t>
                      </a:r>
                    </a:p>
                  </a:txBody>
                  <a:tcPr/>
                </a:tc>
              </a:tr>
              <a:tr h="249936">
                <a:tc>
                  <a:txBody>
                    <a:bodyPr lIns="54864" rIns="54864" tIns="18288" bIns="18288" wrap="square" anchor="ctr"/>
                    <a:lstStyle/>
                    <a:p>
                      <a:pPr algn="l"/>
                      <a:r>
                        <a:rPr sz="850" b="0">
                          <a:solidFill>
                            <a:srgbClr val="000000"/>
                          </a:solidFill>
                          <a:latin typeface="Calibri"/>
                        </a:rPr>
                        <a:t>halted within</a:t>
                      </a:r>
                    </a:p>
                  </a:txBody>
                  <a:tcPr/>
                </a:tc>
                <a:tc>
                  <a:txBody>
                    <a:bodyPr lIns="54864" rIns="54864" tIns="18288" bIns="18288" wrap="square" anchor="ctr"/>
                    <a:lstStyle/>
                    <a:p>
                      <a:pPr algn="l"/>
                      <a:r>
                        <a:rPr sz="850" b="0">
                          <a:solidFill>
                            <a:srgbClr val="000000"/>
                          </a:solidFill>
                          <a:latin typeface="Calibri"/>
                        </a:rPr>
                        <a:t>1.36 s</a:t>
                      </a:r>
                    </a:p>
                  </a:txBody>
                  <a:tcPr/>
                </a:tc>
                <a:tc>
                  <a:txBody>
                    <a:bodyPr lIns="54864" rIns="54864" tIns="18288" bIns="18288" wrap="square" anchor="ctr"/>
                    <a:lstStyle/>
                    <a:p>
                      <a:pPr algn="l"/>
                      <a:r>
                        <a:rPr sz="850" b="0">
                          <a:solidFill>
                            <a:srgbClr val="000000"/>
                          </a:solidFill>
                          <a:latin typeface="Calibri"/>
                        </a:rPr>
                        <a:t>1.33 s</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worth a slide</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It is the only cross-check the rig can run on ITSELF. Every other agreement in this deck is the same protocol repeated, or our DIC against our own crosshead. Here two different control loops, two different load histories and two different specimens land 0.19 MPa apart — 0.9 % — and both auto-stopped on load collapse inside 1.36 s.  The anchor correction is worth 3.9 MPa, twenty times the difference being discussed, which is why the figure shows it: a 0.9 % agreement means nothing unless the correction behind it was applied the same way to both, and it was, to within 6 N.</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CAVEAT, AND IT IS NOT A SMALL ONE: these are DIFFERENT SPECIMENS, n = 1 each. The 0.9 % contains specimen-to-specimen scatter as well as any protocol effect, and nothing here can separate the two. It bounds the protocol effect; it does not measure it.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values are anchor-corrected true UTS from sf9_data, computed from the CSVs rather than restated. Nominal (uncorrected) values are on the figure.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GUARDS BETWEEN THE OPERATOR AND A WASTED SPECIMEN</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Recipes are covered on p207. These are the other two workflow features, and both share a property that makes them easy to overlook: when they are working correctly, nothing happens.</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destructive-test confirmation</a:t>
            </a:r>
          </a:p>
        </p:txBody>
      </p:sp>
      <p:sp>
        <p:nvSpPr>
          <p:cNvPr id="7" name="TextBox 6"/>
          <p:cNvSpPr txBox="1"/>
          <p:nvPr/>
        </p:nvSpPr>
        <p:spPr>
          <a:xfrm>
            <a:off x="411480" y="1920240"/>
            <a:ext cx="5715000" cy="1874519"/>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destroys the specimen and cannot be repeated, so it is the one place where a stale setting is unrecoverable. The dialog therefore does not just ask “are you sure” — it reads the specimen back:  area, gauge, material and INFILL, in the same order and wording the CSV header will carry, so what is confirmed and what is recorded cannot drift apart.
Underneath it lists the preparation steps, ordered by the CURRENT strain-zero convention — under the after-preload rule the preload comes first, so the checklist changes with the setting rather than describing the opposite procedure.
Cancel is the DEFAULT button. A returned keypress does not start a destructive test.</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exists — a real cost, already paid</a:t>
            </a:r>
          </a:p>
        </p:txBody>
      </p:sp>
      <p:sp>
        <p:nvSpPr>
          <p:cNvPr id="9" name="TextBox 8"/>
          <p:cNvSpPr txBox="1"/>
          <p:nvPr/>
        </p:nvSpPr>
        <p:spPr>
          <a:xfrm>
            <a:off x="6355080" y="1920240"/>
            <a:ext cx="5486400" cy="1874519"/>
          </a:xfrm>
          <a:prstGeom prst="rect">
            <a:avLst/>
          </a:prstGeom>
          <a:noFill/>
        </p:spPr>
        <p:txBody>
          <a:bodyPr wrap="square" lIns="45720" rIns="45720" tIns="18288" bIns="18288" anchor="t">
            <a:spAutoFit/>
          </a:bodyPr>
          <a:lstStyle/>
          <a:p>
            <a:pPr algn="l"/>
            <a:r>
              <a:rPr sz="1000" b="0" i="0">
                <a:solidFill>
                  <a:srgbClr val="000000"/>
                </a:solidFill>
                <a:latin typeface="Calibri"/>
              </a:rPr>
              <a:t>T6.4, T6.5 and both T9 runs recorded “Infill: 100 %” on 50 % specimens. T7.3 — the same mistake waiting to happen — came out right, and the reason is exactly this dialog: it was a fracture test, so the label was echoed back and caught.
The four that went wrong were NON-destructive and had no such gate. That asymmetry is what prompted the 2026-09-01 change putting the same read-back into Prepare test, which every test type performs.</a:t>
            </a:r>
          </a:p>
        </p:txBody>
      </p:sp>
      <p:sp>
        <p:nvSpPr>
          <p:cNvPr id="10" name="TextBox 9"/>
          <p:cNvSpPr txBox="1"/>
          <p:nvPr/>
        </p:nvSpPr>
        <p:spPr>
          <a:xfrm>
            <a:off x="411480" y="395020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stall guard, and why a flat threshold could not work</a:t>
            </a:r>
          </a:p>
        </p:txBody>
      </p:sp>
      <p:graphicFrame>
        <p:nvGraphicFramePr>
          <p:cNvPr id="11" name="Table 10"/>
          <p:cNvGraphicFramePr>
            <a:graphicFrameLocks noGrp="1"/>
          </p:cNvGraphicFramePr>
          <p:nvPr/>
        </p:nvGraphicFramePr>
        <p:xfrm>
          <a:off x="411480" y="4297680"/>
          <a:ext cx="11429999" cy="1463040"/>
        </p:xfrm>
        <a:graphic>
          <a:graphicData uri="http://schemas.openxmlformats.org/drawingml/2006/table">
            <a:tbl>
              <a:tblPr firstRow="1" bandRow="1">
                <a:tableStyleId>{5C22544A-7EE6-4342-B048-85BDC9FD1C3A}</a:tableStyleId>
              </a:tblPr>
              <a:tblGrid>
                <a:gridCol w="1874519"/>
                <a:gridCol w="2788920"/>
                <a:gridCol w="6766560"/>
              </a:tblGrid>
              <a:tr h="24384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Why this and not something simpler</a:t>
                      </a:r>
                    </a:p>
                  </a:txBody>
                  <a:tcPr>
                    <a:solidFill>
                      <a:srgbClr val="143D2F"/>
                    </a:solidFill>
                  </a:tcPr>
                </a:tc>
              </a:tr>
              <a:tr h="243840">
                <a:tc>
                  <a:txBody>
                    <a:bodyPr lIns="54864" rIns="54864" tIns="18288" bIns="18288" wrap="square" anchor="ctr"/>
                    <a:lstStyle/>
                    <a:p>
                      <a:pPr algn="l"/>
                      <a:r>
                        <a:rPr sz="850" b="0">
                          <a:solidFill>
                            <a:srgbClr val="000000"/>
                          </a:solidFill>
                          <a:latin typeface="Calibri"/>
                        </a:rPr>
                        <a:t>window</a:t>
                      </a:r>
                    </a:p>
                  </a:txBody>
                  <a:tcPr/>
                </a:tc>
                <a:tc>
                  <a:txBody>
                    <a:bodyPr lIns="54864" rIns="54864" tIns="18288" bIns="18288" wrap="square" anchor="ctr"/>
                    <a:lstStyle/>
                    <a:p>
                      <a:pPr algn="l"/>
                      <a:r>
                        <a:rPr sz="850" b="0">
                          <a:solidFill>
                            <a:srgbClr val="000000"/>
                          </a:solidFill>
                          <a:latin typeface="Calibri"/>
                        </a:rPr>
                        <a:t>6 s</a:t>
                      </a:r>
                    </a:p>
                  </a:txBody>
                  <a:tcPr/>
                </a:tc>
                <a:tc>
                  <a:txBody>
                    <a:bodyPr lIns="54864" rIns="54864" tIns="18288" bIns="18288" wrap="square" anchor="ctr"/>
                    <a:lstStyle/>
                    <a:p>
                      <a:pPr algn="l"/>
                      <a:r>
                        <a:rPr sz="850" b="0">
                          <a:solidFill>
                            <a:srgbClr val="000000"/>
                          </a:solidFill>
                          <a:latin typeface="Calibri"/>
                        </a:rPr>
                        <a:t>long enough that one slow load-cell sample cannot trip it</a:t>
                      </a:r>
                    </a:p>
                  </a:txBody>
                  <a:tcPr/>
                </a:tc>
              </a:tr>
              <a:tr h="243840">
                <a:tc>
                  <a:txBody>
                    <a:bodyPr lIns="54864" rIns="54864" tIns="18288" bIns="18288" wrap="square" anchor="ctr"/>
                    <a:lstStyle/>
                    <a:p>
                      <a:pPr algn="l"/>
                      <a:r>
                        <a:rPr sz="850" b="0">
                          <a:solidFill>
                            <a:srgbClr val="000000"/>
                          </a:solidFill>
                          <a:latin typeface="Calibri"/>
                        </a:rPr>
                        <a:t>must advance by</a:t>
                      </a:r>
                    </a:p>
                  </a:txBody>
                  <a:tcPr/>
                </a:tc>
                <a:tc>
                  <a:txBody>
                    <a:bodyPr lIns="54864" rIns="54864" tIns="18288" bIns="18288" wrap="square" anchor="ctr"/>
                    <a:lstStyle/>
                    <a:p>
                      <a:pPr algn="l"/>
                      <a:r>
                        <a:rPr sz="850" b="0">
                          <a:solidFill>
                            <a:srgbClr val="000000"/>
                          </a:solidFill>
                          <a:latin typeface="Calibri"/>
                        </a:rPr>
                        <a:t>min(0.05 mm, 35 % of commanded)</a:t>
                      </a:r>
                    </a:p>
                  </a:txBody>
                  <a:tcPr/>
                </a:tc>
                <a:tc>
                  <a:txBody>
                    <a:bodyPr lIns="54864" rIns="54864" tIns="18288" bIns="18288" wrap="square" anchor="ctr"/>
                    <a:lstStyle/>
                    <a:p>
                      <a:pPr algn="l"/>
                      <a:r>
                        <a:rPr sz="850" b="0">
                          <a:solidFill>
                            <a:srgbClr val="000000"/>
                          </a:solidFill>
                          <a:latin typeface="Calibri"/>
                        </a:rPr>
                        <a:t>a FLAT 0.05 mm assumed every mode runs near 0.1 mm/s, where 0.6 mm is expected and the bar is 8 %</a:t>
                      </a:r>
                    </a:p>
                  </a:txBody>
                  <a:tcPr/>
                </a:tc>
              </a:tr>
              <a:tr h="243840">
                <a:tc>
                  <a:txBody>
                    <a:bodyPr lIns="54864" rIns="54864" tIns="18288" bIns="18288" wrap="square" anchor="ctr"/>
                    <a:lstStyle/>
                    <a:p>
                      <a:pPr algn="l"/>
                      <a:r>
                        <a:rPr sz="850" b="0">
                          <a:solidFill>
                            <a:srgbClr val="000000"/>
                          </a:solidFill>
                          <a:latin typeface="Calibri"/>
                        </a:rPr>
                        <a:t>at a tapered crawl</a:t>
                      </a:r>
                    </a:p>
                  </a:txBody>
                  <a:tcPr/>
                </a:tc>
                <a:tc>
                  <a:txBody>
                    <a:bodyPr lIns="54864" rIns="54864" tIns="18288" bIns="18288" wrap="square" anchor="ctr"/>
                    <a:lstStyle/>
                    <a:p>
                      <a:pPr algn="l"/>
                      <a:r>
                        <a:rPr sz="850" b="0">
                          <a:solidFill>
                            <a:srgbClr val="000000"/>
                          </a:solidFill>
                          <a:latin typeface="Calibri"/>
                        </a:rPr>
                        <a:t>0.01–0.02 mm/s → 0.06–0.12 mm expected</a:t>
                      </a:r>
                    </a:p>
                  </a:txBody>
                  <a:tcPr/>
                </a:tc>
                <a:tc>
                  <a:txBody>
                    <a:bodyPr lIns="54864" rIns="54864" tIns="18288" bIns="18288" wrap="square" anchor="ctr"/>
                    <a:lstStyle/>
                    <a:p>
                      <a:pPr algn="l"/>
                      <a:r>
                        <a:rPr sz="850" b="0">
                          <a:solidFill>
                            <a:srgbClr val="000000"/>
                          </a:solidFill>
                          <a:latin typeface="Calibri"/>
                        </a:rPr>
                        <a:t>a flat 0.05 mm would demand 42–83 % of commanded travel, and a HEALTHY motor trips on rounding alone</a:t>
                      </a:r>
                    </a:p>
                  </a:txBody>
                  <a:tcPr/>
                </a:tc>
              </a:tr>
              <a:tr h="243840">
                <a:tc>
                  <a:txBody>
                    <a:bodyPr lIns="54864" rIns="54864" tIns="18288" bIns="18288" wrap="square" anchor="ctr"/>
                    <a:lstStyle/>
                    <a:p>
                      <a:pPr algn="l"/>
                      <a:r>
                        <a:rPr sz="850" b="0">
                          <a:solidFill>
                            <a:srgbClr val="000000"/>
                          </a:solidFill>
                          <a:latin typeface="Calibri"/>
                        </a:rPr>
                        <a:t>only guards above</a:t>
                      </a:r>
                    </a:p>
                  </a:txBody>
                  <a:tcPr/>
                </a:tc>
                <a:tc>
                  <a:txBody>
                    <a:bodyPr lIns="54864" rIns="54864" tIns="18288" bIns="18288" wrap="square" anchor="ctr"/>
                    <a:lstStyle/>
                    <a:p>
                      <a:pPr algn="l"/>
                      <a:r>
                        <a:rPr sz="850" b="0">
                          <a:solidFill>
                            <a:srgbClr val="000000"/>
                          </a:solidFill>
                          <a:latin typeface="Calibri"/>
                        </a:rPr>
                        <a:t>200 N</a:t>
                      </a:r>
                    </a:p>
                  </a:txBody>
                  <a:tcPr/>
                </a:tc>
                <a:tc>
                  <a:txBody>
                    <a:bodyPr lIns="54864" rIns="54864" tIns="18288" bIns="18288" wrap="square" anchor="ctr"/>
                    <a:lstStyle/>
                    <a:p>
                      <a:pPr algn="l"/>
                      <a:r>
                        <a:rPr sz="850" b="0">
                          <a:solidFill>
                            <a:srgbClr val="000000"/>
                          </a:solidFill>
                          <a:latin typeface="Calibri"/>
                        </a:rPr>
                        <a:t>below that the crosshead may legitimately be taking up slack, not pulling</a:t>
                      </a:r>
                    </a:p>
                  </a:txBody>
                  <a:tcPr/>
                </a:tc>
              </a:tr>
              <a:tr h="243840">
                <a:tc>
                  <a:txBody>
                    <a:bodyPr lIns="54864" rIns="54864" tIns="18288" bIns="18288" wrap="square" anchor="ctr"/>
                    <a:lstStyle/>
                    <a:p>
                      <a:pPr algn="l"/>
                      <a:r>
                        <a:rPr sz="850" b="0">
                          <a:solidFill>
                            <a:srgbClr val="000000"/>
                          </a:solidFill>
                          <a:latin typeface="Calibri"/>
                        </a:rPr>
                        <a:t>nothing commanded</a:t>
                      </a:r>
                    </a:p>
                  </a:txBody>
                  <a:tcPr/>
                </a:tc>
                <a:tc>
                  <a:txBody>
                    <a:bodyPr lIns="54864" rIns="54864" tIns="18288" bIns="18288" wrap="square" anchor="ctr"/>
                    <a:lstStyle/>
                    <a:p>
                      <a:pPr algn="l"/>
                      <a:r>
                        <a:rPr sz="850" b="0">
                          <a:solidFill>
                            <a:srgbClr val="000000"/>
                          </a:solidFill>
                          <a:latin typeface="Calibri"/>
                        </a:rPr>
                        <a:t>threshold 0 — cannot fire</a:t>
                      </a:r>
                    </a:p>
                  </a:txBody>
                  <a:tcPr/>
                </a:tc>
                <a:tc>
                  <a:txBody>
                    <a:bodyPr lIns="54864" rIns="54864" tIns="18288" bIns="18288" wrap="square" anchor="ctr"/>
                    <a:lstStyle/>
                    <a:p>
                      <a:pPr algn="l"/>
                      <a:r>
                        <a:rPr sz="850" b="0">
                          <a:solidFill>
                            <a:srgbClr val="000000"/>
                          </a:solidFill>
                          <a:latin typeface="Calibri"/>
                        </a:rPr>
                        <a:t>a hold is not a stall, and the guard must not invent one</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BOTH ARE JUDGED BY WHAT THEY DID NOT DO. The stall guard stayed silent through every ductile 100 % draw — the case that looks most like a stall and is not — and fired on T7, which really had stopped advancing. A guard that cries wolf gets switched off.</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Constants read from main.py: STALL_WINDOW_S, STALL_MIN_ADVANCE_MM, STALL_SHORTFALL_FRAC, STALL_MIN_LOAD_N.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NOISE CAPTURE — MEASURING THE INSTRUMENT ALONE</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Every number this rig reports is specimen plus instrument. This records the instrument ALONE — preloaded, mounted, and completely still — so the two can be told apart. The button sits beside Prepare test and Fracture test, and it is the only one there that does not move the motor.</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numbers per channel — and only two of them are subtractable</a:t>
            </a:r>
          </a:p>
        </p:txBody>
      </p:sp>
      <p:graphicFrame>
        <p:nvGraphicFramePr>
          <p:cNvPr id="7" name="Table 6"/>
          <p:cNvGraphicFramePr>
            <a:graphicFrameLocks noGrp="1"/>
          </p:cNvGraphicFramePr>
          <p:nvPr/>
        </p:nvGraphicFramePr>
        <p:xfrm>
          <a:off x="411480" y="1920240"/>
          <a:ext cx="11430000" cy="1499616"/>
        </p:xfrm>
        <a:graphic>
          <a:graphicData uri="http://schemas.openxmlformats.org/drawingml/2006/table">
            <a:tbl>
              <a:tblPr firstRow="1" bandRow="1">
                <a:tableStyleId>{5C22544A-7EE6-4342-B048-85BDC9FD1C3A}</a:tableStyleId>
              </a:tblPr>
              <a:tblGrid>
                <a:gridCol w="1691640"/>
                <a:gridCol w="3931920"/>
                <a:gridCol w="5806440"/>
              </a:tblGrid>
              <a:tr h="37490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Can it be removed from a later run?</a:t>
                      </a:r>
                    </a:p>
                  </a:txBody>
                  <a:tcPr>
                    <a:solidFill>
                      <a:srgbClr val="143D2F"/>
                    </a:solidFill>
                  </a:tcPr>
                </a:tc>
              </a:tr>
              <a:tr h="374904">
                <a:tc>
                  <a:txBody>
                    <a:bodyPr lIns="54864" rIns="54864" tIns="18288" bIns="18288" wrap="square" anchor="ctr"/>
                    <a:lstStyle/>
                    <a:p>
                      <a:pPr algn="l"/>
                      <a:r>
                        <a:rPr sz="900" b="0">
                          <a:solidFill>
                            <a:srgbClr val="000000"/>
                          </a:solidFill>
                          <a:latin typeface="Calibri"/>
                        </a:rPr>
                        <a:t>OFFSET</a:t>
                      </a:r>
                    </a:p>
                  </a:txBody>
                  <a:tcPr/>
                </a:tc>
                <a:tc>
                  <a:txBody>
                    <a:bodyPr lIns="54864" rIns="54864" tIns="18288" bIns="18288" wrap="square" anchor="ctr"/>
                    <a:lstStyle/>
                    <a:p>
                      <a:pPr algn="l"/>
                      <a:r>
                        <a:rPr sz="900" b="0">
                          <a:solidFill>
                            <a:srgbClr val="000000"/>
                          </a:solidFill>
                          <a:latin typeface="Calibri"/>
                        </a:rPr>
                        <a:t>the mean while at rest</a:t>
                      </a:r>
                    </a:p>
                  </a:txBody>
                  <a:tcPr/>
                </a:tc>
                <a:tc>
                  <a:txBody>
                    <a:bodyPr lIns="54864" rIns="54864" tIns="18288" bIns="18288" wrap="square" anchor="ctr"/>
                    <a:lstStyle/>
                    <a:p>
                      <a:pPr algn="l"/>
                      <a:r>
                        <a:rPr sz="900" b="0">
                          <a:solidFill>
                            <a:srgbClr val="000000"/>
                          </a:solidFill>
                          <a:latin typeface="Calibri"/>
                        </a:rPr>
                        <a:t>YES — it is a constant, so it subtracts exactly</a:t>
                      </a:r>
                    </a:p>
                  </a:txBody>
                  <a:tcPr/>
                </a:tc>
              </a:tr>
              <a:tr h="374904">
                <a:tc>
                  <a:txBody>
                    <a:bodyPr lIns="54864" rIns="54864" tIns="18288" bIns="18288" wrap="square" anchor="ctr"/>
                    <a:lstStyle/>
                    <a:p>
                      <a:pPr algn="l"/>
                      <a:r>
                        <a:rPr sz="900" b="0">
                          <a:solidFill>
                            <a:srgbClr val="000000"/>
                          </a:solidFill>
                          <a:latin typeface="Calibri"/>
                        </a:rPr>
                        <a:t>DRIFT</a:t>
                      </a:r>
                    </a:p>
                  </a:txBody>
                  <a:tcPr/>
                </a:tc>
                <a:tc>
                  <a:txBody>
                    <a:bodyPr lIns="54864" rIns="54864" tIns="18288" bIns="18288" wrap="square" anchor="ctr"/>
                    <a:lstStyle/>
                    <a:p>
                      <a:pPr algn="l"/>
                      <a:r>
                        <a:rPr sz="900" b="0">
                          <a:solidFill>
                            <a:srgbClr val="000000"/>
                          </a:solidFill>
                          <a:latin typeface="Calibri"/>
                        </a:rPr>
                        <a:t>the slope while at rest (N/s, µε/s)</a:t>
                      </a:r>
                    </a:p>
                  </a:txBody>
                  <a:tcPr/>
                </a:tc>
                <a:tc>
                  <a:txBody>
                    <a:bodyPr lIns="54864" rIns="54864" tIns="18288" bIns="18288" wrap="square" anchor="ctr"/>
                    <a:lstStyle/>
                    <a:p>
                      <a:pPr algn="l"/>
                      <a:r>
                        <a:rPr sz="900" b="0">
                          <a:solidFill>
                            <a:srgbClr val="000000"/>
                          </a:solidFill>
                          <a:latin typeface="Calibri"/>
                        </a:rPr>
                        <a:t>YES — it is systematic, so the fitted line subtracts</a:t>
                      </a:r>
                    </a:p>
                  </a:txBody>
                  <a:tcPr/>
                </a:tc>
              </a:tr>
              <a:tr h="374904">
                <a:tc>
                  <a:txBody>
                    <a:bodyPr lIns="54864" rIns="54864" tIns="18288" bIns="18288" wrap="square" anchor="ctr"/>
                    <a:lstStyle/>
                    <a:p>
                      <a:pPr algn="l"/>
                      <a:r>
                        <a:rPr sz="900" b="0">
                          <a:solidFill>
                            <a:srgbClr val="000000"/>
                          </a:solidFill>
                          <a:latin typeface="Calibri"/>
                        </a:rPr>
                        <a:t>RESIDUAL SD</a:t>
                      </a:r>
                    </a:p>
                  </a:txBody>
                  <a:tcPr/>
                </a:tc>
                <a:tc>
                  <a:txBody>
                    <a:bodyPr lIns="54864" rIns="54864" tIns="18288" bIns="18288" wrap="square" anchor="ctr"/>
                    <a:lstStyle/>
                    <a:p>
                      <a:pPr algn="l"/>
                      <a:r>
                        <a:rPr sz="900" b="0">
                          <a:solidFill>
                            <a:srgbClr val="000000"/>
                          </a:solidFill>
                          <a:latin typeface="Calibri"/>
                        </a:rPr>
                        <a:t>what is left once that line is removed</a:t>
                      </a:r>
                    </a:p>
                  </a:txBody>
                  <a:tcPr/>
                </a:tc>
                <a:tc>
                  <a:txBody>
                    <a:bodyPr lIns="54864" rIns="54864" tIns="18288" bIns="18288" wrap="square" anchor="ctr"/>
                    <a:lstStyle/>
                    <a:p>
                      <a:pPr algn="l"/>
                      <a:r>
                        <a:rPr sz="900" b="0">
                          <a:solidFill>
                            <a:srgbClr val="000000"/>
                          </a:solidFill>
                          <a:latin typeface="Calibri"/>
                        </a:rPr>
                        <a:t>NO. This is the measurement uncertainty — quote it, do not subtract it</a:t>
                      </a:r>
                    </a:p>
                  </a:txBody>
                  <a:tcPr/>
                </a:tc>
              </a:tr>
            </a:tbl>
          </a:graphicData>
        </a:graphic>
      </p:graphicFrame>
      <p:sp>
        <p:nvSpPr>
          <p:cNvPr id="8" name="TextBox 7"/>
          <p:cNvSpPr txBox="1"/>
          <p:nvPr/>
        </p:nvSpPr>
        <p:spPr>
          <a:xfrm>
            <a:off x="411480" y="360273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SD cannot be subtracted</a:t>
            </a:r>
          </a:p>
        </p:txBody>
      </p:sp>
      <p:sp>
        <p:nvSpPr>
          <p:cNvPr id="9" name="TextBox 8"/>
          <p:cNvSpPr txBox="1"/>
          <p:nvPr/>
        </p:nvSpPr>
        <p:spPr>
          <a:xfrm>
            <a:off x="411480" y="3950208"/>
            <a:ext cx="5715000" cy="1828800"/>
          </a:xfrm>
          <a:prstGeom prst="rect">
            <a:avLst/>
          </a:prstGeom>
          <a:noFill/>
        </p:spPr>
        <p:txBody>
          <a:bodyPr wrap="square" lIns="45720" rIns="45720" tIns="18288" bIns="18288" anchor="t">
            <a:spAutoFit/>
          </a:bodyPr>
          <a:lstStyle/>
          <a:p>
            <a:pPr algn="l"/>
            <a:r>
              <a:rPr sz="1000" b="0" i="0">
                <a:solidFill>
                  <a:srgbClr val="000000"/>
                </a:solidFill>
                <a:latin typeface="Calibri"/>
              </a:rPr>
              <a:t>Because it is RANDOM, and two random records do not cancel. Subtracting one independent recording from another gives √2 times the variance, not zero — so a “noise-corrected” curve built that way would be noisier than the raw one, while looking cleaner on the slide.
What the sd is FOR is the uncertainty band on a result, and the threshold below which a reported change is not a measurement. That is the honest use, and it is the one this feature supports.
The straight line is removed BEFORE the sd is computed. A raw sd over a drifting window folds the drift in and reports a removable trend as irreducible noise.</a:t>
            </a:r>
          </a:p>
        </p:txBody>
      </p:sp>
      <p:sp>
        <p:nvSpPr>
          <p:cNvPr id="10" name="TextBox 9"/>
          <p:cNvSpPr txBox="1"/>
          <p:nvPr/>
        </p:nvSpPr>
        <p:spPr>
          <a:xfrm>
            <a:off x="6355080" y="360273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it insists on</a:t>
            </a:r>
          </a:p>
        </p:txBody>
      </p:sp>
      <p:sp>
        <p:nvSpPr>
          <p:cNvPr id="11" name="TextBox 10"/>
          <p:cNvSpPr txBox="1"/>
          <p:nvPr/>
        </p:nvSpPr>
        <p:spPr>
          <a:xfrm>
            <a:off x="6355080" y="3950208"/>
            <a:ext cx="5486400" cy="1828800"/>
          </a:xfrm>
          <a:prstGeom prst="rect">
            <a:avLst/>
          </a:prstGeom>
          <a:noFill/>
        </p:spPr>
        <p:txBody>
          <a:bodyPr wrap="square" lIns="45720" rIns="45720" tIns="18288" bIns="18288" anchor="t">
            <a:spAutoFit/>
          </a:bodyPr>
          <a:lstStyle/>
          <a:p>
            <a:pPr algn="l"/>
            <a:r>
              <a:rPr sz="1000" b="0" i="0">
                <a:solidFill>
                  <a:srgbClr val="000000"/>
                </a:solidFill>
                <a:latin typeface="Calibri"/>
              </a:rPr>
              <a:t>PRELOAD FIRST, judged from the live load rather than from history — a preload that relaxed, or one applied to a different specimen, should not count. Without it the operator gets the warning and an explicit “Measure anyway”, because a bare-machine baseline is a legitimate thing to want; the override is written into the file. It matters because unseated grips settle, and that settling is recorded as a drift that will not be there during the run.
THE WINDOW TRAVELS WITH THE NUMBER. This rig's DIC noise floor GROWS with observation time — about 12 µε over 40 s against 26 µε over 900 s (p231). A 30 s figure applied to a 900 s creep test understates the noise by roughly half, so the duration is chosen per capture and written into the header.</a:t>
            </a:r>
          </a:p>
        </p:txBody>
      </p:sp>
      <p:sp>
        <p:nvSpPr>
          <p:cNvPr id="12" name="Rectangle 11"/>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STATUS: BUILT AND VERIFIED OFFLINE — NOT YET RUN ON THE RIG. The statistics are checked against a synthetic signal with a known 0.25 N/s drift and 2.0 N sd, and recover 0.249 and 2.015. What has not happened yet is a capture on the real machine, so no measured noise floor is claimed here.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Saves every sample and the summary where the operator chooses. No DIC gives a load-only capture with the strain columns EMPTY, never zero.</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