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4.5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(blue).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SF14  Test registry
every run + force anchor</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Dead-DIC guard + backstops
0.2 s freeze / 1.0 s halt</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Live Px₀ overlay
frozen vs live pair, on the feed</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SF17  Video + image capture
PNG + 3 AVI styles, 0 dropped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DIC post-processing
measure any recorded video</a:t>
            </a:r>
          </a:p>
        </p:txBody>
      </p:sp>
      <p:sp>
        <p:nvSpPr>
          <p:cNvPr id="24" name="Rounded Rectangle 23"/>
          <p:cNvSpPr/>
          <p:nvPr/>
        </p:nvSpPr>
        <p:spPr>
          <a:xfrm>
            <a:off x="6254496"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Noise capture
the instrument at rest</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 two entries were dropped, a developer-only sim harness and optics-blocked Poisson (now FW1). Four safety layers on every driven test: load-collapse · stall guard · 4.5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4.5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4.5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force and travel backstops were never the problem, and were not touched to fix it.</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682496"/>
          <a:ext cx="11475720" cy="3346704"/>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23113">
                <a:tc>
                  <a:txBody>
                    <a:bodyPr lIns="54864" rIns="54864" tIns="18288" bIns="18288" wrap="square" anchor="ctr"/>
                    <a:lstStyle/>
                    <a:p>
                      <a:pPr algn="l"/>
                      <a:r>
                        <a:rPr sz="900" b="1">
                          <a:solidFill>
                            <a:srgbClr val="FFFFFF"/>
                          </a:solidFill>
                          <a:latin typeface="Calibri"/>
                        </a:rPr>
                        <a:t>Specimen</a:t>
                      </a:r>
                    </a:p>
                  </a:txBody>
                  <a:tcPr>
                    <a:solidFill>
                      <a:srgbClr val="143D2F"/>
                    </a:solidFill>
                  </a:tcPr>
                </a:tc>
                <a:tc>
                  <a:txBody>
                    <a:bodyPr lIns="54864" rIns="54864" tIns="18288" bIns="18288" wrap="square" anchor="ctr"/>
                    <a:lstStyle/>
                    <a:p>
                      <a:pPr algn="l"/>
                      <a:r>
                        <a:rPr sz="900" b="1">
                          <a:solidFill>
                            <a:srgbClr val="FFFFFF"/>
                          </a:solidFill>
                          <a:latin typeface="Calibri"/>
                        </a:rPr>
                        <a:t>Date</a:t>
                      </a:r>
                    </a:p>
                  </a:txBody>
                  <a:tcPr>
                    <a:solidFill>
                      <a:srgbClr val="143D2F"/>
                    </a:solidFill>
                  </a:tcPr>
                </a:tc>
                <a:tc>
                  <a:txBody>
                    <a:bodyPr lIns="54864" rIns="54864" tIns="18288" bIns="18288" wrap="square" anchor="ctr"/>
                    <a:lstStyle/>
                    <a:p>
                      <a:pPr algn="l"/>
                      <a:r>
                        <a:rPr sz="900" b="1">
                          <a:solidFill>
                            <a:srgbClr val="FFFFFF"/>
                          </a:solidFill>
                          <a:latin typeface="Calibri"/>
                        </a:rPr>
                        <a:t>Material</a:t>
                      </a:r>
                    </a:p>
                  </a:txBody>
                  <a:tcPr>
                    <a:solidFill>
                      <a:srgbClr val="143D2F"/>
                    </a:solidFill>
                  </a:tcPr>
                </a:tc>
                <a:tc>
                  <a:txBody>
                    <a:bodyPr lIns="54864" rIns="54864" tIns="18288" bIns="18288" wrap="square" anchor="ctr"/>
                    <a:lstStyle/>
                    <a:p>
                      <a:pPr algn="l"/>
                      <a:r>
                        <a:rPr sz="9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900" b="1">
                          <a:solidFill>
                            <a:srgbClr val="FFFFFF"/>
                          </a:solidFill>
                          <a:latin typeface="Calibri"/>
                        </a:rPr>
                        <a:t>Peak</a:t>
                      </a:r>
                    </a:p>
                  </a:txBody>
                  <a:tcPr>
                    <a:solidFill>
                      <a:srgbClr val="143D2F"/>
                    </a:solidFill>
                  </a:tcPr>
                </a:tc>
                <a:tc>
                  <a:txBody>
                    <a:bodyPr lIns="54864" rIns="54864" tIns="18288" bIns="18288" wrap="square" anchor="ctr"/>
                    <a:lstStyle/>
                    <a:p>
                      <a:pPr algn="l"/>
                      <a:r>
                        <a:rPr sz="900" b="1">
                          <a:solidFill>
                            <a:srgbClr val="FFFFFF"/>
                          </a:solidFill>
                          <a:latin typeface="Calibri"/>
                        </a:rPr>
                        <a:t>UTS</a:t>
                      </a:r>
                    </a:p>
                  </a:txBody>
                  <a:tcPr>
                    <a:solidFill>
                      <a:srgbClr val="143D2F"/>
                    </a:solidFill>
                  </a:tcPr>
                </a:tc>
                <a:tc>
                  <a:txBody>
                    <a:bodyPr lIns="54864" rIns="54864" tIns="18288" bIns="18288" wrap="square" anchor="ctr"/>
                    <a:lstStyle/>
                    <a:p>
                      <a:pPr algn="l"/>
                      <a:r>
                        <a:rPr sz="900" b="1">
                          <a:solidFill>
                            <a:srgbClr val="FFFFFF"/>
                          </a:solidFill>
                          <a:latin typeface="Calibri"/>
                        </a:rPr>
                        <a:t>E</a:t>
                      </a:r>
                    </a:p>
                  </a:txBody>
                  <a:tcPr>
                    <a:solidFill>
                      <a:srgbClr val="143D2F"/>
                    </a:solidFill>
                  </a:tcPr>
                </a:tc>
                <a:tc>
                  <a:txBody>
                    <a:bodyPr lIns="54864" rIns="54864" tIns="18288" bIns="18288" wrap="square" anchor="ctr"/>
                    <a:lstStyle/>
                    <a:p>
                      <a:pPr algn="l"/>
                      <a:r>
                        <a:rPr sz="900" b="1">
                          <a:solidFill>
                            <a:srgbClr val="FFFFFF"/>
                          </a:solidFill>
                          <a:latin typeface="Calibri"/>
                        </a:rPr>
                        <a:t>Outcome</a:t>
                      </a:r>
                    </a:p>
                  </a:txBody>
                  <a:tcPr>
                    <a:solidFill>
                      <a:srgbClr val="143D2F"/>
                    </a:solidFill>
                  </a:tcPr>
                </a:tc>
              </a:tr>
              <a:tr h="223113">
                <a:tc>
                  <a:txBody>
                    <a:bodyPr lIns="54864" rIns="54864" tIns="18288" bIns="18288" wrap="square" anchor="ctr"/>
                    <a:lstStyle/>
                    <a:p>
                      <a:pPr algn="l"/>
                      <a:r>
                        <a:rPr sz="850" b="0">
                          <a:solidFill>
                            <a:srgbClr val="000000"/>
                          </a:solidFill>
                          <a:latin typeface="Calibri"/>
                        </a:rPr>
                        <a:t>S24</a:t>
                      </a:r>
                    </a:p>
                  </a:txBody>
                  <a:tcPr/>
                </a:tc>
                <a:tc>
                  <a:txBody>
                    <a:bodyPr lIns="54864" rIns="54864" tIns="18288" bIns="18288" wrap="square" anchor="ctr"/>
                    <a:lstStyle/>
                    <a:p>
                      <a:pPr algn="l"/>
                      <a:r>
                        <a:rPr sz="850" b="0">
                          <a:solidFill>
                            <a:srgbClr val="000000"/>
                          </a:solidFill>
                          <a:latin typeface="Calibri"/>
                        </a:rPr>
                        <a:t>2026-08-14</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VC1</a:t>
                      </a:r>
                    </a:p>
                  </a:txBody>
                  <a:tcPr/>
                </a:tc>
                <a:tc>
                  <a:txBody>
                    <a:bodyPr lIns="54864" rIns="54864" tIns="18288" bIns="18288" wrap="square" anchor="ctr"/>
                    <a:lstStyle/>
                    <a:p>
                      <a:pPr algn="l"/>
                      <a:r>
                        <a:rPr sz="850" b="0">
                          <a:solidFill>
                            <a:srgbClr val="000000"/>
                          </a:solidFill>
                          <a:latin typeface="Calibri"/>
                        </a:rPr>
                        <a:t>3718 N</a:t>
                      </a:r>
                    </a:p>
                  </a:txBody>
                  <a:tcPr/>
                </a:tc>
                <a:tc>
                  <a:txBody>
                    <a:bodyPr lIns="54864" rIns="54864" tIns="18288" bIns="18288" wrap="square" anchor="ctr"/>
                    <a:lstStyle/>
                    <a:p>
                      <a:pPr algn="l"/>
                      <a:r>
                        <a:rPr sz="850" b="0">
                          <a:solidFill>
                            <a:srgbClr val="000000"/>
                          </a:solidFill>
                          <a:latin typeface="Calibri"/>
                        </a:rPr>
                        <a:t>46.5 MPa</a:t>
                      </a:r>
                    </a:p>
                  </a:txBody>
                  <a:tcPr/>
                </a:tc>
                <a:tc>
                  <a:txBody>
                    <a:bodyPr lIns="54864" rIns="54864" tIns="18288" bIns="18288" wrap="square" anchor="ctr"/>
                    <a:lstStyle/>
                    <a:p>
                      <a:pPr algn="l"/>
                      <a:r>
                        <a:rPr sz="850" b="0">
                          <a:solidFill>
                            <a:srgbClr val="000000"/>
                          </a:solidFill>
                          <a:latin typeface="Calibri"/>
                        </a:rPr>
                        <a:t>3.00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S12</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attempt VC6 — capture not filed</a:t>
                      </a:r>
                    </a:p>
                  </a:txBody>
                  <a:tcPr/>
                </a:tc>
                <a:tc>
                  <a:txBody>
                    <a:bodyPr lIns="54864" rIns="54864" tIns="18288" bIns="18288" wrap="square" anchor="ctr"/>
                    <a:lstStyle/>
                    <a:p>
                      <a:pPr algn="l"/>
                      <a:r>
                        <a:rPr sz="850" b="0">
                          <a:solidFill>
                            <a:srgbClr val="000000"/>
                          </a:solidFill>
                          <a:latin typeface="Calibri"/>
                        </a:rPr>
                        <a:t>3822 N</a:t>
                      </a:r>
                    </a:p>
                  </a:txBody>
                  <a:tcPr/>
                </a:tc>
                <a:tc>
                  <a:txBody>
                    <a:bodyPr lIns="54864" rIns="54864" tIns="18288" bIns="18288" wrap="square" anchor="ctr"/>
                    <a:lstStyle/>
                    <a:p>
                      <a:pPr algn="l"/>
                      <a:r>
                        <a:rPr sz="850" b="0">
                          <a:solidFill>
                            <a:srgbClr val="000000"/>
                          </a:solidFill>
                          <a:latin typeface="Calibri"/>
                        </a:rPr>
                        <a:t>47.8 MPa</a:t>
                      </a:r>
                    </a:p>
                  </a:txBody>
                  <a:tcPr/>
                </a:tc>
                <a:tc>
                  <a:txBody>
                    <a:bodyPr lIns="54864" rIns="54864" tIns="18288" bIns="18288" wrap="square" anchor="ctr"/>
                    <a:lstStyle/>
                    <a:p>
                      <a:pPr algn="l"/>
                      <a:r>
                        <a:rPr sz="850" b="0">
                          <a:solidFill>
                            <a:srgbClr val="000000"/>
                          </a:solidFill>
                          <a:latin typeface="Calibri"/>
                        </a:rPr>
                        <a:t>3.29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S25</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VC2 — extensometer basis</a:t>
                      </a:r>
                    </a:p>
                  </a:txBody>
                  <a:tcPr/>
                </a:tc>
                <a:tc>
                  <a:txBody>
                    <a:bodyPr lIns="54864" rIns="54864" tIns="18288" bIns="18288" wrap="square" anchor="ctr"/>
                    <a:lstStyle/>
                    <a:p>
                      <a:pPr algn="l"/>
                      <a:r>
                        <a:rPr sz="850" b="0">
                          <a:solidFill>
                            <a:srgbClr val="000000"/>
                          </a:solidFill>
                          <a:latin typeface="Calibri"/>
                        </a:rPr>
                        <a:t>3693 N</a:t>
                      </a:r>
                    </a:p>
                  </a:txBody>
                  <a:tcPr/>
                </a:tc>
                <a:tc>
                  <a:txBody>
                    <a:bodyPr lIns="54864" rIns="54864" tIns="18288" bIns="18288" wrap="square" anchor="ctr"/>
                    <a:lstStyle/>
                    <a:p>
                      <a:pPr algn="l"/>
                      <a:r>
                        <a:rPr sz="850" b="0">
                          <a:solidFill>
                            <a:srgbClr val="000000"/>
                          </a:solidFill>
                          <a:latin typeface="Calibri"/>
                        </a:rPr>
                        <a:t>46.2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S26</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VC3 — extensometer basis</a:t>
                      </a:r>
                    </a:p>
                  </a:txBody>
                  <a:tcPr/>
                </a:tc>
                <a:tc>
                  <a:txBody>
                    <a:bodyPr lIns="54864" rIns="54864" tIns="18288" bIns="18288" wrap="square" anchor="ctr"/>
                    <a:lstStyle/>
                    <a:p>
                      <a:pPr algn="l"/>
                      <a:r>
                        <a:rPr sz="850" b="0">
                          <a:solidFill>
                            <a:srgbClr val="000000"/>
                          </a:solidFill>
                          <a:latin typeface="Calibri"/>
                        </a:rPr>
                        <a:t>3774 N</a:t>
                      </a:r>
                    </a:p>
                  </a:txBody>
                  <a:tcPr/>
                </a:tc>
                <a:tc>
                  <a:txBody>
                    <a:bodyPr lIns="54864" rIns="54864" tIns="18288" bIns="18288" wrap="square" anchor="ctr"/>
                    <a:lstStyle/>
                    <a:p>
                      <a:pPr algn="l"/>
                      <a:r>
                        <a:rPr sz="850" b="0">
                          <a:solidFill>
                            <a:srgbClr val="000000"/>
                          </a:solidFill>
                          <a:latin typeface="Calibri"/>
                        </a:rPr>
                        <a:t>47.2 MPa</a:t>
                      </a:r>
                    </a:p>
                  </a:txBody>
                  <a:tcPr/>
                </a:tc>
                <a:tc>
                  <a:txBody>
                    <a:bodyPr lIns="54864" rIns="54864" tIns="18288" bIns="18288" wrap="square" anchor="ctr"/>
                    <a:lstStyle/>
                    <a:p>
                      <a:pPr algn="l"/>
                      <a:r>
                        <a:rPr sz="850" b="0">
                          <a:solidFill>
                            <a:srgbClr val="000000"/>
                          </a:solidFill>
                          <a:latin typeface="Calibri"/>
                        </a:rPr>
                        <a:t>3.55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S27</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VC4</a:t>
                      </a:r>
                    </a:p>
                  </a:txBody>
                  <a:tcPr/>
                </a:tc>
                <a:tc>
                  <a:txBody>
                    <a:bodyPr lIns="54864" rIns="54864" tIns="18288" bIns="18288" wrap="square" anchor="ctr"/>
                    <a:lstStyle/>
                    <a:p>
                      <a:pPr algn="l"/>
                      <a:r>
                        <a:rPr sz="850" b="0">
                          <a:solidFill>
                            <a:srgbClr val="000000"/>
                          </a:solidFill>
                          <a:latin typeface="Calibri"/>
                        </a:rPr>
                        <a:t>1588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1.40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S28</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VC5</a:t>
                      </a:r>
                    </a:p>
                  </a:txBody>
                  <a:tcPr/>
                </a:tc>
                <a:tc>
                  <a:txBody>
                    <a:bodyPr lIns="54864" rIns="54864" tIns="18288" bIns="18288" wrap="square" anchor="ctr"/>
                    <a:lstStyle/>
                    <a:p>
                      <a:pPr algn="l"/>
                      <a:r>
                        <a:rPr sz="850" b="0">
                          <a:solidFill>
                            <a:srgbClr val="000000"/>
                          </a:solidFill>
                          <a:latin typeface="Calibri"/>
                        </a:rPr>
                        <a:t>1594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1.28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S13</a:t>
                      </a:r>
                    </a:p>
                  </a:txBody>
                  <a:tcPr/>
                </a:tc>
                <a:tc>
                  <a:txBody>
                    <a:bodyPr lIns="54864" rIns="54864" tIns="18288" bIns="18288" wrap="square" anchor="ctr"/>
                    <a:lstStyle/>
                    <a:p>
                      <a:pPr algn="l"/>
                      <a:r>
                        <a:rPr sz="850" b="0">
                          <a:solidFill>
                            <a:srgbClr val="000000"/>
                          </a:solidFill>
                          <a:latin typeface="Calibri"/>
                        </a:rPr>
                        <a:t>2026-08-18</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preset VALIDATED VC7</a:t>
                      </a:r>
                    </a:p>
                  </a:txBody>
                  <a:tcPr/>
                </a:tc>
                <a:tc>
                  <a:txBody>
                    <a:bodyPr lIns="54864" rIns="54864" tIns="18288" bIns="18288" wrap="square" anchor="ctr"/>
                    <a:lstStyle/>
                    <a:p>
                      <a:pPr algn="l"/>
                      <a:r>
                        <a:rPr sz="850" b="0">
                          <a:solidFill>
                            <a:srgbClr val="000000"/>
                          </a:solidFill>
                          <a:latin typeface="Calibri"/>
                        </a:rPr>
                        <a:t>3706 N</a:t>
                      </a:r>
                    </a:p>
                  </a:txBody>
                  <a:tcPr/>
                </a:tc>
                <a:tc>
                  <a:txBody>
                    <a:bodyPr lIns="54864" rIns="54864" tIns="18288" bIns="18288" wrap="square" anchor="ctr"/>
                    <a:lstStyle/>
                    <a:p>
                      <a:pPr algn="l"/>
                      <a:r>
                        <a:rPr sz="850" b="0">
                          <a:solidFill>
                            <a:srgbClr val="000000"/>
                          </a:solidFill>
                          <a:latin typeface="Calibri"/>
                        </a:rPr>
                        <a:t>46.3 MPa</a:t>
                      </a:r>
                    </a:p>
                  </a:txBody>
                  <a:tcPr/>
                </a:tc>
                <a:tc>
                  <a:txBody>
                    <a:bodyPr lIns="54864" rIns="54864" tIns="18288" bIns="18288" wrap="square" anchor="ctr"/>
                    <a:lstStyle/>
                    <a:p>
                      <a:pPr algn="l"/>
                      <a:r>
                        <a:rPr sz="850" b="0">
                          <a:solidFill>
                            <a:srgbClr val="000000"/>
                          </a:solidFill>
                          <a:latin typeface="Calibri"/>
                        </a:rPr>
                        <a:t>3.03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S30</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1 of 3 VC9 — the representative run</a:t>
                      </a:r>
                    </a:p>
                  </a:txBody>
                  <a:tcPr/>
                </a:tc>
                <a:tc>
                  <a:txBody>
                    <a:bodyPr lIns="54864" rIns="54864" tIns="18288" bIns="18288" wrap="square" anchor="ctr"/>
                    <a:lstStyle/>
                    <a:p>
                      <a:pPr algn="l"/>
                      <a:r>
                        <a:rPr sz="850" b="0">
                          <a:solidFill>
                            <a:srgbClr val="000000"/>
                          </a:solidFill>
                          <a:latin typeface="Calibri"/>
                        </a:rPr>
                        <a:t>3340 N</a:t>
                      </a:r>
                    </a:p>
                  </a:txBody>
                  <a:tcPr/>
                </a:tc>
                <a:tc>
                  <a:txBody>
                    <a:bodyPr lIns="54864" rIns="54864" tIns="18288" bIns="18288" wrap="square" anchor="ctr"/>
                    <a:lstStyle/>
                    <a:p>
                      <a:pPr algn="l"/>
                      <a:r>
                        <a:rPr sz="850" b="0">
                          <a:solidFill>
                            <a:srgbClr val="000000"/>
                          </a:solidFill>
                          <a:latin typeface="Calibri"/>
                        </a:rPr>
                        <a:t>41.8 MPa</a:t>
                      </a:r>
                    </a:p>
                  </a:txBody>
                  <a:tcPr/>
                </a:tc>
                <a:tc>
                  <a:txBody>
                    <a:bodyPr lIns="54864" rIns="54864" tIns="18288" bIns="18288" wrap="square" anchor="ctr"/>
                    <a:lstStyle/>
                    <a:p>
                      <a:pPr algn="l"/>
                      <a:r>
                        <a:rPr sz="850" b="0">
                          <a:solidFill>
                            <a:srgbClr val="000000"/>
                          </a:solidFill>
                          <a:latin typeface="Calibri"/>
                        </a:rPr>
                        <a:t>1.81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S31</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2 of 3 VC10 — strength only, 57 % tracked</a:t>
                      </a:r>
                    </a:p>
                  </a:txBody>
                  <a:tcPr/>
                </a:tc>
                <a:tc>
                  <a:txBody>
                    <a:bodyPr lIns="54864" rIns="54864" tIns="18288" bIns="18288" wrap="square" anchor="ctr"/>
                    <a:lstStyle/>
                    <a:p>
                      <a:pPr algn="l"/>
                      <a:r>
                        <a:rPr sz="850" b="0">
                          <a:solidFill>
                            <a:srgbClr val="000000"/>
                          </a:solidFill>
                          <a:latin typeface="Calibri"/>
                        </a:rPr>
                        <a:t>3244 N</a:t>
                      </a:r>
                    </a:p>
                  </a:txBody>
                  <a:tcPr/>
                </a:tc>
                <a:tc>
                  <a:txBody>
                    <a:bodyPr lIns="54864" rIns="54864" tIns="18288" bIns="18288" wrap="square" anchor="ctr"/>
                    <a:lstStyle/>
                    <a:p>
                      <a:pPr algn="l"/>
                      <a:r>
                        <a:rPr sz="850" b="0">
                          <a:solidFill>
                            <a:srgbClr val="000000"/>
                          </a:solidFill>
                          <a:latin typeface="Calibri"/>
                        </a:rPr>
                        <a:t>40.5 MPa</a:t>
                      </a:r>
                    </a:p>
                  </a:txBody>
                  <a:tcPr/>
                </a:tc>
                <a:tc>
                  <a:txBody>
                    <a:bodyPr lIns="54864" rIns="54864" tIns="18288" bIns="18288" wrap="square" anchor="ctr"/>
                    <a:lstStyle/>
                    <a:p>
                      <a:pPr algn="l"/>
                      <a:r>
                        <a:rPr sz="850" b="0">
                          <a:solidFill>
                            <a:srgbClr val="000000"/>
                          </a:solidFill>
                          <a:latin typeface="Calibri"/>
                        </a:rPr>
                        <a:t>2.12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S33</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VC12 — against S25</a:t>
                      </a:r>
                    </a:p>
                  </a:txBody>
                  <a:tcPr/>
                </a:tc>
                <a:tc>
                  <a:txBody>
                    <a:bodyPr lIns="54864" rIns="54864" tIns="18288" bIns="18288" wrap="square" anchor="ctr"/>
                    <a:lstStyle/>
                    <a:p>
                      <a:pPr algn="l"/>
                      <a:r>
                        <a:rPr sz="850" b="0">
                          <a:solidFill>
                            <a:srgbClr val="000000"/>
                          </a:solidFill>
                          <a:latin typeface="Calibri"/>
                        </a:rPr>
                        <a:t>3767 N</a:t>
                      </a:r>
                    </a:p>
                  </a:txBody>
                  <a:tcPr/>
                </a:tc>
                <a:tc>
                  <a:txBody>
                    <a:bodyPr lIns="54864" rIns="54864" tIns="18288" bIns="18288" wrap="square" anchor="ctr"/>
                    <a:lstStyle/>
                    <a:p>
                      <a:pPr algn="l"/>
                      <a:r>
                        <a:rPr sz="850" b="0">
                          <a:solidFill>
                            <a:srgbClr val="000000"/>
                          </a:solidFill>
                          <a:latin typeface="Calibri"/>
                        </a:rPr>
                        <a:t>47.1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S34</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VC13 — against S26</a:t>
                      </a:r>
                    </a:p>
                  </a:txBody>
                  <a:tcPr/>
                </a:tc>
                <a:tc>
                  <a:txBody>
                    <a:bodyPr lIns="54864" rIns="54864" tIns="18288" bIns="18288" wrap="square" anchor="ctr"/>
                    <a:lstStyle/>
                    <a:p>
                      <a:pPr algn="l"/>
                      <a:r>
                        <a:rPr sz="850" b="0">
                          <a:solidFill>
                            <a:srgbClr val="000000"/>
                          </a:solidFill>
                          <a:latin typeface="Calibri"/>
                        </a:rPr>
                        <a:t>3867 N</a:t>
                      </a:r>
                    </a:p>
                  </a:txBody>
                  <a:tcPr/>
                </a:tc>
                <a:tc>
                  <a:txBody>
                    <a:bodyPr lIns="54864" rIns="54864" tIns="18288" bIns="18288" wrap="square" anchor="ctr"/>
                    <a:lstStyle/>
                    <a:p>
                      <a:pPr algn="l"/>
                      <a:r>
                        <a:rPr sz="850" b="0">
                          <a:solidFill>
                            <a:srgbClr val="000000"/>
                          </a:solidFill>
                          <a:latin typeface="Calibri"/>
                        </a:rPr>
                        <a:t>48.3 MPa</a:t>
                      </a:r>
                    </a:p>
                  </a:txBody>
                  <a:tcPr/>
                </a:tc>
                <a:tc>
                  <a:txBody>
                    <a:bodyPr lIns="54864" rIns="54864" tIns="18288" bIns="18288" wrap="square" anchor="ctr"/>
                    <a:lstStyle/>
                    <a:p>
                      <a:pPr algn="l"/>
                      <a:r>
                        <a:rPr sz="850" b="0">
                          <a:solidFill>
                            <a:srgbClr val="000000"/>
                          </a:solidFill>
                          <a:latin typeface="Calibri"/>
                        </a:rPr>
                        <a:t>3.45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S35</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VC14 — marker lost at ~15 mm travel</a:t>
                      </a:r>
                    </a:p>
                  </a:txBody>
                  <a:tcPr/>
                </a:tc>
                <a:tc>
                  <a:txBody>
                    <a:bodyPr lIns="54864" rIns="54864" tIns="18288" bIns="18288" wrap="square" anchor="ctr"/>
                    <a:lstStyle/>
                    <a:p>
                      <a:pPr algn="l"/>
                      <a:r>
                        <a:rPr sz="850" b="0">
                          <a:solidFill>
                            <a:srgbClr val="000000"/>
                          </a:solidFill>
                          <a:latin typeface="Calibri"/>
                        </a:rPr>
                        <a:t>180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S36</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 marker lost at ~15 mm travel</a:t>
                      </a:r>
                    </a:p>
                  </a:txBody>
                  <a:tcPr/>
                </a:tc>
                <a:tc>
                  <a:txBody>
                    <a:bodyPr lIns="54864" rIns="54864" tIns="18288" bIns="18288" wrap="square" anchor="ctr"/>
                    <a:lstStyle/>
                    <a:p>
                      <a:pPr algn="l"/>
                      <a:r>
                        <a:rPr sz="850" b="0">
                          <a:solidFill>
                            <a:srgbClr val="000000"/>
                          </a:solidFill>
                          <a:latin typeface="Calibri"/>
                        </a:rPr>
                        <a:t>177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22">
                <a:tc>
                  <a:txBody>
                    <a:bodyPr lIns="54864" rIns="54864" tIns="18288" bIns="18288" wrap="square" anchor="ctr"/>
                    <a:lstStyle/>
                    <a:p>
                      <a:pPr algn="l"/>
                      <a:r>
                        <a:rPr sz="850" b="0">
                          <a:solidFill>
                            <a:srgbClr val="000000"/>
                          </a:solidFill>
                          <a:latin typeface="Calibri"/>
                        </a:rPr>
                        <a:t>S37</a:t>
                      </a:r>
                    </a:p>
                  </a:txBody>
                  <a:tcPr/>
                </a:tc>
                <a:tc>
                  <a:txBody>
                    <a:bodyPr lIns="54864" rIns="54864" tIns="18288" bIns="18288" wrap="square" anchor="ctr"/>
                    <a:lstStyle/>
                    <a:p>
                      <a:pPr algn="l"/>
                      <a:r>
                        <a:rPr sz="850" b="0">
                          <a:solidFill>
                            <a:srgbClr val="000000"/>
                          </a:solidFill>
                          <a:latin typeface="Calibri"/>
                        </a:rPr>
                        <a:t>2026-08-26</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at 45 mm markers VC15 — the fix</a:t>
                      </a:r>
                    </a:p>
                  </a:txBody>
                  <a:tcPr/>
                </a:tc>
                <a:tc>
                  <a:txBody>
                    <a:bodyPr lIns="54864" rIns="54864" tIns="18288" bIns="18288" wrap="square" anchor="ctr"/>
                    <a:lstStyle/>
                    <a:p>
                      <a:pPr algn="l"/>
                      <a:r>
                        <a:rPr sz="850" b="0">
                          <a:solidFill>
                            <a:srgbClr val="000000"/>
                          </a:solidFill>
                          <a:latin typeface="Calibri"/>
                        </a:rPr>
                        <a:t>208 N</a:t>
                      </a:r>
                    </a:p>
                  </a:txBody>
                  <a:tcPr/>
                </a:tc>
                <a:tc>
                  <a:txBody>
                    <a:bodyPr lIns="54864" rIns="54864" tIns="18288" bIns="18288" wrap="square" anchor="ctr"/>
                    <a:lstStyle/>
                    <a:p>
                      <a:pPr algn="l"/>
                      <a:r>
                        <a:rPr sz="850" b="0">
                          <a:solidFill>
                            <a:srgbClr val="000000"/>
                          </a:solidFill>
                          <a:latin typeface="Calibri"/>
                        </a:rPr>
                        <a:t>2.6 MPa</a:t>
                      </a:r>
                    </a:p>
                  </a:txBody>
                  <a:tcPr/>
                </a:tc>
                <a:tc>
                  <a:txBody>
                    <a:bodyPr lIns="54864" rIns="54864" tIns="18288" bIns="18288" wrap="square" anchor="ctr"/>
                    <a:lstStyle/>
                    <a:p>
                      <a:pPr algn="l"/>
                      <a:r>
                        <a:rPr sz="850" b="0">
                          <a:solidFill>
                            <a:srgbClr val="000000"/>
                          </a:solidFill>
                          <a:latin typeface="Calibri"/>
                        </a:rPr>
                        <a:t>0.02 GPa</a:t>
                      </a:r>
                    </a:p>
                  </a:txBody>
                  <a:tcPr/>
                </a:tc>
                <a:tc>
                  <a:txBody>
                    <a:bodyPr lIns="54864" rIns="54864" tIns="18288" bIns="18288" wrap="square" anchor="ctr"/>
                    <a:lstStyle/>
                    <a:p>
                      <a:pPr algn="l"/>
                      <a:r>
                        <a:rPr sz="850" b="0">
                          <a:solidFill>
                            <a:srgbClr val="000000"/>
                          </a:solidFill>
                          <a:latin typeface="Calibri"/>
                        </a:rPr>
                        <a:t>fractured</a:t>
                      </a:r>
                    </a:p>
                  </a:txBody>
                  <a:tcPr/>
                </a:tc>
              </a:tr>
            </a:tbl>
          </a:graphicData>
        </a:graphic>
      </p:graphicFrame>
      <p:sp>
        <p:nvSpPr>
          <p:cNvPr id="7" name="Rounded Rectangle 6"/>
          <p:cNvSpPr/>
          <p:nvPr/>
        </p:nvSpPr>
        <p:spPr>
          <a:xfrm>
            <a:off x="365760"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5084064"/>
            <a:ext cx="2788920" cy="56692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3693–3822 N</a:t>
            </a:r>
          </a:p>
          <a:p>
            <a:pPr algn="ctr"/>
            <a:r>
              <a:rPr sz="950">
                <a:solidFill>
                  <a:srgbClr val="000000"/>
                </a:solidFill>
                <a:latin typeface="Calibri"/>
              </a:rPr>
              <a:t>100 % PLA RUNS, PEAK RANGE</a:t>
            </a:r>
          </a:p>
        </p:txBody>
      </p:sp>
      <p:sp>
        <p:nvSpPr>
          <p:cNvPr id="10" name="Rounded Rectangle 9"/>
          <p:cNvSpPr/>
          <p:nvPr/>
        </p:nvSpPr>
        <p:spPr>
          <a:xfrm>
            <a:off x="9198864" y="5084064"/>
            <a:ext cx="2642616" cy="56692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60720"/>
            <a:ext cx="11475720" cy="566928"/>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PLA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MEAN width while it is uniform (for ν), MINIMUM band once necking starts (for area)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041648"/>
            <a:ext cx="5852160" cy="1097280"/>
          </a:xfrm>
          <a:prstGeom prst="rect">
            <a:avLst/>
          </a:prstGeom>
          <a:noFill/>
        </p:spPr>
        <p:txBody>
          <a:bodyPr wrap="square" lIns="45720" rIns="45720" tIns="18288" bIns="18288" anchor="t">
            <a:spAutoFit/>
          </a:bodyPr>
          <a:lstStyle/>
          <a:p>
            <a:pPr algn="l"/>
            <a:r>
              <a:rPr sz="100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
WHICH statistic depends on the regime, and this is not interchangeable. Before necking the width is uniform, so the MEAN over the whole gauge is right and buys that noise reduction — that is the ν measurement. Once a neck forms the deformation is LOCAL and the load is carried by the smallest section, so the area must come from the MINIMUM, averaged over a short band at the neck. A mean over the whole gauge would under-correct exactly where the correction matters most.</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APPLIED on p187 (2026-09-01): the spec said “average width over 100s of rows”. Necking is LOCAL, so the mean under-corrects exactly where it matters. It now reads MEAN while the width is uniform (ν), MINIMUM band once necking starts (area). Fixed before building, which is the cheap end.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SF11–SF17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 blue = built and verified offline, not yet used on a real pull.</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4.5 kN / 30 mm / 900 s backstop.</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Noise capture</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Records the instrument AT REST for a chosen window and separates what a later run can be corrected for — offset and drift — from what it cannot: the residual sd, which is the measurement uncertainty.</a:t>
            </a:r>
          </a:p>
        </p:txBody>
      </p:sp>
      <p:sp>
        <p:nvSpPr>
          <p:cNvPr id="42" name="TextBox 4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two entries were dropped because a card has to be something the OPERATOR invokes — measured Poisson (optics-blocked, now future work FW1) and a developer-only simulation harness. SF19 is built and verified offline but has not yet recorded a real pull.</a:t>
            </a:r>
          </a:p>
        </p:txBody>
      </p:sp>
      <p:sp>
        <p:nvSpPr>
          <p:cNvPr id="43" name="TextBox 4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2419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2419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2419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2419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2419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24196">
                <a:tc>
                  <a:txBody>
                    <a:bodyPr lIns="54864" rIns="54864" tIns="18288" bIns="18288" wrap="square" anchor="ctr"/>
                    <a:lstStyle/>
                    <a:p>
                      <a:pPr algn="l"/>
                      <a:r>
                        <a:rPr sz="869" b="0">
                          <a:solidFill>
                            <a:srgbClr val="000000"/>
                          </a:solidFill>
                          <a:latin typeface="Calibri"/>
                        </a:rPr>
                        <a:t>17</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2419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DIC post-processing</a:t>
                      </a:r>
                    </a:p>
                  </a:txBody>
                  <a:tcPr/>
                </a:tc>
                <a:tc>
                  <a:txBody>
                    <a:bodyPr lIns="54864" rIns="54864" tIns="18288" bIns="18288" wrap="square" anchor="ctr"/>
                    <a:lstStyle/>
                    <a:p>
                      <a:pPr algn="l"/>
                      <a:r>
                        <a:rPr sz="869" b="0">
                          <a:solidFill>
                            <a:srgbClr val="000000"/>
                          </a:solidFill>
                          <a:latin typeface="Calibri"/>
                        </a:rPr>
                        <a:t>p301–p305</a:t>
                      </a:r>
                    </a:p>
                  </a:txBody>
                  <a:tcPr/>
                </a:tc>
                <a:tc>
                  <a:txBody>
                    <a:bodyPr lIns="54864" rIns="54864" tIns="18288" bIns="18288" wrap="square" anchor="ctr"/>
                    <a:lstStyle/>
                    <a:p>
                      <a:pPr algn="l"/>
                      <a:r>
                        <a:rPr sz="869" b="0">
                          <a:solidFill>
                            <a:srgbClr val="000000"/>
                          </a:solidFill>
                          <a:latin typeface="Calibri"/>
                        </a:rPr>
                        <a:t>three independent checks + the guide</a:t>
                      </a:r>
                    </a:p>
                  </a:txBody>
                  <a:tcPr/>
                </a:tc>
              </a:tr>
              <a:tr h="32419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Noise capture</a:t>
                      </a:r>
                    </a:p>
                  </a:txBody>
                  <a:tcPr/>
                </a:tc>
                <a:tc>
                  <a:txBody>
                    <a:bodyPr lIns="54864" rIns="54864" tIns="18288" bIns="18288" wrap="square" anchor="ctr"/>
                    <a:lstStyle/>
                    <a:p>
                      <a:pPr algn="l"/>
                      <a:r>
                        <a:rPr sz="869" b="0">
                          <a:solidFill>
                            <a:srgbClr val="000000"/>
                          </a:solidFill>
                          <a:latin typeface="Calibri"/>
                        </a:rPr>
                        <a:t>p311</a:t>
                      </a:r>
                    </a:p>
                  </a:txBody>
                  <a:tcPr/>
                </a:tc>
                <a:tc>
                  <a:txBody>
                    <a:bodyPr lIns="54864" rIns="54864" tIns="18288" bIns="18288" wrap="square" anchor="ctr"/>
                    <a:lstStyle/>
                    <a:p>
                      <a:pPr algn="l"/>
                      <a:r>
                        <a:rPr sz="869" b="0">
                          <a:solidFill>
                            <a:srgbClr val="000000"/>
                          </a:solidFill>
                          <a:latin typeface="Calibri"/>
                        </a:rPr>
                        <a:t>offset / drift / sd, separated</a:t>
                      </a:r>
                    </a:p>
                  </a:txBody>
                  <a:tcPr/>
                </a:tc>
              </a:tr>
              <a:tr h="324200">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p261 · p262</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list runs SF1–SF19 with no gaps (renumbered 2026-09-02).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SF16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SF16 WAS THE LAST CARD WAITING ON A SCREENSHOT. WITH THIS, EVERY CARDED SMART FEATURE HAS BEEN SHOWN WORKING — SF19 OFFLINE, THE REST ON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SF14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DEAD-DIC GUARD — WHEN THE CAMERA STOPS, NOT THE RIG</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stall guard watches the MOTOR and the backstops watch force, travel and time. None of them can see a dead camera: the crosshead is advancing, the load is rising, and every mechanical signal looks healthy. Only the strain has stopped changing — and in a strain-steered test, that is the signal doing the steering.</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fires in TWO stages, not one</a:t>
            </a:r>
          </a:p>
        </p:txBody>
      </p:sp>
      <p:sp>
        <p:nvSpPr>
          <p:cNvPr id="7" name="TextBox 6"/>
          <p:cNvSpPr txBox="1"/>
          <p:nvPr/>
        </p:nvSpPr>
        <p:spPr>
          <a:xfrm>
            <a:off x="411480" y="1920240"/>
            <a:ext cx="5715000" cy="1965960"/>
          </a:xfrm>
          <a:prstGeom prst="rect">
            <a:avLst/>
          </a:prstGeom>
          <a:noFill/>
        </p:spPr>
        <p:txBody>
          <a:bodyPr wrap="square" lIns="45720" rIns="45720" tIns="18288" bIns="18288" anchor="t">
            <a:spAutoFit/>
          </a:bodyPr>
          <a:lstStyle/>
          <a:p>
            <a:pPr algn="l"/>
            <a:r>
              <a:rPr sz="1000" b="0" i="0">
                <a:solidFill>
                  <a:srgbClr val="000000"/>
                </a:solidFill>
                <a:latin typeface="Calibri"/>
              </a:rPr>
              <a:t>A strain-rate loop holds dε/dt by comparing measured strain against the target. If strain stops updating, the loop reads it as “not deforming fast enough” and ramps the speed UP — blind, and at exactly the moment it has no idea what the specimen is doing.
So the first stage does not halt; it FREEZES the commanded speed at the last good value after 0.2 s, about two DIC frames. The run continues at a speed that was correct when strain was last real, and it cannot accelerate into the dark.
Only if strain is still frozen at 1.0 s does it hard-halt: by then the camera is gone, not merely late.</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do</a:t>
            </a:r>
          </a:p>
        </p:txBody>
      </p:sp>
      <p:sp>
        <p:nvSpPr>
          <p:cNvPr id="9" name="TextBox 8"/>
          <p:cNvSpPr txBox="1"/>
          <p:nvPr/>
        </p:nvSpPr>
        <p:spPr>
          <a:xfrm>
            <a:off x="6355080" y="1920240"/>
            <a:ext cx="5486400" cy="1965960"/>
          </a:xfrm>
          <a:prstGeom prst="rect">
            <a:avLst/>
          </a:prstGeom>
          <a:noFill/>
        </p:spPr>
        <p:txBody>
          <a:bodyPr wrap="square" lIns="45720" rIns="45720" tIns="18288" bIns="18288" anchor="t">
            <a:spAutoFit/>
          </a:bodyPr>
          <a:lstStyle/>
          <a:p>
            <a:pPr algn="l"/>
            <a:r>
              <a:rPr sz="1000" b="0" i="0">
                <a:solidFill>
                  <a:srgbClr val="000000"/>
                </a:solidFill>
                <a:latin typeface="Calibri"/>
              </a:rPr>
              <a:t>It does not run on force-steered modes. Cyclic, staircase, creep and relaxation steer on the LOAD CELL, which never goes stale — a frozen camera there costs the DIC column in the CSV and nothing else, so halting the test would be an over-reaction.
It does not fire on a dropped frame either. A single miss is normal; 0.2 s is two frames, and the freeze is harmless if strain resumes.
And it is not the same guard as the DIC↔load matching window (100 ms), which decides whether a strain reading is fresh enough to PAIR with a load sample. That one drops a row; this one stops the machine.</a:t>
            </a:r>
          </a:p>
        </p:txBody>
      </p:sp>
      <p:sp>
        <p:nvSpPr>
          <p:cNvPr id="10" name="TextBox 9"/>
          <p:cNvSpPr txBox="1"/>
          <p:nvPr/>
        </p:nvSpPr>
        <p:spPr>
          <a:xfrm>
            <a:off x="411480" y="404164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layers, and which failure each one catches</a:t>
            </a:r>
          </a:p>
        </p:txBody>
      </p:sp>
      <p:graphicFrame>
        <p:nvGraphicFramePr>
          <p:cNvPr id="11" name="Table 10"/>
          <p:cNvGraphicFramePr>
            <a:graphicFrameLocks noGrp="1"/>
          </p:cNvGraphicFramePr>
          <p:nvPr/>
        </p:nvGraphicFramePr>
        <p:xfrm>
          <a:off x="411480" y="4389120"/>
          <a:ext cx="11430000" cy="1325880"/>
        </p:xfrm>
        <a:graphic>
          <a:graphicData uri="http://schemas.openxmlformats.org/drawingml/2006/table">
            <a:tbl>
              <a:tblPr firstRow="1" bandRow="1">
                <a:tableStyleId>{5C22544A-7EE6-4342-B048-85BDC9FD1C3A}</a:tableStyleId>
              </a:tblPr>
              <a:tblGrid>
                <a:gridCol w="2103120"/>
                <a:gridCol w="2103120"/>
                <a:gridCol w="7223760"/>
              </a:tblGrid>
              <a:tr h="220980">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Threshold</a:t>
                      </a:r>
                    </a:p>
                  </a:txBody>
                  <a:tcPr>
                    <a:solidFill>
                      <a:srgbClr val="143D2F"/>
                    </a:solidFill>
                  </a:tcPr>
                </a:tc>
                <a:tc>
                  <a:txBody>
                    <a:bodyPr lIns="54864" rIns="54864" tIns="18288" bIns="18288" wrap="square" anchor="ctr"/>
                    <a:lstStyle/>
                    <a:p>
                      <a:pPr algn="l"/>
                      <a:r>
                        <a:rPr sz="950" b="1">
                          <a:solidFill>
                            <a:srgbClr val="FFFFFF"/>
                          </a:solidFill>
                          <a:latin typeface="Calibri"/>
                        </a:rPr>
                        <a:t>The failure it is the only one to catch</a:t>
                      </a:r>
                    </a:p>
                  </a:txBody>
                  <a:tcPr>
                    <a:solidFill>
                      <a:srgbClr val="143D2F"/>
                    </a:solidFill>
                  </a:tcPr>
                </a:tc>
              </a:tr>
              <a:tr h="220980">
                <a:tc>
                  <a:txBody>
                    <a:bodyPr lIns="54864" rIns="54864" tIns="18288" bIns="18288" wrap="square" anchor="ctr"/>
                    <a:lstStyle/>
                    <a:p>
                      <a:pPr algn="l"/>
                      <a:r>
                        <a:rPr sz="900" b="0">
                          <a:solidFill>
                            <a:srgbClr val="000000"/>
                          </a:solidFill>
                          <a:latin typeface="Calibri"/>
                        </a:rPr>
                        <a:t>Dead-DIC freeze</a:t>
                      </a:r>
                    </a:p>
                  </a:txBody>
                  <a:tcPr/>
                </a:tc>
                <a:tc>
                  <a:txBody>
                    <a:bodyPr lIns="54864" rIns="54864" tIns="18288" bIns="18288" wrap="square" anchor="ctr"/>
                    <a:lstStyle/>
                    <a:p>
                      <a:pPr algn="l"/>
                      <a:r>
                        <a:rPr sz="900" b="0">
                          <a:solidFill>
                            <a:srgbClr val="000000"/>
                          </a:solidFill>
                          <a:latin typeface="Calibri"/>
                        </a:rPr>
                        <a:t>0.2 s of frozen strain</a:t>
                      </a:r>
                    </a:p>
                  </a:txBody>
                  <a:tcPr/>
                </a:tc>
                <a:tc>
                  <a:txBody>
                    <a:bodyPr lIns="54864" rIns="54864" tIns="18288" bIns="18288" wrap="square" anchor="ctr"/>
                    <a:lstStyle/>
                    <a:p>
                      <a:pPr algn="l"/>
                      <a:r>
                        <a:rPr sz="900" b="0">
                          <a:solidFill>
                            <a:srgbClr val="000000"/>
                          </a:solidFill>
                          <a:latin typeface="Calibri"/>
                        </a:rPr>
                        <a:t>the controller ramping up blind because its feedback stopped</a:t>
                      </a:r>
                    </a:p>
                  </a:txBody>
                  <a:tcPr/>
                </a:tc>
              </a:tr>
              <a:tr h="220980">
                <a:tc>
                  <a:txBody>
                    <a:bodyPr lIns="54864" rIns="54864" tIns="18288" bIns="18288" wrap="square" anchor="ctr"/>
                    <a:lstStyle/>
                    <a:p>
                      <a:pPr algn="l"/>
                      <a:r>
                        <a:rPr sz="900" b="0">
                          <a:solidFill>
                            <a:srgbClr val="000000"/>
                          </a:solidFill>
                          <a:latin typeface="Calibri"/>
                        </a:rPr>
                        <a:t>Dead-DIC halt</a:t>
                      </a:r>
                    </a:p>
                  </a:txBody>
                  <a:tcPr/>
                </a:tc>
                <a:tc>
                  <a:txBody>
                    <a:bodyPr lIns="54864" rIns="54864" tIns="18288" bIns="18288" wrap="square" anchor="ctr"/>
                    <a:lstStyle/>
                    <a:p>
                      <a:pPr algn="l"/>
                      <a:r>
                        <a:rPr sz="900" b="0">
                          <a:solidFill>
                            <a:srgbClr val="000000"/>
                          </a:solidFill>
                          <a:latin typeface="Calibri"/>
                        </a:rPr>
                        <a:t>1.0 s of frozen strain</a:t>
                      </a:r>
                    </a:p>
                  </a:txBody>
                  <a:tcPr/>
                </a:tc>
                <a:tc>
                  <a:txBody>
                    <a:bodyPr lIns="54864" rIns="54864" tIns="18288" bIns="18288" wrap="square" anchor="ctr"/>
                    <a:lstStyle/>
                    <a:p>
                      <a:pPr algn="l"/>
                      <a:r>
                        <a:rPr sz="900" b="0">
                          <a:solidFill>
                            <a:srgbClr val="000000"/>
                          </a:solidFill>
                          <a:latin typeface="Calibri"/>
                        </a:rPr>
                        <a:t>a camera that has stopped while the motor keeps pulling normally</a:t>
                      </a:r>
                    </a:p>
                  </a:txBody>
                  <a:tcPr/>
                </a:tc>
              </a:tr>
              <a:tr h="220980">
                <a:tc>
                  <a:txBody>
                    <a:bodyPr lIns="54864" rIns="54864" tIns="18288" bIns="18288" wrap="square" anchor="ctr"/>
                    <a:lstStyle/>
                    <a:p>
                      <a:pPr algn="l"/>
                      <a:r>
                        <a:rPr sz="900" b="0">
                          <a:solidFill>
                            <a:srgbClr val="000000"/>
                          </a:solidFill>
                          <a:latin typeface="Calibri"/>
                        </a:rPr>
                        <a:t>Force backstop</a:t>
                      </a:r>
                    </a:p>
                  </a:txBody>
                  <a:tcPr/>
                </a:tc>
                <a:tc>
                  <a:txBody>
                    <a:bodyPr lIns="54864" rIns="54864" tIns="18288" bIns="18288" wrap="square" anchor="ctr"/>
                    <a:lstStyle/>
                    <a:p>
                      <a:pPr algn="l"/>
                      <a:r>
                        <a:rPr sz="900" b="0">
                          <a:solidFill>
                            <a:srgbClr val="000000"/>
                          </a:solidFill>
                          <a:latin typeface="Calibri"/>
                        </a:rPr>
                        <a:t>4.5 kN</a:t>
                      </a:r>
                    </a:p>
                  </a:txBody>
                  <a:tcPr/>
                </a:tc>
                <a:tc>
                  <a:txBody>
                    <a:bodyPr lIns="54864" rIns="54864" tIns="18288" bIns="18288" wrap="square" anchor="ctr"/>
                    <a:lstStyle/>
                    <a:p>
                      <a:pPr algn="l"/>
                      <a:r>
                        <a:rPr sz="900" b="0">
                          <a:solidFill>
                            <a:srgbClr val="000000"/>
                          </a:solidFill>
                          <a:latin typeface="Calibri"/>
                        </a:rPr>
                        <a:t>a runaway that the specimen cannot stop</a:t>
                      </a:r>
                    </a:p>
                  </a:txBody>
                  <a:tcPr/>
                </a:tc>
              </a:tr>
              <a:tr h="220980">
                <a:tc>
                  <a:txBody>
                    <a:bodyPr lIns="54864" rIns="54864" tIns="18288" bIns="18288" wrap="square" anchor="ctr"/>
                    <a:lstStyle/>
                    <a:p>
                      <a:pPr algn="l"/>
                      <a:r>
                        <a:rPr sz="900" b="0">
                          <a:solidFill>
                            <a:srgbClr val="000000"/>
                          </a:solidFill>
                          <a:latin typeface="Calibri"/>
                        </a:rPr>
                        <a:t>Travel backstop</a:t>
                      </a:r>
                    </a:p>
                  </a:txBody>
                  <a:tcPr/>
                </a:tc>
                <a:tc>
                  <a:txBody>
                    <a:bodyPr lIns="54864" rIns="54864" tIns="18288" bIns="18288" wrap="square" anchor="ctr"/>
                    <a:lstStyle/>
                    <a:p>
                      <a:pPr algn="l"/>
                      <a:r>
                        <a:rPr sz="900" b="0">
                          <a:solidFill>
                            <a:srgbClr val="000000"/>
                          </a:solidFill>
                          <a:latin typeface="Calibri"/>
                        </a:rPr>
                        <a:t>30 mm</a:t>
                      </a:r>
                    </a:p>
                  </a:txBody>
                  <a:tcPr/>
                </a:tc>
                <a:tc>
                  <a:txBody>
                    <a:bodyPr lIns="54864" rIns="54864" tIns="18288" bIns="18288" wrap="square" anchor="ctr"/>
                    <a:lstStyle/>
                    <a:p>
                      <a:pPr algn="l"/>
                      <a:r>
                        <a:rPr sz="900" b="0">
                          <a:solidFill>
                            <a:srgbClr val="000000"/>
                          </a:solidFill>
                          <a:latin typeface="Calibri"/>
                        </a:rPr>
                        <a:t>a post-fracture runaway driving into the end-stop</a:t>
                      </a:r>
                    </a:p>
                  </a:txBody>
                  <a:tcPr/>
                </a:tc>
              </a:tr>
              <a:tr h="220980">
                <a:tc>
                  <a:txBody>
                    <a:bodyPr lIns="54864" rIns="54864" tIns="18288" bIns="18288" wrap="square" anchor="ctr"/>
                    <a:lstStyle/>
                    <a:p>
                      <a:pPr algn="l"/>
                      <a:r>
                        <a:rPr sz="900" b="0">
                          <a:solidFill>
                            <a:srgbClr val="000000"/>
                          </a:solidFill>
                          <a:latin typeface="Calibri"/>
                        </a:rPr>
                        <a:t>Timeout backstop</a:t>
                      </a:r>
                    </a:p>
                  </a:txBody>
                  <a:tcPr/>
                </a:tc>
                <a:tc>
                  <a:txBody>
                    <a:bodyPr lIns="54864" rIns="54864" tIns="18288" bIns="18288" wrap="square" anchor="ctr"/>
                    <a:lstStyle/>
                    <a:p>
                      <a:pPr algn="l"/>
                      <a:r>
                        <a:rPr sz="900" b="0">
                          <a:solidFill>
                            <a:srgbClr val="000000"/>
                          </a:solidFill>
                          <a:latin typeface="Calibri"/>
                        </a:rPr>
                        <a:t>900 s</a:t>
                      </a:r>
                    </a:p>
                  </a:txBody>
                  <a:tcPr/>
                </a:tc>
                <a:tc>
                  <a:txBody>
                    <a:bodyPr lIns="54864" rIns="54864" tIns="18288" bIns="18288" wrap="square" anchor="ctr"/>
                    <a:lstStyle/>
                    <a:p>
                      <a:pPr algn="l"/>
                      <a:r>
                        <a:rPr sz="900" b="0">
                          <a:solidFill>
                            <a:srgbClr val="000000"/>
                          </a:solidFill>
                          <a:latin typeface="Calibri"/>
                        </a:rPr>
                        <a:t>a long hold that never reaches its exit condition</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POINT IN ONE LINE: every other guard watches the machine, and the machine is fine. This is the only one watching the MEASUREMENT — which in a strain-steered test is the one thing that must not be trusted blindly.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Thresholds read from main.py: POLICY_STALE_FREEZE_S 0.2 s, POLICY_DEAD_DIC_S 1.0 s, POLICY_MAX_FORCE_N 4.5 kN, POLICY_MAX_TRAVEL_MM 30 mm, POLICY_TIMEOUT_S 900 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SF7 vs SF15 — THE MOTOR GUARD AND THE MEASUREMENT GUARD</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Both halt a running test, so they read as one feature. They are not. They watch different signals, they fire in OPPOSITE directions, and during the failure each one catches, the other sees a perfectly healthy machine.</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Side by side</a:t>
            </a:r>
          </a:p>
        </p:txBody>
      </p:sp>
      <p:graphicFrame>
        <p:nvGraphicFramePr>
          <p:cNvPr id="7" name="Table 6"/>
          <p:cNvGraphicFramePr>
            <a:graphicFrameLocks noGrp="1"/>
          </p:cNvGraphicFramePr>
          <p:nvPr/>
        </p:nvGraphicFramePr>
        <p:xfrm>
          <a:off x="411480" y="1920240"/>
          <a:ext cx="11430000" cy="1874519"/>
        </p:xfrm>
        <a:graphic>
          <a:graphicData uri="http://schemas.openxmlformats.org/drawingml/2006/table">
            <a:tbl>
              <a:tblPr firstRow="1" bandRow="1">
                <a:tableStyleId>{5C22544A-7EE6-4342-B048-85BDC9FD1C3A}</a:tableStyleId>
              </a:tblPr>
              <a:tblGrid>
                <a:gridCol w="2011680"/>
                <a:gridCol w="4709160"/>
                <a:gridCol w="4709160"/>
              </a:tblGrid>
              <a:tr h="26778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SF7 · stall guard</a:t>
                      </a:r>
                    </a:p>
                  </a:txBody>
                  <a:tcPr>
                    <a:solidFill>
                      <a:srgbClr val="143D2F"/>
                    </a:solidFill>
                  </a:tcPr>
                </a:tc>
                <a:tc>
                  <a:txBody>
                    <a:bodyPr lIns="54864" rIns="54864" tIns="18288" bIns="18288" wrap="square" anchor="ctr"/>
                    <a:lstStyle/>
                    <a:p>
                      <a:pPr algn="l"/>
                      <a:r>
                        <a:rPr sz="950" b="1">
                          <a:solidFill>
                            <a:srgbClr val="FFFFFF"/>
                          </a:solidFill>
                          <a:latin typeface="Calibri"/>
                        </a:rPr>
                        <a:t>SF15 · dead-DIC guard</a:t>
                      </a:r>
                    </a:p>
                  </a:txBody>
                  <a:tcPr>
                    <a:solidFill>
                      <a:srgbClr val="143D2F"/>
                    </a:solidFill>
                  </a:tcPr>
                </a:tc>
              </a:tr>
              <a:tr h="267788">
                <a:tc>
                  <a:txBody>
                    <a:bodyPr lIns="54864" rIns="54864" tIns="18288" bIns="18288" wrap="square" anchor="ctr"/>
                    <a:lstStyle/>
                    <a:p>
                      <a:pPr algn="l"/>
                      <a:r>
                        <a:rPr sz="900" b="0">
                          <a:solidFill>
                            <a:srgbClr val="000000"/>
                          </a:solidFill>
                          <a:latin typeface="Calibri"/>
                        </a:rPr>
                        <a:t>What it watches</a:t>
                      </a:r>
                    </a:p>
                  </a:txBody>
                  <a:tcPr/>
                </a:tc>
                <a:tc>
                  <a:txBody>
                    <a:bodyPr lIns="54864" rIns="54864" tIns="18288" bIns="18288" wrap="square" anchor="ctr"/>
                    <a:lstStyle/>
                    <a:p>
                      <a:pPr algn="l"/>
                      <a:r>
                        <a:rPr sz="900" b="0">
                          <a:solidFill>
                            <a:srgbClr val="000000"/>
                          </a:solidFill>
                          <a:latin typeface="Calibri"/>
                        </a:rPr>
                        <a:t>the MOTOR — is the crosshead advancing?</a:t>
                      </a:r>
                    </a:p>
                  </a:txBody>
                  <a:tcPr/>
                </a:tc>
                <a:tc>
                  <a:txBody>
                    <a:bodyPr lIns="54864" rIns="54864" tIns="18288" bIns="18288" wrap="square" anchor="ctr"/>
                    <a:lstStyle/>
                    <a:p>
                      <a:pPr algn="l"/>
                      <a:r>
                        <a:rPr sz="900" b="0">
                          <a:solidFill>
                            <a:srgbClr val="000000"/>
                          </a:solidFill>
                          <a:latin typeface="Calibri"/>
                        </a:rPr>
                        <a:t>the MEASUREMENT — is the strain still changing?</a:t>
                      </a:r>
                    </a:p>
                  </a:txBody>
                  <a:tcPr/>
                </a:tc>
              </a:tr>
              <a:tr h="267788">
                <a:tc>
                  <a:txBody>
                    <a:bodyPr lIns="54864" rIns="54864" tIns="18288" bIns="18288" wrap="square" anchor="ctr"/>
                    <a:lstStyle/>
                    <a:p>
                      <a:pPr algn="l"/>
                      <a:r>
                        <a:rPr sz="900" b="0">
                          <a:solidFill>
                            <a:srgbClr val="000000"/>
                          </a:solidFill>
                          <a:latin typeface="Calibri"/>
                        </a:rPr>
                        <a:t>Which sensor</a:t>
                      </a:r>
                    </a:p>
                  </a:txBody>
                  <a:tcPr/>
                </a:tc>
                <a:tc>
                  <a:txBody>
                    <a:bodyPr lIns="54864" rIns="54864" tIns="18288" bIns="18288" wrap="square" anchor="ctr"/>
                    <a:lstStyle/>
                    <a:p>
                      <a:pPr algn="l"/>
                      <a:r>
                        <a:rPr sz="900" b="0">
                          <a:solidFill>
                            <a:srgbClr val="000000"/>
                          </a:solidFill>
                          <a:latin typeface="Calibri"/>
                        </a:rPr>
                        <a:t>the position encoder</a:t>
                      </a:r>
                    </a:p>
                  </a:txBody>
                  <a:tcPr/>
                </a:tc>
                <a:tc>
                  <a:txBody>
                    <a:bodyPr lIns="54864" rIns="54864" tIns="18288" bIns="18288" wrap="square" anchor="ctr"/>
                    <a:lstStyle/>
                    <a:p>
                      <a:pPr algn="l"/>
                      <a:r>
                        <a:rPr sz="900" b="0">
                          <a:solidFill>
                            <a:srgbClr val="000000"/>
                          </a:solidFill>
                          <a:latin typeface="Calibri"/>
                        </a:rPr>
                        <a:t>the camera, through DIC strain</a:t>
                      </a:r>
                    </a:p>
                  </a:txBody>
                  <a:tcPr/>
                </a:tc>
              </a:tr>
              <a:tr h="267788">
                <a:tc>
                  <a:txBody>
                    <a:bodyPr lIns="54864" rIns="54864" tIns="18288" bIns="18288" wrap="square" anchor="ctr"/>
                    <a:lstStyle/>
                    <a:p>
                      <a:pPr algn="l"/>
                      <a:r>
                        <a:rPr sz="900" b="0">
                          <a:solidFill>
                            <a:srgbClr val="000000"/>
                          </a:solidFill>
                          <a:latin typeface="Calibri"/>
                        </a:rPr>
                        <a:t>Fires when there is</a:t>
                      </a:r>
                    </a:p>
                  </a:txBody>
                  <a:tcPr/>
                </a:tc>
                <a:tc>
                  <a:txBody>
                    <a:bodyPr lIns="54864" rIns="54864" tIns="18288" bIns="18288" wrap="square" anchor="ctr"/>
                    <a:lstStyle/>
                    <a:p>
                      <a:pPr algn="l"/>
                      <a:r>
                        <a:rPr sz="900" b="0">
                          <a:solidFill>
                            <a:srgbClr val="000000"/>
                          </a:solidFill>
                          <a:latin typeface="Calibri"/>
                        </a:rPr>
                        <a:t>TOO LITTLE motion</a:t>
                      </a:r>
                    </a:p>
                  </a:txBody>
                  <a:tcPr/>
                </a:tc>
                <a:tc>
                  <a:txBody>
                    <a:bodyPr lIns="54864" rIns="54864" tIns="18288" bIns="18288" wrap="square" anchor="ctr"/>
                    <a:lstStyle/>
                    <a:p>
                      <a:pPr algn="l"/>
                      <a:r>
                        <a:rPr sz="900" b="0">
                          <a:solidFill>
                            <a:srgbClr val="000000"/>
                          </a:solidFill>
                          <a:latin typeface="Calibri"/>
                        </a:rPr>
                        <a:t>no new strain — which would cause TOO MUCH motion</a:t>
                      </a:r>
                    </a:p>
                  </a:txBody>
                  <a:tcPr/>
                </a:tc>
              </a:tr>
              <a:tr h="267788">
                <a:tc>
                  <a:txBody>
                    <a:bodyPr lIns="54864" rIns="54864" tIns="18288" bIns="18288" wrap="square" anchor="ctr"/>
                    <a:lstStyle/>
                    <a:p>
                      <a:pPr algn="l"/>
                      <a:r>
                        <a:rPr sz="900" b="0">
                          <a:solidFill>
                            <a:srgbClr val="000000"/>
                          </a:solidFill>
                          <a:latin typeface="Calibri"/>
                        </a:rPr>
                        <a:t>Threshold</a:t>
                      </a:r>
                    </a:p>
                  </a:txBody>
                  <a:tcPr/>
                </a:tc>
                <a:tc>
                  <a:txBody>
                    <a:bodyPr lIns="54864" rIns="54864" tIns="18288" bIns="18288" wrap="square" anchor="ctr"/>
                    <a:lstStyle/>
                    <a:p>
                      <a:pPr algn="l"/>
                      <a:r>
                        <a:rPr sz="900" b="0">
                          <a:solidFill>
                            <a:srgbClr val="000000"/>
                          </a:solidFill>
                          <a:latin typeface="Calibri"/>
                        </a:rPr>
                        <a:t>less than min(0.05 mm, 35 % of commanded) in 6 s, armed above 200 N</a:t>
                      </a:r>
                    </a:p>
                  </a:txBody>
                  <a:tcPr/>
                </a:tc>
                <a:tc>
                  <a:txBody>
                    <a:bodyPr lIns="54864" rIns="54864" tIns="18288" bIns="18288" wrap="square" anchor="ctr"/>
                    <a:lstStyle/>
                    <a:p>
                      <a:pPr algn="l"/>
                      <a:r>
                        <a:rPr sz="900" b="0">
                          <a:solidFill>
                            <a:srgbClr val="000000"/>
                          </a:solidFill>
                          <a:latin typeface="Calibri"/>
                        </a:rPr>
                        <a:t>strain unchanged for 0.2 s (freeze) then 1.0 s (halt)</a:t>
                      </a:r>
                    </a:p>
                  </a:txBody>
                  <a:tcPr/>
                </a:tc>
              </a:tr>
              <a:tr h="267788">
                <a:tc>
                  <a:txBody>
                    <a:bodyPr lIns="54864" rIns="54864" tIns="18288" bIns="18288" wrap="square" anchor="ctr"/>
                    <a:lstStyle/>
                    <a:p>
                      <a:pPr algn="l"/>
                      <a:r>
                        <a:rPr sz="900" b="0">
                          <a:solidFill>
                            <a:srgbClr val="000000"/>
                          </a:solidFill>
                          <a:latin typeface="Calibri"/>
                        </a:rPr>
                        <a:t>What it does</a:t>
                      </a:r>
                    </a:p>
                  </a:txBody>
                  <a:tcPr/>
                </a:tc>
                <a:tc>
                  <a:txBody>
                    <a:bodyPr lIns="54864" rIns="54864" tIns="18288" bIns="18288" wrap="square" anchor="ctr"/>
                    <a:lstStyle/>
                    <a:p>
                      <a:pPr algn="l"/>
                      <a:r>
                        <a:rPr sz="900" b="0">
                          <a:solidFill>
                            <a:srgbClr val="000000"/>
                          </a:solidFill>
                          <a:latin typeface="Calibri"/>
                        </a:rPr>
                        <a:t>Stop + E-Stop</a:t>
                      </a:r>
                    </a:p>
                  </a:txBody>
                  <a:tcPr/>
                </a:tc>
                <a:tc>
                  <a:txBody>
                    <a:bodyPr lIns="54864" rIns="54864" tIns="18288" bIns="18288" wrap="square" anchor="ctr"/>
                    <a:lstStyle/>
                    <a:p>
                      <a:pPr algn="l"/>
                      <a:r>
                        <a:rPr sz="900" b="0">
                          <a:solidFill>
                            <a:srgbClr val="000000"/>
                          </a:solidFill>
                          <a:latin typeface="Calibri"/>
                        </a:rPr>
                        <a:t>first FREEZES the speed, only then halts</a:t>
                      </a:r>
                    </a:p>
                  </a:txBody>
                  <a:tcPr/>
                </a:tc>
              </a:tr>
              <a:tr h="267791">
                <a:tc>
                  <a:txBody>
                    <a:bodyPr lIns="54864" rIns="54864" tIns="18288" bIns="18288" wrap="square" anchor="ctr"/>
                    <a:lstStyle/>
                    <a:p>
                      <a:pPr algn="l"/>
                      <a:r>
                        <a:rPr sz="900" b="0">
                          <a:solidFill>
                            <a:srgbClr val="000000"/>
                          </a:solidFill>
                          <a:latin typeface="Calibri"/>
                        </a:rPr>
                        <a:t>Runs on</a:t>
                      </a:r>
                    </a:p>
                  </a:txBody>
                  <a:tcPr/>
                </a:tc>
                <a:tc>
                  <a:txBody>
                    <a:bodyPr lIns="54864" rIns="54864" tIns="18288" bIns="18288" wrap="square" anchor="ctr"/>
                    <a:lstStyle/>
                    <a:p>
                      <a:pPr algn="l"/>
                      <a:r>
                        <a:rPr sz="900" b="0">
                          <a:solidFill>
                            <a:srgbClr val="000000"/>
                          </a:solidFill>
                          <a:latin typeface="Calibri"/>
                        </a:rPr>
                        <a:t>any commanded tension pull</a:t>
                      </a:r>
                    </a:p>
                  </a:txBody>
                  <a:tcPr/>
                </a:tc>
                <a:tc>
                  <a:txBody>
                    <a:bodyPr lIns="54864" rIns="54864" tIns="18288" bIns="18288" wrap="square" anchor="ctr"/>
                    <a:lstStyle/>
                    <a:p>
                      <a:pPr algn="l"/>
                      <a:r>
                        <a:rPr sz="900" b="0">
                          <a:solidFill>
                            <a:srgbClr val="000000"/>
                          </a:solidFill>
                          <a:latin typeface="Calibri"/>
                        </a:rPr>
                        <a:t>DIC-steered modes only</a:t>
                      </a:r>
                    </a:p>
                  </a:txBody>
                  <a:tcPr/>
                </a:tc>
              </a:tr>
            </a:tbl>
          </a:graphicData>
        </a:graphic>
      </p:graphicFrame>
      <p:sp>
        <p:nvSpPr>
          <p:cNvPr id="8" name="TextBox 7"/>
          <p:cNvSpPr txBox="1"/>
          <p:nvPr/>
        </p:nvSpPr>
        <p:spPr>
          <a:xfrm>
            <a:off x="411480" y="395020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SF7 catches</a:t>
            </a:r>
          </a:p>
        </p:txBody>
      </p:sp>
      <p:sp>
        <p:nvSpPr>
          <p:cNvPr id="9" name="TextBox 8"/>
          <p:cNvSpPr txBox="1"/>
          <p:nvPr/>
        </p:nvSpPr>
        <p:spPr>
          <a:xfrm>
            <a:off x="411480" y="4297680"/>
            <a:ext cx="57150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crosshead stops advancing while the motor is told to pull — binding, a jam, a stall. This is what happened on T7: the pull ground to 192 µm in 118 s, 1.6 % of the commanded rate.
SF15 is blind to it. The camera is fine, so strain keeps updating — it simply reports a specimen that has stopped stretching, which is exactly what a specimen at its yield plateau also looks like.</a:t>
            </a:r>
          </a:p>
        </p:txBody>
      </p:sp>
      <p:sp>
        <p:nvSpPr>
          <p:cNvPr id="10" name="TextBox 9"/>
          <p:cNvSpPr txBox="1"/>
          <p:nvPr/>
        </p:nvSpPr>
        <p:spPr>
          <a:xfrm>
            <a:off x="6355080" y="39502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SF15 catches</a:t>
            </a:r>
          </a:p>
        </p:txBody>
      </p:sp>
      <p:sp>
        <p:nvSpPr>
          <p:cNvPr id="11" name="TextBox 10"/>
          <p:cNvSpPr txBox="1"/>
          <p:nvPr/>
        </p:nvSpPr>
        <p:spPr>
          <a:xfrm>
            <a:off x="6355080" y="4297680"/>
            <a:ext cx="54864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camera dies mid-pull. The crosshead is advancing, the load is rising, the encoder is healthy — every signal SF7 can see says the test is going perfectly.
And it is worse than merely unmeasured: a strain-rate loop steers ON strain, so frozen strain reads as “not deforming fast enough” and the controller ramps the speed UP, blind. That is why SF15's first stage freezes the speed rather than halting — the danger is acceleration, not the stop.</a:t>
            </a:r>
          </a:p>
        </p:txBody>
      </p:sp>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WHY NEITHER CAN COVER THE OTHER: SF7 asks whether the MACHINE is doing what it was told. SF15 asks whether the MEASUREMENT still means anything. A test can fail either way, and the failure that is invisible to one is the one the other exists for.</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SF7 from STALL_WINDOW_S / STALL_MIN_ADVANCE_MM / STALL_SHORTFALL_FRAC / STALL_MIN_LOAD_N; SF15 from POLICY_STALE_FREEZE_S and POLICY_DEAD_DIC_S.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p270.</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(p278),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p290.</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p290 and p291.</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(p291).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p290.</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SAME 80 mm GAUGE, DIFFERENT PIXEL COUNTS — WHY THAT IS FINE</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p295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(p298)</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(p298);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p292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p299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p291.</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(p298).</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(p288).</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p298, p290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Set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Set the gauge</a:t>
                      </a:r>
                    </a:p>
                  </a:txBody>
                  <a:tcPr/>
                </a:tc>
                <a:tc>
                  <a:txBody>
                    <a:bodyPr lIns="54864" rIns="54864" tIns="18288" bIns="18288" wrap="square" anchor="ctr"/>
                    <a:lstStyle/>
                    <a:p>
                      <a:pPr algn="l"/>
                      <a:r>
                        <a:rPr sz="850" b="0">
                          <a:solidFill>
                            <a:srgbClr val="000000"/>
                          </a:solidFill>
                          <a:latin typeface="Calibri"/>
                        </a:rPr>
                        <a:t>Type the real distance between the two markers, in mm, into Gauge (A→B).</a:t>
                      </a:r>
                    </a:p>
                  </a:txBody>
                  <a:tcPr/>
                </a:tc>
                <a:tc>
                  <a:txBody>
                    <a:bodyPr lIns="54864" rIns="54864" tIns="18288" bIns="18288" wrap="square" anchor="ctr"/>
                    <a:lstStyle/>
                    <a:p>
                      <a:pPr algn="l"/>
                      <a:r>
                        <a:rPr sz="850" b="0">
                          <a:solidFill>
                            <a:srgbClr val="000000"/>
                          </a:solidFill>
                          <a:latin typeface="Calibri"/>
                        </a:rPr>
                        <a:t>This only sets px per mm. Strain itself is a ratio of PIXELS, so getting the gauge wrong changes no strain — it changes only the reported scale.</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20.9 px/mm — NOT A SETTING, BUT WHAT THE FRAME LEAVES</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not a number anyone typed in. It is fixed by the lens, the working distance and the sensor crop, and it is what the FIELD OF VIEW leaves behind. The field of view is the thing that was actually chosen, and this is the constraint that chose it.</a:t>
            </a:r>
          </a:p>
        </p:txBody>
      </p:sp>
      <p:pic>
        <p:nvPicPr>
          <p:cNvPr id="6" name="Picture 5" descr="pxmm_tradeoff.png"/>
          <p:cNvPicPr>
            <a:picLocks noChangeAspect="1"/>
          </p:cNvPicPr>
          <p:nvPr/>
        </p:nvPicPr>
        <p:blipFill>
          <a:blip r:embed="rId2"/>
          <a:stretch>
            <a:fillRect/>
          </a:stretch>
        </p:blipFill>
        <p:spPr>
          <a:xfrm>
            <a:off x="413353" y="1481328"/>
            <a:ext cx="11380532" cy="2670048"/>
          </a:xfrm>
          <a:prstGeom prst="rect">
            <a:avLst/>
          </a:prstGeom>
        </p:spPr>
      </p:pic>
      <p:sp>
        <p:nvSpPr>
          <p:cNvPr id="7" name="TextBox 6"/>
          <p:cNvSpPr txBox="1"/>
          <p:nvPr/>
        </p:nvSpPr>
        <p:spPr>
          <a:xfrm>
            <a:off x="41148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binding constraint</a:t>
            </a:r>
          </a:p>
        </p:txBody>
      </p:sp>
      <p:sp>
        <p:nvSpPr>
          <p:cNvPr id="8" name="TextBox 7"/>
          <p:cNvSpPr txBox="1"/>
          <p:nvPr/>
        </p:nvSpPr>
        <p:spPr>
          <a:xfrm>
            <a:off x="411480" y="4608576"/>
            <a:ext cx="3703320" cy="1481328"/>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is only useful if the markers stay in frame until the specimen breaks. On a 2348 px crop with a 75 px box, a marker reaches the edge at 31 % strain. The rig's own travel backstop is 37.5 % on an 80 mm gauge, so the frame very nearly outlasts the machine — and the full 2448 px sensor takes it to 37 %, past the backstop.</a:t>
            </a:r>
          </a:p>
        </p:txBody>
      </p:sp>
      <p:sp>
        <p:nvSpPr>
          <p:cNvPr id="9" name="TextBox 8"/>
          <p:cNvSpPr txBox="1"/>
          <p:nvPr/>
        </p:nvSpPr>
        <p:spPr>
          <a:xfrm>
            <a:off x="434340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much margin that actually is</a:t>
            </a:r>
          </a:p>
        </p:txBody>
      </p:sp>
      <p:graphicFrame>
        <p:nvGraphicFramePr>
          <p:cNvPr id="10" name="Table 9"/>
          <p:cNvGraphicFramePr>
            <a:graphicFrameLocks noGrp="1"/>
          </p:cNvGraphicFramePr>
          <p:nvPr/>
        </p:nvGraphicFramePr>
        <p:xfrm>
          <a:off x="4343400" y="4608576"/>
          <a:ext cx="3703320" cy="1481328"/>
        </p:xfrm>
        <a:graphic>
          <a:graphicData uri="http://schemas.openxmlformats.org/drawingml/2006/table">
            <a:tbl>
              <a:tblPr firstRow="1" bandRow="1">
                <a:tableStyleId>{5C22544A-7EE6-4342-B048-85BDC9FD1C3A}</a:tableStyleId>
              </a:tblPr>
              <a:tblGrid>
                <a:gridCol w="2514600"/>
                <a:gridCol w="1188720"/>
              </a:tblGrid>
              <a:tr h="296265">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strain</a:t>
                      </a:r>
                    </a:p>
                  </a:txBody>
                  <a:tcPr>
                    <a:solidFill>
                      <a:srgbClr val="143D2F"/>
                    </a:solidFill>
                  </a:tcPr>
                </a:tc>
              </a:tr>
              <a:tr h="296265">
                <a:tc>
                  <a:txBody>
                    <a:bodyPr lIns="54864" rIns="54864" tIns="18288" bIns="18288" wrap="square" anchor="ctr"/>
                    <a:lstStyle/>
                    <a:p>
                      <a:pPr algn="l"/>
                      <a:r>
                        <a:rPr sz="850" b="0">
                          <a:solidFill>
                            <a:srgbClr val="000000"/>
                          </a:solidFill>
                          <a:latin typeface="Calibri"/>
                        </a:rPr>
                        <a:t>S25 fractured at</a:t>
                      </a:r>
                    </a:p>
                  </a:txBody>
                  <a:tcPr/>
                </a:tc>
                <a:tc>
                  <a:txBody>
                    <a:bodyPr lIns="54864" rIns="54864" tIns="18288" bIns="18288" wrap="square" anchor="ctr"/>
                    <a:lstStyle/>
                    <a:p>
                      <a:pPr algn="l"/>
                      <a:r>
                        <a:rPr sz="850" b="0">
                          <a:solidFill>
                            <a:srgbClr val="000000"/>
                          </a:solidFill>
                          <a:latin typeface="Calibri"/>
                        </a:rPr>
                        <a:t>4.18 %</a:t>
                      </a:r>
                    </a:p>
                  </a:txBody>
                  <a:tcPr/>
                </a:tc>
              </a:tr>
              <a:tr h="296265">
                <a:tc>
                  <a:txBody>
                    <a:bodyPr lIns="54864" rIns="54864" tIns="18288" bIns="18288" wrap="square" anchor="ctr"/>
                    <a:lstStyle/>
                    <a:p>
                      <a:pPr algn="l"/>
                      <a:r>
                        <a:rPr sz="850" b="0">
                          <a:solidFill>
                            <a:srgbClr val="000000"/>
                          </a:solidFill>
                          <a:latin typeface="Calibri"/>
                        </a:rPr>
                        <a:t>S26 fractured at</a:t>
                      </a:r>
                    </a:p>
                  </a:txBody>
                  <a:tcPr/>
                </a:tc>
                <a:tc>
                  <a:txBody>
                    <a:bodyPr lIns="54864" rIns="54864" tIns="18288" bIns="18288" wrap="square" anchor="ctr"/>
                    <a:lstStyle/>
                    <a:p>
                      <a:pPr algn="l"/>
                      <a:r>
                        <a:rPr sz="850" b="0">
                          <a:solidFill>
                            <a:srgbClr val="000000"/>
                          </a:solidFill>
                          <a:latin typeface="Calibri"/>
                        </a:rPr>
                        <a:t>5.74 %</a:t>
                      </a:r>
                    </a:p>
                  </a:txBody>
                  <a:tcPr/>
                </a:tc>
              </a:tr>
              <a:tr h="296265">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a:t>
                      </a:r>
                    </a:p>
                  </a:txBody>
                  <a:tcPr/>
                </a:tc>
              </a:tr>
              <a:tr h="296268">
                <a:tc>
                  <a:txBody>
                    <a:bodyPr lIns="54864" rIns="54864" tIns="18288" bIns="18288" wrap="square" anchor="ctr"/>
                    <a:lstStyle/>
                    <a:p>
                      <a:pPr algn="l"/>
                      <a:r>
                        <a:rPr sz="850" b="0">
                          <a:solidFill>
                            <a:srgbClr val="000000"/>
                          </a:solidFill>
                          <a:latin typeface="Calibri"/>
                        </a:rPr>
                        <a:t>margin on PLA</a:t>
                      </a:r>
                    </a:p>
                  </a:txBody>
                  <a:tcPr/>
                </a:tc>
                <a:tc>
                  <a:txBody>
                    <a:bodyPr lIns="54864" rIns="54864" tIns="18288" bIns="18288" wrap="square" anchor="ctr"/>
                    <a:lstStyle/>
                    <a:p>
                      <a:pPr algn="l"/>
                      <a:r>
                        <a:rPr sz="850" b="0">
                          <a:solidFill>
                            <a:srgbClr val="000000"/>
                          </a:solidFill>
                          <a:latin typeface="Calibri"/>
                        </a:rPr>
                        <a:t>5×</a:t>
                      </a:r>
                    </a:p>
                  </a:txBody>
                  <a:tcPr/>
                </a:tc>
              </a:tr>
            </a:tbl>
          </a:graphicData>
        </a:graphic>
      </p:graphicFrame>
      <p:sp>
        <p:nvSpPr>
          <p:cNvPr id="11" name="TextBox 10"/>
          <p:cNvSpPr txBox="1"/>
          <p:nvPr/>
        </p:nvSpPr>
        <p:spPr>
          <a:xfrm>
            <a:off x="8275320" y="42611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is NOT enough</a:t>
            </a:r>
          </a:p>
        </p:txBody>
      </p:sp>
      <p:sp>
        <p:nvSpPr>
          <p:cNvPr id="12" name="TextBox 11"/>
          <p:cNvSpPr txBox="1"/>
          <p:nvPr/>
        </p:nvSpPr>
        <p:spPr>
          <a:xfrm>
            <a:off x="8275320" y="4608576"/>
            <a:ext cx="3566160" cy="1481328"/>
          </a:xfrm>
          <a:prstGeom prst="rect">
            <a:avLst/>
          </a:prstGeom>
          <a:noFill/>
        </p:spPr>
        <p:txBody>
          <a:bodyPr wrap="square" lIns="45720" rIns="45720" tIns="18288" bIns="18288" anchor="t">
            <a:spAutoFit/>
          </a:bodyPr>
          <a:lstStyle/>
          <a:p>
            <a:pPr algn="l"/>
            <a:r>
              <a:rPr sz="1000" b="0" i="0">
                <a:solidFill>
                  <a:srgbClr val="000000"/>
                </a:solidFill>
                <a:latin typeface="Calibri"/>
              </a:rPr>
              <a:t>TPU. An elastomer runs to hundreds of per cent, so the markers leave the frame long before anything stops the test and the trace simply ends mid-pull. That is a known limit of the shipped crop, recorded in camera_manager.set_roi, and the reason a wider ROI exists as an override rather than the ROI being treated as fixed.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Basler acA2440-35um, shipped ROI [0, 988, 2348, 419]. The 80 mm gauge lands on 1676 px, so px/mm = 20.95 — an OUTPUT of the optics, not an input.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WOULD MORE PIXELS PER mm BE BETTER? — THE XT-205 ANSWERS IT</a:t>
            </a:r>
          </a:p>
        </p:txBody>
      </p:sp>
      <p:sp>
        <p:nvSpPr>
          <p:cNvPr id="5" name="TextBox 4"/>
          <p:cNvSpPr txBox="1"/>
          <p:nvPr/>
        </p:nvSpPr>
        <p:spPr>
          <a:xfrm>
            <a:off x="411480" y="1024128"/>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The XT-205 sits at the other end of the same trade: 33 % more pixels per millimetre, and a field of view that holds almost nothing but the gauge. It is the experiment we did not have to run ourselves.</a:t>
            </a:r>
          </a:p>
        </p:txBody>
      </p:sp>
      <p:sp>
        <p:nvSpPr>
          <p:cNvPr id="6" name="TextBox 5"/>
          <p:cNvSpPr txBox="1"/>
          <p:nvPr/>
        </p:nvSpPr>
        <p:spPr>
          <a:xfrm>
            <a:off x="411480" y="15179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extra magnification bought, and what it cost</a:t>
            </a:r>
          </a:p>
        </p:txBody>
      </p:sp>
      <p:graphicFrame>
        <p:nvGraphicFramePr>
          <p:cNvPr id="7" name="Table 6"/>
          <p:cNvGraphicFramePr>
            <a:graphicFrameLocks noGrp="1"/>
          </p:cNvGraphicFramePr>
          <p:nvPr/>
        </p:nvGraphicFramePr>
        <p:xfrm>
          <a:off x="411480" y="1865376"/>
          <a:ext cx="11430000" cy="2103120"/>
        </p:xfrm>
        <a:graphic>
          <a:graphicData uri="http://schemas.openxmlformats.org/drawingml/2006/table">
            <a:tbl>
              <a:tblPr firstRow="1" bandRow="1">
                <a:tableStyleId>{5C22544A-7EE6-4342-B048-85BDC9FD1C3A}</a:tableStyleId>
              </a:tblPr>
              <a:tblGrid>
                <a:gridCol w="2606040"/>
                <a:gridCol w="1965960"/>
                <a:gridCol w="1965960"/>
                <a:gridCol w="4892040"/>
              </a:tblGrid>
              <a:tr h="3505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350520">
                <a:tc>
                  <a:txBody>
                    <a:bodyPr lIns="54864" rIns="54864" tIns="18288" bIns="18288" wrap="square" anchor="ctr"/>
                    <a:lstStyle/>
                    <a:p>
                      <a:pPr algn="l"/>
                      <a:r>
                        <a:rPr sz="850" b="0">
                          <a:solidFill>
                            <a:srgbClr val="000000"/>
                          </a:solidFill>
                          <a:latin typeface="Calibri"/>
                        </a:rPr>
                        <a:t>pixels per millimetre</a:t>
                      </a:r>
                    </a:p>
                  </a:txBody>
                  <a:tcPr/>
                </a:tc>
                <a:tc>
                  <a:txBody>
                    <a:bodyPr lIns="54864" rIns="54864" tIns="18288" bIns="18288" wrap="square" anchor="ctr"/>
                    <a:lstStyle/>
                    <a:p>
                      <a:pPr algn="l"/>
                      <a:r>
                        <a:rPr sz="850" b="0">
                          <a:solidFill>
                            <a:srgbClr val="000000"/>
                          </a:solidFill>
                          <a:latin typeface="Calibri"/>
                        </a:rPr>
                        <a:t>21.0</a:t>
                      </a:r>
                    </a:p>
                  </a:txBody>
                  <a:tcPr/>
                </a:tc>
                <a:tc>
                  <a:txBody>
                    <a:bodyPr lIns="54864" rIns="54864" tIns="18288" bIns="18288" wrap="square" anchor="ctr"/>
                    <a:lstStyle/>
                    <a:p>
                      <a:pPr algn="l"/>
                      <a:r>
                        <a:rPr sz="850" b="0">
                          <a:solidFill>
                            <a:srgbClr val="000000"/>
                          </a:solidFill>
                          <a:latin typeface="Calibri"/>
                        </a:rPr>
                        <a:t>27.9</a:t>
                      </a:r>
                    </a:p>
                  </a:txBody>
                  <a:tcPr/>
                </a:tc>
                <a:tc>
                  <a:txBody>
                    <a:bodyPr lIns="54864" rIns="54864" tIns="18288" bIns="18288" wrap="square" anchor="ctr"/>
                    <a:lstStyle/>
                    <a:p>
                      <a:pPr algn="l"/>
                      <a:r>
                        <a:rPr sz="850" b="0">
                          <a:solidFill>
                            <a:srgbClr val="000000"/>
                          </a:solidFill>
                          <a:latin typeface="Calibri"/>
                        </a:rPr>
                        <a:t>the XT-205 magnifies 33 % more</a:t>
                      </a:r>
                    </a:p>
                  </a:txBody>
                  <a:tcPr/>
                </a:tc>
              </a:tr>
              <a:tr h="350520">
                <a:tc>
                  <a:txBody>
                    <a:bodyPr lIns="54864" rIns="54864" tIns="18288" bIns="18288" wrap="square" anchor="ctr"/>
                    <a:lstStyle/>
                    <a:p>
                      <a:pPr algn="l"/>
                      <a:r>
                        <a:rPr sz="850" b="0">
                          <a:solidFill>
                            <a:srgbClr val="000000"/>
                          </a:solidFill>
                          <a:latin typeface="Calibri"/>
                        </a:rPr>
                        <a:t>one whole pixel, in strain</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c>
                  <a:txBody>
                    <a:bodyPr lIns="54864" rIns="54864" tIns="18288" bIns="18288" wrap="square" anchor="ctr"/>
                    <a:lstStyle/>
                    <a:p>
                      <a:pPr algn="l"/>
                      <a:r>
                        <a:rPr sz="850" b="0">
                          <a:solidFill>
                            <a:srgbClr val="000000"/>
                          </a:solidFill>
                          <a:latin typeface="Calibri"/>
                        </a:rPr>
                        <a:t>so its quantisation floor is 25 % finer — a real gain</a:t>
                      </a:r>
                    </a:p>
                  </a:txBody>
                  <a:tcPr/>
                </a:tc>
              </a:tr>
              <a:tr h="350520">
                <a:tc>
                  <a:txBody>
                    <a:bodyPr lIns="54864" rIns="54864" tIns="18288" bIns="18288" wrap="square" anchor="ctr"/>
                    <a:lstStyle/>
                    <a:p>
                      <a:pPr algn="l"/>
                      <a:r>
                        <a:rPr sz="850" b="0">
                          <a:solidFill>
                            <a:srgbClr val="000000"/>
                          </a:solidFill>
                          <a:latin typeface="Calibri"/>
                        </a:rPr>
                        <a:t>field of view</a:t>
                      </a:r>
                    </a:p>
                  </a:txBody>
                  <a:tcPr/>
                </a:tc>
                <a:tc>
                  <a:txBody>
                    <a:bodyPr lIns="54864" rIns="54864" tIns="18288" bIns="18288" wrap="square" anchor="ctr"/>
                    <a:lstStyle/>
                    <a:p>
                      <a:pPr algn="l"/>
                      <a:r>
                        <a:rPr sz="850" b="0">
                          <a:solidFill>
                            <a:srgbClr val="000000"/>
                          </a:solidFill>
                          <a:latin typeface="Calibri"/>
                        </a:rPr>
                        <a:t>112.1 mm</a:t>
                      </a:r>
                    </a:p>
                  </a:txBody>
                  <a:tcPr/>
                </a:tc>
                <a:tc>
                  <a:txBody>
                    <a:bodyPr lIns="54864" rIns="54864" tIns="18288" bIns="18288" wrap="square" anchor="ctr"/>
                    <a:lstStyle/>
                    <a:p>
                      <a:pPr algn="l"/>
                      <a:r>
                        <a:rPr sz="850" b="0">
                          <a:solidFill>
                            <a:srgbClr val="000000"/>
                          </a:solidFill>
                          <a:latin typeface="Calibri"/>
                        </a:rPr>
                        <a:t>88.2 mm</a:t>
                      </a:r>
                    </a:p>
                  </a:txBody>
                  <a:tcPr/>
                </a:tc>
                <a:tc>
                  <a:txBody>
                    <a:bodyPr lIns="54864" rIns="54864" tIns="18288" bIns="18288" wrap="square" anchor="ctr"/>
                    <a:lstStyle/>
                    <a:p>
                      <a:pPr algn="l"/>
                      <a:r>
                        <a:rPr sz="850" b="0">
                          <a:solidFill>
                            <a:srgbClr val="000000"/>
                          </a:solidFill>
                          <a:latin typeface="Calibri"/>
                        </a:rPr>
                        <a:t>and it holds only 8.2 mm beyond an 80 mm gauge</a:t>
                      </a:r>
                    </a:p>
                  </a:txBody>
                  <a:tcPr/>
                </a:tc>
              </a:tr>
              <a:tr h="350520">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 strain</a:t>
                      </a:r>
                    </a:p>
                  </a:txBody>
                  <a:tcPr/>
                </a:tc>
                <a:tc>
                  <a:txBody>
                    <a:bodyPr lIns="54864" rIns="54864" tIns="18288" bIns="18288" wrap="square" anchor="ctr"/>
                    <a:lstStyle/>
                    <a:p>
                      <a:pPr algn="l"/>
                      <a:r>
                        <a:rPr sz="850" b="0">
                          <a:solidFill>
                            <a:srgbClr val="000000"/>
                          </a:solidFill>
                          <a:latin typeface="Calibri"/>
                        </a:rPr>
                        <a:t>0.70 % strain</a:t>
                      </a:r>
                    </a:p>
                  </a:txBody>
                  <a:tcPr/>
                </a:tc>
                <a:tc>
                  <a:txBody>
                    <a:bodyPr lIns="54864" rIns="54864" tIns="18288" bIns="18288" wrap="square" anchor="ctr"/>
                    <a:lstStyle/>
                    <a:p>
                      <a:pPr algn="l"/>
                      <a:r>
                        <a:rPr sz="850" b="0">
                          <a:solidFill>
                            <a:srgbClr val="000000"/>
                          </a:solidFill>
                          <a:latin typeface="Calibri"/>
                        </a:rPr>
                        <a:t>which is the whole cost, in one number</a:t>
                      </a:r>
                    </a:p>
                  </a:txBody>
                  <a:tcPr/>
                </a:tc>
              </a:tr>
              <a:tr h="350520">
                <a:tc>
                  <a:txBody>
                    <a:bodyPr lIns="54864" rIns="54864" tIns="18288" bIns="18288" wrap="square" anchor="ctr"/>
                    <a:lstStyle/>
                    <a:p>
                      <a:pPr algn="l"/>
                      <a:r>
                        <a:rPr sz="850" b="0">
                          <a:solidFill>
                            <a:srgbClr val="000000"/>
                          </a:solidFill>
                          <a:latin typeface="Calibri"/>
                        </a:rPr>
                        <a:t>what actually happened</a:t>
                      </a:r>
                    </a:p>
                  </a:txBody>
                  <a:tcPr/>
                </a:tc>
                <a:tc>
                  <a:txBody>
                    <a:bodyPr lIns="54864" rIns="54864" tIns="18288" bIns="18288" wrap="square" anchor="ctr"/>
                    <a:lstStyle/>
                    <a:p>
                      <a:pPr algn="l"/>
                      <a:r>
                        <a:rPr sz="850" b="0">
                          <a:solidFill>
                            <a:srgbClr val="000000"/>
                          </a:solidFill>
                          <a:latin typeface="Calibri"/>
                        </a:rPr>
                        <a:t>ran to fracture</a:t>
                      </a:r>
                    </a:p>
                  </a:txBody>
                  <a:tcPr/>
                </a:tc>
                <a:tc>
                  <a:txBody>
                    <a:bodyPr lIns="54864" rIns="54864" tIns="18288" bIns="18288" wrap="square" anchor="ctr"/>
                    <a:lstStyle/>
                    <a:p>
                      <a:pPr algn="l"/>
                      <a:r>
                        <a:rPr sz="850" b="0">
                          <a:solidFill>
                            <a:srgbClr val="000000"/>
                          </a:solidFill>
                          <a:latin typeface="Calibri"/>
                        </a:rPr>
                        <a:t>degraded at 0.52 %</a:t>
                      </a:r>
                    </a:p>
                  </a:txBody>
                  <a:tcPr/>
                </a:tc>
                <a:tc>
                  <a:txBody>
                    <a:bodyPr lIns="54864" rIns="54864" tIns="18288" bIns="18288" wrap="square" anchor="ctr"/>
                    <a:lstStyle/>
                    <a:p>
                      <a:pPr algn="l"/>
                      <a:r>
                        <a:rPr sz="850" b="0">
                          <a:solidFill>
                            <a:srgbClr val="000000"/>
                          </a:solidFill>
                          <a:latin typeface="Calibri"/>
                        </a:rPr>
                        <a:t>its box hit the frame edge; 184 rows pinned there (p297)</a:t>
                      </a:r>
                    </a:p>
                  </a:txBody>
                  <a:tcPr/>
                </a:tc>
              </a:tr>
            </a:tbl>
          </a:graphicData>
        </a:graphic>
      </p:graphicFrame>
      <p:sp>
        <p:nvSpPr>
          <p:cNvPr id="8" name="TextBox 7"/>
          <p:cNvSpPr txBox="1"/>
          <p:nvPr/>
        </p:nvSpPr>
        <p:spPr>
          <a:xfrm>
            <a:off x="411480" y="41330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finer pixel did NOT set the precision</a:t>
            </a:r>
          </a:p>
        </p:txBody>
      </p:sp>
      <p:graphicFrame>
        <p:nvGraphicFramePr>
          <p:cNvPr id="9" name="Table 8"/>
          <p:cNvGraphicFramePr>
            <a:graphicFrameLocks noGrp="1"/>
          </p:cNvGraphicFramePr>
          <p:nvPr/>
        </p:nvGraphicFramePr>
        <p:xfrm>
          <a:off x="411480" y="4480560"/>
          <a:ext cx="5623560" cy="1234440"/>
        </p:xfrm>
        <a:graphic>
          <a:graphicData uri="http://schemas.openxmlformats.org/drawingml/2006/table">
            <a:tbl>
              <a:tblPr firstRow="1" bandRow="1">
                <a:tableStyleId>{5C22544A-7EE6-4342-B048-85BDC9FD1C3A}</a:tableStyleId>
              </a:tblPr>
              <a:tblGrid>
                <a:gridCol w="2377440"/>
                <a:gridCol w="1645920"/>
                <a:gridCol w="1600200"/>
              </a:tblGrid>
              <a:tr h="30861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 footage</a:t>
                      </a:r>
                    </a:p>
                  </a:txBody>
                  <a:tcPr>
                    <a:solidFill>
                      <a:srgbClr val="143D2F"/>
                    </a:solidFill>
                  </a:tcPr>
                </a:tc>
              </a:tr>
              <a:tr h="308610">
                <a:tc>
                  <a:txBody>
                    <a:bodyPr lIns="54864" rIns="54864" tIns="18288" bIns="18288" wrap="square" anchor="ctr"/>
                    <a:lstStyle/>
                    <a:p>
                      <a:pPr algn="l"/>
                      <a:r>
                        <a:rPr sz="850" b="0">
                          <a:solidFill>
                            <a:srgbClr val="000000"/>
                          </a:solidFill>
                          <a:latin typeface="Calibri"/>
                        </a:rPr>
                        <a:t>one whole pixel</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r>
              <a:tr h="308610">
                <a:tc>
                  <a:txBody>
                    <a:bodyPr lIns="54864" rIns="54864" tIns="18288" bIns="18288" wrap="square" anchor="ctr"/>
                    <a:lstStyle/>
                    <a:p>
                      <a:pPr algn="l"/>
                      <a:r>
                        <a:rPr sz="850" b="0">
                          <a:solidFill>
                            <a:srgbClr val="000000"/>
                          </a:solidFill>
                          <a:latin typeface="Calibri"/>
                        </a:rPr>
                        <a:t>achieved by our pipeline</a:t>
                      </a:r>
                    </a:p>
                  </a:txBody>
                  <a:tcPr/>
                </a:tc>
                <a:tc>
                  <a:txBody>
                    <a:bodyPr lIns="54864" rIns="54864" tIns="18288" bIns="18288" wrap="square" anchor="ctr"/>
                    <a:lstStyle/>
                    <a:p>
                      <a:pPr algn="l"/>
                      <a:r>
                        <a:rPr sz="850" b="0">
                          <a:solidFill>
                            <a:srgbClr val="000000"/>
                          </a:solidFill>
                          <a:latin typeface="Calibri"/>
                        </a:rPr>
                        <a:t>11.3 µε</a:t>
                      </a:r>
                    </a:p>
                  </a:txBody>
                  <a:tcPr/>
                </a:tc>
                <a:tc>
                  <a:txBody>
                    <a:bodyPr lIns="54864" rIns="54864" tIns="18288" bIns="18288" wrap="square" anchor="ctr"/>
                    <a:lstStyle/>
                    <a:p>
                      <a:pPr algn="l"/>
                      <a:r>
                        <a:rPr sz="850" b="0">
                          <a:solidFill>
                            <a:srgbClr val="000000"/>
                          </a:solidFill>
                          <a:latin typeface="Calibri"/>
                        </a:rPr>
                        <a:t>5.7 µε</a:t>
                      </a:r>
                    </a:p>
                  </a:txBody>
                  <a:tcPr/>
                </a:tc>
              </a:tr>
              <a:tr h="308610">
                <a:tc>
                  <a:txBody>
                    <a:bodyPr lIns="54864" rIns="54864" tIns="18288" bIns="18288" wrap="square" anchor="ctr"/>
                    <a:lstStyle/>
                    <a:p>
                      <a:pPr algn="l"/>
                      <a:r>
                        <a:rPr sz="850" b="0">
                          <a:solidFill>
                            <a:srgbClr val="000000"/>
                          </a:solidFill>
                          <a:latin typeface="Calibri"/>
                        </a:rPr>
                        <a:t>sub-pixel factor</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79×</a:t>
                      </a:r>
                    </a:p>
                  </a:txBody>
                  <a:tcPr/>
                </a:tc>
              </a:tr>
            </a:tbl>
          </a:graphicData>
        </a:graphic>
      </p:graphicFrame>
      <p:sp>
        <p:nvSpPr>
          <p:cNvPr id="10" name="TextBox 9"/>
          <p:cNvSpPr txBox="1"/>
          <p:nvPr/>
        </p:nvSpPr>
        <p:spPr>
          <a:xfrm>
            <a:off x="6263640" y="41330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answer</a:t>
            </a:r>
          </a:p>
        </p:txBody>
      </p:sp>
      <p:sp>
        <p:nvSpPr>
          <p:cNvPr id="11" name="TextBox 10"/>
          <p:cNvSpPr txBox="1"/>
          <p:nvPr/>
        </p:nvSpPr>
        <p:spPr>
          <a:xfrm>
            <a:off x="6263640" y="4480560"/>
            <a:ext cx="5577840" cy="1234440"/>
          </a:xfrm>
          <a:prstGeom prst="rect">
            <a:avLst/>
          </a:prstGeom>
          <a:noFill/>
        </p:spPr>
        <p:txBody>
          <a:bodyPr wrap="square" lIns="45720" rIns="45720" tIns="18288" bIns="18288" anchor="t">
            <a:spAutoFit/>
          </a:bodyPr>
          <a:lstStyle/>
          <a:p>
            <a:pPr algn="l"/>
            <a:r>
              <a:rPr sz="1000" b="0" i="0">
                <a:solidFill>
                  <a:srgbClr val="000000"/>
                </a:solidFill>
                <a:latin typeface="Calibri"/>
              </a:rPr>
              <a:t>More px/mm IS better — but only while the frame still outlasts the test. Both machines achieve 53–79× better than one pixel, so the magnification sets the floor and the ESTIMATOR sets the result. Buying resolution with field of view is a bad trade for a fracture test, and a good one for a machine that only measures the elastic region.</a:t>
            </a:r>
          </a:p>
        </p:txBody>
      </p:sp>
      <p:sp>
        <p:nvSpPr>
          <p:cNvPr id="12" name="Rectangle 11"/>
          <p:cNvSpPr/>
          <p:nvPr/>
        </p:nvSpPr>
        <p:spPr>
          <a:xfrm>
            <a:off x="365760" y="5870448"/>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What we could NOT establish: no standard or literature basis for a px/mm target is recorded anywhere in this project. The choice is an engineering one — field of view against the machine's own travel limit — and it should be described that way rather than as a specification.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0.52 % figure is where the XT-205 run's own tracking degraded, measured independently; the 0.70 % is where its box geometry says it must. They agree.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A CAMERA PROPERTY? — YES, AND A TAPE MEASURE CAN CHECK IT</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the optical magnification divided by the pixel pitch — nothing else goes into it. Two constants of the hardware and one distance produce the number, and the last of those is the only thing anyone chose.</a:t>
            </a:r>
          </a:p>
        </p:txBody>
      </p:sp>
      <p:pic>
        <p:nvPicPr>
          <p:cNvPr id="6" name="Picture 5" descr="pxmm_optics.png"/>
          <p:cNvPicPr>
            <a:picLocks noChangeAspect="1"/>
          </p:cNvPicPr>
          <p:nvPr/>
        </p:nvPicPr>
        <p:blipFill>
          <a:blip r:embed="rId2"/>
          <a:stretch>
            <a:fillRect/>
          </a:stretch>
        </p:blipFill>
        <p:spPr>
          <a:xfrm>
            <a:off x="842072" y="1444752"/>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end to end</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1828800"/>
                <a:gridCol w="1051560"/>
                <a:gridCol w="283464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pixel pitch</a:t>
                      </a:r>
                    </a:p>
                  </a:txBody>
                  <a:tcPr/>
                </a:tc>
                <a:tc>
                  <a:txBody>
                    <a:bodyPr lIns="54864" rIns="54864" tIns="18288" bIns="18288" wrap="square" anchor="ctr"/>
                    <a:lstStyle/>
                    <a:p>
                      <a:pPr algn="l"/>
                      <a:r>
                        <a:rPr sz="850" b="0">
                          <a:solidFill>
                            <a:srgbClr val="000000"/>
                          </a:solidFill>
                          <a:latin typeface="Calibri"/>
                        </a:rPr>
                        <a:t>3.45 µm</a:t>
                      </a:r>
                    </a:p>
                  </a:txBody>
                  <a:tcPr/>
                </a:tc>
                <a:tc>
                  <a:txBody>
                    <a:bodyPr lIns="54864" rIns="54864" tIns="18288" bIns="18288" wrap="square" anchor="ctr"/>
                    <a:lstStyle/>
                    <a:p>
                      <a:pPr algn="l"/>
                      <a:r>
                        <a:rPr sz="850" b="0">
                          <a:solidFill>
                            <a:srgbClr val="000000"/>
                          </a:solidFill>
                          <a:latin typeface="Calibri"/>
                        </a:rPr>
                        <a:t>acA2440 datasheet</a:t>
                      </a:r>
                    </a:p>
                  </a:txBody>
                  <a:tcPr/>
                </a:tc>
              </a:tr>
              <a:tr h="249936">
                <a:tc>
                  <a:txBody>
                    <a:bodyPr lIns="54864" rIns="54864" tIns="18288" bIns="18288" wrap="square" anchor="ctr"/>
                    <a:lstStyle/>
                    <a:p>
                      <a:pPr algn="l"/>
                      <a:r>
                        <a:rPr sz="850" b="0">
                          <a:solidFill>
                            <a:srgbClr val="000000"/>
                          </a:solidFill>
                          <a:latin typeface="Calibri"/>
                        </a:rPr>
                        <a:t>lens</a:t>
                      </a:r>
                    </a:p>
                  </a:txBody>
                  <a:tcPr/>
                </a:tc>
                <a:tc>
                  <a:txBody>
                    <a:bodyPr lIns="54864" rIns="54864" tIns="18288" bIns="18288" wrap="square" anchor="ctr"/>
                    <a:lstStyle/>
                    <a:p>
                      <a:pPr algn="l"/>
                      <a:r>
                        <a:rPr sz="850" b="0">
                          <a:solidFill>
                            <a:srgbClr val="000000"/>
                          </a:solidFill>
                          <a:latin typeface="Calibri"/>
                        </a:rPr>
                        <a:t>25 mm</a:t>
                      </a:r>
                    </a:p>
                  </a:txBody>
                  <a:tcPr/>
                </a:tc>
                <a:tc>
                  <a:txBody>
                    <a:bodyPr lIns="54864" rIns="54864" tIns="18288" bIns="18288" wrap="square" anchor="ctr"/>
                    <a:lstStyle/>
                    <a:p>
                      <a:pPr algn="l"/>
                      <a:r>
                        <a:rPr sz="850" b="0">
                          <a:solidFill>
                            <a:srgbClr val="000000"/>
                          </a:solidFill>
                          <a:latin typeface="Calibri"/>
                        </a:rPr>
                        <a:t>Azure-2514M f/1.4 — TODO.md, README.md</a:t>
                      </a:r>
                    </a:p>
                  </a:txBody>
                  <a:tcPr/>
                </a:tc>
              </a:tr>
              <a:tr h="249936">
                <a:tc>
                  <a:txBody>
                    <a:bodyPr lIns="54864" rIns="54864" tIns="18288" bIns="18288" wrap="square" anchor="ctr"/>
                    <a:lstStyle/>
                    <a:p>
                      <a:pPr algn="l"/>
                      <a:r>
                        <a:rPr sz="850" b="0">
                          <a:solidFill>
                            <a:srgbClr val="000000"/>
                          </a:solidFill>
                          <a:latin typeface="Calibri"/>
                        </a:rPr>
                        <a:t>measured px/mm</a:t>
                      </a:r>
                    </a:p>
                  </a:txBody>
                  <a:tcPr/>
                </a:tc>
                <a:tc>
                  <a:txBody>
                    <a:bodyPr lIns="54864" rIns="54864" tIns="18288" bIns="18288" wrap="square" anchor="ctr"/>
                    <a:lstStyle/>
                    <a:p>
                      <a:pPr algn="l"/>
                      <a:r>
                        <a:rPr sz="850" b="0">
                          <a:solidFill>
                            <a:srgbClr val="000000"/>
                          </a:solidFill>
                          <a:latin typeface="Calibri"/>
                        </a:rPr>
                        <a:t>20.95</a:t>
                      </a:r>
                    </a:p>
                  </a:txBody>
                  <a:tcPr/>
                </a:tc>
                <a:tc>
                  <a:txBody>
                    <a:bodyPr lIns="54864" rIns="54864" tIns="18288" bIns="18288" wrap="square" anchor="ctr"/>
                    <a:lstStyle/>
                    <a:p>
                      <a:pPr algn="l"/>
                      <a:r>
                        <a:rPr sz="850" b="0">
                          <a:solidFill>
                            <a:srgbClr val="000000"/>
                          </a:solidFill>
                          <a:latin typeface="Calibri"/>
                        </a:rPr>
                        <a:t>1676 px of gauge over 80 mm, on S26</a:t>
                      </a:r>
                    </a:p>
                  </a:txBody>
                  <a:tcPr/>
                </a:tc>
              </a:tr>
              <a:tr h="249936">
                <a:tc>
                  <a:txBody>
                    <a:bodyPr lIns="54864" rIns="54864" tIns="18288" bIns="18288" wrap="square" anchor="ctr"/>
                    <a:lstStyle/>
                    <a:p>
                      <a:pPr algn="l"/>
                      <a:r>
                        <a:rPr sz="850" b="0">
                          <a:solidFill>
                            <a:srgbClr val="000000"/>
                          </a:solidFill>
                          <a:latin typeface="Calibri"/>
                        </a:rPr>
                        <a:t>so the magnification is</a:t>
                      </a:r>
                    </a:p>
                  </a:txBody>
                  <a:tcPr/>
                </a:tc>
                <a:tc>
                  <a:txBody>
                    <a:bodyPr lIns="54864" rIns="54864" tIns="18288" bIns="18288" wrap="square" anchor="ctr"/>
                    <a:lstStyle/>
                    <a:p>
                      <a:pPr algn="l"/>
                      <a:r>
                        <a:rPr sz="850" b="0">
                          <a:solidFill>
                            <a:srgbClr val="000000"/>
                          </a:solidFill>
                          <a:latin typeface="Calibri"/>
                        </a:rPr>
                        <a:t>0.0723×</a:t>
                      </a:r>
                    </a:p>
                  </a:txBody>
                  <a:tcPr/>
                </a:tc>
                <a:tc>
                  <a:txBody>
                    <a:bodyPr lIns="54864" rIns="54864" tIns="18288" bIns="18288" wrap="square" anchor="ctr"/>
                    <a:lstStyle/>
                    <a:p>
                      <a:pPr algn="l"/>
                      <a:r>
                        <a:rPr sz="850" b="0">
                          <a:solidFill>
                            <a:srgbClr val="000000"/>
                          </a:solidFill>
                          <a:latin typeface="Calibri"/>
                        </a:rPr>
                        <a:t>pitch × px/mm — one pixel covers 47.7 µm</a:t>
                      </a:r>
                    </a:p>
                  </a:txBody>
                  <a:tcPr/>
                </a:tc>
              </a:tr>
              <a:tr h="249936">
                <a:tc>
                  <a:txBody>
                    <a:bodyPr lIns="54864" rIns="54864" tIns="18288" bIns="18288" wrap="square" anchor="ctr"/>
                    <a:lstStyle/>
                    <a:p>
                      <a:pPr algn="l"/>
                      <a:r>
                        <a:rPr sz="850" b="0">
                          <a:solidFill>
                            <a:srgbClr val="000000"/>
                          </a:solidFill>
                          <a:latin typeface="Calibri"/>
                        </a:rPr>
                        <a:t>so the lens must stand</a:t>
                      </a:r>
                    </a:p>
                  </a:txBody>
                  <a:tcPr/>
                </a:tc>
                <a:tc>
                  <a:txBody>
                    <a:bodyPr lIns="54864" rIns="54864" tIns="18288" bIns="18288" wrap="square" anchor="ctr"/>
                    <a:lstStyle/>
                    <a:p>
                      <a:pPr algn="l"/>
                      <a:r>
                        <a:rPr sz="850" b="0">
                          <a:solidFill>
                            <a:srgbClr val="000000"/>
                          </a:solidFill>
                          <a:latin typeface="Calibri"/>
                        </a:rPr>
                        <a:t>371 mm away</a:t>
                      </a:r>
                    </a:p>
                  </a:txBody>
                  <a:tcPr/>
                </a:tc>
                <a:tc>
                  <a:txBody>
                    <a:bodyPr lIns="54864" rIns="54864" tIns="18288" bIns="18288" wrap="square" anchor="ctr"/>
                    <a:lstStyle/>
                    <a:p>
                      <a:pPr algn="l"/>
                      <a:r>
                        <a:rPr sz="850" b="0">
                          <a:solidFill>
                            <a:srgbClr val="000000"/>
                          </a:solidFill>
                          <a:latin typeface="Calibri"/>
                        </a:rPr>
                        <a:t>f(1 + 1/M) — a PREDICTION</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buys us — and what changing it would cost</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Run a tape from the lens to the specimen. If it reads about 371 mm, the chain on the left is the entire explanation for 21.0 px/mm and nothing else is involved.  Move the camera 86 mm closer and the same camera and the same lens give the XT-205's 27.9 px/mm — no new hardware. It would also cut the field of view to 88 mm and take the frame limit from 31 % strain to nothing. Placement matters at this scale: 8 mm of error is worth 0.5 px/mm, which is why the scale is measured on the image and never assumed.</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Two caveats. The pixel pitch is a datasheet figure rather than one measured here, and the thin-lens relation ignores the real lens's principal-plane separation — so treat the 371 mm as a prediction good to a few per cent, not a specification. Neither touches the measured 20.95 px/mm, which is read off the gauge in the image.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Sensitivity: near our operating point, one millimetre of camera movement is worth 0.06 px/mm.</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FRACTURE PROTOCOLS, ONE STRENGTH — T7.2 AGAINST T8</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rig can break a specimen two ways: a staircase that climbs to failure, and a progressive cyclic schedule that fatigues then breaks it. If the machine is measuring the MATERIAL, the route it took should not change the answer.</a:t>
            </a:r>
          </a:p>
        </p:txBody>
      </p:sp>
      <p:pic>
        <p:nvPicPr>
          <p:cNvPr id="6" name="Picture 5" descr="xprotocol.png"/>
          <p:cNvPicPr>
            <a:picLocks noChangeAspect="1"/>
          </p:cNvPicPr>
          <p:nvPr/>
        </p:nvPicPr>
        <p:blipFill>
          <a:blip r:embed="rId2"/>
          <a:stretch>
            <a:fillRect/>
          </a:stretch>
        </p:blipFill>
        <p:spPr>
          <a:xfrm>
            <a:off x="842072" y="1463040"/>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runs, side by side</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2148840"/>
                <a:gridCol w="1783080"/>
                <a:gridCol w="178308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T7.2 staircase</a:t>
                      </a:r>
                    </a:p>
                  </a:txBody>
                  <a:tcPr>
                    <a:solidFill>
                      <a:srgbClr val="143D2F"/>
                    </a:solidFill>
                  </a:tcPr>
                </a:tc>
                <a:tc>
                  <a:txBody>
                    <a:bodyPr lIns="54864" rIns="54864" tIns="18288" bIns="18288" wrap="square" anchor="ctr"/>
                    <a:lstStyle/>
                    <a:p>
                      <a:pPr algn="l"/>
                      <a:r>
                        <a:rPr sz="950" b="1">
                          <a:solidFill>
                            <a:srgbClr val="FFFFFF"/>
                          </a:solidFill>
                          <a:latin typeface="Calibri"/>
                        </a:rPr>
                        <a:t>T8 prog. cyclic</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specimen</a:t>
                      </a:r>
                    </a:p>
                  </a:txBody>
                  <a:tcPr/>
                </a:tc>
                <a:tc>
                  <a:txBody>
                    <a:bodyPr lIns="54864" rIns="54864" tIns="18288" bIns="18288" wrap="square" anchor="ctr"/>
                    <a:lstStyle/>
                    <a:p>
                      <a:pPr algn="l"/>
                      <a:r>
                        <a:rPr sz="850" b="0">
                          <a:solidFill>
                            <a:srgbClr val="000000"/>
                          </a:solidFill>
                          <a:latin typeface="Calibri"/>
                        </a:rPr>
                        <a:t>S18</a:t>
                      </a:r>
                    </a:p>
                  </a:txBody>
                  <a:tcPr/>
                </a:tc>
                <a:tc>
                  <a:txBody>
                    <a:bodyPr lIns="54864" rIns="54864" tIns="18288" bIns="18288" wrap="square" anchor="ctr"/>
                    <a:lstStyle/>
                    <a:p>
                      <a:pPr algn="l"/>
                      <a:r>
                        <a:rPr sz="850" b="0">
                          <a:solidFill>
                            <a:srgbClr val="000000"/>
                          </a:solidFill>
                          <a:latin typeface="Calibri"/>
                        </a:rPr>
                        <a:t>S21</a:t>
                      </a:r>
                    </a:p>
                  </a:txBody>
                  <a:tcPr/>
                </a:tc>
              </a:tr>
              <a:tr h="249936">
                <a:tc>
                  <a:txBody>
                    <a:bodyPr lIns="54864" rIns="54864" tIns="18288" bIns="18288" wrap="square" anchor="ctr"/>
                    <a:lstStyle/>
                    <a:p>
                      <a:pPr algn="l"/>
                      <a:r>
                        <a:rPr sz="850" b="0">
                          <a:solidFill>
                            <a:srgbClr val="000000"/>
                          </a:solidFill>
                          <a:latin typeface="Calibri"/>
                        </a:rPr>
                        <a:t>UTS, as recorded</a:t>
                      </a:r>
                    </a:p>
                  </a:txBody>
                  <a:tcPr/>
                </a:tc>
                <a:tc>
                  <a:txBody>
                    <a:bodyPr lIns="54864" rIns="54864" tIns="18288" bIns="18288" wrap="square" anchor="ctr"/>
                    <a:lstStyle/>
                    <a:p>
                      <a:pPr algn="l"/>
                      <a:r>
                        <a:rPr sz="850" b="0">
                          <a:solidFill>
                            <a:srgbClr val="000000"/>
                          </a:solidFill>
                          <a:latin typeface="Calibri"/>
                        </a:rPr>
                        <a:t>17.35 MPa</a:t>
                      </a:r>
                    </a:p>
                  </a:txBody>
                  <a:tcPr/>
                </a:tc>
                <a:tc>
                  <a:txBody>
                    <a:bodyPr lIns="54864" rIns="54864" tIns="18288" bIns="18288" wrap="square" anchor="ctr"/>
                    <a:lstStyle/>
                    <a:p>
                      <a:pPr algn="l"/>
                      <a:r>
                        <a:rPr sz="850" b="0">
                          <a:solidFill>
                            <a:srgbClr val="000000"/>
                          </a:solidFill>
                          <a:latin typeface="Calibri"/>
                        </a:rPr>
                        <a:t>17.46 MPa</a:t>
                      </a:r>
                    </a:p>
                  </a:txBody>
                  <a:tcPr/>
                </a:tc>
              </a:tr>
              <a:tr h="249936">
                <a:tc>
                  <a:txBody>
                    <a:bodyPr lIns="54864" rIns="54864" tIns="18288" bIns="18288" wrap="square" anchor="ctr"/>
                    <a:lstStyle/>
                    <a:p>
                      <a:pPr algn="l"/>
                      <a:r>
                        <a:rPr sz="850" b="0">
                          <a:solidFill>
                            <a:srgbClr val="000000"/>
                          </a:solidFill>
                          <a:latin typeface="Calibri"/>
                        </a:rPr>
                        <a:t>preload anchor</a:t>
                      </a:r>
                    </a:p>
                  </a:txBody>
                  <a:tcPr/>
                </a:tc>
                <a:tc>
                  <a:txBody>
                    <a:bodyPr lIns="54864" rIns="54864" tIns="18288" bIns="18288" wrap="square" anchor="ctr"/>
                    <a:lstStyle/>
                    <a:p>
                      <a:pPr algn="l"/>
                      <a:r>
                        <a:rPr sz="850" b="0">
                          <a:solidFill>
                            <a:srgbClr val="000000"/>
                          </a:solidFill>
                          <a:latin typeface="Calibri"/>
                        </a:rPr>
                        <a:t>307 N (sd 0.21)</a:t>
                      </a:r>
                    </a:p>
                  </a:txBody>
                  <a:tcPr/>
                </a:tc>
                <a:tc>
                  <a:txBody>
                    <a:bodyPr lIns="54864" rIns="54864" tIns="18288" bIns="18288" wrap="square" anchor="ctr"/>
                    <a:lstStyle/>
                    <a:p>
                      <a:pPr algn="l"/>
                      <a:r>
                        <a:rPr sz="850" b="0">
                          <a:solidFill>
                            <a:srgbClr val="000000"/>
                          </a:solidFill>
                          <a:latin typeface="Calibri"/>
                        </a:rPr>
                        <a:t>313 N (sd 0.22)</a:t>
                      </a:r>
                    </a:p>
                  </a:txBody>
                  <a:tcPr/>
                </a:tc>
              </a:tr>
              <a:tr h="249936">
                <a:tc>
                  <a:txBody>
                    <a:bodyPr lIns="54864" rIns="54864" tIns="18288" bIns="18288" wrap="square" anchor="ctr"/>
                    <a:lstStyle/>
                    <a:p>
                      <a:pPr algn="l"/>
                      <a:r>
                        <a:rPr sz="850" b="0">
                          <a:solidFill>
                            <a:srgbClr val="000000"/>
                          </a:solidFill>
                          <a:latin typeface="Calibri"/>
                        </a:rPr>
                        <a:t>UTS, anchor-corrected</a:t>
                      </a:r>
                    </a:p>
                  </a:txBody>
                  <a:tcPr/>
                </a:tc>
                <a:tc>
                  <a:txBody>
                    <a:bodyPr lIns="54864" rIns="54864" tIns="18288" bIns="18288" wrap="square" anchor="ctr"/>
                    <a:lstStyle/>
                    <a:p>
                      <a:pPr algn="l"/>
                      <a:r>
                        <a:rPr sz="850" b="0">
                          <a:solidFill>
                            <a:srgbClr val="000000"/>
                          </a:solidFill>
                          <a:latin typeface="Calibri"/>
                        </a:rPr>
                        <a:t>21.19 MPa</a:t>
                      </a:r>
                    </a:p>
                  </a:txBody>
                  <a:tcPr/>
                </a:tc>
                <a:tc>
                  <a:txBody>
                    <a:bodyPr lIns="54864" rIns="54864" tIns="18288" bIns="18288" wrap="square" anchor="ctr"/>
                    <a:lstStyle/>
                    <a:p>
                      <a:pPr algn="l"/>
                      <a:r>
                        <a:rPr sz="850" b="0">
                          <a:solidFill>
                            <a:srgbClr val="000000"/>
                          </a:solidFill>
                          <a:latin typeface="Calibri"/>
                        </a:rPr>
                        <a:t>21.38 MPa</a:t>
                      </a:r>
                    </a:p>
                  </a:txBody>
                  <a:tcPr/>
                </a:tc>
              </a:tr>
              <a:tr h="249936">
                <a:tc>
                  <a:txBody>
                    <a:bodyPr lIns="54864" rIns="54864" tIns="18288" bIns="18288" wrap="square" anchor="ctr"/>
                    <a:lstStyle/>
                    <a:p>
                      <a:pPr algn="l"/>
                      <a:r>
                        <a:rPr sz="850" b="0">
                          <a:solidFill>
                            <a:srgbClr val="000000"/>
                          </a:solidFill>
                          <a:latin typeface="Calibri"/>
                        </a:rPr>
                        <a:t>halted within</a:t>
                      </a:r>
                    </a:p>
                  </a:txBody>
                  <a:tcPr/>
                </a:tc>
                <a:tc>
                  <a:txBody>
                    <a:bodyPr lIns="54864" rIns="54864" tIns="18288" bIns="18288" wrap="square" anchor="ctr"/>
                    <a:lstStyle/>
                    <a:p>
                      <a:pPr algn="l"/>
                      <a:r>
                        <a:rPr sz="850" b="0">
                          <a:solidFill>
                            <a:srgbClr val="000000"/>
                          </a:solidFill>
                          <a:latin typeface="Calibri"/>
                        </a:rPr>
                        <a:t>1.36 s</a:t>
                      </a:r>
                    </a:p>
                  </a:txBody>
                  <a:tcPr/>
                </a:tc>
                <a:tc>
                  <a:txBody>
                    <a:bodyPr lIns="54864" rIns="54864" tIns="18288" bIns="18288" wrap="square" anchor="ctr"/>
                    <a:lstStyle/>
                    <a:p>
                      <a:pPr algn="l"/>
                      <a:r>
                        <a:rPr sz="850" b="0">
                          <a:solidFill>
                            <a:srgbClr val="000000"/>
                          </a:solidFill>
                          <a:latin typeface="Calibri"/>
                        </a:rPr>
                        <a:t>1.33 s</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worth a slide</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It is the only cross-check the rig can run on ITSELF. Every other agreement in this deck is the same protocol repeated, or our DIC against our own crosshead. Here two different control loops, two different load histories and two different specimens land 0.19 MPa apart — 0.9 % — and both auto-stopped on load collapse inside 1.36 s.  The anchor correction is worth 3.9 MPa, twenty times the difference being discussed, which is why the figure shows it: a 0.9 % agreement means nothing unless the correction behind it was applied the same way to both, and it was, to within 6 N.</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CAVEAT, AND IT IS NOT A SMALL ONE: these are DIFFERENT SPECIMENS, n = 1 each. The 0.9 % contains specimen-to-specimen scatter as well as any protocol effect, and nothing here can separate the two. It bounds the protocol effect; it does not measure it.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values are anchor-corrected true UTS from sf9_data, computed from the CSVs rather than restated. Nominal (uncorrected) values are on the figure.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GUARDS BETWEEN THE OPERATOR AND A WASTED SPECIMEN</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Recipes are covered on p207. These are the other two workflow features, and both share a property that makes them easy to overlook: when they are working correctly, nothing happens.</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destructive-test confirmation</a:t>
            </a:r>
          </a:p>
        </p:txBody>
      </p:sp>
      <p:sp>
        <p:nvSpPr>
          <p:cNvPr id="7" name="TextBox 6"/>
          <p:cNvSpPr txBox="1"/>
          <p:nvPr/>
        </p:nvSpPr>
        <p:spPr>
          <a:xfrm>
            <a:off x="411480" y="1920240"/>
            <a:ext cx="5715000" cy="1874519"/>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destroys the specimen and cannot be repeated, so it is the one place where a stale setting is unrecoverable. The dialog therefore does not just ask “are you sure” — it reads the specimen back:  area, gauge, material and INFILL, in the same order and wording the CSV header will carry, so what is confirmed and what is recorded cannot drift apart.
Underneath it lists the preparation steps, ordered by the CURRENT strain-zero convention — under the after-preload rule the preload comes first, so the checklist changes with the setting rather than describing the opposite procedure.
Cancel is the DEFAULT button. A returned keypress does not start a destructive test.</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exists — a real cost, already paid</a:t>
            </a:r>
          </a:p>
        </p:txBody>
      </p:sp>
      <p:sp>
        <p:nvSpPr>
          <p:cNvPr id="9" name="TextBox 8"/>
          <p:cNvSpPr txBox="1"/>
          <p:nvPr/>
        </p:nvSpPr>
        <p:spPr>
          <a:xfrm>
            <a:off x="6355080" y="1920240"/>
            <a:ext cx="5486400" cy="1874519"/>
          </a:xfrm>
          <a:prstGeom prst="rect">
            <a:avLst/>
          </a:prstGeom>
          <a:noFill/>
        </p:spPr>
        <p:txBody>
          <a:bodyPr wrap="square" lIns="45720" rIns="45720" tIns="18288" bIns="18288" anchor="t">
            <a:spAutoFit/>
          </a:bodyPr>
          <a:lstStyle/>
          <a:p>
            <a:pPr algn="l"/>
            <a:r>
              <a:rPr sz="1000" b="0" i="0">
                <a:solidFill>
                  <a:srgbClr val="000000"/>
                </a:solidFill>
                <a:latin typeface="Calibri"/>
              </a:rPr>
              <a:t>T6.4, T6.5 and both T9 runs recorded “Infill: 100 %” on 50 % specimens. T7.3 — the same mistake waiting to happen — came out right, and the reason is exactly this dialog: it was a fracture test, so the label was echoed back and caught.
The four that went wrong were NON-destructive and had no such gate. That asymmetry is what prompted the 2026-09-01 change putting the same read-back into Prepare test, which every test type performs.</a:t>
            </a:r>
          </a:p>
        </p:txBody>
      </p:sp>
      <p:sp>
        <p:nvSpPr>
          <p:cNvPr id="10" name="TextBox 9"/>
          <p:cNvSpPr txBox="1"/>
          <p:nvPr/>
        </p:nvSpPr>
        <p:spPr>
          <a:xfrm>
            <a:off x="411480" y="395020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stall guard, and why a flat threshold could not work</a:t>
            </a:r>
          </a:p>
        </p:txBody>
      </p:sp>
      <p:graphicFrame>
        <p:nvGraphicFramePr>
          <p:cNvPr id="11" name="Table 10"/>
          <p:cNvGraphicFramePr>
            <a:graphicFrameLocks noGrp="1"/>
          </p:cNvGraphicFramePr>
          <p:nvPr/>
        </p:nvGraphicFramePr>
        <p:xfrm>
          <a:off x="411480" y="4297680"/>
          <a:ext cx="11429999" cy="1463040"/>
        </p:xfrm>
        <a:graphic>
          <a:graphicData uri="http://schemas.openxmlformats.org/drawingml/2006/table">
            <a:tbl>
              <a:tblPr firstRow="1" bandRow="1">
                <a:tableStyleId>{5C22544A-7EE6-4342-B048-85BDC9FD1C3A}</a:tableStyleId>
              </a:tblPr>
              <a:tblGrid>
                <a:gridCol w="1874519"/>
                <a:gridCol w="2788920"/>
                <a:gridCol w="6766560"/>
              </a:tblGrid>
              <a:tr h="24384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Why this and not something simpler</a:t>
                      </a:r>
                    </a:p>
                  </a:txBody>
                  <a:tcPr>
                    <a:solidFill>
                      <a:srgbClr val="143D2F"/>
                    </a:solidFill>
                  </a:tcPr>
                </a:tc>
              </a:tr>
              <a:tr h="243840">
                <a:tc>
                  <a:txBody>
                    <a:bodyPr lIns="54864" rIns="54864" tIns="18288" bIns="18288" wrap="square" anchor="ctr"/>
                    <a:lstStyle/>
                    <a:p>
                      <a:pPr algn="l"/>
                      <a:r>
                        <a:rPr sz="850" b="0">
                          <a:solidFill>
                            <a:srgbClr val="000000"/>
                          </a:solidFill>
                          <a:latin typeface="Calibri"/>
                        </a:rPr>
                        <a:t>window</a:t>
                      </a:r>
                    </a:p>
                  </a:txBody>
                  <a:tcPr/>
                </a:tc>
                <a:tc>
                  <a:txBody>
                    <a:bodyPr lIns="54864" rIns="54864" tIns="18288" bIns="18288" wrap="square" anchor="ctr"/>
                    <a:lstStyle/>
                    <a:p>
                      <a:pPr algn="l"/>
                      <a:r>
                        <a:rPr sz="850" b="0">
                          <a:solidFill>
                            <a:srgbClr val="000000"/>
                          </a:solidFill>
                          <a:latin typeface="Calibri"/>
                        </a:rPr>
                        <a:t>6 s</a:t>
                      </a:r>
                    </a:p>
                  </a:txBody>
                  <a:tcPr/>
                </a:tc>
                <a:tc>
                  <a:txBody>
                    <a:bodyPr lIns="54864" rIns="54864" tIns="18288" bIns="18288" wrap="square" anchor="ctr"/>
                    <a:lstStyle/>
                    <a:p>
                      <a:pPr algn="l"/>
                      <a:r>
                        <a:rPr sz="850" b="0">
                          <a:solidFill>
                            <a:srgbClr val="000000"/>
                          </a:solidFill>
                          <a:latin typeface="Calibri"/>
                        </a:rPr>
                        <a:t>long enough that one slow load-cell sample cannot trip it</a:t>
                      </a:r>
                    </a:p>
                  </a:txBody>
                  <a:tcPr/>
                </a:tc>
              </a:tr>
              <a:tr h="243840">
                <a:tc>
                  <a:txBody>
                    <a:bodyPr lIns="54864" rIns="54864" tIns="18288" bIns="18288" wrap="square" anchor="ctr"/>
                    <a:lstStyle/>
                    <a:p>
                      <a:pPr algn="l"/>
                      <a:r>
                        <a:rPr sz="850" b="0">
                          <a:solidFill>
                            <a:srgbClr val="000000"/>
                          </a:solidFill>
                          <a:latin typeface="Calibri"/>
                        </a:rPr>
                        <a:t>must advance by</a:t>
                      </a:r>
                    </a:p>
                  </a:txBody>
                  <a:tcPr/>
                </a:tc>
                <a:tc>
                  <a:txBody>
                    <a:bodyPr lIns="54864" rIns="54864" tIns="18288" bIns="18288" wrap="square" anchor="ctr"/>
                    <a:lstStyle/>
                    <a:p>
                      <a:pPr algn="l"/>
                      <a:r>
                        <a:rPr sz="850" b="0">
                          <a:solidFill>
                            <a:srgbClr val="000000"/>
                          </a:solidFill>
                          <a:latin typeface="Calibri"/>
                        </a:rPr>
                        <a:t>min(0.05 mm, 35 % of commanded)</a:t>
                      </a:r>
                    </a:p>
                  </a:txBody>
                  <a:tcPr/>
                </a:tc>
                <a:tc>
                  <a:txBody>
                    <a:bodyPr lIns="54864" rIns="54864" tIns="18288" bIns="18288" wrap="square" anchor="ctr"/>
                    <a:lstStyle/>
                    <a:p>
                      <a:pPr algn="l"/>
                      <a:r>
                        <a:rPr sz="850" b="0">
                          <a:solidFill>
                            <a:srgbClr val="000000"/>
                          </a:solidFill>
                          <a:latin typeface="Calibri"/>
                        </a:rPr>
                        <a:t>a FLAT 0.05 mm assumed every mode runs near 0.1 mm/s, where 0.6 mm is expected and the bar is 8 %</a:t>
                      </a:r>
                    </a:p>
                  </a:txBody>
                  <a:tcPr/>
                </a:tc>
              </a:tr>
              <a:tr h="243840">
                <a:tc>
                  <a:txBody>
                    <a:bodyPr lIns="54864" rIns="54864" tIns="18288" bIns="18288" wrap="square" anchor="ctr"/>
                    <a:lstStyle/>
                    <a:p>
                      <a:pPr algn="l"/>
                      <a:r>
                        <a:rPr sz="850" b="0">
                          <a:solidFill>
                            <a:srgbClr val="000000"/>
                          </a:solidFill>
                          <a:latin typeface="Calibri"/>
                        </a:rPr>
                        <a:t>at a tapered crawl</a:t>
                      </a:r>
                    </a:p>
                  </a:txBody>
                  <a:tcPr/>
                </a:tc>
                <a:tc>
                  <a:txBody>
                    <a:bodyPr lIns="54864" rIns="54864" tIns="18288" bIns="18288" wrap="square" anchor="ctr"/>
                    <a:lstStyle/>
                    <a:p>
                      <a:pPr algn="l"/>
                      <a:r>
                        <a:rPr sz="850" b="0">
                          <a:solidFill>
                            <a:srgbClr val="000000"/>
                          </a:solidFill>
                          <a:latin typeface="Calibri"/>
                        </a:rPr>
                        <a:t>0.01–0.02 mm/s → 0.06–0.12 mm expected</a:t>
                      </a:r>
                    </a:p>
                  </a:txBody>
                  <a:tcPr/>
                </a:tc>
                <a:tc>
                  <a:txBody>
                    <a:bodyPr lIns="54864" rIns="54864" tIns="18288" bIns="18288" wrap="square" anchor="ctr"/>
                    <a:lstStyle/>
                    <a:p>
                      <a:pPr algn="l"/>
                      <a:r>
                        <a:rPr sz="850" b="0">
                          <a:solidFill>
                            <a:srgbClr val="000000"/>
                          </a:solidFill>
                          <a:latin typeface="Calibri"/>
                        </a:rPr>
                        <a:t>a flat 0.05 mm would demand 42–83 % of commanded travel, and a HEALTHY motor trips on rounding alone</a:t>
                      </a:r>
                    </a:p>
                  </a:txBody>
                  <a:tcPr/>
                </a:tc>
              </a:tr>
              <a:tr h="243840">
                <a:tc>
                  <a:txBody>
                    <a:bodyPr lIns="54864" rIns="54864" tIns="18288" bIns="18288" wrap="square" anchor="ctr"/>
                    <a:lstStyle/>
                    <a:p>
                      <a:pPr algn="l"/>
                      <a:r>
                        <a:rPr sz="850" b="0">
                          <a:solidFill>
                            <a:srgbClr val="000000"/>
                          </a:solidFill>
                          <a:latin typeface="Calibri"/>
                        </a:rPr>
                        <a:t>only guards above</a:t>
                      </a:r>
                    </a:p>
                  </a:txBody>
                  <a:tcPr/>
                </a:tc>
                <a:tc>
                  <a:txBody>
                    <a:bodyPr lIns="54864" rIns="54864" tIns="18288" bIns="18288" wrap="square" anchor="ctr"/>
                    <a:lstStyle/>
                    <a:p>
                      <a:pPr algn="l"/>
                      <a:r>
                        <a:rPr sz="850" b="0">
                          <a:solidFill>
                            <a:srgbClr val="000000"/>
                          </a:solidFill>
                          <a:latin typeface="Calibri"/>
                        </a:rPr>
                        <a:t>200 N</a:t>
                      </a:r>
                    </a:p>
                  </a:txBody>
                  <a:tcPr/>
                </a:tc>
                <a:tc>
                  <a:txBody>
                    <a:bodyPr lIns="54864" rIns="54864" tIns="18288" bIns="18288" wrap="square" anchor="ctr"/>
                    <a:lstStyle/>
                    <a:p>
                      <a:pPr algn="l"/>
                      <a:r>
                        <a:rPr sz="850" b="0">
                          <a:solidFill>
                            <a:srgbClr val="000000"/>
                          </a:solidFill>
                          <a:latin typeface="Calibri"/>
                        </a:rPr>
                        <a:t>below that the crosshead may legitimately be taking up slack, not pulling</a:t>
                      </a:r>
                    </a:p>
                  </a:txBody>
                  <a:tcPr/>
                </a:tc>
              </a:tr>
              <a:tr h="243840">
                <a:tc>
                  <a:txBody>
                    <a:bodyPr lIns="54864" rIns="54864" tIns="18288" bIns="18288" wrap="square" anchor="ctr"/>
                    <a:lstStyle/>
                    <a:p>
                      <a:pPr algn="l"/>
                      <a:r>
                        <a:rPr sz="850" b="0">
                          <a:solidFill>
                            <a:srgbClr val="000000"/>
                          </a:solidFill>
                          <a:latin typeface="Calibri"/>
                        </a:rPr>
                        <a:t>nothing commanded</a:t>
                      </a:r>
                    </a:p>
                  </a:txBody>
                  <a:tcPr/>
                </a:tc>
                <a:tc>
                  <a:txBody>
                    <a:bodyPr lIns="54864" rIns="54864" tIns="18288" bIns="18288" wrap="square" anchor="ctr"/>
                    <a:lstStyle/>
                    <a:p>
                      <a:pPr algn="l"/>
                      <a:r>
                        <a:rPr sz="850" b="0">
                          <a:solidFill>
                            <a:srgbClr val="000000"/>
                          </a:solidFill>
                          <a:latin typeface="Calibri"/>
                        </a:rPr>
                        <a:t>threshold 0 — cannot fire</a:t>
                      </a:r>
                    </a:p>
                  </a:txBody>
                  <a:tcPr/>
                </a:tc>
                <a:tc>
                  <a:txBody>
                    <a:bodyPr lIns="54864" rIns="54864" tIns="18288" bIns="18288" wrap="square" anchor="ctr"/>
                    <a:lstStyle/>
                    <a:p>
                      <a:pPr algn="l"/>
                      <a:r>
                        <a:rPr sz="850" b="0">
                          <a:solidFill>
                            <a:srgbClr val="000000"/>
                          </a:solidFill>
                          <a:latin typeface="Calibri"/>
                        </a:rPr>
                        <a:t>a hold is not a stall, and the guard must not invent one</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BOTH ARE JUDGED BY WHAT THEY DID NOT DO. The stall guard stayed silent through every ductile 100 % draw — the case that looks most like a stall and is not — and fired on T7, which really had stopped advancing. A guard that cries wolf gets switched off.</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Constants read from main.py: STALL_WINDOW_S, STALL_MIN_ADVANCE_MM, STALL_SHORTFALL_FRAC, STALL_MIN_LOAD_N.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NOISE CAPTURE — MEASURING THE INSTRUMENT ALONE</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Every number this rig reports is specimen plus instrument. This records the instrument ALONE — preloaded, mounted, and completely still — so the two can be told apart. The button sits beside Prepare test and Fracture test, and it is the only one there that does not move the motor.</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numbers per channel — and only two of them are subtractable</a:t>
            </a:r>
          </a:p>
        </p:txBody>
      </p:sp>
      <p:graphicFrame>
        <p:nvGraphicFramePr>
          <p:cNvPr id="7" name="Table 6"/>
          <p:cNvGraphicFramePr>
            <a:graphicFrameLocks noGrp="1"/>
          </p:cNvGraphicFramePr>
          <p:nvPr/>
        </p:nvGraphicFramePr>
        <p:xfrm>
          <a:off x="411480" y="1920240"/>
          <a:ext cx="11430000" cy="1499616"/>
        </p:xfrm>
        <a:graphic>
          <a:graphicData uri="http://schemas.openxmlformats.org/drawingml/2006/table">
            <a:tbl>
              <a:tblPr firstRow="1" bandRow="1">
                <a:tableStyleId>{5C22544A-7EE6-4342-B048-85BDC9FD1C3A}</a:tableStyleId>
              </a:tblPr>
              <a:tblGrid>
                <a:gridCol w="1691640"/>
                <a:gridCol w="3931920"/>
                <a:gridCol w="5806440"/>
              </a:tblGrid>
              <a:tr h="37490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Can it be removed from a later run?</a:t>
                      </a:r>
                    </a:p>
                  </a:txBody>
                  <a:tcPr>
                    <a:solidFill>
                      <a:srgbClr val="143D2F"/>
                    </a:solidFill>
                  </a:tcPr>
                </a:tc>
              </a:tr>
              <a:tr h="374904">
                <a:tc>
                  <a:txBody>
                    <a:bodyPr lIns="54864" rIns="54864" tIns="18288" bIns="18288" wrap="square" anchor="ctr"/>
                    <a:lstStyle/>
                    <a:p>
                      <a:pPr algn="l"/>
                      <a:r>
                        <a:rPr sz="900" b="0">
                          <a:solidFill>
                            <a:srgbClr val="000000"/>
                          </a:solidFill>
                          <a:latin typeface="Calibri"/>
                        </a:rPr>
                        <a:t>OFFSET</a:t>
                      </a:r>
                    </a:p>
                  </a:txBody>
                  <a:tcPr/>
                </a:tc>
                <a:tc>
                  <a:txBody>
                    <a:bodyPr lIns="54864" rIns="54864" tIns="18288" bIns="18288" wrap="square" anchor="ctr"/>
                    <a:lstStyle/>
                    <a:p>
                      <a:pPr algn="l"/>
                      <a:r>
                        <a:rPr sz="900" b="0">
                          <a:solidFill>
                            <a:srgbClr val="000000"/>
                          </a:solidFill>
                          <a:latin typeface="Calibri"/>
                        </a:rPr>
                        <a:t>the mean while at rest</a:t>
                      </a:r>
                    </a:p>
                  </a:txBody>
                  <a:tcPr/>
                </a:tc>
                <a:tc>
                  <a:txBody>
                    <a:bodyPr lIns="54864" rIns="54864" tIns="18288" bIns="18288" wrap="square" anchor="ctr"/>
                    <a:lstStyle/>
                    <a:p>
                      <a:pPr algn="l"/>
                      <a:r>
                        <a:rPr sz="900" b="0">
                          <a:solidFill>
                            <a:srgbClr val="000000"/>
                          </a:solidFill>
                          <a:latin typeface="Calibri"/>
                        </a:rPr>
                        <a:t>YES — it is a constant, so it subtracts exactly</a:t>
                      </a:r>
                    </a:p>
                  </a:txBody>
                  <a:tcPr/>
                </a:tc>
              </a:tr>
              <a:tr h="374904">
                <a:tc>
                  <a:txBody>
                    <a:bodyPr lIns="54864" rIns="54864" tIns="18288" bIns="18288" wrap="square" anchor="ctr"/>
                    <a:lstStyle/>
                    <a:p>
                      <a:pPr algn="l"/>
                      <a:r>
                        <a:rPr sz="900" b="0">
                          <a:solidFill>
                            <a:srgbClr val="000000"/>
                          </a:solidFill>
                          <a:latin typeface="Calibri"/>
                        </a:rPr>
                        <a:t>DRIFT</a:t>
                      </a:r>
                    </a:p>
                  </a:txBody>
                  <a:tcPr/>
                </a:tc>
                <a:tc>
                  <a:txBody>
                    <a:bodyPr lIns="54864" rIns="54864" tIns="18288" bIns="18288" wrap="square" anchor="ctr"/>
                    <a:lstStyle/>
                    <a:p>
                      <a:pPr algn="l"/>
                      <a:r>
                        <a:rPr sz="900" b="0">
                          <a:solidFill>
                            <a:srgbClr val="000000"/>
                          </a:solidFill>
                          <a:latin typeface="Calibri"/>
                        </a:rPr>
                        <a:t>the slope while at rest (N/s, µε/s)</a:t>
                      </a:r>
                    </a:p>
                  </a:txBody>
                  <a:tcPr/>
                </a:tc>
                <a:tc>
                  <a:txBody>
                    <a:bodyPr lIns="54864" rIns="54864" tIns="18288" bIns="18288" wrap="square" anchor="ctr"/>
                    <a:lstStyle/>
                    <a:p>
                      <a:pPr algn="l"/>
                      <a:r>
                        <a:rPr sz="900" b="0">
                          <a:solidFill>
                            <a:srgbClr val="000000"/>
                          </a:solidFill>
                          <a:latin typeface="Calibri"/>
                        </a:rPr>
                        <a:t>YES — it is systematic, so the fitted line subtracts</a:t>
                      </a:r>
                    </a:p>
                  </a:txBody>
                  <a:tcPr/>
                </a:tc>
              </a:tr>
              <a:tr h="374904">
                <a:tc>
                  <a:txBody>
                    <a:bodyPr lIns="54864" rIns="54864" tIns="18288" bIns="18288" wrap="square" anchor="ctr"/>
                    <a:lstStyle/>
                    <a:p>
                      <a:pPr algn="l"/>
                      <a:r>
                        <a:rPr sz="900" b="0">
                          <a:solidFill>
                            <a:srgbClr val="000000"/>
                          </a:solidFill>
                          <a:latin typeface="Calibri"/>
                        </a:rPr>
                        <a:t>RESIDUAL SD</a:t>
                      </a:r>
                    </a:p>
                  </a:txBody>
                  <a:tcPr/>
                </a:tc>
                <a:tc>
                  <a:txBody>
                    <a:bodyPr lIns="54864" rIns="54864" tIns="18288" bIns="18288" wrap="square" anchor="ctr"/>
                    <a:lstStyle/>
                    <a:p>
                      <a:pPr algn="l"/>
                      <a:r>
                        <a:rPr sz="900" b="0">
                          <a:solidFill>
                            <a:srgbClr val="000000"/>
                          </a:solidFill>
                          <a:latin typeface="Calibri"/>
                        </a:rPr>
                        <a:t>what is left once that line is removed</a:t>
                      </a:r>
                    </a:p>
                  </a:txBody>
                  <a:tcPr/>
                </a:tc>
                <a:tc>
                  <a:txBody>
                    <a:bodyPr lIns="54864" rIns="54864" tIns="18288" bIns="18288" wrap="square" anchor="ctr"/>
                    <a:lstStyle/>
                    <a:p>
                      <a:pPr algn="l"/>
                      <a:r>
                        <a:rPr sz="900" b="0">
                          <a:solidFill>
                            <a:srgbClr val="000000"/>
                          </a:solidFill>
                          <a:latin typeface="Calibri"/>
                        </a:rPr>
                        <a:t>NO. This is the measurement uncertainty — quote it, do not subtract it</a:t>
                      </a:r>
                    </a:p>
                  </a:txBody>
                  <a:tcPr/>
                </a:tc>
              </a:tr>
            </a:tbl>
          </a:graphicData>
        </a:graphic>
      </p:graphicFrame>
      <p:sp>
        <p:nvSpPr>
          <p:cNvPr id="8" name="TextBox 7"/>
          <p:cNvSpPr txBox="1"/>
          <p:nvPr/>
        </p:nvSpPr>
        <p:spPr>
          <a:xfrm>
            <a:off x="411480" y="360273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SD cannot be subtracted</a:t>
            </a:r>
          </a:p>
        </p:txBody>
      </p:sp>
      <p:sp>
        <p:nvSpPr>
          <p:cNvPr id="9" name="TextBox 8"/>
          <p:cNvSpPr txBox="1"/>
          <p:nvPr/>
        </p:nvSpPr>
        <p:spPr>
          <a:xfrm>
            <a:off x="411480" y="3950208"/>
            <a:ext cx="5715000" cy="1828800"/>
          </a:xfrm>
          <a:prstGeom prst="rect">
            <a:avLst/>
          </a:prstGeom>
          <a:noFill/>
        </p:spPr>
        <p:txBody>
          <a:bodyPr wrap="square" lIns="45720" rIns="45720" tIns="18288" bIns="18288" anchor="t">
            <a:spAutoFit/>
          </a:bodyPr>
          <a:lstStyle/>
          <a:p>
            <a:pPr algn="l"/>
            <a:r>
              <a:rPr sz="1000" b="0" i="0">
                <a:solidFill>
                  <a:srgbClr val="000000"/>
                </a:solidFill>
                <a:latin typeface="Calibri"/>
              </a:rPr>
              <a:t>Because it is RANDOM, and two random records do not cancel. Subtracting one independent recording from another gives √2 times the variance, not zero — so a “noise-corrected” curve built that way would be noisier than the raw one, while looking cleaner on the slide.
What the sd is FOR is the uncertainty band on a result, and the threshold below which a reported change is not a measurement. That is the honest use, and it is the one this feature supports.
The straight line is removed BEFORE the sd is computed. A raw sd over a drifting window folds the drift in and reports a removable trend as irreducible noise.</a:t>
            </a:r>
          </a:p>
        </p:txBody>
      </p:sp>
      <p:sp>
        <p:nvSpPr>
          <p:cNvPr id="10" name="TextBox 9"/>
          <p:cNvSpPr txBox="1"/>
          <p:nvPr/>
        </p:nvSpPr>
        <p:spPr>
          <a:xfrm>
            <a:off x="6355080" y="360273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it insists on</a:t>
            </a:r>
          </a:p>
        </p:txBody>
      </p:sp>
      <p:sp>
        <p:nvSpPr>
          <p:cNvPr id="11" name="TextBox 10"/>
          <p:cNvSpPr txBox="1"/>
          <p:nvPr/>
        </p:nvSpPr>
        <p:spPr>
          <a:xfrm>
            <a:off x="6355080" y="3950208"/>
            <a:ext cx="5486400" cy="1828800"/>
          </a:xfrm>
          <a:prstGeom prst="rect">
            <a:avLst/>
          </a:prstGeom>
          <a:noFill/>
        </p:spPr>
        <p:txBody>
          <a:bodyPr wrap="square" lIns="45720" rIns="45720" tIns="18288" bIns="18288" anchor="t">
            <a:spAutoFit/>
          </a:bodyPr>
          <a:lstStyle/>
          <a:p>
            <a:pPr algn="l"/>
            <a:r>
              <a:rPr sz="1000" b="0" i="0">
                <a:solidFill>
                  <a:srgbClr val="000000"/>
                </a:solidFill>
                <a:latin typeface="Calibri"/>
              </a:rPr>
              <a:t>PRELOAD FIRST, judged from the live load rather than from history — a preload that relaxed, or one applied to a different specimen, should not count. Without it the operator gets the warning and an explicit “Measure anyway”, because a bare-machine baseline is a legitimate thing to want; the override is written into the file. It matters because unseated grips settle, and that settling is recorded as a drift that will not be there during the run.
THE WINDOW TRAVELS WITH THE NUMBER. This rig's DIC noise floor GROWS with observation time — about 12 µε over 40 s against 26 µε over 900 s (p231). A 30 s figure applied to a 900 s creep test understates the noise by roughly half, so the duration is chosen per capture and written into the header.</a:t>
            </a:r>
          </a:p>
        </p:txBody>
      </p:sp>
      <p:sp>
        <p:nvSpPr>
          <p:cNvPr id="12" name="Rectangle 11"/>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STATUS: BUILT AND VERIFIED OFFLINE — NOT YET RUN ON THE RIG. The statistics are checked against a synthetic signal with a known 0.25 N/s drift and 2.0 N sd, and recover 0.249 and 2.015. What has not happened yet is a capture on the real machine, so no measured noise floor is claimed here.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Saves every sample and the summary where the operator chooses. No DIC gives a load-only capture with the strain columns EMPTY, never zero.</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