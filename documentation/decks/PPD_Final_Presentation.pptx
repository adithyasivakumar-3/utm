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microsoft.com/office/2007/relationships/media" Target="../media/media1.mp4"/><Relationship Id="rId4" Type="http://schemas.openxmlformats.org/officeDocument/2006/relationships/video" Target="../media/media1.mp4"/><Relationship Id="rId5" Type="http://schemas.openxmlformats.org/officeDocument/2006/relationships/image" Target="../media/image4.png"/><Relationship Id="rId6" Type="http://schemas.microsoft.com/office/2007/relationships/media" Target="../media/media2.mp4"/><Relationship Id="rId7" Type="http://schemas.openxmlformats.org/officeDocument/2006/relationships/video" Target="../media/media2.mp4"/><Relationship Id="rId8" Type="http://schemas.openxmlformats.org/officeDocument/2006/relationships/image" Target="../media/image5.png"/><Relationship Id="rId9" Type="http://schemas.microsoft.com/office/2007/relationships/media" Target="../media/media3.mp4"/><Relationship Id="rId10" Type="http://schemas.openxmlformats.org/officeDocument/2006/relationships/video" Target="../media/media3.mp4"/><Relationship Id="rId11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74320" y="0"/>
            <a:ext cx="475488" cy="914400"/>
          </a:xfrm>
          <a:prstGeom prst="rect">
            <a:avLst/>
          </a:prstGeom>
          <a:solidFill>
            <a:srgbClr val="253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4320" y="1042415"/>
            <a:ext cx="475488" cy="5815584"/>
          </a:xfrm>
          <a:prstGeom prst="rect">
            <a:avLst/>
          </a:prstGeom>
          <a:solidFill>
            <a:srgbClr val="7C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ju_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365760"/>
            <a:ext cx="1069848" cy="47548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11265408" y="347472"/>
            <a:ext cx="118872" cy="118872"/>
          </a:xfrm>
          <a:prstGeom prst="rect">
            <a:avLst/>
          </a:prstGeom>
          <a:solidFill>
            <a:srgbClr val="253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89436" y="347472"/>
            <a:ext cx="118872" cy="118872"/>
          </a:xfrm>
          <a:prstGeom prst="rect">
            <a:avLst/>
          </a:prstGeom>
          <a:solidFill>
            <a:srgbClr val="B29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713464" y="347472"/>
            <a:ext cx="118872" cy="118872"/>
          </a:xfrm>
          <a:prstGeom prst="rect">
            <a:avLst/>
          </a:prstGeom>
          <a:solidFill>
            <a:srgbClr val="7C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70432" y="1847088"/>
            <a:ext cx="969264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600" b="0" i="0">
                <a:solidFill>
                  <a:srgbClr val="253439"/>
                </a:solidFill>
                <a:latin typeface="Segoe UI Light"/>
              </a:rPr>
              <a:t>PPD-UTM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7008" y="2944368"/>
            <a:ext cx="9692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0" i="0">
                <a:solidFill>
                  <a:srgbClr val="7C898B"/>
                </a:solidFill>
                <a:latin typeface="Segoe UI"/>
              </a:rPr>
              <a:t>A camera-instrumented desktop tensile tester — built, validated against a commercial lab, and documented.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207008" y="3602736"/>
            <a:ext cx="1022299" cy="68580"/>
          </a:xfrm>
          <a:prstGeom prst="rect">
            <a:avLst/>
          </a:prstGeom>
          <a:solidFill>
            <a:srgbClr val="253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229307" y="3602736"/>
            <a:ext cx="511149" cy="68580"/>
          </a:xfrm>
          <a:prstGeom prst="rect">
            <a:avLst/>
          </a:prstGeom>
          <a:solidFill>
            <a:srgbClr val="B29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40456" y="3602736"/>
            <a:ext cx="2398471" cy="68580"/>
          </a:xfrm>
          <a:prstGeom prst="rect">
            <a:avLst/>
          </a:prstGeom>
          <a:solidFill>
            <a:srgbClr val="7C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07008" y="5074920"/>
            <a:ext cx="676656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253439"/>
                </a:solidFill>
                <a:latin typeface="Segoe UI Semibold"/>
              </a:rPr>
              <a:t>Adithya Sivakumar</a:t>
            </a:r>
          </a:p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7C898B"/>
                </a:solidFill>
                <a:latin typeface="Segoe UI"/>
              </a:rPr>
              <a:t>adithya.sivakumar@ju.se</a:t>
            </a:r>
          </a:p>
          <a:p>
            <a:pPr algn="l">
              <a:lnSpc>
                <a:spcPct val="115000"/>
              </a:lnSpc>
            </a:pPr>
            <a:r>
              <a:rPr sz="500" b="0" i="0">
                <a:solidFill>
                  <a:srgbClr val="253439"/>
                </a:solidFill>
                <a:latin typeface="Segoe UI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7C898B"/>
                </a:solidFill>
                <a:latin typeface="Segoe UI"/>
              </a:rPr>
              <a:t>Supervisors:  [ supervisor 1 ]  ·  [ supervisor 2 ]</a:t>
            </a:r>
          </a:p>
        </p:txBody>
      </p:sp>
      <p:sp>
        <p:nvSpPr>
          <p:cNvPr id="15" name="TextBox 14"/>
          <p:cNvSpPr txBox="1"/>
          <p:nvPr/>
        </p:nvSpPr>
        <p:spPr>
          <a:xfrm rot="16200000">
            <a:off x="10835640" y="3127248"/>
            <a:ext cx="2377440" cy="31089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i="0">
                <a:solidFill>
                  <a:srgbClr val="253439"/>
                </a:solidFill>
                <a:latin typeface="Segoe UI Semibold"/>
              </a:rPr>
              <a:t>SEPTEMBER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0" y="6053328"/>
            <a:ext cx="3931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7C898B"/>
                </a:solidFill>
                <a:latin typeface="Segoe UI"/>
              </a:rPr>
              <a:t>Prototype Product Development · Jönköping University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75720" y="6473952"/>
            <a:ext cx="5669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7C898B"/>
                </a:solidFill>
                <a:latin typeface="Segoe UI Semibold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932688"/>
          </a:xfrm>
          <a:prstGeom prst="rect">
            <a:avLst/>
          </a:prstGeom>
          <a:solidFill>
            <a:srgbClr val="253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42415"/>
            <a:ext cx="146304" cy="5815584"/>
          </a:xfrm>
          <a:prstGeom prst="rect">
            <a:avLst/>
          </a:prstGeom>
          <a:solidFill>
            <a:srgbClr val="7C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ju_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624" y="256032"/>
            <a:ext cx="905256" cy="402336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11265408" y="347472"/>
            <a:ext cx="118872" cy="118872"/>
          </a:xfrm>
          <a:prstGeom prst="rect">
            <a:avLst/>
          </a:prstGeom>
          <a:solidFill>
            <a:srgbClr val="253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89436" y="347472"/>
            <a:ext cx="118872" cy="118872"/>
          </a:xfrm>
          <a:prstGeom prst="rect">
            <a:avLst/>
          </a:prstGeom>
          <a:solidFill>
            <a:srgbClr val="B29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713464" y="347472"/>
            <a:ext cx="118872" cy="118872"/>
          </a:xfrm>
          <a:prstGeom prst="rect">
            <a:avLst/>
          </a:prstGeom>
          <a:solidFill>
            <a:srgbClr val="7C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786384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B29E84"/>
                </a:solidFill>
                <a:latin typeface="Segoe UI Semibold"/>
              </a:rPr>
              <a:t>AGENDA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1005840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0" i="0">
                <a:solidFill>
                  <a:srgbClr val="253439"/>
                </a:solidFill>
                <a:latin typeface="Segoe UI Light"/>
              </a:rPr>
              <a:t>What the next 30 minutes cover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1591056"/>
            <a:ext cx="855878" cy="50292"/>
          </a:xfrm>
          <a:prstGeom prst="rect">
            <a:avLst/>
          </a:prstGeom>
          <a:solidFill>
            <a:srgbClr val="253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633118" y="1591056"/>
            <a:ext cx="427939" cy="50292"/>
          </a:xfrm>
          <a:prstGeom prst="rect">
            <a:avLst/>
          </a:prstGeom>
          <a:solidFill>
            <a:srgbClr val="B29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061057" y="1591056"/>
            <a:ext cx="2008022" cy="50292"/>
          </a:xfrm>
          <a:prstGeom prst="rect">
            <a:avLst/>
          </a:prstGeom>
          <a:solidFill>
            <a:srgbClr val="7C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 rot="16200000">
            <a:off x="10625328" y="3310128"/>
            <a:ext cx="2743200" cy="31089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7C898B"/>
                </a:solidFill>
                <a:latin typeface="Segoe UI Semibold"/>
              </a:rPr>
              <a:t>PPD-UTM  ·  FINAL PRESENTATION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75720" y="6473952"/>
            <a:ext cx="5669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7C898B"/>
                </a:solidFill>
                <a:latin typeface="Segoe UI Semibold"/>
              </a:rPr>
              <a:t>02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2011680"/>
            <a:ext cx="525780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78408" y="2157984"/>
            <a:ext cx="868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0" i="0">
                <a:solidFill>
                  <a:srgbClr val="B29E84"/>
                </a:solidFill>
                <a:latin typeface="Segoe UI Light"/>
              </a:rPr>
              <a:t>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37360" y="2176272"/>
            <a:ext cx="4160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0" i="0">
                <a:solidFill>
                  <a:srgbClr val="253439"/>
                </a:solidFill>
                <a:latin typeface="Segoe UI Semibold"/>
              </a:rPr>
              <a:t>DIC, in one picture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37360" y="2560320"/>
            <a:ext cx="4160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7C898B"/>
                </a:solidFill>
                <a:latin typeface="Segoe UI"/>
              </a:rPr>
              <a:t>what the rig measures, and why no sensor touches the part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0" y="2011680"/>
            <a:ext cx="525780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01968" y="2157984"/>
            <a:ext cx="868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0" i="0">
                <a:solidFill>
                  <a:srgbClr val="B29E84"/>
                </a:solidFill>
                <a:latin typeface="Segoe UI Light"/>
              </a:rPr>
              <a:t>02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60920" y="2176272"/>
            <a:ext cx="4160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0" i="0">
                <a:solidFill>
                  <a:srgbClr val="253439"/>
                </a:solidFill>
                <a:latin typeface="Segoe UI Semibold"/>
              </a:rPr>
              <a:t>What was built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60920" y="2560320"/>
            <a:ext cx="4160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7C898B"/>
                </a:solidFill>
                <a:latin typeface="Segoe UI"/>
              </a:rPr>
              <a:t>hardware, software — and 19 things it does on its own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7240" y="3337560"/>
            <a:ext cx="525780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78408" y="3483864"/>
            <a:ext cx="868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0" i="0">
                <a:solidFill>
                  <a:srgbClr val="B29E84"/>
                </a:solidFill>
                <a:latin typeface="Segoe UI Light"/>
              </a:rPr>
              <a:t>03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737360" y="3502152"/>
            <a:ext cx="4160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0" i="0">
                <a:solidFill>
                  <a:srgbClr val="253439"/>
                </a:solidFill>
                <a:latin typeface="Segoe UI Semibold"/>
              </a:rPr>
              <a:t>Live demo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737360" y="3886200"/>
            <a:ext cx="4160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7C898B"/>
                </a:solidFill>
                <a:latin typeface="Segoe UI"/>
              </a:rPr>
              <a:t>a specimen pulled to fracture, live on the rig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0" y="3337560"/>
            <a:ext cx="525780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01968" y="3483864"/>
            <a:ext cx="868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0" i="0">
                <a:solidFill>
                  <a:srgbClr val="B29E84"/>
                </a:solidFill>
                <a:latin typeface="Segoe UI Light"/>
              </a:rPr>
              <a:t>04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60920" y="3502152"/>
            <a:ext cx="4160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0" i="0">
                <a:solidFill>
                  <a:srgbClr val="253439"/>
                </a:solidFill>
                <a:latin typeface="Segoe UI Semibold"/>
              </a:rPr>
              <a:t>Validation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60920" y="3886200"/>
            <a:ext cx="4160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7C898B"/>
                </a:solidFill>
                <a:latin typeface="Segoe UI"/>
              </a:rPr>
              <a:t>the same material through a commercial lab — and how close we land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77240" y="4663440"/>
            <a:ext cx="525780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78408" y="4809744"/>
            <a:ext cx="868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0" i="0">
                <a:solidFill>
                  <a:srgbClr val="B29E84"/>
                </a:solidFill>
                <a:latin typeface="Segoe UI Light"/>
              </a:rPr>
              <a:t>05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737360" y="4828031"/>
            <a:ext cx="4160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0" i="0">
                <a:solidFill>
                  <a:srgbClr val="253439"/>
                </a:solidFill>
                <a:latin typeface="Segoe UI Semibold"/>
              </a:rPr>
              <a:t>AI in the loop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737360" y="5212079"/>
            <a:ext cx="4160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7C898B"/>
                </a:solidFill>
                <a:latin typeface="Segoe UI"/>
              </a:rPr>
              <a:t>how this was built by one engineer and a coding agent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00800" y="4663440"/>
            <a:ext cx="525780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601968" y="4809744"/>
            <a:ext cx="868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0" i="0">
                <a:solidFill>
                  <a:srgbClr val="B29E84"/>
                </a:solidFill>
                <a:latin typeface="Segoe UI Light"/>
              </a:rPr>
              <a:t>06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60920" y="4828031"/>
            <a:ext cx="4160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0" i="0">
                <a:solidFill>
                  <a:srgbClr val="253439"/>
                </a:solidFill>
                <a:latin typeface="Segoe UI Semibold"/>
              </a:rPr>
              <a:t>What comes next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60920" y="5212079"/>
            <a:ext cx="4160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7C898B"/>
                </a:solidFill>
                <a:latin typeface="Segoe UI"/>
              </a:rPr>
              <a:t>future work, and one number for fun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77240" y="6144768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7C898B"/>
                </a:solidFill>
                <a:latin typeface="Segoe UI"/>
              </a:rPr>
              <a:t>Appendix afterwards: Otsu thresholding · PLA vs PETG vs TPU · rig-to-rig noise.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932688"/>
          </a:xfrm>
          <a:prstGeom prst="rect">
            <a:avLst/>
          </a:prstGeom>
          <a:solidFill>
            <a:srgbClr val="253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42415"/>
            <a:ext cx="146304" cy="5815584"/>
          </a:xfrm>
          <a:prstGeom prst="rect">
            <a:avLst/>
          </a:prstGeom>
          <a:solidFill>
            <a:srgbClr val="7C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ju_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624" y="256032"/>
            <a:ext cx="905256" cy="402336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11265408" y="347472"/>
            <a:ext cx="118872" cy="118872"/>
          </a:xfrm>
          <a:prstGeom prst="rect">
            <a:avLst/>
          </a:prstGeom>
          <a:solidFill>
            <a:srgbClr val="253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89436" y="347472"/>
            <a:ext cx="118872" cy="118872"/>
          </a:xfrm>
          <a:prstGeom prst="rect">
            <a:avLst/>
          </a:prstGeom>
          <a:solidFill>
            <a:srgbClr val="B29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713464" y="347472"/>
            <a:ext cx="118872" cy="118872"/>
          </a:xfrm>
          <a:prstGeom prst="rect">
            <a:avLst/>
          </a:prstGeom>
          <a:solidFill>
            <a:srgbClr val="7C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786384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B29E84"/>
                </a:solidFill>
                <a:latin typeface="Segoe UI Semibold"/>
              </a:rPr>
              <a:t>01 · BACKGROUND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1005840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0" i="0">
                <a:solidFill>
                  <a:srgbClr val="253439"/>
                </a:solidFill>
                <a:latin typeface="Segoe UI Light"/>
              </a:rPr>
              <a:t>DIC — the camera is the strain gauge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1591056"/>
            <a:ext cx="855878" cy="50292"/>
          </a:xfrm>
          <a:prstGeom prst="rect">
            <a:avLst/>
          </a:prstGeom>
          <a:solidFill>
            <a:srgbClr val="253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633118" y="1591056"/>
            <a:ext cx="427939" cy="50292"/>
          </a:xfrm>
          <a:prstGeom prst="rect">
            <a:avLst/>
          </a:prstGeom>
          <a:solidFill>
            <a:srgbClr val="B29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061057" y="1591056"/>
            <a:ext cx="2008022" cy="50292"/>
          </a:xfrm>
          <a:prstGeom prst="rect">
            <a:avLst/>
          </a:prstGeom>
          <a:solidFill>
            <a:srgbClr val="7C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 rot="16200000">
            <a:off x="10625328" y="3310128"/>
            <a:ext cx="2743200" cy="31089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7C898B"/>
                </a:solidFill>
                <a:latin typeface="Segoe UI Semibold"/>
              </a:rPr>
              <a:t>BACKGROUND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75720" y="6473952"/>
            <a:ext cx="5669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7C898B"/>
                </a:solidFill>
                <a:latin typeface="Segoe UI Semibold"/>
              </a:rPr>
              <a:t>03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1874519"/>
            <a:ext cx="10607040" cy="2788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ppd_dic_expla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1965960"/>
            <a:ext cx="10424159" cy="2606040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777240" y="4892040"/>
            <a:ext cx="338328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" y="4892040"/>
            <a:ext cx="64008" cy="1325880"/>
          </a:xfrm>
          <a:prstGeom prst="rect">
            <a:avLst/>
          </a:prstGeom>
          <a:solidFill>
            <a:srgbClr val="B29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5047488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253439"/>
                </a:solidFill>
                <a:latin typeface="Segoe UI Semibold"/>
              </a:rPr>
              <a:t>No contact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5394960"/>
            <a:ext cx="30175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253439"/>
                </a:solidFill>
                <a:latin typeface="Segoe UI"/>
              </a:rPr>
              <a:t>nothing touches the specimen — no clip-on gauge to knock off at fracture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120" y="4892040"/>
            <a:ext cx="338328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389120" y="4892040"/>
            <a:ext cx="64008" cy="1325880"/>
          </a:xfrm>
          <a:prstGeom prst="rect">
            <a:avLst/>
          </a:prstGeom>
          <a:solidFill>
            <a:srgbClr val="B29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17720" y="5047488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253439"/>
                </a:solidFill>
                <a:latin typeface="Segoe UI Semibold"/>
              </a:rPr>
              <a:t>No calibration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17720" y="5394960"/>
            <a:ext cx="30175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253439"/>
                </a:solidFill>
                <a:latin typeface="Segoe UI"/>
              </a:rPr>
              <a:t>strain is a ratio of two pixel distances — mm per pixel cancels out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001000" y="4892040"/>
            <a:ext cx="338328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001000" y="4892040"/>
            <a:ext cx="64008" cy="1325880"/>
          </a:xfrm>
          <a:prstGeom prst="rect">
            <a:avLst/>
          </a:prstGeom>
          <a:solidFill>
            <a:srgbClr val="B29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29600" y="5047488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253439"/>
                </a:solidFill>
                <a:latin typeface="Segoe UI Semibold"/>
              </a:rPr>
              <a:t>Every frame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0" y="5394960"/>
            <a:ext cx="30175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253439"/>
                </a:solidFill>
                <a:latin typeface="Segoe UI"/>
              </a:rPr>
              <a:t>35 measurements per second, live on screen while the test runs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635508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7C898B"/>
                </a:solidFill>
                <a:latin typeface="Segoe UI"/>
              </a:rPr>
              <a:t>DIC = Digital Image Correlation — here in its simplest two-marker form.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932688"/>
          </a:xfrm>
          <a:prstGeom prst="rect">
            <a:avLst/>
          </a:prstGeom>
          <a:solidFill>
            <a:srgbClr val="253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42415"/>
            <a:ext cx="146304" cy="5815584"/>
          </a:xfrm>
          <a:prstGeom prst="rect">
            <a:avLst/>
          </a:prstGeom>
          <a:solidFill>
            <a:srgbClr val="7C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ju_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624" y="256032"/>
            <a:ext cx="905256" cy="402336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11265408" y="347472"/>
            <a:ext cx="118872" cy="118872"/>
          </a:xfrm>
          <a:prstGeom prst="rect">
            <a:avLst/>
          </a:prstGeom>
          <a:solidFill>
            <a:srgbClr val="253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89436" y="347472"/>
            <a:ext cx="118872" cy="118872"/>
          </a:xfrm>
          <a:prstGeom prst="rect">
            <a:avLst/>
          </a:prstGeom>
          <a:solidFill>
            <a:srgbClr val="B29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713464" y="347472"/>
            <a:ext cx="118872" cy="118872"/>
          </a:xfrm>
          <a:prstGeom prst="rect">
            <a:avLst/>
          </a:prstGeom>
          <a:solidFill>
            <a:srgbClr val="7C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786384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B29E84"/>
                </a:solidFill>
                <a:latin typeface="Segoe UI Semibold"/>
              </a:rPr>
              <a:t>02 · THE BUILD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1005840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0" i="0">
                <a:solidFill>
                  <a:srgbClr val="253439"/>
                </a:solidFill>
                <a:latin typeface="Segoe UI Light"/>
              </a:rPr>
              <a:t>One rig, one application — built together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1591056"/>
            <a:ext cx="855878" cy="50292"/>
          </a:xfrm>
          <a:prstGeom prst="rect">
            <a:avLst/>
          </a:prstGeom>
          <a:solidFill>
            <a:srgbClr val="253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633118" y="1591056"/>
            <a:ext cx="427939" cy="50292"/>
          </a:xfrm>
          <a:prstGeom prst="rect">
            <a:avLst/>
          </a:prstGeom>
          <a:solidFill>
            <a:srgbClr val="B29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061057" y="1591056"/>
            <a:ext cx="2008022" cy="50292"/>
          </a:xfrm>
          <a:prstGeom prst="rect">
            <a:avLst/>
          </a:prstGeom>
          <a:solidFill>
            <a:srgbClr val="7C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 rot="16200000">
            <a:off x="10625328" y="3310128"/>
            <a:ext cx="2743200" cy="31089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7C898B"/>
                </a:solidFill>
                <a:latin typeface="Segoe UI Semibold"/>
              </a:rPr>
              <a:t>THE BUILD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75720" y="6473952"/>
            <a:ext cx="5669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7C898B"/>
                </a:solidFill>
                <a:latin typeface="Segoe UI Semibold"/>
              </a:rPr>
              <a:t>04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1828800"/>
            <a:ext cx="2788920" cy="3977639"/>
          </a:xfrm>
          <a:prstGeom prst="rect">
            <a:avLst/>
          </a:prstGeom>
          <a:solidFill>
            <a:srgbClr val="FFFFFF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UTM rig_12-08-26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2080260"/>
            <a:ext cx="2606039" cy="3474719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40" y="5870448"/>
            <a:ext cx="2788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 i="0">
                <a:solidFill>
                  <a:srgbClr val="7C898B"/>
                </a:solidFill>
                <a:latin typeface="Segoe UI"/>
              </a:rPr>
              <a:t>the PPD-UTM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86200" y="1847088"/>
            <a:ext cx="38404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B29E84"/>
                </a:solidFill>
                <a:latin typeface="Segoe UI Semibold"/>
              </a:rPr>
              <a:t>HARDWARE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86200" y="2176272"/>
            <a:ext cx="379476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500"/>
              </a:spcAft>
            </a:pPr>
            <a:r>
              <a:rPr sz="1100" b="1" i="0">
                <a:solidFill>
                  <a:srgbClr val="B29E84"/>
                </a:solidFill>
                <a:latin typeface="Segoe UI"/>
              </a:rPr>
              <a:t>▪  </a:t>
            </a:r>
            <a:r>
              <a:rPr sz="1100" b="0" i="0">
                <a:solidFill>
                  <a:srgbClr val="253439"/>
                </a:solidFill>
                <a:latin typeface="Segoe UI"/>
              </a:rPr>
              <a:t>twin ball-screw frame, 4.5 kN load cell</a:t>
            </a:r>
          </a:p>
          <a:p>
            <a:pPr algn="l">
              <a:lnSpc>
                <a:spcPct val="104000"/>
              </a:lnSpc>
              <a:spcAft>
                <a:spcPts val="500"/>
              </a:spcAft>
            </a:pPr>
            <a:r>
              <a:rPr sz="1100" b="1" i="0">
                <a:solidFill>
                  <a:srgbClr val="B29E84"/>
                </a:solidFill>
                <a:latin typeface="Segoe UI"/>
              </a:rPr>
              <a:t>▪  </a:t>
            </a:r>
            <a:r>
              <a:rPr sz="1100" b="0" i="0">
                <a:solidFill>
                  <a:srgbClr val="253439"/>
                </a:solidFill>
                <a:latin typeface="Segoe UI"/>
              </a:rPr>
              <a:t>industrial camera + LED panel — the DIC eye</a:t>
            </a:r>
          </a:p>
          <a:p>
            <a:pPr algn="l">
              <a:lnSpc>
                <a:spcPct val="104000"/>
              </a:lnSpc>
              <a:spcAft>
                <a:spcPts val="500"/>
              </a:spcAft>
            </a:pPr>
            <a:r>
              <a:rPr sz="1100" b="1" i="0">
                <a:solidFill>
                  <a:srgbClr val="B29E84"/>
                </a:solidFill>
                <a:latin typeface="Segoe UI"/>
              </a:rPr>
              <a:t>▪  </a:t>
            </a:r>
            <a:r>
              <a:rPr sz="1100" b="0" i="0">
                <a:solidFill>
                  <a:srgbClr val="253439"/>
                </a:solidFill>
                <a:latin typeface="Segoe UI"/>
              </a:rPr>
              <a:t>printed grips, emergency stop, enclosure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86200" y="3675887"/>
            <a:ext cx="38404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B29E84"/>
                </a:solidFill>
                <a:latin typeface="Segoe UI Semibold"/>
              </a:rPr>
              <a:t>SOFTWARE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86200" y="4005072"/>
            <a:ext cx="379476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500"/>
              </a:spcAft>
            </a:pPr>
            <a:r>
              <a:rPr sz="1100" b="1" i="0">
                <a:solidFill>
                  <a:srgbClr val="B29E84"/>
                </a:solidFill>
                <a:latin typeface="Segoe UI"/>
              </a:rPr>
              <a:t>▪  </a:t>
            </a:r>
            <a:r>
              <a:rPr sz="1100" b="0" i="0">
                <a:solidFill>
                  <a:srgbClr val="253439"/>
                </a:solidFill>
                <a:latin typeface="Segoe UI"/>
              </a:rPr>
              <a:t>one PyQt6 application runs the whole test</a:t>
            </a:r>
          </a:p>
          <a:p>
            <a:pPr algn="l">
              <a:lnSpc>
                <a:spcPct val="104000"/>
              </a:lnSpc>
              <a:spcAft>
                <a:spcPts val="500"/>
              </a:spcAft>
            </a:pPr>
            <a:r>
              <a:rPr sz="1100" b="1" i="0">
                <a:solidFill>
                  <a:srgbClr val="B29E84"/>
                </a:solidFill>
                <a:latin typeface="Segoe UI"/>
              </a:rPr>
              <a:t>▪  </a:t>
            </a:r>
            <a:r>
              <a:rPr sz="1100" b="0" i="0">
                <a:solidFill>
                  <a:srgbClr val="253439"/>
                </a:solidFill>
                <a:latin typeface="Segoe UI"/>
              </a:rPr>
              <a:t>live DIC strain at 35 fps, six closed-loop protocols</a:t>
            </a:r>
          </a:p>
          <a:p>
            <a:pPr algn="l">
              <a:lnSpc>
                <a:spcPct val="104000"/>
              </a:lnSpc>
              <a:spcAft>
                <a:spcPts val="500"/>
              </a:spcAft>
            </a:pPr>
            <a:r>
              <a:rPr sz="1100" b="1" i="0">
                <a:solidFill>
                  <a:srgbClr val="B29E84"/>
                </a:solidFill>
                <a:latin typeface="Segoe UI"/>
              </a:rPr>
              <a:t>▪  </a:t>
            </a:r>
            <a:r>
              <a:rPr sz="1100" b="0" i="0">
                <a:solidFill>
                  <a:srgbClr val="253439"/>
                </a:solidFill>
                <a:latin typeface="Segoe UI"/>
              </a:rPr>
              <a:t>every run leaves a CSV + video + PDF report</a:t>
            </a:r>
          </a:p>
          <a:p>
            <a:pPr algn="l">
              <a:lnSpc>
                <a:spcPct val="104000"/>
              </a:lnSpc>
              <a:spcAft>
                <a:spcPts val="500"/>
              </a:spcAft>
            </a:pPr>
            <a:r>
              <a:rPr sz="1100" b="1" i="0">
                <a:solidFill>
                  <a:srgbClr val="B29E84"/>
                </a:solidFill>
                <a:latin typeface="Segoe UI"/>
              </a:rPr>
              <a:t>▪  </a:t>
            </a:r>
            <a:r>
              <a:rPr sz="1100" b="0" i="0">
                <a:solidFill>
                  <a:srgbClr val="253439"/>
                </a:solidFill>
                <a:latin typeface="Segoe UI"/>
              </a:rPr>
              <a:t>post-processor re-measures any recorded video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92440" y="1847088"/>
            <a:ext cx="329184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75320" y="1938528"/>
            <a:ext cx="1371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0" i="0">
                <a:solidFill>
                  <a:srgbClr val="253439"/>
                </a:solidFill>
                <a:latin typeface="Segoe UI Light"/>
              </a:rPr>
              <a:t>28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555480" y="2066543"/>
            <a:ext cx="1737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7C898B"/>
                </a:solidFill>
                <a:latin typeface="Segoe UI"/>
              </a:rPr>
              <a:t>specimens pulled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092440" y="2688336"/>
            <a:ext cx="329184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75320" y="2779776"/>
            <a:ext cx="1371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0" i="0">
                <a:solidFill>
                  <a:srgbClr val="253439"/>
                </a:solidFill>
                <a:latin typeface="Segoe UI Light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55480" y="2907791"/>
            <a:ext cx="1737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7C898B"/>
                </a:solidFill>
                <a:latin typeface="Segoe UI"/>
              </a:rPr>
              <a:t>materials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92440" y="3529584"/>
            <a:ext cx="329184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75320" y="3621024"/>
            <a:ext cx="1371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0" i="0">
                <a:solidFill>
                  <a:srgbClr val="253439"/>
                </a:solidFill>
                <a:latin typeface="Segoe UI Light"/>
              </a:rPr>
              <a:t>19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555480" y="3749040"/>
            <a:ext cx="1737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7C898B"/>
                </a:solidFill>
                <a:latin typeface="Segoe UI"/>
              </a:rPr>
              <a:t>smart features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092440" y="4370832"/>
            <a:ext cx="329184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75320" y="4462272"/>
            <a:ext cx="1371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0" i="0">
                <a:solidFill>
                  <a:srgbClr val="253439"/>
                </a:solidFill>
                <a:latin typeface="Segoe UI Light"/>
              </a:rPr>
              <a:t>~44 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555480" y="4590288"/>
            <a:ext cx="1737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7C898B"/>
                </a:solidFill>
                <a:latin typeface="Segoe UI"/>
              </a:rPr>
              <a:t>lines of Python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092440" y="5212080"/>
            <a:ext cx="329184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275320" y="5303520"/>
            <a:ext cx="1371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0" i="0">
                <a:solidFill>
                  <a:srgbClr val="253439"/>
                </a:solidFill>
                <a:latin typeface="Segoe UI Light"/>
              </a:rPr>
              <a:t>204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555480" y="5431536"/>
            <a:ext cx="1737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7C898B"/>
                </a:solidFill>
                <a:latin typeface="Segoe UI"/>
              </a:rPr>
              <a:t>evidence pages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92440" y="6144768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C898B"/>
                </a:solidFill>
                <a:latin typeface="Segoe UI"/>
              </a:rPr>
              <a:t>numbers as of Sep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932688"/>
          </a:xfrm>
          <a:prstGeom prst="rect">
            <a:avLst/>
          </a:prstGeom>
          <a:solidFill>
            <a:srgbClr val="253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42415"/>
            <a:ext cx="146304" cy="5815584"/>
          </a:xfrm>
          <a:prstGeom prst="rect">
            <a:avLst/>
          </a:prstGeom>
          <a:solidFill>
            <a:srgbClr val="7C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ju_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624" y="256032"/>
            <a:ext cx="905256" cy="402336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11265408" y="347472"/>
            <a:ext cx="118872" cy="118872"/>
          </a:xfrm>
          <a:prstGeom prst="rect">
            <a:avLst/>
          </a:prstGeom>
          <a:solidFill>
            <a:srgbClr val="253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89436" y="347472"/>
            <a:ext cx="118872" cy="118872"/>
          </a:xfrm>
          <a:prstGeom prst="rect">
            <a:avLst/>
          </a:prstGeom>
          <a:solidFill>
            <a:srgbClr val="B29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713464" y="347472"/>
            <a:ext cx="118872" cy="118872"/>
          </a:xfrm>
          <a:prstGeom prst="rect">
            <a:avLst/>
          </a:prstGeom>
          <a:solidFill>
            <a:srgbClr val="7C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786384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B29E84"/>
                </a:solidFill>
                <a:latin typeface="Segoe UI Semibold"/>
              </a:rPr>
              <a:t>02 · THE BUILD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1005840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0" i="0">
                <a:solidFill>
                  <a:srgbClr val="253439"/>
                </a:solidFill>
                <a:latin typeface="Segoe UI Light"/>
              </a:rPr>
              <a:t>Nineteen things the rig does on its own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1591056"/>
            <a:ext cx="855878" cy="50292"/>
          </a:xfrm>
          <a:prstGeom prst="rect">
            <a:avLst/>
          </a:prstGeom>
          <a:solidFill>
            <a:srgbClr val="253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633118" y="1591056"/>
            <a:ext cx="427939" cy="50292"/>
          </a:xfrm>
          <a:prstGeom prst="rect">
            <a:avLst/>
          </a:prstGeom>
          <a:solidFill>
            <a:srgbClr val="B29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061057" y="1591056"/>
            <a:ext cx="2008022" cy="50292"/>
          </a:xfrm>
          <a:prstGeom prst="rect">
            <a:avLst/>
          </a:prstGeom>
          <a:solidFill>
            <a:srgbClr val="7C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 rot="16200000">
            <a:off x="10625328" y="3310128"/>
            <a:ext cx="2743200" cy="31089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7C898B"/>
                </a:solidFill>
                <a:latin typeface="Segoe UI Semibold"/>
              </a:rPr>
              <a:t>THE BUILD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75720" y="6473952"/>
            <a:ext cx="5669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7C898B"/>
                </a:solidFill>
                <a:latin typeface="Segoe UI Semibold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1920240"/>
            <a:ext cx="2587752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1920240"/>
            <a:ext cx="45720" cy="749808"/>
          </a:xfrm>
          <a:prstGeom prst="rect">
            <a:avLst/>
          </a:prstGeom>
          <a:solidFill>
            <a:srgbClr val="7C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3544" y="2011680"/>
            <a:ext cx="2331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B29E84"/>
                </a:solidFill>
                <a:latin typeface="Segoe UI Semibold"/>
              </a:rPr>
              <a:t>SF1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3544" y="2212848"/>
            <a:ext cx="23317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253439"/>
                </a:solidFill>
                <a:latin typeface="Segoe UI"/>
              </a:rPr>
              <a:t>DIC health HUD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474720" y="1920240"/>
            <a:ext cx="2587752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74720" y="1920240"/>
            <a:ext cx="45720" cy="749808"/>
          </a:xfrm>
          <a:prstGeom prst="rect">
            <a:avLst/>
          </a:prstGeom>
          <a:solidFill>
            <a:srgbClr val="7C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21024" y="2011680"/>
            <a:ext cx="2331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B29E84"/>
                </a:solidFill>
                <a:latin typeface="Segoe UI Semibold"/>
              </a:rPr>
              <a:t>SF2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21024" y="2212848"/>
            <a:ext cx="23317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253439"/>
                </a:solidFill>
                <a:latin typeface="Segoe UI"/>
              </a:rPr>
              <a:t>Prepare specimen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72200" y="1920240"/>
            <a:ext cx="2587752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72200" y="1920240"/>
            <a:ext cx="45720" cy="749808"/>
          </a:xfrm>
          <a:prstGeom prst="rect">
            <a:avLst/>
          </a:prstGeom>
          <a:solidFill>
            <a:srgbClr val="7C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18504" y="2011680"/>
            <a:ext cx="2331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B29E84"/>
                </a:solidFill>
                <a:latin typeface="Segoe UI Semibold"/>
              </a:rPr>
              <a:t>SF3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18504" y="2212848"/>
            <a:ext cx="23317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253439"/>
                </a:solidFill>
                <a:latin typeface="Segoe UI"/>
              </a:rPr>
              <a:t>Settings / recipes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869680" y="1920240"/>
            <a:ext cx="2587752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869680" y="1920240"/>
            <a:ext cx="45720" cy="749808"/>
          </a:xfrm>
          <a:prstGeom prst="rect">
            <a:avLst/>
          </a:prstGeom>
          <a:solidFill>
            <a:srgbClr val="7C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015984" y="2011680"/>
            <a:ext cx="2331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B29E84"/>
                </a:solidFill>
                <a:latin typeface="Segoe UI Semibold"/>
              </a:rPr>
              <a:t>SF4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15984" y="2212848"/>
            <a:ext cx="23317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253439"/>
                </a:solidFill>
                <a:latin typeface="Segoe UI"/>
              </a:rPr>
              <a:t>1-click PDF report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77240" y="2798064"/>
            <a:ext cx="2587752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77240" y="2798064"/>
            <a:ext cx="45720" cy="749808"/>
          </a:xfrm>
          <a:prstGeom prst="rect">
            <a:avLst/>
          </a:prstGeom>
          <a:solidFill>
            <a:srgbClr val="7C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23544" y="2889504"/>
            <a:ext cx="2331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B29E84"/>
                </a:solidFill>
                <a:latin typeface="Segoe UI Semibold"/>
              </a:rPr>
              <a:t>SF5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3544" y="3090672"/>
            <a:ext cx="23317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253439"/>
                </a:solidFill>
                <a:latin typeface="Segoe UI"/>
              </a:rPr>
              <a:t>Auto-stop at fracture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474720" y="2798064"/>
            <a:ext cx="2587752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474720" y="2798064"/>
            <a:ext cx="45720" cy="749808"/>
          </a:xfrm>
          <a:prstGeom prst="rect">
            <a:avLst/>
          </a:prstGeom>
          <a:solidFill>
            <a:srgbClr val="7C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21024" y="2889504"/>
            <a:ext cx="2331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B29E84"/>
                </a:solidFill>
                <a:latin typeface="Segoe UI Semibold"/>
              </a:rPr>
              <a:t>SF6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621024" y="3090672"/>
            <a:ext cx="23317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253439"/>
                </a:solidFill>
                <a:latin typeface="Segoe UI"/>
              </a:rPr>
              <a:t>Strain-rate control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172200" y="2798064"/>
            <a:ext cx="2587752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172200" y="2798064"/>
            <a:ext cx="45720" cy="749808"/>
          </a:xfrm>
          <a:prstGeom prst="rect">
            <a:avLst/>
          </a:prstGeom>
          <a:solidFill>
            <a:srgbClr val="7C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318504" y="2889504"/>
            <a:ext cx="2331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B29E84"/>
                </a:solidFill>
                <a:latin typeface="Segoe UI Semibold"/>
              </a:rPr>
              <a:t>SF7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18504" y="3090672"/>
            <a:ext cx="23317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253439"/>
                </a:solidFill>
                <a:latin typeface="Segoe UI"/>
              </a:rPr>
              <a:t>Stall guard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869680" y="2798064"/>
            <a:ext cx="2587752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8869680" y="2798064"/>
            <a:ext cx="45720" cy="749808"/>
          </a:xfrm>
          <a:prstGeom prst="rect">
            <a:avLst/>
          </a:prstGeom>
          <a:solidFill>
            <a:srgbClr val="7C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015984" y="2889504"/>
            <a:ext cx="2331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B29E84"/>
                </a:solidFill>
                <a:latin typeface="Segoe UI Semibold"/>
              </a:rPr>
              <a:t>SF8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015984" y="3090672"/>
            <a:ext cx="23317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253439"/>
                </a:solidFill>
                <a:latin typeface="Segoe UI"/>
              </a:rPr>
              <a:t>Release load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77240" y="3675887"/>
            <a:ext cx="2587752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777240" y="3675887"/>
            <a:ext cx="45720" cy="749808"/>
          </a:xfrm>
          <a:prstGeom prst="rect">
            <a:avLst/>
          </a:prstGeom>
          <a:solidFill>
            <a:srgbClr val="7C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23544" y="3767327"/>
            <a:ext cx="2331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B29E84"/>
                </a:solidFill>
                <a:latin typeface="Segoe UI Semibold"/>
              </a:rPr>
              <a:t>SF9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23544" y="3968496"/>
            <a:ext cx="23317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253439"/>
                </a:solidFill>
                <a:latin typeface="Segoe UI"/>
              </a:rPr>
              <a:t>6 test protocols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474720" y="3675887"/>
            <a:ext cx="2587752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3474720" y="3675887"/>
            <a:ext cx="45720" cy="749808"/>
          </a:xfrm>
          <a:prstGeom prst="rect">
            <a:avLst/>
          </a:prstGeom>
          <a:solidFill>
            <a:srgbClr val="7C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621024" y="3767327"/>
            <a:ext cx="2331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B29E84"/>
                </a:solidFill>
                <a:latin typeface="Segoe UI Semibold"/>
              </a:rPr>
              <a:t>SF10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621024" y="3968496"/>
            <a:ext cx="23317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253439"/>
                </a:solidFill>
                <a:latin typeface="Segoe UI"/>
              </a:rPr>
              <a:t>Auto-preload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172200" y="3675887"/>
            <a:ext cx="2587752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172200" y="3675887"/>
            <a:ext cx="45720" cy="749808"/>
          </a:xfrm>
          <a:prstGeom prst="rect">
            <a:avLst/>
          </a:prstGeom>
          <a:solidFill>
            <a:srgbClr val="7C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318504" y="3767327"/>
            <a:ext cx="2331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B29E84"/>
                </a:solidFill>
                <a:latin typeface="Segoe UI Semibold"/>
              </a:rPr>
              <a:t>SF11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318504" y="3968496"/>
            <a:ext cx="23317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253439"/>
                </a:solidFill>
                <a:latin typeface="Segoe UI"/>
              </a:rPr>
              <a:t>Auto-metadata link</a:t>
            </a:r>
          </a:p>
        </p:txBody>
      </p:sp>
      <p:sp>
        <p:nvSpPr>
          <p:cNvPr id="60" name="Rectangle 59"/>
          <p:cNvSpPr/>
          <p:nvPr/>
        </p:nvSpPr>
        <p:spPr>
          <a:xfrm>
            <a:off x="8869680" y="3675887"/>
            <a:ext cx="2587752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8869680" y="3675887"/>
            <a:ext cx="45720" cy="749808"/>
          </a:xfrm>
          <a:prstGeom prst="rect">
            <a:avLst/>
          </a:prstGeom>
          <a:solidFill>
            <a:srgbClr val="7C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015984" y="3767327"/>
            <a:ext cx="2331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B29E84"/>
                </a:solidFill>
                <a:latin typeface="Segoe UI Semibold"/>
              </a:rPr>
              <a:t>SF12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015984" y="3968496"/>
            <a:ext cx="23317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253439"/>
                </a:solidFill>
                <a:latin typeface="Segoe UI"/>
              </a:rPr>
              <a:t>DIC auto-calibrate</a:t>
            </a:r>
          </a:p>
        </p:txBody>
      </p:sp>
      <p:sp>
        <p:nvSpPr>
          <p:cNvPr id="64" name="Rectangle 63"/>
          <p:cNvSpPr/>
          <p:nvPr/>
        </p:nvSpPr>
        <p:spPr>
          <a:xfrm>
            <a:off x="777240" y="4553712"/>
            <a:ext cx="2587752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77240" y="4553712"/>
            <a:ext cx="45720" cy="749808"/>
          </a:xfrm>
          <a:prstGeom prst="rect">
            <a:avLst/>
          </a:prstGeom>
          <a:solidFill>
            <a:srgbClr val="7C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923544" y="4645152"/>
            <a:ext cx="2331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B29E84"/>
                </a:solidFill>
                <a:latin typeface="Segoe UI Semibold"/>
              </a:rPr>
              <a:t>SF13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23544" y="4846320"/>
            <a:ext cx="23317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253439"/>
                </a:solidFill>
                <a:latin typeface="Segoe UI"/>
              </a:rPr>
              <a:t>Guided wizard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474720" y="4553712"/>
            <a:ext cx="2587752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3474720" y="4553712"/>
            <a:ext cx="45720" cy="749808"/>
          </a:xfrm>
          <a:prstGeom prst="rect">
            <a:avLst/>
          </a:prstGeom>
          <a:solidFill>
            <a:srgbClr val="7C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3621024" y="4645152"/>
            <a:ext cx="2331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B29E84"/>
                </a:solidFill>
                <a:latin typeface="Segoe UI Semibold"/>
              </a:rPr>
              <a:t>SF14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621024" y="4846320"/>
            <a:ext cx="23317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253439"/>
                </a:solidFill>
                <a:latin typeface="Segoe UI"/>
              </a:rPr>
              <a:t>Test registry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172200" y="4553712"/>
            <a:ext cx="2587752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6172200" y="4553712"/>
            <a:ext cx="45720" cy="749808"/>
          </a:xfrm>
          <a:prstGeom prst="rect">
            <a:avLst/>
          </a:prstGeom>
          <a:solidFill>
            <a:srgbClr val="7C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318504" y="4645152"/>
            <a:ext cx="2331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B29E84"/>
                </a:solidFill>
                <a:latin typeface="Segoe UI Semibold"/>
              </a:rPr>
              <a:t>SF15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318504" y="4846320"/>
            <a:ext cx="23317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253439"/>
                </a:solidFill>
                <a:latin typeface="Segoe UI"/>
              </a:rPr>
              <a:t>Dead-DIC guard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869680" y="4553712"/>
            <a:ext cx="2587752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8869680" y="4553712"/>
            <a:ext cx="45720" cy="749808"/>
          </a:xfrm>
          <a:prstGeom prst="rect">
            <a:avLst/>
          </a:prstGeom>
          <a:solidFill>
            <a:srgbClr val="7C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9015984" y="4645152"/>
            <a:ext cx="2331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B29E84"/>
                </a:solidFill>
                <a:latin typeface="Segoe UI Semibold"/>
              </a:rPr>
              <a:t>SF16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015984" y="4846320"/>
            <a:ext cx="23317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253439"/>
                </a:solidFill>
                <a:latin typeface="Segoe UI"/>
              </a:rPr>
              <a:t>Live Px₀ overlay</a:t>
            </a:r>
          </a:p>
        </p:txBody>
      </p:sp>
      <p:sp>
        <p:nvSpPr>
          <p:cNvPr id="80" name="Rectangle 79"/>
          <p:cNvSpPr/>
          <p:nvPr/>
        </p:nvSpPr>
        <p:spPr>
          <a:xfrm>
            <a:off x="777240" y="5431536"/>
            <a:ext cx="2587752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777240" y="5431536"/>
            <a:ext cx="45720" cy="749808"/>
          </a:xfrm>
          <a:prstGeom prst="rect">
            <a:avLst/>
          </a:prstGeom>
          <a:solidFill>
            <a:srgbClr val="7C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923544" y="5522975"/>
            <a:ext cx="2331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B29E84"/>
                </a:solidFill>
                <a:latin typeface="Segoe UI Semibold"/>
              </a:rPr>
              <a:t>SF17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23544" y="5724144"/>
            <a:ext cx="23317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253439"/>
                </a:solidFill>
                <a:latin typeface="Segoe UI"/>
              </a:rPr>
              <a:t>Video + stills capture</a:t>
            </a:r>
          </a:p>
        </p:txBody>
      </p:sp>
      <p:sp>
        <p:nvSpPr>
          <p:cNvPr id="84" name="Rectangle 83"/>
          <p:cNvSpPr/>
          <p:nvPr/>
        </p:nvSpPr>
        <p:spPr>
          <a:xfrm>
            <a:off x="3474720" y="5431536"/>
            <a:ext cx="2587752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3474720" y="5431536"/>
            <a:ext cx="45720" cy="749808"/>
          </a:xfrm>
          <a:prstGeom prst="rect">
            <a:avLst/>
          </a:prstGeom>
          <a:solidFill>
            <a:srgbClr val="7C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3621024" y="5522975"/>
            <a:ext cx="2331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B29E84"/>
                </a:solidFill>
                <a:latin typeface="Segoe UI Semibold"/>
              </a:rPr>
              <a:t>SF18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621024" y="5724144"/>
            <a:ext cx="23317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253439"/>
                </a:solidFill>
                <a:latin typeface="Segoe UI"/>
              </a:rPr>
              <a:t>DIC post-processing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172200" y="5431536"/>
            <a:ext cx="2587752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6172200" y="5431536"/>
            <a:ext cx="45720" cy="749808"/>
          </a:xfrm>
          <a:prstGeom prst="rect">
            <a:avLst/>
          </a:prstGeom>
          <a:solidFill>
            <a:srgbClr val="7C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318504" y="5522975"/>
            <a:ext cx="2331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B29E84"/>
                </a:solidFill>
                <a:latin typeface="Segoe UI Semibold"/>
              </a:rPr>
              <a:t>SF19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318504" y="5724144"/>
            <a:ext cx="23317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253439"/>
                </a:solidFill>
                <a:latin typeface="Segoe UI"/>
              </a:rPr>
              <a:t>Noise capture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77240" y="640080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7C898B"/>
                </a:solidFill>
                <a:latin typeface="Segoe UI"/>
              </a:rPr>
              <a:t>each of these has its own evidence page in the project deck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932688"/>
          </a:xfrm>
          <a:prstGeom prst="rect">
            <a:avLst/>
          </a:prstGeom>
          <a:solidFill>
            <a:srgbClr val="253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42415"/>
            <a:ext cx="146304" cy="5815584"/>
          </a:xfrm>
          <a:prstGeom prst="rect">
            <a:avLst/>
          </a:prstGeom>
          <a:solidFill>
            <a:srgbClr val="7C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ju_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624" y="256032"/>
            <a:ext cx="905256" cy="402336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11265408" y="347472"/>
            <a:ext cx="118872" cy="118872"/>
          </a:xfrm>
          <a:prstGeom prst="rect">
            <a:avLst/>
          </a:prstGeom>
          <a:solidFill>
            <a:srgbClr val="253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89436" y="347472"/>
            <a:ext cx="118872" cy="118872"/>
          </a:xfrm>
          <a:prstGeom prst="rect">
            <a:avLst/>
          </a:prstGeom>
          <a:solidFill>
            <a:srgbClr val="B29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713464" y="347472"/>
            <a:ext cx="118872" cy="118872"/>
          </a:xfrm>
          <a:prstGeom prst="rect">
            <a:avLst/>
          </a:prstGeom>
          <a:solidFill>
            <a:srgbClr val="7C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786384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B29E84"/>
                </a:solidFill>
                <a:latin typeface="Segoe UI Semibold"/>
              </a:rPr>
              <a:t>02 · THE BUILD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1005840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0" i="0">
                <a:solidFill>
                  <a:srgbClr val="253439"/>
                </a:solidFill>
                <a:latin typeface="Segoe UI Light"/>
              </a:rPr>
              <a:t>…and the three worth two minutes each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1591056"/>
            <a:ext cx="855878" cy="50292"/>
          </a:xfrm>
          <a:prstGeom prst="rect">
            <a:avLst/>
          </a:prstGeom>
          <a:solidFill>
            <a:srgbClr val="253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633118" y="1591056"/>
            <a:ext cx="427939" cy="50292"/>
          </a:xfrm>
          <a:prstGeom prst="rect">
            <a:avLst/>
          </a:prstGeom>
          <a:solidFill>
            <a:srgbClr val="B29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061057" y="1591056"/>
            <a:ext cx="2008022" cy="50292"/>
          </a:xfrm>
          <a:prstGeom prst="rect">
            <a:avLst/>
          </a:prstGeom>
          <a:solidFill>
            <a:srgbClr val="7C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 rot="16200000">
            <a:off x="10625328" y="3310128"/>
            <a:ext cx="2743200" cy="31089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7C898B"/>
                </a:solidFill>
                <a:latin typeface="Segoe UI Semibold"/>
              </a:rPr>
              <a:t>THE BUILD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75720" y="6473952"/>
            <a:ext cx="5669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7C898B"/>
                </a:solidFill>
                <a:latin typeface="Segoe UI Semibold"/>
              </a:rPr>
              <a:t>06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1920240"/>
            <a:ext cx="2587752" cy="749808"/>
          </a:xfrm>
          <a:prstGeom prst="rect">
            <a:avLst/>
          </a:prstGeom>
          <a:solidFill>
            <a:srgbClr val="F6F4F1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5256" y="2011680"/>
            <a:ext cx="2331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DEDAD2"/>
                </a:solidFill>
                <a:latin typeface="Segoe UI Semibold"/>
              </a:rPr>
              <a:t>SF1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5256" y="2212848"/>
            <a:ext cx="23317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DEDAD2"/>
                </a:solidFill>
                <a:latin typeface="Segoe UI"/>
              </a:rPr>
              <a:t>DIC health HUD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474720" y="1920240"/>
            <a:ext cx="2587752" cy="749808"/>
          </a:xfrm>
          <a:prstGeom prst="rect">
            <a:avLst/>
          </a:prstGeom>
          <a:solidFill>
            <a:srgbClr val="F6F4F1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02736" y="2011680"/>
            <a:ext cx="2331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DEDAD2"/>
                </a:solidFill>
                <a:latin typeface="Segoe UI Semibold"/>
              </a:rPr>
              <a:t>SF2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02736" y="2212848"/>
            <a:ext cx="23317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DEDAD2"/>
                </a:solidFill>
                <a:latin typeface="Segoe UI"/>
              </a:rPr>
              <a:t>Prepare specimen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72200" y="1920240"/>
            <a:ext cx="2587752" cy="749808"/>
          </a:xfrm>
          <a:prstGeom prst="rect">
            <a:avLst/>
          </a:prstGeom>
          <a:solidFill>
            <a:srgbClr val="F6F4F1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0216" y="2011680"/>
            <a:ext cx="2331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DEDAD2"/>
                </a:solidFill>
                <a:latin typeface="Segoe UI Semibold"/>
              </a:rPr>
              <a:t>SF3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0216" y="2212848"/>
            <a:ext cx="23317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DEDAD2"/>
                </a:solidFill>
                <a:latin typeface="Segoe UI"/>
              </a:rPr>
              <a:t>Settings / recipes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869680" y="1920240"/>
            <a:ext cx="2587752" cy="749808"/>
          </a:xfrm>
          <a:prstGeom prst="rect">
            <a:avLst/>
          </a:prstGeom>
          <a:solidFill>
            <a:srgbClr val="F6F4F1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97696" y="2011680"/>
            <a:ext cx="2331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DEDAD2"/>
                </a:solidFill>
                <a:latin typeface="Segoe UI Semibold"/>
              </a:rPr>
              <a:t>SF4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97696" y="2212848"/>
            <a:ext cx="23317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DEDAD2"/>
                </a:solidFill>
                <a:latin typeface="Segoe UI"/>
              </a:rPr>
              <a:t>1-click PDF report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1792" y="2679192"/>
            <a:ext cx="2898648" cy="987552"/>
          </a:xfrm>
          <a:prstGeom prst="rect">
            <a:avLst/>
          </a:prstGeom>
          <a:solidFill>
            <a:srgbClr val="253439"/>
          </a:solidFill>
          <a:ln w="17780">
            <a:solidFill>
              <a:srgbClr val="B29E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68096" y="2761488"/>
            <a:ext cx="26243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B29E84"/>
                </a:solidFill>
                <a:latin typeface="Segoe UI Semibold"/>
              </a:rPr>
              <a:t>SF5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8096" y="2953512"/>
            <a:ext cx="262432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FFFFFF"/>
                </a:solidFill>
                <a:latin typeface="Segoe UI Semibold"/>
              </a:rPr>
              <a:t>Auto-stop at fracture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68096" y="3227832"/>
            <a:ext cx="262432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819" b="0" i="0">
                <a:solidFill>
                  <a:srgbClr val="C9D2D4"/>
                </a:solidFill>
                <a:latin typeface="Segoe UI"/>
              </a:rPr>
              <a:t>sees the load collapse and halts the motor itself — no hand on the stop button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319272" y="2679192"/>
            <a:ext cx="2898648" cy="987552"/>
          </a:xfrm>
          <a:prstGeom prst="rect">
            <a:avLst/>
          </a:prstGeom>
          <a:solidFill>
            <a:srgbClr val="253439"/>
          </a:solidFill>
          <a:ln w="17780">
            <a:solidFill>
              <a:srgbClr val="B29E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465576" y="2761488"/>
            <a:ext cx="26243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B29E84"/>
                </a:solidFill>
                <a:latin typeface="Segoe UI Semibold"/>
              </a:rPr>
              <a:t>SF6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465576" y="2953512"/>
            <a:ext cx="262432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FFFFFF"/>
                </a:solidFill>
                <a:latin typeface="Segoe UI Semibold"/>
              </a:rPr>
              <a:t>Strain-rate control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465576" y="3227832"/>
            <a:ext cx="262432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819" b="0" i="0">
                <a:solidFill>
                  <a:srgbClr val="C9D2D4"/>
                </a:solidFill>
                <a:latin typeface="Segoe UI"/>
              </a:rPr>
              <a:t>closes the loop on measured strain rate, not motor speed — constant dε/dt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172200" y="2798064"/>
            <a:ext cx="2587752" cy="749808"/>
          </a:xfrm>
          <a:prstGeom prst="rect">
            <a:avLst/>
          </a:prstGeom>
          <a:solidFill>
            <a:srgbClr val="F6F4F1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00216" y="2889504"/>
            <a:ext cx="2331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DEDAD2"/>
                </a:solidFill>
                <a:latin typeface="Segoe UI Semibold"/>
              </a:rPr>
              <a:t>SF7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00216" y="3090672"/>
            <a:ext cx="23317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DEDAD2"/>
                </a:solidFill>
                <a:latin typeface="Segoe UI"/>
              </a:rPr>
              <a:t>Stall guard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869680" y="2798064"/>
            <a:ext cx="2587752" cy="749808"/>
          </a:xfrm>
          <a:prstGeom prst="rect">
            <a:avLst/>
          </a:prstGeom>
          <a:solidFill>
            <a:srgbClr val="F6F4F1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997696" y="2889504"/>
            <a:ext cx="2331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DEDAD2"/>
                </a:solidFill>
                <a:latin typeface="Segoe UI Semibold"/>
              </a:rPr>
              <a:t>SF8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97696" y="3090672"/>
            <a:ext cx="23317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DEDAD2"/>
                </a:solidFill>
                <a:latin typeface="Segoe UI"/>
              </a:rPr>
              <a:t>Release load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77240" y="3675887"/>
            <a:ext cx="2587752" cy="749808"/>
          </a:xfrm>
          <a:prstGeom prst="rect">
            <a:avLst/>
          </a:prstGeom>
          <a:solidFill>
            <a:srgbClr val="F6F4F1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05256" y="3767327"/>
            <a:ext cx="2331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DEDAD2"/>
                </a:solidFill>
                <a:latin typeface="Segoe UI Semibold"/>
              </a:rPr>
              <a:t>SF9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05256" y="3968496"/>
            <a:ext cx="23317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DEDAD2"/>
                </a:solidFill>
                <a:latin typeface="Segoe UI"/>
              </a:rPr>
              <a:t>6 test protocols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474720" y="3675887"/>
            <a:ext cx="2587752" cy="749808"/>
          </a:xfrm>
          <a:prstGeom prst="rect">
            <a:avLst/>
          </a:prstGeom>
          <a:solidFill>
            <a:srgbClr val="F6F4F1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02736" y="3767327"/>
            <a:ext cx="2331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DEDAD2"/>
                </a:solidFill>
                <a:latin typeface="Segoe UI Semibold"/>
              </a:rPr>
              <a:t>SF10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602736" y="3968496"/>
            <a:ext cx="23317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DEDAD2"/>
                </a:solidFill>
                <a:latin typeface="Segoe UI"/>
              </a:rPr>
              <a:t>Auto-preload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172200" y="3675887"/>
            <a:ext cx="2587752" cy="749808"/>
          </a:xfrm>
          <a:prstGeom prst="rect">
            <a:avLst/>
          </a:prstGeom>
          <a:solidFill>
            <a:srgbClr val="F6F4F1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300216" y="3767327"/>
            <a:ext cx="2331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DEDAD2"/>
                </a:solidFill>
                <a:latin typeface="Segoe UI Semibold"/>
              </a:rPr>
              <a:t>SF11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300216" y="3968496"/>
            <a:ext cx="23317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DEDAD2"/>
                </a:solidFill>
                <a:latin typeface="Segoe UI"/>
              </a:rPr>
              <a:t>Auto-metadata link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869680" y="3675887"/>
            <a:ext cx="2587752" cy="749808"/>
          </a:xfrm>
          <a:prstGeom prst="rect">
            <a:avLst/>
          </a:prstGeom>
          <a:solidFill>
            <a:srgbClr val="F6F4F1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997696" y="3767327"/>
            <a:ext cx="2331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DEDAD2"/>
                </a:solidFill>
                <a:latin typeface="Segoe UI Semibold"/>
              </a:rPr>
              <a:t>SF12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997696" y="3968496"/>
            <a:ext cx="23317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DEDAD2"/>
                </a:solidFill>
                <a:latin typeface="Segoe UI"/>
              </a:rPr>
              <a:t>DIC auto-calibrate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77240" y="4553712"/>
            <a:ext cx="2587752" cy="749808"/>
          </a:xfrm>
          <a:prstGeom prst="rect">
            <a:avLst/>
          </a:prstGeom>
          <a:solidFill>
            <a:srgbClr val="F6F4F1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05256" y="4645152"/>
            <a:ext cx="2331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DEDAD2"/>
                </a:solidFill>
                <a:latin typeface="Segoe UI Semibold"/>
              </a:rPr>
              <a:t>SF13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05256" y="4846320"/>
            <a:ext cx="23317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DEDAD2"/>
                </a:solidFill>
                <a:latin typeface="Segoe UI"/>
              </a:rPr>
              <a:t>Guided wizard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474720" y="4553712"/>
            <a:ext cx="2587752" cy="749808"/>
          </a:xfrm>
          <a:prstGeom prst="rect">
            <a:avLst/>
          </a:prstGeom>
          <a:solidFill>
            <a:srgbClr val="F6F4F1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602736" y="4645152"/>
            <a:ext cx="2331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DEDAD2"/>
                </a:solidFill>
                <a:latin typeface="Segoe UI Semibold"/>
              </a:rPr>
              <a:t>SF14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602736" y="4846320"/>
            <a:ext cx="23317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DEDAD2"/>
                </a:solidFill>
                <a:latin typeface="Segoe UI"/>
              </a:rPr>
              <a:t>Test registry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172200" y="4553712"/>
            <a:ext cx="2587752" cy="749808"/>
          </a:xfrm>
          <a:prstGeom prst="rect">
            <a:avLst/>
          </a:prstGeom>
          <a:solidFill>
            <a:srgbClr val="F6F4F1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300216" y="4645152"/>
            <a:ext cx="2331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DEDAD2"/>
                </a:solidFill>
                <a:latin typeface="Segoe UI Semibold"/>
              </a:rPr>
              <a:t>SF15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300216" y="4846320"/>
            <a:ext cx="23317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DEDAD2"/>
                </a:solidFill>
                <a:latin typeface="Segoe UI"/>
              </a:rPr>
              <a:t>Dead-DIC guard</a:t>
            </a:r>
          </a:p>
        </p:txBody>
      </p:sp>
      <p:sp>
        <p:nvSpPr>
          <p:cNvPr id="63" name="Rectangle 62"/>
          <p:cNvSpPr/>
          <p:nvPr/>
        </p:nvSpPr>
        <p:spPr>
          <a:xfrm>
            <a:off x="8869680" y="4553712"/>
            <a:ext cx="2587752" cy="749808"/>
          </a:xfrm>
          <a:prstGeom prst="rect">
            <a:avLst/>
          </a:prstGeom>
          <a:solidFill>
            <a:srgbClr val="F6F4F1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997696" y="4645152"/>
            <a:ext cx="2331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DEDAD2"/>
                </a:solidFill>
                <a:latin typeface="Segoe UI Semibold"/>
              </a:rPr>
              <a:t>SF16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997696" y="4846320"/>
            <a:ext cx="23317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DEDAD2"/>
                </a:solidFill>
                <a:latin typeface="Segoe UI"/>
              </a:rPr>
              <a:t>Live Px₀ overlay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77240" y="5431536"/>
            <a:ext cx="2587752" cy="749808"/>
          </a:xfrm>
          <a:prstGeom prst="rect">
            <a:avLst/>
          </a:prstGeom>
          <a:solidFill>
            <a:srgbClr val="F6F4F1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05256" y="5522975"/>
            <a:ext cx="2331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DEDAD2"/>
                </a:solidFill>
                <a:latin typeface="Segoe UI Semibold"/>
              </a:rPr>
              <a:t>SF17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05256" y="5724144"/>
            <a:ext cx="23317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DEDAD2"/>
                </a:solidFill>
                <a:latin typeface="Segoe UI"/>
              </a:rPr>
              <a:t>Video + stills capture</a:t>
            </a:r>
          </a:p>
        </p:txBody>
      </p:sp>
      <p:sp>
        <p:nvSpPr>
          <p:cNvPr id="69" name="Rectangle 68"/>
          <p:cNvSpPr/>
          <p:nvPr/>
        </p:nvSpPr>
        <p:spPr>
          <a:xfrm>
            <a:off x="3319272" y="5312664"/>
            <a:ext cx="2898648" cy="987552"/>
          </a:xfrm>
          <a:prstGeom prst="rect">
            <a:avLst/>
          </a:prstGeom>
          <a:solidFill>
            <a:srgbClr val="253439"/>
          </a:solidFill>
          <a:ln w="17780">
            <a:solidFill>
              <a:srgbClr val="B29E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3465576" y="5394959"/>
            <a:ext cx="26243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B29E84"/>
                </a:solidFill>
                <a:latin typeface="Segoe UI Semibold"/>
              </a:rPr>
              <a:t>SF18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465576" y="5586983"/>
            <a:ext cx="262432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FFFFFF"/>
                </a:solidFill>
                <a:latin typeface="Segoe UI Semibold"/>
              </a:rPr>
              <a:t>DIC post-processing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465576" y="5861303"/>
            <a:ext cx="262432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819" b="0" i="0">
                <a:solidFill>
                  <a:srgbClr val="C9D2D4"/>
                </a:solidFill>
                <a:latin typeface="Segoe UI"/>
              </a:rPr>
              <a:t>re-measures ANY recorded video — it is how the commercial lab's test got audited</a:t>
            </a:r>
          </a:p>
        </p:txBody>
      </p:sp>
      <p:sp>
        <p:nvSpPr>
          <p:cNvPr id="73" name="Rectangle 72"/>
          <p:cNvSpPr/>
          <p:nvPr/>
        </p:nvSpPr>
        <p:spPr>
          <a:xfrm>
            <a:off x="6172200" y="5431536"/>
            <a:ext cx="2587752" cy="749808"/>
          </a:xfrm>
          <a:prstGeom prst="rect">
            <a:avLst/>
          </a:prstGeom>
          <a:solidFill>
            <a:srgbClr val="F6F4F1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300216" y="5522975"/>
            <a:ext cx="2331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DEDAD2"/>
                </a:solidFill>
                <a:latin typeface="Segoe UI Semibold"/>
              </a:rPr>
              <a:t>SF19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300216" y="5724144"/>
            <a:ext cx="23317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DEDAD2"/>
                </a:solidFill>
                <a:latin typeface="Segoe UI"/>
              </a:rPr>
              <a:t>Noise capture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77240" y="640080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253439"/>
                </a:solidFill>
                <a:latin typeface="Segoe UI Semibold"/>
              </a:rPr>
              <a:t>SF5 protects the specimen · SF6 makes tests comparable · SF18 made the validation possible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932688"/>
          </a:xfrm>
          <a:prstGeom prst="rect">
            <a:avLst/>
          </a:prstGeom>
          <a:solidFill>
            <a:srgbClr val="253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42415"/>
            <a:ext cx="146304" cy="5815584"/>
          </a:xfrm>
          <a:prstGeom prst="rect">
            <a:avLst/>
          </a:prstGeom>
          <a:solidFill>
            <a:srgbClr val="7C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ju_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624" y="256032"/>
            <a:ext cx="905256" cy="402336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11265408" y="347472"/>
            <a:ext cx="118872" cy="118872"/>
          </a:xfrm>
          <a:prstGeom prst="rect">
            <a:avLst/>
          </a:prstGeom>
          <a:solidFill>
            <a:srgbClr val="253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89436" y="347472"/>
            <a:ext cx="118872" cy="118872"/>
          </a:xfrm>
          <a:prstGeom prst="rect">
            <a:avLst/>
          </a:prstGeom>
          <a:solidFill>
            <a:srgbClr val="B29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713464" y="347472"/>
            <a:ext cx="118872" cy="118872"/>
          </a:xfrm>
          <a:prstGeom prst="rect">
            <a:avLst/>
          </a:prstGeom>
          <a:solidFill>
            <a:srgbClr val="7C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786384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B29E84"/>
                </a:solidFill>
                <a:latin typeface="Segoe UI Semibold"/>
              </a:rPr>
              <a:t>03 · LIVE DEMO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1005840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0" i="0">
                <a:solidFill>
                  <a:srgbClr val="253439"/>
                </a:solidFill>
                <a:latin typeface="Segoe UI Light"/>
              </a:rPr>
              <a:t>Three materials, three behaviours — then the real thing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1591056"/>
            <a:ext cx="855878" cy="50292"/>
          </a:xfrm>
          <a:prstGeom prst="rect">
            <a:avLst/>
          </a:prstGeom>
          <a:solidFill>
            <a:srgbClr val="253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633118" y="1591056"/>
            <a:ext cx="427939" cy="50292"/>
          </a:xfrm>
          <a:prstGeom prst="rect">
            <a:avLst/>
          </a:prstGeom>
          <a:solidFill>
            <a:srgbClr val="B29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061057" y="1591056"/>
            <a:ext cx="2008022" cy="50292"/>
          </a:xfrm>
          <a:prstGeom prst="rect">
            <a:avLst/>
          </a:prstGeom>
          <a:solidFill>
            <a:srgbClr val="7C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 rot="16200000">
            <a:off x="10625328" y="3310128"/>
            <a:ext cx="2743200" cy="31089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7C898B"/>
                </a:solidFill>
                <a:latin typeface="Segoe UI Semibold"/>
              </a:rPr>
              <a:t>LIVE DEMO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75720" y="6473952"/>
            <a:ext cx="5669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7C898B"/>
                </a:solidFill>
                <a:latin typeface="Segoe UI Semibold"/>
              </a:rPr>
              <a:t>07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1810512"/>
            <a:ext cx="8549640" cy="1408176"/>
          </a:xfrm>
          <a:prstGeom prst="rect">
            <a:avLst/>
          </a:prstGeom>
          <a:solidFill>
            <a:srgbClr val="FFFFFF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demo_pla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859536" y="1851660"/>
            <a:ext cx="8385048" cy="1325880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777240" y="1805940"/>
            <a:ext cx="903427" cy="274320"/>
          </a:xfrm>
          <a:prstGeom prst="rect">
            <a:avLst/>
          </a:prstGeom>
          <a:solidFill>
            <a:srgbClr val="253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none"/>
          <a:lstStyle/>
          <a:p>
            <a:pPr algn="ctr"/>
            <a:r>
              <a:rPr sz="900">
                <a:solidFill>
                  <a:srgbClr val="FFFFFF"/>
                </a:solidFill>
                <a:latin typeface="Segoe UI Semibold"/>
              </a:rPr>
              <a:t>PLA — S13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64040" y="2029967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253439"/>
                </a:solidFill>
                <a:latin typeface="Segoe UI Semibold"/>
              </a:rPr>
              <a:t>PLA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64040" y="2340864"/>
            <a:ext cx="23774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7C898B"/>
                </a:solidFill>
                <a:latin typeface="Segoe UI"/>
              </a:rPr>
              <a:t>black PLA · fractures at ~4 % strain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" y="3314700"/>
            <a:ext cx="8549640" cy="1408176"/>
          </a:xfrm>
          <a:prstGeom prst="rect">
            <a:avLst/>
          </a:prstGeom>
          <a:solidFill>
            <a:srgbClr val="FFFFFF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demo_petg.mp4">
            <a:hlinkClick r:id="" action="ppaction://media"/>
          </p:cNvPr>
          <p:cNvPicPr>
            <a:picLocks noChangeAspect="1"/>
          </p:cNvPicPr>
          <p:nvPr>
            <a:videoFile r:link="rId7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8"/>
          <a:stretch>
            <a:fillRect/>
          </a:stretch>
        </p:blipFill>
        <p:spPr>
          <a:xfrm>
            <a:off x="859536" y="3355848"/>
            <a:ext cx="8385048" cy="1325880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777240" y="3310128"/>
            <a:ext cx="987551" cy="274320"/>
          </a:xfrm>
          <a:prstGeom prst="rect">
            <a:avLst/>
          </a:prstGeom>
          <a:solidFill>
            <a:srgbClr val="253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none"/>
          <a:lstStyle/>
          <a:p>
            <a:pPr algn="ctr"/>
            <a:r>
              <a:rPr sz="900">
                <a:solidFill>
                  <a:srgbClr val="FFFFFF"/>
                </a:solidFill>
                <a:latin typeface="Segoe UI Semibold"/>
              </a:rPr>
              <a:t>PETG — S30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64040" y="3534156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253439"/>
                </a:solidFill>
                <a:latin typeface="Segoe UI Semibold"/>
              </a:rPr>
              <a:t>PETG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64040" y="3845052"/>
            <a:ext cx="23774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7C898B"/>
                </a:solidFill>
                <a:latin typeface="Segoe UI"/>
              </a:rPr>
              <a:t>glossier, more ductile · ~8 % at fracture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77240" y="4818888"/>
            <a:ext cx="8549640" cy="1408176"/>
          </a:xfrm>
          <a:prstGeom prst="rect">
            <a:avLst/>
          </a:prstGeom>
          <a:solidFill>
            <a:srgbClr val="FFFFFF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demo_tpu.mp4">
            <a:hlinkClick r:id="" action="ppaction://media"/>
          </p:cNvPr>
          <p:cNvPicPr>
            <a:picLocks noChangeAspect="1"/>
          </p:cNvPicPr>
          <p:nvPr>
            <a:videoFile r:link="rId10"/>
            <p:extLst>
              <p:ext uri="{DAA4B4D4-6D71-4841-9C94-3DE7FCFB9230}">
                <p14:media xmlns:p14="http://schemas.microsoft.com/office/powerpoint/2010/main" r:embed="rId9"/>
              </p:ext>
            </p:extLst>
          </p:nvPr>
        </p:nvPicPr>
        <p:blipFill>
          <a:blip r:embed="rId11"/>
          <a:stretch>
            <a:fillRect/>
          </a:stretch>
        </p:blipFill>
        <p:spPr>
          <a:xfrm>
            <a:off x="859536" y="4860036"/>
            <a:ext cx="8385048" cy="1325880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777240" y="4814316"/>
            <a:ext cx="903427" cy="274320"/>
          </a:xfrm>
          <a:prstGeom prst="rect">
            <a:avLst/>
          </a:prstGeom>
          <a:solidFill>
            <a:srgbClr val="253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none"/>
          <a:lstStyle/>
          <a:p>
            <a:pPr algn="ctr"/>
            <a:r>
              <a:rPr sz="900">
                <a:solidFill>
                  <a:srgbClr val="FFFFFF"/>
                </a:solidFill>
                <a:latin typeface="Segoe UI Semibold"/>
              </a:rPr>
              <a:t>TPU — S35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64040" y="5038344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253439"/>
                </a:solidFill>
                <a:latin typeface="Segoe UI Semibold"/>
              </a:rPr>
              <a:t>TPU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64040" y="5349240"/>
            <a:ext cx="23774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7C898B"/>
                </a:solidFill>
                <a:latin typeface="Segoe UI"/>
              </a:rPr>
              <a:t>rubber-like · leaves the frame before it fractures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6373368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7C898B"/>
                </a:solidFill>
                <a:latin typeface="Segoe UI"/>
              </a:rPr>
              <a:t>15-second timelapses of real pulls on this rig (click to play) — then we switch to the live software and break one for real.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17"/>
                </p:tgtEl>
              </p:cMediaNode>
            </p:video>
            <p:video>
              <p:cMediaNode vol="80000">
                <p:cTn id="3" fill="hold" display="0">
                  <p:stCondLst>
                    <p:cond delay="indefinite"/>
                  </p:stCondLst>
                </p:cTn>
                <p:tgtEl>
                  <p:spTgt spid="22"/>
                </p:tgtEl>
              </p:cMediaNode>
            </p:video>
            <p:video>
              <p:cMediaNode vol="80000">
                <p:cTn id="4" fill="hold" display="0">
                  <p:stCondLst>
                    <p:cond delay="indefinite"/>
                  </p:stCondLst>
                </p:cTn>
                <p:tgtEl>
                  <p:spTgt spid="27"/>
                </p:tgtEl>
              </p:cMediaNode>
            </p:video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932688"/>
          </a:xfrm>
          <a:prstGeom prst="rect">
            <a:avLst/>
          </a:prstGeom>
          <a:solidFill>
            <a:srgbClr val="253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42415"/>
            <a:ext cx="146304" cy="5815584"/>
          </a:xfrm>
          <a:prstGeom prst="rect">
            <a:avLst/>
          </a:prstGeom>
          <a:solidFill>
            <a:srgbClr val="7C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ju_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624" y="256032"/>
            <a:ext cx="905256" cy="402336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11265408" y="347472"/>
            <a:ext cx="118872" cy="118872"/>
          </a:xfrm>
          <a:prstGeom prst="rect">
            <a:avLst/>
          </a:prstGeom>
          <a:solidFill>
            <a:srgbClr val="253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89436" y="347472"/>
            <a:ext cx="118872" cy="118872"/>
          </a:xfrm>
          <a:prstGeom prst="rect">
            <a:avLst/>
          </a:prstGeom>
          <a:solidFill>
            <a:srgbClr val="B29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713464" y="347472"/>
            <a:ext cx="118872" cy="118872"/>
          </a:xfrm>
          <a:prstGeom prst="rect">
            <a:avLst/>
          </a:prstGeom>
          <a:solidFill>
            <a:srgbClr val="7C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786384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B29E84"/>
                </a:solidFill>
                <a:latin typeface="Segoe UI Semibold"/>
              </a:rPr>
              <a:t>04 · VALIDATION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1005840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0" i="0">
                <a:solidFill>
                  <a:srgbClr val="253439"/>
                </a:solidFill>
                <a:latin typeface="Segoe UI Light"/>
              </a:rPr>
              <a:t>The same material, through a commercial lab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1591056"/>
            <a:ext cx="855878" cy="50292"/>
          </a:xfrm>
          <a:prstGeom prst="rect">
            <a:avLst/>
          </a:prstGeom>
          <a:solidFill>
            <a:srgbClr val="253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633118" y="1591056"/>
            <a:ext cx="427939" cy="50292"/>
          </a:xfrm>
          <a:prstGeom prst="rect">
            <a:avLst/>
          </a:prstGeom>
          <a:solidFill>
            <a:srgbClr val="B29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061057" y="1591056"/>
            <a:ext cx="2008022" cy="50292"/>
          </a:xfrm>
          <a:prstGeom prst="rect">
            <a:avLst/>
          </a:prstGeom>
          <a:solidFill>
            <a:srgbClr val="7C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 rot="16200000">
            <a:off x="10625328" y="3310128"/>
            <a:ext cx="2743200" cy="31089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7C898B"/>
                </a:solidFill>
                <a:latin typeface="Segoe UI Semibold"/>
              </a:rPr>
              <a:t>VALIDATION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75720" y="6473952"/>
            <a:ext cx="5669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7C898B"/>
                </a:solidFill>
                <a:latin typeface="Segoe UI Semibold"/>
              </a:rPr>
              <a:t>08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1874519"/>
            <a:ext cx="5120640" cy="3977639"/>
          </a:xfrm>
          <a:prstGeom prst="rect">
            <a:avLst/>
          </a:prstGeom>
          <a:solidFill>
            <a:srgbClr val="F6F4F1"/>
          </a:solidFill>
          <a:ln w="15240">
            <a:solidFill>
              <a:srgbClr val="7C898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3552444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 i="0">
                <a:solidFill>
                  <a:srgbClr val="7C898B"/>
                </a:solidFill>
                <a:latin typeface="Segoe UI Semibold"/>
              </a:rPr>
              <a:t>MOT LAB PHOTO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3881627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 i="0">
                <a:solidFill>
                  <a:srgbClr val="7C898B"/>
                </a:solidFill>
                <a:latin typeface="Segoe UI"/>
              </a:rPr>
              <a:t>drops in here — machine + XT-205 in view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3640" y="1874519"/>
            <a:ext cx="52120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B29E84"/>
                </a:solidFill>
                <a:latin typeface="Segoe UI Semibold"/>
              </a:rPr>
              <a:t>THE REFERENCE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63640" y="2212848"/>
            <a:ext cx="507492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600"/>
              </a:spcAft>
            </a:pPr>
            <a:r>
              <a:rPr sz="1100" b="1" i="0">
                <a:solidFill>
                  <a:srgbClr val="B29E84"/>
                </a:solidFill>
                <a:latin typeface="Segoe UI"/>
              </a:rPr>
              <a:t>▪  </a:t>
            </a:r>
            <a:r>
              <a:rPr sz="1100" b="1" i="0">
                <a:solidFill>
                  <a:srgbClr val="253439"/>
                </a:solidFill>
                <a:latin typeface="Segoe UI"/>
              </a:rPr>
              <a:t>MOT materials lab — commercial tensile frame</a:t>
            </a:r>
          </a:p>
          <a:p>
            <a:pPr algn="l">
              <a:lnSpc>
                <a:spcPct val="104000"/>
              </a:lnSpc>
              <a:spcAft>
                <a:spcPts val="600"/>
              </a:spcAft>
            </a:pPr>
            <a:r>
              <a:rPr sz="1100" b="1" i="0">
                <a:solidFill>
                  <a:srgbClr val="B29E84"/>
                </a:solidFill>
                <a:latin typeface="Segoe UI"/>
              </a:rPr>
              <a:t>▪  </a:t>
            </a:r>
            <a:r>
              <a:rPr sz="1100" b="0" i="0">
                <a:solidFill>
                  <a:srgbClr val="253439"/>
                </a:solidFill>
                <a:latin typeface="Segoe UI"/>
              </a:rPr>
              <a:t>XT-205 video extensometer: a camera that tracks two painted marks — the same principle as our DIC, in certified form</a:t>
            </a:r>
          </a:p>
          <a:p>
            <a:pPr algn="l">
              <a:lnSpc>
                <a:spcPct val="104000"/>
              </a:lnSpc>
              <a:spcAft>
                <a:spcPts val="600"/>
              </a:spcAft>
            </a:pPr>
            <a:r>
              <a:rPr sz="1100" b="1" i="0">
                <a:solidFill>
                  <a:srgbClr val="B29E84"/>
                </a:solidFill>
                <a:latin typeface="Segoe UI"/>
              </a:rPr>
              <a:t>▪  </a:t>
            </a:r>
            <a:r>
              <a:rPr sz="1100" b="0" i="0">
                <a:solidFill>
                  <a:srgbClr val="253439"/>
                </a:solidFill>
                <a:latin typeface="Segoe UI"/>
              </a:rPr>
              <a:t>two specimens from our own print batch: XT205-S1 and XT205-S2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977639"/>
            <a:ext cx="52120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B29E84"/>
                </a:solidFill>
                <a:latin typeface="Segoe UI Semibold"/>
              </a:rPr>
              <a:t>TEST CONDITIONS · XT205-S2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63640" y="4315968"/>
            <a:ext cx="1071676" cy="274320"/>
          </a:xfrm>
          <a:prstGeom prst="rect">
            <a:avLst/>
          </a:prstGeom>
          <a:solidFill>
            <a:srgbClr val="7C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none"/>
          <a:lstStyle/>
          <a:p>
            <a:pPr algn="ctr"/>
            <a:r>
              <a:rPr sz="1000">
                <a:solidFill>
                  <a:srgbClr val="FFFFFF"/>
                </a:solidFill>
                <a:latin typeface="Segoe UI Semibold"/>
              </a:rPr>
              <a:t>45 mm gauge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863840" y="4315968"/>
            <a:ext cx="819302" cy="274320"/>
          </a:xfrm>
          <a:prstGeom prst="rect">
            <a:avLst/>
          </a:prstGeom>
          <a:solidFill>
            <a:srgbClr val="7C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none"/>
          <a:lstStyle/>
          <a:p>
            <a:pPr algn="ctr"/>
            <a:r>
              <a:rPr sz="1000">
                <a:solidFill>
                  <a:srgbClr val="FFFFFF"/>
                </a:solidFill>
                <a:latin typeface="Segoe UI Semibold"/>
              </a:rPr>
              <a:t>2 mm/min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464040" y="4315968"/>
            <a:ext cx="1239926" cy="274320"/>
          </a:xfrm>
          <a:prstGeom prst="rect">
            <a:avLst/>
          </a:prstGeom>
          <a:solidFill>
            <a:srgbClr val="7C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none"/>
          <a:lstStyle/>
          <a:p>
            <a:pPr algn="ctr"/>
            <a:r>
              <a:rPr sz="1000">
                <a:solidFill>
                  <a:srgbClr val="FFFFFF"/>
                </a:solidFill>
                <a:latin typeface="Segoe UI Semibold"/>
              </a:rPr>
              <a:t>300 N preload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3640" y="4846320"/>
            <a:ext cx="50749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600"/>
              </a:spcAft>
            </a:pPr>
            <a:r>
              <a:rPr sz="1100" b="1" i="0">
                <a:solidFill>
                  <a:srgbClr val="B29E84"/>
                </a:solidFill>
                <a:latin typeface="Segoe UI"/>
              </a:rPr>
              <a:t>▪  </a:t>
            </a:r>
            <a:r>
              <a:rPr sz="1100" b="0" i="0">
                <a:solidFill>
                  <a:srgbClr val="253439"/>
                </a:solidFill>
                <a:latin typeface="Segoe UI"/>
              </a:rPr>
              <a:t>same stress-strain quantities, computed two independent ways</a:t>
            </a:r>
          </a:p>
          <a:p>
            <a:pPr algn="l">
              <a:lnSpc>
                <a:spcPct val="104000"/>
              </a:lnSpc>
              <a:spcAft>
                <a:spcPts val="600"/>
              </a:spcAft>
            </a:pPr>
            <a:r>
              <a:rPr sz="1100" b="1" i="0">
                <a:solidFill>
                  <a:srgbClr val="B29E84"/>
                </a:solidFill>
                <a:latin typeface="Segoe UI"/>
              </a:rPr>
              <a:t>▪  </a:t>
            </a:r>
            <a:r>
              <a:rPr sz="1100" b="0" i="0">
                <a:solidFill>
                  <a:srgbClr val="253439"/>
                </a:solidFill>
                <a:latin typeface="Segoe UI"/>
              </a:rPr>
              <a:t>and their raw video, re-measured by OUR post-processor (SF18)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932688"/>
          </a:xfrm>
          <a:prstGeom prst="rect">
            <a:avLst/>
          </a:prstGeom>
          <a:solidFill>
            <a:srgbClr val="253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42415"/>
            <a:ext cx="146304" cy="5815584"/>
          </a:xfrm>
          <a:prstGeom prst="rect">
            <a:avLst/>
          </a:prstGeom>
          <a:solidFill>
            <a:srgbClr val="7C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ju_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624" y="256032"/>
            <a:ext cx="905256" cy="402336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11265408" y="347472"/>
            <a:ext cx="118872" cy="118872"/>
          </a:xfrm>
          <a:prstGeom prst="rect">
            <a:avLst/>
          </a:prstGeom>
          <a:solidFill>
            <a:srgbClr val="253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89436" y="347472"/>
            <a:ext cx="118872" cy="118872"/>
          </a:xfrm>
          <a:prstGeom prst="rect">
            <a:avLst/>
          </a:prstGeom>
          <a:solidFill>
            <a:srgbClr val="B29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713464" y="347472"/>
            <a:ext cx="118872" cy="118872"/>
          </a:xfrm>
          <a:prstGeom prst="rect">
            <a:avLst/>
          </a:prstGeom>
          <a:solidFill>
            <a:srgbClr val="7C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786384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B29E84"/>
                </a:solidFill>
                <a:latin typeface="Segoe UI Semibold"/>
              </a:rPr>
              <a:t>04 · VALIDATION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1005840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0" i="0">
                <a:solidFill>
                  <a:srgbClr val="253439"/>
                </a:solidFill>
                <a:latin typeface="Segoe UI Light"/>
              </a:rPr>
              <a:t>Two rigs, one material — the curves land together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1591056"/>
            <a:ext cx="855878" cy="50292"/>
          </a:xfrm>
          <a:prstGeom prst="rect">
            <a:avLst/>
          </a:prstGeom>
          <a:solidFill>
            <a:srgbClr val="253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633118" y="1591056"/>
            <a:ext cx="427939" cy="50292"/>
          </a:xfrm>
          <a:prstGeom prst="rect">
            <a:avLst/>
          </a:prstGeom>
          <a:solidFill>
            <a:srgbClr val="B29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061057" y="1591056"/>
            <a:ext cx="2008022" cy="50292"/>
          </a:xfrm>
          <a:prstGeom prst="rect">
            <a:avLst/>
          </a:prstGeom>
          <a:solidFill>
            <a:srgbClr val="7C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 rot="16200000">
            <a:off x="10625328" y="3310128"/>
            <a:ext cx="2743200" cy="31089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7C898B"/>
                </a:solidFill>
                <a:latin typeface="Segoe UI Semibold"/>
              </a:rPr>
              <a:t>VALIDATION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75720" y="6473952"/>
            <a:ext cx="5669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7C898B"/>
                </a:solidFill>
                <a:latin typeface="Segoe UI Semibold"/>
              </a:rPr>
              <a:t>09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1847088"/>
            <a:ext cx="6812280" cy="4480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mot2cmp_pai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79" y="2061443"/>
            <a:ext cx="6629400" cy="405185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818120" y="1847088"/>
            <a:ext cx="35661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B29E84"/>
                </a:solidFill>
                <a:latin typeface="Segoe UI Semibold"/>
              </a:rPr>
              <a:t>S34 (PPD-UTM)  /  XT205-S2 (MOT)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818120" y="2194560"/>
            <a:ext cx="3566160" cy="484632"/>
          </a:xfrm>
          <a:prstGeom prst="rect">
            <a:avLst/>
          </a:prstGeom>
          <a:solidFill>
            <a:srgbClr val="FFFFFF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73568" y="2276856"/>
            <a:ext cx="1234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253439"/>
                </a:solidFill>
                <a:latin typeface="Segoe UI Semibold"/>
              </a:rPr>
              <a:t>UTS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98280" y="2295144"/>
            <a:ext cx="1600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7C898B"/>
                </a:solidFill>
                <a:latin typeface="Segoe UI"/>
              </a:rPr>
              <a:t>48.34 / 44.62 MPa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52760" y="2267712"/>
            <a:ext cx="6583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B29E84"/>
                </a:solidFill>
                <a:latin typeface="Segoe UI Semibold"/>
              </a:rPr>
              <a:t>−7.7 %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818120" y="2761488"/>
            <a:ext cx="3566160" cy="484632"/>
          </a:xfrm>
          <a:prstGeom prst="rect">
            <a:avLst/>
          </a:prstGeom>
          <a:solidFill>
            <a:srgbClr val="FFFFFF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973568" y="2843784"/>
            <a:ext cx="1234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253439"/>
                </a:solidFill>
                <a:latin typeface="Segoe UI Semibold"/>
              </a:rPr>
              <a:t>Yield σy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98280" y="2862072"/>
            <a:ext cx="1600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7C898B"/>
                </a:solidFill>
                <a:latin typeface="Segoe UI"/>
              </a:rPr>
              <a:t>39.23 / 39.61 MPa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52760" y="2834640"/>
            <a:ext cx="6583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253439"/>
                </a:solidFill>
                <a:latin typeface="Segoe UI Semibold"/>
              </a:rPr>
              <a:t>+1.0 %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818120" y="3328415"/>
            <a:ext cx="3566160" cy="484632"/>
          </a:xfrm>
          <a:prstGeom prst="rect">
            <a:avLst/>
          </a:prstGeom>
          <a:solidFill>
            <a:srgbClr val="FFFFFF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73568" y="3410711"/>
            <a:ext cx="1234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253439"/>
                </a:solidFill>
                <a:latin typeface="Segoe UI Semibold"/>
              </a:rPr>
              <a:t>Modulus 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98280" y="3428999"/>
            <a:ext cx="1600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7C898B"/>
                </a:solidFill>
                <a:latin typeface="Segoe UI"/>
              </a:rPr>
              <a:t>3.45 / 3.23 GPa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52760" y="3401568"/>
            <a:ext cx="6583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B29E84"/>
                </a:solidFill>
                <a:latin typeface="Segoe UI Semibold"/>
              </a:rPr>
              <a:t>−6.4 %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818120" y="3895344"/>
            <a:ext cx="3566160" cy="484632"/>
          </a:xfrm>
          <a:prstGeom prst="rect">
            <a:avLst/>
          </a:prstGeom>
          <a:solidFill>
            <a:srgbClr val="FFFFFF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973568" y="3977639"/>
            <a:ext cx="1234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253439"/>
                </a:solidFill>
                <a:latin typeface="Segoe UI Semibold"/>
              </a:rPr>
              <a:t>Fracture εf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98280" y="3995928"/>
            <a:ext cx="1600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7C898B"/>
                </a:solidFill>
                <a:latin typeface="Segoe UI"/>
              </a:rPr>
              <a:t>5.25 / 5.21 %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52760" y="3968496"/>
            <a:ext cx="6583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253439"/>
                </a:solidFill>
                <a:latin typeface="Segoe UI Semibold"/>
              </a:rPr>
              <a:t>−0.8 %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818120" y="4709160"/>
            <a:ext cx="361188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500"/>
              </a:spcAft>
            </a:pPr>
            <a:r>
              <a:rPr sz="1000" b="1" i="0">
                <a:solidFill>
                  <a:srgbClr val="B29E84"/>
                </a:solidFill>
                <a:latin typeface="Segoe UI"/>
              </a:rPr>
              <a:t>▪  </a:t>
            </a:r>
            <a:r>
              <a:rPr sz="1000" b="0" i="0">
                <a:solidFill>
                  <a:srgbClr val="253439"/>
                </a:solidFill>
                <a:latin typeface="Segoe UI"/>
              </a:rPr>
              <a:t>strain agrees to 1 % — the DIC is doing its job</a:t>
            </a:r>
          </a:p>
          <a:p>
            <a:pPr algn="l">
              <a:lnSpc>
                <a:spcPct val="104000"/>
              </a:lnSpc>
              <a:spcAft>
                <a:spcPts val="500"/>
              </a:spcAft>
            </a:pPr>
            <a:r>
              <a:rPr sz="1000" b="1" i="0">
                <a:solidFill>
                  <a:srgbClr val="B29E84"/>
                </a:solidFill>
                <a:latin typeface="Segoe UI"/>
              </a:rPr>
              <a:t>▪  </a:t>
            </a:r>
            <a:r>
              <a:rPr sz="1000" b="0" i="0">
                <a:solidFill>
                  <a:srgbClr val="253439"/>
                </a:solidFill>
                <a:latin typeface="Segoe UI"/>
              </a:rPr>
              <a:t>stress gap is real but small — different specimens, different day, 3× pull speed</a:t>
            </a:r>
          </a:p>
          <a:p>
            <a:pPr algn="l">
              <a:lnSpc>
                <a:spcPct val="104000"/>
              </a:lnSpc>
              <a:spcAft>
                <a:spcPts val="500"/>
              </a:spcAft>
            </a:pPr>
            <a:r>
              <a:rPr sz="1000" b="1" i="0">
                <a:solidFill>
                  <a:srgbClr val="B29E84"/>
                </a:solidFill>
                <a:latin typeface="Segoe UI"/>
              </a:rPr>
              <a:t>▪  </a:t>
            </a:r>
            <a:r>
              <a:rPr sz="1000" b="0" i="0">
                <a:solidFill>
                  <a:srgbClr val="253439"/>
                </a:solidFill>
                <a:latin typeface="Segoe UI"/>
              </a:rPr>
              <a:t>shape of the whole curve matches to fracture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932688"/>
          </a:xfrm>
          <a:prstGeom prst="rect">
            <a:avLst/>
          </a:prstGeom>
          <a:solidFill>
            <a:srgbClr val="253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42415"/>
            <a:ext cx="146304" cy="5815584"/>
          </a:xfrm>
          <a:prstGeom prst="rect">
            <a:avLst/>
          </a:prstGeom>
          <a:solidFill>
            <a:srgbClr val="7C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ju_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624" y="256032"/>
            <a:ext cx="905256" cy="402336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11265408" y="347472"/>
            <a:ext cx="118872" cy="118872"/>
          </a:xfrm>
          <a:prstGeom prst="rect">
            <a:avLst/>
          </a:prstGeom>
          <a:solidFill>
            <a:srgbClr val="253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89436" y="347472"/>
            <a:ext cx="118872" cy="118872"/>
          </a:xfrm>
          <a:prstGeom prst="rect">
            <a:avLst/>
          </a:prstGeom>
          <a:solidFill>
            <a:srgbClr val="B29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713464" y="347472"/>
            <a:ext cx="118872" cy="118872"/>
          </a:xfrm>
          <a:prstGeom prst="rect">
            <a:avLst/>
          </a:prstGeom>
          <a:solidFill>
            <a:srgbClr val="7C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786384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B29E84"/>
                </a:solidFill>
                <a:latin typeface="Segoe UI Semibold"/>
              </a:rPr>
              <a:t>04 · VALIDATION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1005840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0" i="0">
                <a:solidFill>
                  <a:srgbClr val="253439"/>
                </a:solidFill>
                <a:latin typeface="Segoe UI Light"/>
              </a:rPr>
              <a:t>Same video, two calculations — one line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1591056"/>
            <a:ext cx="855878" cy="50292"/>
          </a:xfrm>
          <a:prstGeom prst="rect">
            <a:avLst/>
          </a:prstGeom>
          <a:solidFill>
            <a:srgbClr val="253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633118" y="1591056"/>
            <a:ext cx="427939" cy="50292"/>
          </a:xfrm>
          <a:prstGeom prst="rect">
            <a:avLst/>
          </a:prstGeom>
          <a:solidFill>
            <a:srgbClr val="B29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061057" y="1591056"/>
            <a:ext cx="2008022" cy="50292"/>
          </a:xfrm>
          <a:prstGeom prst="rect">
            <a:avLst/>
          </a:prstGeom>
          <a:solidFill>
            <a:srgbClr val="7C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 rot="16200000">
            <a:off x="10625328" y="3310128"/>
            <a:ext cx="2743200" cy="31089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7C898B"/>
                </a:solidFill>
                <a:latin typeface="Segoe UI Semibold"/>
              </a:rPr>
              <a:t>VALIDATION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75720" y="6473952"/>
            <a:ext cx="5669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7C898B"/>
                </a:solidFill>
                <a:latin typeface="Segoe UI Semibold"/>
              </a:rPr>
              <a:t>10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1847088"/>
            <a:ext cx="7452360" cy="4480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mot2pp_agre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2781133"/>
            <a:ext cx="7269480" cy="2612469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8458200" y="1847088"/>
            <a:ext cx="2944368" cy="1389888"/>
          </a:xfrm>
          <a:prstGeom prst="rect">
            <a:avLst/>
          </a:prstGeom>
          <a:solidFill>
            <a:srgbClr val="FFFFFF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458200" y="1847088"/>
            <a:ext cx="64008" cy="1389888"/>
          </a:xfrm>
          <a:prstGeom prst="rect">
            <a:avLst/>
          </a:prstGeom>
          <a:solidFill>
            <a:srgbClr val="B29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68512" y="1965960"/>
            <a:ext cx="26517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0" i="0">
                <a:solidFill>
                  <a:srgbClr val="253439"/>
                </a:solidFill>
                <a:latin typeface="Segoe UI Light"/>
              </a:rPr>
              <a:t>0.99928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68512" y="2505456"/>
            <a:ext cx="2606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253439"/>
                </a:solidFill>
                <a:latin typeface="Segoe UI Semibold"/>
              </a:rPr>
              <a:t>scale — ours vs theirs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68512" y="2779776"/>
            <a:ext cx="26060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C898B"/>
                </a:solidFill>
                <a:latin typeface="Segoe UI"/>
              </a:rPr>
              <a:t>0.072 % from perfect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458200" y="3383280"/>
            <a:ext cx="2944368" cy="1389888"/>
          </a:xfrm>
          <a:prstGeom prst="rect">
            <a:avLst/>
          </a:prstGeom>
          <a:solidFill>
            <a:srgbClr val="FFFFFF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458200" y="3383280"/>
            <a:ext cx="64008" cy="1389888"/>
          </a:xfrm>
          <a:prstGeom prst="rect">
            <a:avLst/>
          </a:prstGeom>
          <a:solidFill>
            <a:srgbClr val="B29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68512" y="3502152"/>
            <a:ext cx="26517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0" i="0">
                <a:solidFill>
                  <a:srgbClr val="253439"/>
                </a:solidFill>
                <a:latin typeface="Segoe UI Light"/>
              </a:rPr>
              <a:t>−55 µε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68512" y="4041648"/>
            <a:ext cx="2606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253439"/>
                </a:solidFill>
                <a:latin typeface="Segoe UI Semibold"/>
              </a:rPr>
              <a:t>constant offset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68512" y="4315968"/>
            <a:ext cx="26060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C898B"/>
                </a:solidFill>
                <a:latin typeface="Segoe UI"/>
              </a:rPr>
              <a:t>= 0.07 px on a 1255 px gauge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458200" y="4919472"/>
            <a:ext cx="2944368" cy="1389888"/>
          </a:xfrm>
          <a:prstGeom prst="rect">
            <a:avLst/>
          </a:prstGeom>
          <a:solidFill>
            <a:srgbClr val="FFFFFF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458200" y="4919472"/>
            <a:ext cx="64008" cy="1389888"/>
          </a:xfrm>
          <a:prstGeom prst="rect">
            <a:avLst/>
          </a:prstGeom>
          <a:solidFill>
            <a:srgbClr val="B29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68512" y="5038344"/>
            <a:ext cx="26517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0" i="0">
                <a:solidFill>
                  <a:srgbClr val="253439"/>
                </a:solidFill>
                <a:latin typeface="Segoe UI Light"/>
              </a:rPr>
              <a:t>0.9999964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68512" y="5577840"/>
            <a:ext cx="2606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253439"/>
                </a:solidFill>
                <a:latin typeface="Segoe UI Semibold"/>
              </a:rPr>
              <a:t>R², 3 153 matched instants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68512" y="5852160"/>
            <a:ext cx="26060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C898B"/>
                </a:solidFill>
                <a:latin typeface="Segoe UI"/>
              </a:rPr>
              <a:t>one video, two independent codes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" y="640080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253439"/>
                </a:solidFill>
                <a:latin typeface="Segoe UI Semibold"/>
              </a:rPr>
              <a:t>The MOT lab's own fracture video, fed through our post-processor: the two strain calculations are the same measurement.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932688"/>
          </a:xfrm>
          <a:prstGeom prst="rect">
            <a:avLst/>
          </a:prstGeom>
          <a:solidFill>
            <a:srgbClr val="253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42415"/>
            <a:ext cx="146304" cy="5815584"/>
          </a:xfrm>
          <a:prstGeom prst="rect">
            <a:avLst/>
          </a:prstGeom>
          <a:solidFill>
            <a:srgbClr val="7C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ju_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624" y="256032"/>
            <a:ext cx="905256" cy="402336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11265408" y="347472"/>
            <a:ext cx="118872" cy="118872"/>
          </a:xfrm>
          <a:prstGeom prst="rect">
            <a:avLst/>
          </a:prstGeom>
          <a:solidFill>
            <a:srgbClr val="253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89436" y="347472"/>
            <a:ext cx="118872" cy="118872"/>
          </a:xfrm>
          <a:prstGeom prst="rect">
            <a:avLst/>
          </a:prstGeom>
          <a:solidFill>
            <a:srgbClr val="B29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713464" y="347472"/>
            <a:ext cx="118872" cy="118872"/>
          </a:xfrm>
          <a:prstGeom prst="rect">
            <a:avLst/>
          </a:prstGeom>
          <a:solidFill>
            <a:srgbClr val="7C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786384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B29E84"/>
                </a:solidFill>
                <a:latin typeface="Segoe UI Semibold"/>
              </a:rPr>
              <a:t>04 · VALIDATION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1005840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0" i="0">
                <a:solidFill>
                  <a:srgbClr val="253439"/>
                </a:solidFill>
                <a:latin typeface="Segoe UI Light"/>
              </a:rPr>
              <a:t>Where the remaining gap comes from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1591056"/>
            <a:ext cx="855878" cy="50292"/>
          </a:xfrm>
          <a:prstGeom prst="rect">
            <a:avLst/>
          </a:prstGeom>
          <a:solidFill>
            <a:srgbClr val="253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633118" y="1591056"/>
            <a:ext cx="427939" cy="50292"/>
          </a:xfrm>
          <a:prstGeom prst="rect">
            <a:avLst/>
          </a:prstGeom>
          <a:solidFill>
            <a:srgbClr val="B29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061057" y="1591056"/>
            <a:ext cx="2008022" cy="50292"/>
          </a:xfrm>
          <a:prstGeom prst="rect">
            <a:avLst/>
          </a:prstGeom>
          <a:solidFill>
            <a:srgbClr val="7C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 rot="16200000">
            <a:off x="10625328" y="3310128"/>
            <a:ext cx="2743200" cy="31089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7C898B"/>
                </a:solidFill>
                <a:latin typeface="Segoe UI Semibold"/>
              </a:rPr>
              <a:t>VALIDATION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75720" y="6473952"/>
            <a:ext cx="5669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7C898B"/>
                </a:solidFill>
                <a:latin typeface="Segoe UI Semibold"/>
              </a:rPr>
              <a:t>11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1920240"/>
            <a:ext cx="3401568" cy="3611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1920240"/>
            <a:ext cx="3401568" cy="82296"/>
          </a:xfrm>
          <a:prstGeom prst="rect">
            <a:avLst/>
          </a:prstGeom>
          <a:solidFill>
            <a:srgbClr val="253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96695" y="2121408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253439"/>
                </a:solidFill>
                <a:latin typeface="Segoe UI Semibold"/>
              </a:rPr>
              <a:t>Pull speed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96695" y="2523744"/>
            <a:ext cx="819302" cy="274320"/>
          </a:xfrm>
          <a:prstGeom prst="rect">
            <a:avLst/>
          </a:prstGeom>
          <a:solidFill>
            <a:srgbClr val="253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none"/>
          <a:lstStyle/>
          <a:p>
            <a:pPr algn="ctr"/>
            <a:r>
              <a:rPr sz="850">
                <a:solidFill>
                  <a:srgbClr val="FFFFFF"/>
                </a:solidFill>
                <a:latin typeface="Segoe UI Semibold"/>
              </a:rPr>
              <a:t>measured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6695" y="2999232"/>
            <a:ext cx="3017520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000" b="1" i="0">
                <a:solidFill>
                  <a:srgbClr val="B29E84"/>
                </a:solidFill>
                <a:latin typeface="Segoe UI"/>
              </a:rPr>
              <a:t>▪  </a:t>
            </a:r>
            <a:r>
              <a:rPr sz="1000" b="0" i="0">
                <a:solidFill>
                  <a:srgbClr val="253439"/>
                </a:solidFill>
                <a:latin typeface="Segoe UI"/>
              </a:rPr>
              <a:t>their pull: 2 mm/min · ours: ≈3× faster</a:t>
            </a:r>
          </a:p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000" b="1" i="0">
                <a:solidFill>
                  <a:srgbClr val="B29E84"/>
                </a:solidFill>
                <a:latin typeface="Segoe UI"/>
              </a:rPr>
              <a:t>▪  </a:t>
            </a:r>
            <a:r>
              <a:rPr sz="1000" b="0" i="0">
                <a:solidFill>
                  <a:srgbClr val="253439"/>
                </a:solidFill>
                <a:latin typeface="Segoe UI"/>
              </a:rPr>
              <a:t>but at the GAUGE the strain-rate ratio is only 1.19×</a:t>
            </a:r>
          </a:p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000" b="1" i="0">
                <a:solidFill>
                  <a:srgbClr val="B29E84"/>
                </a:solidFill>
                <a:latin typeface="Segoe UI"/>
              </a:rPr>
              <a:t>▪  </a:t>
            </a:r>
            <a:r>
              <a:rPr sz="1000" b="0" i="0">
                <a:solidFill>
                  <a:srgbClr val="253439"/>
                </a:solidFill>
                <a:latin typeface="Segoe UI"/>
              </a:rPr>
              <a:t>→ predicts under 1 % of the stress gap — a real effect, not the story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416552" y="1920240"/>
            <a:ext cx="3401568" cy="3611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416552" y="1920240"/>
            <a:ext cx="3401568" cy="82296"/>
          </a:xfrm>
          <a:prstGeom prst="rect">
            <a:avLst/>
          </a:prstGeom>
          <a:solidFill>
            <a:srgbClr val="7C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36008" y="2121408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253439"/>
                </a:solidFill>
                <a:latin typeface="Segoe UI Semibold"/>
              </a:rPr>
              <a:t>Grips &amp; seating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636008" y="2523744"/>
            <a:ext cx="819302" cy="274320"/>
          </a:xfrm>
          <a:prstGeom prst="rect">
            <a:avLst/>
          </a:prstGeom>
          <a:solidFill>
            <a:srgbClr val="253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none"/>
          <a:lstStyle/>
          <a:p>
            <a:pPr algn="ctr"/>
            <a:r>
              <a:rPr sz="850">
                <a:solidFill>
                  <a:srgbClr val="FFFFFF"/>
                </a:solidFill>
                <a:latin typeface="Segoe UI Semibold"/>
              </a:rPr>
              <a:t>measured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36008" y="2999232"/>
            <a:ext cx="3017520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000" b="1" i="0">
                <a:solidFill>
                  <a:srgbClr val="B29E84"/>
                </a:solidFill>
                <a:latin typeface="Segoe UI"/>
              </a:rPr>
              <a:t>▪  </a:t>
            </a:r>
            <a:r>
              <a:rPr sz="1000" b="0" i="0">
                <a:solidFill>
                  <a:srgbClr val="253439"/>
                </a:solidFill>
                <a:latin typeface="Segoe UI"/>
              </a:rPr>
              <a:t>only 21–45 % of crosshead travel reaches the gauge</a:t>
            </a:r>
          </a:p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000" b="1" i="0">
                <a:solidFill>
                  <a:srgbClr val="B29E84"/>
                </a:solidFill>
                <a:latin typeface="Segoe UI"/>
              </a:rPr>
              <a:t>▪  </a:t>
            </a:r>
            <a:r>
              <a:rPr sz="1000" b="0" i="0">
                <a:solidFill>
                  <a:srgbClr val="253439"/>
                </a:solidFill>
                <a:latin typeface="Segoe UI"/>
              </a:rPr>
              <a:t>our four runs cluster at 21 % and 33 % — a joint that either seats or doesn't</a:t>
            </a:r>
          </a:p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000" b="1" i="0">
                <a:solidFill>
                  <a:srgbClr val="B29E84"/>
                </a:solidFill>
                <a:latin typeface="Segoe UI"/>
              </a:rPr>
              <a:t>▪  </a:t>
            </a:r>
            <a:r>
              <a:rPr sz="1000" b="0" i="0">
                <a:solidFill>
                  <a:srgbClr val="253439"/>
                </a:solidFill>
                <a:latin typeface="Segoe UI"/>
              </a:rPr>
              <a:t>→ affects travel-based numbers, never the DIC strain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055864" y="1920240"/>
            <a:ext cx="3401568" cy="3611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055864" y="1920240"/>
            <a:ext cx="3401568" cy="82296"/>
          </a:xfrm>
          <a:prstGeom prst="rect">
            <a:avLst/>
          </a:prstGeom>
          <a:solidFill>
            <a:srgbClr val="B29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75320" y="2121408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253439"/>
                </a:solidFill>
                <a:latin typeface="Segoe UI Semibold"/>
              </a:rPr>
              <a:t>Specimen &amp; moisture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275320" y="2523744"/>
            <a:ext cx="1239926" cy="274320"/>
          </a:xfrm>
          <a:prstGeom prst="rect">
            <a:avLst/>
          </a:prstGeom>
          <a:solidFill>
            <a:srgbClr val="B29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none"/>
          <a:lstStyle/>
          <a:p>
            <a:pPr algn="ctr"/>
            <a:r>
              <a:rPr sz="850">
                <a:solidFill>
                  <a:srgbClr val="FFFFFF"/>
                </a:solidFill>
                <a:latin typeface="Segoe UI Semibold"/>
              </a:rPr>
              <a:t>study pending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75320" y="2999232"/>
            <a:ext cx="3017520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000" b="1" i="0">
                <a:solidFill>
                  <a:srgbClr val="B29E84"/>
                </a:solidFill>
                <a:latin typeface="Segoe UI"/>
              </a:rPr>
              <a:t>▪  </a:t>
            </a:r>
            <a:r>
              <a:rPr sz="1000" b="0" i="0">
                <a:solidFill>
                  <a:srgbClr val="253439"/>
                </a:solidFill>
                <a:latin typeface="Segoe UI"/>
              </a:rPr>
              <a:t>different print batches, weeks apart, unconditioned storage</a:t>
            </a:r>
          </a:p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000" b="1" i="0">
                <a:solidFill>
                  <a:srgbClr val="B29E84"/>
                </a:solidFill>
                <a:latin typeface="Segoe UI"/>
              </a:rPr>
              <a:t>▪  </a:t>
            </a:r>
            <a:r>
              <a:rPr sz="1000" b="0" i="0">
                <a:solidFill>
                  <a:srgbClr val="253439"/>
                </a:solidFill>
                <a:latin typeface="Segoe UI"/>
              </a:rPr>
              <a:t>PLA is hygroscopic — literature review queued</a:t>
            </a:r>
          </a:p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000" b="1" i="0">
                <a:solidFill>
                  <a:srgbClr val="B29E84"/>
                </a:solidFill>
                <a:latin typeface="Segoe UI"/>
              </a:rPr>
              <a:t>▪  </a:t>
            </a:r>
            <a:r>
              <a:rPr sz="1000" b="0" i="0">
                <a:solidFill>
                  <a:srgbClr val="253439"/>
                </a:solidFill>
                <a:latin typeface="Segoe UI"/>
              </a:rPr>
              <a:t>→ explanation lands here once the study is done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5897880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253439"/>
                </a:solidFill>
                <a:latin typeface="Segoe UI Semibold"/>
              </a:rPr>
              <a:t>The honest ranking: seating and specimen dominate; speed is measured and small.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932688"/>
          </a:xfrm>
          <a:prstGeom prst="rect">
            <a:avLst/>
          </a:prstGeom>
          <a:solidFill>
            <a:srgbClr val="253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42415"/>
            <a:ext cx="146304" cy="5815584"/>
          </a:xfrm>
          <a:prstGeom prst="rect">
            <a:avLst/>
          </a:prstGeom>
          <a:solidFill>
            <a:srgbClr val="7C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ju_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624" y="256032"/>
            <a:ext cx="905256" cy="402336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11265408" y="347472"/>
            <a:ext cx="118872" cy="118872"/>
          </a:xfrm>
          <a:prstGeom prst="rect">
            <a:avLst/>
          </a:prstGeom>
          <a:solidFill>
            <a:srgbClr val="253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89436" y="347472"/>
            <a:ext cx="118872" cy="118872"/>
          </a:xfrm>
          <a:prstGeom prst="rect">
            <a:avLst/>
          </a:prstGeom>
          <a:solidFill>
            <a:srgbClr val="B29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713464" y="347472"/>
            <a:ext cx="118872" cy="118872"/>
          </a:xfrm>
          <a:prstGeom prst="rect">
            <a:avLst/>
          </a:prstGeom>
          <a:solidFill>
            <a:srgbClr val="7C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786384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B29E84"/>
                </a:solidFill>
                <a:latin typeface="Segoe UI Semibold"/>
              </a:rPr>
              <a:t>05 · PROCESS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1005840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0" i="0">
                <a:solidFill>
                  <a:srgbClr val="253439"/>
                </a:solidFill>
                <a:latin typeface="Segoe UI Light"/>
              </a:rPr>
              <a:t>Built by one engineer and a coding agent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1591056"/>
            <a:ext cx="855878" cy="50292"/>
          </a:xfrm>
          <a:prstGeom prst="rect">
            <a:avLst/>
          </a:prstGeom>
          <a:solidFill>
            <a:srgbClr val="253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633118" y="1591056"/>
            <a:ext cx="427939" cy="50292"/>
          </a:xfrm>
          <a:prstGeom prst="rect">
            <a:avLst/>
          </a:prstGeom>
          <a:solidFill>
            <a:srgbClr val="B29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061057" y="1591056"/>
            <a:ext cx="2008022" cy="50292"/>
          </a:xfrm>
          <a:prstGeom prst="rect">
            <a:avLst/>
          </a:prstGeom>
          <a:solidFill>
            <a:srgbClr val="7C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 rot="16200000">
            <a:off x="10625328" y="3310128"/>
            <a:ext cx="2743200" cy="31089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7C898B"/>
                </a:solidFill>
                <a:latin typeface="Segoe UI Semibold"/>
              </a:rPr>
              <a:t>PROCESS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75720" y="6473952"/>
            <a:ext cx="5669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7C898B"/>
                </a:solidFill>
                <a:latin typeface="Segoe UI Semibold"/>
              </a:rPr>
              <a:t>12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1920240"/>
            <a:ext cx="4160520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1920240"/>
            <a:ext cx="64008" cy="768096"/>
          </a:xfrm>
          <a:prstGeom prst="rect">
            <a:avLst/>
          </a:prstGeom>
          <a:solidFill>
            <a:srgbClr val="253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87552" y="2011680"/>
            <a:ext cx="1417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253439"/>
                </a:solidFill>
                <a:latin typeface="Segoe UI Semibold"/>
              </a:rPr>
              <a:t>intent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23160" y="2039112"/>
            <a:ext cx="2468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950" b="0" i="0">
                <a:solidFill>
                  <a:srgbClr val="7C898B"/>
                </a:solidFill>
                <a:latin typeface="Segoe UI"/>
              </a:rPr>
              <a:t>“the rig must stop itself at fracture”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6112" y="2615184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7C898B"/>
                </a:solidFill>
                <a:latin typeface="Segoe UI Semibold"/>
              </a:rPr>
              <a:t>↓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" y="2825496"/>
            <a:ext cx="4160520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77240" y="2825496"/>
            <a:ext cx="64008" cy="768096"/>
          </a:xfrm>
          <a:prstGeom prst="rect">
            <a:avLst/>
          </a:prstGeom>
          <a:solidFill>
            <a:srgbClr val="B29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87552" y="2916936"/>
            <a:ext cx="1417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253439"/>
                </a:solidFill>
                <a:latin typeface="Segoe UI Semibold"/>
              </a:rPr>
              <a:t>prompt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23160" y="2944368"/>
            <a:ext cx="2468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950" b="0" i="0">
                <a:solidFill>
                  <a:srgbClr val="7C898B"/>
                </a:solidFill>
                <a:latin typeface="Segoe UI"/>
              </a:rPr>
              <a:t>precise ask + constraints + how to verify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6112" y="3520439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7C898B"/>
                </a:solidFill>
                <a:latin typeface="Segoe UI Semibold"/>
              </a:rPr>
              <a:t>↓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77240" y="3730752"/>
            <a:ext cx="4160520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77240" y="3730752"/>
            <a:ext cx="64008" cy="768096"/>
          </a:xfrm>
          <a:prstGeom prst="rect">
            <a:avLst/>
          </a:prstGeom>
          <a:solidFill>
            <a:srgbClr val="253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87552" y="3822191"/>
            <a:ext cx="1417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253439"/>
                </a:solidFill>
                <a:latin typeface="Segoe UI Semibold"/>
              </a:rPr>
              <a:t>Claude Code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423160" y="3849624"/>
            <a:ext cx="2468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950" b="0" i="0">
                <a:solidFill>
                  <a:srgbClr val="7C898B"/>
                </a:solidFill>
                <a:latin typeface="Segoe UI"/>
              </a:rPr>
              <a:t>writes app code, tests, analysis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6112" y="4425696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7C898B"/>
                </a:solidFill>
                <a:latin typeface="Segoe UI Semibold"/>
              </a:rPr>
              <a:t>↓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636008"/>
            <a:ext cx="4160520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77240" y="4636008"/>
            <a:ext cx="64008" cy="768096"/>
          </a:xfrm>
          <a:prstGeom prst="rect">
            <a:avLst/>
          </a:prstGeom>
          <a:solidFill>
            <a:srgbClr val="B29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87552" y="4727448"/>
            <a:ext cx="1417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253439"/>
                </a:solidFill>
                <a:latin typeface="Segoe UI Semibold"/>
              </a:rPr>
              <a:t>verify on rig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423160" y="4754880"/>
            <a:ext cx="2468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950" b="0" i="0">
                <a:solidFill>
                  <a:srgbClr val="7C898B"/>
                </a:solidFill>
                <a:latin typeface="Segoe UI"/>
              </a:rPr>
              <a:t>real pulls; failures go straight back in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96112" y="5330952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7C898B"/>
                </a:solidFill>
                <a:latin typeface="Segoe UI Semibold"/>
              </a:rPr>
              <a:t>↓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77240" y="5541264"/>
            <a:ext cx="4160520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77240" y="5541264"/>
            <a:ext cx="64008" cy="768096"/>
          </a:xfrm>
          <a:prstGeom prst="rect">
            <a:avLst/>
          </a:prstGeom>
          <a:solidFill>
            <a:srgbClr val="253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87552" y="5632704"/>
            <a:ext cx="1417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253439"/>
                </a:solidFill>
                <a:latin typeface="Segoe UI Semibold"/>
              </a:rPr>
              <a:t>evidence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23160" y="5660136"/>
            <a:ext cx="2468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950" b="0" i="0">
                <a:solidFill>
                  <a:srgbClr val="7C898B"/>
                </a:solidFill>
                <a:latin typeface="Segoe UI"/>
              </a:rPr>
              <a:t>every claim becomes a measured deck page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212080" y="1920240"/>
            <a:ext cx="6199632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40680" y="2048256"/>
            <a:ext cx="16002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 i="0">
                <a:solidFill>
                  <a:srgbClr val="253439"/>
                </a:solidFill>
                <a:latin typeface="Segoe UI Light"/>
              </a:rPr>
              <a:t>348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03720" y="2139696"/>
            <a:ext cx="4389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7C898B"/>
                </a:solidFill>
                <a:latin typeface="Segoe UI"/>
              </a:rPr>
              <a:t>commits · 94 % co-authored with the agent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212080" y="2825496"/>
            <a:ext cx="6199632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440680" y="2953512"/>
            <a:ext cx="16002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 i="0">
                <a:solidFill>
                  <a:srgbClr val="253439"/>
                </a:solidFill>
                <a:latin typeface="Segoe UI Light"/>
              </a:rPr>
              <a:t>9 weeks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903720" y="3044952"/>
            <a:ext cx="4389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7C898B"/>
                </a:solidFill>
                <a:latin typeface="Segoe UI"/>
              </a:rPr>
              <a:t>from first DIC frame to a validated rig — 314 commits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212080" y="3730752"/>
            <a:ext cx="6199632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440680" y="3858768"/>
            <a:ext cx="16002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 i="0">
                <a:solidFill>
                  <a:srgbClr val="253439"/>
                </a:solidFill>
                <a:latin typeface="Segoe UI Light"/>
              </a:rPr>
              <a:t>~44 k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903720" y="3950208"/>
            <a:ext cx="4389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7C898B"/>
                </a:solidFill>
                <a:latin typeface="Segoe UI"/>
              </a:rPr>
              <a:t>lines of Python: app, analysis, this deck's generator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212080" y="4636008"/>
            <a:ext cx="6199632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440680" y="4764024"/>
            <a:ext cx="16002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 i="0">
                <a:solidFill>
                  <a:srgbClr val="253439"/>
                </a:solidFill>
                <a:latin typeface="Segoe UI Light"/>
              </a:rPr>
              <a:t>204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903720" y="4855464"/>
            <a:ext cx="4389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7C898B"/>
                </a:solidFill>
                <a:latin typeface="Segoe UI"/>
              </a:rPr>
              <a:t>evidence pages, regenerated from raw data on every build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212080" y="5596128"/>
            <a:ext cx="6217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500"/>
              </a:spcAft>
            </a:pPr>
            <a:r>
              <a:rPr sz="1050" b="1" i="0">
                <a:solidFill>
                  <a:srgbClr val="B29E84"/>
                </a:solidFill>
                <a:latin typeface="Segoe UI"/>
              </a:rPr>
              <a:t>▪  </a:t>
            </a:r>
            <a:r>
              <a:rPr sz="1050" b="1" i="0">
                <a:solidFill>
                  <a:srgbClr val="253439"/>
                </a:solidFill>
                <a:latin typeface="Segoe UI"/>
              </a:rPr>
              <a:t>the prompt is the engineering: what to build, what would falsify it, how to prove it ran</a:t>
            </a:r>
          </a:p>
          <a:p>
            <a:pPr algn="l">
              <a:lnSpc>
                <a:spcPct val="104000"/>
              </a:lnSpc>
              <a:spcAft>
                <a:spcPts val="500"/>
              </a:spcAft>
            </a:pPr>
            <a:r>
              <a:rPr sz="1050" b="1" i="0">
                <a:solidFill>
                  <a:srgbClr val="B29E84"/>
                </a:solidFill>
                <a:latin typeface="Segoe UI"/>
              </a:rPr>
              <a:t>▪  </a:t>
            </a:r>
            <a:r>
              <a:rPr sz="1050" b="0" i="0">
                <a:solidFill>
                  <a:srgbClr val="253439"/>
                </a:solidFill>
                <a:latin typeface="Segoe UI"/>
              </a:rPr>
              <a:t>the agent measures instead of assuming — it renders every page and looks at it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932688"/>
          </a:xfrm>
          <a:prstGeom prst="rect">
            <a:avLst/>
          </a:prstGeom>
          <a:solidFill>
            <a:srgbClr val="253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42415"/>
            <a:ext cx="146304" cy="5815584"/>
          </a:xfrm>
          <a:prstGeom prst="rect">
            <a:avLst/>
          </a:prstGeom>
          <a:solidFill>
            <a:srgbClr val="7C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ju_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624" y="256032"/>
            <a:ext cx="905256" cy="402336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11265408" y="347472"/>
            <a:ext cx="118872" cy="118872"/>
          </a:xfrm>
          <a:prstGeom prst="rect">
            <a:avLst/>
          </a:prstGeom>
          <a:solidFill>
            <a:srgbClr val="253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89436" y="347472"/>
            <a:ext cx="118872" cy="118872"/>
          </a:xfrm>
          <a:prstGeom prst="rect">
            <a:avLst/>
          </a:prstGeom>
          <a:solidFill>
            <a:srgbClr val="B29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713464" y="347472"/>
            <a:ext cx="118872" cy="118872"/>
          </a:xfrm>
          <a:prstGeom prst="rect">
            <a:avLst/>
          </a:prstGeom>
          <a:solidFill>
            <a:srgbClr val="7C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786384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B29E84"/>
                </a:solidFill>
                <a:latin typeface="Segoe UI Semibold"/>
              </a:rPr>
              <a:t>06 · OUTLOOK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1005840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0" i="0">
                <a:solidFill>
                  <a:srgbClr val="253439"/>
                </a:solidFill>
                <a:latin typeface="Segoe UI Light"/>
              </a:rPr>
              <a:t>Future work — named, sized, and how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1591056"/>
            <a:ext cx="855878" cy="50292"/>
          </a:xfrm>
          <a:prstGeom prst="rect">
            <a:avLst/>
          </a:prstGeom>
          <a:solidFill>
            <a:srgbClr val="253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633118" y="1591056"/>
            <a:ext cx="427939" cy="50292"/>
          </a:xfrm>
          <a:prstGeom prst="rect">
            <a:avLst/>
          </a:prstGeom>
          <a:solidFill>
            <a:srgbClr val="B29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061057" y="1591056"/>
            <a:ext cx="2008022" cy="50292"/>
          </a:xfrm>
          <a:prstGeom prst="rect">
            <a:avLst/>
          </a:prstGeom>
          <a:solidFill>
            <a:srgbClr val="7C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 rot="16200000">
            <a:off x="10625328" y="3310128"/>
            <a:ext cx="2743200" cy="31089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7C898B"/>
                </a:solidFill>
                <a:latin typeface="Segoe UI Semibold"/>
              </a:rPr>
              <a:t>OUTLOOK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75720" y="6473952"/>
            <a:ext cx="5669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7C898B"/>
                </a:solidFill>
                <a:latin typeface="Segoe UI Semibold"/>
              </a:rPr>
              <a:t>13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1874519"/>
            <a:ext cx="3401568" cy="2048256"/>
          </a:xfrm>
          <a:prstGeom prst="rect">
            <a:avLst/>
          </a:prstGeom>
          <a:solidFill>
            <a:srgbClr val="FFFFFF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1874519"/>
            <a:ext cx="64008" cy="2048256"/>
          </a:xfrm>
          <a:prstGeom prst="rect">
            <a:avLst/>
          </a:prstGeom>
          <a:solidFill>
            <a:srgbClr val="B29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78408" y="1993391"/>
            <a:ext cx="3063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253439"/>
                </a:solidFill>
                <a:latin typeface="Segoe UI Semibold"/>
              </a:rPr>
              <a:t>2D-DIC strain field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8408" y="2331720"/>
            <a:ext cx="306324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253439"/>
                </a:solidFill>
                <a:latin typeface="Segoe UI"/>
              </a:rPr>
              <a:t>full-field strain over the speckled gauge, not just two dots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8408" y="3008376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i="0">
                <a:solidFill>
                  <a:srgbClr val="B29E84"/>
                </a:solidFill>
                <a:latin typeface="Segoe UI Semibold"/>
              </a:rPr>
              <a:t>HOW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8408" y="3191256"/>
            <a:ext cx="3063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 i="0">
                <a:solidFill>
                  <a:srgbClr val="7C898B"/>
                </a:solidFill>
                <a:latin typeface="Segoe UI"/>
              </a:rPr>
              <a:t>offline first, in the existing post-processor; needs lower exposure — the white body currently saturates the sensor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16552" y="1874519"/>
            <a:ext cx="3401568" cy="2048256"/>
          </a:xfrm>
          <a:prstGeom prst="rect">
            <a:avLst/>
          </a:prstGeom>
          <a:solidFill>
            <a:srgbClr val="FFFFFF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416552" y="1874519"/>
            <a:ext cx="64008" cy="2048256"/>
          </a:xfrm>
          <a:prstGeom prst="rect">
            <a:avLst/>
          </a:prstGeom>
          <a:solidFill>
            <a:srgbClr val="B29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17720" y="1993391"/>
            <a:ext cx="3063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253439"/>
                </a:solidFill>
                <a:latin typeface="Segoe UI Semibold"/>
              </a:rPr>
              <a:t>Correlation, not binary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17720" y="2331720"/>
            <a:ext cx="306324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253439"/>
                </a:solidFill>
                <a:latin typeface="Segoe UI"/>
              </a:rPr>
              <a:t>sub-pixel tracking that keeps the grey levels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17720" y="3008376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i="0">
                <a:solidFill>
                  <a:srgbClr val="B29E84"/>
                </a:solidFill>
                <a:latin typeface="Segoe UI Semibold"/>
              </a:rPr>
              <a:t>HOW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17720" y="3191256"/>
            <a:ext cx="3063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 i="0">
                <a:solidFill>
                  <a:srgbClr val="7C898B"/>
                </a:solidFill>
                <a:latin typeface="Segoe UI"/>
              </a:rPr>
              <a:t>measured gain: 1.1–2.1× less jitter; add as a post-processing option before touching the live loop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055864" y="1874519"/>
            <a:ext cx="3401568" cy="2048256"/>
          </a:xfrm>
          <a:prstGeom prst="rect">
            <a:avLst/>
          </a:prstGeom>
          <a:solidFill>
            <a:srgbClr val="FFFFFF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055864" y="1874519"/>
            <a:ext cx="64008" cy="2048256"/>
          </a:xfrm>
          <a:prstGeom prst="rect">
            <a:avLst/>
          </a:prstGeom>
          <a:solidFill>
            <a:srgbClr val="B29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57032" y="1993391"/>
            <a:ext cx="3063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253439"/>
                </a:solidFill>
                <a:latin typeface="Segoe UI Semibold"/>
              </a:rPr>
              <a:t>Feed simulation models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57032" y="2331720"/>
            <a:ext cx="306324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253439"/>
                </a:solidFill>
                <a:latin typeface="Segoe UI"/>
              </a:rPr>
              <a:t>measured strain fields calibrating FE material cards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57032" y="3008376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i="0">
                <a:solidFill>
                  <a:srgbClr val="B29E84"/>
                </a:solidFill>
                <a:latin typeface="Segoe UI Semibold"/>
              </a:rPr>
              <a:t>HOW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57032" y="3191256"/>
            <a:ext cx="3063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 i="0">
                <a:solidFill>
                  <a:srgbClr val="7C898B"/>
                </a:solidFill>
                <a:latin typeface="Segoe UI"/>
              </a:rPr>
              <a:t>export the field per frame; compare predicted vs measured maps on the same geometry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77240" y="4087368"/>
            <a:ext cx="3401568" cy="2048256"/>
          </a:xfrm>
          <a:prstGeom prst="rect">
            <a:avLst/>
          </a:prstGeom>
          <a:solidFill>
            <a:srgbClr val="FFFFFF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77240" y="4087368"/>
            <a:ext cx="64008" cy="2048256"/>
          </a:xfrm>
          <a:prstGeom prst="rect">
            <a:avLst/>
          </a:prstGeom>
          <a:solidFill>
            <a:srgbClr val="B29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78408" y="4206240"/>
            <a:ext cx="3063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253439"/>
                </a:solidFill>
                <a:latin typeface="Segoe UI Semibold"/>
              </a:rPr>
              <a:t>Poisson &amp; true stress (FW1)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78408" y="4544568"/>
            <a:ext cx="306324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253439"/>
                </a:solidFill>
                <a:latin typeface="Segoe UI"/>
              </a:rPr>
              <a:t>four markers → lateral strain, ν, Cauchy stress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78408" y="5221224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i="0">
                <a:solidFill>
                  <a:srgbClr val="B29E84"/>
                </a:solidFill>
                <a:latin typeface="Segoe UI Semibold"/>
              </a:rPr>
              <a:t>HOW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78408" y="5404104"/>
            <a:ext cx="3063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 i="0">
                <a:solidFill>
                  <a:srgbClr val="7C898B"/>
                </a:solidFill>
                <a:latin typeface="Segoe UI"/>
              </a:rPr>
              <a:t>maths written and self-tested; blocked on optics — needs a gauge-zoomed second camera or a wider specimen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416552" y="4087368"/>
            <a:ext cx="3401568" cy="2048256"/>
          </a:xfrm>
          <a:prstGeom prst="rect">
            <a:avLst/>
          </a:prstGeom>
          <a:solidFill>
            <a:srgbClr val="FFFFFF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416552" y="4087368"/>
            <a:ext cx="64008" cy="2048256"/>
          </a:xfrm>
          <a:prstGeom prst="rect">
            <a:avLst/>
          </a:prstGeom>
          <a:solidFill>
            <a:srgbClr val="B29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617720" y="4206240"/>
            <a:ext cx="3063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253439"/>
                </a:solidFill>
                <a:latin typeface="Segoe UI Semibold"/>
              </a:rPr>
              <a:t>Grip-seating experiment (FW2)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17720" y="4544568"/>
            <a:ext cx="306324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253439"/>
                </a:solidFill>
                <a:latin typeface="Segoe UI"/>
              </a:rPr>
              <a:t>why gauge share clusters at 21 % vs 33 %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17720" y="5221224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i="0">
                <a:solidFill>
                  <a:srgbClr val="B29E84"/>
                </a:solidFill>
                <a:latin typeface="Segoe UI Semibold"/>
              </a:rPr>
              <a:t>HOW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17720" y="5404104"/>
            <a:ext cx="3063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 i="0">
                <a:solidFill>
                  <a:srgbClr val="7C898B"/>
                </a:solidFill>
                <a:latin typeface="Segoe UI"/>
              </a:rPr>
              <a:t>one specimen, re-mounted several times, elastic pulls only — spread survives → seating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055864" y="4087368"/>
            <a:ext cx="3401568" cy="2048256"/>
          </a:xfrm>
          <a:prstGeom prst="rect">
            <a:avLst/>
          </a:prstGeom>
          <a:solidFill>
            <a:srgbClr val="FFFFFF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8055864" y="4087368"/>
            <a:ext cx="64008" cy="2048256"/>
          </a:xfrm>
          <a:prstGeom prst="rect">
            <a:avLst/>
          </a:prstGeom>
          <a:solidFill>
            <a:srgbClr val="B29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257032" y="4206240"/>
            <a:ext cx="3063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253439"/>
                </a:solidFill>
                <a:latin typeface="Segoe UI Semibold"/>
              </a:rPr>
              <a:t>Rate-matched MOT rerun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57032" y="4544568"/>
            <a:ext cx="306324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253439"/>
                </a:solidFill>
                <a:latin typeface="Segoe UI"/>
              </a:rPr>
              <a:t>close the last confound in the lab comparison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257032" y="5221224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i="0">
                <a:solidFill>
                  <a:srgbClr val="B29E84"/>
                </a:solidFill>
                <a:latin typeface="Segoe UI Semibold"/>
              </a:rPr>
              <a:t>HOW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257032" y="5404104"/>
            <a:ext cx="3063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 i="0">
                <a:solidFill>
                  <a:srgbClr val="7C898B"/>
                </a:solidFill>
                <a:latin typeface="Segoe UI"/>
              </a:rPr>
              <a:t>pull at 5.01 mm/min (rate-matched) and 2.00 mm/min (speed-matched) and re-compare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932688"/>
          </a:xfrm>
          <a:prstGeom prst="rect">
            <a:avLst/>
          </a:prstGeom>
          <a:solidFill>
            <a:srgbClr val="253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42415"/>
            <a:ext cx="146304" cy="5815584"/>
          </a:xfrm>
          <a:prstGeom prst="rect">
            <a:avLst/>
          </a:prstGeom>
          <a:solidFill>
            <a:srgbClr val="7C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ju_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624" y="256032"/>
            <a:ext cx="905256" cy="402336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11265408" y="347472"/>
            <a:ext cx="118872" cy="118872"/>
          </a:xfrm>
          <a:prstGeom prst="rect">
            <a:avLst/>
          </a:prstGeom>
          <a:solidFill>
            <a:srgbClr val="253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89436" y="347472"/>
            <a:ext cx="118872" cy="118872"/>
          </a:xfrm>
          <a:prstGeom prst="rect">
            <a:avLst/>
          </a:prstGeom>
          <a:solidFill>
            <a:srgbClr val="B29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713464" y="347472"/>
            <a:ext cx="118872" cy="118872"/>
          </a:xfrm>
          <a:prstGeom prst="rect">
            <a:avLst/>
          </a:prstGeom>
          <a:solidFill>
            <a:srgbClr val="7C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786384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B29E84"/>
                </a:solidFill>
                <a:latin typeface="Segoe UI Semibold"/>
              </a:rPr>
              <a:t>06 · OUTLOOK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1005840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0" i="0">
                <a:solidFill>
                  <a:srgbClr val="253439"/>
                </a:solidFill>
                <a:latin typeface="Segoe UI Light"/>
              </a:rPr>
              <a:t>One number for fun — the carbon footprint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1591056"/>
            <a:ext cx="855878" cy="50292"/>
          </a:xfrm>
          <a:prstGeom prst="rect">
            <a:avLst/>
          </a:prstGeom>
          <a:solidFill>
            <a:srgbClr val="253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633118" y="1591056"/>
            <a:ext cx="427939" cy="50292"/>
          </a:xfrm>
          <a:prstGeom prst="rect">
            <a:avLst/>
          </a:prstGeom>
          <a:solidFill>
            <a:srgbClr val="B29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061057" y="1591056"/>
            <a:ext cx="2008022" cy="50292"/>
          </a:xfrm>
          <a:prstGeom prst="rect">
            <a:avLst/>
          </a:prstGeom>
          <a:solidFill>
            <a:srgbClr val="7C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 rot="16200000">
            <a:off x="10625328" y="3310128"/>
            <a:ext cx="2743200" cy="31089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7C898B"/>
                </a:solidFill>
                <a:latin typeface="Segoe UI Semibold"/>
              </a:rPr>
              <a:t>OUTLOOK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75720" y="6473952"/>
            <a:ext cx="5669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7C898B"/>
                </a:solidFill>
                <a:latin typeface="Segoe UI Semibold"/>
              </a:rPr>
              <a:t>14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2011680"/>
            <a:ext cx="10607040" cy="3931920"/>
          </a:xfrm>
          <a:prstGeom prst="rect">
            <a:avLst/>
          </a:prstGeom>
          <a:solidFill>
            <a:srgbClr val="F6F4F1"/>
          </a:solidFill>
          <a:ln w="15240">
            <a:solidFill>
              <a:srgbClr val="7C898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3666744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 i="0">
                <a:solidFill>
                  <a:srgbClr val="7C898B"/>
                </a:solidFill>
                <a:latin typeface="Segoe UI Semibold"/>
              </a:rPr>
              <a:t>CARBON-FOOTPRINT NUMBERS LAND HERE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3995927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 i="0">
                <a:solidFill>
                  <a:srgbClr val="7C898B"/>
                </a:solidFill>
                <a:latin typeface="Segoe UI"/>
              </a:rPr>
              <a:t>the calculation is queued: filament + rig power + compute for the AI collaboration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6172200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7C898B"/>
                </a:solidFill>
                <a:latin typeface="Segoe UI"/>
              </a:rPr>
              <a:t>spoiler: the printed specimens are not the biggest line item.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74320" y="0"/>
            <a:ext cx="475488" cy="914400"/>
          </a:xfrm>
          <a:prstGeom prst="rect">
            <a:avLst/>
          </a:prstGeom>
          <a:solidFill>
            <a:srgbClr val="253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4320" y="1042415"/>
            <a:ext cx="475488" cy="5815584"/>
          </a:xfrm>
          <a:prstGeom prst="rect">
            <a:avLst/>
          </a:prstGeom>
          <a:solidFill>
            <a:srgbClr val="7C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ju_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365760"/>
            <a:ext cx="1069848" cy="47548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11265408" y="347472"/>
            <a:ext cx="118872" cy="118872"/>
          </a:xfrm>
          <a:prstGeom prst="rect">
            <a:avLst/>
          </a:prstGeom>
          <a:solidFill>
            <a:srgbClr val="253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89436" y="347472"/>
            <a:ext cx="118872" cy="118872"/>
          </a:xfrm>
          <a:prstGeom prst="rect">
            <a:avLst/>
          </a:prstGeom>
          <a:solidFill>
            <a:srgbClr val="B29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713464" y="347472"/>
            <a:ext cx="118872" cy="118872"/>
          </a:xfrm>
          <a:prstGeom prst="rect">
            <a:avLst/>
          </a:prstGeom>
          <a:solidFill>
            <a:srgbClr val="7C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70432" y="2331720"/>
            <a:ext cx="96926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000" b="0" i="0">
                <a:solidFill>
                  <a:srgbClr val="253439"/>
                </a:solidFill>
                <a:latin typeface="Segoe UI Light"/>
              </a:rPr>
              <a:t>Thank you.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207008" y="3520440"/>
            <a:ext cx="1022299" cy="68580"/>
          </a:xfrm>
          <a:prstGeom prst="rect">
            <a:avLst/>
          </a:prstGeom>
          <a:solidFill>
            <a:srgbClr val="253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229307" y="3520440"/>
            <a:ext cx="511149" cy="68580"/>
          </a:xfrm>
          <a:prstGeom prst="rect">
            <a:avLst/>
          </a:prstGeom>
          <a:solidFill>
            <a:srgbClr val="B29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740456" y="3520440"/>
            <a:ext cx="2398471" cy="68580"/>
          </a:xfrm>
          <a:prstGeom prst="rect">
            <a:avLst/>
          </a:prstGeom>
          <a:solidFill>
            <a:srgbClr val="7C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07008" y="3977639"/>
            <a:ext cx="8229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7C898B"/>
                </a:solidFill>
                <a:latin typeface="Segoe UI"/>
              </a:rPr>
              <a:t>Questions — or come break a specimen with me.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07008" y="5760720"/>
            <a:ext cx="7315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253439"/>
                </a:solidFill>
                <a:latin typeface="Segoe UI Semibold"/>
              </a:rPr>
              <a:t>Adithya Sivakumar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7C898B"/>
                </a:solidFill>
                <a:latin typeface="Segoe UI"/>
              </a:rPr>
              <a:t>adithya.sivakumar@ju.se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75720" y="6473952"/>
            <a:ext cx="5669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7C898B"/>
                </a:solidFill>
                <a:latin typeface="Segoe UI Semibold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932688"/>
          </a:xfrm>
          <a:prstGeom prst="rect">
            <a:avLst/>
          </a:prstGeom>
          <a:solidFill>
            <a:srgbClr val="253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42415"/>
            <a:ext cx="146304" cy="5815584"/>
          </a:xfrm>
          <a:prstGeom prst="rect">
            <a:avLst/>
          </a:prstGeom>
          <a:solidFill>
            <a:srgbClr val="7C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ju_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624" y="256032"/>
            <a:ext cx="905256" cy="402336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11265408" y="347472"/>
            <a:ext cx="118872" cy="118872"/>
          </a:xfrm>
          <a:prstGeom prst="rect">
            <a:avLst/>
          </a:prstGeom>
          <a:solidFill>
            <a:srgbClr val="253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89436" y="347472"/>
            <a:ext cx="118872" cy="118872"/>
          </a:xfrm>
          <a:prstGeom prst="rect">
            <a:avLst/>
          </a:prstGeom>
          <a:solidFill>
            <a:srgbClr val="B29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713464" y="347472"/>
            <a:ext cx="118872" cy="118872"/>
          </a:xfrm>
          <a:prstGeom prst="rect">
            <a:avLst/>
          </a:prstGeom>
          <a:solidFill>
            <a:srgbClr val="7C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786384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B29E84"/>
                </a:solidFill>
                <a:latin typeface="Segoe UI Semibold"/>
              </a:rPr>
              <a:t>APPENDIX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1005840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0" i="0">
                <a:solidFill>
                  <a:srgbClr val="253439"/>
                </a:solidFill>
                <a:latin typeface="Segoe UI Light"/>
              </a:rPr>
              <a:t>For the curious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1591056"/>
            <a:ext cx="855878" cy="50292"/>
          </a:xfrm>
          <a:prstGeom prst="rect">
            <a:avLst/>
          </a:prstGeom>
          <a:solidFill>
            <a:srgbClr val="253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633118" y="1591056"/>
            <a:ext cx="427939" cy="50292"/>
          </a:xfrm>
          <a:prstGeom prst="rect">
            <a:avLst/>
          </a:prstGeom>
          <a:solidFill>
            <a:srgbClr val="B29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061057" y="1591056"/>
            <a:ext cx="2008022" cy="50292"/>
          </a:xfrm>
          <a:prstGeom prst="rect">
            <a:avLst/>
          </a:prstGeom>
          <a:solidFill>
            <a:srgbClr val="7C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 rot="16200000">
            <a:off x="10625328" y="3310128"/>
            <a:ext cx="2743200" cy="31089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7C898B"/>
                </a:solidFill>
                <a:latin typeface="Segoe UI Semibold"/>
              </a:rPr>
              <a:t>APPENDIX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75720" y="6473952"/>
            <a:ext cx="5669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7C898B"/>
                </a:solidFill>
                <a:latin typeface="Segoe UI Semibold"/>
              </a:rPr>
              <a:t>16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210312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2267712"/>
            <a:ext cx="1097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0" i="0">
                <a:solidFill>
                  <a:srgbClr val="B29E84"/>
                </a:solidFill>
                <a:latin typeface="Segoe UI Light"/>
              </a:rPr>
              <a:t>A1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03120" y="2286000"/>
            <a:ext cx="5486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253439"/>
                </a:solidFill>
                <a:latin typeface="Segoe UI Semibold"/>
              </a:rPr>
              <a:t>Otsu thresholding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03120" y="2688336"/>
            <a:ext cx="7772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7C898B"/>
                </a:solidFill>
                <a:latin typeface="Segoe UI"/>
              </a:rPr>
              <a:t>how the camera decides what is a marker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3401568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5840" y="3566160"/>
            <a:ext cx="1097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0" i="0">
                <a:solidFill>
                  <a:srgbClr val="B29E84"/>
                </a:solidFill>
                <a:latin typeface="Segoe UI Light"/>
              </a:rPr>
              <a:t>A2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03120" y="3584448"/>
            <a:ext cx="5486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253439"/>
                </a:solidFill>
                <a:latin typeface="Segoe UI Semibold"/>
              </a:rPr>
              <a:t>PLA vs PETG vs TPU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03120" y="3986783"/>
            <a:ext cx="7772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7C898B"/>
                </a:solidFill>
                <a:latin typeface="Segoe UI"/>
              </a:rPr>
              <a:t>our curves against what literature expects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7240" y="4700016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4864607"/>
            <a:ext cx="1097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0" i="0">
                <a:solidFill>
                  <a:srgbClr val="B29E84"/>
                </a:solidFill>
                <a:latin typeface="Segoe UI Light"/>
              </a:rPr>
              <a:t>A3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103120" y="4882896"/>
            <a:ext cx="5486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253439"/>
                </a:solidFill>
                <a:latin typeface="Segoe UI Semibold"/>
              </a:rPr>
              <a:t>Noise, rig against rig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03120" y="5285231"/>
            <a:ext cx="7772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7C898B"/>
                </a:solidFill>
                <a:latin typeface="Segoe UI"/>
              </a:rPr>
              <a:t>how quiet each instrument is, measured at rest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932688"/>
          </a:xfrm>
          <a:prstGeom prst="rect">
            <a:avLst/>
          </a:prstGeom>
          <a:solidFill>
            <a:srgbClr val="253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42415"/>
            <a:ext cx="146304" cy="5815584"/>
          </a:xfrm>
          <a:prstGeom prst="rect">
            <a:avLst/>
          </a:prstGeom>
          <a:solidFill>
            <a:srgbClr val="7C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ju_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624" y="256032"/>
            <a:ext cx="905256" cy="402336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11265408" y="347472"/>
            <a:ext cx="118872" cy="118872"/>
          </a:xfrm>
          <a:prstGeom prst="rect">
            <a:avLst/>
          </a:prstGeom>
          <a:solidFill>
            <a:srgbClr val="253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89436" y="347472"/>
            <a:ext cx="118872" cy="118872"/>
          </a:xfrm>
          <a:prstGeom prst="rect">
            <a:avLst/>
          </a:prstGeom>
          <a:solidFill>
            <a:srgbClr val="B29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713464" y="347472"/>
            <a:ext cx="118872" cy="118872"/>
          </a:xfrm>
          <a:prstGeom prst="rect">
            <a:avLst/>
          </a:prstGeom>
          <a:solidFill>
            <a:srgbClr val="7C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786384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B29E84"/>
                </a:solidFill>
                <a:latin typeface="Segoe UI Semibold"/>
              </a:rPr>
              <a:t>APPENDIX · A1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1005840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0" i="0">
                <a:solidFill>
                  <a:srgbClr val="253439"/>
                </a:solidFill>
                <a:latin typeface="Segoe UI Light"/>
              </a:rPr>
              <a:t>Otsu — how the camera picks its threshold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1591056"/>
            <a:ext cx="855878" cy="50292"/>
          </a:xfrm>
          <a:prstGeom prst="rect">
            <a:avLst/>
          </a:prstGeom>
          <a:solidFill>
            <a:srgbClr val="253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633118" y="1591056"/>
            <a:ext cx="427939" cy="50292"/>
          </a:xfrm>
          <a:prstGeom prst="rect">
            <a:avLst/>
          </a:prstGeom>
          <a:solidFill>
            <a:srgbClr val="B29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061057" y="1591056"/>
            <a:ext cx="2008022" cy="50292"/>
          </a:xfrm>
          <a:prstGeom prst="rect">
            <a:avLst/>
          </a:prstGeom>
          <a:solidFill>
            <a:srgbClr val="7C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 rot="16200000">
            <a:off x="10625328" y="3310128"/>
            <a:ext cx="2743200" cy="31089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7C898B"/>
                </a:solidFill>
                <a:latin typeface="Segoe UI Semibold"/>
              </a:rPr>
              <a:t>APPENDIX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75720" y="6473952"/>
            <a:ext cx="5669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7C898B"/>
                </a:solidFill>
                <a:latin typeface="Segoe UI Semibold"/>
              </a:rPr>
              <a:t>17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1874519"/>
            <a:ext cx="644652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otsu_hi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2270240"/>
            <a:ext cx="6263640" cy="3369079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498079" y="1965960"/>
            <a:ext cx="388620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600"/>
              </a:spcAft>
            </a:pPr>
            <a:r>
              <a:rPr sz="1150" b="1" i="0">
                <a:solidFill>
                  <a:srgbClr val="B29E84"/>
                </a:solidFill>
                <a:latin typeface="Segoe UI"/>
              </a:rPr>
              <a:t>▪  </a:t>
            </a:r>
            <a:r>
              <a:rPr sz="1150" b="0" i="0">
                <a:solidFill>
                  <a:srgbClr val="253439"/>
                </a:solidFill>
                <a:latin typeface="Segoe UI Semibold"/>
              </a:rPr>
              <a:t>WHY it exists</a:t>
            </a:r>
          </a:p>
          <a:p>
            <a:pPr algn="l">
              <a:lnSpc>
                <a:spcPct val="104000"/>
              </a:lnSpc>
              <a:spcAft>
                <a:spcPts val="600"/>
              </a:spcAft>
            </a:pPr>
            <a:r>
              <a:rPr sz="1050" b="1" i="0">
                <a:solidFill>
                  <a:srgbClr val="B29E84"/>
                </a:solidFill>
                <a:latin typeface="Segoe UI"/>
              </a:rPr>
              <a:t>▪  </a:t>
            </a:r>
            <a:r>
              <a:rPr sz="1050" b="0" i="0">
                <a:solidFill>
                  <a:srgbClr val="253439"/>
                </a:solidFill>
                <a:latin typeface="Segoe UI"/>
              </a:rPr>
              <a:t>every frame must be split into “marker” and “not marker” — that takes one brightness number</a:t>
            </a:r>
          </a:p>
          <a:p>
            <a:pPr algn="l">
              <a:lnSpc>
                <a:spcPct val="104000"/>
              </a:lnSpc>
              <a:spcAft>
                <a:spcPts val="600"/>
              </a:spcAft>
            </a:pPr>
            <a:r>
              <a:rPr sz="1150" b="1" i="0">
                <a:solidFill>
                  <a:srgbClr val="B29E84"/>
                </a:solidFill>
                <a:latin typeface="Segoe UI"/>
              </a:rPr>
              <a:t>▪  </a:t>
            </a:r>
            <a:r>
              <a:rPr sz="1150" b="0" i="0">
                <a:solidFill>
                  <a:srgbClr val="253439"/>
                </a:solidFill>
                <a:latin typeface="Segoe UI Semibold"/>
              </a:rPr>
              <a:t>WHAT it does</a:t>
            </a:r>
          </a:p>
          <a:p>
            <a:pPr algn="l">
              <a:lnSpc>
                <a:spcPct val="104000"/>
              </a:lnSpc>
              <a:spcAft>
                <a:spcPts val="600"/>
              </a:spcAft>
            </a:pPr>
            <a:r>
              <a:rPr sz="1050" b="1" i="0">
                <a:solidFill>
                  <a:srgbClr val="B29E84"/>
                </a:solidFill>
                <a:latin typeface="Segoe UI"/>
              </a:rPr>
              <a:t>▪  </a:t>
            </a:r>
            <a:r>
              <a:rPr sz="1050" b="0" i="0">
                <a:solidFill>
                  <a:srgbClr val="253439"/>
                </a:solidFill>
                <a:latin typeface="Segoe UI"/>
              </a:rPr>
              <a:t>tries all 254 cuts, keeps the one giving the two tidiest groups — lands in the histogram's empty valley</a:t>
            </a:r>
          </a:p>
          <a:p>
            <a:pPr algn="l">
              <a:lnSpc>
                <a:spcPct val="104000"/>
              </a:lnSpc>
              <a:spcAft>
                <a:spcPts val="600"/>
              </a:spcAft>
            </a:pPr>
            <a:r>
              <a:rPr sz="1150" b="1" i="0">
                <a:solidFill>
                  <a:srgbClr val="B29E84"/>
                </a:solidFill>
                <a:latin typeface="Segoe UI"/>
              </a:rPr>
              <a:t>▪  </a:t>
            </a:r>
            <a:r>
              <a:rPr sz="1150" b="0" i="0">
                <a:solidFill>
                  <a:srgbClr val="253439"/>
                </a:solidFill>
                <a:latin typeface="Segoe UI Semibold"/>
              </a:rPr>
              <a:t>THE CATCH</a:t>
            </a:r>
          </a:p>
          <a:p>
            <a:pPr algn="l">
              <a:lnSpc>
                <a:spcPct val="104000"/>
              </a:lnSpc>
              <a:spcAft>
                <a:spcPts val="600"/>
              </a:spcAft>
            </a:pPr>
            <a:r>
              <a:rPr sz="1050" b="1" i="0">
                <a:solidFill>
                  <a:srgbClr val="B29E84"/>
                </a:solidFill>
                <a:latin typeface="Segoe UI"/>
              </a:rPr>
              <a:t>▪  </a:t>
            </a:r>
            <a:r>
              <a:rPr sz="1050" b="0" i="0">
                <a:solidFill>
                  <a:srgbClr val="253439"/>
                </a:solidFill>
                <a:latin typeface="Segoe UI"/>
              </a:rPr>
              <a:t>it follows the SCENE, not the markers — so the rig scores it against fixed values (auto-calibrate) instead of trusting it blindly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630936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7C898B"/>
                </a:solidFill>
                <a:latin typeface="Segoe UI"/>
              </a:rPr>
              <a:t>Otsu (1979), IEEE Trans. SMC 9(1):62–66 · measured here on 120 frames of specimen S13.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932688"/>
          </a:xfrm>
          <a:prstGeom prst="rect">
            <a:avLst/>
          </a:prstGeom>
          <a:solidFill>
            <a:srgbClr val="253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42415"/>
            <a:ext cx="146304" cy="5815584"/>
          </a:xfrm>
          <a:prstGeom prst="rect">
            <a:avLst/>
          </a:prstGeom>
          <a:solidFill>
            <a:srgbClr val="7C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ju_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624" y="256032"/>
            <a:ext cx="905256" cy="402336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11265408" y="347472"/>
            <a:ext cx="118872" cy="118872"/>
          </a:xfrm>
          <a:prstGeom prst="rect">
            <a:avLst/>
          </a:prstGeom>
          <a:solidFill>
            <a:srgbClr val="253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89436" y="347472"/>
            <a:ext cx="118872" cy="118872"/>
          </a:xfrm>
          <a:prstGeom prst="rect">
            <a:avLst/>
          </a:prstGeom>
          <a:solidFill>
            <a:srgbClr val="B29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713464" y="347472"/>
            <a:ext cx="118872" cy="118872"/>
          </a:xfrm>
          <a:prstGeom prst="rect">
            <a:avLst/>
          </a:prstGeom>
          <a:solidFill>
            <a:srgbClr val="7C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786384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B29E84"/>
                </a:solidFill>
                <a:latin typeface="Segoe UI Semibold"/>
              </a:rPr>
              <a:t>APPENDIX · A2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1005840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0" i="0">
                <a:solidFill>
                  <a:srgbClr val="253439"/>
                </a:solidFill>
                <a:latin typeface="Segoe UI Light"/>
              </a:rPr>
              <a:t>Three materials — measured, against expectations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1591056"/>
            <a:ext cx="855878" cy="50292"/>
          </a:xfrm>
          <a:prstGeom prst="rect">
            <a:avLst/>
          </a:prstGeom>
          <a:solidFill>
            <a:srgbClr val="253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633118" y="1591056"/>
            <a:ext cx="427939" cy="50292"/>
          </a:xfrm>
          <a:prstGeom prst="rect">
            <a:avLst/>
          </a:prstGeom>
          <a:solidFill>
            <a:srgbClr val="B29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061057" y="1591056"/>
            <a:ext cx="2008022" cy="50292"/>
          </a:xfrm>
          <a:prstGeom prst="rect">
            <a:avLst/>
          </a:prstGeom>
          <a:solidFill>
            <a:srgbClr val="7C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 rot="16200000">
            <a:off x="10625328" y="3310128"/>
            <a:ext cx="2743200" cy="31089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7C898B"/>
                </a:solidFill>
                <a:latin typeface="Segoe UI Semibold"/>
              </a:rPr>
              <a:t>APPENDIX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75720" y="6473952"/>
            <a:ext cx="5669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7C898B"/>
                </a:solidFill>
                <a:latin typeface="Segoe UI Semibold"/>
              </a:rPr>
              <a:t>18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1810512"/>
            <a:ext cx="10607040" cy="2697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trio_curv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38099" y="1901952"/>
            <a:ext cx="7485320" cy="2514600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777240" y="4572000"/>
            <a:ext cx="8321040" cy="1847088"/>
          </a:xfrm>
          <a:prstGeom prst="rect">
            <a:avLst/>
          </a:prstGeom>
          <a:solidFill>
            <a:srgbClr val="FFFFFF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petg_expec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05893" y="4663440"/>
            <a:ext cx="6863733" cy="166420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9253728" y="4626864"/>
            <a:ext cx="21488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600"/>
              </a:spcAft>
            </a:pPr>
            <a:r>
              <a:rPr sz="950" b="1" i="0">
                <a:solidFill>
                  <a:srgbClr val="B29E84"/>
                </a:solidFill>
                <a:latin typeface="Segoe UI"/>
              </a:rPr>
              <a:t>▪  </a:t>
            </a:r>
            <a:r>
              <a:rPr sz="950" b="0" i="0">
                <a:solidFill>
                  <a:srgbClr val="253439"/>
                </a:solidFill>
                <a:latin typeface="Segoe UI"/>
              </a:rPr>
              <a:t>ordering exactly as published</a:t>
            </a:r>
          </a:p>
          <a:p>
            <a:pPr algn="l">
              <a:lnSpc>
                <a:spcPct val="104000"/>
              </a:lnSpc>
              <a:spcAft>
                <a:spcPts val="600"/>
              </a:spcAft>
            </a:pPr>
            <a:r>
              <a:rPr sz="950" b="1" i="0">
                <a:solidFill>
                  <a:srgbClr val="B29E84"/>
                </a:solidFill>
                <a:latin typeface="Segoe UI"/>
              </a:rPr>
              <a:t>▪  </a:t>
            </a:r>
            <a:r>
              <a:rPr sz="950" b="0" i="0">
                <a:solidFill>
                  <a:srgbClr val="253439"/>
                </a:solidFill>
                <a:latin typeface="Segoe UI"/>
              </a:rPr>
              <a:t>TPU never fractured — it left the frame at 19 % strain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6455664"/>
            <a:ext cx="10607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C898B"/>
                </a:solidFill>
                <a:latin typeface="Segoe UI"/>
              </a:rPr>
              <a:t>published ranges: filament TDS + printed-part literature, as compiled in the project's material notes.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932688"/>
          </a:xfrm>
          <a:prstGeom prst="rect">
            <a:avLst/>
          </a:prstGeom>
          <a:solidFill>
            <a:srgbClr val="253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42415"/>
            <a:ext cx="146304" cy="5815584"/>
          </a:xfrm>
          <a:prstGeom prst="rect">
            <a:avLst/>
          </a:prstGeom>
          <a:solidFill>
            <a:srgbClr val="7C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ju_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624" y="256032"/>
            <a:ext cx="905256" cy="402336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11265408" y="347472"/>
            <a:ext cx="118872" cy="118872"/>
          </a:xfrm>
          <a:prstGeom prst="rect">
            <a:avLst/>
          </a:prstGeom>
          <a:solidFill>
            <a:srgbClr val="253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89436" y="347472"/>
            <a:ext cx="118872" cy="118872"/>
          </a:xfrm>
          <a:prstGeom prst="rect">
            <a:avLst/>
          </a:prstGeom>
          <a:solidFill>
            <a:srgbClr val="B29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713464" y="347472"/>
            <a:ext cx="118872" cy="118872"/>
          </a:xfrm>
          <a:prstGeom prst="rect">
            <a:avLst/>
          </a:prstGeom>
          <a:solidFill>
            <a:srgbClr val="7C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786384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B29E84"/>
                </a:solidFill>
                <a:latin typeface="Segoe UI Semibold"/>
              </a:rPr>
              <a:t>APPENDIX · A3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1005840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0" i="0">
                <a:solidFill>
                  <a:srgbClr val="253439"/>
                </a:solidFill>
                <a:latin typeface="Segoe UI Light"/>
              </a:rPr>
              <a:t>How quiet is each instrument?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1591056"/>
            <a:ext cx="855878" cy="50292"/>
          </a:xfrm>
          <a:prstGeom prst="rect">
            <a:avLst/>
          </a:prstGeom>
          <a:solidFill>
            <a:srgbClr val="253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633118" y="1591056"/>
            <a:ext cx="427939" cy="50292"/>
          </a:xfrm>
          <a:prstGeom prst="rect">
            <a:avLst/>
          </a:prstGeom>
          <a:solidFill>
            <a:srgbClr val="B29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061057" y="1591056"/>
            <a:ext cx="2008022" cy="50292"/>
          </a:xfrm>
          <a:prstGeom prst="rect">
            <a:avLst/>
          </a:prstGeom>
          <a:solidFill>
            <a:srgbClr val="7C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 rot="16200000">
            <a:off x="10625328" y="3310128"/>
            <a:ext cx="2743200" cy="31089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7C898B"/>
                </a:solidFill>
                <a:latin typeface="Segoe UI Semibold"/>
              </a:rPr>
              <a:t>APPENDIX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75720" y="6473952"/>
            <a:ext cx="5669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7C898B"/>
                </a:solidFill>
                <a:latin typeface="Segoe UI Semibold"/>
              </a:rPr>
              <a:t>19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1847088"/>
            <a:ext cx="7452360" cy="4480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mot2cmp_noi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2781133"/>
            <a:ext cx="7269480" cy="2612469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458200" y="1965960"/>
            <a:ext cx="297180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050" b="1" i="0">
                <a:solidFill>
                  <a:srgbClr val="B29E84"/>
                </a:solidFill>
                <a:latin typeface="Segoe UI"/>
              </a:rPr>
              <a:t>▪  </a:t>
            </a:r>
            <a:r>
              <a:rPr sz="1050" b="0" i="0">
                <a:solidFill>
                  <a:srgbClr val="253439"/>
                </a:solidFill>
                <a:latin typeface="Segoe UI Semibold"/>
              </a:rPr>
              <a:t>both rigs sit in the tens of microstrain</a:t>
            </a:r>
          </a:p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050" b="1" i="0">
                <a:solidFill>
                  <a:srgbClr val="B29E84"/>
                </a:solidFill>
                <a:latin typeface="Segoe UI"/>
              </a:rPr>
              <a:t>▪  </a:t>
            </a:r>
            <a:r>
              <a:rPr sz="1050" b="0" i="0">
                <a:solidFill>
                  <a:srgbClr val="253439"/>
                </a:solidFill>
                <a:latin typeface="Segoe UI"/>
              </a:rPr>
              <a:t>our floor is set by pixel quantisation: noise ∝ 1/Px₀</a:t>
            </a:r>
          </a:p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050" b="1" i="0">
                <a:solidFill>
                  <a:srgbClr val="B29E84"/>
                </a:solidFill>
                <a:latin typeface="Segoe UI"/>
              </a:rPr>
              <a:t>▪  </a:t>
            </a:r>
            <a:r>
              <a:rPr sz="1050" b="0" i="0">
                <a:solidFill>
                  <a:srgbClr val="253439"/>
                </a:solidFill>
                <a:latin typeface="Segoe UI"/>
              </a:rPr>
              <a:t>predicted 1.78× between our two gauge lengths — measured 1.78×</a:t>
            </a:r>
          </a:p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050" b="1" i="0">
                <a:solidFill>
                  <a:srgbClr val="B29E84"/>
                </a:solidFill>
                <a:latin typeface="Segoe UI"/>
              </a:rPr>
              <a:t>▪  </a:t>
            </a:r>
            <a:r>
              <a:rPr sz="1050" b="0" i="0">
                <a:solidFill>
                  <a:srgbClr val="253439"/>
                </a:solidFill>
                <a:latin typeface="Segoe UI"/>
              </a:rPr>
              <a:t>so the noise is understood, not just small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