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8A22D07-A27E-47C8-8E55-7BBCBF5982D4}" v="6" dt="2026-09-04T17:18:50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1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ithya Sivakumar" userId="66f9b287-a2d3-4cb5-8dae-29884e733115" providerId="ADAL" clId="{937D3A49-D0E7-486D-BA98-5AD23D3FA812}"/>
    <pc:docChg chg="undo redo custSel addSld delSld modSld modMainMaster">
      <pc:chgData name="Adithya Sivakumar" userId="66f9b287-a2d3-4cb5-8dae-29884e733115" providerId="ADAL" clId="{937D3A49-D0E7-486D-BA98-5AD23D3FA812}" dt="2026-09-05T12:38:29.965" v="173" actId="1076"/>
      <pc:docMkLst>
        <pc:docMk/>
      </pc:docMkLst>
      <pc:sldChg chg="addSp delSp modSp mod">
        <pc:chgData name="Adithya Sivakumar" userId="66f9b287-a2d3-4cb5-8dae-29884e733115" providerId="ADAL" clId="{937D3A49-D0E7-486D-BA98-5AD23D3FA812}" dt="2026-09-04T17:19:54.445" v="63" actId="1076"/>
        <pc:sldMkLst>
          <pc:docMk/>
          <pc:sldMk cId="0" sldId="256"/>
        </pc:sldMkLst>
        <pc:spChg chg="mod">
          <ac:chgData name="Adithya Sivakumar" userId="66f9b287-a2d3-4cb5-8dae-29884e733115" providerId="ADAL" clId="{937D3A49-D0E7-486D-BA98-5AD23D3FA812}" dt="2026-09-04T17:19:54.445" v="63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16:11.988" v="33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17:40.549" v="47" actId="14100"/>
          <ac:spMkLst>
            <pc:docMk/>
            <pc:sldMk cId="0" sldId="256"/>
            <ac:spMk id="4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19:51.142" v="61" actId="948"/>
          <ac:spMkLst>
            <pc:docMk/>
            <pc:sldMk cId="0" sldId="256"/>
            <ac:spMk id="9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14:51.092" v="15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14:40.956" v="14" actId="164"/>
          <ac:spMkLst>
            <pc:docMk/>
            <pc:sldMk cId="0" sldId="256"/>
            <ac:spMk id="11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14:40.956" v="14" actId="164"/>
          <ac:spMkLst>
            <pc:docMk/>
            <pc:sldMk cId="0" sldId="256"/>
            <ac:spMk id="12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14:40.956" v="14" actId="164"/>
          <ac:spMkLst>
            <pc:docMk/>
            <pc:sldMk cId="0" sldId="256"/>
            <ac:spMk id="13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18:55.774" v="58" actId="108"/>
          <ac:spMkLst>
            <pc:docMk/>
            <pc:sldMk cId="0" sldId="256"/>
            <ac:spMk id="14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16:59.925" v="44" actId="403"/>
          <ac:spMkLst>
            <pc:docMk/>
            <pc:sldMk cId="0" sldId="256"/>
            <ac:spMk id="15" creationId="{00000000-0000-0000-0000-000000000000}"/>
          </ac:spMkLst>
        </pc:spChg>
        <pc:spChg chg="del">
          <ac:chgData name="Adithya Sivakumar" userId="66f9b287-a2d3-4cb5-8dae-29884e733115" providerId="ADAL" clId="{937D3A49-D0E7-486D-BA98-5AD23D3FA812}" dt="2026-09-04T17:17:56.694" v="48" actId="478"/>
          <ac:spMkLst>
            <pc:docMk/>
            <pc:sldMk cId="0" sldId="256"/>
            <ac:spMk id="16" creationId="{00000000-0000-0000-0000-000000000000}"/>
          </ac:spMkLst>
        </pc:spChg>
        <pc:grpChg chg="add mod">
          <ac:chgData name="Adithya Sivakumar" userId="66f9b287-a2d3-4cb5-8dae-29884e733115" providerId="ADAL" clId="{937D3A49-D0E7-486D-BA98-5AD23D3FA812}" dt="2026-09-04T17:16:46.773" v="39" actId="1076"/>
          <ac:grpSpMkLst>
            <pc:docMk/>
            <pc:sldMk cId="0" sldId="256"/>
            <ac:grpSpMk id="18" creationId="{F48D39A4-8D71-351D-01A2-1DEF03C7DE2C}"/>
          </ac:grpSpMkLst>
        </pc:grpChg>
      </pc:sldChg>
      <pc:sldChg chg="modSp mod">
        <pc:chgData name="Adithya Sivakumar" userId="66f9b287-a2d3-4cb5-8dae-29884e733115" providerId="ADAL" clId="{937D3A49-D0E7-486D-BA98-5AD23D3FA812}" dt="2026-09-04T17:25:02.994" v="136" actId="403"/>
        <pc:sldMkLst>
          <pc:docMk/>
          <pc:sldMk cId="0" sldId="257"/>
        </pc:sldMkLst>
        <pc:spChg chg="mod">
          <ac:chgData name="Adithya Sivakumar" userId="66f9b287-a2d3-4cb5-8dae-29884e733115" providerId="ADAL" clId="{937D3A49-D0E7-486D-BA98-5AD23D3FA812}" dt="2026-09-04T17:25:02.994" v="136" actId="403"/>
          <ac:spMkLst>
            <pc:docMk/>
            <pc:sldMk cId="0" sldId="257"/>
            <ac:spMk id="10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3:53.968" v="115" actId="14100"/>
          <ac:spMkLst>
            <pc:docMk/>
            <pc:sldMk cId="0" sldId="257"/>
            <ac:spMk id="16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29.782" v="123" actId="113"/>
          <ac:spMkLst>
            <pc:docMk/>
            <pc:sldMk cId="0" sldId="257"/>
            <ac:spMk id="17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3:56.855" v="116" actId="14100"/>
          <ac:spMkLst>
            <pc:docMk/>
            <pc:sldMk cId="0" sldId="257"/>
            <ac:spMk id="20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31.928" v="124" actId="113"/>
          <ac:spMkLst>
            <pc:docMk/>
            <pc:sldMk cId="0" sldId="257"/>
            <ac:spMk id="21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05.704" v="117" actId="14100"/>
          <ac:spMkLst>
            <pc:docMk/>
            <pc:sldMk cId="0" sldId="257"/>
            <ac:spMk id="24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33.488" v="125" actId="113"/>
          <ac:spMkLst>
            <pc:docMk/>
            <pc:sldMk cId="0" sldId="257"/>
            <ac:spMk id="25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11.435" v="119" actId="1076"/>
          <ac:spMkLst>
            <pc:docMk/>
            <pc:sldMk cId="0" sldId="257"/>
            <ac:spMk id="27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15.101" v="120" actId="14100"/>
          <ac:spMkLst>
            <pc:docMk/>
            <pc:sldMk cId="0" sldId="257"/>
            <ac:spMk id="28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35.324" v="126" actId="113"/>
          <ac:spMkLst>
            <pc:docMk/>
            <pc:sldMk cId="0" sldId="257"/>
            <ac:spMk id="29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21.479" v="121" actId="14100"/>
          <ac:spMkLst>
            <pc:docMk/>
            <pc:sldMk cId="0" sldId="257"/>
            <ac:spMk id="32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40.188" v="128" actId="113"/>
          <ac:spMkLst>
            <pc:docMk/>
            <pc:sldMk cId="0" sldId="257"/>
            <ac:spMk id="33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26.221" v="122" actId="14100"/>
          <ac:spMkLst>
            <pc:docMk/>
            <pc:sldMk cId="0" sldId="257"/>
            <ac:spMk id="36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4T17:24:38.658" v="127" actId="113"/>
          <ac:spMkLst>
            <pc:docMk/>
            <pc:sldMk cId="0" sldId="257"/>
            <ac:spMk id="37" creationId="{00000000-0000-0000-0000-000000000000}"/>
          </ac:spMkLst>
        </pc:spChg>
      </pc:sldChg>
      <pc:sldChg chg="modSp mod">
        <pc:chgData name="Adithya Sivakumar" userId="66f9b287-a2d3-4cb5-8dae-29884e733115" providerId="ADAL" clId="{937D3A49-D0E7-486D-BA98-5AD23D3FA812}" dt="2026-09-05T12:38:29.965" v="173" actId="1076"/>
        <pc:sldMkLst>
          <pc:docMk/>
          <pc:sldMk cId="0" sldId="258"/>
        </pc:sldMkLst>
        <pc:spChg chg="mod">
          <ac:chgData name="Adithya Sivakumar" userId="66f9b287-a2d3-4cb5-8dae-29884e733115" providerId="ADAL" clId="{937D3A49-D0E7-486D-BA98-5AD23D3FA812}" dt="2026-09-05T11:20:16.156" v="144" actId="14100"/>
          <ac:spMkLst>
            <pc:docMk/>
            <pc:sldMk cId="0" sldId="258"/>
            <ac:spMk id="16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5T11:19:50.508" v="143" actId="1076"/>
          <ac:spMkLst>
            <pc:docMk/>
            <pc:sldMk cId="0" sldId="258"/>
            <ac:spMk id="17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5T11:32:34.991" v="153" actId="20577"/>
          <ac:spMkLst>
            <pc:docMk/>
            <pc:sldMk cId="0" sldId="258"/>
            <ac:spMk id="29" creationId="{00000000-0000-0000-0000-000000000000}"/>
          </ac:spMkLst>
        </pc:spChg>
        <pc:spChg chg="mod">
          <ac:chgData name="Adithya Sivakumar" userId="66f9b287-a2d3-4cb5-8dae-29884e733115" providerId="ADAL" clId="{937D3A49-D0E7-486D-BA98-5AD23D3FA812}" dt="2026-09-05T11:33:00.493" v="171" actId="20577"/>
          <ac:spMkLst>
            <pc:docMk/>
            <pc:sldMk cId="0" sldId="258"/>
            <ac:spMk id="30" creationId="{00000000-0000-0000-0000-000000000000}"/>
          </ac:spMkLst>
        </pc:spChg>
        <pc:picChg chg="mod">
          <ac:chgData name="Adithya Sivakumar" userId="66f9b287-a2d3-4cb5-8dae-29884e733115" providerId="ADAL" clId="{937D3A49-D0E7-486D-BA98-5AD23D3FA812}" dt="2026-09-05T12:38:29.965" v="173" actId="1076"/>
          <ac:picMkLst>
            <pc:docMk/>
            <pc:sldMk cId="0" sldId="258"/>
            <ac:picMk id="18" creationId="{00000000-0000-0000-0000-000000000000}"/>
          </ac:picMkLst>
        </pc:picChg>
      </pc:sldChg>
      <pc:sldChg chg="new del">
        <pc:chgData name="Adithya Sivakumar" userId="66f9b287-a2d3-4cb5-8dae-29884e733115" providerId="ADAL" clId="{937D3A49-D0E7-486D-BA98-5AD23D3FA812}" dt="2026-09-04T17:18:09.441" v="50" actId="680"/>
        <pc:sldMkLst>
          <pc:docMk/>
          <pc:sldMk cId="186793127" sldId="275"/>
        </pc:sldMkLst>
      </pc:sldChg>
      <pc:sldMasterChg chg="addSp mod">
        <pc:chgData name="Adithya Sivakumar" userId="66f9b287-a2d3-4cb5-8dae-29884e733115" providerId="ADAL" clId="{937D3A49-D0E7-486D-BA98-5AD23D3FA812}" dt="2026-09-04T17:25:34.983" v="137" actId="22"/>
        <pc:sldMasterMkLst>
          <pc:docMk/>
          <pc:sldMasterMk cId="2209977519" sldId="2147483648"/>
        </pc:sldMasterMkLst>
        <pc:picChg chg="add">
          <ac:chgData name="Adithya Sivakumar" userId="66f9b287-a2d3-4cb5-8dae-29884e733115" providerId="ADAL" clId="{937D3A49-D0E7-486D-BA98-5AD23D3FA812}" dt="2026-09-04T17:25:34.983" v="137" actId="22"/>
          <ac:picMkLst>
            <pc:docMk/>
            <pc:sldMasterMk cId="2209977519" sldId="2147483648"/>
            <ac:picMk id="8" creationId="{0DCF94A4-B4AE-75FD-878C-55D8C0515977}"/>
          </ac:picMkLst>
        </pc:picChg>
      </pc:sldMaster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65FE33-248B-418E-80DF-32EE702ADF6F}" type="datetimeFigureOut">
              <a:rPr lang="en-SE" smtClean="0"/>
              <a:t>2026-09-05</a:t>
            </a:fld>
            <a:endParaRPr lang="en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73D6B5-9C92-4220-B47A-53362BAF60D8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062178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73D6B5-9C92-4220-B47A-53362BAF60D8}" type="slidenum">
              <a:rPr lang="en-SE" smtClean="0"/>
              <a:t>1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0364908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973D6B5-9C92-4220-B47A-53362BAF60D8}" type="slidenum">
              <a:rPr lang="en-SE" smtClean="0"/>
              <a:t>4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1008210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glued = strain gauge, clipped = extensometer, camera = video extensometer (XT-205, and our rig)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ju_mark.png">
            <a:extLst>
              <a:ext uri="{FF2B5EF4-FFF2-40B4-BE49-F238E27FC236}">
                <a16:creationId xmlns:a16="http://schemas.microsoft.com/office/drawing/2014/main" id="{0DCF94A4-B4AE-75FD-878C-55D8C0515977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88720" y="365760"/>
            <a:ext cx="1069848" cy="475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microsoft.com/office/2007/relationships/media" Target="../media/media3.mp4"/><Relationship Id="rId6" Type="http://schemas.openxmlformats.org/officeDocument/2006/relationships/video" Target="../media/media3.mp4"/><Relationship Id="rId7" Type="http://schemas.openxmlformats.org/officeDocument/2006/relationships/slideLayout" Target="../slideLayouts/slideLayout7.xml"/><Relationship Id="rId8" Type="http://schemas.openxmlformats.org/officeDocument/2006/relationships/image" Target="../media/image1.png"/><Relationship Id="rId9" Type="http://schemas.openxmlformats.org/officeDocument/2006/relationships/image" Target="../media/image4.png"/><Relationship Id="rId10" Type="http://schemas.openxmlformats.org/officeDocument/2006/relationships/image" Target="../media/image5.png"/><Relationship Id="rId11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1887" y="-109728"/>
            <a:ext cx="12191695" cy="6967728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-109728"/>
            <a:ext cx="475488" cy="91440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932686"/>
            <a:ext cx="475488" cy="592531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365760"/>
            <a:ext cx="1069848" cy="4754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88720" y="1906481"/>
            <a:ext cx="9692640" cy="15679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ts val="6500"/>
              </a:lnSpc>
            </a:pPr>
            <a:r>
              <a:rPr lang="en-US" sz="4000" b="1" dirty="0">
                <a:solidFill>
                  <a:srgbClr val="253439"/>
                </a:solidFill>
                <a:latin typeface="Lato"/>
              </a:rPr>
              <a:t>1-D DIC IMPLEMENTATION ON UNIVERSAL TESTING MACHINE</a:t>
            </a:r>
            <a:endParaRPr lang="en-US" sz="4000" b="1" dirty="0">
              <a:solidFill>
                <a:srgbClr val="253439"/>
              </a:solidFill>
              <a:latin typeface="Lato"/>
              <a:sym typeface="Lato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225296" y="3658278"/>
            <a:ext cx="9692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 i="0" dirty="0">
                <a:solidFill>
                  <a:srgbClr val="7C898B"/>
                </a:solidFill>
                <a:latin typeface="Segoe UI"/>
              </a:rPr>
              <a:t>A camera-instrumented desktop tensile tester — built, validated against a commercial lab, and documented.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48D39A4-8D71-351D-01A2-1DEF03C7DE2C}"/>
              </a:ext>
            </a:extLst>
          </p:cNvPr>
          <p:cNvGrpSpPr/>
          <p:nvPr/>
        </p:nvGrpSpPr>
        <p:grpSpPr>
          <a:xfrm>
            <a:off x="1213409" y="4156624"/>
            <a:ext cx="3931919" cy="68580"/>
            <a:chOff x="1207008" y="3602736"/>
            <a:chExt cx="3931919" cy="68580"/>
          </a:xfrm>
        </p:grpSpPr>
        <p:sp>
          <p:nvSpPr>
            <p:cNvPr id="11" name="Rectangle 10"/>
            <p:cNvSpPr/>
            <p:nvPr/>
          </p:nvSpPr>
          <p:spPr>
            <a:xfrm>
              <a:off x="1207008" y="3602736"/>
              <a:ext cx="1022299" cy="68580"/>
            </a:xfrm>
            <a:prstGeom prst="rect">
              <a:avLst/>
            </a:prstGeom>
            <a:solidFill>
              <a:srgbClr val="25343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229307" y="3602736"/>
              <a:ext cx="511149" cy="68580"/>
            </a:xfrm>
            <a:prstGeom prst="rect">
              <a:avLst/>
            </a:prstGeom>
            <a:solidFill>
              <a:srgbClr val="B29E8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2740456" y="3602736"/>
              <a:ext cx="2398471" cy="68580"/>
            </a:xfrm>
            <a:prstGeom prst="rect">
              <a:avLst/>
            </a:prstGeom>
            <a:solidFill>
              <a:srgbClr val="7C898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4" name="TextBox 13"/>
          <p:cNvSpPr txBox="1"/>
          <p:nvPr/>
        </p:nvSpPr>
        <p:spPr>
          <a:xfrm>
            <a:off x="1207008" y="5074920"/>
            <a:ext cx="6766560" cy="9756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 dirty="0">
                <a:solidFill>
                  <a:srgbClr val="253439"/>
                </a:solidFill>
                <a:latin typeface="Segoe UI Semibold"/>
              </a:rPr>
              <a:t>Adithya Sivakumar</a:t>
            </a:r>
          </a:p>
          <a:p>
            <a:pPr algn="l">
              <a:lnSpc>
                <a:spcPct val="115000"/>
              </a:lnSpc>
            </a:pPr>
            <a:r>
              <a:rPr sz="1100" b="0" i="0" dirty="0">
                <a:solidFill>
                  <a:srgbClr val="7C898B"/>
                </a:solidFill>
                <a:latin typeface="Segoe UI"/>
              </a:rPr>
              <a:t>adithya.sivakumar@ju.se</a:t>
            </a:r>
          </a:p>
          <a:p>
            <a:pPr algn="l">
              <a:lnSpc>
                <a:spcPct val="115000"/>
              </a:lnSpc>
            </a:pPr>
            <a:endParaRPr sz="1100" b="0" i="0" dirty="0">
              <a:solidFill>
                <a:srgbClr val="7C898B"/>
              </a:solidFill>
              <a:latin typeface="Segoe UI"/>
            </a:endParaRPr>
          </a:p>
          <a:p>
            <a:r>
              <a:rPr sz="1100" b="0" i="0" dirty="0">
                <a:solidFill>
                  <a:srgbClr val="7C898B"/>
                </a:solidFill>
                <a:latin typeface="Segoe UI"/>
              </a:rPr>
              <a:t>Supervisors:  </a:t>
            </a:r>
            <a:r>
              <a:rPr lang="en-SE" sz="1100" dirty="0">
                <a:solidFill>
                  <a:srgbClr val="7C898B"/>
                </a:solidFill>
                <a:latin typeface="Segoe UI"/>
              </a:rPr>
              <a:t>Johan Jansson</a:t>
            </a:r>
            <a:r>
              <a:rPr lang="en-GB" sz="1100" dirty="0">
                <a:solidFill>
                  <a:srgbClr val="7C898B"/>
                </a:solidFill>
                <a:latin typeface="Segoe UI"/>
              </a:rPr>
              <a:t> </a:t>
            </a:r>
            <a:r>
              <a:rPr sz="1100" b="0" i="0" dirty="0">
                <a:solidFill>
                  <a:srgbClr val="7C898B"/>
                </a:solidFill>
                <a:latin typeface="Segoe UI"/>
              </a:rPr>
              <a:t>·</a:t>
            </a:r>
            <a:r>
              <a:rPr lang="en-GB" sz="1100" b="0" i="0" dirty="0">
                <a:solidFill>
                  <a:srgbClr val="7C898B"/>
                </a:solidFill>
                <a:latin typeface="Segoe UI"/>
              </a:rPr>
              <a:t> </a:t>
            </a:r>
            <a:r>
              <a:rPr lang="en-SE" sz="1100" dirty="0">
                <a:solidFill>
                  <a:srgbClr val="7C898B"/>
                </a:solidFill>
                <a:latin typeface="Segoe UI"/>
              </a:rPr>
              <a:t>Mirza Cenanovic</a:t>
            </a:r>
          </a:p>
          <a:p>
            <a:pPr>
              <a:lnSpc>
                <a:spcPct val="100000"/>
              </a:lnSpc>
            </a:pPr>
            <a:endParaRPr sz="1100" b="0" i="0" dirty="0">
              <a:solidFill>
                <a:srgbClr val="7C898B"/>
              </a:solidFill>
              <a:latin typeface="Segoe U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61402" y="4352544"/>
            <a:ext cx="1061189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 dirty="0">
                <a:solidFill>
                  <a:srgbClr val="253439"/>
                </a:solidFill>
                <a:latin typeface="Segoe UI Semibold"/>
              </a:rPr>
              <a:t>SEPTEMBER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B29E84"/>
                </a:solidFill>
                <a:latin typeface="Segoe UI Semibold"/>
              </a:rPr>
              <a:t>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GB" sz="2800" b="1" dirty="0">
                <a:solidFill>
                  <a:srgbClr val="253439"/>
                </a:solidFill>
                <a:latin typeface="Lato"/>
              </a:rPr>
              <a:t>Today, in six parts</a:t>
            </a:r>
            <a:endParaRPr sz="2800" b="1" dirty="0">
              <a:solidFill>
                <a:srgbClr val="253439"/>
              </a:solidFill>
              <a:latin typeface="Lato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PPD-UTM  ·  FINAL PRESENTATION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011680"/>
            <a:ext cx="5257800" cy="923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78408" y="2157984"/>
            <a:ext cx="86868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>
                <a:solidFill>
                  <a:srgbClr val="B29E84"/>
                </a:solidFill>
                <a:latin typeface="Segoe UI Light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2176272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53439"/>
                </a:solidFill>
                <a:latin typeface="Segoe UI Semibold"/>
              </a:rPr>
              <a:t>DIC, in one picture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2560320"/>
            <a:ext cx="4160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what the rig measures, and why no sensor touches the part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011680"/>
            <a:ext cx="5257800" cy="923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01968" y="2157984"/>
            <a:ext cx="86868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>
                <a:solidFill>
                  <a:srgbClr val="B29E84"/>
                </a:solidFill>
                <a:latin typeface="Segoe UI Light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60920" y="2176272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53439"/>
                </a:solidFill>
                <a:latin typeface="Segoe UI Semibold"/>
              </a:rPr>
              <a:t>What was built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2560320"/>
            <a:ext cx="4160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hardware, software — and 19 things it does on its own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337560"/>
            <a:ext cx="5257800" cy="923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78408" y="3483864"/>
            <a:ext cx="86868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>
                <a:solidFill>
                  <a:srgbClr val="B29E84"/>
                </a:solidFill>
                <a:latin typeface="Segoe UI Light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3502152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53439"/>
                </a:solidFill>
                <a:latin typeface="Segoe UI Semibold"/>
              </a:rPr>
              <a:t>Live demo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3886200"/>
            <a:ext cx="4160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7C898B"/>
                </a:solidFill>
                <a:latin typeface="Segoe UI"/>
              </a:rPr>
              <a:t>a specimen pulled to fracture, live on the rig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337560"/>
            <a:ext cx="5257800" cy="923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601968" y="3483864"/>
            <a:ext cx="86868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>
                <a:solidFill>
                  <a:srgbClr val="B29E84"/>
                </a:solidFill>
                <a:latin typeface="Segoe UI Light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3502152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53439"/>
                </a:solidFill>
                <a:latin typeface="Segoe UI Semibold"/>
              </a:rPr>
              <a:t>Validation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3886200"/>
            <a:ext cx="4160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the same material through a commercial lab — and how close we land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4663440"/>
            <a:ext cx="5257800" cy="923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78408" y="4809744"/>
            <a:ext cx="86868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>
                <a:solidFill>
                  <a:srgbClr val="B29E84"/>
                </a:solidFill>
                <a:latin typeface="Segoe UI Light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7360" y="4828031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53439"/>
                </a:solidFill>
                <a:latin typeface="Segoe UI Semibold"/>
              </a:rPr>
              <a:t>AI in the loop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5212079"/>
            <a:ext cx="4160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how this was built by one engineer and a coding agent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663440"/>
            <a:ext cx="5257800" cy="923544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601968" y="4809744"/>
            <a:ext cx="868680" cy="4616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>
                <a:solidFill>
                  <a:srgbClr val="B29E84"/>
                </a:solidFill>
                <a:latin typeface="Segoe UI Light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60920" y="4828031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0" i="0">
                <a:solidFill>
                  <a:srgbClr val="253439"/>
                </a:solidFill>
                <a:latin typeface="Segoe UI Semibold"/>
              </a:rPr>
              <a:t>What comes next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0920" y="5212079"/>
            <a:ext cx="4160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future work, and one number for fun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14476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7C898B"/>
                </a:solidFill>
                <a:latin typeface="Segoe UI"/>
              </a:rPr>
              <a:t>Appendix afterwards: Otsu thresholding · PLA vs PETG vs TPU · rig-to-rig noise.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01 · BACKGROUND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DIC — the camera is the strain gauge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1810512"/>
            <a:ext cx="10712196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 dirty="0">
                <a:solidFill>
                  <a:srgbClr val="253439"/>
                </a:solidFill>
                <a:latin typeface="Segoe UI"/>
              </a:rPr>
              <a:t>DIC — Digital Image Correlation — measures how a part deforms by comparing photographs of its surface while it is loaded; here in its simplest two-dot form.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28519" y="2578608"/>
            <a:ext cx="7680960" cy="1623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ppd_dic_expl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5891" y="2739621"/>
            <a:ext cx="6992775" cy="130163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777240" y="4846320"/>
            <a:ext cx="33832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77240" y="4846320"/>
            <a:ext cx="64008" cy="1325880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5001768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53439"/>
                </a:solidFill>
                <a:latin typeface="Segoe UI Semibold"/>
              </a:rPr>
              <a:t>No contact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349240"/>
            <a:ext cx="30175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53439"/>
                </a:solidFill>
                <a:latin typeface="Segoe UI"/>
              </a:rPr>
              <a:t>no strain gauge glued on, no clip-on extensometer — nothing touches the specimen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120" y="4846320"/>
            <a:ext cx="33832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89120" y="4846320"/>
            <a:ext cx="64008" cy="1325880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17720" y="5001768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>
                <a:solidFill>
                  <a:srgbClr val="253439"/>
                </a:solidFill>
                <a:latin typeface="Segoe UI Semibold"/>
              </a:rPr>
              <a:t>Live stress–strain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5349240"/>
            <a:ext cx="301752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53439"/>
                </a:solidFill>
                <a:latin typeface="Segoe UI"/>
              </a:rPr>
              <a:t>the load cell gives force, the camera gives strain — the stress–strain curve draws itself live during the pull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01000" y="4846320"/>
            <a:ext cx="33832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001000" y="4846320"/>
            <a:ext cx="64008" cy="1325880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0" y="5001768"/>
            <a:ext cx="3017520" cy="2077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0" dirty="0">
                <a:solidFill>
                  <a:srgbClr val="253439"/>
                </a:solidFill>
                <a:latin typeface="Segoe UI Semibold"/>
              </a:rPr>
              <a:t>Every frame</a:t>
            </a:r>
            <a:r>
              <a:rPr lang="en-GB" sz="1350" b="0" i="0" dirty="0">
                <a:solidFill>
                  <a:srgbClr val="253439"/>
                </a:solidFill>
                <a:latin typeface="Segoe UI Semibold"/>
              </a:rPr>
              <a:t> captured</a:t>
            </a:r>
            <a:endParaRPr sz="1350" b="0" i="0" dirty="0">
              <a:solidFill>
                <a:srgbClr val="253439"/>
              </a:solidFill>
              <a:latin typeface="Segoe UI Semibold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229600" y="5349240"/>
            <a:ext cx="3017520" cy="32739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 dirty="0">
                <a:solidFill>
                  <a:srgbClr val="253439"/>
                </a:solidFill>
                <a:latin typeface="Segoe UI"/>
              </a:rPr>
              <a:t>35 </a:t>
            </a:r>
            <a:r>
              <a:rPr lang="en-GB" sz="1050" b="0" i="0" dirty="0">
                <a:solidFill>
                  <a:srgbClr val="253439"/>
                </a:solidFill>
                <a:latin typeface="Segoe UI"/>
              </a:rPr>
              <a:t>frames</a:t>
            </a:r>
            <a:r>
              <a:rPr sz="1050" b="0" i="0" dirty="0">
                <a:solidFill>
                  <a:srgbClr val="253439"/>
                </a:solidFill>
                <a:latin typeface="Segoe UI"/>
              </a:rPr>
              <a:t> per second</a:t>
            </a:r>
            <a:r>
              <a:rPr lang="en-GB" sz="1050" b="0" i="0" dirty="0">
                <a:solidFill>
                  <a:srgbClr val="253439"/>
                </a:solidFill>
                <a:latin typeface="Segoe UI"/>
              </a:rPr>
              <a:t> (FPS)</a:t>
            </a:r>
            <a:r>
              <a:rPr sz="1050" b="0" i="0" dirty="0">
                <a:solidFill>
                  <a:srgbClr val="253439"/>
                </a:solidFill>
                <a:latin typeface="Segoe UI"/>
              </a:rPr>
              <a:t>, live on screen while the test runs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02 · 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One rig, one application — built together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THE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28800"/>
            <a:ext cx="2788920" cy="3977639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UTM rig_12-08-2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080260"/>
            <a:ext cx="2606039" cy="34747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870448"/>
            <a:ext cx="2788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"/>
              </a:rPr>
              <a:t>the PPD-UTM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86200" y="1847088"/>
            <a:ext cx="38404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29E84"/>
                </a:solidFill>
                <a:latin typeface="Segoe UI Semibold"/>
              </a:rPr>
              <a:t>HARDWARE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86200" y="2176272"/>
            <a:ext cx="37947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 dirty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 dirty="0">
                <a:solidFill>
                  <a:srgbClr val="253439"/>
                </a:solidFill>
                <a:latin typeface="Segoe UI"/>
              </a:rPr>
              <a:t>twin ball-screw frame, 4.5 </a:t>
            </a:r>
            <a:r>
              <a:rPr sz="1100" b="0" i="0" dirty="0" err="1">
                <a:solidFill>
                  <a:srgbClr val="253439"/>
                </a:solidFill>
                <a:latin typeface="Segoe UI"/>
              </a:rPr>
              <a:t>kN</a:t>
            </a:r>
            <a:r>
              <a:rPr sz="1100" b="0" i="0" dirty="0">
                <a:solidFill>
                  <a:srgbClr val="253439"/>
                </a:solidFill>
                <a:latin typeface="Segoe UI"/>
              </a:rPr>
              <a:t> load cell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 dirty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 dirty="0">
                <a:solidFill>
                  <a:srgbClr val="253439"/>
                </a:solidFill>
                <a:latin typeface="Segoe UI"/>
              </a:rPr>
              <a:t>industrial camera + LED panel — the DIC eye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 dirty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 dirty="0">
                <a:solidFill>
                  <a:srgbClr val="253439"/>
                </a:solidFill>
                <a:latin typeface="Segoe UI"/>
              </a:rPr>
              <a:t>printed grips, emergency stop, enclosure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3675887"/>
            <a:ext cx="38404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29E84"/>
                </a:solidFill>
                <a:latin typeface="Segoe UI Semibold"/>
              </a:rPr>
              <a:t>SOFTWARE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86200" y="4005072"/>
            <a:ext cx="37947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 dirty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 dirty="0">
                <a:solidFill>
                  <a:srgbClr val="253439"/>
                </a:solidFill>
                <a:latin typeface="Segoe UI"/>
              </a:rPr>
              <a:t>one PyQt6 application runs the whole test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 dirty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 dirty="0">
                <a:solidFill>
                  <a:srgbClr val="253439"/>
                </a:solidFill>
                <a:latin typeface="Segoe UI"/>
              </a:rPr>
              <a:t>live DIC strain at 35 fps, six closed-loop protocols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 dirty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 dirty="0">
                <a:solidFill>
                  <a:srgbClr val="253439"/>
                </a:solidFill>
                <a:latin typeface="Segoe UI"/>
              </a:rPr>
              <a:t>every run leaves a CSV + video + PDF report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 i="0" dirty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 dirty="0">
                <a:solidFill>
                  <a:srgbClr val="253439"/>
                </a:solidFill>
                <a:latin typeface="Segoe UI"/>
              </a:rPr>
              <a:t>post-processor re-measures any recorded video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2440" y="1847088"/>
            <a:ext cx="32918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75320" y="1938528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253439"/>
                </a:solidFill>
                <a:latin typeface="Segoe UI Light"/>
              </a:rPr>
              <a:t>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55480" y="2066543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specimens pulled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92440" y="2688336"/>
            <a:ext cx="32918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20" y="2779776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253439"/>
                </a:solidFill>
                <a:latin typeface="Segoe UI Light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2907791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materials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2440" y="3529584"/>
            <a:ext cx="32918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75320" y="3621024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253439"/>
                </a:solidFill>
                <a:latin typeface="Segoe UI Light"/>
              </a:rPr>
              <a:t>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55480" y="3749040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smart features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92440" y="4370832"/>
            <a:ext cx="32918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75320" y="4462272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253439"/>
                </a:solidFill>
                <a:latin typeface="Segoe UI Light"/>
              </a:rPr>
              <a:t>~44 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55480" y="4590288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lines of Python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2440" y="5212080"/>
            <a:ext cx="32918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75320" y="5303520"/>
            <a:ext cx="1371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253439"/>
                </a:solidFill>
                <a:latin typeface="Segoe UI Light"/>
              </a:rPr>
              <a:t>204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5431536"/>
            <a:ext cx="1737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evidence pages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92440" y="6144768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98B"/>
                </a:solidFill>
                <a:latin typeface="Segoe UI"/>
              </a:rPr>
              <a:t>numbers as of Sep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02 · 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Nineteen things the rig does on its own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THE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20240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7240" y="1920240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3544" y="20116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" y="2212848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DIC health HUD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0" y="1920240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474720" y="1920240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21024" y="20116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21024" y="2212848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Prepare specimen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1920240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172200" y="1920240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318504" y="20116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18504" y="2212848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Settings / recipes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1920240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869680" y="1920240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015984" y="20116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5984" y="2212848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1-click PDF report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2798064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777240" y="2798064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23544" y="288950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3090672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Auto-stop at fracture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720" y="2798064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474720" y="2798064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21024" y="288950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21024" y="3090672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Strain-rate control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72200" y="2798064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172200" y="2798064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318504" y="288950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8504" y="3090672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Stall guard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869680" y="2798064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8869680" y="2798064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9015984" y="288950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15984" y="3090672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Release load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" y="3675887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777240" y="3675887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23544" y="3767327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3544" y="3968496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6 test protocols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74720" y="3675887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3474720" y="3675887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621024" y="3767327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21024" y="3968496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Auto-preload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172200" y="3675887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6172200" y="3675887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318504" y="3767327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18504" y="3968496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Auto-metadata link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869680" y="3675887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8869680" y="3675887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9015984" y="3767327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15984" y="3968496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DIC auto-calibrate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77240" y="4553712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77240" y="4553712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923544" y="464515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3544" y="4846320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Guided wizard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720" y="4553712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3474720" y="4553712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3621024" y="464515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21024" y="4846320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Test registry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553712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6172200" y="4553712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318504" y="464515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18504" y="4846320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Dead-DIC guard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869680" y="4553712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8869680" y="4553712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9015984" y="464515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15984" y="4846320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Live Px₀ overlay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77240" y="5431536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777240" y="5431536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923544" y="5522975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3544" y="5724144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Video + stills capture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474720" y="5431536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3474720" y="5431536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3621024" y="5522975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21024" y="5724144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DIC post-processing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431536"/>
            <a:ext cx="2587752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Rectangle 88"/>
          <p:cNvSpPr/>
          <p:nvPr/>
        </p:nvSpPr>
        <p:spPr>
          <a:xfrm>
            <a:off x="6172200" y="5431536"/>
            <a:ext cx="45720" cy="749808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6318504" y="5522975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B29E84"/>
                </a:solidFill>
                <a:latin typeface="Segoe UI Semibold"/>
              </a:rPr>
              <a:t>SF19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18504" y="5724144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"/>
              </a:rPr>
              <a:t>Noise capture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77240" y="640080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"/>
              </a:rPr>
              <a:t>each of these has its own evidence page in the project deck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02 · THE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…and the three worth two minutes each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THE BUILD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20240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5256" y="20116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" y="2212848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DIC health HUD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0" y="1920240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02736" y="20116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2736" y="2212848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Prepare specimen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1920240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00216" y="20116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212848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Settings / recipes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869680" y="1920240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97696" y="2011680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7696" y="2212848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1-click PDF report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" y="2679192"/>
            <a:ext cx="2898648" cy="987552"/>
          </a:xfrm>
          <a:prstGeom prst="rect">
            <a:avLst/>
          </a:prstGeom>
          <a:solidFill>
            <a:srgbClr val="253439"/>
          </a:solidFill>
          <a:ln w="17780">
            <a:solidFill>
              <a:srgbClr val="B29E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68096" y="2761488"/>
            <a:ext cx="26243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29E84"/>
                </a:solidFill>
                <a:latin typeface="Segoe UI Semibold"/>
              </a:rPr>
              <a:t>SF5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" y="2953512"/>
            <a:ext cx="2624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Segoe UI Semibold"/>
              </a:rPr>
              <a:t>Auto-stop at fracture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227832"/>
            <a:ext cx="26243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19" b="0" i="0">
                <a:solidFill>
                  <a:srgbClr val="C9D2D4"/>
                </a:solidFill>
                <a:latin typeface="Segoe UI"/>
              </a:rPr>
              <a:t>sees the load collapse and halts the motor itself — no hand on the stop button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19272" y="2679192"/>
            <a:ext cx="2898648" cy="987552"/>
          </a:xfrm>
          <a:prstGeom prst="rect">
            <a:avLst/>
          </a:prstGeom>
          <a:solidFill>
            <a:srgbClr val="253439"/>
          </a:solidFill>
          <a:ln w="17780">
            <a:solidFill>
              <a:srgbClr val="B29E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465576" y="2761488"/>
            <a:ext cx="26243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29E84"/>
                </a:solidFill>
                <a:latin typeface="Segoe UI Semibold"/>
              </a:rPr>
              <a:t>SF6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65576" y="2953512"/>
            <a:ext cx="2624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Segoe UI Semibold"/>
              </a:rPr>
              <a:t>Strain-rate control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65576" y="3227832"/>
            <a:ext cx="26243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19" b="0" i="0">
                <a:solidFill>
                  <a:srgbClr val="C9D2D4"/>
                </a:solidFill>
                <a:latin typeface="Segoe UI"/>
              </a:rPr>
              <a:t>closes the loop on measured strain rate, not motor speed — constant dε/dt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2798064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300216" y="288950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0216" y="3090672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Stall guard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869680" y="2798064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997696" y="2889504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3090672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Release load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" y="3675887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905256" y="3767327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" y="3968496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6 test protocols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74720" y="3675887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602736" y="3767327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02736" y="3968496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Auto-preload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3675887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300216" y="3767327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0216" y="3968496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Auto-metadata link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869680" y="3675887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997696" y="3767327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997696" y="3968496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DIC auto-calibrate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7240" y="4553712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905256" y="464515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05256" y="4846320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Guided wizard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474720" y="4553712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3602736" y="464515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02736" y="4846320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Test registry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72200" y="4553712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300216" y="464515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0216" y="4846320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Dead-DIC guard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869680" y="4553712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8997696" y="4645152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997696" y="4846320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Live Px₀ overlay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77240" y="5431536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05256" y="5522975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5256" y="5724144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Video + stills capture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19272" y="5312664"/>
            <a:ext cx="2898648" cy="987552"/>
          </a:xfrm>
          <a:prstGeom prst="rect">
            <a:avLst/>
          </a:prstGeom>
          <a:solidFill>
            <a:srgbClr val="253439"/>
          </a:solidFill>
          <a:ln w="17780">
            <a:solidFill>
              <a:srgbClr val="B29E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3465576" y="5394959"/>
            <a:ext cx="26243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B29E84"/>
                </a:solidFill>
                <a:latin typeface="Segoe UI Semibold"/>
              </a:rPr>
              <a:t>SF18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465576" y="5586983"/>
            <a:ext cx="262432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FFFFFF"/>
                </a:solidFill>
                <a:latin typeface="Segoe UI Semibold"/>
              </a:rPr>
              <a:t>DIC post-processing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65576" y="5861303"/>
            <a:ext cx="262432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819" b="0" i="0">
                <a:solidFill>
                  <a:srgbClr val="C9D2D4"/>
                </a:solidFill>
                <a:latin typeface="Segoe UI"/>
              </a:rPr>
              <a:t>re-measures ANY recorded video — it is how the commercial lab's test got audited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5431536"/>
            <a:ext cx="2587752" cy="749808"/>
          </a:xfrm>
          <a:prstGeom prst="rect">
            <a:avLst/>
          </a:prstGeom>
          <a:solidFill>
            <a:srgbClr val="F6F4F1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6300216" y="5522975"/>
            <a:ext cx="23317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DEDAD2"/>
                </a:solidFill>
                <a:latin typeface="Segoe UI Semibold"/>
              </a:rPr>
              <a:t>SF19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5724144"/>
            <a:ext cx="2331720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DEDAD2"/>
                </a:solidFill>
                <a:latin typeface="Segoe UI"/>
              </a:rPr>
              <a:t>Noise capture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77240" y="640080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53439"/>
                </a:solidFill>
                <a:latin typeface="Segoe UI Semibold"/>
              </a:rPr>
              <a:t>SF5 protects the specimen · SF6 makes tests comparable · SF18 made the validation possible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03 · LIVE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Three materials, three behaviours — then the real thing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LIVE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10512"/>
            <a:ext cx="8549640" cy="1408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demo_pla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859536" y="1851660"/>
            <a:ext cx="8385048" cy="132588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77240" y="1805940"/>
            <a:ext cx="903427" cy="27432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Segoe UI Semibold"/>
              </a:rPr>
              <a:t>PLA — S13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40" y="2029967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PLA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2340864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black PLA · fractures at ~4 % strain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314700"/>
            <a:ext cx="8549640" cy="1408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demo_petg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59536" y="3355848"/>
            <a:ext cx="8385048" cy="132588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77240" y="3310128"/>
            <a:ext cx="987551" cy="27432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Segoe UI Semibold"/>
              </a:rPr>
              <a:t>PETG — S30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0" y="3534156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PETG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845052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glossier, more ductile · ~8 % at fracture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4818888"/>
            <a:ext cx="8549640" cy="140817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demo_tpu.mp4">
            <a:hlinkClick r:id="" action="ppaction://media"/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59536" y="4860036"/>
            <a:ext cx="8385048" cy="132588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777240" y="4814316"/>
            <a:ext cx="903427" cy="27432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Segoe UI Semibold"/>
              </a:rPr>
              <a:t>TPU — S35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4040" y="5038344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TPU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5349240"/>
            <a:ext cx="23774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rubber-like · leaves the frame before it fractures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373368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"/>
              </a:rPr>
              <a:t>15-second timelapses of real pulls on this rig (click to play) — then we switch to the live software and break one for real.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22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27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04 ·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The same material, through a commercial lab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74519"/>
            <a:ext cx="5120640" cy="3977639"/>
          </a:xfrm>
          <a:prstGeom prst="rect">
            <a:avLst/>
          </a:prstGeom>
          <a:solidFill>
            <a:srgbClr val="F6F4F1"/>
          </a:solidFill>
          <a:ln w="15240">
            <a:solidFill>
              <a:srgbClr val="7C898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552444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7C898B"/>
                </a:solidFill>
                <a:latin typeface="Segoe UI Semibold"/>
              </a:rPr>
              <a:t>MOT LAB PHOTO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881627"/>
            <a:ext cx="4572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"/>
              </a:rPr>
              <a:t>drops in here — machine + XT-205 in view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874519"/>
            <a:ext cx="5212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29E84"/>
                </a:solidFill>
                <a:latin typeface="Segoe UI Semibold"/>
              </a:rPr>
              <a:t>THE REFERENCE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212848"/>
            <a:ext cx="507492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1" i="0">
                <a:solidFill>
                  <a:srgbClr val="253439"/>
                </a:solidFill>
                <a:latin typeface="Segoe UI"/>
              </a:rPr>
              <a:t>MOT materials lab — commercial tensile frame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>
                <a:solidFill>
                  <a:srgbClr val="253439"/>
                </a:solidFill>
                <a:latin typeface="Segoe UI"/>
              </a:rPr>
              <a:t>XT-205 video extensometer: a camera that tracks two painted marks — the same principle as our DIC, in certified form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>
                <a:solidFill>
                  <a:srgbClr val="253439"/>
                </a:solidFill>
                <a:latin typeface="Segoe UI"/>
              </a:rPr>
              <a:t>two specimens from our own print batch: XT205-S1 and XT205-S2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77639"/>
            <a:ext cx="521208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29E84"/>
                </a:solidFill>
                <a:latin typeface="Segoe UI Semibold"/>
              </a:rPr>
              <a:t>TEST CONDITIONS · XT205-S2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4315968"/>
            <a:ext cx="1071676" cy="274320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Segoe UI Semibold"/>
              </a:rPr>
              <a:t>45 mm gauge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0" y="4315968"/>
            <a:ext cx="819302" cy="274320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Segoe UI Semibold"/>
              </a:rPr>
              <a:t>2 mm/min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64040" y="4315968"/>
            <a:ext cx="1239926" cy="274320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1000">
                <a:solidFill>
                  <a:srgbClr val="FFFFFF"/>
                </a:solidFill>
                <a:latin typeface="Segoe UI Semibold"/>
              </a:rPr>
              <a:t>300 N preload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846320"/>
            <a:ext cx="50749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>
                <a:solidFill>
                  <a:srgbClr val="253439"/>
                </a:solidFill>
                <a:latin typeface="Segoe UI"/>
              </a:rPr>
              <a:t>same stress-strain quantities, computed two independent ways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00" b="0" i="0">
                <a:solidFill>
                  <a:srgbClr val="253439"/>
                </a:solidFill>
                <a:latin typeface="Segoe UI"/>
              </a:rPr>
              <a:t>and their raw video, re-measured by OUR post-processor (SF18)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04 ·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Two rigs, one material — the curves land together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09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47088"/>
            <a:ext cx="681228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mot2cmp_pa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79" y="2061443"/>
            <a:ext cx="6629400" cy="40518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18120" y="1847088"/>
            <a:ext cx="35661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S34 (PPD-UTM)  /  XT205-S2 (MOT)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18120" y="2194560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973568" y="2276856"/>
            <a:ext cx="1234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 Semibold"/>
              </a:rPr>
              <a:t>UTS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98280" y="2295144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48.34 / 44.62 MPa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52760" y="2267712"/>
            <a:ext cx="6583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29E84"/>
                </a:solidFill>
                <a:latin typeface="Segoe UI Semibold"/>
              </a:rPr>
              <a:t>−7.7 %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18120" y="2761488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73568" y="2843784"/>
            <a:ext cx="1234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 Semibold"/>
              </a:rPr>
              <a:t>Yield σy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2862072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39.23 / 39.61 MPa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2834640"/>
            <a:ext cx="6583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 Semibold"/>
              </a:rPr>
              <a:t>+1.0 %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18120" y="3328415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973568" y="3410711"/>
            <a:ext cx="1234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 Semibold"/>
              </a:rPr>
              <a:t>Modulus 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428999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3.45 / 3.23 GPa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52760" y="3401568"/>
            <a:ext cx="6583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29E84"/>
                </a:solidFill>
                <a:latin typeface="Segoe UI Semibold"/>
              </a:rPr>
              <a:t>−6.4 %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818120" y="3895344"/>
            <a:ext cx="3566160" cy="484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73568" y="3977639"/>
            <a:ext cx="1234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 Semibold"/>
              </a:rPr>
              <a:t>Fracture εf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3995928"/>
            <a:ext cx="1600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5.25 / 5.21 %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52760" y="3968496"/>
            <a:ext cx="65836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53439"/>
                </a:solidFill>
                <a:latin typeface="Segoe UI Semibold"/>
              </a:rPr>
              <a:t>−0.8 %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18120" y="4709160"/>
            <a:ext cx="361188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strain agrees to 1 % — the DIC is doing its job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stress gap is real but small — different specimens, different day, 3× pull speed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shape of the whole curve matches to fracture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04 ·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Same video, two calculations — one 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47088"/>
            <a:ext cx="74523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mot2pp_agre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81133"/>
            <a:ext cx="7269480" cy="2612469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8458200" y="1847088"/>
            <a:ext cx="294436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458200" y="1847088"/>
            <a:ext cx="64008" cy="1389888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68512" y="1965960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253439"/>
                </a:solidFill>
                <a:latin typeface="Segoe UI Light"/>
              </a:rPr>
              <a:t>0.99928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2" y="2505456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53439"/>
                </a:solidFill>
                <a:latin typeface="Segoe UI Semibold"/>
              </a:rPr>
              <a:t>scale — ours vs theirs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68512" y="2779776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98B"/>
                </a:solidFill>
                <a:latin typeface="Segoe UI"/>
              </a:rPr>
              <a:t>0.072 % from perfect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58200" y="3383280"/>
            <a:ext cx="294436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458200" y="3383280"/>
            <a:ext cx="64008" cy="1389888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668512" y="3502152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253439"/>
                </a:solidFill>
                <a:latin typeface="Segoe UI Light"/>
              </a:rPr>
              <a:t>−55 µε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68512" y="4041648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53439"/>
                </a:solidFill>
                <a:latin typeface="Segoe UI Semibold"/>
              </a:rPr>
              <a:t>constant offset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68512" y="4315968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98B"/>
                </a:solidFill>
                <a:latin typeface="Segoe UI"/>
              </a:rPr>
              <a:t>= 0.07 px on a 1255 px gauge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58200" y="4919472"/>
            <a:ext cx="2944368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458200" y="4919472"/>
            <a:ext cx="64008" cy="1389888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668512" y="5038344"/>
            <a:ext cx="265176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253439"/>
                </a:solidFill>
                <a:latin typeface="Segoe UI Light"/>
              </a:rPr>
              <a:t>0.9999964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68512" y="5577840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53439"/>
                </a:solidFill>
                <a:latin typeface="Segoe UI Semibold"/>
              </a:rPr>
              <a:t>R², 3 153 matched instants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68512" y="5852160"/>
            <a:ext cx="26060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98B"/>
                </a:solidFill>
                <a:latin typeface="Segoe UI"/>
              </a:rPr>
              <a:t>one video, two independent codes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0080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53439"/>
                </a:solidFill>
                <a:latin typeface="Segoe UI Semibold"/>
              </a:rPr>
              <a:t>The MOT lab's own fracture video, fed through our post-processor: the two strain calculations are the same measurement.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04 ·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Where the remaining gap comes from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VALIDATION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20240"/>
            <a:ext cx="340156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7240" y="1920240"/>
            <a:ext cx="3401568" cy="82296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6695" y="21214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Pull speed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96695" y="2523744"/>
            <a:ext cx="819302" cy="27432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850">
                <a:solidFill>
                  <a:srgbClr val="FFFFFF"/>
                </a:solidFill>
                <a:latin typeface="Segoe UI Semibold"/>
              </a:rPr>
              <a:t>measured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695" y="2999232"/>
            <a:ext cx="301752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their pull: 2 mm/min · ours: ≈3× faster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but at the GAUGE the strain-rate ratio is only 1.19×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→ predicts under 1 % of the stress gap — a real effect, not the 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16552" y="1920240"/>
            <a:ext cx="340156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416552" y="1920240"/>
            <a:ext cx="3401568" cy="82296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36008" y="21214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Grips &amp; seating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36008" y="2523744"/>
            <a:ext cx="819302" cy="27432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850">
                <a:solidFill>
                  <a:srgbClr val="FFFFFF"/>
                </a:solidFill>
                <a:latin typeface="Segoe UI Semibold"/>
              </a:rPr>
              <a:t>measured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36008" y="2999232"/>
            <a:ext cx="301752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only 21–45 % of crosshead travel reaches the gauge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our four runs cluster at 21 % and 33 % — a joint that either seats or doesn't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→ affects travel-based numbers, never the DIC strain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55864" y="1920240"/>
            <a:ext cx="3401568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8055864" y="1920240"/>
            <a:ext cx="3401568" cy="8229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75320" y="2121408"/>
            <a:ext cx="3017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Specimen &amp; moisture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75320" y="2523744"/>
            <a:ext cx="1239926" cy="274320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6576" tIns="0" rIns="36576" bIns="0" rtlCol="0" anchor="ctr"/>
          <a:lstStyle/>
          <a:p>
            <a:pPr algn="ctr"/>
            <a:r>
              <a:rPr sz="850">
                <a:solidFill>
                  <a:srgbClr val="FFFFFF"/>
                </a:solidFill>
                <a:latin typeface="Segoe UI Semibold"/>
              </a:rPr>
              <a:t>study pending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999232"/>
            <a:ext cx="301752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different print batches, weeks apart, unconditioned storage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PLA is hygroscopic — literature review queued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0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00" b="0" i="0">
                <a:solidFill>
                  <a:srgbClr val="253439"/>
                </a:solidFill>
                <a:latin typeface="Segoe UI"/>
              </a:rPr>
              <a:t>→ explanation lands here once the study is done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89788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53439"/>
                </a:solidFill>
                <a:latin typeface="Segoe UI Semibold"/>
              </a:rPr>
              <a:t>The honest ranking: seating and specimen dominate; speed is measured and small.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05 · 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Built by one engineer and a coding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PROCESS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920240"/>
            <a:ext cx="41605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7240" y="1920240"/>
            <a:ext cx="64008" cy="768096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87552" y="2011680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intent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2039112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“the rig must stop itself at fracture”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2615184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C898B"/>
                </a:solidFill>
                <a:latin typeface="Segoe UI Semibold"/>
              </a:rPr>
              <a:t>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2825496"/>
            <a:ext cx="41605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77240" y="2825496"/>
            <a:ext cx="64008" cy="76809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87552" y="2916936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944368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precise ask + constraints + how to verify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3520439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C898B"/>
                </a:solidFill>
                <a:latin typeface="Segoe UI Semibold"/>
              </a:rPr>
              <a:t>↓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3730752"/>
            <a:ext cx="41605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77240" y="3730752"/>
            <a:ext cx="64008" cy="768096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87552" y="3822191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Claude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3849624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writes app code, tests, analysis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4425696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C898B"/>
                </a:solidFill>
                <a:latin typeface="Segoe UI Semibold"/>
              </a:rPr>
              <a:t>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4636008"/>
            <a:ext cx="41605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77240" y="4636008"/>
            <a:ext cx="64008" cy="76809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87552" y="4727448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verify on rig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4754880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real pulls; failures go straight back 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6112" y="5330952"/>
            <a:ext cx="365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7C898B"/>
                </a:solidFill>
                <a:latin typeface="Segoe UI Semibold"/>
              </a:rPr>
              <a:t>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541264"/>
            <a:ext cx="4160520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77240" y="5541264"/>
            <a:ext cx="64008" cy="768096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87552" y="5632704"/>
            <a:ext cx="1417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evidence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5660136"/>
            <a:ext cx="24688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every claim becomes a measured deck page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80" y="1920240"/>
            <a:ext cx="6199632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440680" y="2048256"/>
            <a:ext cx="1600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53439"/>
                </a:solidFill>
                <a:latin typeface="Segoe UI Light"/>
              </a:rPr>
              <a:t>348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2139696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commits · 94 % co-authored with the agent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12080" y="2825496"/>
            <a:ext cx="6199632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440680" y="2953512"/>
            <a:ext cx="1600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53439"/>
                </a:solidFill>
                <a:latin typeface="Segoe UI Light"/>
              </a:rPr>
              <a:t>9 weeks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3044952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from first DIC frame to a validated rig — 314 commits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12080" y="3730752"/>
            <a:ext cx="6199632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440680" y="3858768"/>
            <a:ext cx="1600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53439"/>
                </a:solidFill>
                <a:latin typeface="Segoe UI Light"/>
              </a:rPr>
              <a:t>~44 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3950208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lines of Python: app, analysis, this deck's generator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212080" y="4636008"/>
            <a:ext cx="6199632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440680" y="4764024"/>
            <a:ext cx="16002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 i="0">
                <a:solidFill>
                  <a:srgbClr val="253439"/>
                </a:solidFill>
                <a:latin typeface="Segoe UI Light"/>
              </a:rPr>
              <a:t>204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03720" y="4855464"/>
            <a:ext cx="4389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evidence pages, regenerated from raw data on every build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212080" y="5596128"/>
            <a:ext cx="62179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1" i="0">
                <a:solidFill>
                  <a:srgbClr val="253439"/>
                </a:solidFill>
                <a:latin typeface="Segoe UI"/>
              </a:rPr>
              <a:t>the prompt is the engineering: what to build, what would falsify it, how to prove it ran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the agent measures instead of assuming — it renders every page and looks at 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06 · OUTLOOK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Future work — named, sized, and how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OUTLOOK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74519"/>
            <a:ext cx="340156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7240" y="1874519"/>
            <a:ext cx="64008" cy="204825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8408" y="199339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2D-DIC strain field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2331720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53439"/>
                </a:solidFill>
                <a:latin typeface="Segoe UI"/>
              </a:rPr>
              <a:t>full-field strain over the speckled gauge, not just two dots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00837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B29E84"/>
                </a:solidFill>
                <a:latin typeface="Segoe UI Semibold"/>
              </a:rPr>
              <a:t>HOW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3191256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7C898B"/>
                </a:solidFill>
                <a:latin typeface="Segoe UI"/>
              </a:rPr>
              <a:t>offline first, in the existing post-processor; needs lower exposure — the white body currently saturates the sensor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16552" y="1874519"/>
            <a:ext cx="340156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416552" y="1874519"/>
            <a:ext cx="64008" cy="204825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617720" y="199339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Correlation, not binary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2331720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53439"/>
                </a:solidFill>
                <a:latin typeface="Segoe UI"/>
              </a:rPr>
              <a:t>sub-pixel tracking that keeps the grey levels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300837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B29E84"/>
                </a:solidFill>
                <a:latin typeface="Segoe UI Semibold"/>
              </a:rPr>
              <a:t>HOW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17720" y="3191256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7C898B"/>
                </a:solidFill>
                <a:latin typeface="Segoe UI"/>
              </a:rPr>
              <a:t>measured gain: 1.1–2.1× less jitter; add as a post-processing option before touching the live loop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55864" y="1874519"/>
            <a:ext cx="340156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8055864" y="1874519"/>
            <a:ext cx="64008" cy="204825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57032" y="199339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Feed simulation models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7032" y="2331720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53439"/>
                </a:solidFill>
                <a:latin typeface="Segoe UI"/>
              </a:rPr>
              <a:t>measured strain fields calibrating FE material cards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57032" y="3008376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B29E84"/>
                </a:solidFill>
                <a:latin typeface="Segoe UI Semibold"/>
              </a:rPr>
              <a:t>HOW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7032" y="3191256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7C898B"/>
                </a:solidFill>
                <a:latin typeface="Segoe UI"/>
              </a:rPr>
              <a:t>export the field per frame; compare predicted vs measured maps on the same geometry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4087368"/>
            <a:ext cx="340156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77240" y="4087368"/>
            <a:ext cx="64008" cy="204825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78408" y="420624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Poisson &amp; true stress (FW1)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408" y="4544568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53439"/>
                </a:solidFill>
                <a:latin typeface="Segoe UI"/>
              </a:rPr>
              <a:t>four markers → lateral strain, ν, Cauchy stress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" y="522122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B29E84"/>
                </a:solidFill>
                <a:latin typeface="Segoe UI Semibold"/>
              </a:rPr>
              <a:t>HOW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" y="5404104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7C898B"/>
                </a:solidFill>
                <a:latin typeface="Segoe UI"/>
              </a:rPr>
              <a:t>maths written and self-tested; blocked on optics — needs a gauge-zoomed second camera or a wider specimen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16552" y="4087368"/>
            <a:ext cx="340156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4416552" y="4087368"/>
            <a:ext cx="64008" cy="204825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617720" y="420624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Grip-seating experiment (FW2)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17720" y="4544568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53439"/>
                </a:solidFill>
                <a:latin typeface="Segoe UI"/>
              </a:rPr>
              <a:t>why gauge share clusters at 21 % vs 33 %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522122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B29E84"/>
                </a:solidFill>
                <a:latin typeface="Segoe UI Semibold"/>
              </a:rPr>
              <a:t>HOW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17720" y="5404104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7C898B"/>
                </a:solidFill>
                <a:latin typeface="Segoe UI"/>
              </a:rPr>
              <a:t>one specimen, re-mounted several times, elastic pulls only — spread survives → seating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55864" y="4087368"/>
            <a:ext cx="3401568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055864" y="4087368"/>
            <a:ext cx="64008" cy="2048256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257032" y="420624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253439"/>
                </a:solidFill>
                <a:latin typeface="Segoe UI Semibold"/>
              </a:rPr>
              <a:t>Rate-matched MOT rerun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57032" y="4544568"/>
            <a:ext cx="306324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53439"/>
                </a:solidFill>
                <a:latin typeface="Segoe UI"/>
              </a:rPr>
              <a:t>close the last confound in the lab comparison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032" y="5221224"/>
            <a:ext cx="822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B29E84"/>
                </a:solidFill>
                <a:latin typeface="Segoe UI Semibold"/>
              </a:rPr>
              <a:t>HOW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57032" y="5404104"/>
            <a:ext cx="3063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 i="0">
                <a:solidFill>
                  <a:srgbClr val="7C898B"/>
                </a:solidFill>
                <a:latin typeface="Segoe UI"/>
              </a:rPr>
              <a:t>pull at 5.01 mm/min (rate-matched) and 2.00 mm/min (speed-matched) and re-compare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06 · OUTLOOK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One number for fun — the carbon footprint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OUTLOOK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011680"/>
            <a:ext cx="10607040" cy="3931920"/>
          </a:xfrm>
          <a:prstGeom prst="rect">
            <a:avLst/>
          </a:prstGeom>
          <a:solidFill>
            <a:srgbClr val="F6F4F1"/>
          </a:solidFill>
          <a:ln w="15240">
            <a:solidFill>
              <a:srgbClr val="7C898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3666744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7C898B"/>
                </a:solidFill>
                <a:latin typeface="Segoe UI Semibold"/>
              </a:rPr>
              <a:t>CARBON-FOOTPRINT NUMBERS LAND HERE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995927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"/>
              </a:rPr>
              <a:t>the calculation is queued: filament + rig power + compute for the AI collaboration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spoiler: the printed specimens are not the biggest line item.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475488" cy="91440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274320" y="1042415"/>
            <a:ext cx="475488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365760"/>
            <a:ext cx="1069848" cy="4754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2331720"/>
            <a:ext cx="969264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0" i="0">
                <a:solidFill>
                  <a:srgbClr val="253439"/>
                </a:solidFill>
                <a:latin typeface="Segoe UI Light"/>
              </a:rPr>
              <a:t>Thank you.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07008" y="3520440"/>
            <a:ext cx="1022299" cy="68580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229307" y="3520440"/>
            <a:ext cx="511149" cy="68580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740456" y="3520440"/>
            <a:ext cx="2398471" cy="68580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07008" y="3977639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7C898B"/>
                </a:solidFill>
                <a:latin typeface="Segoe UI"/>
              </a:rPr>
              <a:t>Questions — or come break a specimen with 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7008" y="5760720"/>
            <a:ext cx="7315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0">
                <a:solidFill>
                  <a:srgbClr val="253439"/>
                </a:solidFill>
                <a:latin typeface="Segoe UI Semibold"/>
              </a:rPr>
              <a:t>Adithya Sivakumar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7C898B"/>
                </a:solidFill>
                <a:latin typeface="Segoe UI"/>
              </a:rPr>
              <a:t>adithya.sivakumar@ju.se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APPENDIX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For the curious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210312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2267712"/>
            <a:ext cx="1097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B29E84"/>
                </a:solidFill>
                <a:latin typeface="Segoe UI Light"/>
              </a:rPr>
              <a:t>A1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286000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Otsu thresholding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2688336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how the camera decides what is a marker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015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3566160"/>
            <a:ext cx="1097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B29E84"/>
                </a:solidFill>
                <a:latin typeface="Segoe UI Light"/>
              </a:rPr>
              <a:t>A2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03120" y="3584448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PLA vs PETG vs TPU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3986783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our curves against what literature expects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70001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5840" y="4864607"/>
            <a:ext cx="109728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0">
                <a:solidFill>
                  <a:srgbClr val="B29E84"/>
                </a:solidFill>
                <a:latin typeface="Segoe UI Light"/>
              </a:rPr>
              <a:t>A3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03120" y="4882896"/>
            <a:ext cx="5486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253439"/>
                </a:solidFill>
                <a:latin typeface="Segoe UI Semibold"/>
              </a:rPr>
              <a:t>Noise, rig against rig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5285231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7C898B"/>
                </a:solidFill>
                <a:latin typeface="Segoe UI"/>
              </a:rPr>
              <a:t>how quiet each instrument is, measured at rest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APPENDIX · 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Otsu — how the camera picks its threshold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74519"/>
            <a:ext cx="644652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otsu_h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270240"/>
            <a:ext cx="6263640" cy="336907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98079" y="1965960"/>
            <a:ext cx="38862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53439"/>
                </a:solidFill>
                <a:latin typeface="Segoe UI Semibold"/>
              </a:rPr>
              <a:t>WHY it exists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every frame must be split into “marker” and “not marker” — that takes one brightness number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53439"/>
                </a:solidFill>
                <a:latin typeface="Segoe UI Semibold"/>
              </a:rPr>
              <a:t>WHAT it does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tries all 254 cuts, keeps the one giving the two tidiest groups — lands in the histogram's empty valley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1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53439"/>
                </a:solidFill>
                <a:latin typeface="Segoe UI Semibold"/>
              </a:rPr>
              <a:t>THE CATCH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it follows the SCENE, not the markers — so the rig scores it against fixed values (auto-calibrate) instead of trusting it blindly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309360"/>
            <a:ext cx="106070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7C898B"/>
                </a:solidFill>
                <a:latin typeface="Segoe UI"/>
              </a:rPr>
              <a:t>Otsu (1979), IEEE Trans. SMC 9(1):62–66 · measured here on 120 frames of specimen S13.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APPENDIX · A2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Three materials — measured, against expectations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10512"/>
            <a:ext cx="1060704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trio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8099" y="1901952"/>
            <a:ext cx="7485320" cy="25146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77240" y="4572000"/>
            <a:ext cx="8321040" cy="1847088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Picture 18" descr="petg_expe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05893" y="4663440"/>
            <a:ext cx="6863733" cy="16642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9253728" y="4626864"/>
            <a:ext cx="214884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9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950" b="0" i="0">
                <a:solidFill>
                  <a:srgbClr val="253439"/>
                </a:solidFill>
                <a:latin typeface="Segoe UI"/>
              </a:rPr>
              <a:t>ordering exactly as published</a:t>
            </a:r>
          </a:p>
          <a:p>
            <a:pPr algn="l">
              <a:lnSpc>
                <a:spcPct val="104000"/>
              </a:lnSpc>
              <a:spcAft>
                <a:spcPts val="600"/>
              </a:spcAft>
            </a:pPr>
            <a:r>
              <a:rPr sz="9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950" b="0" i="0">
                <a:solidFill>
                  <a:srgbClr val="253439"/>
                </a:solidFill>
                <a:latin typeface="Segoe UI"/>
              </a:rPr>
              <a:t>TPU never fractured — it left the frame at 19 % strain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55664"/>
            <a:ext cx="106070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98B"/>
                </a:solidFill>
                <a:latin typeface="Segoe UI"/>
              </a:rPr>
              <a:t>published ranges: filament TDS + printed-part literature, as compiled in the project's material notes.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42415"/>
            <a:ext cx="146304" cy="5815584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ju_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" y="256032"/>
            <a:ext cx="905256" cy="4023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265408" y="347472"/>
            <a:ext cx="118872" cy="11887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489436" y="347472"/>
            <a:ext cx="118872" cy="11887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1713464" y="347472"/>
            <a:ext cx="118872" cy="11887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786384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B29E84"/>
                </a:solidFill>
                <a:latin typeface="Segoe UI Semibold"/>
              </a:rPr>
              <a:t>APPENDIX · A3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" y="1005840"/>
            <a:ext cx="1088136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0" i="0">
                <a:solidFill>
                  <a:srgbClr val="253439"/>
                </a:solidFill>
                <a:latin typeface="Segoe UI Light"/>
              </a:rPr>
              <a:t>How quiet is each instrument?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591056"/>
            <a:ext cx="855878" cy="50292"/>
          </a:xfrm>
          <a:prstGeom prst="rect">
            <a:avLst/>
          </a:prstGeom>
          <a:solidFill>
            <a:srgbClr val="2534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3118" y="1591056"/>
            <a:ext cx="427939" cy="50292"/>
          </a:xfrm>
          <a:prstGeom prst="rect">
            <a:avLst/>
          </a:prstGeom>
          <a:solidFill>
            <a:srgbClr val="B29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061057" y="1591056"/>
            <a:ext cx="2008022" cy="50292"/>
          </a:xfrm>
          <a:prstGeom prst="rect">
            <a:avLst/>
          </a:prstGeom>
          <a:solidFill>
            <a:srgbClr val="7C8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 rot="16200000">
            <a:off x="10625328" y="3310128"/>
            <a:ext cx="2743200" cy="31089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7C898B"/>
                </a:solidFill>
                <a:latin typeface="Segoe UI Semibold"/>
              </a:rPr>
              <a:t>APPENDIX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75720" y="6473952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7C898B"/>
                </a:solidFill>
                <a:latin typeface="Segoe UI Semibold"/>
              </a:rPr>
              <a:t>19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1847088"/>
            <a:ext cx="74523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E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mot2cmp_no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781133"/>
            <a:ext cx="7269480" cy="261246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458200" y="1965960"/>
            <a:ext cx="2971800" cy="4206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 Semibold"/>
              </a:rPr>
              <a:t>both rigs sit in the tens of microstrain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our floor is set by pixel quantisation: noise ∝ 1/Px₀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predicted 1.78× between our two gauge lengths — measured 1.78×</a:t>
            </a:r>
          </a:p>
          <a:p>
            <a:pPr algn="l">
              <a:lnSpc>
                <a:spcPct val="104000"/>
              </a:lnSpc>
              <a:spcAft>
                <a:spcPts val="700"/>
              </a:spcAft>
            </a:pPr>
            <a:r>
              <a:rPr sz="1050" b="1" i="0">
                <a:solidFill>
                  <a:srgbClr val="B29E84"/>
                </a:solidFill>
                <a:latin typeface="Segoe UI"/>
              </a:rPr>
              <a:t>▪  </a:t>
            </a:r>
            <a:r>
              <a:rPr sz="1050" b="0" i="0">
                <a:solidFill>
                  <a:srgbClr val="253439"/>
                </a:solidFill>
                <a:latin typeface="Segoe UI"/>
              </a:rPr>
              <a:t>so the noise is understood, not just small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1776</Words>
  <Application>Microsoft Office PowerPoint</Application>
  <PresentationFormat>Widescreen</PresentationFormat>
  <Paragraphs>349</Paragraphs>
  <Slides>19</Slides>
  <Notes>2</Notes>
  <HiddenSlides>0</HiddenSlides>
  <MMClips>3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Aptos</vt:lpstr>
      <vt:lpstr>Arial</vt:lpstr>
      <vt:lpstr>Calibri</vt:lpstr>
      <vt:lpstr>Lato</vt:lpstr>
      <vt:lpstr>Segoe UI</vt:lpstr>
      <vt:lpstr>Segoe UI Light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Adithya Sivakumar</cp:lastModifiedBy>
  <cp:revision>1</cp:revision>
  <dcterms:created xsi:type="dcterms:W3CDTF">2013-01-27T09:14:16Z</dcterms:created>
  <dcterms:modified xsi:type="dcterms:W3CDTF">2026-09-05T12:38:31Z</dcterms:modified>
  <cp:category/>
</cp:coreProperties>
</file>