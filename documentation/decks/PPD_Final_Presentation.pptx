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A22D07-A27E-47C8-8E55-7BBCBF5982D4}" v="6" dt="2026-09-04T17:18:5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Sivakumar" userId="66f9b287-a2d3-4cb5-8dae-29884e733115" providerId="ADAL" clId="{937D3A49-D0E7-486D-BA98-5AD23D3FA812}"/>
    <pc:docChg chg="undo redo custSel addSld delSld modSld modMainMaster">
      <pc:chgData name="Adithya Sivakumar" userId="66f9b287-a2d3-4cb5-8dae-29884e733115" providerId="ADAL" clId="{937D3A49-D0E7-486D-BA98-5AD23D3FA812}" dt="2026-09-05T12:38:29.965" v="173" actId="1076"/>
      <pc:docMkLst>
        <pc:docMk/>
      </pc:docMkLst>
      <pc:sldChg chg="addSp delSp modSp mod">
        <pc:chgData name="Adithya Sivakumar" userId="66f9b287-a2d3-4cb5-8dae-29884e733115" providerId="ADAL" clId="{937D3A49-D0E7-486D-BA98-5AD23D3FA812}" dt="2026-09-04T17:19:54.445" v="63" actId="1076"/>
        <pc:sldMkLst>
          <pc:docMk/>
          <pc:sldMk cId="0" sldId="256"/>
        </pc:sldMkLst>
        <pc:spChg chg="mod">
          <ac:chgData name="Adithya Sivakumar" userId="66f9b287-a2d3-4cb5-8dae-29884e733115" providerId="ADAL" clId="{937D3A49-D0E7-486D-BA98-5AD23D3FA812}" dt="2026-09-04T17:19:54.445" v="63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6:11.988" v="33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7:40.549" v="47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9:51.142" v="61" actId="948"/>
          <ac:spMkLst>
            <pc:docMk/>
            <pc:sldMk cId="0" sldId="256"/>
            <ac:spMk id="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51.092" v="15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1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8:55.774" v="58" actId="108"/>
          <ac:spMkLst>
            <pc:docMk/>
            <pc:sldMk cId="0" sldId="256"/>
            <ac:spMk id="1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6:59.925" v="44" actId="403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dithya Sivakumar" userId="66f9b287-a2d3-4cb5-8dae-29884e733115" providerId="ADAL" clId="{937D3A49-D0E7-486D-BA98-5AD23D3FA812}" dt="2026-09-04T17:17:56.694" v="48" actId="478"/>
          <ac:spMkLst>
            <pc:docMk/>
            <pc:sldMk cId="0" sldId="256"/>
            <ac:spMk id="16" creationId="{00000000-0000-0000-0000-000000000000}"/>
          </ac:spMkLst>
        </pc:spChg>
        <pc:grpChg chg="add mod">
          <ac:chgData name="Adithya Sivakumar" userId="66f9b287-a2d3-4cb5-8dae-29884e733115" providerId="ADAL" clId="{937D3A49-D0E7-486D-BA98-5AD23D3FA812}" dt="2026-09-04T17:16:46.773" v="39" actId="1076"/>
          <ac:grpSpMkLst>
            <pc:docMk/>
            <pc:sldMk cId="0" sldId="256"/>
            <ac:grpSpMk id="18" creationId="{F48D39A4-8D71-351D-01A2-1DEF03C7DE2C}"/>
          </ac:grpSpMkLst>
        </pc:grpChg>
      </pc:sldChg>
      <pc:sldChg chg="modSp mod">
        <pc:chgData name="Adithya Sivakumar" userId="66f9b287-a2d3-4cb5-8dae-29884e733115" providerId="ADAL" clId="{937D3A49-D0E7-486D-BA98-5AD23D3FA812}" dt="2026-09-04T17:25:02.994" v="136" actId="403"/>
        <pc:sldMkLst>
          <pc:docMk/>
          <pc:sldMk cId="0" sldId="257"/>
        </pc:sldMkLst>
        <pc:spChg chg="mod">
          <ac:chgData name="Adithya Sivakumar" userId="66f9b287-a2d3-4cb5-8dae-29884e733115" providerId="ADAL" clId="{937D3A49-D0E7-486D-BA98-5AD23D3FA812}" dt="2026-09-04T17:25:02.994" v="136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3:53.968" v="115" actId="1410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9.782" v="123" actId="113"/>
          <ac:spMkLst>
            <pc:docMk/>
            <pc:sldMk cId="0" sldId="257"/>
            <ac:spMk id="1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3:56.855" v="116" actId="14100"/>
          <ac:spMkLst>
            <pc:docMk/>
            <pc:sldMk cId="0" sldId="257"/>
            <ac:spMk id="2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1.928" v="124" actId="113"/>
          <ac:spMkLst>
            <pc:docMk/>
            <pc:sldMk cId="0" sldId="257"/>
            <ac:spMk id="21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05.704" v="117" actId="14100"/>
          <ac:spMkLst>
            <pc:docMk/>
            <pc:sldMk cId="0" sldId="257"/>
            <ac:spMk id="2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3.488" v="125" actId="113"/>
          <ac:spMkLst>
            <pc:docMk/>
            <pc:sldMk cId="0" sldId="257"/>
            <ac:spMk id="25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11.435" v="119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15.101" v="120" actId="14100"/>
          <ac:spMkLst>
            <pc:docMk/>
            <pc:sldMk cId="0" sldId="257"/>
            <ac:spMk id="28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5.324" v="126" actId="113"/>
          <ac:spMkLst>
            <pc:docMk/>
            <pc:sldMk cId="0" sldId="257"/>
            <ac:spMk id="2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1.479" v="121" actId="14100"/>
          <ac:spMkLst>
            <pc:docMk/>
            <pc:sldMk cId="0" sldId="257"/>
            <ac:spMk id="3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40.188" v="128" actId="113"/>
          <ac:spMkLst>
            <pc:docMk/>
            <pc:sldMk cId="0" sldId="257"/>
            <ac:spMk id="3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6.221" v="122" actId="14100"/>
          <ac:spMkLst>
            <pc:docMk/>
            <pc:sldMk cId="0" sldId="257"/>
            <ac:spMk id="3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8.658" v="127" actId="113"/>
          <ac:spMkLst>
            <pc:docMk/>
            <pc:sldMk cId="0" sldId="257"/>
            <ac:spMk id="37" creationId="{00000000-0000-0000-0000-000000000000}"/>
          </ac:spMkLst>
        </pc:spChg>
      </pc:sldChg>
      <pc:sldChg chg="modSp mod">
        <pc:chgData name="Adithya Sivakumar" userId="66f9b287-a2d3-4cb5-8dae-29884e733115" providerId="ADAL" clId="{937D3A49-D0E7-486D-BA98-5AD23D3FA812}" dt="2026-09-05T12:38:29.965" v="173" actId="1076"/>
        <pc:sldMkLst>
          <pc:docMk/>
          <pc:sldMk cId="0" sldId="258"/>
        </pc:sldMkLst>
        <pc:spChg chg="mod">
          <ac:chgData name="Adithya Sivakumar" userId="66f9b287-a2d3-4cb5-8dae-29884e733115" providerId="ADAL" clId="{937D3A49-D0E7-486D-BA98-5AD23D3FA812}" dt="2026-09-05T11:20:16.156" v="144" actId="14100"/>
          <ac:spMkLst>
            <pc:docMk/>
            <pc:sldMk cId="0" sldId="258"/>
            <ac:spMk id="1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19:50.508" v="143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32:34.991" v="153" actId="20577"/>
          <ac:spMkLst>
            <pc:docMk/>
            <pc:sldMk cId="0" sldId="258"/>
            <ac:spMk id="2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33:00.493" v="171" actId="20577"/>
          <ac:spMkLst>
            <pc:docMk/>
            <pc:sldMk cId="0" sldId="258"/>
            <ac:spMk id="30" creationId="{00000000-0000-0000-0000-000000000000}"/>
          </ac:spMkLst>
        </pc:spChg>
        <pc:picChg chg="mod">
          <ac:chgData name="Adithya Sivakumar" userId="66f9b287-a2d3-4cb5-8dae-29884e733115" providerId="ADAL" clId="{937D3A49-D0E7-486D-BA98-5AD23D3FA812}" dt="2026-09-05T12:38:29.965" v="173" actId="1076"/>
          <ac:picMkLst>
            <pc:docMk/>
            <pc:sldMk cId="0" sldId="258"/>
            <ac:picMk id="18" creationId="{00000000-0000-0000-0000-000000000000}"/>
          </ac:picMkLst>
        </pc:picChg>
      </pc:sldChg>
      <pc:sldChg chg="new del">
        <pc:chgData name="Adithya Sivakumar" userId="66f9b287-a2d3-4cb5-8dae-29884e733115" providerId="ADAL" clId="{937D3A49-D0E7-486D-BA98-5AD23D3FA812}" dt="2026-09-04T17:18:09.441" v="50" actId="680"/>
        <pc:sldMkLst>
          <pc:docMk/>
          <pc:sldMk cId="186793127" sldId="275"/>
        </pc:sldMkLst>
      </pc:sldChg>
      <pc:sldMasterChg chg="addSp mod">
        <pc:chgData name="Adithya Sivakumar" userId="66f9b287-a2d3-4cb5-8dae-29884e733115" providerId="ADAL" clId="{937D3A49-D0E7-486D-BA98-5AD23D3FA812}" dt="2026-09-04T17:25:34.983" v="137" actId="22"/>
        <pc:sldMasterMkLst>
          <pc:docMk/>
          <pc:sldMasterMk cId="2209977519" sldId="2147483648"/>
        </pc:sldMasterMkLst>
        <pc:picChg chg="add">
          <ac:chgData name="Adithya Sivakumar" userId="66f9b287-a2d3-4cb5-8dae-29884e733115" providerId="ADAL" clId="{937D3A49-D0E7-486D-BA98-5AD23D3FA812}" dt="2026-09-04T17:25:34.983" v="137" actId="22"/>
          <ac:picMkLst>
            <pc:docMk/>
            <pc:sldMasterMk cId="2209977519" sldId="2147483648"/>
            <ac:picMk id="8" creationId="{0DCF94A4-B4AE-75FD-878C-55D8C0515977}"/>
          </ac:picMkLst>
        </pc:pic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65FE33-248B-418E-80DF-32EE702ADF6F}" type="datetimeFigureOut">
              <a:rPr lang="en-SE" smtClean="0"/>
              <a:t>2026-09-05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3D6B5-9C92-4220-B47A-53362BAF60D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6217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3D6B5-9C92-4220-B47A-53362BAF60D8}" type="slidenum">
              <a:rPr lang="en-SE" smtClean="0"/>
              <a:t>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36490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3D6B5-9C92-4220-B47A-53362BAF60D8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1008210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ju_mark.png">
            <a:extLst>
              <a:ext uri="{FF2B5EF4-FFF2-40B4-BE49-F238E27FC236}">
                <a16:creationId xmlns:a16="http://schemas.microsoft.com/office/drawing/2014/main" id="{0DCF94A4-B4AE-75FD-878C-55D8C051597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slideLayout" Target="../slideLayouts/slideLayout7.xml"/><Relationship Id="rId8" Type="http://schemas.openxmlformats.org/officeDocument/2006/relationships/image" Target="../media/image1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887" y="-109728"/>
            <a:ext cx="12191695" cy="6967728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-109728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32686"/>
            <a:ext cx="475488" cy="592531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1906481"/>
            <a:ext cx="9692640" cy="1567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6500"/>
              </a:lnSpc>
            </a:pPr>
            <a:r>
              <a:rPr lang="en-US" sz="4000" b="1" dirty="0">
                <a:solidFill>
                  <a:srgbClr val="253439"/>
                </a:solidFill>
                <a:latin typeface="Lato"/>
              </a:rPr>
              <a:t>1-D DIC IMPLEMENTATION ON UNIVERSAL TESTING MACHINE</a:t>
            </a:r>
            <a:endParaRPr lang="en-US" sz="4000" b="1" dirty="0">
              <a:solidFill>
                <a:srgbClr val="253439"/>
              </a:solidFill>
              <a:latin typeface="Lato"/>
              <a:sym typeface="La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25296" y="3658278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 dirty="0">
                <a:solidFill>
                  <a:srgbClr val="7C898B"/>
                </a:solidFill>
                <a:latin typeface="Segoe UI"/>
              </a:rPr>
              <a:t>A camera-instrumented desktop tensile tester — built, validated against a commercial lab, and documented.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8D39A4-8D71-351D-01A2-1DEF03C7DE2C}"/>
              </a:ext>
            </a:extLst>
          </p:cNvPr>
          <p:cNvGrpSpPr/>
          <p:nvPr/>
        </p:nvGrpSpPr>
        <p:grpSpPr>
          <a:xfrm>
            <a:off x="1213409" y="4156624"/>
            <a:ext cx="3931919" cy="68580"/>
            <a:chOff x="1207008" y="3602736"/>
            <a:chExt cx="3931919" cy="68580"/>
          </a:xfrm>
        </p:grpSpPr>
        <p:sp>
          <p:nvSpPr>
            <p:cNvPr id="11" name="Rectangle 10"/>
            <p:cNvSpPr/>
            <p:nvPr/>
          </p:nvSpPr>
          <p:spPr>
            <a:xfrm>
              <a:off x="1207008" y="3602736"/>
              <a:ext cx="1022299" cy="68580"/>
            </a:xfrm>
            <a:prstGeom prst="rect">
              <a:avLst/>
            </a:prstGeom>
            <a:solidFill>
              <a:srgbClr val="253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9307" y="3602736"/>
              <a:ext cx="511149" cy="68580"/>
            </a:xfrm>
            <a:prstGeom prst="rect">
              <a:avLst/>
            </a:prstGeom>
            <a:solidFill>
              <a:srgbClr val="B29E8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740456" y="3602736"/>
              <a:ext cx="2398471" cy="68580"/>
            </a:xfrm>
            <a:prstGeom prst="rect">
              <a:avLst/>
            </a:prstGeom>
            <a:solidFill>
              <a:srgbClr val="7C898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1207008" y="5074920"/>
            <a:ext cx="6766560" cy="9756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7C898B"/>
                </a:solidFill>
                <a:latin typeface="Segoe UI"/>
              </a:rPr>
              <a:t>adithya.sivakumar@ju.se</a:t>
            </a:r>
          </a:p>
          <a:p>
            <a:pPr algn="l">
              <a:lnSpc>
                <a:spcPct val="115000"/>
              </a:lnSpc>
            </a:pPr>
            <a:endParaRPr sz="1100" b="0" i="0" dirty="0">
              <a:solidFill>
                <a:srgbClr val="7C898B"/>
              </a:solidFill>
              <a:latin typeface="Segoe UI"/>
            </a:endParaRPr>
          </a:p>
          <a:p>
            <a:r>
              <a:rPr sz="1100" b="0" i="0" dirty="0">
                <a:solidFill>
                  <a:srgbClr val="7C898B"/>
                </a:solidFill>
                <a:latin typeface="Segoe UI"/>
              </a:rPr>
              <a:t>Supervisors:  </a:t>
            </a:r>
            <a:r>
              <a:rPr lang="en-SE" sz="1100" dirty="0">
                <a:solidFill>
                  <a:srgbClr val="7C898B"/>
                </a:solidFill>
                <a:latin typeface="Segoe UI"/>
              </a:rPr>
              <a:t>Johan Jansson</a:t>
            </a:r>
            <a:r>
              <a:rPr lang="en-GB" sz="1100" dirty="0">
                <a:solidFill>
                  <a:srgbClr val="7C898B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7C898B"/>
                </a:solidFill>
                <a:latin typeface="Segoe UI"/>
              </a:rPr>
              <a:t>·</a:t>
            </a:r>
            <a:r>
              <a:rPr lang="en-GB" sz="1100" b="0" i="0" dirty="0">
                <a:solidFill>
                  <a:srgbClr val="7C898B"/>
                </a:solidFill>
                <a:latin typeface="Segoe UI"/>
              </a:rPr>
              <a:t> </a:t>
            </a:r>
            <a:r>
              <a:rPr lang="en-SE" sz="1100" dirty="0">
                <a:solidFill>
                  <a:srgbClr val="7C898B"/>
                </a:solidFill>
                <a:latin typeface="Segoe UI"/>
              </a:rPr>
              <a:t>Mirza Cenanovic</a:t>
            </a:r>
          </a:p>
          <a:p>
            <a:pPr>
              <a:lnSpc>
                <a:spcPct val="100000"/>
              </a:lnSpc>
            </a:pPr>
            <a:endParaRPr sz="1100" b="0" i="0" dirty="0">
              <a:solidFill>
                <a:srgbClr val="7C898B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61402" y="4352544"/>
            <a:ext cx="10611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 dirty="0">
                <a:solidFill>
                  <a:srgbClr val="253439"/>
                </a:solidFill>
                <a:latin typeface="Segoe UI Semibold"/>
              </a:rPr>
              <a:t>SEPTEMBER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B29E84"/>
                </a:solidFill>
                <a:latin typeface="Segoe UI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2800" b="1" dirty="0">
                <a:solidFill>
                  <a:srgbClr val="253439"/>
                </a:solidFill>
                <a:latin typeface="Lato"/>
              </a:rPr>
              <a:t>Today, in six parts</a:t>
            </a:r>
            <a:endParaRPr sz="2800" b="1" dirty="0">
              <a:solidFill>
                <a:srgbClr val="253439"/>
              </a:solidFill>
              <a:latin typeface="Lat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PPD-UTM  ·  FINAL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" y="215798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17627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DIC, in one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6032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what the rig measures, and why no sensor touches the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01168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215798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17627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was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56032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hardware, software — and 19 things it does on its 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3756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8" y="348386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50215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Live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88620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7C898B"/>
                </a:solidFill>
                <a:latin typeface="Segoe UI"/>
              </a:rPr>
              <a:t>a specimen pulled to fracture, live on the rig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3756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01968" y="348386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50215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88620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the same material through a commercial lab — and how close we land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66344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" y="480974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4828031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AI in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212079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this was built by one engineer and a coding agent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66344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01968" y="480974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4828031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comes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5212079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future work, and one number for fun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14476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7C898B"/>
                </a:solidFill>
                <a:latin typeface="Segoe UI"/>
              </a:rPr>
              <a:t>Appendix afterwards: Otsu thresholding · PLA vs PETG vs TPU · rig-to-rig noise.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01 ·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DIC — the camera is the strain gauge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810512"/>
            <a:ext cx="1071219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253439"/>
                </a:solidFill>
                <a:latin typeface="Segoe UI"/>
              </a:rPr>
              <a:t>DIC — Digital Image Correlation — measures how a part deforms by comparing photographs of its surface while it is loaded; here in its simplest two-dot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28519" y="2578608"/>
            <a:ext cx="7680960" cy="1623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ppd_dic_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891" y="2739621"/>
            <a:ext cx="6992775" cy="130163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7724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00176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No contact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no strain gauge glued on, no clip-on extensometer — nothing touches the specimen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912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17720" y="500176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Live stress–strain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34924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the load cell gives force, the camera gives strain — the stress–strain curve draws itself live during the pull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0100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0" y="5001768"/>
            <a:ext cx="30175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 dirty="0">
                <a:solidFill>
                  <a:srgbClr val="253439"/>
                </a:solidFill>
                <a:latin typeface="Segoe UI Semibold"/>
              </a:rPr>
              <a:t>Every frame</a:t>
            </a:r>
            <a:r>
              <a:rPr lang="en-GB" sz="1350" b="0" i="0" dirty="0">
                <a:solidFill>
                  <a:srgbClr val="253439"/>
                </a:solidFill>
                <a:latin typeface="Segoe UI Semibold"/>
              </a:rPr>
              <a:t> captured</a:t>
            </a:r>
            <a:endParaRPr sz="1350" b="0" i="0" dirty="0">
              <a:solidFill>
                <a:srgbClr val="253439"/>
              </a:solidFill>
              <a:latin typeface="Segoe UI Semibold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0" y="5349240"/>
            <a:ext cx="3017520" cy="3273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253439"/>
                </a:solidFill>
                <a:latin typeface="Segoe UI"/>
              </a:rPr>
              <a:t>35 </a:t>
            </a:r>
            <a:r>
              <a:rPr lang="en-GB" sz="1050" b="0" i="0" dirty="0">
                <a:solidFill>
                  <a:srgbClr val="253439"/>
                </a:solidFill>
                <a:latin typeface="Segoe UI"/>
              </a:rPr>
              <a:t>frames</a:t>
            </a:r>
            <a:r>
              <a:rPr sz="1050" b="0" i="0" dirty="0">
                <a:solidFill>
                  <a:srgbClr val="253439"/>
                </a:solidFill>
                <a:latin typeface="Segoe UI"/>
              </a:rPr>
              <a:t> per second</a:t>
            </a:r>
            <a:r>
              <a:rPr lang="en-GB" sz="1050" b="0" i="0" dirty="0">
                <a:solidFill>
                  <a:srgbClr val="253439"/>
                </a:solidFill>
                <a:latin typeface="Segoe UI"/>
              </a:rPr>
              <a:t> (FPS)</a:t>
            </a:r>
            <a:r>
              <a:rPr sz="1050" b="0" i="0" dirty="0">
                <a:solidFill>
                  <a:srgbClr val="253439"/>
                </a:solidFill>
                <a:latin typeface="Segoe UI"/>
              </a:rPr>
              <a:t>, live on screen while the test runs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rig, one application — built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28800"/>
            <a:ext cx="27889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UTM rig_12-08-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080260"/>
            <a:ext cx="2606039" cy="34747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870448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PPD-UTM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184708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2176272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twin ball-screw frame, 4.5 </a:t>
            </a:r>
            <a:r>
              <a:rPr sz="1100" b="0" i="0" dirty="0" err="1">
                <a:solidFill>
                  <a:srgbClr val="253439"/>
                </a:solidFill>
                <a:latin typeface="Segoe UI"/>
              </a:rPr>
              <a:t>kN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 load cell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industrial camera + LED panel — the DIC eye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printed grips, emergency stop, enclosure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675887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005072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one PyQt6 application runs the whole test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live DIC strain at 35 fps, six closed-loop protocols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every run leaves a CSV + video + PDF report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post-processor re-measures any recorded video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47088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193852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066543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specimens pulled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2688336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277977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907791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materials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529584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75320" y="362102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374904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smart features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4370832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75320" y="446227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59028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5212080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20" y="53035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5431536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61447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numbers as of Sep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Nineteen things the rig does on its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health HUD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7472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2102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Prepare specimen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7220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1850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Settings / recipes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86968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98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1-click PDF report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7724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Auto-stop at fracture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47472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2102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2102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Strain-rate control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7220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1850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Stall guard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86968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1598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598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Release 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7724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2354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6 test protocols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47472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2102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102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Auto-preload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17220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1850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850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Auto-metadata link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86968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01598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1598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auto-calibrate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7724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354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Guided wizard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47472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62102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2102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Test registry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17220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1850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1850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Dead-DIC guard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86968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01598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1598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Live Px₀ overlay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77724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2354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Video + stills capture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472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347472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62102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2102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post-processing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17220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1850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Noise capture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each of these has its own evidence page in the project deck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…and the three worth two minutes each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525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health HUD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0273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273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Prepare specimen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021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Settings / recipes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9769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1-click PDF report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2761488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2953512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Auto-stop at fracture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22783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sees the load collapse and halts the motor itself — no hand on the stop button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927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65576" y="2761488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5576" y="2953512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Strain-rate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5576" y="322783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closes the loop on measured strain rate, not motor speed — constant dε/dt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0216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Stall guard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97696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Release 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525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6 test protocols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0273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273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Auto-preload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021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Auto-metadata link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9769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9769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auto-calibrate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0525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Guided wizard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0273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273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Test registry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0021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Dead-DIC guard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9769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9769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Live Px₀ overlay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05256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Video + stills capture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19272" y="5312664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465576" y="5394959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65576" y="5586983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DIC post-processing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65576" y="5861303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re-measures ANY recorded video — it is how the commercial lab's test got audited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00216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Noise capture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SF5 protects the specimen · SF6 makes tests comparable · SF18 made the validation possible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03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materials, three behaviours — then the real thing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demo_pla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859536" y="1851660"/>
            <a:ext cx="8385048" cy="13258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1805940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PLA — S13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029967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40864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black PLA · fractures at ~4 % strain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314700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demo_petg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59536" y="3355848"/>
            <a:ext cx="8385048" cy="13258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3310128"/>
            <a:ext cx="987551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PETG — S30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53415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PETG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845052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glossier, more ductile · ~8 % at fracture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18888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demo_tpu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59536" y="4860036"/>
            <a:ext cx="8385048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77240" y="4814316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TPU — S35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50383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TPU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34924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rubber-like · leaves the frame before it fractures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7336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15-second timelapses of real pulls on this rig (click to play) — then we switch to the live software and break one for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The same material, through a commercial 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5120640" cy="3977639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552444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MOT LAB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1627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drops in here — machine + XT-205 in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874519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THE 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12848"/>
            <a:ext cx="50749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1" i="0">
                <a:solidFill>
                  <a:srgbClr val="253439"/>
                </a:solidFill>
                <a:latin typeface="Segoe UI"/>
              </a:rPr>
              <a:t>MOT materials lab — commercial tensile frame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XT-205 video extensometer: a camera that tracks two painted marks — the same principle as our DIC, in certified form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two specimens from our own print batch: XT205-S1 and XT205-S2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77639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TEST CONDITIONS · XT205-S2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315968"/>
            <a:ext cx="107167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45 mm gauge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4315968"/>
            <a:ext cx="819302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2 mm/min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4315968"/>
            <a:ext cx="123992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300 N preload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46320"/>
            <a:ext cx="5074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same stress-strain quantities, computed two independent ways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and their raw video, re-measured by OUR post-processor (SF18)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Two rigs, one material — the curves land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6812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cmp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79" y="2061443"/>
            <a:ext cx="6629400" cy="40518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1847088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S34 (PPD-UTM)  /  XT205-S2 (MOT)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19456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73568" y="2276856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9514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48.34 / 44.62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2267712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−7.7 %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76148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73568" y="2843784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Yield σy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862072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39.23 / 39.61 MPa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2834640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+1.0 %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328415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73568" y="3410711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Modulus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428999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3.45 / 3.23 GPa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3401568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−6.4 %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89534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73568" y="3977639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Fracture εf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9592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5.25 / 5.21 %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968496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−0.8 %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709160"/>
            <a:ext cx="36118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strain agrees to 1 % — the DIC is doing its job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stress gap is real but small — different specimens, different day, 3× pull speed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shape of the whole curve matches to fracture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Same video, two calculations — one 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pp_ag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458200" y="1847088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458200" y="1847088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68512" y="196596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2505456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scale — ours vs theirs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2779776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0.072 % from perfect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383280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58200" y="3383280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68512" y="3502152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−55 µε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4041648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constant offset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3159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= 0.07 px on a 1255 px gauge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4919472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58200" y="4919472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68512" y="5038344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0.9999964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557784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R², 3 153 matched instants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585216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one video, two independent codes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MOT lab's own fracture video, fed through our post-processor: the two strain calculations are the same measurement.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Where the remaining gap comes from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401568" cy="822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6695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Pull speed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5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their pull: 2 mm/min · ours: ≈3× faster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but at the GAUGE the strain-rate ratio is only 1.19×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predicts under 1 % of the stress gap — a real effect, not the 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16552" y="1920240"/>
            <a:ext cx="3401568" cy="82296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6008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Grips &amp; seating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6008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only 21–45 % of crosshead travel reaches the gauge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our four runs cluster at 21 % and 33 % — a joint that either seats or doesn't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affects travel-based numbers, never the DIC strain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4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55864" y="1920240"/>
            <a:ext cx="3401568" cy="822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Specimen &amp; moisture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2523744"/>
            <a:ext cx="1239926" cy="27432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study pending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different print batches, weeks apart, unconditioned storage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PLA is hygroscopic — literature review queued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explanation lands here once the study is done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9788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honest ranking: seating and specimen dominate; speed is measured and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05 ·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Built by one engineer and a coding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20116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03911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“the rig must stop itself at fracture”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615184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825496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825496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2916936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944368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precise ask + constraints + how to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520439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730752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730752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7552" y="3822191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8496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writes app code, tests,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636008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7240" y="4636008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" y="4727448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verify on rig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7548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real pulls; failures go straight back 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330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541264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" y="5541264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5632704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5660136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every claim becomes a measured deck page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80" y="1920240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40680" y="2048256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348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139696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commits · 94 % co-authored with the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12080" y="2825496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40680" y="2953512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9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44952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from first DIC frame to a validated rig — 314 commits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12080" y="3730752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40680" y="38587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950208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Python: app, analysis, this deck's generator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4636008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40680" y="4764024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4855464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pages, regenerated from raw data on every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596128"/>
            <a:ext cx="6217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53439"/>
                </a:solidFill>
                <a:latin typeface="Segoe UI"/>
              </a:rPr>
              <a:t>the prompt is the engineering: what to build, what would falsify it, how to prove it ran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the agent measures instead of assuming — it renders every page and looks at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Future work — named, sized, and how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2D-DIC strain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full-field strain over the speckled gauge, not just two dots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offline first, in the existing post-processor; needs lower exposure — the white body currently saturates the sensor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16552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720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Correlation, not binary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sub-pixel tracking that keeps the grey levels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measured gain: 1.1–2.1× less jitter; add as a post-processing option before touching the live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5864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5864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Feed simulation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measured strain fields calibrating FE material cards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2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export the field per frame; compare predicted vs measured maps on the same geometry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77240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8408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Poisson &amp; true stress (FW1)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four markers → lateral strain, ν, Cauchy stress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maths written and self-tested; blocked on optics — needs a gauge-zoomed second camera or a wider specimen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6552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16552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17720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Grip-seating experiment (FW2)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why gauge share clusters at 21 % vs 33 %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one specimen, re-mounted several times, elastic pulls only — spread survives → seating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5864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055864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57032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Rate-matched MOT rerun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57032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close the last confound in the lab comparison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7032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pull at 5.01 mm/min (rate-matched) and 2.00 mm/min (speed-matched) and re-compare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number for fun — the carbon footprint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10607040" cy="3931920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CARBON-FOOTPRINT NUMBERS LAND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95927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calculation is queued: filament + rig power + compute for the AI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spoiler: the printed specimens are not the biggest line item.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0" y="1042415"/>
            <a:ext cx="475488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2331720"/>
            <a:ext cx="9692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 i="0">
                <a:solidFill>
                  <a:srgbClr val="253439"/>
                </a:solidFill>
                <a:latin typeface="Segoe UI Light"/>
              </a:rPr>
              <a:t>Thank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07008" y="3520440"/>
            <a:ext cx="1022299" cy="6858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29307" y="3520440"/>
            <a:ext cx="511149" cy="685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0456" y="3520440"/>
            <a:ext cx="2398471" cy="6858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977639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7C898B"/>
                </a:solidFill>
                <a:latin typeface="Segoe UI"/>
              </a:rPr>
              <a:t>Questions — or come break a specimen with 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57607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C898B"/>
                </a:solidFill>
                <a:latin typeface="Segoe UI"/>
              </a:rPr>
              <a:t>adithya.sivakumar@ju.se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For the curious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0312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2267712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8600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Otsu thresholding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688336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the camera decides what is a marker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584448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 vs PETG vs TPU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3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our curves against what literature expects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0001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864607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882896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Noise, rig against rig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285231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quiet each instrument is, measured at rest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Otsu — how the camera picks its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644652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otsu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70240"/>
            <a:ext cx="6263640" cy="33690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1965960"/>
            <a:ext cx="3886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WHY it exists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every frame must be split into “marker” and “not marker” — that takes one brightness number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WHAT it does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tries all 254 cuts, keeps the one giving the two tidiest groups — lands in the histogram's empty valley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THE CATCH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it follows the SCENE, not the markers — so the rig scores it against fixed values (auto-calibrate) instead of trusting it blindly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093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Otsu (1979), IEEE Trans. SMC 9(1):62–66 · measured here on 120 frames of specimen S13.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 — measured, against expectations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10607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rio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099" y="1901952"/>
            <a:ext cx="7485320" cy="25146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4572000"/>
            <a:ext cx="83210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etg_exp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5893" y="4663440"/>
            <a:ext cx="6863733" cy="16642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3728" y="4626864"/>
            <a:ext cx="21488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ordering exactly as published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TPU never fractured — it left the frame at 19 % 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55664"/>
            <a:ext cx="10607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published ranges: filament TDS + printed-part literature, as compiled in the project's material notes.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How quiet is each instrument?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cmp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58200" y="1965960"/>
            <a:ext cx="29718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 Semibold"/>
              </a:rPr>
              <a:t>both rigs sit in the tens of microstrain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our floor is set by pixel quantisation: noise ∝ 1/Px₀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predicted 1.78× between our two gauge lengths — measured 1.78×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so the noise is understood, not just 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1776</Words>
  <Application>Microsoft Office PowerPoint</Application>
  <PresentationFormat>Widescreen</PresentationFormat>
  <Paragraphs>349</Paragraphs>
  <Slides>19</Slides>
  <Notes>2</Notes>
  <HiddenSlides>0</HiddenSlides>
  <MMClips>3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Calibri</vt:lpstr>
      <vt:lpstr>Lato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Adithya Sivakumar</cp:lastModifiedBy>
  <cp:revision>1</cp:revision>
  <dcterms:created xsi:type="dcterms:W3CDTF">2013-01-27T09:14:16Z</dcterms:created>
  <dcterms:modified xsi:type="dcterms:W3CDTF">2026-09-05T12:38:31Z</dcterms:modified>
  <cp:category/>
</cp:coreProperties>
</file>